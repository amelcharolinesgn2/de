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47"/>
  </p:notesMasterIdLst>
  <p:sldIdLst>
    <p:sldId id="256" r:id="rId2"/>
    <p:sldId id="275"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316" r:id="rId27"/>
    <p:sldId id="317"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27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1A9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31"/>
    <p:restoredTop sz="74248" autoAdjust="0"/>
  </p:normalViewPr>
  <p:slideViewPr>
    <p:cSldViewPr snapToGrid="0">
      <p:cViewPr varScale="1">
        <p:scale>
          <a:sx n="49" d="100"/>
          <a:sy n="49" d="100"/>
        </p:scale>
        <p:origin x="48"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2648F-4152-4278-B136-F77E8E2B334A}" type="slidenum">
              <a:rPr lang="en-US" smtClean="0"/>
              <a:t>1</a:t>
            </a:fld>
            <a:endParaRPr lang="en-US"/>
          </a:p>
        </p:txBody>
      </p:sp>
    </p:spTree>
    <p:extLst>
      <p:ext uri="{BB962C8B-B14F-4D97-AF65-F5344CB8AC3E}">
        <p14:creationId xmlns:p14="http://schemas.microsoft.com/office/powerpoint/2010/main" val="3224181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2648F-4152-4278-B136-F77E8E2B334A}" type="slidenum">
              <a:rPr lang="en-US" smtClean="0"/>
              <a:t>27</a:t>
            </a:fld>
            <a:endParaRPr lang="en-US"/>
          </a:p>
        </p:txBody>
      </p:sp>
    </p:spTree>
    <p:extLst>
      <p:ext uri="{BB962C8B-B14F-4D97-AF65-F5344CB8AC3E}">
        <p14:creationId xmlns:p14="http://schemas.microsoft.com/office/powerpoint/2010/main" val="3881314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301196-2467-4D0A-B750-F6764188003A}" type="slidenum">
              <a:rPr lang="id-ID" smtClean="0"/>
              <a:pPr/>
              <a:t>29</a:t>
            </a:fld>
            <a:endParaRPr lang="id-ID"/>
          </a:p>
        </p:txBody>
      </p:sp>
    </p:spTree>
    <p:extLst>
      <p:ext uri="{BB962C8B-B14F-4D97-AF65-F5344CB8AC3E}">
        <p14:creationId xmlns:p14="http://schemas.microsoft.com/office/powerpoint/2010/main" val="2512346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301196-2467-4D0A-B750-F6764188003A}" type="slidenum">
              <a:rPr lang="id-ID" smtClean="0"/>
              <a:pPr/>
              <a:t>31</a:t>
            </a:fld>
            <a:endParaRPr lang="id-ID"/>
          </a:p>
        </p:txBody>
      </p:sp>
    </p:spTree>
    <p:extLst>
      <p:ext uri="{BB962C8B-B14F-4D97-AF65-F5344CB8AC3E}">
        <p14:creationId xmlns:p14="http://schemas.microsoft.com/office/powerpoint/2010/main" val="41473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05301196-2467-4D0A-B750-F6764188003A}" type="slidenum">
              <a:rPr lang="id-ID" smtClean="0"/>
              <a:pPr/>
              <a:t>40</a:t>
            </a:fld>
            <a:endParaRPr lang="id-ID"/>
          </a:p>
        </p:txBody>
      </p:sp>
    </p:spTree>
    <p:extLst>
      <p:ext uri="{BB962C8B-B14F-4D97-AF65-F5344CB8AC3E}">
        <p14:creationId xmlns:p14="http://schemas.microsoft.com/office/powerpoint/2010/main" val="2107277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w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5.wmf"/><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2.png"/><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7.wmf"/><Relationship Id="rId4" Type="http://schemas.openxmlformats.org/officeDocument/2006/relationships/oleObject" Target="../embeddings/oleObject5.bin"/><Relationship Id="rId9" Type="http://schemas.openxmlformats.org/officeDocument/2006/relationships/image" Target="../media/image19.wmf"/></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notesSlide" Target="../notesSlides/notesSlide5.xml"/><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1.wmf"/><Relationship Id="rId11" Type="http://schemas.openxmlformats.org/officeDocument/2006/relationships/image" Target="../media/image24.png"/><Relationship Id="rId5" Type="http://schemas.openxmlformats.org/officeDocument/2006/relationships/oleObject" Target="../embeddings/oleObject8.bin"/><Relationship Id="rId10" Type="http://schemas.openxmlformats.org/officeDocument/2006/relationships/image" Target="../media/image23.wmf"/><Relationship Id="rId4" Type="http://schemas.openxmlformats.org/officeDocument/2006/relationships/image" Target="../media/image20.png"/><Relationship Id="rId9" Type="http://schemas.openxmlformats.org/officeDocument/2006/relationships/oleObject" Target="../embeddings/oleObject10.bin"/></Relationships>
</file>

<file path=ppt/slides/_rels/slide41.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6.wmf"/><Relationship Id="rId5" Type="http://schemas.openxmlformats.org/officeDocument/2006/relationships/oleObject" Target="../embeddings/oleObject12.bin"/><Relationship Id="rId4" Type="http://schemas.openxmlformats.org/officeDocument/2006/relationships/image" Target="../media/image25.wmf"/><Relationship Id="rId9"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8.wmf"/><Relationship Id="rId4"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787E-D6B3-8B0D-9456-5D2BA79AB88B}"/>
              </a:ext>
            </a:extLst>
          </p:cNvPr>
          <p:cNvSpPr>
            <a:spLocks noGrp="1"/>
          </p:cNvSpPr>
          <p:nvPr>
            <p:ph type="ctrTitle"/>
          </p:nvPr>
        </p:nvSpPr>
        <p:spPr>
          <a:xfrm>
            <a:off x="4551179" y="3987071"/>
            <a:ext cx="7235659" cy="681673"/>
          </a:xfrm>
        </p:spPr>
        <p:txBody>
          <a:bodyPr>
            <a:normAutofit/>
          </a:bodyPr>
          <a:lstStyle/>
          <a:p>
            <a:pPr algn="just">
              <a:spcBef>
                <a:spcPts val="0"/>
              </a:spcBef>
              <a:spcAft>
                <a:spcPts val="1000"/>
              </a:spcAft>
            </a:pPr>
            <a:r>
              <a:rPr lang="en-US" sz="4000" b="1" dirty="0" smtClean="0"/>
              <a:t>Two stage </a:t>
            </a:r>
            <a:r>
              <a:rPr lang="en-US" sz="4000" b="1" dirty="0"/>
              <a:t>transistor amplifiers</a:t>
            </a:r>
            <a:endParaRPr lang="en-US" sz="2200" b="0" dirty="0"/>
          </a:p>
        </p:txBody>
      </p:sp>
      <p:sp>
        <p:nvSpPr>
          <p:cNvPr id="3" name="Subtitle 2">
            <a:extLst>
              <a:ext uri="{FF2B5EF4-FFF2-40B4-BE49-F238E27FC236}">
                <a16:creationId xmlns:a16="http://schemas.microsoft.com/office/drawing/2014/main" id="{53858C97-DA2F-8866-47CC-CDF4077BBF9D}"/>
              </a:ext>
            </a:extLst>
          </p:cNvPr>
          <p:cNvSpPr>
            <a:spLocks noGrp="1"/>
          </p:cNvSpPr>
          <p:nvPr>
            <p:ph type="subTitle" idx="1"/>
          </p:nvPr>
        </p:nvSpPr>
        <p:spPr>
          <a:xfrm>
            <a:off x="4639718" y="4619069"/>
            <a:ext cx="1493454" cy="309770"/>
          </a:xfrm>
        </p:spPr>
        <p:txBody>
          <a:bodyPr>
            <a:normAutofit lnSpcReduction="10000"/>
          </a:bodyPr>
          <a:lstStyle/>
          <a:p>
            <a:r>
              <a:rPr lang="en-US" sz="1600" dirty="0" smtClean="0"/>
              <a:t>PDS</a:t>
            </a:r>
            <a:endParaRPr lang="en-US" sz="1600" dirty="0"/>
          </a:p>
        </p:txBody>
      </p:sp>
      <p:pic>
        <p:nvPicPr>
          <p:cNvPr id="48" name="Picture 47" descr="White structure">
            <a:extLst>
              <a:ext uri="{FF2B5EF4-FFF2-40B4-BE49-F238E27FC236}">
                <a16:creationId xmlns:a16="http://schemas.microsoft.com/office/drawing/2014/main" id="{E0652CF5-4E0B-F89D-4D88-A13BE5A6A897}"/>
              </a:ext>
            </a:extLst>
          </p:cNvPr>
          <p:cNvPicPr>
            <a:picLocks noChangeAspect="1"/>
          </p:cNvPicPr>
          <p:nvPr/>
        </p:nvPicPr>
        <p:blipFill rotWithShape="1">
          <a:blip r:embed="rId3"/>
          <a:srcRect l="450" r="25990" b="3"/>
          <a:stretch/>
        </p:blipFill>
        <p:spPr>
          <a:xfrm>
            <a:off x="-1" y="1371600"/>
            <a:ext cx="4076699" cy="4114800"/>
          </a:xfrm>
          <a:prstGeom prst="rect">
            <a:avLst/>
          </a:prstGeom>
        </p:spPr>
      </p:pic>
      <p:pic>
        <p:nvPicPr>
          <p:cNvPr id="6" name="Picture 5">
            <a:extLst>
              <a:ext uri="{FF2B5EF4-FFF2-40B4-BE49-F238E27FC236}">
                <a16:creationId xmlns:a16="http://schemas.microsoft.com/office/drawing/2014/main" id="{9926FD42-6AB7-9431-FDD4-769D809858A9}"/>
              </a:ext>
            </a:extLst>
          </p:cNvPr>
          <p:cNvPicPr>
            <a:picLocks noChangeAspect="1"/>
          </p:cNvPicPr>
          <p:nvPr/>
        </p:nvPicPr>
        <p:blipFill>
          <a:blip r:embed="rId4"/>
          <a:stretch>
            <a:fillRect/>
          </a:stretch>
        </p:blipFill>
        <p:spPr>
          <a:xfrm>
            <a:off x="7364361" y="330959"/>
            <a:ext cx="4640189" cy="3297144"/>
          </a:xfrm>
          <a:prstGeom prst="rect">
            <a:avLst/>
          </a:prstGeom>
        </p:spPr>
      </p:pic>
      <p:grpSp>
        <p:nvGrpSpPr>
          <p:cNvPr id="9" name="Group 8">
            <a:extLst>
              <a:ext uri="{FF2B5EF4-FFF2-40B4-BE49-F238E27FC236}">
                <a16:creationId xmlns:a16="http://schemas.microsoft.com/office/drawing/2014/main" id="{2AABCB87-2ECC-4C03-B5BB-6EE11C8A4485}"/>
              </a:ext>
            </a:extLst>
          </p:cNvPr>
          <p:cNvGrpSpPr/>
          <p:nvPr/>
        </p:nvGrpSpPr>
        <p:grpSpPr>
          <a:xfrm>
            <a:off x="346874" y="2470551"/>
            <a:ext cx="3064025" cy="1516520"/>
            <a:chOff x="4853562" y="1589418"/>
            <a:chExt cx="2609520" cy="1291565"/>
          </a:xfrm>
        </p:grpSpPr>
        <p:sp>
          <p:nvSpPr>
            <p:cNvPr id="10"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11" name="Freeform 7">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sp>
        <p:nvSpPr>
          <p:cNvPr id="14" name="Freeform: Shape 67">
            <a:extLst>
              <a:ext uri="{FF2B5EF4-FFF2-40B4-BE49-F238E27FC236}">
                <a16:creationId xmlns:a16="http://schemas.microsoft.com/office/drawing/2014/main" id="{275D1FAA-C13F-4A6B-BA37-7704CFB7ADCD}"/>
              </a:ext>
            </a:extLst>
          </p:cNvPr>
          <p:cNvSpPr/>
          <p:nvPr/>
        </p:nvSpPr>
        <p:spPr>
          <a:xfrm>
            <a:off x="1948515" y="3348349"/>
            <a:ext cx="276281" cy="203382"/>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p:cNvSpPr/>
          <p:nvPr/>
        </p:nvSpPr>
        <p:spPr>
          <a:xfrm>
            <a:off x="6422695" y="6291845"/>
            <a:ext cx="4910832" cy="369332"/>
          </a:xfrm>
          <a:prstGeom prst="rect">
            <a:avLst/>
          </a:prstGeom>
        </p:spPr>
        <p:txBody>
          <a:bodyPr wrap="none">
            <a:spAutoFit/>
          </a:bodyPr>
          <a:lstStyle/>
          <a:p>
            <a:r>
              <a:rPr lang="en-US" dirty="0"/>
              <a:t>https://github.com/amelcharolinesgn2/DE/upload</a:t>
            </a:r>
          </a:p>
        </p:txBody>
      </p:sp>
      <p:sp>
        <p:nvSpPr>
          <p:cNvPr id="13" name="Rectangle 12"/>
          <p:cNvSpPr/>
          <p:nvPr/>
        </p:nvSpPr>
        <p:spPr>
          <a:xfrm>
            <a:off x="6449475" y="5801383"/>
            <a:ext cx="3957430" cy="369332"/>
          </a:xfrm>
          <a:prstGeom prst="rect">
            <a:avLst/>
          </a:prstGeom>
        </p:spPr>
        <p:txBody>
          <a:bodyPr wrap="none">
            <a:spAutoFit/>
          </a:bodyPr>
          <a:lstStyle/>
          <a:p>
            <a:r>
              <a:rPr lang="en-US" dirty="0"/>
              <a:t>https://www.youtube.com/@AmelOline</a:t>
            </a:r>
          </a:p>
        </p:txBody>
      </p:sp>
    </p:spTree>
    <p:extLst>
      <p:ext uri="{BB962C8B-B14F-4D97-AF65-F5344CB8AC3E}">
        <p14:creationId xmlns:p14="http://schemas.microsoft.com/office/powerpoint/2010/main" val="3235850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Two-stage </a:t>
            </a:r>
            <a:r>
              <a:rPr lang="en-US" b="1" dirty="0"/>
              <a:t>transistor amplifiers</a:t>
            </a:r>
            <a:endParaRPr lang="en-US" dirty="0"/>
          </a:p>
        </p:txBody>
      </p:sp>
      <p:sp>
        <p:nvSpPr>
          <p:cNvPr id="4" name="Content Placeholder 3"/>
          <p:cNvSpPr>
            <a:spLocks noGrp="1"/>
          </p:cNvSpPr>
          <p:nvPr>
            <p:ph idx="1"/>
          </p:nvPr>
        </p:nvSpPr>
        <p:spPr/>
        <p:txBody>
          <a:bodyPr>
            <a:normAutofit/>
          </a:bodyPr>
          <a:lstStyle/>
          <a:p>
            <a:r>
              <a:rPr lang="en-US" dirty="0"/>
              <a:t>The following figure shows a two-stage amplifier connected in cascade.</a:t>
            </a:r>
          </a:p>
          <a:p>
            <a:endParaRPr lang="en-US" dirty="0"/>
          </a:p>
        </p:txBody>
      </p:sp>
      <p:pic>
        <p:nvPicPr>
          <p:cNvPr id="5" name="Picture 4" descr="Two Stage Cascade"/>
          <p:cNvPicPr/>
          <p:nvPr/>
        </p:nvPicPr>
        <p:blipFill>
          <a:blip r:embed="rId2"/>
          <a:srcRect/>
          <a:stretch>
            <a:fillRect/>
          </a:stretch>
        </p:blipFill>
        <p:spPr bwMode="auto">
          <a:xfrm>
            <a:off x="5495948" y="3653883"/>
            <a:ext cx="5713095" cy="1524000"/>
          </a:xfrm>
          <a:prstGeom prst="rect">
            <a:avLst/>
          </a:prstGeom>
          <a:noFill/>
          <a:ln w="9525">
            <a:noFill/>
            <a:miter lim="800000"/>
            <a:headEnd/>
            <a:tailEnd/>
          </a:ln>
        </p:spPr>
      </p:pic>
      <p:pic>
        <p:nvPicPr>
          <p:cNvPr id="3" name="Picture 2"/>
          <p:cNvPicPr>
            <a:picLocks noChangeAspect="1"/>
          </p:cNvPicPr>
          <p:nvPr/>
        </p:nvPicPr>
        <p:blipFill>
          <a:blip r:embed="rId3"/>
          <a:stretch>
            <a:fillRect/>
          </a:stretch>
        </p:blipFill>
        <p:spPr>
          <a:xfrm>
            <a:off x="600180" y="3077907"/>
            <a:ext cx="4657748" cy="2932430"/>
          </a:xfrm>
          <a:prstGeom prst="rect">
            <a:avLst/>
          </a:prstGeom>
        </p:spPr>
      </p:pic>
    </p:spTree>
    <p:extLst>
      <p:ext uri="{BB962C8B-B14F-4D97-AF65-F5344CB8AC3E}">
        <p14:creationId xmlns:p14="http://schemas.microsoft.com/office/powerpoint/2010/main" val="269257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dirty="0"/>
              <a:t>The overall gain is the product of voltage gain of individual stages.</a:t>
            </a:r>
          </a:p>
          <a:p>
            <a:r>
              <a:rPr lang="en-US" dirty="0" smtClean="0"/>
              <a:t>AV=AV1×AV2</a:t>
            </a:r>
          </a:p>
          <a:p>
            <a:pPr>
              <a:buNone/>
            </a:pPr>
            <a:r>
              <a:rPr lang="en-US" dirty="0" smtClean="0"/>
              <a:t>    V2/V1×V0/V2=V0/V1</a:t>
            </a:r>
            <a:br>
              <a:rPr lang="en-US" dirty="0" smtClean="0"/>
            </a:br>
            <a:endParaRPr lang="en-US" dirty="0"/>
          </a:p>
          <a:p>
            <a:r>
              <a:rPr lang="en-US" dirty="0"/>
              <a:t>Where A</a:t>
            </a:r>
            <a:r>
              <a:rPr lang="en-US" baseline="-25000" dirty="0"/>
              <a:t>V</a:t>
            </a:r>
            <a:r>
              <a:rPr lang="en-US" dirty="0"/>
              <a:t> = Overall gain, A</a:t>
            </a:r>
            <a:r>
              <a:rPr lang="en-US" baseline="-25000" dirty="0"/>
              <a:t>V1</a:t>
            </a:r>
            <a:r>
              <a:rPr lang="en-US" dirty="0"/>
              <a:t> = Voltage gain of 1</a:t>
            </a:r>
            <a:r>
              <a:rPr lang="en-US" baseline="30000" dirty="0"/>
              <a:t>st</a:t>
            </a:r>
            <a:r>
              <a:rPr lang="en-US" dirty="0"/>
              <a:t> stage, and A</a:t>
            </a:r>
            <a:r>
              <a:rPr lang="en-US" baseline="-25000" dirty="0"/>
              <a:t>V2</a:t>
            </a:r>
            <a:r>
              <a:rPr lang="en-US" dirty="0"/>
              <a:t> = Voltage gain of 2</a:t>
            </a:r>
            <a:r>
              <a:rPr lang="en-US" baseline="30000" dirty="0"/>
              <a:t>nd</a:t>
            </a:r>
            <a:r>
              <a:rPr lang="en-US" dirty="0"/>
              <a:t> stage.</a:t>
            </a:r>
          </a:p>
          <a:p>
            <a:r>
              <a:rPr lang="en-US" dirty="0"/>
              <a:t>If there are </a:t>
            </a:r>
            <a:r>
              <a:rPr lang="en-US" b="1" dirty="0"/>
              <a:t>n</a:t>
            </a:r>
            <a:r>
              <a:rPr lang="en-US" dirty="0"/>
              <a:t> numbers of stages, the product of voltage gains of those </a:t>
            </a:r>
            <a:r>
              <a:rPr lang="en-US" b="1" dirty="0"/>
              <a:t>n</a:t>
            </a:r>
            <a:r>
              <a:rPr lang="en-US" dirty="0"/>
              <a:t> stages will be the overall gain of that multistage amplifier circuit.</a:t>
            </a:r>
          </a:p>
          <a:p>
            <a:endParaRPr lang="en-US" dirty="0"/>
          </a:p>
        </p:txBody>
      </p:sp>
    </p:spTree>
    <p:extLst>
      <p:ext uri="{BB962C8B-B14F-4D97-AF65-F5344CB8AC3E}">
        <p14:creationId xmlns:p14="http://schemas.microsoft.com/office/powerpoint/2010/main" val="15589978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Amplifier Consideration</a:t>
            </a:r>
            <a:endParaRPr lang="en-US" dirty="0"/>
          </a:p>
        </p:txBody>
      </p:sp>
      <p:sp>
        <p:nvSpPr>
          <p:cNvPr id="3" name="Content Placeholder 2"/>
          <p:cNvSpPr>
            <a:spLocks noGrp="1"/>
          </p:cNvSpPr>
          <p:nvPr>
            <p:ph idx="1"/>
          </p:nvPr>
        </p:nvSpPr>
        <p:spPr/>
        <p:txBody>
          <a:bodyPr>
            <a:normAutofit/>
          </a:bodyPr>
          <a:lstStyle/>
          <a:p>
            <a:r>
              <a:rPr lang="en-US" dirty="0" smtClean="0"/>
              <a:t>For </a:t>
            </a:r>
            <a:r>
              <a:rPr lang="en-US" dirty="0"/>
              <a:t>an amplifier circuit, the overall gain of the amplifier is an important consideration. To achieve maximum voltage gain, let us find the most suitable transistor configuration for cascading.</a:t>
            </a:r>
          </a:p>
          <a:p>
            <a:r>
              <a:rPr lang="en-US" dirty="0"/>
              <a:t>CC Amplifier</a:t>
            </a:r>
          </a:p>
          <a:p>
            <a:pPr lvl="0">
              <a:buNone/>
            </a:pPr>
            <a:r>
              <a:rPr lang="en-US" dirty="0" smtClean="0"/>
              <a:t>		Its </a:t>
            </a:r>
            <a:r>
              <a:rPr lang="en-US" dirty="0"/>
              <a:t>voltage gain is less than unity.</a:t>
            </a:r>
          </a:p>
          <a:p>
            <a:pPr lvl="0">
              <a:buNone/>
            </a:pPr>
            <a:r>
              <a:rPr lang="en-US" dirty="0" smtClean="0"/>
              <a:t>            It </a:t>
            </a:r>
            <a:r>
              <a:rPr lang="en-US" dirty="0"/>
              <a:t>is not suitable for intermediate stages.</a:t>
            </a:r>
          </a:p>
          <a:p>
            <a:r>
              <a:rPr lang="en-US" dirty="0"/>
              <a:t>CB Amplifier</a:t>
            </a:r>
          </a:p>
          <a:p>
            <a:pPr lvl="0">
              <a:buNone/>
            </a:pPr>
            <a:r>
              <a:rPr lang="en-US" dirty="0" smtClean="0"/>
              <a:t>		Its </a:t>
            </a:r>
            <a:r>
              <a:rPr lang="en-US" dirty="0"/>
              <a:t>voltage gain is less than unity.</a:t>
            </a:r>
          </a:p>
          <a:p>
            <a:pPr lvl="0">
              <a:buNone/>
            </a:pPr>
            <a:r>
              <a:rPr lang="en-US" dirty="0" smtClean="0"/>
              <a:t>		Hence </a:t>
            </a:r>
            <a:r>
              <a:rPr lang="en-US" dirty="0"/>
              <a:t>not suitable for cascading.</a:t>
            </a:r>
          </a:p>
          <a:p>
            <a:endParaRPr lang="en-US" dirty="0"/>
          </a:p>
        </p:txBody>
      </p:sp>
    </p:spTree>
    <p:extLst>
      <p:ext uri="{BB962C8B-B14F-4D97-AF65-F5344CB8AC3E}">
        <p14:creationId xmlns:p14="http://schemas.microsoft.com/office/powerpoint/2010/main" val="3394169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CE Amplifier</a:t>
            </a:r>
            <a:br>
              <a:rPr lang="en-US" dirty="0" smtClean="0"/>
            </a:br>
            <a:endParaRPr lang="en-US" dirty="0"/>
          </a:p>
        </p:txBody>
      </p:sp>
      <p:sp>
        <p:nvSpPr>
          <p:cNvPr id="3" name="Content Placeholder 2"/>
          <p:cNvSpPr>
            <a:spLocks noGrp="1"/>
          </p:cNvSpPr>
          <p:nvPr>
            <p:ph idx="1"/>
          </p:nvPr>
        </p:nvSpPr>
        <p:spPr/>
        <p:txBody>
          <a:bodyPr>
            <a:normAutofit/>
          </a:bodyPr>
          <a:lstStyle/>
          <a:p>
            <a:pPr lvl="0" algn="just">
              <a:buNone/>
            </a:pPr>
            <a:r>
              <a:rPr lang="en-US" dirty="0" smtClean="0"/>
              <a:t>	Its </a:t>
            </a:r>
            <a:r>
              <a:rPr lang="en-US" dirty="0"/>
              <a:t>voltage gain is greater than unity.</a:t>
            </a:r>
          </a:p>
          <a:p>
            <a:pPr lvl="0" algn="just">
              <a:buNone/>
            </a:pPr>
            <a:r>
              <a:rPr lang="en-US" dirty="0" smtClean="0"/>
              <a:t>	Voltage </a:t>
            </a:r>
            <a:r>
              <a:rPr lang="en-US" dirty="0"/>
              <a:t>gain is further increased by cascading.</a:t>
            </a:r>
          </a:p>
          <a:p>
            <a:pPr algn="just">
              <a:buNone/>
            </a:pPr>
            <a:r>
              <a:rPr lang="en-US" dirty="0" smtClean="0"/>
              <a:t>	The </a:t>
            </a:r>
            <a:r>
              <a:rPr lang="en-US" dirty="0"/>
              <a:t>characteristics of CE amplifier are such that, this configuration is very suitable for cascading in amplifier circuits. Hence most of the amplifier circuits use CE configuration.</a:t>
            </a:r>
          </a:p>
          <a:p>
            <a:endParaRPr lang="en-US" dirty="0"/>
          </a:p>
        </p:txBody>
      </p:sp>
    </p:spTree>
    <p:extLst>
      <p:ext uri="{BB962C8B-B14F-4D97-AF65-F5344CB8AC3E}">
        <p14:creationId xmlns:p14="http://schemas.microsoft.com/office/powerpoint/2010/main" val="3244220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RC Coupling </a:t>
            </a:r>
            <a:r>
              <a:rPr lang="en-US" dirty="0" smtClean="0"/>
              <a:t>Amplifier</a:t>
            </a:r>
            <a:r>
              <a:rPr lang="en-US" dirty="0"/>
              <a:t/>
            </a:r>
            <a:br>
              <a:rPr lang="en-US" dirty="0"/>
            </a:br>
            <a:endParaRPr lang="en-US" dirty="0"/>
          </a:p>
        </p:txBody>
      </p:sp>
      <p:sp>
        <p:nvSpPr>
          <p:cNvPr id="3" name="Content Placeholder 2"/>
          <p:cNvSpPr>
            <a:spLocks noGrp="1"/>
          </p:cNvSpPr>
          <p:nvPr>
            <p:ph idx="1"/>
          </p:nvPr>
        </p:nvSpPr>
        <p:spPr/>
        <p:txBody>
          <a:bodyPr/>
          <a:lstStyle/>
          <a:p>
            <a:pPr algn="just"/>
            <a:r>
              <a:rPr lang="en-US" sz="2000" dirty="0"/>
              <a:t>The resistance-capacitance coupling is, in short termed as RC coupling. This is the mostly used coupling technique in amplifiers.</a:t>
            </a:r>
          </a:p>
          <a:p>
            <a:pPr algn="just">
              <a:buNone/>
            </a:pPr>
            <a:endParaRPr lang="en-US" sz="2000" dirty="0"/>
          </a:p>
        </p:txBody>
      </p:sp>
      <p:pic>
        <p:nvPicPr>
          <p:cNvPr id="4" name="Picture 3" descr="https://www.tutorialspoint.com/amplifiers/images/rc_two_stage.jpg"/>
          <p:cNvPicPr/>
          <p:nvPr/>
        </p:nvPicPr>
        <p:blipFill>
          <a:blip r:embed="rId2"/>
          <a:srcRect/>
          <a:stretch>
            <a:fillRect/>
          </a:stretch>
        </p:blipFill>
        <p:spPr bwMode="auto">
          <a:xfrm>
            <a:off x="2590800" y="2667000"/>
            <a:ext cx="7086600" cy="3352800"/>
          </a:xfrm>
          <a:prstGeom prst="rect">
            <a:avLst/>
          </a:prstGeom>
          <a:noFill/>
          <a:ln w="9525">
            <a:noFill/>
            <a:miter lim="800000"/>
            <a:headEnd/>
            <a:tailEnd/>
          </a:ln>
        </p:spPr>
      </p:pic>
    </p:spTree>
    <p:extLst>
      <p:ext uri="{BB962C8B-B14F-4D97-AF65-F5344CB8AC3E}">
        <p14:creationId xmlns:p14="http://schemas.microsoft.com/office/powerpoint/2010/main" val="27082079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Construction of a Two-stage RC Coupled Amplifier</a:t>
            </a:r>
            <a:br>
              <a:rPr lang="en-US" sz="2800" dirty="0"/>
            </a:br>
            <a:endParaRPr lang="en-US" sz="2800" dirty="0"/>
          </a:p>
        </p:txBody>
      </p:sp>
      <p:sp>
        <p:nvSpPr>
          <p:cNvPr id="3" name="Content Placeholder 2"/>
          <p:cNvSpPr>
            <a:spLocks noGrp="1"/>
          </p:cNvSpPr>
          <p:nvPr>
            <p:ph idx="1"/>
          </p:nvPr>
        </p:nvSpPr>
        <p:spPr/>
        <p:txBody>
          <a:bodyPr>
            <a:normAutofit/>
          </a:bodyPr>
          <a:lstStyle/>
          <a:p>
            <a:pPr algn="just"/>
            <a:r>
              <a:rPr lang="en-US" sz="2400" dirty="0"/>
              <a:t>The constructional details of a two-stage RC coupled transistor amplifier circuit are as follows. </a:t>
            </a:r>
          </a:p>
          <a:p>
            <a:pPr algn="just"/>
            <a:r>
              <a:rPr lang="en-US" sz="2400" dirty="0"/>
              <a:t>The two stage amplifier circuit has two transistors, connected in CE configuration and a common power supply V</a:t>
            </a:r>
            <a:r>
              <a:rPr lang="en-US" sz="2400" baseline="-25000" dirty="0"/>
              <a:t>CC</a:t>
            </a:r>
            <a:r>
              <a:rPr lang="en-US" sz="2400" dirty="0"/>
              <a:t> is used.</a:t>
            </a:r>
          </a:p>
          <a:p>
            <a:pPr algn="just"/>
            <a:r>
              <a:rPr lang="en-US" sz="2400" dirty="0"/>
              <a:t> The potential divider network R</a:t>
            </a:r>
            <a:r>
              <a:rPr lang="en-US" sz="2400" baseline="-25000" dirty="0"/>
              <a:t>1</a:t>
            </a:r>
            <a:r>
              <a:rPr lang="en-US" sz="2400" dirty="0"/>
              <a:t> and R</a:t>
            </a:r>
            <a:r>
              <a:rPr lang="en-US" sz="2400" baseline="-25000" dirty="0"/>
              <a:t>2</a:t>
            </a:r>
            <a:r>
              <a:rPr lang="en-US" sz="2400" dirty="0"/>
              <a:t> and the resistor R</a:t>
            </a:r>
            <a:r>
              <a:rPr lang="en-US" sz="2400" baseline="-25000" dirty="0"/>
              <a:t>e</a:t>
            </a:r>
            <a:r>
              <a:rPr lang="en-US" sz="2400" dirty="0"/>
              <a:t> form the biasing and stabilization network. </a:t>
            </a:r>
          </a:p>
          <a:p>
            <a:pPr algn="just"/>
            <a:r>
              <a:rPr lang="en-US" sz="2400" dirty="0"/>
              <a:t>The emitter by-pass capacitor </a:t>
            </a:r>
            <a:r>
              <a:rPr lang="en-US" sz="2400" dirty="0" err="1"/>
              <a:t>C</a:t>
            </a:r>
            <a:r>
              <a:rPr lang="en-US" sz="2400" baseline="-25000" dirty="0" err="1"/>
              <a:t>e</a:t>
            </a:r>
            <a:r>
              <a:rPr lang="en-US" sz="2400" dirty="0"/>
              <a:t> offers a low reactance path to the signal</a:t>
            </a:r>
            <a:r>
              <a:rPr lang="en-US" dirty="0"/>
              <a:t>.</a:t>
            </a:r>
          </a:p>
          <a:p>
            <a:endParaRPr lang="en-US" dirty="0"/>
          </a:p>
        </p:txBody>
      </p:sp>
    </p:spTree>
    <p:extLst>
      <p:ext uri="{BB962C8B-B14F-4D97-AF65-F5344CB8AC3E}">
        <p14:creationId xmlns:p14="http://schemas.microsoft.com/office/powerpoint/2010/main" val="10270446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The resistor R</a:t>
            </a:r>
            <a:r>
              <a:rPr lang="en-US" baseline="-25000" dirty="0"/>
              <a:t>L</a:t>
            </a:r>
            <a:r>
              <a:rPr lang="en-US" dirty="0"/>
              <a:t> is used as a load impedance. The input capacitor </a:t>
            </a:r>
            <a:r>
              <a:rPr lang="en-US" dirty="0" err="1"/>
              <a:t>C</a:t>
            </a:r>
            <a:r>
              <a:rPr lang="en-US" baseline="-25000" dirty="0" err="1"/>
              <a:t>in</a:t>
            </a:r>
            <a:r>
              <a:rPr lang="en-US" dirty="0"/>
              <a:t> present at the initial stage of the amplifier couples AC signal to the base of the transistor. The capacitor C</a:t>
            </a:r>
            <a:r>
              <a:rPr lang="en-US" baseline="-25000" dirty="0"/>
              <a:t>C</a:t>
            </a:r>
            <a:r>
              <a:rPr lang="en-US" dirty="0"/>
              <a:t> is the coupling capacitor that connects two stages and prevents DC interference between the stages and controls the shift of operating point. </a:t>
            </a:r>
          </a:p>
        </p:txBody>
      </p:sp>
    </p:spTree>
    <p:extLst>
      <p:ext uri="{BB962C8B-B14F-4D97-AF65-F5344CB8AC3E}">
        <p14:creationId xmlns:p14="http://schemas.microsoft.com/office/powerpoint/2010/main" val="26318903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sz="3600" dirty="0"/>
              <a:t>Frequency Response of RC Coupled Amplifier</a:t>
            </a:r>
            <a:r>
              <a:rPr lang="en-US" dirty="0"/>
              <a:t/>
            </a:r>
            <a:br>
              <a:rPr lang="en-US" dirty="0"/>
            </a:br>
            <a:endParaRPr lang="en-US" dirty="0"/>
          </a:p>
        </p:txBody>
      </p:sp>
      <p:sp>
        <p:nvSpPr>
          <p:cNvPr id="3" name="Content Placeholder 2"/>
          <p:cNvSpPr>
            <a:spLocks noGrp="1"/>
          </p:cNvSpPr>
          <p:nvPr>
            <p:ph idx="1"/>
          </p:nvPr>
        </p:nvSpPr>
        <p:spPr>
          <a:xfrm>
            <a:off x="2133600" y="1143001"/>
            <a:ext cx="8229600" cy="5211763"/>
          </a:xfrm>
        </p:spPr>
        <p:txBody>
          <a:bodyPr/>
          <a:lstStyle/>
          <a:p>
            <a:pPr algn="just"/>
            <a:r>
              <a:rPr lang="en-US" sz="2000" dirty="0"/>
              <a:t>Frequency response curve is a graph that indicates the relationship between voltage gain and function of frequency. The frequency response of a RC coupled amplifier is as shown in the following graph.</a:t>
            </a:r>
          </a:p>
          <a:p>
            <a:pPr algn="just"/>
            <a:r>
              <a:rPr lang="en-US" sz="1800" dirty="0"/>
              <a:t>From the graph, it is understood that the frequency rolls off or decreases for the frequencies below 50Hz and for the frequencies above 20 KHz. whereas the voltage gain for the range of frequencies between 50Hz and 20 KHz is constant. Following equation means that the capacitive reactance is inversely proportional to the frequency.</a:t>
            </a:r>
          </a:p>
          <a:p>
            <a:pPr algn="just"/>
            <a:endParaRPr lang="en-US" sz="2000" dirty="0"/>
          </a:p>
          <a:p>
            <a:pPr>
              <a:buNone/>
            </a:pPr>
            <a:r>
              <a:rPr lang="en-US" dirty="0" smtClean="0"/>
              <a:t/>
            </a:r>
            <a:br>
              <a:rPr lang="en-US" dirty="0" smtClean="0"/>
            </a:br>
            <a:r>
              <a:rPr lang="en-US" dirty="0" err="1" smtClean="0"/>
              <a:t>Xc</a:t>
            </a:r>
            <a:r>
              <a:rPr lang="en-US" dirty="0" smtClean="0"/>
              <a:t>=1/2</a:t>
            </a:r>
            <a:r>
              <a:rPr lang="el-GR" dirty="0" smtClean="0"/>
              <a:t>π</a:t>
            </a:r>
            <a:r>
              <a:rPr lang="en-US" dirty="0" err="1" smtClean="0"/>
              <a:t>fc</a:t>
            </a:r>
            <a:endParaRPr lang="en-US" dirty="0" smtClean="0"/>
          </a:p>
        </p:txBody>
      </p:sp>
      <p:pic>
        <p:nvPicPr>
          <p:cNvPr id="4" name="Picture 3" descr="https://www.tutorialspoint.com/amplifiers/images/frequency_response.jpg"/>
          <p:cNvPicPr/>
          <p:nvPr/>
        </p:nvPicPr>
        <p:blipFill>
          <a:blip r:embed="rId2"/>
          <a:srcRect/>
          <a:stretch>
            <a:fillRect/>
          </a:stretch>
        </p:blipFill>
        <p:spPr bwMode="auto">
          <a:xfrm>
            <a:off x="5715000" y="3505201"/>
            <a:ext cx="4761230" cy="2788285"/>
          </a:xfrm>
          <a:prstGeom prst="rect">
            <a:avLst/>
          </a:prstGeom>
          <a:noFill/>
          <a:ln w="9525">
            <a:noFill/>
            <a:miter lim="800000"/>
            <a:headEnd/>
            <a:tailEnd/>
          </a:ln>
        </p:spPr>
      </p:pic>
    </p:spTree>
    <p:extLst>
      <p:ext uri="{BB962C8B-B14F-4D97-AF65-F5344CB8AC3E}">
        <p14:creationId xmlns:p14="http://schemas.microsoft.com/office/powerpoint/2010/main" val="2173200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r>
              <a:rPr lang="en-US" sz="3600" dirty="0"/>
              <a:t>At Low frequencies (i.e. below 50 Hz)</a:t>
            </a:r>
            <a:br>
              <a:rPr lang="en-US" sz="3600" dirty="0"/>
            </a:br>
            <a:endParaRPr lang="en-US" sz="3600" dirty="0"/>
          </a:p>
        </p:txBody>
      </p:sp>
      <p:sp>
        <p:nvSpPr>
          <p:cNvPr id="3" name="Content Placeholder 2"/>
          <p:cNvSpPr>
            <a:spLocks noGrp="1"/>
          </p:cNvSpPr>
          <p:nvPr>
            <p:ph idx="1"/>
          </p:nvPr>
        </p:nvSpPr>
        <p:spPr>
          <a:xfrm>
            <a:off x="1981200" y="1066801"/>
            <a:ext cx="8229600" cy="5059363"/>
          </a:xfrm>
        </p:spPr>
        <p:txBody>
          <a:bodyPr>
            <a:normAutofit/>
          </a:bodyPr>
          <a:lstStyle/>
          <a:p>
            <a:pPr algn="just"/>
            <a:r>
              <a:rPr lang="en-US" sz="2000" dirty="0"/>
              <a:t>The capacitive reactance is inversely proportional to the frequency. At low frequencies, the reactance is quite high. The reactance of input capacitor </a:t>
            </a:r>
            <a:r>
              <a:rPr lang="en-US" sz="2000" dirty="0" err="1"/>
              <a:t>C</a:t>
            </a:r>
            <a:r>
              <a:rPr lang="en-US" sz="2000" baseline="-25000" dirty="0" err="1"/>
              <a:t>in</a:t>
            </a:r>
            <a:r>
              <a:rPr lang="en-US" sz="2000" dirty="0"/>
              <a:t> and the coupling capacitor C</a:t>
            </a:r>
            <a:r>
              <a:rPr lang="en-US" sz="2000" baseline="-25000" dirty="0"/>
              <a:t>C</a:t>
            </a:r>
            <a:r>
              <a:rPr lang="en-US" sz="2000" dirty="0"/>
              <a:t> are so high that only small part of the input signal is allowed. The reactance of the emitter by pass capacitor C</a:t>
            </a:r>
            <a:r>
              <a:rPr lang="en-US" sz="2000" baseline="-25000" dirty="0"/>
              <a:t>E</a:t>
            </a:r>
            <a:r>
              <a:rPr lang="en-US" sz="2000" dirty="0"/>
              <a:t> is also very high during low frequencies. Hence it cannot shunt the emitter resistance effectively. With all these factors, the voltage gain rolls off at low frequencies.</a:t>
            </a:r>
          </a:p>
          <a:p>
            <a:pPr algn="just"/>
            <a:endParaRPr lang="en-US" sz="2000" dirty="0"/>
          </a:p>
        </p:txBody>
      </p:sp>
    </p:spTree>
    <p:extLst>
      <p:ext uri="{BB962C8B-B14F-4D97-AF65-F5344CB8AC3E}">
        <p14:creationId xmlns:p14="http://schemas.microsoft.com/office/powerpoint/2010/main" val="17411418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44562"/>
          </a:xfrm>
        </p:spPr>
        <p:txBody>
          <a:bodyPr>
            <a:normAutofit fontScale="90000"/>
          </a:bodyPr>
          <a:lstStyle/>
          <a:p>
            <a:r>
              <a:rPr lang="en-US" dirty="0" smtClean="0"/>
              <a:t>At High frequencies (i.e. above 20 KHz)</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sz="2600" dirty="0"/>
              <a:t>Again considering the same point, we know that the capacitive reactance is low at high frequencies. So, a capacitor behaves as a short circuit, at high frequencies. As a result of this, the loading effect of the next stage increases, which reduces the voltage gain. Along with this, as the capacitance of emitter diode decreases, it increases the base current of the transistor due to which the current gain (β) reduces. Hence the voltage gain rolls off at high frequencies.</a:t>
            </a:r>
          </a:p>
          <a:p>
            <a:endParaRPr lang="en-US" dirty="0"/>
          </a:p>
        </p:txBody>
      </p:sp>
    </p:spTree>
    <p:extLst>
      <p:ext uri="{BB962C8B-B14F-4D97-AF65-F5344CB8AC3E}">
        <p14:creationId xmlns:p14="http://schemas.microsoft.com/office/powerpoint/2010/main" val="3443177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At Mid-frequencies (i.e. 50 Hz to 20 KHz)</a:t>
            </a:r>
            <a:br>
              <a:rPr lang="en-US" sz="3600" dirty="0"/>
            </a:br>
            <a:endParaRPr lang="en-US" sz="3600" dirty="0"/>
          </a:p>
        </p:txBody>
      </p:sp>
      <p:sp>
        <p:nvSpPr>
          <p:cNvPr id="3" name="Content Placeholder 2"/>
          <p:cNvSpPr>
            <a:spLocks noGrp="1"/>
          </p:cNvSpPr>
          <p:nvPr>
            <p:ph idx="1"/>
          </p:nvPr>
        </p:nvSpPr>
        <p:spPr/>
        <p:txBody>
          <a:bodyPr>
            <a:normAutofit/>
          </a:bodyPr>
          <a:lstStyle/>
          <a:p>
            <a:pPr algn="just"/>
            <a:r>
              <a:rPr lang="en-US" sz="2200" dirty="0"/>
              <a:t>The voltage gain of the capacitors is maintained constant in this range of frequencies, as shown in figure. If the frequency increases, the reactance of the capacitor C</a:t>
            </a:r>
            <a:r>
              <a:rPr lang="en-US" sz="2200" baseline="-25000" dirty="0"/>
              <a:t>C</a:t>
            </a:r>
            <a:r>
              <a:rPr lang="en-US" sz="2200" dirty="0"/>
              <a:t> decreases which tends to increase the gain. But this lower capacitance reactive increases the loading effect of the next stage by which there is a reduction in gain.</a:t>
            </a:r>
          </a:p>
          <a:p>
            <a:pPr algn="just"/>
            <a:r>
              <a:rPr lang="en-US" sz="2200" dirty="0"/>
              <a:t>Due to these two factors, the gain is maintained constant.</a:t>
            </a:r>
          </a:p>
          <a:p>
            <a:endParaRPr lang="en-US" dirty="0"/>
          </a:p>
        </p:txBody>
      </p:sp>
    </p:spTree>
    <p:extLst>
      <p:ext uri="{BB962C8B-B14F-4D97-AF65-F5344CB8AC3E}">
        <p14:creationId xmlns:p14="http://schemas.microsoft.com/office/powerpoint/2010/main" val="203186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Advantages of RC Coupled Amplifier</a:t>
            </a:r>
            <a:br>
              <a:rPr lang="en-US" sz="3600" dirty="0"/>
            </a:br>
            <a:endParaRPr lang="en-US" sz="3600" dirty="0"/>
          </a:p>
        </p:txBody>
      </p:sp>
      <p:sp>
        <p:nvSpPr>
          <p:cNvPr id="3" name="Content Placeholder 2"/>
          <p:cNvSpPr>
            <a:spLocks noGrp="1"/>
          </p:cNvSpPr>
          <p:nvPr>
            <p:ph idx="1"/>
          </p:nvPr>
        </p:nvSpPr>
        <p:spPr/>
        <p:txBody>
          <a:bodyPr>
            <a:normAutofit/>
          </a:bodyPr>
          <a:lstStyle/>
          <a:p>
            <a:pPr algn="just"/>
            <a:r>
              <a:rPr lang="en-US" dirty="0" smtClean="0"/>
              <a:t>The </a:t>
            </a:r>
            <a:r>
              <a:rPr lang="en-US" dirty="0"/>
              <a:t>following are the advantages of RC coupled amplifier.</a:t>
            </a:r>
          </a:p>
          <a:p>
            <a:pPr algn="just"/>
            <a:r>
              <a:rPr lang="en-US" dirty="0"/>
              <a:t>The frequency response of RC amplifier provides constant gain over a wide frequency range, hence most suitable for audio applications.</a:t>
            </a:r>
          </a:p>
          <a:p>
            <a:pPr algn="just"/>
            <a:r>
              <a:rPr lang="en-US" dirty="0"/>
              <a:t>The circuit is simple and has lower cost because it employs resistors and capacitors which are cheap.</a:t>
            </a:r>
          </a:p>
          <a:p>
            <a:pPr algn="just"/>
            <a:r>
              <a:rPr lang="en-US" dirty="0"/>
              <a:t>It becomes more compact with the upgrading technology.</a:t>
            </a:r>
          </a:p>
          <a:p>
            <a:endParaRPr lang="en-US" dirty="0"/>
          </a:p>
        </p:txBody>
      </p:sp>
    </p:spTree>
    <p:extLst>
      <p:ext uri="{BB962C8B-B14F-4D97-AF65-F5344CB8AC3E}">
        <p14:creationId xmlns:p14="http://schemas.microsoft.com/office/powerpoint/2010/main" val="841134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Disadvantages of RC Coupled Amplifier</a:t>
            </a:r>
            <a:br>
              <a:rPr lang="en-US" sz="3600" dirty="0"/>
            </a:br>
            <a:endParaRPr lang="en-US" sz="3600" dirty="0"/>
          </a:p>
        </p:txBody>
      </p:sp>
      <p:sp>
        <p:nvSpPr>
          <p:cNvPr id="3" name="Content Placeholder 2"/>
          <p:cNvSpPr>
            <a:spLocks noGrp="1"/>
          </p:cNvSpPr>
          <p:nvPr>
            <p:ph idx="1"/>
          </p:nvPr>
        </p:nvSpPr>
        <p:spPr/>
        <p:txBody>
          <a:bodyPr/>
          <a:lstStyle/>
          <a:p>
            <a:r>
              <a:rPr lang="en-US" sz="2400" dirty="0"/>
              <a:t>The following are the disadvantages of RC coupled amplifier.</a:t>
            </a:r>
          </a:p>
          <a:p>
            <a:r>
              <a:rPr lang="en-US" sz="2400" dirty="0"/>
              <a:t>The voltage and power gain are low because of the effective load resistance.</a:t>
            </a:r>
          </a:p>
          <a:p>
            <a:r>
              <a:rPr lang="en-US" sz="2400" dirty="0"/>
              <a:t>They become noisy with age.</a:t>
            </a:r>
          </a:p>
          <a:p>
            <a:r>
              <a:rPr lang="en-US" sz="2400" dirty="0"/>
              <a:t>Due to poor impedance matching, power transfer will be low</a:t>
            </a:r>
          </a:p>
          <a:p>
            <a:endParaRPr lang="en-US" dirty="0"/>
          </a:p>
        </p:txBody>
      </p:sp>
    </p:spTree>
    <p:extLst>
      <p:ext uri="{BB962C8B-B14F-4D97-AF65-F5344CB8AC3E}">
        <p14:creationId xmlns:p14="http://schemas.microsoft.com/office/powerpoint/2010/main" val="3880799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Applications of RC Coupled Amplifier</a:t>
            </a:r>
            <a:br>
              <a:rPr lang="en-US" sz="3600" dirty="0"/>
            </a:br>
            <a:endParaRPr lang="en-US" sz="3600" dirty="0"/>
          </a:p>
        </p:txBody>
      </p:sp>
      <p:sp>
        <p:nvSpPr>
          <p:cNvPr id="3" name="Content Placeholder 2"/>
          <p:cNvSpPr>
            <a:spLocks noGrp="1"/>
          </p:cNvSpPr>
          <p:nvPr>
            <p:ph idx="1"/>
          </p:nvPr>
        </p:nvSpPr>
        <p:spPr/>
        <p:txBody>
          <a:bodyPr/>
          <a:lstStyle/>
          <a:p>
            <a:pPr algn="just"/>
            <a:r>
              <a:rPr lang="en-US" dirty="0" smtClean="0"/>
              <a:t>The </a:t>
            </a:r>
            <a:r>
              <a:rPr lang="en-US" dirty="0"/>
              <a:t>following are the applications of RC coupled amplifier.</a:t>
            </a:r>
          </a:p>
          <a:p>
            <a:pPr algn="just"/>
            <a:r>
              <a:rPr lang="en-US" dirty="0"/>
              <a:t>They have excellent audio fidelity over a wide range of frequency.</a:t>
            </a:r>
          </a:p>
          <a:p>
            <a:pPr algn="just"/>
            <a:r>
              <a:rPr lang="en-US" dirty="0"/>
              <a:t>Widely used as Voltage amplifiers</a:t>
            </a:r>
          </a:p>
          <a:p>
            <a:pPr algn="just"/>
            <a:r>
              <a:rPr lang="en-US" dirty="0"/>
              <a:t>Due to poor impedance matching, RC coupling is rarely used in the final stages.</a:t>
            </a:r>
          </a:p>
          <a:p>
            <a:endParaRPr lang="en-US" dirty="0"/>
          </a:p>
        </p:txBody>
      </p:sp>
    </p:spTree>
    <p:extLst>
      <p:ext uri="{BB962C8B-B14F-4D97-AF65-F5344CB8AC3E}">
        <p14:creationId xmlns:p14="http://schemas.microsoft.com/office/powerpoint/2010/main" val="496081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r>
              <a:rPr lang="en-US" sz="4000" dirty="0"/>
              <a:t/>
            </a:r>
            <a:br>
              <a:rPr lang="en-US" sz="4000" dirty="0"/>
            </a:br>
            <a:r>
              <a:rPr lang="en-US" sz="4000" dirty="0"/>
              <a:t>Transformer Coupled Amplifier</a:t>
            </a:r>
            <a:r>
              <a:rPr lang="en-US" dirty="0"/>
              <a:t/>
            </a:r>
            <a:br>
              <a:rPr lang="en-US" dirty="0"/>
            </a:br>
            <a:endParaRPr lang="en-US" dirty="0"/>
          </a:p>
        </p:txBody>
      </p:sp>
      <p:sp>
        <p:nvSpPr>
          <p:cNvPr id="3" name="Content Placeholder 2"/>
          <p:cNvSpPr>
            <a:spLocks noGrp="1"/>
          </p:cNvSpPr>
          <p:nvPr>
            <p:ph idx="1"/>
          </p:nvPr>
        </p:nvSpPr>
        <p:spPr>
          <a:xfrm>
            <a:off x="1981200" y="1219201"/>
            <a:ext cx="8229600" cy="4906963"/>
          </a:xfrm>
        </p:spPr>
        <p:txBody>
          <a:bodyPr>
            <a:normAutofit fontScale="92500" lnSpcReduction="20000"/>
          </a:bodyPr>
          <a:lstStyle/>
          <a:p>
            <a:pPr algn="just"/>
            <a:r>
              <a:rPr lang="en-US" sz="2000" dirty="0"/>
              <a:t>We have observed that the main drawback of RC coupled amplifier</a:t>
            </a:r>
          </a:p>
          <a:p>
            <a:pPr algn="just">
              <a:buNone/>
            </a:pPr>
            <a:r>
              <a:rPr lang="en-US" sz="2000" dirty="0"/>
              <a:t>		 is that the effective load resistance gets reduced. </a:t>
            </a:r>
          </a:p>
          <a:p>
            <a:pPr algn="just">
              <a:buNone/>
            </a:pPr>
            <a:r>
              <a:rPr lang="en-US" sz="2000" dirty="0"/>
              <a:t>		This is because, the input impedance of an amplifier is low, while its output impedance is high.</a:t>
            </a:r>
          </a:p>
          <a:p>
            <a:pPr algn="just"/>
            <a:endParaRPr lang="en-US" sz="2000" dirty="0"/>
          </a:p>
          <a:p>
            <a:pPr algn="just"/>
            <a:endParaRPr lang="en-US" sz="2000" dirty="0"/>
          </a:p>
          <a:p>
            <a:pPr algn="just"/>
            <a:r>
              <a:rPr lang="en-US" sz="2000" dirty="0"/>
              <a:t>When they are coupled to make a multistage amplifier, </a:t>
            </a:r>
          </a:p>
          <a:p>
            <a:pPr algn="just">
              <a:buNone/>
            </a:pPr>
            <a:r>
              <a:rPr lang="en-US" sz="2000" dirty="0"/>
              <a:t>		the high output impedance of one stage comes in parallel with the low input impedance of next stage. Hence, effective load resistance is decreased. This problem can be overcome by a transformer coupled amplifier.</a:t>
            </a:r>
          </a:p>
          <a:p>
            <a:pPr algn="just"/>
            <a:endParaRPr lang="en-US" sz="2000" dirty="0"/>
          </a:p>
          <a:p>
            <a:pPr algn="just"/>
            <a:endParaRPr lang="en-US" sz="2000" dirty="0"/>
          </a:p>
          <a:p>
            <a:pPr algn="just"/>
            <a:endParaRPr lang="en-US" sz="2000" dirty="0"/>
          </a:p>
          <a:p>
            <a:pPr algn="just"/>
            <a:r>
              <a:rPr lang="en-US" sz="2000" dirty="0"/>
              <a:t>In a transformer-coupled amplifier, the stages of amplifier are coupled using a transformer. Let us go into the constructional and operational details of a transformer coupled amplifier.</a:t>
            </a:r>
          </a:p>
          <a:p>
            <a:pPr algn="just"/>
            <a:endParaRPr lang="en-US" sz="2600" dirty="0"/>
          </a:p>
        </p:txBody>
      </p:sp>
    </p:spTree>
    <p:extLst>
      <p:ext uri="{BB962C8B-B14F-4D97-AF65-F5344CB8AC3E}">
        <p14:creationId xmlns:p14="http://schemas.microsoft.com/office/powerpoint/2010/main" val="342939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a:t>Construction of Transformer Coupled Amplifier</a:t>
            </a:r>
            <a:r>
              <a:rPr lang="en-US" dirty="0"/>
              <a:t/>
            </a:r>
            <a:br>
              <a:rPr lang="en-US" dirty="0"/>
            </a:br>
            <a:endParaRPr lang="en-US" dirty="0"/>
          </a:p>
        </p:txBody>
      </p:sp>
      <p:sp>
        <p:nvSpPr>
          <p:cNvPr id="3" name="Content Placeholder 2"/>
          <p:cNvSpPr>
            <a:spLocks noGrp="1"/>
          </p:cNvSpPr>
          <p:nvPr>
            <p:ph idx="1"/>
          </p:nvPr>
        </p:nvSpPr>
        <p:spPr>
          <a:xfrm>
            <a:off x="1981200" y="990601"/>
            <a:ext cx="8229600" cy="5135563"/>
          </a:xfrm>
        </p:spPr>
        <p:txBody>
          <a:bodyPr>
            <a:normAutofit/>
          </a:bodyPr>
          <a:lstStyle/>
          <a:p>
            <a:pPr algn="just"/>
            <a:r>
              <a:rPr lang="en-US" sz="2000" dirty="0"/>
              <a:t>The amplifier circuit in which, the previous stage is connected to the next stage using a coupling transformer, is called as Transformer coupled amplifier.</a:t>
            </a:r>
          </a:p>
          <a:p>
            <a:pPr algn="just"/>
            <a:r>
              <a:rPr lang="en-US" sz="2000" dirty="0"/>
              <a:t>The potential divider network R</a:t>
            </a:r>
            <a:r>
              <a:rPr lang="en-US" sz="2000" baseline="-25000" dirty="0"/>
              <a:t>1</a:t>
            </a:r>
            <a:r>
              <a:rPr lang="en-US" sz="2000" dirty="0"/>
              <a:t> and R</a:t>
            </a:r>
            <a:r>
              <a:rPr lang="en-US" sz="2000" baseline="-25000" dirty="0"/>
              <a:t>2</a:t>
            </a:r>
            <a:r>
              <a:rPr lang="en-US" sz="2000" dirty="0"/>
              <a:t> and the resistor R</a:t>
            </a:r>
            <a:r>
              <a:rPr lang="en-US" sz="2000" baseline="-25000" dirty="0"/>
              <a:t>e</a:t>
            </a:r>
            <a:r>
              <a:rPr lang="en-US" sz="2000" dirty="0"/>
              <a:t> together form the biasing and stabilization network.</a:t>
            </a:r>
          </a:p>
        </p:txBody>
      </p:sp>
      <p:pic>
        <p:nvPicPr>
          <p:cNvPr id="4" name="Picture 3" descr="https://www.tutorialspoint.com/amplifiers/images/transformer_coupled.jpg"/>
          <p:cNvPicPr/>
          <p:nvPr/>
        </p:nvPicPr>
        <p:blipFill>
          <a:blip r:embed="rId2"/>
          <a:srcRect/>
          <a:stretch>
            <a:fillRect/>
          </a:stretch>
        </p:blipFill>
        <p:spPr bwMode="auto">
          <a:xfrm>
            <a:off x="2743200" y="3200400"/>
            <a:ext cx="7086600" cy="3060700"/>
          </a:xfrm>
          <a:prstGeom prst="rect">
            <a:avLst/>
          </a:prstGeom>
          <a:noFill/>
          <a:ln w="9525">
            <a:noFill/>
            <a:miter lim="800000"/>
            <a:headEnd/>
            <a:tailEnd/>
          </a:ln>
        </p:spPr>
      </p:pic>
    </p:spTree>
    <p:extLst>
      <p:ext uri="{BB962C8B-B14F-4D97-AF65-F5344CB8AC3E}">
        <p14:creationId xmlns:p14="http://schemas.microsoft.com/office/powerpoint/2010/main" val="3586028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1981200" y="1219201"/>
            <a:ext cx="8229600" cy="4906963"/>
          </a:xfrm>
        </p:spPr>
        <p:txBody>
          <a:bodyPr>
            <a:normAutofit/>
          </a:bodyPr>
          <a:lstStyle/>
          <a:p>
            <a:pPr algn="just"/>
            <a:r>
              <a:rPr lang="en-US" sz="2000" dirty="0"/>
              <a:t>The emitter by-pass capacitor </a:t>
            </a:r>
            <a:r>
              <a:rPr lang="en-US" sz="2000" dirty="0" err="1"/>
              <a:t>C</a:t>
            </a:r>
            <a:r>
              <a:rPr lang="en-US" sz="2000" baseline="-25000" dirty="0" err="1"/>
              <a:t>e</a:t>
            </a:r>
            <a:r>
              <a:rPr lang="en-US" sz="2000" dirty="0"/>
              <a:t> offers a low reactance path to the signal. The resistor R</a:t>
            </a:r>
            <a:r>
              <a:rPr lang="en-US" sz="2000" baseline="-25000" dirty="0"/>
              <a:t>L</a:t>
            </a:r>
            <a:r>
              <a:rPr lang="en-US" sz="2000" dirty="0"/>
              <a:t> is used as a load impedance. </a:t>
            </a:r>
          </a:p>
          <a:p>
            <a:pPr algn="just"/>
            <a:r>
              <a:rPr lang="en-US" sz="2000" dirty="0"/>
              <a:t>The input capacitor </a:t>
            </a:r>
            <a:r>
              <a:rPr lang="en-US" sz="2000" dirty="0" err="1"/>
              <a:t>C</a:t>
            </a:r>
            <a:r>
              <a:rPr lang="en-US" sz="2000" baseline="-25000" dirty="0" err="1"/>
              <a:t>in</a:t>
            </a:r>
            <a:r>
              <a:rPr lang="en-US" sz="2000" dirty="0"/>
              <a:t> present at the initial stage of the amplifier couples AC signal to the base of the transistor. </a:t>
            </a:r>
          </a:p>
          <a:p>
            <a:pPr algn="just"/>
            <a:r>
              <a:rPr lang="en-US" sz="2000" dirty="0"/>
              <a:t>The capacitor C</a:t>
            </a:r>
            <a:r>
              <a:rPr lang="en-US" sz="2000" baseline="-25000" dirty="0"/>
              <a:t>C</a:t>
            </a:r>
            <a:r>
              <a:rPr lang="en-US" sz="2000" dirty="0"/>
              <a:t> is the coupling capacitor that connects two stages and prevents DC interference between the stages and controls the shift of operating point.</a:t>
            </a:r>
          </a:p>
          <a:p>
            <a:pPr algn="just"/>
            <a:endParaRPr lang="en-US" sz="2000" dirty="0"/>
          </a:p>
          <a:p>
            <a:r>
              <a:rPr lang="en-US" sz="2000" dirty="0"/>
              <a:t>This transformer coupling provides good impedance matching between the stages of amplifier. The transformer coupled amplifier is generally used for power amplification.</a:t>
            </a:r>
            <a:br>
              <a:rPr lang="en-US" sz="2000" dirty="0"/>
            </a:br>
            <a:endParaRPr lang="en-US" sz="2000" dirty="0"/>
          </a:p>
        </p:txBody>
      </p:sp>
    </p:spTree>
    <p:extLst>
      <p:ext uri="{BB962C8B-B14F-4D97-AF65-F5344CB8AC3E}">
        <p14:creationId xmlns:p14="http://schemas.microsoft.com/office/powerpoint/2010/main" val="519752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sz="3100" dirty="0"/>
              <a:t/>
            </a:r>
            <a:br>
              <a:rPr lang="en-US" sz="3100" dirty="0"/>
            </a:br>
            <a:r>
              <a:rPr lang="en-US" sz="3100" dirty="0"/>
              <a:t>Frequency Response of Transformer Coupled Amplifier</a:t>
            </a:r>
            <a:r>
              <a:rPr lang="en-US" dirty="0"/>
              <a:t/>
            </a:r>
            <a:br>
              <a:rPr lang="en-US" dirty="0"/>
            </a:br>
            <a:endParaRPr lang="en-US" dirty="0"/>
          </a:p>
        </p:txBody>
      </p:sp>
      <p:sp>
        <p:nvSpPr>
          <p:cNvPr id="3" name="Content Placeholder 2"/>
          <p:cNvSpPr>
            <a:spLocks noGrp="1"/>
          </p:cNvSpPr>
          <p:nvPr>
            <p:ph idx="1"/>
          </p:nvPr>
        </p:nvSpPr>
        <p:spPr>
          <a:xfrm>
            <a:off x="1981200" y="838201"/>
            <a:ext cx="8229600" cy="5287963"/>
          </a:xfrm>
        </p:spPr>
        <p:txBody>
          <a:bodyPr>
            <a:normAutofit/>
          </a:bodyPr>
          <a:lstStyle/>
          <a:p>
            <a:pPr algn="just"/>
            <a:r>
              <a:rPr lang="en-US" sz="2000" dirty="0"/>
              <a:t>The figure below shows the frequency response of a transformer coupled amplifier. The gain of the amplifier is constant only for a small range of frequencies. The output voltage is equal to the collector current multiplied by the reactance of primary.</a:t>
            </a:r>
          </a:p>
          <a:p>
            <a:pPr algn="just"/>
            <a:r>
              <a:rPr lang="en-US" sz="2000" dirty="0"/>
              <a:t>At low frequencies, the reactance of primary begins to fall, resulting in decreased gain. At high frequencies, the capacitance between turns of windings acts as a bypass condenser to reduce the output voltage and hence gain.</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So, the amplification of audio signals will not be proportionate and some distortion will also get introduced, which is called as </a:t>
            </a:r>
            <a:r>
              <a:rPr lang="en-US" sz="2000" b="1" dirty="0"/>
              <a:t>Frequency distortion</a:t>
            </a:r>
            <a:endParaRPr lang="en-US" sz="2000" dirty="0"/>
          </a:p>
          <a:p>
            <a:pPr algn="just"/>
            <a:endParaRPr lang="en-US" sz="2000" dirty="0"/>
          </a:p>
          <a:p>
            <a:endParaRPr lang="en-US" dirty="0" smtClean="0"/>
          </a:p>
          <a:p>
            <a:endParaRPr lang="en-US" dirty="0"/>
          </a:p>
        </p:txBody>
      </p:sp>
      <p:pic>
        <p:nvPicPr>
          <p:cNvPr id="4" name="Picture 3" descr="https://www.tutorialspoint.com/amplifiers/images/frequency_coupled.jpg"/>
          <p:cNvPicPr/>
          <p:nvPr/>
        </p:nvPicPr>
        <p:blipFill>
          <a:blip r:embed="rId2"/>
          <a:srcRect/>
          <a:stretch>
            <a:fillRect/>
          </a:stretch>
        </p:blipFill>
        <p:spPr bwMode="auto">
          <a:xfrm>
            <a:off x="6858000" y="3352800"/>
            <a:ext cx="3199130" cy="1762760"/>
          </a:xfrm>
          <a:prstGeom prst="rect">
            <a:avLst/>
          </a:prstGeom>
          <a:noFill/>
          <a:ln w="9525">
            <a:noFill/>
            <a:miter lim="800000"/>
            <a:headEnd/>
            <a:tailEnd/>
          </a:ln>
        </p:spPr>
      </p:pic>
    </p:spTree>
    <p:extLst>
      <p:ext uri="{BB962C8B-B14F-4D97-AF65-F5344CB8AC3E}">
        <p14:creationId xmlns:p14="http://schemas.microsoft.com/office/powerpoint/2010/main" val="2483976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96962"/>
          </a:xfrm>
        </p:spPr>
        <p:txBody>
          <a:bodyPr>
            <a:normAutofit fontScale="90000"/>
          </a:bodyPr>
          <a:lstStyle/>
          <a:p>
            <a:r>
              <a:rPr lang="en-US" dirty="0" smtClean="0"/>
              <a:t/>
            </a:r>
            <a:br>
              <a:rPr lang="en-US" dirty="0" smtClean="0"/>
            </a:br>
            <a:r>
              <a:rPr lang="en-US" dirty="0"/>
              <a:t/>
            </a:r>
            <a:br>
              <a:rPr lang="en-US" dirty="0"/>
            </a:br>
            <a:r>
              <a:rPr lang="en-US" sz="4000" dirty="0"/>
              <a:t>Advantages of Transformer Coupled Amplifier</a:t>
            </a:r>
            <a:r>
              <a:rPr lang="en-US" dirty="0"/>
              <a:t/>
            </a:r>
            <a:br>
              <a:rPr lang="en-US" dirty="0"/>
            </a:br>
            <a:endParaRPr lang="en-US" dirty="0"/>
          </a:p>
        </p:txBody>
      </p:sp>
      <p:sp>
        <p:nvSpPr>
          <p:cNvPr id="3" name="Content Placeholder 2"/>
          <p:cNvSpPr>
            <a:spLocks noGrp="1"/>
          </p:cNvSpPr>
          <p:nvPr>
            <p:ph idx="1"/>
          </p:nvPr>
        </p:nvSpPr>
        <p:spPr>
          <a:xfrm>
            <a:off x="1981200" y="914401"/>
            <a:ext cx="8229600" cy="5211763"/>
          </a:xfrm>
        </p:spPr>
        <p:txBody>
          <a:bodyPr>
            <a:normAutofit/>
          </a:bodyPr>
          <a:lstStyle/>
          <a:p>
            <a:pPr algn="just">
              <a:buNone/>
            </a:pPr>
            <a:r>
              <a:rPr lang="en-US" sz="2000" dirty="0"/>
              <a:t>.</a:t>
            </a:r>
          </a:p>
          <a:p>
            <a:endParaRPr lang="en-US" dirty="0" smtClean="0"/>
          </a:p>
          <a:p>
            <a:pPr algn="just"/>
            <a:r>
              <a:rPr lang="en-US" sz="2400" dirty="0"/>
              <a:t>The following are the advantages of a transformer coupled amplifier −</a:t>
            </a:r>
          </a:p>
          <a:p>
            <a:pPr algn="just"/>
            <a:r>
              <a:rPr lang="en-US" sz="2400" dirty="0"/>
              <a:t>An excellent impedance matching is provided.</a:t>
            </a:r>
          </a:p>
          <a:p>
            <a:pPr algn="just"/>
            <a:r>
              <a:rPr lang="en-US" sz="2400" dirty="0"/>
              <a:t>Gain achieved is higher.</a:t>
            </a:r>
          </a:p>
          <a:p>
            <a:pPr algn="just"/>
            <a:r>
              <a:rPr lang="en-US" sz="2400" dirty="0"/>
              <a:t>There will be no power loss in collector and base resistors.</a:t>
            </a:r>
          </a:p>
          <a:p>
            <a:pPr algn="just"/>
            <a:r>
              <a:rPr lang="en-US" sz="2400" dirty="0"/>
              <a:t>Efficient in operation.</a:t>
            </a:r>
          </a:p>
          <a:p>
            <a:pPr>
              <a:buNone/>
            </a:pPr>
            <a:endParaRPr lang="en-US" dirty="0"/>
          </a:p>
        </p:txBody>
      </p:sp>
    </p:spTree>
    <p:extLst>
      <p:ext uri="{BB962C8B-B14F-4D97-AF65-F5344CB8AC3E}">
        <p14:creationId xmlns:p14="http://schemas.microsoft.com/office/powerpoint/2010/main" val="2814879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smtClean="0"/>
              <a:t/>
            </a:r>
            <a:br>
              <a:rPr lang="en-US" dirty="0" smtClean="0"/>
            </a:br>
            <a:r>
              <a:rPr lang="en-US" sz="4000" dirty="0"/>
              <a:t>Disadvantages of Transformer Coupled Amplifier</a:t>
            </a:r>
          </a:p>
        </p:txBody>
      </p:sp>
      <p:sp>
        <p:nvSpPr>
          <p:cNvPr id="3" name="Content Placeholder 2"/>
          <p:cNvSpPr>
            <a:spLocks noGrp="1"/>
          </p:cNvSpPr>
          <p:nvPr>
            <p:ph idx="1"/>
          </p:nvPr>
        </p:nvSpPr>
        <p:spPr/>
        <p:txBody>
          <a:bodyPr>
            <a:normAutofit/>
          </a:bodyPr>
          <a:lstStyle/>
          <a:p>
            <a:pPr>
              <a:buNone/>
            </a:pPr>
            <a:r>
              <a:rPr lang="en-US" sz="2400" dirty="0"/>
              <a:t>The following are the disadvantages of a transformer coupled amplifier −</a:t>
            </a:r>
          </a:p>
          <a:p>
            <a:r>
              <a:rPr lang="en-US" sz="2400" dirty="0"/>
              <a:t>Though the gain is high, it varies considerably with frequency. Hence a poor frequency response.</a:t>
            </a:r>
          </a:p>
          <a:p>
            <a:r>
              <a:rPr lang="en-US" sz="2400" dirty="0"/>
              <a:t>Frequency distortion is higher.</a:t>
            </a:r>
          </a:p>
          <a:p>
            <a:r>
              <a:rPr lang="en-US" sz="2400" dirty="0"/>
              <a:t>Transformers tend to produce hum noise.</a:t>
            </a:r>
          </a:p>
          <a:p>
            <a:r>
              <a:rPr lang="en-US" sz="2400" dirty="0"/>
              <a:t>Transformers are bulky and costly.</a:t>
            </a:r>
          </a:p>
          <a:p>
            <a:endParaRPr lang="en-US" dirty="0"/>
          </a:p>
        </p:txBody>
      </p:sp>
    </p:spTree>
    <p:extLst>
      <p:ext uri="{BB962C8B-B14F-4D97-AF65-F5344CB8AC3E}">
        <p14:creationId xmlns:p14="http://schemas.microsoft.com/office/powerpoint/2010/main" val="1259060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Applications</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The following are the applications of a transformer coupled amplifier −</a:t>
            </a:r>
          </a:p>
          <a:p>
            <a:r>
              <a:rPr lang="en-US" dirty="0" smtClean="0"/>
              <a:t>Mostly used for impedance matching purposes.</a:t>
            </a:r>
          </a:p>
          <a:p>
            <a:r>
              <a:rPr lang="en-US" dirty="0" smtClean="0"/>
              <a:t>Used for Power amplification.</a:t>
            </a:r>
          </a:p>
          <a:p>
            <a:r>
              <a:rPr lang="en-US" dirty="0" smtClean="0"/>
              <a:t>Used in applications where maximum power transfer is needed.</a:t>
            </a:r>
          </a:p>
          <a:p>
            <a:endParaRPr lang="en-US" dirty="0"/>
          </a:p>
        </p:txBody>
      </p:sp>
    </p:spTree>
    <p:extLst>
      <p:ext uri="{BB962C8B-B14F-4D97-AF65-F5344CB8AC3E}">
        <p14:creationId xmlns:p14="http://schemas.microsoft.com/office/powerpoint/2010/main" val="410429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Coupled Amplifier</a:t>
            </a:r>
            <a:endParaRPr lang="en-US" dirty="0"/>
          </a:p>
        </p:txBody>
      </p:sp>
      <p:sp>
        <p:nvSpPr>
          <p:cNvPr id="3" name="Content Placeholder 2"/>
          <p:cNvSpPr>
            <a:spLocks noGrp="1"/>
          </p:cNvSpPr>
          <p:nvPr>
            <p:ph idx="1"/>
          </p:nvPr>
        </p:nvSpPr>
        <p:spPr/>
        <p:txBody>
          <a:bodyPr>
            <a:normAutofit/>
          </a:bodyPr>
          <a:lstStyle/>
          <a:p>
            <a:pPr algn="just">
              <a:buNone/>
            </a:pPr>
            <a:r>
              <a:rPr lang="en-US" sz="2600" dirty="0"/>
              <a:t>As no coupling devices are used, the coupling of the amplifier stages is done directly and hence called as </a:t>
            </a:r>
            <a:r>
              <a:rPr lang="en-US" sz="2600" b="1" dirty="0"/>
              <a:t>Direct coupled amplifier</a:t>
            </a:r>
            <a:r>
              <a:rPr lang="en-US" sz="2600" dirty="0"/>
              <a:t>.</a:t>
            </a:r>
          </a:p>
          <a:p>
            <a:pPr algn="just"/>
            <a:r>
              <a:rPr lang="en-US" sz="2600" dirty="0"/>
              <a:t>which is especially used to amplify lower frequencies</a:t>
            </a:r>
          </a:p>
          <a:p>
            <a:pPr algn="just"/>
            <a:r>
              <a:rPr lang="en-US" sz="2600" dirty="0"/>
              <a:t>such as amplifying photo-electric current or thermo-couple current or so.</a:t>
            </a:r>
          </a:p>
          <a:p>
            <a:pPr algn="just">
              <a:buNone/>
            </a:pPr>
            <a:r>
              <a:rPr lang="en-US" sz="2600" b="1" u="sng" dirty="0"/>
              <a:t>Construction</a:t>
            </a:r>
          </a:p>
          <a:p>
            <a:pPr algn="just">
              <a:buNone/>
            </a:pPr>
            <a:r>
              <a:rPr lang="en-US" sz="2600" dirty="0"/>
              <a:t>The output of first stage transistor T</a:t>
            </a:r>
            <a:r>
              <a:rPr lang="en-US" sz="2600" baseline="-25000" dirty="0"/>
              <a:t>1</a:t>
            </a:r>
            <a:r>
              <a:rPr lang="en-US" sz="2600" dirty="0"/>
              <a:t> is connected to the input of second stage transistor T</a:t>
            </a:r>
            <a:r>
              <a:rPr lang="en-US" sz="2600" baseline="-25000" dirty="0"/>
              <a:t>2</a:t>
            </a:r>
            <a:r>
              <a:rPr lang="en-US" sz="2600" dirty="0"/>
              <a:t>.</a:t>
            </a:r>
          </a:p>
          <a:p>
            <a:endParaRPr lang="en-US" dirty="0"/>
          </a:p>
        </p:txBody>
      </p:sp>
    </p:spTree>
    <p:extLst>
      <p:ext uri="{BB962C8B-B14F-4D97-AF65-F5344CB8AC3E}">
        <p14:creationId xmlns:p14="http://schemas.microsoft.com/office/powerpoint/2010/main" val="1316389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305800" cy="1112838"/>
          </a:xfrm>
        </p:spPr>
        <p:txBody>
          <a:bodyPr>
            <a:normAutofit fontScale="90000"/>
          </a:bodyPr>
          <a:lstStyle/>
          <a:p>
            <a:pPr algn="just"/>
            <a:r>
              <a:rPr lang="en-US" sz="2200" dirty="0"/>
              <a:t/>
            </a:r>
            <a:br>
              <a:rPr lang="en-US" sz="2200" dirty="0"/>
            </a:br>
            <a:r>
              <a:rPr lang="en-US" sz="2200" dirty="0"/>
              <a:t/>
            </a:r>
            <a:br>
              <a:rPr lang="en-US" sz="2200" dirty="0"/>
            </a:br>
            <a:r>
              <a:rPr lang="en-US" sz="2200" dirty="0"/>
              <a:t/>
            </a:r>
            <a:br>
              <a:rPr lang="en-US" sz="2200" dirty="0"/>
            </a:br>
            <a:endParaRPr lang="en-US" dirty="0"/>
          </a:p>
        </p:txBody>
      </p:sp>
      <p:pic>
        <p:nvPicPr>
          <p:cNvPr id="4" name="Content Placeholder 3" descr="Direct Coupled"/>
          <p:cNvPicPr>
            <a:picLocks noGrp="1"/>
          </p:cNvPicPr>
          <p:nvPr>
            <p:ph idx="1"/>
          </p:nvPr>
        </p:nvPicPr>
        <p:blipFill>
          <a:blip r:embed="rId2"/>
          <a:srcRect/>
          <a:stretch>
            <a:fillRect/>
          </a:stretch>
        </p:blipFill>
        <p:spPr bwMode="auto">
          <a:xfrm>
            <a:off x="3429000" y="2209800"/>
            <a:ext cx="4762500" cy="3543300"/>
          </a:xfrm>
          <a:prstGeom prst="rect">
            <a:avLst/>
          </a:prstGeom>
          <a:noFill/>
          <a:ln w="9525">
            <a:noFill/>
            <a:miter lim="800000"/>
            <a:headEnd/>
            <a:tailEnd/>
          </a:ln>
        </p:spPr>
      </p:pic>
      <p:sp>
        <p:nvSpPr>
          <p:cNvPr id="5" name="Rectangle 4"/>
          <p:cNvSpPr/>
          <p:nvPr/>
        </p:nvSpPr>
        <p:spPr>
          <a:xfrm>
            <a:off x="2209800" y="838200"/>
            <a:ext cx="7620000" cy="1477328"/>
          </a:xfrm>
          <a:prstGeom prst="rect">
            <a:avLst/>
          </a:prstGeom>
        </p:spPr>
        <p:txBody>
          <a:bodyPr wrap="square">
            <a:spAutoFit/>
          </a:bodyPr>
          <a:lstStyle/>
          <a:p>
            <a:pPr algn="just"/>
            <a:r>
              <a:rPr lang="en-US" dirty="0"/>
              <a:t>The transistor in the first stage will be an NPN transistor, while the transistor in the next stage will be a PNP transistor and so on</a:t>
            </a:r>
            <a:r>
              <a:rPr lang="en-US" b="1" dirty="0"/>
              <a:t>. This is because, the variations in one transistor tend to cancel the variations in the other. </a:t>
            </a:r>
            <a:r>
              <a:rPr lang="en-US" dirty="0"/>
              <a:t>The rise in the collector current and the variation in β of one transistor gets cancelled by the decrease in the other.</a:t>
            </a:r>
          </a:p>
        </p:txBody>
      </p:sp>
    </p:spTree>
    <p:extLst>
      <p:ext uri="{BB962C8B-B14F-4D97-AF65-F5344CB8AC3E}">
        <p14:creationId xmlns:p14="http://schemas.microsoft.com/office/powerpoint/2010/main" val="1188780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305800" cy="1112838"/>
          </a:xfrm>
        </p:spPr>
        <p:txBody>
          <a:bodyPr>
            <a:normAutofit fontScale="90000"/>
          </a:bodyPr>
          <a:lstStyle/>
          <a:p>
            <a:pPr algn="just"/>
            <a:r>
              <a:rPr lang="en-US" sz="2200" dirty="0"/>
              <a:t/>
            </a:r>
            <a:br>
              <a:rPr lang="en-US" sz="2200" dirty="0"/>
            </a:br>
            <a:r>
              <a:rPr lang="en-US" sz="2200" dirty="0"/>
              <a:t/>
            </a:r>
            <a:br>
              <a:rPr lang="en-US" sz="2200" dirty="0"/>
            </a:br>
            <a:r>
              <a:rPr lang="en-US" sz="2200" dirty="0"/>
              <a:t/>
            </a:r>
            <a:br>
              <a:rPr lang="en-US" sz="2200" dirty="0"/>
            </a:br>
            <a:endParaRPr lang="en-US" dirty="0"/>
          </a:p>
        </p:txBody>
      </p:sp>
      <p:sp>
        <p:nvSpPr>
          <p:cNvPr id="5" name="Content Placeholder 4"/>
          <p:cNvSpPr>
            <a:spLocks noGrp="1"/>
          </p:cNvSpPr>
          <p:nvPr>
            <p:ph idx="1"/>
          </p:nvPr>
        </p:nvSpPr>
        <p:spPr>
          <a:xfrm>
            <a:off x="1981200" y="457201"/>
            <a:ext cx="8229600" cy="5668963"/>
          </a:xfrm>
        </p:spPr>
        <p:txBody>
          <a:bodyPr>
            <a:normAutofit fontScale="77500" lnSpcReduction="20000"/>
          </a:bodyPr>
          <a:lstStyle/>
          <a:p>
            <a:pPr>
              <a:buNone/>
            </a:pPr>
            <a:r>
              <a:rPr lang="en-US" b="1" dirty="0" smtClean="0"/>
              <a:t>Advantages</a:t>
            </a:r>
          </a:p>
          <a:p>
            <a:pPr algn="just"/>
            <a:r>
              <a:rPr lang="en-US" dirty="0" smtClean="0"/>
              <a:t>The advantages of direct coupled amplifier are as follows.</a:t>
            </a:r>
          </a:p>
          <a:p>
            <a:pPr algn="just"/>
            <a:r>
              <a:rPr lang="en-US" dirty="0" smtClean="0"/>
              <a:t>The circuit arrangement is simple because of minimum use of resistors.</a:t>
            </a:r>
          </a:p>
          <a:p>
            <a:pPr algn="just"/>
            <a:r>
              <a:rPr lang="en-US" dirty="0" smtClean="0"/>
              <a:t>The circuit is of low cost because of the absence of expensive coupling devices.</a:t>
            </a:r>
          </a:p>
          <a:p>
            <a:pPr algn="just"/>
            <a:endParaRPr lang="en-US" dirty="0" smtClean="0"/>
          </a:p>
          <a:p>
            <a:pPr algn="just">
              <a:buNone/>
            </a:pPr>
            <a:r>
              <a:rPr lang="en-US" b="1" dirty="0" smtClean="0"/>
              <a:t>Disadvantages</a:t>
            </a:r>
          </a:p>
          <a:p>
            <a:pPr algn="just"/>
            <a:r>
              <a:rPr lang="en-US" dirty="0" smtClean="0"/>
              <a:t>The disadvantages of direct coupled amplifier are as follows.</a:t>
            </a:r>
          </a:p>
          <a:p>
            <a:pPr algn="just"/>
            <a:r>
              <a:rPr lang="en-US" dirty="0" smtClean="0"/>
              <a:t>It cannot be used for amplifying high frequencies.</a:t>
            </a:r>
          </a:p>
          <a:p>
            <a:pPr algn="just"/>
            <a:r>
              <a:rPr lang="en-US" dirty="0" smtClean="0"/>
              <a:t>The operating point is shifted due to temperature variations.</a:t>
            </a:r>
          </a:p>
          <a:p>
            <a:pPr algn="just"/>
            <a:endParaRPr lang="en-US" dirty="0" smtClean="0"/>
          </a:p>
          <a:p>
            <a:pPr algn="just">
              <a:buNone/>
            </a:pPr>
            <a:r>
              <a:rPr lang="en-US" b="1" dirty="0" smtClean="0"/>
              <a:t>Applications</a:t>
            </a:r>
          </a:p>
          <a:p>
            <a:pPr algn="just"/>
            <a:r>
              <a:rPr lang="en-US" dirty="0" smtClean="0"/>
              <a:t>The applications of direct coupled amplifier are as follows.</a:t>
            </a:r>
          </a:p>
          <a:p>
            <a:pPr algn="just"/>
            <a:r>
              <a:rPr lang="en-US" dirty="0" smtClean="0"/>
              <a:t>Low frequency amplifications.</a:t>
            </a:r>
          </a:p>
          <a:p>
            <a:pPr algn="just"/>
            <a:r>
              <a:rPr lang="en-US" dirty="0" smtClean="0"/>
              <a:t>Low current amplifications.</a:t>
            </a:r>
          </a:p>
          <a:p>
            <a:endParaRPr lang="en-US" dirty="0"/>
          </a:p>
        </p:txBody>
      </p:sp>
    </p:spTree>
    <p:extLst>
      <p:ext uri="{BB962C8B-B14F-4D97-AF65-F5344CB8AC3E}">
        <p14:creationId xmlns:p14="http://schemas.microsoft.com/office/powerpoint/2010/main" val="770300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End</a:t>
            </a:r>
            <a:endParaRPr lang="en-US" dirty="0"/>
          </a:p>
        </p:txBody>
      </p:sp>
    </p:spTree>
    <p:extLst>
      <p:ext uri="{BB962C8B-B14F-4D97-AF65-F5344CB8AC3E}">
        <p14:creationId xmlns:p14="http://schemas.microsoft.com/office/powerpoint/2010/main" val="2895491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787E-D6B3-8B0D-9456-5D2BA79AB88B}"/>
              </a:ext>
            </a:extLst>
          </p:cNvPr>
          <p:cNvSpPr>
            <a:spLocks noGrp="1"/>
          </p:cNvSpPr>
          <p:nvPr>
            <p:ph type="ctrTitle"/>
          </p:nvPr>
        </p:nvSpPr>
        <p:spPr>
          <a:xfrm>
            <a:off x="4551179" y="3987071"/>
            <a:ext cx="7235659" cy="681673"/>
          </a:xfrm>
        </p:spPr>
        <p:txBody>
          <a:bodyPr>
            <a:noAutofit/>
          </a:bodyPr>
          <a:lstStyle/>
          <a:p>
            <a:pPr algn="l">
              <a:spcBef>
                <a:spcPts val="0"/>
              </a:spcBef>
              <a:spcAft>
                <a:spcPts val="1000"/>
              </a:spcAft>
            </a:pPr>
            <a:r>
              <a:rPr lang="en-US" sz="3600" dirty="0" smtClean="0">
                <a:latin typeface="Arial Narrow" panose="020B0606020202030204" pitchFamily="34" charset="0"/>
              </a:rPr>
              <a:t>RESPON </a:t>
            </a:r>
            <a:r>
              <a:rPr lang="id-ID" sz="3600" dirty="0">
                <a:latin typeface="Arial Narrow" panose="020B0606020202030204" pitchFamily="34" charset="0"/>
              </a:rPr>
              <a:t>FREKUENSI PENGUAT TRANSISTOR </a:t>
            </a:r>
            <a:endParaRPr lang="en-US" sz="3600" dirty="0">
              <a:latin typeface="Arial Narrow" panose="020B0606020202030204" pitchFamily="34" charset="0"/>
            </a:endParaRPr>
          </a:p>
        </p:txBody>
      </p:sp>
      <p:sp>
        <p:nvSpPr>
          <p:cNvPr id="3" name="Subtitle 2">
            <a:extLst>
              <a:ext uri="{FF2B5EF4-FFF2-40B4-BE49-F238E27FC236}">
                <a16:creationId xmlns:a16="http://schemas.microsoft.com/office/drawing/2014/main" id="{53858C97-DA2F-8866-47CC-CDF4077BBF9D}"/>
              </a:ext>
            </a:extLst>
          </p:cNvPr>
          <p:cNvSpPr>
            <a:spLocks noGrp="1"/>
          </p:cNvSpPr>
          <p:nvPr>
            <p:ph type="subTitle" idx="1"/>
          </p:nvPr>
        </p:nvSpPr>
        <p:spPr>
          <a:xfrm>
            <a:off x="4639718" y="4619069"/>
            <a:ext cx="1493454" cy="309770"/>
          </a:xfrm>
        </p:spPr>
        <p:txBody>
          <a:bodyPr>
            <a:normAutofit lnSpcReduction="10000"/>
          </a:bodyPr>
          <a:lstStyle/>
          <a:p>
            <a:r>
              <a:rPr lang="en-US" sz="1600" dirty="0" smtClean="0"/>
              <a:t>PDS</a:t>
            </a:r>
            <a:endParaRPr lang="en-US" sz="1600" dirty="0"/>
          </a:p>
        </p:txBody>
      </p:sp>
      <p:pic>
        <p:nvPicPr>
          <p:cNvPr id="48" name="Picture 47" descr="White structure">
            <a:extLst>
              <a:ext uri="{FF2B5EF4-FFF2-40B4-BE49-F238E27FC236}">
                <a16:creationId xmlns:a16="http://schemas.microsoft.com/office/drawing/2014/main" id="{E0652CF5-4E0B-F89D-4D88-A13BE5A6A897}"/>
              </a:ext>
            </a:extLst>
          </p:cNvPr>
          <p:cNvPicPr>
            <a:picLocks noChangeAspect="1"/>
          </p:cNvPicPr>
          <p:nvPr/>
        </p:nvPicPr>
        <p:blipFill rotWithShape="1">
          <a:blip r:embed="rId3"/>
          <a:srcRect l="450" r="25990" b="3"/>
          <a:stretch/>
        </p:blipFill>
        <p:spPr>
          <a:xfrm>
            <a:off x="-1" y="1371600"/>
            <a:ext cx="4076699" cy="4114800"/>
          </a:xfrm>
          <a:prstGeom prst="rect">
            <a:avLst/>
          </a:prstGeom>
        </p:spPr>
      </p:pic>
      <p:pic>
        <p:nvPicPr>
          <p:cNvPr id="6" name="Picture 5">
            <a:extLst>
              <a:ext uri="{FF2B5EF4-FFF2-40B4-BE49-F238E27FC236}">
                <a16:creationId xmlns:a16="http://schemas.microsoft.com/office/drawing/2014/main" id="{9926FD42-6AB7-9431-FDD4-769D809858A9}"/>
              </a:ext>
            </a:extLst>
          </p:cNvPr>
          <p:cNvPicPr>
            <a:picLocks noChangeAspect="1"/>
          </p:cNvPicPr>
          <p:nvPr/>
        </p:nvPicPr>
        <p:blipFill>
          <a:blip r:embed="rId4"/>
          <a:stretch>
            <a:fillRect/>
          </a:stretch>
        </p:blipFill>
        <p:spPr>
          <a:xfrm>
            <a:off x="7364361" y="330959"/>
            <a:ext cx="4640189" cy="3297144"/>
          </a:xfrm>
          <a:prstGeom prst="rect">
            <a:avLst/>
          </a:prstGeom>
        </p:spPr>
      </p:pic>
      <p:grpSp>
        <p:nvGrpSpPr>
          <p:cNvPr id="9" name="Group 8">
            <a:extLst>
              <a:ext uri="{FF2B5EF4-FFF2-40B4-BE49-F238E27FC236}">
                <a16:creationId xmlns:a16="http://schemas.microsoft.com/office/drawing/2014/main" id="{2AABCB87-2ECC-4C03-B5BB-6EE11C8A4485}"/>
              </a:ext>
            </a:extLst>
          </p:cNvPr>
          <p:cNvGrpSpPr/>
          <p:nvPr/>
        </p:nvGrpSpPr>
        <p:grpSpPr>
          <a:xfrm>
            <a:off x="346874" y="2470551"/>
            <a:ext cx="3064025" cy="1516520"/>
            <a:chOff x="4853562" y="1589418"/>
            <a:chExt cx="2609520" cy="1291565"/>
          </a:xfrm>
        </p:grpSpPr>
        <p:sp>
          <p:nvSpPr>
            <p:cNvPr id="10"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11" name="Freeform 7">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sp>
        <p:nvSpPr>
          <p:cNvPr id="14" name="Freeform: Shape 67">
            <a:extLst>
              <a:ext uri="{FF2B5EF4-FFF2-40B4-BE49-F238E27FC236}">
                <a16:creationId xmlns:a16="http://schemas.microsoft.com/office/drawing/2014/main" id="{275D1FAA-C13F-4A6B-BA37-7704CFB7ADCD}"/>
              </a:ext>
            </a:extLst>
          </p:cNvPr>
          <p:cNvSpPr/>
          <p:nvPr/>
        </p:nvSpPr>
        <p:spPr>
          <a:xfrm>
            <a:off x="1948515" y="3348349"/>
            <a:ext cx="276281" cy="203382"/>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002868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Outlines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id-ID" dirty="0" smtClean="0">
                <a:ln w="0"/>
                <a:effectLst>
                  <a:outerShdw blurRad="38100" dist="19050" dir="2700000" algn="tl" rotWithShape="0">
                    <a:schemeClr val="dk1">
                      <a:alpha val="40000"/>
                    </a:schemeClr>
                  </a:outerShdw>
                </a:effectLst>
              </a:rPr>
              <a:t>Pendahuluan</a:t>
            </a:r>
            <a:endParaRPr lang="id-ID" dirty="0">
              <a:ln w="0"/>
              <a:effectLst>
                <a:outerShdw blurRad="38100" dist="19050" dir="2700000" algn="tl" rotWithShape="0">
                  <a:schemeClr val="dk1">
                    <a:alpha val="40000"/>
                  </a:schemeClr>
                </a:outerShdw>
              </a:effectLst>
            </a:endParaRPr>
          </a:p>
          <a:p>
            <a:pPr>
              <a:buFont typeface="Wingdings" panose="05000000000000000000" pitchFamily="2" charset="2"/>
              <a:buChar char="§"/>
            </a:pP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Konsep</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Respon</a:t>
            </a:r>
            <a:r>
              <a:rPr lang="id-ID" dirty="0">
                <a:ln w="0"/>
                <a:effectLst>
                  <a:outerShdw blurRad="38100" dist="19050" dir="2700000" algn="tl" rotWithShape="0">
                    <a:schemeClr val="dk1">
                      <a:alpha val="40000"/>
                    </a:schemeClr>
                  </a:outerShdw>
                </a:effectLst>
              </a:rPr>
              <a:t> Frekuensi Penguat</a:t>
            </a:r>
          </a:p>
          <a:p>
            <a:pPr>
              <a:buFont typeface="Wingdings" panose="05000000000000000000" pitchFamily="2" charset="2"/>
              <a:buChar char="§"/>
            </a:pPr>
            <a:r>
              <a:rPr lang="id-ID"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Respon</a:t>
            </a:r>
            <a:r>
              <a:rPr lang="en-US" dirty="0">
                <a:ln w="0"/>
                <a:effectLst>
                  <a:outerShdw blurRad="38100" dist="19050" dir="2700000" algn="tl" rotWithShape="0">
                    <a:schemeClr val="dk1">
                      <a:alpha val="40000"/>
                    </a:schemeClr>
                  </a:outerShdw>
                </a:effectLst>
              </a:rPr>
              <a:t> </a:t>
            </a:r>
            <a:r>
              <a:rPr lang="en-US" dirty="0" err="1">
                <a:ln w="0"/>
                <a:effectLst>
                  <a:outerShdw blurRad="38100" dist="19050" dir="2700000" algn="tl" rotWithShape="0">
                    <a:schemeClr val="dk1">
                      <a:alpha val="40000"/>
                    </a:schemeClr>
                  </a:outerShdw>
                </a:effectLst>
              </a:rPr>
              <a:t>Penguat</a:t>
            </a:r>
            <a:r>
              <a:rPr lang="en-US" dirty="0">
                <a:ln w="0"/>
                <a:effectLst>
                  <a:outerShdw blurRad="38100" dist="19050" dir="2700000" algn="tl" rotWithShape="0">
                    <a:schemeClr val="dk1">
                      <a:alpha val="40000"/>
                    </a:schemeClr>
                  </a:outerShdw>
                </a:effectLst>
              </a:rPr>
              <a:t> di </a:t>
            </a:r>
            <a:r>
              <a:rPr lang="en-US" dirty="0" err="1">
                <a:ln w="0"/>
                <a:effectLst>
                  <a:outerShdw blurRad="38100" dist="19050" dir="2700000" algn="tl" rotWithShape="0">
                    <a:schemeClr val="dk1">
                      <a:alpha val="40000"/>
                    </a:schemeClr>
                  </a:outerShdw>
                </a:effectLst>
              </a:rPr>
              <a:t>sisi</a:t>
            </a:r>
            <a:r>
              <a:rPr lang="en-US" dirty="0">
                <a:ln w="0"/>
                <a:effectLst>
                  <a:outerShdw blurRad="38100" dist="19050" dir="2700000" algn="tl" rotWithShape="0">
                    <a:schemeClr val="dk1">
                      <a:alpha val="40000"/>
                    </a:schemeClr>
                  </a:outerShdw>
                </a:effectLst>
              </a:rPr>
              <a:t> f</a:t>
            </a:r>
            <a:r>
              <a:rPr lang="id-ID" dirty="0">
                <a:ln w="0"/>
                <a:effectLst>
                  <a:outerShdw blurRad="38100" dist="19050" dir="2700000" algn="tl" rotWithShape="0">
                    <a:schemeClr val="dk1">
                      <a:alpha val="40000"/>
                    </a:schemeClr>
                  </a:outerShdw>
                </a:effectLst>
              </a:rPr>
              <a:t>rekuensi </a:t>
            </a:r>
            <a:r>
              <a:rPr lang="en-US" dirty="0">
                <a:ln w="0"/>
                <a:effectLst>
                  <a:outerShdw blurRad="38100" dist="19050" dir="2700000" algn="tl" rotWithShape="0">
                    <a:schemeClr val="dk1">
                      <a:alpha val="40000"/>
                    </a:schemeClr>
                  </a:outerShdw>
                </a:effectLst>
              </a:rPr>
              <a:t>r</a:t>
            </a:r>
            <a:r>
              <a:rPr lang="id-ID" dirty="0">
                <a:ln w="0"/>
                <a:effectLst>
                  <a:outerShdw blurRad="38100" dist="19050" dir="2700000" algn="tl" rotWithShape="0">
                    <a:schemeClr val="dk1">
                      <a:alpha val="40000"/>
                    </a:schemeClr>
                  </a:outerShdw>
                </a:effectLst>
              </a:rPr>
              <a:t>endah</a:t>
            </a:r>
          </a:p>
          <a:p>
            <a:pPr>
              <a:buFont typeface="Wingdings" panose="05000000000000000000" pitchFamily="2" charset="2"/>
              <a:buChar char="§"/>
            </a:pPr>
            <a:r>
              <a:rPr lang="id-ID" dirty="0">
                <a:ln w="0"/>
                <a:effectLst>
                  <a:outerShdw blurRad="38100" dist="19050" dir="2700000" algn="tl" rotWithShape="0">
                    <a:schemeClr val="dk1">
                      <a:alpha val="40000"/>
                    </a:schemeClr>
                  </a:outerShdw>
                </a:effectLst>
              </a:rPr>
              <a:t> Respon </a:t>
            </a:r>
            <a:r>
              <a:rPr lang="en-US" dirty="0" err="1">
                <a:ln w="0"/>
                <a:effectLst>
                  <a:outerShdw blurRad="38100" dist="19050" dir="2700000" algn="tl" rotWithShape="0">
                    <a:schemeClr val="dk1">
                      <a:alpha val="40000"/>
                    </a:schemeClr>
                  </a:outerShdw>
                </a:effectLst>
              </a:rPr>
              <a:t>Penguat</a:t>
            </a:r>
            <a:r>
              <a:rPr lang="en-US" dirty="0">
                <a:ln w="0"/>
                <a:effectLst>
                  <a:outerShdw blurRad="38100" dist="19050" dir="2700000" algn="tl" rotWithShape="0">
                    <a:schemeClr val="dk1">
                      <a:alpha val="40000"/>
                    </a:schemeClr>
                  </a:outerShdw>
                </a:effectLst>
              </a:rPr>
              <a:t> di </a:t>
            </a:r>
            <a:r>
              <a:rPr lang="en-US" dirty="0" err="1">
                <a:ln w="0"/>
                <a:effectLst>
                  <a:outerShdw blurRad="38100" dist="19050" dir="2700000" algn="tl" rotWithShape="0">
                    <a:schemeClr val="dk1">
                      <a:alpha val="40000"/>
                    </a:schemeClr>
                  </a:outerShdw>
                </a:effectLst>
              </a:rPr>
              <a:t>sisi</a:t>
            </a:r>
            <a:r>
              <a:rPr lang="en-US" dirty="0">
                <a:ln w="0"/>
                <a:effectLst>
                  <a:outerShdw blurRad="38100" dist="19050" dir="2700000" algn="tl" rotWithShape="0">
                    <a:schemeClr val="dk1">
                      <a:alpha val="40000"/>
                    </a:schemeClr>
                  </a:outerShdw>
                </a:effectLst>
              </a:rPr>
              <a:t> f</a:t>
            </a:r>
            <a:r>
              <a:rPr lang="id-ID" dirty="0">
                <a:ln w="0"/>
                <a:effectLst>
                  <a:outerShdw blurRad="38100" dist="19050" dir="2700000" algn="tl" rotWithShape="0">
                    <a:schemeClr val="dk1">
                      <a:alpha val="40000"/>
                    </a:schemeClr>
                  </a:outerShdw>
                </a:effectLst>
              </a:rPr>
              <a:t>rekuensi </a:t>
            </a:r>
            <a:r>
              <a:rPr lang="en-US" dirty="0" err="1">
                <a:ln w="0"/>
                <a:effectLst>
                  <a:outerShdw blurRad="38100" dist="19050" dir="2700000" algn="tl" rotWithShape="0">
                    <a:schemeClr val="dk1">
                      <a:alpha val="40000"/>
                    </a:schemeClr>
                  </a:outerShdw>
                </a:effectLst>
              </a:rPr>
              <a:t>tinggi</a:t>
            </a:r>
            <a:endParaRPr lang="id-ID" dirty="0">
              <a:ln w="0"/>
              <a:effectLst>
                <a:outerShdw blurRad="38100" dist="19050" dir="2700000" algn="tl" rotWithShape="0">
                  <a:schemeClr val="dk1">
                    <a:alpha val="40000"/>
                  </a:schemeClr>
                </a:outerShdw>
              </a:effectLst>
            </a:endParaRPr>
          </a:p>
          <a:p>
            <a:endParaRPr lang="en-US" dirty="0"/>
          </a:p>
        </p:txBody>
      </p:sp>
    </p:spTree>
    <p:extLst>
      <p:ext uri="{BB962C8B-B14F-4D97-AF65-F5344CB8AC3E}">
        <p14:creationId xmlns:p14="http://schemas.microsoft.com/office/powerpoint/2010/main" val="1802283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420888"/>
            <a:ext cx="8229600" cy="4153648"/>
          </a:xfrm>
        </p:spPr>
        <p:txBody>
          <a:bodyPr>
            <a:normAutofit/>
          </a:bodyPr>
          <a:lstStyle/>
          <a:p>
            <a:r>
              <a:rPr lang="en-US" sz="2400" dirty="0" err="1"/>
              <a:t>Respon</a:t>
            </a:r>
            <a:r>
              <a:rPr lang="en-US" sz="2400" dirty="0"/>
              <a:t> </a:t>
            </a:r>
            <a:r>
              <a:rPr lang="en-US" sz="2400" dirty="0" err="1"/>
              <a:t>sebuah</a:t>
            </a:r>
            <a:r>
              <a:rPr lang="en-US" sz="2400" dirty="0"/>
              <a:t> p</a:t>
            </a:r>
            <a:r>
              <a:rPr lang="id-ID" sz="2400" dirty="0"/>
              <a:t>enguat terhadap </a:t>
            </a:r>
            <a:r>
              <a:rPr lang="en-US" sz="2400" dirty="0" err="1"/>
              <a:t>perubahan</a:t>
            </a:r>
            <a:r>
              <a:rPr lang="en-US" sz="2400" dirty="0"/>
              <a:t> </a:t>
            </a:r>
            <a:r>
              <a:rPr lang="en-US" sz="2400" dirty="0" err="1"/>
              <a:t>frekuensi</a:t>
            </a:r>
            <a:r>
              <a:rPr lang="en-US" sz="2400" dirty="0"/>
              <a:t> input-</a:t>
            </a:r>
            <a:r>
              <a:rPr lang="en-US" sz="2400" dirty="0" err="1"/>
              <a:t>nya</a:t>
            </a:r>
            <a:r>
              <a:rPr lang="en-US" sz="2400" dirty="0"/>
              <a:t> </a:t>
            </a:r>
            <a:r>
              <a:rPr lang="en-US" sz="2400" dirty="0" err="1"/>
              <a:t>dinyatakan</a:t>
            </a:r>
            <a:r>
              <a:rPr lang="en-US" sz="2400" dirty="0"/>
              <a:t>: “</a:t>
            </a:r>
            <a:r>
              <a:rPr lang="en-US" sz="2400" i="1" dirty="0" err="1">
                <a:solidFill>
                  <a:srgbClr val="FF0000"/>
                </a:solidFill>
              </a:rPr>
              <a:t>fungsi</a:t>
            </a:r>
            <a:r>
              <a:rPr lang="en-US" sz="2400" i="1" dirty="0">
                <a:solidFill>
                  <a:srgbClr val="FF0000"/>
                </a:solidFill>
              </a:rPr>
              <a:t> </a:t>
            </a:r>
            <a:r>
              <a:rPr lang="en-US" sz="2400" i="1" dirty="0" err="1">
                <a:solidFill>
                  <a:srgbClr val="FF0000"/>
                </a:solidFill>
              </a:rPr>
              <a:t>penguatan</a:t>
            </a:r>
            <a:r>
              <a:rPr lang="en-US" sz="2400" i="1" dirty="0">
                <a:solidFill>
                  <a:srgbClr val="FF0000"/>
                </a:solidFill>
              </a:rPr>
              <a:t> </a:t>
            </a:r>
            <a:r>
              <a:rPr lang="en-US" sz="2400" i="1" dirty="0" err="1">
                <a:solidFill>
                  <a:srgbClr val="FF0000"/>
                </a:solidFill>
              </a:rPr>
              <a:t>terhadap</a:t>
            </a:r>
            <a:r>
              <a:rPr lang="en-US" sz="2400" i="1" dirty="0">
                <a:solidFill>
                  <a:srgbClr val="FF0000"/>
                </a:solidFill>
              </a:rPr>
              <a:t> </a:t>
            </a:r>
            <a:r>
              <a:rPr lang="en-US" sz="2400" i="1" dirty="0" err="1">
                <a:solidFill>
                  <a:srgbClr val="FF0000"/>
                </a:solidFill>
              </a:rPr>
              <a:t>frek</a:t>
            </a:r>
            <a:r>
              <a:rPr lang="en-US" sz="2400" i="1" dirty="0">
                <a:solidFill>
                  <a:srgbClr val="FF0000"/>
                </a:solidFill>
              </a:rPr>
              <a:t>. </a:t>
            </a:r>
            <a:r>
              <a:rPr lang="en-US" sz="2400" i="1" dirty="0" err="1">
                <a:solidFill>
                  <a:srgbClr val="FF0000"/>
                </a:solidFill>
              </a:rPr>
              <a:t>masukan</a:t>
            </a:r>
            <a:r>
              <a:rPr lang="en-US" sz="2400" i="1" dirty="0">
                <a:solidFill>
                  <a:srgbClr val="FF0000"/>
                </a:solidFill>
              </a:rPr>
              <a:t> </a:t>
            </a:r>
            <a:r>
              <a:rPr lang="en-US" sz="2400" i="1" dirty="0" err="1">
                <a:solidFill>
                  <a:srgbClr val="FF0000"/>
                </a:solidFill>
              </a:rPr>
              <a:t>penguat</a:t>
            </a:r>
            <a:r>
              <a:rPr lang="en-US" sz="2400" dirty="0"/>
              <a:t>”</a:t>
            </a:r>
            <a:endParaRPr lang="id-ID" sz="2400" dirty="0"/>
          </a:p>
          <a:p>
            <a:pPr>
              <a:buNone/>
            </a:pPr>
            <a:endParaRPr lang="id-ID" sz="2400" dirty="0"/>
          </a:p>
          <a:p>
            <a:r>
              <a:rPr lang="en-US" sz="2400" b="1" i="1" dirty="0" err="1"/>
              <a:t>Akibatnya</a:t>
            </a:r>
            <a:r>
              <a:rPr lang="en-US" sz="2400" b="1" i="1" dirty="0"/>
              <a:t> ?</a:t>
            </a:r>
            <a:r>
              <a:rPr lang="id-ID" sz="2400" b="1" i="1" dirty="0"/>
              <a:t> </a:t>
            </a:r>
            <a:r>
              <a:rPr lang="en-US" sz="2400" dirty="0"/>
              <a:t>output</a:t>
            </a:r>
            <a:r>
              <a:rPr lang="en-US" sz="2400" b="1" i="1" dirty="0"/>
              <a:t> </a:t>
            </a:r>
            <a:r>
              <a:rPr lang="id-ID" sz="2400" dirty="0"/>
              <a:t>penguatan </a:t>
            </a:r>
            <a:r>
              <a:rPr lang="en-US" sz="2400" dirty="0" err="1"/>
              <a:t>penguat</a:t>
            </a:r>
            <a:r>
              <a:rPr lang="en-US" sz="2400" dirty="0"/>
              <a:t> </a:t>
            </a:r>
            <a:r>
              <a:rPr lang="en-US" sz="2400" dirty="0" err="1"/>
              <a:t>mengalami</a:t>
            </a:r>
            <a:r>
              <a:rPr lang="en-US" sz="2400" dirty="0"/>
              <a:t> </a:t>
            </a:r>
            <a:r>
              <a:rPr lang="en-US" sz="2400" dirty="0" err="1"/>
              <a:t>perubahan</a:t>
            </a:r>
            <a:r>
              <a:rPr lang="en-US" sz="2400" dirty="0"/>
              <a:t>.</a:t>
            </a:r>
          </a:p>
          <a:p>
            <a:endParaRPr lang="en-US" sz="2400" dirty="0"/>
          </a:p>
          <a:p>
            <a:r>
              <a:rPr lang="en-US" sz="2400" dirty="0" err="1"/>
              <a:t>Perubahan</a:t>
            </a:r>
            <a:r>
              <a:rPr lang="en-US" sz="2400" dirty="0"/>
              <a:t> </a:t>
            </a:r>
            <a:r>
              <a:rPr lang="en-US" sz="2400" dirty="0" err="1"/>
              <a:t>penguatan</a:t>
            </a:r>
            <a:r>
              <a:rPr lang="en-US" sz="2400" dirty="0"/>
              <a:t> </a:t>
            </a:r>
            <a:r>
              <a:rPr lang="en-US" sz="2400" dirty="0" err="1"/>
              <a:t>akibat</a:t>
            </a:r>
            <a:r>
              <a:rPr lang="en-US" sz="2400" dirty="0"/>
              <a:t> </a:t>
            </a:r>
            <a:r>
              <a:rPr lang="en-US" sz="2400" dirty="0" err="1"/>
              <a:t>dari</a:t>
            </a:r>
            <a:r>
              <a:rPr lang="en-US" sz="2400" dirty="0"/>
              <a:t> </a:t>
            </a:r>
            <a:r>
              <a:rPr lang="en-US" sz="2400" dirty="0" err="1"/>
              <a:t>perubahan</a:t>
            </a:r>
            <a:r>
              <a:rPr lang="en-US" sz="2400" dirty="0"/>
              <a:t> </a:t>
            </a:r>
            <a:r>
              <a:rPr lang="en-US" sz="2400" dirty="0" err="1"/>
              <a:t>frekuensi</a:t>
            </a:r>
            <a:r>
              <a:rPr lang="en-US" sz="2400" dirty="0"/>
              <a:t> input-</a:t>
            </a:r>
            <a:r>
              <a:rPr lang="en-US" sz="2400" dirty="0" err="1"/>
              <a:t>nya</a:t>
            </a:r>
            <a:r>
              <a:rPr lang="en-US" sz="2400" dirty="0"/>
              <a:t> </a:t>
            </a:r>
            <a:r>
              <a:rPr lang="en-US" sz="2400" dirty="0" err="1"/>
              <a:t>disebut</a:t>
            </a:r>
            <a:r>
              <a:rPr lang="en-US" sz="2400" dirty="0"/>
              <a:t>: </a:t>
            </a:r>
            <a:r>
              <a:rPr lang="en-US" sz="2400" b="1" dirty="0">
                <a:solidFill>
                  <a:srgbClr val="0070C0"/>
                </a:solidFill>
              </a:rPr>
              <a:t>“</a:t>
            </a:r>
            <a:r>
              <a:rPr lang="en-US" sz="2400" b="1" dirty="0" err="1">
                <a:solidFill>
                  <a:srgbClr val="0070C0"/>
                </a:solidFill>
              </a:rPr>
              <a:t>tanggapan</a:t>
            </a:r>
            <a:r>
              <a:rPr lang="en-US" sz="2400" b="1" dirty="0">
                <a:solidFill>
                  <a:srgbClr val="0070C0"/>
                </a:solidFill>
              </a:rPr>
              <a:t> </a:t>
            </a:r>
            <a:r>
              <a:rPr lang="id-ID" sz="2400" b="1" dirty="0">
                <a:solidFill>
                  <a:srgbClr val="0070C0"/>
                </a:solidFill>
              </a:rPr>
              <a:t>frekuensi</a:t>
            </a:r>
            <a:r>
              <a:rPr lang="en-US" sz="2400" b="1" dirty="0">
                <a:solidFill>
                  <a:srgbClr val="0070C0"/>
                </a:solidFill>
              </a:rPr>
              <a:t> </a:t>
            </a:r>
            <a:r>
              <a:rPr lang="en-US" sz="2400" b="1" dirty="0" err="1">
                <a:solidFill>
                  <a:srgbClr val="0070C0"/>
                </a:solidFill>
              </a:rPr>
              <a:t>penguat</a:t>
            </a:r>
            <a:r>
              <a:rPr lang="en-US" sz="2400" b="1" dirty="0">
                <a:solidFill>
                  <a:srgbClr val="0070C0"/>
                </a:solidFill>
              </a:rPr>
              <a:t>”</a:t>
            </a:r>
            <a:endParaRPr lang="id-ID" sz="2400" b="1" dirty="0"/>
          </a:p>
          <a:p>
            <a:pPr>
              <a:buNone/>
            </a:pPr>
            <a:endParaRPr lang="id-ID" b="1" dirty="0" smtClean="0"/>
          </a:p>
          <a:p>
            <a:endParaRPr lang="id-ID" dirty="0"/>
          </a:p>
        </p:txBody>
      </p:sp>
      <p:sp>
        <p:nvSpPr>
          <p:cNvPr id="4" name="Title 3"/>
          <p:cNvSpPr>
            <a:spLocks noGrp="1"/>
          </p:cNvSpPr>
          <p:nvPr>
            <p:ph type="title"/>
          </p:nvPr>
        </p:nvSpPr>
        <p:spPr/>
        <p:txBody>
          <a:bodyPr/>
          <a:lstStyle/>
          <a:p>
            <a:r>
              <a:rPr lang="en-US" i="1" dirty="0" err="1" smtClean="0">
                <a:solidFill>
                  <a:srgbClr val="FF0000"/>
                </a:solidFill>
              </a:rPr>
              <a:t>Penguatan</a:t>
            </a:r>
            <a:r>
              <a:rPr lang="en-US" i="1" dirty="0" smtClean="0">
                <a:solidFill>
                  <a:srgbClr val="FF0000"/>
                </a:solidFill>
              </a:rPr>
              <a:t> </a:t>
            </a:r>
            <a:r>
              <a:rPr lang="en-US" i="1" dirty="0" err="1">
                <a:solidFill>
                  <a:srgbClr val="FF0000"/>
                </a:solidFill>
              </a:rPr>
              <a:t>terhadap</a:t>
            </a:r>
            <a:r>
              <a:rPr lang="en-US" i="1" dirty="0">
                <a:solidFill>
                  <a:srgbClr val="FF0000"/>
                </a:solidFill>
              </a:rPr>
              <a:t> </a:t>
            </a:r>
            <a:r>
              <a:rPr lang="en-US" i="1" dirty="0" err="1">
                <a:solidFill>
                  <a:srgbClr val="FF0000"/>
                </a:solidFill>
              </a:rPr>
              <a:t>frek</a:t>
            </a:r>
            <a:endParaRPr lang="en-US" dirty="0"/>
          </a:p>
        </p:txBody>
      </p:sp>
    </p:spTree>
    <p:extLst>
      <p:ext uri="{BB962C8B-B14F-4D97-AF65-F5344CB8AC3E}">
        <p14:creationId xmlns:p14="http://schemas.microsoft.com/office/powerpoint/2010/main" val="374636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elektronika-dasar.web.id/wp-content/uploads/2012/05/Kurva-Respon-Frekuensi-Penguat-CE-Kopling-Kapasitor.jpg"/>
          <p:cNvPicPr>
            <a:picLocks noGrp="1"/>
          </p:cNvPicPr>
          <p:nvPr>
            <p:ph idx="1"/>
          </p:nvPr>
        </p:nvPicPr>
        <p:blipFill>
          <a:blip r:embed="rId2">
            <a:lum bright="14000" contrast="-30000"/>
          </a:blip>
          <a:srcRect/>
          <a:stretch>
            <a:fillRect/>
          </a:stretch>
        </p:blipFill>
        <p:spPr bwMode="auto">
          <a:xfrm>
            <a:off x="2063553" y="1707776"/>
            <a:ext cx="8118643" cy="46015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15190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528" y="2204864"/>
            <a:ext cx="8712968" cy="4297664"/>
          </a:xfrm>
        </p:spPr>
        <p:style>
          <a:lnRef idx="2">
            <a:schemeClr val="dk1"/>
          </a:lnRef>
          <a:fillRef idx="1">
            <a:schemeClr val="lt1"/>
          </a:fillRef>
          <a:effectRef idx="0">
            <a:schemeClr val="dk1"/>
          </a:effectRef>
          <a:fontRef idx="minor">
            <a:schemeClr val="dk1"/>
          </a:fontRef>
        </p:style>
        <p:txBody>
          <a:bodyPr>
            <a:normAutofit/>
          </a:bodyPr>
          <a:lstStyle/>
          <a:p>
            <a:r>
              <a:rPr lang="id-ID" sz="2400" dirty="0"/>
              <a:t>Penguatan </a:t>
            </a:r>
            <a:r>
              <a:rPr lang="en-US" sz="2400" dirty="0" err="1"/>
              <a:t>maksimum</a:t>
            </a:r>
            <a:r>
              <a:rPr lang="en-US" sz="2400" dirty="0"/>
              <a:t> </a:t>
            </a:r>
            <a:r>
              <a:rPr lang="id-ID" sz="2400" dirty="0"/>
              <a:t>selalu terjadi pada </a:t>
            </a:r>
            <a:r>
              <a:rPr lang="en-US" sz="2400" dirty="0" err="1"/>
              <a:t>daerah</a:t>
            </a:r>
            <a:r>
              <a:rPr lang="en-US" sz="2400" dirty="0"/>
              <a:t> “</a:t>
            </a:r>
            <a:r>
              <a:rPr lang="id-ID" sz="2400" dirty="0"/>
              <a:t>frekuensi tengah</a:t>
            </a:r>
            <a:r>
              <a:rPr lang="en-US" sz="2400" dirty="0"/>
              <a:t>”</a:t>
            </a:r>
            <a:r>
              <a:rPr lang="id-ID" sz="2400" dirty="0"/>
              <a:t>.</a:t>
            </a:r>
            <a:endParaRPr lang="en-US" sz="2400" dirty="0"/>
          </a:p>
          <a:p>
            <a:endParaRPr lang="id-ID" sz="2400" dirty="0"/>
          </a:p>
          <a:p>
            <a:r>
              <a:rPr lang="en-US" sz="2400" dirty="0" err="1"/>
              <a:t>Pada</a:t>
            </a:r>
            <a:r>
              <a:rPr lang="en-US" sz="2400" dirty="0"/>
              <a:t> </a:t>
            </a:r>
            <a:r>
              <a:rPr lang="id-ID" sz="2400" dirty="0"/>
              <a:t>frekuensi</a:t>
            </a:r>
            <a:r>
              <a:rPr lang="en-US" sz="2400" dirty="0"/>
              <a:t> </a:t>
            </a:r>
            <a:r>
              <a:rPr lang="en-US" sz="2400" dirty="0" err="1"/>
              <a:t>bawah</a:t>
            </a:r>
            <a:r>
              <a:rPr lang="id-ID" sz="2400" dirty="0"/>
              <a:t>, </a:t>
            </a:r>
            <a:r>
              <a:rPr lang="en-US" sz="2400" dirty="0" err="1"/>
              <a:t>cenderung</a:t>
            </a:r>
            <a:r>
              <a:rPr lang="en-US" sz="2400" dirty="0"/>
              <a:t> </a:t>
            </a:r>
            <a:r>
              <a:rPr lang="id-ID" sz="2400" dirty="0"/>
              <a:t>penguatan </a:t>
            </a:r>
            <a:r>
              <a:rPr lang="en-US" sz="2400" dirty="0" err="1"/>
              <a:t>akan</a:t>
            </a:r>
            <a:r>
              <a:rPr lang="en-US" sz="2400" dirty="0"/>
              <a:t> </a:t>
            </a:r>
            <a:r>
              <a:rPr lang="id-ID" sz="2400" dirty="0"/>
              <a:t>semakin </a:t>
            </a:r>
            <a:r>
              <a:rPr lang="en-US" sz="2400" dirty="0" err="1"/>
              <a:t>bertambah</a:t>
            </a:r>
            <a:r>
              <a:rPr lang="en-US" sz="2400" dirty="0"/>
              <a:t>, </a:t>
            </a:r>
            <a:r>
              <a:rPr lang="id-ID" sz="2400" dirty="0"/>
              <a:t>disebabkan</a:t>
            </a:r>
            <a:r>
              <a:rPr lang="en-US" sz="2400" dirty="0"/>
              <a:t>: “</a:t>
            </a:r>
            <a:r>
              <a:rPr lang="id-ID" sz="2400" b="1" i="1" dirty="0">
                <a:solidFill>
                  <a:srgbClr val="FF0000"/>
                </a:solidFill>
              </a:rPr>
              <a:t>faktor reaktansi kapasitif y</a:t>
            </a:r>
            <a:r>
              <a:rPr lang="en-US" sz="2400" b="1" i="1" dirty="0" err="1">
                <a:solidFill>
                  <a:srgbClr val="FF0000"/>
                </a:solidFill>
              </a:rPr>
              <a:t>ang</a:t>
            </a:r>
            <a:r>
              <a:rPr lang="id-ID" sz="2400" b="1" i="1" dirty="0">
                <a:solidFill>
                  <a:srgbClr val="FF0000"/>
                </a:solidFill>
              </a:rPr>
              <a:t> besar</a:t>
            </a:r>
            <a:r>
              <a:rPr lang="en-US" sz="2400" b="1" i="1" dirty="0">
                <a:solidFill>
                  <a:srgbClr val="FF0000"/>
                </a:solidFill>
              </a:rPr>
              <a:t> </a:t>
            </a:r>
            <a:r>
              <a:rPr lang="en-US" sz="2400" b="1" i="1" dirty="0" err="1">
                <a:solidFill>
                  <a:srgbClr val="FF0000"/>
                </a:solidFill>
              </a:rPr>
              <a:t>dari</a:t>
            </a:r>
            <a:r>
              <a:rPr lang="en-US" sz="2400" b="1" i="1" dirty="0">
                <a:solidFill>
                  <a:srgbClr val="FF0000"/>
                </a:solidFill>
              </a:rPr>
              <a:t> </a:t>
            </a:r>
            <a:r>
              <a:rPr lang="en-US" sz="2400" b="1" i="1" dirty="0" err="1">
                <a:solidFill>
                  <a:srgbClr val="FF0000"/>
                </a:solidFill>
              </a:rPr>
              <a:t>penguat</a:t>
            </a:r>
            <a:r>
              <a:rPr lang="en-US" sz="2400" dirty="0">
                <a:solidFill>
                  <a:srgbClr val="FF0000"/>
                </a:solidFill>
              </a:rPr>
              <a:t>”.</a:t>
            </a:r>
            <a:r>
              <a:rPr lang="id-ID" sz="2400" dirty="0">
                <a:solidFill>
                  <a:srgbClr val="FF0000"/>
                </a:solidFill>
              </a:rPr>
              <a:t> </a:t>
            </a:r>
            <a:endParaRPr lang="en-US" sz="2400" dirty="0">
              <a:solidFill>
                <a:srgbClr val="FF0000"/>
              </a:solidFill>
            </a:endParaRPr>
          </a:p>
          <a:p>
            <a:endParaRPr lang="id-ID" sz="2400" dirty="0">
              <a:solidFill>
                <a:srgbClr val="FF0000"/>
              </a:solidFill>
            </a:endParaRPr>
          </a:p>
          <a:p>
            <a:r>
              <a:rPr lang="en-US" sz="2400" dirty="0" err="1"/>
              <a:t>pada</a:t>
            </a:r>
            <a:r>
              <a:rPr lang="id-ID" sz="2400" dirty="0"/>
              <a:t> frekuensi</a:t>
            </a:r>
            <a:r>
              <a:rPr lang="en-US" sz="2400" dirty="0"/>
              <a:t> </a:t>
            </a:r>
            <a:r>
              <a:rPr lang="en-US" sz="2400" dirty="0" err="1"/>
              <a:t>atas</a:t>
            </a:r>
            <a:r>
              <a:rPr lang="id-ID" sz="2400" dirty="0"/>
              <a:t>, </a:t>
            </a:r>
            <a:r>
              <a:rPr lang="en-US" sz="2400" dirty="0" err="1"/>
              <a:t>cenderung</a:t>
            </a:r>
            <a:r>
              <a:rPr lang="en-US" sz="2400" dirty="0"/>
              <a:t> </a:t>
            </a:r>
            <a:r>
              <a:rPr lang="id-ID" sz="2400" dirty="0"/>
              <a:t>penguatan </a:t>
            </a:r>
            <a:r>
              <a:rPr lang="en-US" sz="2400" dirty="0" err="1"/>
              <a:t>akan</a:t>
            </a:r>
            <a:r>
              <a:rPr lang="en-US" sz="2400" dirty="0"/>
              <a:t> </a:t>
            </a:r>
            <a:r>
              <a:rPr lang="id-ID" sz="2400" dirty="0"/>
              <a:t>semakin menurun</a:t>
            </a:r>
            <a:r>
              <a:rPr lang="en-US" sz="2400" dirty="0"/>
              <a:t>, </a:t>
            </a:r>
            <a:r>
              <a:rPr lang="en-US" sz="2400" dirty="0" err="1"/>
              <a:t>sebabnya</a:t>
            </a:r>
            <a:r>
              <a:rPr lang="en-US" sz="2400" dirty="0"/>
              <a:t> </a:t>
            </a:r>
            <a:r>
              <a:rPr lang="en-US" sz="2400" dirty="0" err="1"/>
              <a:t>adalah</a:t>
            </a:r>
            <a:r>
              <a:rPr lang="en-US" sz="2400" dirty="0"/>
              <a:t>:</a:t>
            </a:r>
            <a:r>
              <a:rPr lang="id-ID" sz="2400" dirty="0"/>
              <a:t> </a:t>
            </a:r>
            <a:r>
              <a:rPr lang="en-US" sz="2400" dirty="0"/>
              <a:t>“</a:t>
            </a:r>
            <a:r>
              <a:rPr lang="id-ID" sz="2400" b="1" i="1" dirty="0">
                <a:solidFill>
                  <a:srgbClr val="0070C0"/>
                </a:solidFill>
              </a:rPr>
              <a:t>stray</a:t>
            </a:r>
            <a:r>
              <a:rPr lang="id-ID" sz="2400" b="1" dirty="0">
                <a:solidFill>
                  <a:srgbClr val="0070C0"/>
                </a:solidFill>
              </a:rPr>
              <a:t> kapasitif (kapasitor liar) yg semakin kecil</a:t>
            </a:r>
            <a:r>
              <a:rPr lang="en-US" sz="2400" b="1" dirty="0">
                <a:solidFill>
                  <a:srgbClr val="0070C0"/>
                </a:solidFill>
              </a:rPr>
              <a:t> (</a:t>
            </a:r>
            <a:r>
              <a:rPr lang="en-US" sz="2400" b="1" dirty="0" err="1">
                <a:solidFill>
                  <a:srgbClr val="0070C0"/>
                </a:solidFill>
              </a:rPr>
              <a:t>reaktansi</a:t>
            </a:r>
            <a:r>
              <a:rPr lang="en-US" sz="2400" b="1" dirty="0">
                <a:solidFill>
                  <a:srgbClr val="0070C0"/>
                </a:solidFill>
              </a:rPr>
              <a:t> </a:t>
            </a:r>
            <a:r>
              <a:rPr lang="en-US" sz="2400" b="1" dirty="0" err="1">
                <a:solidFill>
                  <a:srgbClr val="0070C0"/>
                </a:solidFill>
              </a:rPr>
              <a:t>kapasitif</a:t>
            </a:r>
            <a:r>
              <a:rPr lang="en-US" sz="2400" b="1" dirty="0">
                <a:solidFill>
                  <a:srgbClr val="0070C0"/>
                </a:solidFill>
              </a:rPr>
              <a:t> </a:t>
            </a:r>
            <a:r>
              <a:rPr lang="en-US" sz="2400" b="1" dirty="0" err="1">
                <a:solidFill>
                  <a:srgbClr val="0070C0"/>
                </a:solidFill>
              </a:rPr>
              <a:t>kecil</a:t>
            </a:r>
            <a:r>
              <a:rPr lang="en-US" sz="2400" b="1" dirty="0">
                <a:solidFill>
                  <a:srgbClr val="0070C0"/>
                </a:solidFill>
              </a:rPr>
              <a:t>)” </a:t>
            </a:r>
            <a:r>
              <a:rPr lang="en-US" sz="2400" dirty="0"/>
              <a:t>yang</a:t>
            </a:r>
            <a:r>
              <a:rPr lang="en-US" sz="2400" dirty="0">
                <a:solidFill>
                  <a:srgbClr val="FF0000"/>
                </a:solidFill>
              </a:rPr>
              <a:t> </a:t>
            </a:r>
            <a:r>
              <a:rPr lang="id-ID" sz="2400" dirty="0"/>
              <a:t>dapat membebani penguatan.</a:t>
            </a:r>
          </a:p>
        </p:txBody>
      </p:sp>
      <p:sp>
        <p:nvSpPr>
          <p:cNvPr id="2" name="Title 1"/>
          <p:cNvSpPr>
            <a:spLocks noGrp="1"/>
          </p:cNvSpPr>
          <p:nvPr>
            <p:ph type="title"/>
          </p:nvPr>
        </p:nvSpPr>
        <p:spPr/>
        <p:txBody>
          <a:bodyPr/>
          <a:lstStyle/>
          <a:p>
            <a:r>
              <a:rPr lang="id-ID" b="1" dirty="0">
                <a:solidFill>
                  <a:srgbClr val="C00000"/>
                </a:solidFill>
              </a:rPr>
              <a:t>Penguatan</a:t>
            </a:r>
            <a:r>
              <a:rPr lang="id-ID" b="1" dirty="0"/>
              <a:t> Vs </a:t>
            </a:r>
            <a:r>
              <a:rPr lang="id-ID" b="1" dirty="0">
                <a:solidFill>
                  <a:srgbClr val="0070C0"/>
                </a:solidFill>
              </a:rPr>
              <a:t>Frekuensi</a:t>
            </a:r>
            <a:endParaRPr lang="en-US" dirty="0"/>
          </a:p>
        </p:txBody>
      </p:sp>
    </p:spTree>
    <p:extLst>
      <p:ext uri="{BB962C8B-B14F-4D97-AF65-F5344CB8AC3E}">
        <p14:creationId xmlns:p14="http://schemas.microsoft.com/office/powerpoint/2010/main" val="283124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19536" y="1412776"/>
                <a:ext cx="8572560" cy="4896544"/>
              </a:xfrm>
            </p:spPr>
            <p:style>
              <a:lnRef idx="2">
                <a:schemeClr val="dk1"/>
              </a:lnRef>
              <a:fillRef idx="1">
                <a:schemeClr val="lt1"/>
              </a:fillRef>
              <a:effectRef idx="0">
                <a:schemeClr val="dk1"/>
              </a:effectRef>
              <a:fontRef idx="minor">
                <a:schemeClr val="dk1"/>
              </a:fontRef>
            </p:style>
            <p:txBody>
              <a:bodyPr>
                <a:normAutofit/>
              </a:bodyPr>
              <a:lstStyle/>
              <a:p>
                <a:r>
                  <a:rPr lang="id-ID" sz="2400" dirty="0"/>
                  <a:t>Nilai penguatan di titik </a:t>
                </a:r>
                <a:r>
                  <a:rPr lang="id-ID" sz="2400" i="1" dirty="0"/>
                  <a:t>f</a:t>
                </a:r>
                <a:r>
                  <a:rPr lang="id-ID" sz="2000" i="1" dirty="0"/>
                  <a:t>1</a:t>
                </a:r>
                <a:r>
                  <a:rPr lang="id-ID" sz="2400" dirty="0"/>
                  <a:t> </a:t>
                </a:r>
                <a:r>
                  <a:rPr lang="en-US" sz="2400" dirty="0" err="1"/>
                  <a:t>atau</a:t>
                </a:r>
                <a:r>
                  <a:rPr lang="en-US" sz="2400" dirty="0"/>
                  <a:t> </a:t>
                </a:r>
                <a:r>
                  <a:rPr lang="id-ID" sz="2400" dirty="0"/>
                  <a:t> </a:t>
                </a:r>
                <a:r>
                  <a:rPr lang="id-ID" sz="2400" i="1" dirty="0"/>
                  <a:t>f</a:t>
                </a:r>
                <a:r>
                  <a:rPr lang="id-ID" sz="2000" i="1" dirty="0"/>
                  <a:t>2</a:t>
                </a:r>
                <a:r>
                  <a:rPr lang="id-ID" sz="2400" dirty="0"/>
                  <a:t> </a:t>
                </a:r>
                <a:r>
                  <a:rPr lang="en-US" sz="2400" dirty="0" err="1"/>
                  <a:t>disebut</a:t>
                </a:r>
                <a:r>
                  <a:rPr lang="id-ID" sz="2400" dirty="0"/>
                  <a:t> </a:t>
                </a:r>
                <a:r>
                  <a:rPr lang="en-US" sz="2400" dirty="0"/>
                  <a:t>“</a:t>
                </a:r>
                <a:r>
                  <a:rPr lang="id-ID" sz="2400" dirty="0">
                    <a:solidFill>
                      <a:srgbClr val="FF0000"/>
                    </a:solidFill>
                  </a:rPr>
                  <a:t>setengah </a:t>
                </a:r>
                <a:r>
                  <a:rPr lang="en-US" sz="2400" dirty="0" err="1">
                    <a:solidFill>
                      <a:srgbClr val="FF0000"/>
                    </a:solidFill>
                  </a:rPr>
                  <a:t>penguatan</a:t>
                </a:r>
                <a:r>
                  <a:rPr lang="en-US" sz="2400" dirty="0">
                    <a:solidFill>
                      <a:srgbClr val="FF0000"/>
                    </a:solidFill>
                  </a:rPr>
                  <a:t> </a:t>
                </a:r>
                <a:r>
                  <a:rPr lang="id-ID" sz="2400" dirty="0">
                    <a:solidFill>
                      <a:srgbClr val="FF0000"/>
                    </a:solidFill>
                  </a:rPr>
                  <a:t>daya maksim</a:t>
                </a:r>
                <a:r>
                  <a:rPr lang="en-US" sz="2400" dirty="0">
                    <a:solidFill>
                      <a:srgbClr val="FF0000"/>
                    </a:solidFill>
                  </a:rPr>
                  <a:t>um</a:t>
                </a:r>
                <a:r>
                  <a:rPr lang="id-ID" sz="2400" dirty="0">
                    <a:solidFill>
                      <a:srgbClr val="FF0000"/>
                    </a:solidFill>
                  </a:rPr>
                  <a:t> keluaran</a:t>
                </a:r>
                <a:r>
                  <a:rPr lang="en-US" sz="2400" dirty="0">
                    <a:solidFill>
                      <a:srgbClr val="FF0000"/>
                    </a:solidFill>
                  </a:rPr>
                  <a:t>” </a:t>
                </a:r>
                <a:r>
                  <a:rPr lang="en-US" sz="2400" dirty="0" err="1">
                    <a:solidFill>
                      <a:srgbClr val="FF0000"/>
                    </a:solidFill>
                  </a:rPr>
                  <a:t>atau</a:t>
                </a:r>
                <a:r>
                  <a:rPr lang="en-US" sz="2400" dirty="0">
                    <a:solidFill>
                      <a:srgbClr val="FF0000"/>
                    </a:solidFill>
                  </a:rPr>
                  <a:t> </a:t>
                </a:r>
                <a:r>
                  <a:rPr lang="en-US" sz="2400" dirty="0" err="1">
                    <a:solidFill>
                      <a:srgbClr val="FF0000"/>
                    </a:solidFill>
                  </a:rPr>
                  <a:t>daerah</a:t>
                </a:r>
                <a:r>
                  <a:rPr lang="en-US" sz="2400" dirty="0">
                    <a:solidFill>
                      <a:srgbClr val="FF0000"/>
                    </a:solidFill>
                  </a:rPr>
                  <a:t> cut-off</a:t>
                </a:r>
                <a:r>
                  <a:rPr lang="id-ID" sz="2400" dirty="0"/>
                  <a:t> </a:t>
                </a:r>
                <a:endParaRPr lang="en-US" sz="2400" dirty="0"/>
              </a:p>
              <a:p>
                <a:pPr marL="109728" indent="0">
                  <a:buNone/>
                </a:pPr>
                <a:endParaRPr lang="en-US" dirty="0" smtClean="0"/>
              </a:p>
              <a:p>
                <a:pPr marL="109728" indent="0" algn="ctr">
                  <a:buNone/>
                </a:pPr>
                <a14:m>
                  <m:oMathPara xmlns:m="http://schemas.openxmlformats.org/officeDocument/2006/math">
                    <m:oMathParaPr>
                      <m:jc m:val="centerGroup"/>
                    </m:oMathParaPr>
                    <m:oMath xmlns:m="http://schemas.openxmlformats.org/officeDocument/2006/math">
                      <m:r>
                        <a:rPr lang="en-US" i="1" smtClean="0">
                          <a:ln w="0"/>
                          <a:effectLst>
                            <a:outerShdw blurRad="38100" dist="19050" dir="2700000" algn="tl" rotWithShape="0">
                              <a:schemeClr val="dk1">
                                <a:alpha val="40000"/>
                              </a:schemeClr>
                            </a:outerShdw>
                          </a:effectLst>
                          <a:latin typeface="Cambria Math" panose="02040503050406030204" pitchFamily="18" charset="0"/>
                        </a:rPr>
                        <m:t>𝐶𝑢𝑡</m:t>
                      </m:r>
                      <m:r>
                        <a:rPr lang="en-US" b="0" i="1" smtClean="0">
                          <a:ln w="0"/>
                          <a:effectLst>
                            <a:outerShdw blurRad="38100" dist="19050" dir="2700000" algn="tl" rotWithShape="0">
                              <a:schemeClr val="dk1">
                                <a:alpha val="40000"/>
                              </a:schemeClr>
                            </a:outerShdw>
                          </a:effectLst>
                          <a:latin typeface="Cambria Math" panose="02040503050406030204" pitchFamily="18" charset="0"/>
                        </a:rPr>
                        <m:t> </m:t>
                      </m:r>
                      <m:r>
                        <a:rPr lang="en-US" i="1" smtClean="0">
                          <a:ln w="0"/>
                          <a:effectLst>
                            <a:outerShdw blurRad="38100" dist="19050" dir="2700000" algn="tl" rotWithShape="0">
                              <a:schemeClr val="dk1">
                                <a:alpha val="40000"/>
                              </a:schemeClr>
                            </a:outerShdw>
                          </a:effectLst>
                          <a:latin typeface="Cambria Math" panose="02040503050406030204" pitchFamily="18" charset="0"/>
                        </a:rPr>
                        <m:t>𝑜𝑓𝑓</m:t>
                      </m:r>
                      <m:r>
                        <a:rPr lang="en-US" i="1" smtClean="0">
                          <a:ln w="0"/>
                          <a:effectLst>
                            <a:outerShdw blurRad="38100" dist="19050" dir="2700000" algn="tl" rotWithShape="0">
                              <a:schemeClr val="dk1">
                                <a:alpha val="40000"/>
                              </a:schemeClr>
                            </a:outerShdw>
                          </a:effectLst>
                          <a:latin typeface="Cambria Math" panose="02040503050406030204" pitchFamily="18" charset="0"/>
                        </a:rPr>
                        <m:t>=0,707 </m:t>
                      </m:r>
                      <m:r>
                        <a:rPr lang="en-US" i="1" smtClean="0">
                          <a:ln w="0"/>
                          <a:effectLst>
                            <a:outerShdw blurRad="38100" dist="19050" dir="2700000" algn="tl" rotWithShape="0">
                              <a:schemeClr val="dk1">
                                <a:alpha val="40000"/>
                              </a:schemeClr>
                            </a:outerShdw>
                          </a:effectLst>
                          <a:latin typeface="Cambria Math" panose="02040503050406030204" pitchFamily="18" charset="0"/>
                        </a:rPr>
                        <m:t>𝑥</m:t>
                      </m:r>
                      <m:r>
                        <a:rPr lang="en-US" i="1" smtClean="0">
                          <a:ln w="0"/>
                          <a:effectLst>
                            <a:outerShdw blurRad="38100" dist="19050" dir="2700000" algn="tl" rotWithShape="0">
                              <a:schemeClr val="dk1">
                                <a:alpha val="40000"/>
                              </a:schemeClr>
                            </a:outerShdw>
                          </a:effectLst>
                          <a:latin typeface="Cambria Math" panose="02040503050406030204" pitchFamily="18" charset="0"/>
                        </a:rPr>
                        <m:t> </m:t>
                      </m:r>
                      <m:sSub>
                        <m:sSubPr>
                          <m:ctrlPr>
                            <a:rPr lang="en-US" i="1" smtClean="0">
                              <a:ln w="0"/>
                              <a:effectLst>
                                <a:outerShdw blurRad="38100" dist="19050" dir="2700000" algn="tl" rotWithShape="0">
                                  <a:schemeClr val="dk1">
                                    <a:alpha val="40000"/>
                                  </a:schemeClr>
                                </a:outerShdw>
                              </a:effectLst>
                              <a:latin typeface="Cambria Math" panose="02040503050406030204" pitchFamily="18" charset="0"/>
                            </a:rPr>
                          </m:ctrlPr>
                        </m:sSubPr>
                        <m:e>
                          <m:r>
                            <a:rPr lang="en-US" i="1" smtClean="0">
                              <a:ln w="0"/>
                              <a:effectLst>
                                <a:outerShdw blurRad="38100" dist="19050" dir="2700000" algn="tl" rotWithShape="0">
                                  <a:schemeClr val="dk1">
                                    <a:alpha val="40000"/>
                                  </a:schemeClr>
                                </a:outerShdw>
                              </a:effectLst>
                              <a:latin typeface="Cambria Math" panose="02040503050406030204" pitchFamily="18" charset="0"/>
                            </a:rPr>
                            <m:t>𝐴</m:t>
                          </m:r>
                        </m:e>
                        <m:sub>
                          <m:r>
                            <a:rPr lang="en-US" i="1" smtClean="0">
                              <a:ln w="0"/>
                              <a:effectLst>
                                <a:outerShdw blurRad="38100" dist="19050" dir="2700000" algn="tl" rotWithShape="0">
                                  <a:schemeClr val="dk1">
                                    <a:alpha val="40000"/>
                                  </a:schemeClr>
                                </a:outerShdw>
                              </a:effectLst>
                              <a:latin typeface="Cambria Math" panose="02040503050406030204" pitchFamily="18" charset="0"/>
                            </a:rPr>
                            <m:t>𝑣</m:t>
                          </m:r>
                          <m:r>
                            <a:rPr lang="en-US" i="1" smtClean="0">
                              <a:ln w="0"/>
                              <a:effectLst>
                                <a:outerShdw blurRad="38100" dist="19050" dir="2700000" algn="tl" rotWithShape="0">
                                  <a:schemeClr val="dk1">
                                    <a:alpha val="40000"/>
                                  </a:schemeClr>
                                </a:outerShdw>
                              </a:effectLst>
                              <a:latin typeface="Cambria Math" panose="02040503050406030204" pitchFamily="18" charset="0"/>
                            </a:rPr>
                            <m:t>(</m:t>
                          </m:r>
                          <m:r>
                            <a:rPr lang="en-US" i="1" smtClean="0">
                              <a:ln w="0"/>
                              <a:effectLst>
                                <a:outerShdw blurRad="38100" dist="19050" dir="2700000" algn="tl" rotWithShape="0">
                                  <a:schemeClr val="dk1">
                                    <a:alpha val="40000"/>
                                  </a:schemeClr>
                                </a:outerShdw>
                              </a:effectLst>
                              <a:latin typeface="Cambria Math" panose="02040503050406030204" pitchFamily="18" charset="0"/>
                            </a:rPr>
                            <m:t>𝑚𝑖𝑑</m:t>
                          </m:r>
                          <m:r>
                            <a:rPr lang="en-US" i="1" smtClean="0">
                              <a:ln w="0"/>
                              <a:effectLst>
                                <a:outerShdw blurRad="38100" dist="19050" dir="2700000" algn="tl" rotWithShape="0">
                                  <a:schemeClr val="dk1">
                                    <a:alpha val="40000"/>
                                  </a:schemeClr>
                                </a:outerShdw>
                              </a:effectLst>
                              <a:latin typeface="Cambria Math" panose="02040503050406030204" pitchFamily="18" charset="0"/>
                            </a:rPr>
                            <m:t>)</m:t>
                          </m:r>
                        </m:sub>
                      </m:sSub>
                    </m:oMath>
                  </m:oMathPara>
                </a14:m>
                <a:endParaRPr lang="en-US" dirty="0" smtClean="0"/>
              </a:p>
              <a:p>
                <a:endParaRPr lang="en-US" dirty="0" smtClean="0"/>
              </a:p>
              <a:p>
                <a:r>
                  <a:rPr lang="id-ID" sz="2400" dirty="0"/>
                  <a:t>Dalam sistem komunikasi, audio, video, satuan penguatan ini dikonversi ke dalam satuan decibel (dB)</a:t>
                </a:r>
              </a:p>
              <a:p>
                <a:pPr>
                  <a:buNone/>
                </a:pPr>
                <a:endParaRPr lang="id-ID" dirty="0" smtClean="0"/>
              </a:p>
              <a:p>
                <a:pPr algn="ctr">
                  <a:buNone/>
                </a:pPr>
                <a:r>
                  <a:rPr lang="id-ID" sz="2400" b="1" dirty="0"/>
                  <a:t>    </a:t>
                </a:r>
                <a:r>
                  <a:rPr lang="id-ID" sz="2400" dirty="0">
                    <a:ln w="0"/>
                    <a:effectLst>
                      <a:outerShdw blurRad="38100" dist="19050" dir="2700000" algn="tl" rotWithShape="0">
                        <a:schemeClr val="dk1">
                          <a:alpha val="40000"/>
                        </a:schemeClr>
                      </a:outerShdw>
                    </a:effectLst>
                  </a:rPr>
                  <a:t>Av/Av</a:t>
                </a:r>
                <a:r>
                  <a:rPr lang="id-ID" sz="1600" dirty="0">
                    <a:ln w="0"/>
                    <a:effectLst>
                      <a:outerShdw blurRad="38100" dist="19050" dir="2700000" algn="tl" rotWithShape="0">
                        <a:schemeClr val="dk1">
                          <a:alpha val="40000"/>
                        </a:schemeClr>
                      </a:outerShdw>
                    </a:effectLst>
                  </a:rPr>
                  <a:t>mid</a:t>
                </a:r>
                <a:r>
                  <a:rPr lang="id-ID" sz="2400" dirty="0">
                    <a:ln w="0"/>
                    <a:effectLst>
                      <a:outerShdw blurRad="38100" dist="19050" dir="2700000" algn="tl" rotWithShape="0">
                        <a:schemeClr val="dk1">
                          <a:alpha val="40000"/>
                        </a:schemeClr>
                      </a:outerShdw>
                    </a:effectLst>
                  </a:rPr>
                  <a:t> (dB) = 20 log (Av/Av</a:t>
                </a:r>
                <a:r>
                  <a:rPr lang="id-ID" sz="1600" dirty="0">
                    <a:ln w="0"/>
                    <a:effectLst>
                      <a:outerShdw blurRad="38100" dist="19050" dir="2700000" algn="tl" rotWithShape="0">
                        <a:schemeClr val="dk1">
                          <a:alpha val="40000"/>
                        </a:schemeClr>
                      </a:outerShdw>
                    </a:effectLst>
                  </a:rPr>
                  <a:t>mid </a:t>
                </a:r>
                <a:r>
                  <a:rPr lang="id-ID" sz="2400" dirty="0">
                    <a:ln w="0"/>
                    <a:effectLst>
                      <a:outerShdw blurRad="38100" dist="19050" dir="2700000" algn="tl" rotWithShape="0">
                        <a:schemeClr val="dk1">
                          <a:alpha val="40000"/>
                        </a:schemeClr>
                      </a:outerShdw>
                    </a:effectLst>
                  </a:rPr>
                  <a:t>)</a:t>
                </a:r>
              </a:p>
              <a:p>
                <a:pPr>
                  <a:buNone/>
                </a:pPr>
                <a:endParaRPr lang="id-ID" b="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19536" y="1412776"/>
                <a:ext cx="8572560" cy="4896544"/>
              </a:xfrm>
              <a:blipFill>
                <a:blip r:embed="rId2"/>
                <a:stretch>
                  <a:fillRect l="-923" t="-1615"/>
                </a:stretch>
              </a:blipFill>
            </p:spPr>
            <p:txBody>
              <a:bodyPr/>
              <a:lstStyle/>
              <a:p>
                <a:r>
                  <a:rPr lang="en-US">
                    <a:noFill/>
                  </a:rPr>
                  <a:t> </a:t>
                </a:r>
              </a:p>
            </p:txBody>
          </p:sp>
        </mc:Fallback>
      </mc:AlternateContent>
      <p:sp>
        <p:nvSpPr>
          <p:cNvPr id="2" name="Rectangle 1"/>
          <p:cNvSpPr/>
          <p:nvPr/>
        </p:nvSpPr>
        <p:spPr>
          <a:xfrm>
            <a:off x="3863752" y="2420888"/>
            <a:ext cx="4392488" cy="1080120"/>
          </a:xfrm>
          <a:prstGeom prst="rect">
            <a:avLst/>
          </a:prstGeom>
          <a:noFill/>
          <a:effectLst>
            <a:outerShdw blurRad="50800" dist="50800" dir="5400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4007768" y="4725144"/>
            <a:ext cx="4822732" cy="792088"/>
          </a:xfrm>
          <a:prstGeom prst="rect">
            <a:avLst/>
          </a:prstGeom>
          <a:noFill/>
          <a:effectLst>
            <a:outerShdw blurRad="50800" dist="50800" dir="5400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3312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arn(inVertic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647728" y="1052737"/>
            <a:ext cx="4824536" cy="40572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739426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a:spLocks noGrp="1" noChangeArrowheads="1"/>
          </p:cNvSpPr>
          <p:nvPr>
            <p:ph idx="1"/>
          </p:nvPr>
        </p:nvSpPr>
        <p:spPr bwMode="auto">
          <a:xfrm>
            <a:off x="2135560" y="3429000"/>
            <a:ext cx="8115328" cy="204876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buNone/>
            </a:pPr>
            <a:r>
              <a:rPr lang="id-ID" altLang="en-US" b="1" dirty="0" smtClean="0">
                <a:latin typeface="Times New Roman" pitchFamily="18" charset="0"/>
              </a:rPr>
              <a:t>   </a:t>
            </a:r>
            <a:r>
              <a:rPr lang="id-ID" altLang="en-US" b="1" dirty="0" smtClean="0">
                <a:solidFill>
                  <a:srgbClr val="0070C0"/>
                </a:solidFill>
                <a:latin typeface="Times New Roman" pitchFamily="18" charset="0"/>
              </a:rPr>
              <a:t>Kurva respon </a:t>
            </a:r>
            <a:r>
              <a:rPr lang="en-US" altLang="en-US" b="1" dirty="0" smtClean="0">
                <a:solidFill>
                  <a:srgbClr val="0070C0"/>
                </a:solidFill>
                <a:latin typeface="Times New Roman" pitchFamily="18" charset="0"/>
              </a:rPr>
              <a:t>f</a:t>
            </a:r>
            <a:r>
              <a:rPr lang="id-ID" altLang="en-US" b="1" dirty="0" smtClean="0">
                <a:solidFill>
                  <a:srgbClr val="0070C0"/>
                </a:solidFill>
                <a:latin typeface="Times New Roman" pitchFamily="18" charset="0"/>
              </a:rPr>
              <a:t>rekuensi</a:t>
            </a:r>
            <a:r>
              <a:rPr lang="en-US" altLang="en-US" b="1" dirty="0" smtClean="0">
                <a:solidFill>
                  <a:srgbClr val="0070C0"/>
                </a:solidFill>
                <a:latin typeface="Times New Roman" pitchFamily="18" charset="0"/>
              </a:rPr>
              <a:t> </a:t>
            </a:r>
            <a:r>
              <a:rPr lang="id-ID" altLang="en-US" b="1" dirty="0" smtClean="0">
                <a:solidFill>
                  <a:srgbClr val="0070C0"/>
                </a:solidFill>
                <a:latin typeface="Times New Roman" pitchFamily="18" charset="0"/>
              </a:rPr>
              <a:t>menujuk</a:t>
            </a:r>
            <a:r>
              <a:rPr lang="en-US" altLang="en-US" b="1" dirty="0" smtClean="0">
                <a:solidFill>
                  <a:srgbClr val="0070C0"/>
                </a:solidFill>
                <a:latin typeface="Times New Roman" pitchFamily="18" charset="0"/>
              </a:rPr>
              <a:t>k</a:t>
            </a:r>
            <a:r>
              <a:rPr lang="id-ID" altLang="en-US" b="1" dirty="0" smtClean="0">
                <a:solidFill>
                  <a:srgbClr val="0070C0"/>
                </a:solidFill>
                <a:latin typeface="Times New Roman" pitchFamily="18" charset="0"/>
              </a:rPr>
              <a:t>an bahwa </a:t>
            </a:r>
            <a:r>
              <a:rPr lang="en-US" altLang="en-US" b="1" dirty="0" smtClean="0">
                <a:solidFill>
                  <a:srgbClr val="0070C0"/>
                </a:solidFill>
                <a:latin typeface="Times New Roman" pitchFamily="18" charset="0"/>
              </a:rPr>
              <a:t>“</a:t>
            </a:r>
            <a:r>
              <a:rPr lang="id-ID" altLang="en-US" b="1" i="1" dirty="0" smtClean="0">
                <a:solidFill>
                  <a:srgbClr val="FF0000"/>
                </a:solidFill>
                <a:latin typeface="Times New Roman" pitchFamily="18" charset="0"/>
              </a:rPr>
              <a:t>antar</a:t>
            </a:r>
            <a:r>
              <a:rPr lang="en-US" altLang="en-US" b="1" i="1" dirty="0" smtClean="0">
                <a:solidFill>
                  <a:srgbClr val="FF0000"/>
                </a:solidFill>
                <a:latin typeface="Times New Roman" pitchFamily="18" charset="0"/>
              </a:rPr>
              <a:t>a</a:t>
            </a:r>
            <a:r>
              <a:rPr lang="id-ID" altLang="en-US" b="1" i="1" dirty="0" smtClean="0">
                <a:solidFill>
                  <a:srgbClr val="FF0000"/>
                </a:solidFill>
                <a:latin typeface="Times New Roman" pitchFamily="18" charset="0"/>
              </a:rPr>
              <a:t> kapasitor yang terpasang memiliki pengaruh berbeda terhadap hasil frekuensi cut off-nya</a:t>
            </a:r>
            <a:r>
              <a:rPr lang="en-US" altLang="en-US" b="1" dirty="0" smtClean="0">
                <a:solidFill>
                  <a:srgbClr val="0070C0"/>
                </a:solidFill>
                <a:latin typeface="Times New Roman" pitchFamily="18" charset="0"/>
              </a:rPr>
              <a:t>”</a:t>
            </a:r>
            <a:r>
              <a:rPr lang="id-ID" altLang="en-US" b="1" dirty="0" smtClean="0">
                <a:solidFill>
                  <a:srgbClr val="0070C0"/>
                </a:solidFill>
                <a:latin typeface="Times New Roman" pitchFamily="18" charset="0"/>
              </a:rPr>
              <a:t>.</a:t>
            </a:r>
            <a:r>
              <a:rPr lang="en-US" altLang="en-US" b="1" dirty="0" smtClean="0">
                <a:solidFill>
                  <a:srgbClr val="0070C0"/>
                </a:solidFill>
                <a:latin typeface="Times New Roman" pitchFamily="18" charset="0"/>
              </a:rPr>
              <a:t> </a:t>
            </a:r>
            <a:endParaRPr lang="en-US" altLang="en-US" sz="3200" b="1" dirty="0">
              <a:solidFill>
                <a:srgbClr val="0070C0"/>
              </a:solidFill>
              <a:latin typeface="Times New Roman" pitchFamily="18" charset="0"/>
            </a:endParaRPr>
          </a:p>
          <a:p>
            <a:pPr>
              <a:buNone/>
            </a:pPr>
            <a:endParaRPr lang="en-US" altLang="en-US" sz="2000" b="1" dirty="0">
              <a:latin typeface="Times New Roman" pitchFamily="18" charset="0"/>
            </a:endParaRPr>
          </a:p>
        </p:txBody>
      </p:sp>
      <p:sp>
        <p:nvSpPr>
          <p:cNvPr id="3" name="Title 2"/>
          <p:cNvSpPr>
            <a:spLocks noGrp="1"/>
          </p:cNvSpPr>
          <p:nvPr>
            <p:ph type="title"/>
          </p:nvPr>
        </p:nvSpPr>
        <p:spPr/>
        <p:txBody>
          <a:bodyPr>
            <a:normAutofit/>
          </a:bodyPr>
          <a:lstStyle/>
          <a:p>
            <a:r>
              <a:rPr lang="en-US" dirty="0" err="1" smtClean="0">
                <a:ln w="0"/>
                <a:solidFill>
                  <a:schemeClr val="tx1"/>
                </a:solidFill>
                <a:effectLst>
                  <a:outerShdw blurRad="38100" dist="19050" dir="2700000" algn="tl" rotWithShape="0">
                    <a:schemeClr val="dk1">
                      <a:alpha val="40000"/>
                    </a:schemeClr>
                  </a:outerShdw>
                </a:effectLst>
              </a:rPr>
              <a:t>Pengaruh</a:t>
            </a:r>
            <a:r>
              <a:rPr lang="en-US" dirty="0" smtClean="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Kapasitor</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pada</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Penguat</a:t>
            </a:r>
            <a:r>
              <a:rPr lang="en-US" dirty="0">
                <a:ln w="0"/>
                <a:solidFill>
                  <a:schemeClr val="tx1"/>
                </a:solidFill>
                <a:effectLst>
                  <a:outerShdw blurRad="38100" dist="19050" dir="2700000" algn="tl" rotWithShape="0">
                    <a:schemeClr val="dk1">
                      <a:alpha val="40000"/>
                    </a:schemeClr>
                  </a:outerShdw>
                </a:effectLst>
              </a:rPr>
              <a:t> </a:t>
            </a:r>
            <a:endParaRPr lang="en-US" dirty="0"/>
          </a:p>
        </p:txBody>
      </p:sp>
    </p:spTree>
    <p:extLst>
      <p:ext uri="{BB962C8B-B14F-4D97-AF65-F5344CB8AC3E}">
        <p14:creationId xmlns:p14="http://schemas.microsoft.com/office/powerpoint/2010/main" val="4427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arn(inVertical)">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arn(inVertical)">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2"/>
          <a:srcRect/>
          <a:stretch>
            <a:fillRect/>
          </a:stretch>
        </p:blipFill>
        <p:spPr bwMode="auto">
          <a:xfrm>
            <a:off x="2207569" y="1052736"/>
            <a:ext cx="7683651" cy="5400600"/>
          </a:xfrm>
          <a:prstGeom prst="rect">
            <a:avLst/>
          </a:prstGeom>
          <a:noFill/>
          <a:effectLst>
            <a:outerShdw dist="107763" dir="2700000" algn="ctr" rotWithShape="0">
              <a:srgbClr val="808080">
                <a:alpha val="50000"/>
              </a:srgbClr>
            </a:outerShdw>
          </a:effectLst>
        </p:spPr>
      </p:pic>
    </p:spTree>
    <p:extLst>
      <p:ext uri="{BB962C8B-B14F-4D97-AF65-F5344CB8AC3E}">
        <p14:creationId xmlns:p14="http://schemas.microsoft.com/office/powerpoint/2010/main" val="13770460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24688" y="1803456"/>
            <a:ext cx="6031552" cy="536634"/>
          </a:xfrm>
        </p:spPr>
        <p:txBody>
          <a:bodyPr>
            <a:normAutofit/>
          </a:bodyPr>
          <a:lstStyle/>
          <a:p>
            <a:r>
              <a:rPr lang="en-US" sz="2400" dirty="0" err="1"/>
              <a:t>Sisi</a:t>
            </a:r>
            <a:r>
              <a:rPr lang="id-ID" sz="2400" dirty="0"/>
              <a:t> input (Cs)</a:t>
            </a:r>
          </a:p>
        </p:txBody>
      </p:sp>
      <p:pic>
        <p:nvPicPr>
          <p:cNvPr id="8" name="Picture 14"/>
          <p:cNvPicPr>
            <a:picLocks noChangeAspect="1" noChangeArrowheads="1"/>
          </p:cNvPicPr>
          <p:nvPr/>
        </p:nvPicPr>
        <p:blipFill>
          <a:blip r:embed="rId3"/>
          <a:srcRect/>
          <a:stretch>
            <a:fillRect/>
          </a:stretch>
        </p:blipFill>
        <p:spPr bwMode="auto">
          <a:xfrm>
            <a:off x="4810116" y="2586510"/>
            <a:ext cx="5857884" cy="4117325"/>
          </a:xfrm>
          <a:prstGeom prst="rect">
            <a:avLst/>
          </a:prstGeom>
          <a:noFill/>
          <a:effectLst>
            <a:outerShdw dist="107763" dir="2700000" algn="ctr" rotWithShape="0">
              <a:srgbClr val="808080">
                <a:alpha val="50000"/>
              </a:srgbClr>
            </a:outerShdw>
          </a:effectLst>
        </p:spPr>
      </p:pic>
      <p:graphicFrame>
        <p:nvGraphicFramePr>
          <p:cNvPr id="5125" name="Object 5"/>
          <p:cNvGraphicFramePr>
            <a:graphicFrameLocks noChangeAspect="1"/>
          </p:cNvGraphicFramePr>
          <p:nvPr>
            <p:extLst/>
          </p:nvPr>
        </p:nvGraphicFramePr>
        <p:xfrm>
          <a:off x="2695964" y="2526762"/>
          <a:ext cx="2679956" cy="902239"/>
        </p:xfrm>
        <a:graphic>
          <a:graphicData uri="http://schemas.openxmlformats.org/presentationml/2006/ole">
            <mc:AlternateContent xmlns:mc="http://schemas.openxmlformats.org/markup-compatibility/2006">
              <mc:Choice xmlns:v="urn:schemas-microsoft-com:vml" Requires="v">
                <p:oleObj spid="_x0000_s7174" name="Equation" r:id="rId4" imgW="1282680" imgH="431640" progId="Equation.3">
                  <p:embed/>
                </p:oleObj>
              </mc:Choice>
              <mc:Fallback>
                <p:oleObj name="Equation" r:id="rId4" imgW="1282680" imgH="431640" progId="Equation.3">
                  <p:embed/>
                  <p:pic>
                    <p:nvPicPr>
                      <p:cNvPr id="5125" name="Object 5"/>
                      <p:cNvPicPr>
                        <a:picLocks noChangeAspect="1" noChangeArrowheads="1"/>
                      </p:cNvPicPr>
                      <p:nvPr/>
                    </p:nvPicPr>
                    <p:blipFill>
                      <a:blip r:embed="rId5"/>
                      <a:srcRect/>
                      <a:stretch>
                        <a:fillRect/>
                      </a:stretch>
                    </p:blipFill>
                    <p:spPr bwMode="auto">
                      <a:xfrm>
                        <a:off x="2695964" y="2526762"/>
                        <a:ext cx="2679956" cy="902239"/>
                      </a:xfrm>
                      <a:prstGeom prst="rect">
                        <a:avLst/>
                      </a:prstGeom>
                      <a:solidFill>
                        <a:srgbClr val="FFFF00"/>
                      </a:solidFill>
                      <a:ln>
                        <a:solidFill>
                          <a:schemeClr val="tx1"/>
                        </a:solidFill>
                      </a:ln>
                      <a:extLst/>
                    </p:spPr>
                  </p:pic>
                </p:oleObj>
              </mc:Fallback>
            </mc:AlternateContent>
          </a:graphicData>
        </a:graphic>
      </p:graphicFrame>
      <p:graphicFrame>
        <p:nvGraphicFramePr>
          <p:cNvPr id="5126" name="Object 6"/>
          <p:cNvGraphicFramePr>
            <a:graphicFrameLocks noChangeAspect="1"/>
          </p:cNvGraphicFramePr>
          <p:nvPr>
            <p:extLst/>
          </p:nvPr>
        </p:nvGraphicFramePr>
        <p:xfrm>
          <a:off x="2495600" y="4071943"/>
          <a:ext cx="2205458" cy="362276"/>
        </p:xfrm>
        <a:graphic>
          <a:graphicData uri="http://schemas.openxmlformats.org/presentationml/2006/ole">
            <mc:AlternateContent xmlns:mc="http://schemas.openxmlformats.org/markup-compatibility/2006">
              <mc:Choice xmlns:v="urn:schemas-microsoft-com:vml" Requires="v">
                <p:oleObj spid="_x0000_s7175" name="Equation" r:id="rId6" imgW="1257120" imgH="228600" progId="Equation.3">
                  <p:embed/>
                </p:oleObj>
              </mc:Choice>
              <mc:Fallback>
                <p:oleObj name="Equation" r:id="rId6" imgW="1257120" imgH="228600" progId="Equation.3">
                  <p:embed/>
                  <p:pic>
                    <p:nvPicPr>
                      <p:cNvPr id="512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600" y="4071943"/>
                        <a:ext cx="2205458" cy="362276"/>
                      </a:xfrm>
                      <a:prstGeom prst="rect">
                        <a:avLst/>
                      </a:prstGeom>
                      <a:noFill/>
                      <a:ln>
                        <a:solidFill>
                          <a:schemeClr val="bg1"/>
                        </a:solidFill>
                      </a:ln>
                      <a:extLst/>
                    </p:spPr>
                  </p:pic>
                </p:oleObj>
              </mc:Fallback>
            </mc:AlternateContent>
          </a:graphicData>
        </a:graphic>
      </p:graphicFrame>
      <p:sp>
        <p:nvSpPr>
          <p:cNvPr id="12" name="Text Box 13"/>
          <p:cNvSpPr txBox="1">
            <a:spLocks noChangeArrowheads="1"/>
          </p:cNvSpPr>
          <p:nvPr/>
        </p:nvSpPr>
        <p:spPr bwMode="auto">
          <a:xfrm>
            <a:off x="2500298" y="3528956"/>
            <a:ext cx="1524000" cy="400110"/>
          </a:xfrm>
          <a:prstGeom prst="rect">
            <a:avLst/>
          </a:prstGeom>
          <a:noFill/>
          <a:ln w="9525">
            <a:noFill/>
            <a:miter lim="800000"/>
            <a:headEnd/>
            <a:tailEnd/>
          </a:ln>
          <a:effectLst/>
        </p:spPr>
        <p:txBody>
          <a:bodyPr>
            <a:spAutoFit/>
          </a:bodyPr>
          <a:lstStyle/>
          <a:p>
            <a:pPr eaLnBrk="1" hangingPunct="1">
              <a:spcBef>
                <a:spcPct val="50000"/>
              </a:spcBef>
            </a:pPr>
            <a:r>
              <a:rPr lang="id-ID" sz="2000" dirty="0">
                <a:latin typeface="Times New Roman" pitchFamily="18" charset="0"/>
              </a:rPr>
              <a:t>Dimana:</a:t>
            </a:r>
            <a:endParaRPr lang="en-US" sz="2000" dirty="0">
              <a:latin typeface="Times New Roman" pitchFamily="18" charset="0"/>
            </a:endParaRPr>
          </a:p>
        </p:txBody>
      </p:sp>
      <p:sp>
        <p:nvSpPr>
          <p:cNvPr id="10" name="Text Box 13"/>
          <p:cNvSpPr txBox="1">
            <a:spLocks noChangeArrowheads="1"/>
          </p:cNvSpPr>
          <p:nvPr/>
        </p:nvSpPr>
        <p:spPr bwMode="auto">
          <a:xfrm>
            <a:off x="2501342" y="4577252"/>
            <a:ext cx="1524000" cy="400110"/>
          </a:xfrm>
          <a:prstGeom prst="rect">
            <a:avLst/>
          </a:prstGeom>
          <a:noFill/>
          <a:ln w="9525">
            <a:solidFill>
              <a:schemeClr val="bg1"/>
            </a:solidFill>
            <a:miter lim="800000"/>
            <a:headEnd/>
            <a:tailEnd/>
          </a:ln>
          <a:effectLst/>
        </p:spPr>
        <p:txBody>
          <a:bodyPr>
            <a:spAutoFit/>
          </a:bodyPr>
          <a:lstStyle/>
          <a:p>
            <a:pPr eaLnBrk="1" hangingPunct="1">
              <a:spcBef>
                <a:spcPct val="50000"/>
              </a:spcBef>
            </a:pPr>
            <a:r>
              <a:rPr lang="id-ID" sz="2000" b="1" dirty="0">
                <a:latin typeface="Times New Roman" pitchFamily="18" charset="0"/>
              </a:rPr>
              <a:t>hie = </a:t>
            </a:r>
            <a:r>
              <a:rPr lang="el-GR" sz="2000" b="1" dirty="0">
                <a:latin typeface="Times New Roman" pitchFamily="18" charset="0"/>
              </a:rPr>
              <a:t>β</a:t>
            </a:r>
            <a:r>
              <a:rPr lang="id-ID" sz="2000" b="1" dirty="0">
                <a:latin typeface="Times New Roman" pitchFamily="18" charset="0"/>
              </a:rPr>
              <a:t>re</a:t>
            </a:r>
            <a:endParaRPr lang="en-US" sz="2000" b="1" dirty="0">
              <a:latin typeface="Times New Roman" pitchFamily="18" charset="0"/>
            </a:endParaRPr>
          </a:p>
        </p:txBody>
      </p:sp>
      <p:cxnSp>
        <p:nvCxnSpPr>
          <p:cNvPr id="4" name="Straight Arrow Connector 3"/>
          <p:cNvCxnSpPr/>
          <p:nvPr/>
        </p:nvCxnSpPr>
        <p:spPr>
          <a:xfrm>
            <a:off x="5087888" y="3528957"/>
            <a:ext cx="908070" cy="9052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normAutofit/>
          </a:bodyPr>
          <a:lstStyle/>
          <a:p>
            <a:r>
              <a:rPr lang="en-US" b="1" dirty="0" err="1"/>
              <a:t>Respon</a:t>
            </a:r>
            <a:r>
              <a:rPr lang="en-US" b="1" dirty="0"/>
              <a:t> </a:t>
            </a:r>
            <a:r>
              <a:rPr lang="en-US" b="1" dirty="0" err="1"/>
              <a:t>penguatan</a:t>
            </a:r>
            <a:r>
              <a:rPr lang="en-US" b="1" dirty="0"/>
              <a:t> di </a:t>
            </a:r>
            <a:r>
              <a:rPr lang="en-US" b="1" dirty="0" err="1"/>
              <a:t>sisi</a:t>
            </a:r>
            <a:r>
              <a:rPr lang="en-US" b="1" dirty="0"/>
              <a:t> </a:t>
            </a:r>
            <a:r>
              <a:rPr lang="en-US" b="1" dirty="0" err="1"/>
              <a:t>frekuensi</a:t>
            </a:r>
            <a:r>
              <a:rPr lang="en-US" b="1" dirty="0"/>
              <a:t> </a:t>
            </a:r>
            <a:r>
              <a:rPr lang="en-US" b="1" dirty="0" err="1"/>
              <a:t>bawah</a:t>
            </a:r>
            <a:r>
              <a:rPr lang="en-US" b="1" dirty="0"/>
              <a:t> </a:t>
            </a:r>
            <a:br>
              <a:rPr lang="en-US" b="1" dirty="0"/>
            </a:br>
            <a:endParaRPr lang="en-US" dirty="0"/>
          </a:p>
        </p:txBody>
      </p:sp>
    </p:spTree>
    <p:extLst>
      <p:ext uri="{BB962C8B-B14F-4D97-AF65-F5344CB8AC3E}">
        <p14:creationId xmlns:p14="http://schemas.microsoft.com/office/powerpoint/2010/main" val="422501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fade">
                                      <p:cBhvr>
                                        <p:cTn id="7" dur="1000"/>
                                        <p:tgtEl>
                                          <p:spTgt spid="5125"/>
                                        </p:tgtEl>
                                      </p:cBhvr>
                                    </p:animEffect>
                                    <p:anim calcmode="lin" valueType="num">
                                      <p:cBhvr>
                                        <p:cTn id="8" dur="1000" fill="hold"/>
                                        <p:tgtEl>
                                          <p:spTgt spid="5125"/>
                                        </p:tgtEl>
                                        <p:attrNameLst>
                                          <p:attrName>ppt_x</p:attrName>
                                        </p:attrNameLst>
                                      </p:cBhvr>
                                      <p:tavLst>
                                        <p:tav tm="0">
                                          <p:val>
                                            <p:strVal val="#ppt_x"/>
                                          </p:val>
                                        </p:tav>
                                        <p:tav tm="100000">
                                          <p:val>
                                            <p:strVal val="#ppt_x"/>
                                          </p:val>
                                        </p:tav>
                                      </p:tavLst>
                                    </p:anim>
                                    <p:anim calcmode="lin" valueType="num">
                                      <p:cBhvr>
                                        <p:cTn id="9" dur="1000" fill="hold"/>
                                        <p:tgtEl>
                                          <p:spTgt spid="512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126"/>
                                        </p:tgtEl>
                                        <p:attrNameLst>
                                          <p:attrName>style.visibility</p:attrName>
                                        </p:attrNameLst>
                                      </p:cBhvr>
                                      <p:to>
                                        <p:strVal val="visible"/>
                                      </p:to>
                                    </p:set>
                                    <p:animEffect transition="in" filter="fade">
                                      <p:cBhvr>
                                        <p:cTn id="24" dur="1000"/>
                                        <p:tgtEl>
                                          <p:spTgt spid="5126"/>
                                        </p:tgtEl>
                                      </p:cBhvr>
                                    </p:animEffect>
                                    <p:anim calcmode="lin" valueType="num">
                                      <p:cBhvr>
                                        <p:cTn id="25" dur="1000" fill="hold"/>
                                        <p:tgtEl>
                                          <p:spTgt spid="5126"/>
                                        </p:tgtEl>
                                        <p:attrNameLst>
                                          <p:attrName>ppt_x</p:attrName>
                                        </p:attrNameLst>
                                      </p:cBhvr>
                                      <p:tavLst>
                                        <p:tav tm="0">
                                          <p:val>
                                            <p:strVal val="#ppt_x"/>
                                          </p:val>
                                        </p:tav>
                                        <p:tav tm="100000">
                                          <p:val>
                                            <p:strVal val="#ppt_x"/>
                                          </p:val>
                                        </p:tav>
                                      </p:tavLst>
                                    </p:anim>
                                    <p:anim calcmode="lin" valueType="num">
                                      <p:cBhvr>
                                        <p:cTn id="26" dur="1000" fill="hold"/>
                                        <p:tgtEl>
                                          <p:spTgt spid="512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5576" y="995618"/>
            <a:ext cx="6941430" cy="857256"/>
          </a:xfrm>
        </p:spPr>
        <p:txBody>
          <a:bodyPr>
            <a:normAutofit/>
          </a:bodyPr>
          <a:lstStyle/>
          <a:p>
            <a:r>
              <a:rPr lang="en-US" sz="2400" dirty="0" err="1"/>
              <a:t>Sisi</a:t>
            </a:r>
            <a:r>
              <a:rPr lang="en-US" sz="2400" dirty="0"/>
              <a:t> </a:t>
            </a:r>
            <a:r>
              <a:rPr lang="id-ID" sz="2400" dirty="0"/>
              <a:t>ouput (Cc)</a:t>
            </a:r>
          </a:p>
        </p:txBody>
      </p:sp>
      <p:pic>
        <p:nvPicPr>
          <p:cNvPr id="4" name="Picture 16"/>
          <p:cNvPicPr>
            <a:picLocks noChangeAspect="1" noChangeArrowheads="1"/>
          </p:cNvPicPr>
          <p:nvPr/>
        </p:nvPicPr>
        <p:blipFill>
          <a:blip r:embed="rId3"/>
          <a:srcRect/>
          <a:stretch>
            <a:fillRect/>
          </a:stretch>
        </p:blipFill>
        <p:spPr bwMode="auto">
          <a:xfrm>
            <a:off x="4583832" y="2459634"/>
            <a:ext cx="5889836" cy="4139783"/>
          </a:xfrm>
          <a:prstGeom prst="rect">
            <a:avLst/>
          </a:prstGeom>
          <a:noFill/>
          <a:effectLst>
            <a:outerShdw dist="107763" dir="2700000" algn="ctr" rotWithShape="0">
              <a:srgbClr val="808080">
                <a:alpha val="50000"/>
              </a:srgbClr>
            </a:outerShdw>
          </a:effectLst>
        </p:spPr>
      </p:pic>
      <p:graphicFrame>
        <p:nvGraphicFramePr>
          <p:cNvPr id="6146" name="Object 2"/>
          <p:cNvGraphicFramePr>
            <a:graphicFrameLocks noChangeAspect="1"/>
          </p:cNvGraphicFramePr>
          <p:nvPr>
            <p:extLst/>
          </p:nvPr>
        </p:nvGraphicFramePr>
        <p:xfrm>
          <a:off x="2751138" y="1963738"/>
          <a:ext cx="2451100" cy="785812"/>
        </p:xfrm>
        <a:graphic>
          <a:graphicData uri="http://schemas.openxmlformats.org/presentationml/2006/ole">
            <mc:AlternateContent xmlns:mc="http://schemas.openxmlformats.org/markup-compatibility/2006">
              <mc:Choice xmlns:v="urn:schemas-microsoft-com:vml" Requires="v">
                <p:oleObj spid="_x0000_s8198" name="Equation" r:id="rId4" imgW="1346040" imgH="431640" progId="Equation.3">
                  <p:embed/>
                </p:oleObj>
              </mc:Choice>
              <mc:Fallback>
                <p:oleObj name="Equation" r:id="rId4" imgW="1346040" imgH="431640" progId="Equation.3">
                  <p:embed/>
                  <p:pic>
                    <p:nvPicPr>
                      <p:cNvPr id="6146" name="Object 2"/>
                      <p:cNvPicPr>
                        <a:picLocks noChangeAspect="1" noChangeArrowheads="1"/>
                      </p:cNvPicPr>
                      <p:nvPr/>
                    </p:nvPicPr>
                    <p:blipFill>
                      <a:blip r:embed="rId5"/>
                      <a:srcRect/>
                      <a:stretch>
                        <a:fillRect/>
                      </a:stretch>
                    </p:blipFill>
                    <p:spPr bwMode="auto">
                      <a:xfrm>
                        <a:off x="2751138" y="1963738"/>
                        <a:ext cx="2451100" cy="785812"/>
                      </a:xfrm>
                      <a:prstGeom prst="rect">
                        <a:avLst/>
                      </a:prstGeom>
                      <a:solidFill>
                        <a:srgbClr val="FFFF00"/>
                      </a:solidFill>
                      <a:ln>
                        <a:solidFill>
                          <a:schemeClr val="tx1"/>
                        </a:solidFill>
                      </a:ln>
                      <a:extLst/>
                    </p:spPr>
                  </p:pic>
                </p:oleObj>
              </mc:Fallback>
            </mc:AlternateContent>
          </a:graphicData>
        </a:graphic>
      </p:graphicFrame>
      <p:sp>
        <p:nvSpPr>
          <p:cNvPr id="6" name="Text Box 13"/>
          <p:cNvSpPr txBox="1">
            <a:spLocks noChangeArrowheads="1"/>
          </p:cNvSpPr>
          <p:nvPr/>
        </p:nvSpPr>
        <p:spPr bwMode="auto">
          <a:xfrm>
            <a:off x="2510420" y="2962693"/>
            <a:ext cx="1275469" cy="400110"/>
          </a:xfrm>
          <a:prstGeom prst="rect">
            <a:avLst/>
          </a:prstGeom>
          <a:noFill/>
          <a:ln w="9525">
            <a:noFill/>
            <a:miter lim="800000"/>
            <a:headEnd/>
            <a:tailEnd/>
          </a:ln>
          <a:effectLst/>
        </p:spPr>
        <p:txBody>
          <a:bodyPr wrap="square">
            <a:spAutoFit/>
          </a:bodyPr>
          <a:lstStyle/>
          <a:p>
            <a:pPr eaLnBrk="1" hangingPunct="1">
              <a:spcBef>
                <a:spcPct val="50000"/>
              </a:spcBef>
            </a:pPr>
            <a:r>
              <a:rPr lang="id-ID" sz="2000" dirty="0">
                <a:latin typeface="Times New Roman" pitchFamily="18" charset="0"/>
              </a:rPr>
              <a:t>Dimana:</a:t>
            </a:r>
            <a:endParaRPr lang="en-US" sz="2000" dirty="0">
              <a:latin typeface="Times New Roman" pitchFamily="18" charset="0"/>
            </a:endParaRPr>
          </a:p>
        </p:txBody>
      </p:sp>
      <p:graphicFrame>
        <p:nvGraphicFramePr>
          <p:cNvPr id="6147" name="Object 3"/>
          <p:cNvGraphicFramePr>
            <a:graphicFrameLocks noChangeAspect="1"/>
          </p:cNvGraphicFramePr>
          <p:nvPr>
            <p:extLst/>
          </p:nvPr>
        </p:nvGraphicFramePr>
        <p:xfrm>
          <a:off x="2567609" y="3610058"/>
          <a:ext cx="1428207" cy="357965"/>
        </p:xfrm>
        <a:graphic>
          <a:graphicData uri="http://schemas.openxmlformats.org/presentationml/2006/ole">
            <mc:AlternateContent xmlns:mc="http://schemas.openxmlformats.org/markup-compatibility/2006">
              <mc:Choice xmlns:v="urn:schemas-microsoft-com:vml" Requires="v">
                <p:oleObj spid="_x0000_s8199" name="Equation" r:id="rId6" imgW="901440" imgH="228600" progId="Equation.3">
                  <p:embed/>
                </p:oleObj>
              </mc:Choice>
              <mc:Fallback>
                <p:oleObj name="Equation" r:id="rId6" imgW="901440" imgH="228600" progId="Equation.3">
                  <p:embed/>
                  <p:pic>
                    <p:nvPicPr>
                      <p:cNvPr id="614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7609" y="3610058"/>
                        <a:ext cx="1428207" cy="357965"/>
                      </a:xfrm>
                      <a:prstGeom prst="rect">
                        <a:avLst/>
                      </a:prstGeom>
                      <a:solidFill>
                        <a:schemeClr val="bg1"/>
                      </a:solidFill>
                      <a:ln>
                        <a:solidFill>
                          <a:schemeClr val="bg1"/>
                        </a:solidFill>
                      </a:ln>
                      <a:extLst/>
                    </p:spPr>
                  </p:pic>
                </p:oleObj>
              </mc:Fallback>
            </mc:AlternateContent>
          </a:graphicData>
        </a:graphic>
      </p:graphicFrame>
      <p:cxnSp>
        <p:nvCxnSpPr>
          <p:cNvPr id="5" name="Straight Arrow Connector 4"/>
          <p:cNvCxnSpPr/>
          <p:nvPr/>
        </p:nvCxnSpPr>
        <p:spPr>
          <a:xfrm>
            <a:off x="5447928" y="2762560"/>
            <a:ext cx="2952328" cy="10264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71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1000"/>
                                        <p:tgtEl>
                                          <p:spTgt spid="6146"/>
                                        </p:tgtEl>
                                      </p:cBhvr>
                                    </p:animEffect>
                                    <p:anim calcmode="lin" valueType="num">
                                      <p:cBhvr>
                                        <p:cTn id="8" dur="1000" fill="hold"/>
                                        <p:tgtEl>
                                          <p:spTgt spid="6146"/>
                                        </p:tgtEl>
                                        <p:attrNameLst>
                                          <p:attrName>ppt_x</p:attrName>
                                        </p:attrNameLst>
                                      </p:cBhvr>
                                      <p:tavLst>
                                        <p:tav tm="0">
                                          <p:val>
                                            <p:strVal val="#ppt_x"/>
                                          </p:val>
                                        </p:tav>
                                        <p:tav tm="100000">
                                          <p:val>
                                            <p:strVal val="#ppt_x"/>
                                          </p:val>
                                        </p:tav>
                                      </p:tavLst>
                                    </p:anim>
                                    <p:anim calcmode="lin" valueType="num">
                                      <p:cBhvr>
                                        <p:cTn id="9" dur="1000" fill="hold"/>
                                        <p:tgtEl>
                                          <p:spTgt spid="614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147"/>
                                        </p:tgtEl>
                                        <p:attrNameLst>
                                          <p:attrName>style.visibility</p:attrName>
                                        </p:attrNameLst>
                                      </p:cBhvr>
                                      <p:to>
                                        <p:strVal val="visible"/>
                                      </p:to>
                                    </p:set>
                                    <p:animEffect transition="in" filter="fade">
                                      <p:cBhvr>
                                        <p:cTn id="24" dur="1000"/>
                                        <p:tgtEl>
                                          <p:spTgt spid="6147"/>
                                        </p:tgtEl>
                                      </p:cBhvr>
                                    </p:animEffect>
                                    <p:anim calcmode="lin" valueType="num">
                                      <p:cBhvr>
                                        <p:cTn id="25" dur="1000" fill="hold"/>
                                        <p:tgtEl>
                                          <p:spTgt spid="6147"/>
                                        </p:tgtEl>
                                        <p:attrNameLst>
                                          <p:attrName>ppt_x</p:attrName>
                                        </p:attrNameLst>
                                      </p:cBhvr>
                                      <p:tavLst>
                                        <p:tav tm="0">
                                          <p:val>
                                            <p:strVal val="#ppt_x"/>
                                          </p:val>
                                        </p:tav>
                                        <p:tav tm="100000">
                                          <p:val>
                                            <p:strVal val="#ppt_x"/>
                                          </p:val>
                                        </p:tav>
                                      </p:tavLst>
                                    </p:anim>
                                    <p:anim calcmode="lin" valueType="num">
                                      <p:cBhvr>
                                        <p:cTn id="26" dur="1000" fill="hold"/>
                                        <p:tgtEl>
                                          <p:spTgt spid="61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1544" y="772461"/>
            <a:ext cx="8229600" cy="608072"/>
          </a:xfrm>
        </p:spPr>
        <p:txBody>
          <a:bodyPr>
            <a:normAutofit/>
          </a:bodyPr>
          <a:lstStyle/>
          <a:p>
            <a:r>
              <a:rPr lang="en-US" dirty="0" smtClean="0"/>
              <a:t>S</a:t>
            </a:r>
            <a:r>
              <a:rPr lang="id-ID" dirty="0" smtClean="0"/>
              <a:t>isi emiter (Ce: </a:t>
            </a:r>
            <a:r>
              <a:rPr lang="id-ID" i="1" dirty="0" smtClean="0"/>
              <a:t>Capasitor bypass</a:t>
            </a:r>
            <a:r>
              <a:rPr lang="id-ID" dirty="0" smtClean="0"/>
              <a:t>)</a:t>
            </a:r>
            <a:endParaRPr lang="id-ID" dirty="0"/>
          </a:p>
        </p:txBody>
      </p:sp>
      <p:pic>
        <p:nvPicPr>
          <p:cNvPr id="4" name="Picture 17"/>
          <p:cNvPicPr>
            <a:picLocks noChangeAspect="1" noChangeArrowheads="1"/>
          </p:cNvPicPr>
          <p:nvPr/>
        </p:nvPicPr>
        <p:blipFill>
          <a:blip r:embed="rId3"/>
          <a:srcRect/>
          <a:stretch>
            <a:fillRect/>
          </a:stretch>
        </p:blipFill>
        <p:spPr bwMode="auto">
          <a:xfrm>
            <a:off x="4860580" y="2376504"/>
            <a:ext cx="5664577" cy="3981455"/>
          </a:xfrm>
          <a:prstGeom prst="rect">
            <a:avLst/>
          </a:prstGeom>
          <a:noFill/>
          <a:effectLst>
            <a:outerShdw dist="107763" dir="2700000" algn="ctr" rotWithShape="0">
              <a:srgbClr val="808080">
                <a:alpha val="50000"/>
              </a:srgbClr>
            </a:outerShdw>
          </a:effectLst>
        </p:spPr>
      </p:pic>
      <p:graphicFrame>
        <p:nvGraphicFramePr>
          <p:cNvPr id="6" name="Object 10"/>
          <p:cNvGraphicFramePr>
            <a:graphicFrameLocks noChangeAspect="1"/>
          </p:cNvGraphicFramePr>
          <p:nvPr>
            <p:extLst/>
          </p:nvPr>
        </p:nvGraphicFramePr>
        <p:xfrm>
          <a:off x="3043925" y="1546484"/>
          <a:ext cx="2071702" cy="869684"/>
        </p:xfrm>
        <a:graphic>
          <a:graphicData uri="http://schemas.openxmlformats.org/presentationml/2006/ole">
            <mc:AlternateContent xmlns:mc="http://schemas.openxmlformats.org/markup-compatibility/2006">
              <mc:Choice xmlns:v="urn:schemas-microsoft-com:vml" Requires="v">
                <p:oleObj spid="_x0000_s9224" name="Equation" r:id="rId4" imgW="1054080" imgH="444240" progId="Equation.3">
                  <p:embed/>
                </p:oleObj>
              </mc:Choice>
              <mc:Fallback>
                <p:oleObj name="Equation" r:id="rId4" imgW="1054080" imgH="444240" progId="Equation.3">
                  <p:embed/>
                  <p:pic>
                    <p:nvPicPr>
                      <p:cNvPr id="6"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3925" y="1546484"/>
                        <a:ext cx="2071702" cy="869684"/>
                      </a:xfrm>
                      <a:prstGeom prst="rect">
                        <a:avLst/>
                      </a:prstGeom>
                      <a:solidFill>
                        <a:srgbClr val="FFFF00"/>
                      </a:solidFill>
                      <a:ln>
                        <a:solidFill>
                          <a:schemeClr val="tx1"/>
                        </a:solidFill>
                      </a:ln>
                      <a:extLst/>
                    </p:spPr>
                  </p:pic>
                </p:oleObj>
              </mc:Fallback>
            </mc:AlternateContent>
          </a:graphicData>
        </a:graphic>
      </p:graphicFrame>
      <p:sp>
        <p:nvSpPr>
          <p:cNvPr id="7" name="Text Box 13"/>
          <p:cNvSpPr txBox="1">
            <a:spLocks noChangeArrowheads="1"/>
          </p:cNvSpPr>
          <p:nvPr/>
        </p:nvSpPr>
        <p:spPr bwMode="auto">
          <a:xfrm>
            <a:off x="2333526" y="2664821"/>
            <a:ext cx="1524000" cy="400110"/>
          </a:xfrm>
          <a:prstGeom prst="rect">
            <a:avLst/>
          </a:prstGeom>
          <a:noFill/>
          <a:ln w="9525">
            <a:noFill/>
            <a:miter lim="800000"/>
            <a:headEnd/>
            <a:tailEnd/>
          </a:ln>
          <a:effectLst/>
        </p:spPr>
        <p:txBody>
          <a:bodyPr>
            <a:spAutoFit/>
          </a:bodyPr>
          <a:lstStyle/>
          <a:p>
            <a:pPr eaLnBrk="1" hangingPunct="1">
              <a:spcBef>
                <a:spcPct val="50000"/>
              </a:spcBef>
            </a:pPr>
            <a:r>
              <a:rPr lang="id-ID" sz="2000" dirty="0">
                <a:latin typeface="Times New Roman" pitchFamily="18" charset="0"/>
              </a:rPr>
              <a:t>Dimana:</a:t>
            </a:r>
            <a:endParaRPr lang="en-US" sz="2000" dirty="0">
              <a:latin typeface="Times New Roman" pitchFamily="18" charset="0"/>
            </a:endParaRPr>
          </a:p>
        </p:txBody>
      </p:sp>
      <p:graphicFrame>
        <p:nvGraphicFramePr>
          <p:cNvPr id="8" name="Object 11"/>
          <p:cNvGraphicFramePr>
            <a:graphicFrameLocks noChangeAspect="1"/>
          </p:cNvGraphicFramePr>
          <p:nvPr>
            <p:extLst/>
          </p:nvPr>
        </p:nvGraphicFramePr>
        <p:xfrm>
          <a:off x="2375942" y="3186169"/>
          <a:ext cx="1847850" cy="576263"/>
        </p:xfrm>
        <a:graphic>
          <a:graphicData uri="http://schemas.openxmlformats.org/presentationml/2006/ole">
            <mc:AlternateContent xmlns:mc="http://schemas.openxmlformats.org/markup-compatibility/2006">
              <mc:Choice xmlns:v="urn:schemas-microsoft-com:vml" Requires="v">
                <p:oleObj spid="_x0000_s9225" name="Equation" r:id="rId6" imgW="1384200" imgH="431640" progId="Equation.3">
                  <p:embed/>
                </p:oleObj>
              </mc:Choice>
              <mc:Fallback>
                <p:oleObj name="Equation" r:id="rId6" imgW="1384200" imgH="431640" progId="Equation.3">
                  <p:embed/>
                  <p:pic>
                    <p:nvPicPr>
                      <p:cNvPr id="8"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5942" y="3186169"/>
                        <a:ext cx="1847850" cy="576263"/>
                      </a:xfrm>
                      <a:prstGeom prst="rect">
                        <a:avLst/>
                      </a:prstGeom>
                      <a:noFill/>
                      <a:ln>
                        <a:solidFill>
                          <a:schemeClr val="bg1"/>
                        </a:solidFill>
                      </a:ln>
                      <a:extLst/>
                    </p:spPr>
                  </p:pic>
                </p:oleObj>
              </mc:Fallback>
            </mc:AlternateContent>
          </a:graphicData>
        </a:graphic>
      </p:graphicFrame>
      <p:graphicFrame>
        <p:nvGraphicFramePr>
          <p:cNvPr id="9" name="Object 12"/>
          <p:cNvGraphicFramePr>
            <a:graphicFrameLocks noChangeAspect="1"/>
          </p:cNvGraphicFramePr>
          <p:nvPr>
            <p:extLst/>
          </p:nvPr>
        </p:nvGraphicFramePr>
        <p:xfrm>
          <a:off x="2359244" y="4228313"/>
          <a:ext cx="1746250" cy="317500"/>
        </p:xfrm>
        <a:graphic>
          <a:graphicData uri="http://schemas.openxmlformats.org/presentationml/2006/ole">
            <mc:AlternateContent xmlns:mc="http://schemas.openxmlformats.org/markup-compatibility/2006">
              <mc:Choice xmlns:v="urn:schemas-microsoft-com:vml" Requires="v">
                <p:oleObj spid="_x0000_s9226" name="Equation" r:id="rId8" imgW="1244520" imgH="228600" progId="Equation.3">
                  <p:embed/>
                </p:oleObj>
              </mc:Choice>
              <mc:Fallback>
                <p:oleObj name="Equation" r:id="rId8" imgW="1244520" imgH="228600" progId="Equation.3">
                  <p:embed/>
                  <p:pic>
                    <p:nvPicPr>
                      <p:cNvPr id="9"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9244" y="4228313"/>
                        <a:ext cx="174625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1" name="Straight Arrow Connector 10"/>
          <p:cNvCxnSpPr/>
          <p:nvPr/>
        </p:nvCxnSpPr>
        <p:spPr>
          <a:xfrm>
            <a:off x="5015880" y="2492896"/>
            <a:ext cx="3240360" cy="29523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02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994" y="620688"/>
            <a:ext cx="8606190" cy="1066800"/>
          </a:xfrm>
        </p:spPr>
        <p:style>
          <a:lnRef idx="1">
            <a:schemeClr val="accent3"/>
          </a:lnRef>
          <a:fillRef idx="2">
            <a:schemeClr val="accent3"/>
          </a:fillRef>
          <a:effectRef idx="1">
            <a:schemeClr val="accent3"/>
          </a:effectRef>
          <a:fontRef idx="minor">
            <a:schemeClr val="dk1"/>
          </a:fontRef>
        </p:style>
        <p:txBody>
          <a:bodyPr>
            <a:normAutofit/>
          </a:bodyPr>
          <a:lstStyle/>
          <a:p>
            <a:r>
              <a:rPr lang="en-US" sz="2400" b="1" dirty="0"/>
              <a:t>IV. </a:t>
            </a:r>
            <a:r>
              <a:rPr lang="id-ID" sz="2400" b="1" dirty="0"/>
              <a:t>Respon </a:t>
            </a:r>
            <a:r>
              <a:rPr lang="en-US" sz="2400" b="1" dirty="0" err="1"/>
              <a:t>penguatan</a:t>
            </a:r>
            <a:r>
              <a:rPr lang="en-US" sz="2400" b="1" dirty="0"/>
              <a:t> di </a:t>
            </a:r>
            <a:r>
              <a:rPr lang="en-US" sz="2400" b="1" dirty="0" err="1"/>
              <a:t>sisi</a:t>
            </a:r>
            <a:r>
              <a:rPr lang="en-US" sz="2400" b="1" dirty="0"/>
              <a:t> f</a:t>
            </a:r>
            <a:r>
              <a:rPr lang="id-ID" sz="2400" b="1" dirty="0"/>
              <a:t>ekuensi </a:t>
            </a:r>
            <a:r>
              <a:rPr lang="en-US" sz="2400" b="1" dirty="0" err="1"/>
              <a:t>atas</a:t>
            </a:r>
            <a:endParaRPr lang="id-ID" sz="2400" b="1" dirty="0"/>
          </a:p>
        </p:txBody>
      </p:sp>
      <p:sp>
        <p:nvSpPr>
          <p:cNvPr id="6" name="Text Box 11"/>
          <p:cNvSpPr txBox="1">
            <a:spLocks noChangeArrowheads="1"/>
          </p:cNvSpPr>
          <p:nvPr/>
        </p:nvSpPr>
        <p:spPr bwMode="auto">
          <a:xfrm>
            <a:off x="6600056" y="2032388"/>
            <a:ext cx="4067944" cy="4401205"/>
          </a:xfrm>
          <a:prstGeom prst="rect">
            <a:avLst/>
          </a:prstGeom>
          <a:noFill/>
          <a:ln w="9525">
            <a:noFill/>
            <a:miter lim="800000"/>
            <a:headEnd/>
            <a:tailEnd/>
          </a:ln>
          <a:effectLst/>
        </p:spPr>
        <p:txBody>
          <a:bodyPr wrap="square">
            <a:spAutoFit/>
          </a:bodyPr>
          <a:lstStyle/>
          <a:p>
            <a:r>
              <a:rPr lang="id-ID" altLang="en-US" sz="2000" dirty="0">
                <a:latin typeface="Times New Roman" pitchFamily="18" charset="0"/>
              </a:rPr>
              <a:t>Pengaruh nilai kapasitansi terhadap respon frekuensi tinggi penguat BJT:</a:t>
            </a:r>
          </a:p>
          <a:p>
            <a:endParaRPr lang="en-US" altLang="en-US" sz="2000" b="1" dirty="0">
              <a:latin typeface="Times New Roman" pitchFamily="18" charset="0"/>
            </a:endParaRPr>
          </a:p>
          <a:p>
            <a:pPr lvl="1">
              <a:buFontTx/>
              <a:buChar char="•"/>
            </a:pPr>
            <a:r>
              <a:rPr lang="en-US" altLang="en-US" sz="2000" b="1" dirty="0">
                <a:latin typeface="Times New Roman" pitchFamily="18" charset="0"/>
              </a:rPr>
              <a:t> </a:t>
            </a:r>
            <a:r>
              <a:rPr lang="id-ID" altLang="en-US" sz="2000" b="1" dirty="0">
                <a:latin typeface="Times New Roman" pitchFamily="18" charset="0"/>
              </a:rPr>
              <a:t>Kapasitansi </a:t>
            </a:r>
            <a:r>
              <a:rPr lang="en-US" altLang="en-US" sz="2000" b="1" dirty="0">
                <a:latin typeface="Times New Roman" pitchFamily="18" charset="0"/>
              </a:rPr>
              <a:t>Junction</a:t>
            </a:r>
            <a:r>
              <a:rPr lang="id-ID" altLang="en-US" sz="2000" b="1" dirty="0">
                <a:latin typeface="Times New Roman" pitchFamily="18" charset="0"/>
              </a:rPr>
              <a:t>:</a:t>
            </a:r>
            <a:endParaRPr lang="en-US" altLang="en-US" sz="2000" b="1" dirty="0">
              <a:latin typeface="Times New Roman" pitchFamily="18" charset="0"/>
            </a:endParaRPr>
          </a:p>
          <a:p>
            <a:pPr lvl="1"/>
            <a:r>
              <a:rPr lang="en-US" altLang="en-US" sz="2000" b="1" dirty="0">
                <a:solidFill>
                  <a:srgbClr val="0070C0"/>
                </a:solidFill>
                <a:latin typeface="Times New Roman" pitchFamily="18" charset="0"/>
              </a:rPr>
              <a:t>         </a:t>
            </a:r>
            <a:r>
              <a:rPr lang="en-US" altLang="en-US" sz="2000" b="1" dirty="0" err="1">
                <a:solidFill>
                  <a:srgbClr val="0070C0"/>
                </a:solidFill>
                <a:latin typeface="Times New Roman" pitchFamily="18" charset="0"/>
              </a:rPr>
              <a:t>C</a:t>
            </a:r>
            <a:r>
              <a:rPr lang="en-US" altLang="en-US" sz="2000" b="1" baseline="-25000" dirty="0" err="1">
                <a:solidFill>
                  <a:srgbClr val="0070C0"/>
                </a:solidFill>
                <a:latin typeface="Times New Roman" pitchFamily="18" charset="0"/>
              </a:rPr>
              <a:t>be</a:t>
            </a:r>
            <a:r>
              <a:rPr lang="en-US" altLang="en-US" sz="2000" b="1" dirty="0">
                <a:solidFill>
                  <a:srgbClr val="0070C0"/>
                </a:solidFill>
                <a:latin typeface="Times New Roman" pitchFamily="18" charset="0"/>
              </a:rPr>
              <a:t>, </a:t>
            </a:r>
            <a:r>
              <a:rPr lang="en-US" altLang="en-US" sz="2000" b="1" dirty="0" err="1">
                <a:solidFill>
                  <a:srgbClr val="0070C0"/>
                </a:solidFill>
                <a:latin typeface="Times New Roman" pitchFamily="18" charset="0"/>
              </a:rPr>
              <a:t>C</a:t>
            </a:r>
            <a:r>
              <a:rPr lang="en-US" altLang="en-US" sz="2000" b="1" baseline="-25000" dirty="0" err="1">
                <a:solidFill>
                  <a:srgbClr val="0070C0"/>
                </a:solidFill>
                <a:latin typeface="Times New Roman" pitchFamily="18" charset="0"/>
              </a:rPr>
              <a:t>bc</a:t>
            </a:r>
            <a:r>
              <a:rPr lang="en-US" altLang="en-US" sz="2000" b="1" dirty="0">
                <a:solidFill>
                  <a:srgbClr val="0070C0"/>
                </a:solidFill>
                <a:latin typeface="Times New Roman" pitchFamily="18" charset="0"/>
              </a:rPr>
              <a:t>, </a:t>
            </a:r>
            <a:r>
              <a:rPr lang="en-US" altLang="en-US" sz="2000" b="1" dirty="0" err="1">
                <a:solidFill>
                  <a:srgbClr val="0070C0"/>
                </a:solidFill>
                <a:latin typeface="Times New Roman" pitchFamily="18" charset="0"/>
              </a:rPr>
              <a:t>C</a:t>
            </a:r>
            <a:r>
              <a:rPr lang="en-US" altLang="en-US" sz="2000" b="1" baseline="-25000" dirty="0" err="1">
                <a:solidFill>
                  <a:srgbClr val="0070C0"/>
                </a:solidFill>
                <a:latin typeface="Times New Roman" pitchFamily="18" charset="0"/>
              </a:rPr>
              <a:t>ce</a:t>
            </a:r>
            <a:r>
              <a:rPr lang="en-US" altLang="en-US" sz="2000" b="1" dirty="0">
                <a:solidFill>
                  <a:srgbClr val="0070C0"/>
                </a:solidFill>
                <a:latin typeface="Times New Roman" pitchFamily="18" charset="0"/>
              </a:rPr>
              <a:t> </a:t>
            </a:r>
          </a:p>
          <a:p>
            <a:pPr lvl="2"/>
            <a:endParaRPr lang="en-US" altLang="en-US" sz="2000" b="1" dirty="0">
              <a:latin typeface="Times New Roman" pitchFamily="18" charset="0"/>
            </a:endParaRPr>
          </a:p>
          <a:p>
            <a:pPr lvl="1">
              <a:buFontTx/>
              <a:buChar char="•"/>
            </a:pPr>
            <a:r>
              <a:rPr lang="en-US" altLang="en-US" sz="2000" b="1" dirty="0">
                <a:latin typeface="Times New Roman" pitchFamily="18" charset="0"/>
                <a:cs typeface="Times New Roman" pitchFamily="18" charset="0"/>
              </a:rPr>
              <a:t> </a:t>
            </a:r>
            <a:r>
              <a:rPr lang="id-ID" altLang="en-US" sz="2000" b="1" dirty="0">
                <a:latin typeface="Times New Roman" pitchFamily="18" charset="0"/>
                <a:cs typeface="Times New Roman" pitchFamily="18" charset="0"/>
              </a:rPr>
              <a:t>Jalur Kapasitansi :</a:t>
            </a:r>
            <a:r>
              <a:rPr lang="en-US" altLang="en-US" sz="2000" b="1" dirty="0">
                <a:latin typeface="Times New Roman" pitchFamily="18" charset="0"/>
                <a:cs typeface="Times New Roman" pitchFamily="18" charset="0"/>
              </a:rPr>
              <a:t> </a:t>
            </a:r>
          </a:p>
          <a:p>
            <a:pPr lvl="1"/>
            <a:r>
              <a:rPr lang="en-US" altLang="en-US" sz="2000" b="1" dirty="0">
                <a:solidFill>
                  <a:srgbClr val="0070C0"/>
                </a:solidFill>
                <a:latin typeface="Times New Roman" pitchFamily="18" charset="0"/>
                <a:cs typeface="Times New Roman" pitchFamily="18" charset="0"/>
              </a:rPr>
              <a:t>           </a:t>
            </a:r>
            <a:r>
              <a:rPr lang="en-US" altLang="en-US" sz="2000" b="1" dirty="0" err="1">
                <a:solidFill>
                  <a:srgbClr val="0070C0"/>
                </a:solidFill>
                <a:latin typeface="Times New Roman" pitchFamily="18" charset="0"/>
              </a:rPr>
              <a:t>C</a:t>
            </a:r>
            <a:r>
              <a:rPr lang="en-US" altLang="en-US" sz="2000" b="1" baseline="-25000" dirty="0" err="1">
                <a:solidFill>
                  <a:srgbClr val="0070C0"/>
                </a:solidFill>
                <a:latin typeface="Times New Roman" pitchFamily="18" charset="0"/>
              </a:rPr>
              <a:t>wi</a:t>
            </a:r>
            <a:r>
              <a:rPr lang="en-US" altLang="en-US" sz="2000" b="1" dirty="0">
                <a:solidFill>
                  <a:srgbClr val="0070C0"/>
                </a:solidFill>
                <a:latin typeface="Times New Roman" pitchFamily="18" charset="0"/>
              </a:rPr>
              <a:t>, </a:t>
            </a:r>
            <a:r>
              <a:rPr lang="en-US" altLang="en-US" sz="2000" b="1" dirty="0" err="1">
                <a:solidFill>
                  <a:srgbClr val="0070C0"/>
                </a:solidFill>
                <a:latin typeface="Times New Roman" pitchFamily="18" charset="0"/>
              </a:rPr>
              <a:t>C</a:t>
            </a:r>
            <a:r>
              <a:rPr lang="en-US" altLang="en-US" sz="2000" b="1" baseline="-25000" dirty="0" err="1">
                <a:solidFill>
                  <a:srgbClr val="0070C0"/>
                </a:solidFill>
                <a:latin typeface="Times New Roman" pitchFamily="18" charset="0"/>
              </a:rPr>
              <a:t>wo</a:t>
            </a:r>
            <a:r>
              <a:rPr lang="en-US" altLang="en-US" sz="2000" b="1" dirty="0">
                <a:solidFill>
                  <a:srgbClr val="0070C0"/>
                </a:solidFill>
                <a:latin typeface="Times New Roman" pitchFamily="18" charset="0"/>
              </a:rPr>
              <a:t> </a:t>
            </a:r>
          </a:p>
          <a:p>
            <a:pPr lvl="1"/>
            <a:endParaRPr lang="en-US" altLang="en-US" sz="2000" b="1" dirty="0">
              <a:solidFill>
                <a:srgbClr val="0070C0"/>
              </a:solidFill>
              <a:latin typeface="Times New Roman" pitchFamily="18" charset="0"/>
            </a:endParaRPr>
          </a:p>
          <a:p>
            <a:pPr lvl="1">
              <a:buFontTx/>
              <a:buChar char="•"/>
            </a:pPr>
            <a:r>
              <a:rPr lang="en-US" altLang="en-US" sz="2000" b="1" dirty="0">
                <a:latin typeface="Times New Roman" pitchFamily="18" charset="0"/>
              </a:rPr>
              <a:t> </a:t>
            </a:r>
            <a:r>
              <a:rPr lang="id-ID" altLang="en-US" sz="2000" b="1" dirty="0">
                <a:latin typeface="Times New Roman" pitchFamily="18" charset="0"/>
              </a:rPr>
              <a:t>Kopling Kapasitor :</a:t>
            </a:r>
            <a:r>
              <a:rPr lang="en-US" altLang="en-US" sz="2000" b="1" dirty="0">
                <a:latin typeface="Times New Roman" pitchFamily="18" charset="0"/>
              </a:rPr>
              <a:t> </a:t>
            </a:r>
          </a:p>
          <a:p>
            <a:pPr lvl="1"/>
            <a:r>
              <a:rPr lang="en-US" altLang="en-US" sz="2000" b="1" dirty="0">
                <a:solidFill>
                  <a:srgbClr val="0070C0"/>
                </a:solidFill>
                <a:latin typeface="Times New Roman" pitchFamily="18" charset="0"/>
              </a:rPr>
              <a:t>              C</a:t>
            </a:r>
            <a:r>
              <a:rPr lang="en-US" altLang="en-US" sz="2000" b="1" baseline="-25000" dirty="0">
                <a:solidFill>
                  <a:srgbClr val="0070C0"/>
                </a:solidFill>
                <a:latin typeface="Times New Roman" pitchFamily="18" charset="0"/>
              </a:rPr>
              <a:t>S</a:t>
            </a:r>
            <a:r>
              <a:rPr lang="en-US" altLang="en-US" sz="2000" b="1" dirty="0">
                <a:solidFill>
                  <a:srgbClr val="0070C0"/>
                </a:solidFill>
                <a:latin typeface="Times New Roman" pitchFamily="18" charset="0"/>
              </a:rPr>
              <a:t>, C</a:t>
            </a:r>
            <a:r>
              <a:rPr lang="en-US" altLang="en-US" sz="2000" b="1" baseline="-25000" dirty="0">
                <a:solidFill>
                  <a:srgbClr val="0070C0"/>
                </a:solidFill>
                <a:latin typeface="Times New Roman" pitchFamily="18" charset="0"/>
              </a:rPr>
              <a:t>C</a:t>
            </a:r>
          </a:p>
          <a:p>
            <a:pPr lvl="1"/>
            <a:endParaRPr lang="en-US" altLang="en-US" sz="2000" b="1" dirty="0">
              <a:latin typeface="Times New Roman" pitchFamily="18" charset="0"/>
            </a:endParaRPr>
          </a:p>
          <a:p>
            <a:pPr lvl="1">
              <a:buFontTx/>
              <a:buChar char="•"/>
            </a:pPr>
            <a:r>
              <a:rPr lang="en-US" altLang="en-US" sz="2000" b="1" dirty="0">
                <a:latin typeface="Times New Roman" pitchFamily="18" charset="0"/>
              </a:rPr>
              <a:t> </a:t>
            </a:r>
            <a:r>
              <a:rPr lang="id-ID" altLang="en-US" sz="2000" b="1" dirty="0">
                <a:latin typeface="Times New Roman" pitchFamily="18" charset="0"/>
              </a:rPr>
              <a:t>Kapasitor </a:t>
            </a:r>
            <a:r>
              <a:rPr lang="en-US" altLang="en-US" sz="2000" b="1" dirty="0">
                <a:latin typeface="Times New Roman" pitchFamily="18" charset="0"/>
              </a:rPr>
              <a:t>Bypass</a:t>
            </a:r>
            <a:r>
              <a:rPr lang="id-ID" altLang="en-US" sz="2000" b="1" dirty="0">
                <a:latin typeface="Times New Roman" pitchFamily="18" charset="0"/>
              </a:rPr>
              <a:t> :</a:t>
            </a:r>
            <a:r>
              <a:rPr lang="en-US" altLang="en-US" sz="2000" b="1" dirty="0">
                <a:latin typeface="Times New Roman" pitchFamily="18" charset="0"/>
              </a:rPr>
              <a:t> </a:t>
            </a:r>
          </a:p>
          <a:p>
            <a:pPr lvl="1"/>
            <a:r>
              <a:rPr lang="en-US" altLang="en-US" sz="2000" b="1" dirty="0">
                <a:solidFill>
                  <a:srgbClr val="0070C0"/>
                </a:solidFill>
                <a:latin typeface="Times New Roman" pitchFamily="18" charset="0"/>
              </a:rPr>
              <a:t>                   C</a:t>
            </a:r>
            <a:r>
              <a:rPr lang="en-US" altLang="en-US" sz="2000" b="1" baseline="-25000" dirty="0">
                <a:solidFill>
                  <a:srgbClr val="0070C0"/>
                </a:solidFill>
                <a:latin typeface="Times New Roman" pitchFamily="18" charset="0"/>
              </a:rPr>
              <a:t>E</a:t>
            </a:r>
          </a:p>
        </p:txBody>
      </p:sp>
      <p:pic>
        <p:nvPicPr>
          <p:cNvPr id="7" name="Picture 2"/>
          <p:cNvPicPr>
            <a:picLocks noChangeAspect="1" noChangeArrowheads="1"/>
          </p:cNvPicPr>
          <p:nvPr/>
        </p:nvPicPr>
        <p:blipFill>
          <a:blip r:embed="rId2"/>
          <a:srcRect/>
          <a:stretch>
            <a:fillRect/>
          </a:stretch>
        </p:blipFill>
        <p:spPr bwMode="auto">
          <a:xfrm>
            <a:off x="1668358" y="2935204"/>
            <a:ext cx="4787683" cy="3386410"/>
          </a:xfrm>
          <a:prstGeom prst="rect">
            <a:avLst/>
          </a:prstGeom>
          <a:noFill/>
          <a:effectLst>
            <a:outerShdw dist="107763" dir="2700000" algn="ctr" rotWithShape="0">
              <a:srgbClr val="808080">
                <a:alpha val="50000"/>
              </a:srgbClr>
            </a:outerShdw>
          </a:effectLst>
        </p:spPr>
      </p:pic>
    </p:spTree>
    <p:extLst>
      <p:ext uri="{BB962C8B-B14F-4D97-AF65-F5344CB8AC3E}">
        <p14:creationId xmlns:p14="http://schemas.microsoft.com/office/powerpoint/2010/main" val="375364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9720" y="785794"/>
            <a:ext cx="8229600" cy="642942"/>
          </a:xfrm>
        </p:spPr>
        <p:txBody>
          <a:bodyPr>
            <a:normAutofit/>
          </a:bodyPr>
          <a:lstStyle/>
          <a:p>
            <a:r>
              <a:rPr lang="en-US" dirty="0" err="1" smtClean="0"/>
              <a:t>Sisi</a:t>
            </a:r>
            <a:r>
              <a:rPr lang="en-US" dirty="0" smtClean="0"/>
              <a:t> </a:t>
            </a:r>
            <a:r>
              <a:rPr lang="id-ID" dirty="0" smtClean="0"/>
              <a:t>input penguat </a:t>
            </a:r>
            <a:endParaRPr lang="id-ID" dirty="0"/>
          </a:p>
        </p:txBody>
      </p:sp>
      <p:pic>
        <p:nvPicPr>
          <p:cNvPr id="4" name="Picture 13"/>
          <p:cNvPicPr>
            <a:picLocks noChangeAspect="1" noChangeArrowheads="1"/>
          </p:cNvPicPr>
          <p:nvPr/>
        </p:nvPicPr>
        <p:blipFill>
          <a:blip r:embed="rId4"/>
          <a:srcRect/>
          <a:stretch>
            <a:fillRect/>
          </a:stretch>
        </p:blipFill>
        <p:spPr bwMode="auto">
          <a:xfrm>
            <a:off x="4799856" y="2624617"/>
            <a:ext cx="5724128" cy="4048774"/>
          </a:xfrm>
          <a:prstGeom prst="rect">
            <a:avLst/>
          </a:prstGeom>
          <a:noFill/>
          <a:effectLst>
            <a:outerShdw dist="107763" dir="2700000" algn="ctr" rotWithShape="0">
              <a:srgbClr val="808080">
                <a:alpha val="50000"/>
              </a:srgbClr>
            </a:outerShdw>
          </a:effectLst>
        </p:spPr>
      </p:pic>
      <p:graphicFrame>
        <p:nvGraphicFramePr>
          <p:cNvPr id="12290" name="Object 2"/>
          <p:cNvGraphicFramePr>
            <a:graphicFrameLocks noChangeAspect="1"/>
          </p:cNvGraphicFramePr>
          <p:nvPr>
            <p:extLst/>
          </p:nvPr>
        </p:nvGraphicFramePr>
        <p:xfrm>
          <a:off x="3460750" y="1520825"/>
          <a:ext cx="2700338" cy="1149350"/>
        </p:xfrm>
        <a:graphic>
          <a:graphicData uri="http://schemas.openxmlformats.org/presentationml/2006/ole">
            <mc:AlternateContent xmlns:mc="http://schemas.openxmlformats.org/markup-compatibility/2006">
              <mc:Choice xmlns:v="urn:schemas-microsoft-com:vml" Requires="v">
                <p:oleObj spid="_x0000_s10248" name="Equation" r:id="rId5" imgW="1041120" imgH="444240" progId="Equation.3">
                  <p:embed/>
                </p:oleObj>
              </mc:Choice>
              <mc:Fallback>
                <p:oleObj name="Equation" r:id="rId5" imgW="1041120" imgH="444240" progId="Equation.3">
                  <p:embed/>
                  <p:pic>
                    <p:nvPicPr>
                      <p:cNvPr id="12290" name="Object 2"/>
                      <p:cNvPicPr>
                        <a:picLocks noChangeAspect="1" noChangeArrowheads="1"/>
                      </p:cNvPicPr>
                      <p:nvPr/>
                    </p:nvPicPr>
                    <p:blipFill>
                      <a:blip r:embed="rId6"/>
                      <a:srcRect/>
                      <a:stretch>
                        <a:fillRect/>
                      </a:stretch>
                    </p:blipFill>
                    <p:spPr bwMode="auto">
                      <a:xfrm>
                        <a:off x="3460750" y="1520825"/>
                        <a:ext cx="2700338" cy="11493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FF0000"/>
                        </a:solidFill>
                      </a:ln>
                    </p:spPr>
                  </p:pic>
                </p:oleObj>
              </mc:Fallback>
            </mc:AlternateContent>
          </a:graphicData>
        </a:graphic>
      </p:graphicFrame>
      <p:graphicFrame>
        <p:nvGraphicFramePr>
          <p:cNvPr id="12291" name="Object 3"/>
          <p:cNvGraphicFramePr>
            <a:graphicFrameLocks noChangeAspect="1"/>
          </p:cNvGraphicFramePr>
          <p:nvPr>
            <p:extLst/>
          </p:nvPr>
        </p:nvGraphicFramePr>
        <p:xfrm>
          <a:off x="2038350" y="3713536"/>
          <a:ext cx="2286000" cy="363537"/>
        </p:xfrm>
        <a:graphic>
          <a:graphicData uri="http://schemas.openxmlformats.org/presentationml/2006/ole">
            <mc:AlternateContent xmlns:mc="http://schemas.openxmlformats.org/markup-compatibility/2006">
              <mc:Choice xmlns:v="urn:schemas-microsoft-com:vml" Requires="v">
                <p:oleObj spid="_x0000_s10249" name="Equation" r:id="rId7" imgW="1498320" imgH="241200" progId="Equation.3">
                  <p:embed/>
                </p:oleObj>
              </mc:Choice>
              <mc:Fallback>
                <p:oleObj name="Equation" r:id="rId7" imgW="1498320" imgH="241200" progId="Equation.3">
                  <p:embed/>
                  <p:pic>
                    <p:nvPicPr>
                      <p:cNvPr id="12291" name="Object 3"/>
                      <p:cNvPicPr>
                        <a:picLocks noChangeAspect="1" noChangeArrowheads="1"/>
                      </p:cNvPicPr>
                      <p:nvPr/>
                    </p:nvPicPr>
                    <p:blipFill>
                      <a:blip r:embed="rId8"/>
                      <a:srcRect/>
                      <a:stretch>
                        <a:fillRect/>
                      </a:stretch>
                    </p:blipFill>
                    <p:spPr bwMode="auto">
                      <a:xfrm>
                        <a:off x="2038350" y="3713536"/>
                        <a:ext cx="2286000" cy="363537"/>
                      </a:xfrm>
                      <a:prstGeom prst="rect">
                        <a:avLst/>
                      </a:prstGeom>
                      <a:noFill/>
                      <a:ln>
                        <a:solidFill>
                          <a:schemeClr val="bg1"/>
                        </a:solidFill>
                      </a:ln>
                      <a:extLst/>
                    </p:spPr>
                  </p:pic>
                </p:oleObj>
              </mc:Fallback>
            </mc:AlternateContent>
          </a:graphicData>
        </a:graphic>
      </p:graphicFrame>
      <p:sp>
        <p:nvSpPr>
          <p:cNvPr id="6" name="Text Box 13"/>
          <p:cNvSpPr txBox="1">
            <a:spLocks noChangeArrowheads="1"/>
          </p:cNvSpPr>
          <p:nvPr/>
        </p:nvSpPr>
        <p:spPr bwMode="auto">
          <a:xfrm>
            <a:off x="1991544" y="2643182"/>
            <a:ext cx="1524000" cy="400110"/>
          </a:xfrm>
          <a:prstGeom prst="rect">
            <a:avLst/>
          </a:prstGeom>
          <a:noFill/>
          <a:ln w="9525">
            <a:noFill/>
            <a:miter lim="800000"/>
            <a:headEnd/>
            <a:tailEnd/>
          </a:ln>
          <a:effectLst/>
        </p:spPr>
        <p:txBody>
          <a:bodyPr>
            <a:spAutoFit/>
          </a:bodyPr>
          <a:lstStyle/>
          <a:p>
            <a:pPr eaLnBrk="1" hangingPunct="1">
              <a:spcBef>
                <a:spcPct val="50000"/>
              </a:spcBef>
            </a:pPr>
            <a:r>
              <a:rPr lang="id-ID" sz="2000" dirty="0">
                <a:latin typeface="Times New Roman" pitchFamily="18" charset="0"/>
              </a:rPr>
              <a:t>Dimana:</a:t>
            </a:r>
            <a:endParaRPr lang="en-US" sz="2000" dirty="0">
              <a:latin typeface="Times New Roman" pitchFamily="18" charset="0"/>
            </a:endParaRPr>
          </a:p>
        </p:txBody>
      </p:sp>
      <p:graphicFrame>
        <p:nvGraphicFramePr>
          <p:cNvPr id="12292" name="Object 4"/>
          <p:cNvGraphicFramePr>
            <a:graphicFrameLocks noChangeAspect="1"/>
          </p:cNvGraphicFramePr>
          <p:nvPr>
            <p:extLst/>
          </p:nvPr>
        </p:nvGraphicFramePr>
        <p:xfrm>
          <a:off x="2093913" y="4473575"/>
          <a:ext cx="2716212" cy="350838"/>
        </p:xfrm>
        <a:graphic>
          <a:graphicData uri="http://schemas.openxmlformats.org/presentationml/2006/ole">
            <mc:AlternateContent xmlns:mc="http://schemas.openxmlformats.org/markup-compatibility/2006">
              <mc:Choice xmlns:v="urn:schemas-microsoft-com:vml" Requires="v">
                <p:oleObj spid="_x0000_s10250" name="Equation" r:id="rId9" imgW="1739880" imgH="228600" progId="Equation.3">
                  <p:embed/>
                </p:oleObj>
              </mc:Choice>
              <mc:Fallback>
                <p:oleObj name="Equation" r:id="rId9" imgW="1739880" imgH="228600" progId="Equation.3">
                  <p:embed/>
                  <p:pic>
                    <p:nvPicPr>
                      <p:cNvPr id="12292" name="Object 4"/>
                      <p:cNvPicPr>
                        <a:picLocks noChangeAspect="1" noChangeArrowheads="1"/>
                      </p:cNvPicPr>
                      <p:nvPr/>
                    </p:nvPicPr>
                    <p:blipFill>
                      <a:blip r:embed="rId10"/>
                      <a:srcRect/>
                      <a:stretch>
                        <a:fillRect/>
                      </a:stretch>
                    </p:blipFill>
                    <p:spPr bwMode="auto">
                      <a:xfrm>
                        <a:off x="2093913" y="4473575"/>
                        <a:ext cx="2716212" cy="350838"/>
                      </a:xfrm>
                      <a:prstGeom prst="rect">
                        <a:avLst/>
                      </a:prstGeom>
                      <a:noFill/>
                      <a:ln>
                        <a:solidFill>
                          <a:schemeClr val="bg1"/>
                        </a:solidFill>
                      </a:ln>
                      <a:extLst/>
                    </p:spPr>
                  </p:pic>
                </p:oleObj>
              </mc:Fallback>
            </mc:AlternateContent>
          </a:graphicData>
        </a:graphic>
      </p:graphicFrame>
      <p:pic>
        <p:nvPicPr>
          <p:cNvPr id="12293" name="Picture 5"/>
          <p:cNvPicPr>
            <a:picLocks noChangeAspect="1" noChangeArrowheads="1"/>
          </p:cNvPicPr>
          <p:nvPr/>
        </p:nvPicPr>
        <p:blipFill>
          <a:blip r:embed="rId11"/>
          <a:srcRect/>
          <a:stretch>
            <a:fillRect/>
          </a:stretch>
        </p:blipFill>
        <p:spPr bwMode="auto">
          <a:xfrm>
            <a:off x="2095473" y="3105150"/>
            <a:ext cx="1907699" cy="395289"/>
          </a:xfrm>
          <a:prstGeom prst="rect">
            <a:avLst/>
          </a:prstGeom>
          <a:noFill/>
          <a:ln w="9525">
            <a:solidFill>
              <a:schemeClr val="bg1"/>
            </a:solidFill>
            <a:miter lim="800000"/>
            <a:headEnd/>
            <a:tailEnd/>
          </a:ln>
          <a:effectLst/>
        </p:spPr>
      </p:pic>
      <p:sp>
        <p:nvSpPr>
          <p:cNvPr id="9" name="Text Box 13"/>
          <p:cNvSpPr txBox="1">
            <a:spLocks noChangeArrowheads="1"/>
          </p:cNvSpPr>
          <p:nvPr/>
        </p:nvSpPr>
        <p:spPr bwMode="auto">
          <a:xfrm>
            <a:off x="1919537" y="5597515"/>
            <a:ext cx="2439739" cy="1015663"/>
          </a:xfrm>
          <a:prstGeom prst="rect">
            <a:avLst/>
          </a:prstGeom>
          <a:noFill/>
          <a:ln w="9525">
            <a:noFill/>
            <a:miter lim="800000"/>
            <a:headEnd/>
            <a:tailEnd/>
          </a:ln>
          <a:effectLst/>
        </p:spPr>
        <p:txBody>
          <a:bodyPr wrap="square">
            <a:spAutoFit/>
          </a:bodyPr>
          <a:lstStyle/>
          <a:p>
            <a:pPr eaLnBrk="1" hangingPunct="1">
              <a:spcBef>
                <a:spcPct val="50000"/>
              </a:spcBef>
            </a:pPr>
            <a:r>
              <a:rPr lang="en-US" sz="2000" dirty="0" err="1">
                <a:latin typeface="Times New Roman" pitchFamily="18" charset="0"/>
              </a:rPr>
              <a:t>Nilai</a:t>
            </a:r>
            <a:r>
              <a:rPr lang="en-US" sz="2000" dirty="0">
                <a:latin typeface="Times New Roman" pitchFamily="18" charset="0"/>
              </a:rPr>
              <a:t> </a:t>
            </a:r>
            <a:r>
              <a:rPr lang="en-US" sz="2000" dirty="0" err="1">
                <a:latin typeface="Times New Roman" pitchFamily="18" charset="0"/>
              </a:rPr>
              <a:t>ini</a:t>
            </a:r>
            <a:r>
              <a:rPr lang="en-US" sz="2000" dirty="0">
                <a:latin typeface="Times New Roman" pitchFamily="18" charset="0"/>
              </a:rPr>
              <a:t> </a:t>
            </a:r>
            <a:r>
              <a:rPr lang="en-US" sz="2000" dirty="0" err="1">
                <a:latin typeface="Times New Roman" pitchFamily="18" charset="0"/>
              </a:rPr>
              <a:t>biasanya</a:t>
            </a:r>
            <a:r>
              <a:rPr lang="en-US" sz="2000" dirty="0">
                <a:latin typeface="Times New Roman" pitchFamily="18" charset="0"/>
              </a:rPr>
              <a:t> </a:t>
            </a:r>
            <a:r>
              <a:rPr lang="en-US" sz="2000" dirty="0" err="1">
                <a:latin typeface="Times New Roman" pitchFamily="18" charset="0"/>
              </a:rPr>
              <a:t>sudah</a:t>
            </a:r>
            <a:r>
              <a:rPr lang="en-US" sz="2000" dirty="0">
                <a:latin typeface="Times New Roman" pitchFamily="18" charset="0"/>
              </a:rPr>
              <a:t> </a:t>
            </a:r>
            <a:r>
              <a:rPr lang="en-US" sz="2000" dirty="0" err="1">
                <a:latin typeface="Times New Roman" pitchFamily="18" charset="0"/>
              </a:rPr>
              <a:t>ada</a:t>
            </a:r>
            <a:r>
              <a:rPr lang="en-US" sz="2000" dirty="0">
                <a:latin typeface="Times New Roman" pitchFamily="18" charset="0"/>
              </a:rPr>
              <a:t> di data sheet</a:t>
            </a:r>
          </a:p>
        </p:txBody>
      </p:sp>
      <p:cxnSp>
        <p:nvCxnSpPr>
          <p:cNvPr id="5" name="Straight Arrow Connector 4"/>
          <p:cNvCxnSpPr/>
          <p:nvPr/>
        </p:nvCxnSpPr>
        <p:spPr>
          <a:xfrm flipH="1">
            <a:off x="2783632" y="5148918"/>
            <a:ext cx="144016" cy="512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991544" y="4221088"/>
            <a:ext cx="2880320"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91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1000"/>
                                        <p:tgtEl>
                                          <p:spTgt spid="12290"/>
                                        </p:tgtEl>
                                      </p:cBhvr>
                                    </p:animEffect>
                                    <p:anim calcmode="lin" valueType="num">
                                      <p:cBhvr>
                                        <p:cTn id="8" dur="1000" fill="hold"/>
                                        <p:tgtEl>
                                          <p:spTgt spid="12290"/>
                                        </p:tgtEl>
                                        <p:attrNameLst>
                                          <p:attrName>ppt_x</p:attrName>
                                        </p:attrNameLst>
                                      </p:cBhvr>
                                      <p:tavLst>
                                        <p:tav tm="0">
                                          <p:val>
                                            <p:strVal val="#ppt_x"/>
                                          </p:val>
                                        </p:tav>
                                        <p:tav tm="100000">
                                          <p:val>
                                            <p:strVal val="#ppt_x"/>
                                          </p:val>
                                        </p:tav>
                                      </p:tavLst>
                                    </p:anim>
                                    <p:anim calcmode="lin" valueType="num">
                                      <p:cBhvr>
                                        <p:cTn id="9" dur="1000" fill="hold"/>
                                        <p:tgtEl>
                                          <p:spTgt spid="122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293"/>
                                        </p:tgtEl>
                                        <p:attrNameLst>
                                          <p:attrName>style.visibility</p:attrName>
                                        </p:attrNameLst>
                                      </p:cBhvr>
                                      <p:to>
                                        <p:strVal val="visible"/>
                                      </p:to>
                                    </p:set>
                                    <p:animEffect transition="in" filter="fade">
                                      <p:cBhvr>
                                        <p:cTn id="19" dur="1000"/>
                                        <p:tgtEl>
                                          <p:spTgt spid="12293"/>
                                        </p:tgtEl>
                                      </p:cBhvr>
                                    </p:animEffect>
                                    <p:anim calcmode="lin" valueType="num">
                                      <p:cBhvr>
                                        <p:cTn id="20" dur="1000" fill="hold"/>
                                        <p:tgtEl>
                                          <p:spTgt spid="12293"/>
                                        </p:tgtEl>
                                        <p:attrNameLst>
                                          <p:attrName>ppt_x</p:attrName>
                                        </p:attrNameLst>
                                      </p:cBhvr>
                                      <p:tavLst>
                                        <p:tav tm="0">
                                          <p:val>
                                            <p:strVal val="#ppt_x"/>
                                          </p:val>
                                        </p:tav>
                                        <p:tav tm="100000">
                                          <p:val>
                                            <p:strVal val="#ppt_x"/>
                                          </p:val>
                                        </p:tav>
                                      </p:tavLst>
                                    </p:anim>
                                    <p:anim calcmode="lin" valueType="num">
                                      <p:cBhvr>
                                        <p:cTn id="21" dur="1000" fill="hold"/>
                                        <p:tgtEl>
                                          <p:spTgt spid="1229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291"/>
                                        </p:tgtEl>
                                        <p:attrNameLst>
                                          <p:attrName>style.visibility</p:attrName>
                                        </p:attrNameLst>
                                      </p:cBhvr>
                                      <p:to>
                                        <p:strVal val="visible"/>
                                      </p:to>
                                    </p:set>
                                    <p:animEffect transition="in" filter="fade">
                                      <p:cBhvr>
                                        <p:cTn id="24" dur="1000"/>
                                        <p:tgtEl>
                                          <p:spTgt spid="12291"/>
                                        </p:tgtEl>
                                      </p:cBhvr>
                                    </p:animEffect>
                                    <p:anim calcmode="lin" valueType="num">
                                      <p:cBhvr>
                                        <p:cTn id="25" dur="1000" fill="hold"/>
                                        <p:tgtEl>
                                          <p:spTgt spid="12291"/>
                                        </p:tgtEl>
                                        <p:attrNameLst>
                                          <p:attrName>ppt_x</p:attrName>
                                        </p:attrNameLst>
                                      </p:cBhvr>
                                      <p:tavLst>
                                        <p:tav tm="0">
                                          <p:val>
                                            <p:strVal val="#ppt_x"/>
                                          </p:val>
                                        </p:tav>
                                        <p:tav tm="100000">
                                          <p:val>
                                            <p:strVal val="#ppt_x"/>
                                          </p:val>
                                        </p:tav>
                                      </p:tavLst>
                                    </p:anim>
                                    <p:anim calcmode="lin" valueType="num">
                                      <p:cBhvr>
                                        <p:cTn id="26" dur="1000" fill="hold"/>
                                        <p:tgtEl>
                                          <p:spTgt spid="1229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292"/>
                                        </p:tgtEl>
                                        <p:attrNameLst>
                                          <p:attrName>style.visibility</p:attrName>
                                        </p:attrNameLst>
                                      </p:cBhvr>
                                      <p:to>
                                        <p:strVal val="visible"/>
                                      </p:to>
                                    </p:set>
                                    <p:animEffect transition="in" filter="fade">
                                      <p:cBhvr>
                                        <p:cTn id="34" dur="1000"/>
                                        <p:tgtEl>
                                          <p:spTgt spid="12292"/>
                                        </p:tgtEl>
                                      </p:cBhvr>
                                    </p:animEffect>
                                    <p:anim calcmode="lin" valueType="num">
                                      <p:cBhvr>
                                        <p:cTn id="35" dur="1000" fill="hold"/>
                                        <p:tgtEl>
                                          <p:spTgt spid="12292"/>
                                        </p:tgtEl>
                                        <p:attrNameLst>
                                          <p:attrName>ppt_x</p:attrName>
                                        </p:attrNameLst>
                                      </p:cBhvr>
                                      <p:tavLst>
                                        <p:tav tm="0">
                                          <p:val>
                                            <p:strVal val="#ppt_x"/>
                                          </p:val>
                                        </p:tav>
                                        <p:tav tm="100000">
                                          <p:val>
                                            <p:strVal val="#ppt_x"/>
                                          </p:val>
                                        </p:tav>
                                      </p:tavLst>
                                    </p:anim>
                                    <p:anim calcmode="lin" valueType="num">
                                      <p:cBhvr>
                                        <p:cTn id="36" dur="1000" fill="hold"/>
                                        <p:tgtEl>
                                          <p:spTgt spid="1229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1000"/>
                                        <p:tgtEl>
                                          <p:spTgt spid="5"/>
                                        </p:tgtEl>
                                      </p:cBhvr>
                                    </p:animEffect>
                                    <p:anim calcmode="lin" valueType="num">
                                      <p:cBhvr>
                                        <p:cTn id="42" dur="1000" fill="hold"/>
                                        <p:tgtEl>
                                          <p:spTgt spid="5"/>
                                        </p:tgtEl>
                                        <p:attrNameLst>
                                          <p:attrName>ppt_x</p:attrName>
                                        </p:attrNameLst>
                                      </p:cBhvr>
                                      <p:tavLst>
                                        <p:tav tm="0">
                                          <p:val>
                                            <p:strVal val="#ppt_x"/>
                                          </p:val>
                                        </p:tav>
                                        <p:tav tm="100000">
                                          <p:val>
                                            <p:strVal val="#ppt_x"/>
                                          </p:val>
                                        </p:tav>
                                      </p:tavLst>
                                    </p:anim>
                                    <p:anim calcmode="lin" valueType="num">
                                      <p:cBhvr>
                                        <p:cTn id="43" dur="1000" fill="hold"/>
                                        <p:tgtEl>
                                          <p:spTgt spid="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9720" y="785794"/>
            <a:ext cx="8229600" cy="642942"/>
          </a:xfrm>
        </p:spPr>
        <p:txBody>
          <a:bodyPr>
            <a:normAutofit/>
          </a:bodyPr>
          <a:lstStyle/>
          <a:p>
            <a:r>
              <a:rPr lang="en-US" dirty="0" err="1" smtClean="0"/>
              <a:t>Sisi</a:t>
            </a:r>
            <a:r>
              <a:rPr lang="en-US" dirty="0" smtClean="0"/>
              <a:t> </a:t>
            </a:r>
            <a:r>
              <a:rPr lang="id-ID" dirty="0" smtClean="0"/>
              <a:t>ouput penguat :</a:t>
            </a:r>
            <a:endParaRPr lang="id-ID" dirty="0"/>
          </a:p>
        </p:txBody>
      </p:sp>
      <p:graphicFrame>
        <p:nvGraphicFramePr>
          <p:cNvPr id="13314" name="Object 2"/>
          <p:cNvGraphicFramePr>
            <a:graphicFrameLocks noChangeAspect="1"/>
          </p:cNvGraphicFramePr>
          <p:nvPr>
            <p:extLst/>
          </p:nvPr>
        </p:nvGraphicFramePr>
        <p:xfrm>
          <a:off x="2509838" y="1600201"/>
          <a:ext cx="2570162" cy="1000125"/>
        </p:xfrm>
        <a:graphic>
          <a:graphicData uri="http://schemas.openxmlformats.org/presentationml/2006/ole">
            <mc:AlternateContent xmlns:mc="http://schemas.openxmlformats.org/markup-compatibility/2006">
              <mc:Choice xmlns:v="urn:schemas-microsoft-com:vml" Requires="v">
                <p:oleObj spid="_x0000_s11272" name="Equation" r:id="rId3" imgW="1130040" imgH="444240" progId="Equation.3">
                  <p:embed/>
                </p:oleObj>
              </mc:Choice>
              <mc:Fallback>
                <p:oleObj name="Equation" r:id="rId3" imgW="1130040" imgH="444240" progId="Equation.3">
                  <p:embed/>
                  <p:pic>
                    <p:nvPicPr>
                      <p:cNvPr id="13314" name="Object 2"/>
                      <p:cNvPicPr>
                        <a:picLocks noChangeAspect="1" noChangeArrowheads="1"/>
                      </p:cNvPicPr>
                      <p:nvPr/>
                    </p:nvPicPr>
                    <p:blipFill>
                      <a:blip r:embed="rId4"/>
                      <a:srcRect/>
                      <a:stretch>
                        <a:fillRect/>
                      </a:stretch>
                    </p:blipFill>
                    <p:spPr bwMode="auto">
                      <a:xfrm>
                        <a:off x="2509838" y="1600201"/>
                        <a:ext cx="2570162" cy="100012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FF0000"/>
                        </a:solidFill>
                      </a:ln>
                    </p:spPr>
                  </p:pic>
                </p:oleObj>
              </mc:Fallback>
            </mc:AlternateContent>
          </a:graphicData>
        </a:graphic>
      </p:graphicFrame>
      <p:sp>
        <p:nvSpPr>
          <p:cNvPr id="5" name="Text Box 13"/>
          <p:cNvSpPr txBox="1">
            <a:spLocks noChangeArrowheads="1"/>
          </p:cNvSpPr>
          <p:nvPr/>
        </p:nvSpPr>
        <p:spPr bwMode="auto">
          <a:xfrm>
            <a:off x="2166910" y="2643182"/>
            <a:ext cx="1524000" cy="400110"/>
          </a:xfrm>
          <a:prstGeom prst="rect">
            <a:avLst/>
          </a:prstGeom>
          <a:noFill/>
          <a:ln w="9525">
            <a:noFill/>
            <a:miter lim="800000"/>
            <a:headEnd/>
            <a:tailEnd/>
          </a:ln>
          <a:effectLst/>
        </p:spPr>
        <p:txBody>
          <a:bodyPr>
            <a:spAutoFit/>
          </a:bodyPr>
          <a:lstStyle/>
          <a:p>
            <a:pPr eaLnBrk="1" hangingPunct="1">
              <a:spcBef>
                <a:spcPct val="50000"/>
              </a:spcBef>
            </a:pPr>
            <a:r>
              <a:rPr lang="id-ID" sz="2000" dirty="0">
                <a:latin typeface="Times New Roman" pitchFamily="18" charset="0"/>
              </a:rPr>
              <a:t>Dimana:</a:t>
            </a:r>
            <a:endParaRPr lang="en-US" sz="2000" dirty="0">
              <a:latin typeface="Times New Roman" pitchFamily="18" charset="0"/>
            </a:endParaRPr>
          </a:p>
        </p:txBody>
      </p:sp>
      <p:graphicFrame>
        <p:nvGraphicFramePr>
          <p:cNvPr id="13315" name="Object 3"/>
          <p:cNvGraphicFramePr>
            <a:graphicFrameLocks noChangeAspect="1"/>
          </p:cNvGraphicFramePr>
          <p:nvPr>
            <p:extLst/>
          </p:nvPr>
        </p:nvGraphicFramePr>
        <p:xfrm>
          <a:off x="2149475" y="3349626"/>
          <a:ext cx="1962150" cy="352425"/>
        </p:xfrm>
        <a:graphic>
          <a:graphicData uri="http://schemas.openxmlformats.org/presentationml/2006/ole">
            <mc:AlternateContent xmlns:mc="http://schemas.openxmlformats.org/markup-compatibility/2006">
              <mc:Choice xmlns:v="urn:schemas-microsoft-com:vml" Requires="v">
                <p:oleObj spid="_x0000_s11273" name="Equation" r:id="rId5" imgW="1307880" imgH="241200" progId="Equation.3">
                  <p:embed/>
                </p:oleObj>
              </mc:Choice>
              <mc:Fallback>
                <p:oleObj name="Equation" r:id="rId5" imgW="1307880" imgH="241200" progId="Equation.3">
                  <p:embed/>
                  <p:pic>
                    <p:nvPicPr>
                      <p:cNvPr id="13315" name="Object 3"/>
                      <p:cNvPicPr>
                        <a:picLocks noChangeAspect="1" noChangeArrowheads="1"/>
                      </p:cNvPicPr>
                      <p:nvPr/>
                    </p:nvPicPr>
                    <p:blipFill>
                      <a:blip r:embed="rId6"/>
                      <a:srcRect/>
                      <a:stretch>
                        <a:fillRect/>
                      </a:stretch>
                    </p:blipFill>
                    <p:spPr bwMode="auto">
                      <a:xfrm>
                        <a:off x="2149475" y="3349626"/>
                        <a:ext cx="1962150" cy="352425"/>
                      </a:xfrm>
                      <a:prstGeom prst="rect">
                        <a:avLst/>
                      </a:prstGeom>
                      <a:noFill/>
                      <a:ln>
                        <a:solidFill>
                          <a:schemeClr val="bg1"/>
                        </a:solidFill>
                      </a:ln>
                      <a:extLst/>
                    </p:spPr>
                  </p:pic>
                </p:oleObj>
              </mc:Fallback>
            </mc:AlternateContent>
          </a:graphicData>
        </a:graphic>
      </p:graphicFrame>
      <p:graphicFrame>
        <p:nvGraphicFramePr>
          <p:cNvPr id="13316" name="Object 4"/>
          <p:cNvGraphicFramePr>
            <a:graphicFrameLocks noChangeAspect="1"/>
          </p:cNvGraphicFramePr>
          <p:nvPr>
            <p:extLst/>
          </p:nvPr>
        </p:nvGraphicFramePr>
        <p:xfrm>
          <a:off x="1991544" y="4023792"/>
          <a:ext cx="2338388" cy="341313"/>
        </p:xfrm>
        <a:graphic>
          <a:graphicData uri="http://schemas.openxmlformats.org/presentationml/2006/ole">
            <mc:AlternateContent xmlns:mc="http://schemas.openxmlformats.org/markup-compatibility/2006">
              <mc:Choice xmlns:v="urn:schemas-microsoft-com:vml" Requires="v">
                <p:oleObj spid="_x0000_s11274" name="Equation" r:id="rId7" imgW="1587240" imgH="228600" progId="Equation.3">
                  <p:embed/>
                </p:oleObj>
              </mc:Choice>
              <mc:Fallback>
                <p:oleObj name="Equation" r:id="rId7" imgW="1587240" imgH="228600" progId="Equation.3">
                  <p:embed/>
                  <p:pic>
                    <p:nvPicPr>
                      <p:cNvPr id="1331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1544" y="4023792"/>
                        <a:ext cx="2338388" cy="341313"/>
                      </a:xfrm>
                      <a:prstGeom prst="rect">
                        <a:avLst/>
                      </a:prstGeom>
                      <a:noFill/>
                      <a:ln>
                        <a:solidFill>
                          <a:schemeClr val="bg1"/>
                        </a:solidFill>
                      </a:ln>
                      <a:extLst/>
                    </p:spPr>
                  </p:pic>
                </p:oleObj>
              </mc:Fallback>
            </mc:AlternateContent>
          </a:graphicData>
        </a:graphic>
      </p:graphicFrame>
      <p:pic>
        <p:nvPicPr>
          <p:cNvPr id="8" name="Picture 13"/>
          <p:cNvPicPr>
            <a:picLocks noChangeAspect="1" noChangeArrowheads="1"/>
          </p:cNvPicPr>
          <p:nvPr/>
        </p:nvPicPr>
        <p:blipFill>
          <a:blip r:embed="rId9"/>
          <a:srcRect/>
          <a:stretch>
            <a:fillRect/>
          </a:stretch>
        </p:blipFill>
        <p:spPr bwMode="auto">
          <a:xfrm>
            <a:off x="4371948" y="2600302"/>
            <a:ext cx="6215074" cy="4214842"/>
          </a:xfrm>
          <a:prstGeom prst="rect">
            <a:avLst/>
          </a:prstGeom>
          <a:noFill/>
          <a:effectLst>
            <a:outerShdw dist="107763" dir="2700000" algn="ctr" rotWithShape="0">
              <a:srgbClr val="808080">
                <a:alpha val="50000"/>
              </a:srgbClr>
            </a:outerShdw>
          </a:effectLst>
        </p:spPr>
      </p:pic>
      <p:sp>
        <p:nvSpPr>
          <p:cNvPr id="9" name="Text Box 13"/>
          <p:cNvSpPr txBox="1">
            <a:spLocks noChangeArrowheads="1"/>
          </p:cNvSpPr>
          <p:nvPr/>
        </p:nvSpPr>
        <p:spPr bwMode="auto">
          <a:xfrm>
            <a:off x="1802048" y="5280739"/>
            <a:ext cx="2439739" cy="1015663"/>
          </a:xfrm>
          <a:prstGeom prst="rect">
            <a:avLst/>
          </a:prstGeom>
          <a:noFill/>
          <a:ln w="9525">
            <a:noFill/>
            <a:miter lim="800000"/>
            <a:headEnd/>
            <a:tailEnd/>
          </a:ln>
          <a:effectLst/>
        </p:spPr>
        <p:txBody>
          <a:bodyPr wrap="square">
            <a:spAutoFit/>
          </a:bodyPr>
          <a:lstStyle/>
          <a:p>
            <a:pPr eaLnBrk="1" hangingPunct="1">
              <a:spcBef>
                <a:spcPct val="50000"/>
              </a:spcBef>
            </a:pPr>
            <a:r>
              <a:rPr lang="en-US" sz="2000" dirty="0" err="1">
                <a:latin typeface="Times New Roman" pitchFamily="18" charset="0"/>
              </a:rPr>
              <a:t>Nilai</a:t>
            </a:r>
            <a:r>
              <a:rPr lang="en-US" sz="2000" dirty="0">
                <a:latin typeface="Times New Roman" pitchFamily="18" charset="0"/>
              </a:rPr>
              <a:t> </a:t>
            </a:r>
            <a:r>
              <a:rPr lang="en-US" sz="2000" dirty="0" err="1">
                <a:latin typeface="Times New Roman" pitchFamily="18" charset="0"/>
              </a:rPr>
              <a:t>ini</a:t>
            </a:r>
            <a:r>
              <a:rPr lang="en-US" sz="2000" dirty="0">
                <a:latin typeface="Times New Roman" pitchFamily="18" charset="0"/>
              </a:rPr>
              <a:t> </a:t>
            </a:r>
            <a:r>
              <a:rPr lang="en-US" sz="2000" dirty="0" err="1">
                <a:latin typeface="Times New Roman" pitchFamily="18" charset="0"/>
              </a:rPr>
              <a:t>biasanya</a:t>
            </a:r>
            <a:r>
              <a:rPr lang="en-US" sz="2000" dirty="0">
                <a:latin typeface="Times New Roman" pitchFamily="18" charset="0"/>
              </a:rPr>
              <a:t> </a:t>
            </a:r>
            <a:r>
              <a:rPr lang="en-US" sz="2000" dirty="0" err="1">
                <a:latin typeface="Times New Roman" pitchFamily="18" charset="0"/>
              </a:rPr>
              <a:t>sudah</a:t>
            </a:r>
            <a:r>
              <a:rPr lang="en-US" sz="2000" dirty="0">
                <a:latin typeface="Times New Roman" pitchFamily="18" charset="0"/>
              </a:rPr>
              <a:t> </a:t>
            </a:r>
            <a:r>
              <a:rPr lang="en-US" sz="2000" dirty="0" err="1">
                <a:latin typeface="Times New Roman" pitchFamily="18" charset="0"/>
              </a:rPr>
              <a:t>ada</a:t>
            </a:r>
            <a:r>
              <a:rPr lang="en-US" sz="2000" dirty="0">
                <a:latin typeface="Times New Roman" pitchFamily="18" charset="0"/>
              </a:rPr>
              <a:t> di data sheet</a:t>
            </a:r>
          </a:p>
        </p:txBody>
      </p:sp>
      <p:cxnSp>
        <p:nvCxnSpPr>
          <p:cNvPr id="4" name="Straight Arrow Connector 3"/>
          <p:cNvCxnSpPr/>
          <p:nvPr/>
        </p:nvCxnSpPr>
        <p:spPr>
          <a:xfrm flipH="1">
            <a:off x="2509838" y="4730406"/>
            <a:ext cx="273794" cy="550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991544" y="3789041"/>
            <a:ext cx="2380404" cy="8029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718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fade">
                                      <p:cBhvr>
                                        <p:cTn id="7" dur="1000"/>
                                        <p:tgtEl>
                                          <p:spTgt spid="13314"/>
                                        </p:tgtEl>
                                      </p:cBhvr>
                                    </p:animEffect>
                                    <p:anim calcmode="lin" valueType="num">
                                      <p:cBhvr>
                                        <p:cTn id="8" dur="1000" fill="hold"/>
                                        <p:tgtEl>
                                          <p:spTgt spid="13314"/>
                                        </p:tgtEl>
                                        <p:attrNameLst>
                                          <p:attrName>ppt_x</p:attrName>
                                        </p:attrNameLst>
                                      </p:cBhvr>
                                      <p:tavLst>
                                        <p:tav tm="0">
                                          <p:val>
                                            <p:strVal val="#ppt_x"/>
                                          </p:val>
                                        </p:tav>
                                        <p:tav tm="100000">
                                          <p:val>
                                            <p:strVal val="#ppt_x"/>
                                          </p:val>
                                        </p:tav>
                                      </p:tavLst>
                                    </p:anim>
                                    <p:anim calcmode="lin" valueType="num">
                                      <p:cBhvr>
                                        <p:cTn id="9"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315"/>
                                        </p:tgtEl>
                                        <p:attrNameLst>
                                          <p:attrName>style.visibility</p:attrName>
                                        </p:attrNameLst>
                                      </p:cBhvr>
                                      <p:to>
                                        <p:strVal val="visible"/>
                                      </p:to>
                                    </p:set>
                                    <p:animEffect transition="in" filter="fade">
                                      <p:cBhvr>
                                        <p:cTn id="19" dur="1000"/>
                                        <p:tgtEl>
                                          <p:spTgt spid="13315"/>
                                        </p:tgtEl>
                                      </p:cBhvr>
                                    </p:animEffect>
                                    <p:anim calcmode="lin" valueType="num">
                                      <p:cBhvr>
                                        <p:cTn id="20" dur="1000" fill="hold"/>
                                        <p:tgtEl>
                                          <p:spTgt spid="13315"/>
                                        </p:tgtEl>
                                        <p:attrNameLst>
                                          <p:attrName>ppt_x</p:attrName>
                                        </p:attrNameLst>
                                      </p:cBhvr>
                                      <p:tavLst>
                                        <p:tav tm="0">
                                          <p:val>
                                            <p:strVal val="#ppt_x"/>
                                          </p:val>
                                        </p:tav>
                                        <p:tav tm="100000">
                                          <p:val>
                                            <p:strVal val="#ppt_x"/>
                                          </p:val>
                                        </p:tav>
                                      </p:tavLst>
                                    </p:anim>
                                    <p:anim calcmode="lin" valueType="num">
                                      <p:cBhvr>
                                        <p:cTn id="21" dur="1000" fill="hold"/>
                                        <p:tgtEl>
                                          <p:spTgt spid="1331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3316"/>
                                        </p:tgtEl>
                                        <p:attrNameLst>
                                          <p:attrName>style.visibility</p:attrName>
                                        </p:attrNameLst>
                                      </p:cBhvr>
                                      <p:to>
                                        <p:strVal val="visible"/>
                                      </p:to>
                                    </p:set>
                                    <p:animEffect transition="in" filter="fade">
                                      <p:cBhvr>
                                        <p:cTn id="29" dur="1000"/>
                                        <p:tgtEl>
                                          <p:spTgt spid="13316"/>
                                        </p:tgtEl>
                                      </p:cBhvr>
                                    </p:animEffect>
                                    <p:anim calcmode="lin" valueType="num">
                                      <p:cBhvr>
                                        <p:cTn id="30" dur="1000" fill="hold"/>
                                        <p:tgtEl>
                                          <p:spTgt spid="13316"/>
                                        </p:tgtEl>
                                        <p:attrNameLst>
                                          <p:attrName>ppt_x</p:attrName>
                                        </p:attrNameLst>
                                      </p:cBhvr>
                                      <p:tavLst>
                                        <p:tav tm="0">
                                          <p:val>
                                            <p:strVal val="#ppt_x"/>
                                          </p:val>
                                        </p:tav>
                                        <p:tav tm="100000">
                                          <p:val>
                                            <p:strVal val="#ppt_x"/>
                                          </p:val>
                                        </p:tav>
                                      </p:tavLst>
                                    </p:anim>
                                    <p:anim calcmode="lin" valueType="num">
                                      <p:cBhvr>
                                        <p:cTn id="31" dur="1000" fill="hold"/>
                                        <p:tgtEl>
                                          <p:spTgt spid="1331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1000"/>
                                        <p:tgtEl>
                                          <p:spTgt spid="4"/>
                                        </p:tgtEl>
                                      </p:cBhvr>
                                    </p:animEffect>
                                    <p:anim calcmode="lin" valueType="num">
                                      <p:cBhvr>
                                        <p:cTn id="37" dur="1000" fill="hold"/>
                                        <p:tgtEl>
                                          <p:spTgt spid="4"/>
                                        </p:tgtEl>
                                        <p:attrNameLst>
                                          <p:attrName>ppt_x</p:attrName>
                                        </p:attrNameLst>
                                      </p:cBhvr>
                                      <p:tavLst>
                                        <p:tav tm="0">
                                          <p:val>
                                            <p:strVal val="#ppt_x"/>
                                          </p:val>
                                        </p:tav>
                                        <p:tav tm="100000">
                                          <p:val>
                                            <p:strVal val="#ppt_x"/>
                                          </p:val>
                                        </p:tav>
                                      </p:tavLst>
                                    </p:anim>
                                    <p:anim calcmode="lin" valueType="num">
                                      <p:cBhvr>
                                        <p:cTn id="38" dur="1000" fill="hold"/>
                                        <p:tgtEl>
                                          <p:spTgt spid="4"/>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a:blip r:embed="rId3"/>
          <a:srcRect/>
          <a:stretch>
            <a:fillRect/>
          </a:stretch>
        </p:blipFill>
        <p:spPr bwMode="auto">
          <a:xfrm>
            <a:off x="1524000" y="1844824"/>
            <a:ext cx="7028564" cy="5013176"/>
          </a:xfrm>
          <a:prstGeom prst="rect">
            <a:avLst/>
          </a:prstGeom>
          <a:noFill/>
          <a:effectLst>
            <a:outerShdw dist="107763" dir="2700000" algn="ctr" rotWithShape="0">
              <a:srgbClr val="808080">
                <a:alpha val="50000"/>
              </a:srgbClr>
            </a:outerShdw>
          </a:effectLst>
        </p:spPr>
      </p:pic>
      <p:grpSp>
        <p:nvGrpSpPr>
          <p:cNvPr id="6" name="Group 16"/>
          <p:cNvGrpSpPr>
            <a:grpSpLocks/>
          </p:cNvGrpSpPr>
          <p:nvPr/>
        </p:nvGrpSpPr>
        <p:grpSpPr bwMode="auto">
          <a:xfrm>
            <a:off x="6747774" y="1810744"/>
            <a:ext cx="3729608" cy="1785380"/>
            <a:chOff x="3168" y="576"/>
            <a:chExt cx="2304" cy="1296"/>
          </a:xfrm>
        </p:grpSpPr>
        <p:sp>
          <p:nvSpPr>
            <p:cNvPr id="7" name="Rectangle 14"/>
            <p:cNvSpPr>
              <a:spLocks noChangeArrowheads="1"/>
            </p:cNvSpPr>
            <p:nvPr/>
          </p:nvSpPr>
          <p:spPr bwMode="auto">
            <a:xfrm>
              <a:off x="3168" y="576"/>
              <a:ext cx="2304" cy="1296"/>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id-ID"/>
            </a:p>
          </p:txBody>
        </p:sp>
        <p:sp>
          <p:nvSpPr>
            <p:cNvPr id="8" name="Text Box 12"/>
            <p:cNvSpPr txBox="1">
              <a:spLocks noChangeArrowheads="1"/>
            </p:cNvSpPr>
            <p:nvPr/>
          </p:nvSpPr>
          <p:spPr bwMode="auto">
            <a:xfrm>
              <a:off x="3264" y="672"/>
              <a:ext cx="1920" cy="670"/>
            </a:xfrm>
            <a:prstGeom prst="rect">
              <a:avLst/>
            </a:prstGeom>
            <a:ln>
              <a:solidFill>
                <a:schemeClr val="bg1"/>
              </a:solidFill>
              <a:headEnd/>
              <a:tailEnd/>
            </a:ln>
          </p:spPr>
          <p:style>
            <a:lnRef idx="2">
              <a:schemeClr val="dk1"/>
            </a:lnRef>
            <a:fillRef idx="1">
              <a:schemeClr val="lt1"/>
            </a:fillRef>
            <a:effectRef idx="0">
              <a:schemeClr val="dk1"/>
            </a:effectRef>
            <a:fontRef idx="minor">
              <a:schemeClr val="dk1"/>
            </a:fontRef>
          </p:style>
          <p:txBody>
            <a:bodyPr>
              <a:spAutoFit/>
            </a:bodyPr>
            <a:lstStyle/>
            <a:p>
              <a:r>
                <a:rPr lang="en-US" altLang="en-US" b="1" dirty="0" err="1">
                  <a:latin typeface="Times New Roman" pitchFamily="18" charset="0"/>
                </a:rPr>
                <a:t>Dampak</a:t>
              </a:r>
              <a:r>
                <a:rPr lang="en-US" altLang="en-US" b="1" dirty="0">
                  <a:latin typeface="Times New Roman" pitchFamily="18" charset="0"/>
                </a:rPr>
                <a:t> v</a:t>
              </a:r>
              <a:r>
                <a:rPr lang="id-ID" altLang="en-US" b="1" dirty="0">
                  <a:latin typeface="Times New Roman" pitchFamily="18" charset="0"/>
                </a:rPr>
                <a:t>ariasi </a:t>
              </a:r>
              <a:r>
                <a:rPr lang="en-US" altLang="en-US" b="1" dirty="0" err="1">
                  <a:latin typeface="Times New Roman" pitchFamily="18" charset="0"/>
                </a:rPr>
                <a:t>h</a:t>
              </a:r>
              <a:r>
                <a:rPr lang="en-US" altLang="en-US" b="1" baseline="-25000" dirty="0" err="1">
                  <a:latin typeface="Times New Roman" pitchFamily="18" charset="0"/>
                </a:rPr>
                <a:t>fe</a:t>
              </a:r>
              <a:r>
                <a:rPr lang="en-US" altLang="en-US" b="1" dirty="0">
                  <a:latin typeface="Times New Roman" pitchFamily="18" charset="0"/>
                </a:rPr>
                <a:t> (</a:t>
              </a:r>
              <a:r>
                <a:rPr lang="id-ID" altLang="en-US" b="1" dirty="0">
                  <a:latin typeface="Times New Roman" pitchFamily="18" charset="0"/>
                </a:rPr>
                <a:t>atau</a:t>
              </a:r>
              <a:r>
                <a:rPr lang="en-US" altLang="en-US" b="1" dirty="0">
                  <a:latin typeface="Times New Roman" pitchFamily="18" charset="0"/>
                </a:rPr>
                <a:t> </a:t>
              </a:r>
              <a:r>
                <a:rPr lang="en-US" altLang="en-US" b="1" dirty="0">
                  <a:latin typeface="Times New Roman" pitchFamily="18" charset="0"/>
                  <a:sym typeface="Symbol" pitchFamily="18" charset="2"/>
                </a:rPr>
                <a:t></a:t>
              </a:r>
              <a:r>
                <a:rPr lang="en-US" altLang="en-US" b="1" dirty="0">
                  <a:latin typeface="Times New Roman" pitchFamily="18" charset="0"/>
                </a:rPr>
                <a:t>) </a:t>
              </a:r>
              <a:r>
                <a:rPr lang="id-ID" altLang="en-US" b="1" dirty="0">
                  <a:latin typeface="Times New Roman" pitchFamily="18" charset="0"/>
                </a:rPr>
                <a:t>sebuah</a:t>
              </a:r>
              <a:r>
                <a:rPr lang="en-US" altLang="en-US" b="1" dirty="0">
                  <a:latin typeface="Times New Roman" pitchFamily="18" charset="0"/>
                </a:rPr>
                <a:t> transistor</a:t>
              </a:r>
              <a:r>
                <a:rPr lang="id-ID" altLang="en-US" b="1" dirty="0">
                  <a:latin typeface="Times New Roman" pitchFamily="18" charset="0"/>
                </a:rPr>
                <a:t> terhadap</a:t>
              </a:r>
              <a:r>
                <a:rPr lang="en-US" altLang="en-US" b="1" dirty="0">
                  <a:latin typeface="Times New Roman" pitchFamily="18" charset="0"/>
                </a:rPr>
                <a:t> </a:t>
              </a:r>
              <a:r>
                <a:rPr lang="en-US" altLang="en-US" b="1" dirty="0" err="1">
                  <a:latin typeface="Times New Roman" pitchFamily="18" charset="0"/>
                </a:rPr>
                <a:t>fre</a:t>
              </a:r>
              <a:r>
                <a:rPr lang="id-ID" altLang="en-US" b="1" dirty="0">
                  <a:latin typeface="Times New Roman" pitchFamily="18" charset="0"/>
                </a:rPr>
                <a:t>k</a:t>
              </a:r>
              <a:r>
                <a:rPr lang="en-US" altLang="en-US" b="1" dirty="0" err="1">
                  <a:latin typeface="Times New Roman" pitchFamily="18" charset="0"/>
                </a:rPr>
                <a:t>uensi</a:t>
              </a:r>
              <a:r>
                <a:rPr lang="id-ID" altLang="en-US" b="1" dirty="0">
                  <a:latin typeface="Times New Roman" pitchFamily="18" charset="0"/>
                </a:rPr>
                <a:t> kerja penguat :</a:t>
              </a:r>
              <a:endParaRPr lang="en-US" altLang="en-US" b="1" dirty="0">
                <a:solidFill>
                  <a:schemeClr val="accent1"/>
                </a:solidFill>
                <a:latin typeface="Times New Roman" pitchFamily="18" charset="0"/>
              </a:endParaRPr>
            </a:p>
          </p:txBody>
        </p:sp>
        <p:graphicFrame>
          <p:nvGraphicFramePr>
            <p:cNvPr id="9" name="Object 13"/>
            <p:cNvGraphicFramePr>
              <a:graphicFrameLocks noChangeAspect="1"/>
            </p:cNvGraphicFramePr>
            <p:nvPr>
              <p:extLst/>
            </p:nvPr>
          </p:nvGraphicFramePr>
          <p:xfrm>
            <a:off x="3457" y="1330"/>
            <a:ext cx="1512" cy="420"/>
          </p:xfrm>
          <a:graphic>
            <a:graphicData uri="http://schemas.openxmlformats.org/presentationml/2006/ole">
              <mc:AlternateContent xmlns:mc="http://schemas.openxmlformats.org/markup-compatibility/2006">
                <mc:Choice xmlns:v="urn:schemas-microsoft-com:vml" Requires="v">
                  <p:oleObj spid="_x0000_s12292" name="Equation" r:id="rId4" imgW="1562040" imgH="431640" progId="Equation.3">
                    <p:embed/>
                  </p:oleObj>
                </mc:Choice>
                <mc:Fallback>
                  <p:oleObj name="Equation" r:id="rId4" imgW="1562040" imgH="431640" progId="Equation.3">
                    <p:embed/>
                    <p:pic>
                      <p:nvPicPr>
                        <p:cNvPr id="9" name="Object 13"/>
                        <p:cNvPicPr>
                          <a:picLocks noChangeAspect="1" noChangeArrowheads="1"/>
                        </p:cNvPicPr>
                        <p:nvPr/>
                      </p:nvPicPr>
                      <p:blipFill>
                        <a:blip r:embed="rId5"/>
                        <a:srcRect/>
                        <a:stretch>
                          <a:fillRect/>
                        </a:stretch>
                      </p:blipFill>
                      <p:spPr bwMode="auto">
                        <a:xfrm>
                          <a:off x="3457" y="1330"/>
                          <a:ext cx="1512"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11" name="Text Box 12"/>
          <p:cNvSpPr txBox="1">
            <a:spLocks noChangeArrowheads="1"/>
          </p:cNvSpPr>
          <p:nvPr/>
        </p:nvSpPr>
        <p:spPr bwMode="auto">
          <a:xfrm>
            <a:off x="7392145" y="4365104"/>
            <a:ext cx="2952328" cy="523220"/>
          </a:xfrm>
          <a:prstGeom prst="rect">
            <a:avLst/>
          </a:prstGeom>
          <a:solidFill>
            <a:schemeClr val="bg1"/>
          </a:solidFill>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r>
              <a:rPr lang="en-US" altLang="en-US" sz="1400" b="1" dirty="0" err="1">
                <a:solidFill>
                  <a:schemeClr val="tx1"/>
                </a:solidFill>
                <a:latin typeface="Times New Roman" pitchFamily="18" charset="0"/>
              </a:rPr>
              <a:t>dapat</a:t>
            </a:r>
            <a:r>
              <a:rPr lang="en-US" altLang="en-US" sz="1400" b="1" dirty="0">
                <a:solidFill>
                  <a:schemeClr val="tx1"/>
                </a:solidFill>
                <a:latin typeface="Times New Roman" pitchFamily="18" charset="0"/>
              </a:rPr>
              <a:t> </a:t>
            </a:r>
            <a:r>
              <a:rPr lang="en-US" altLang="en-US" sz="1400" b="1" dirty="0" err="1">
                <a:solidFill>
                  <a:schemeClr val="tx1"/>
                </a:solidFill>
                <a:latin typeface="Times New Roman" pitchFamily="18" charset="0"/>
              </a:rPr>
              <a:t>mempersempit</a:t>
            </a:r>
            <a:r>
              <a:rPr lang="en-US" altLang="en-US" sz="1400" b="1" dirty="0">
                <a:solidFill>
                  <a:schemeClr val="tx1"/>
                </a:solidFill>
                <a:latin typeface="Times New Roman" pitchFamily="18" charset="0"/>
              </a:rPr>
              <a:t> </a:t>
            </a:r>
            <a:r>
              <a:rPr lang="en-US" altLang="en-US" sz="1400" b="1" dirty="0" err="1">
                <a:solidFill>
                  <a:schemeClr val="tx1"/>
                </a:solidFill>
                <a:latin typeface="Times New Roman" pitchFamily="18" charset="0"/>
              </a:rPr>
              <a:t>atau</a:t>
            </a:r>
            <a:r>
              <a:rPr lang="en-US" altLang="en-US" sz="1400" b="1" dirty="0">
                <a:solidFill>
                  <a:schemeClr val="tx1"/>
                </a:solidFill>
                <a:latin typeface="Times New Roman" pitchFamily="18" charset="0"/>
              </a:rPr>
              <a:t> </a:t>
            </a:r>
            <a:r>
              <a:rPr lang="en-US" altLang="en-US" sz="1400" b="1" dirty="0" err="1">
                <a:solidFill>
                  <a:schemeClr val="tx1"/>
                </a:solidFill>
                <a:latin typeface="Times New Roman" pitchFamily="18" charset="0"/>
              </a:rPr>
              <a:t>memperlebar</a:t>
            </a:r>
            <a:r>
              <a:rPr lang="en-US" altLang="en-US" sz="1400" b="1" dirty="0">
                <a:solidFill>
                  <a:schemeClr val="tx1"/>
                </a:solidFill>
                <a:latin typeface="Times New Roman" pitchFamily="18" charset="0"/>
              </a:rPr>
              <a:t> bandwidth </a:t>
            </a:r>
            <a:r>
              <a:rPr lang="en-US" altLang="en-US" sz="1400" b="1" dirty="0" err="1">
                <a:solidFill>
                  <a:schemeClr val="tx1"/>
                </a:solidFill>
                <a:latin typeface="Times New Roman" pitchFamily="18" charset="0"/>
              </a:rPr>
              <a:t>penguat</a:t>
            </a:r>
            <a:r>
              <a:rPr lang="en-US" altLang="en-US" sz="1400" b="1" dirty="0">
                <a:solidFill>
                  <a:schemeClr val="tx1"/>
                </a:solidFill>
                <a:latin typeface="Times New Roman" pitchFamily="18" charset="0"/>
              </a:rPr>
              <a:t> </a:t>
            </a:r>
          </a:p>
        </p:txBody>
      </p:sp>
      <p:sp>
        <p:nvSpPr>
          <p:cNvPr id="2" name="Down Arrow 1"/>
          <p:cNvSpPr/>
          <p:nvPr/>
        </p:nvSpPr>
        <p:spPr>
          <a:xfrm>
            <a:off x="8392852" y="3773926"/>
            <a:ext cx="439452" cy="51917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1919536" y="655043"/>
            <a:ext cx="8229600" cy="1066800"/>
          </a:xfrm>
        </p:spPr>
        <p:txBody>
          <a:bodyPr/>
          <a:lstStyle/>
          <a:p>
            <a:r>
              <a:rPr lang="id-ID" altLang="en-US" b="1" dirty="0">
                <a:solidFill>
                  <a:srgbClr val="CC3300"/>
                </a:solidFill>
                <a:effectLst>
                  <a:outerShdw blurRad="38100" dist="38100" dir="2700000" algn="tl">
                    <a:srgbClr val="C0C0C0"/>
                  </a:outerShdw>
                </a:effectLst>
                <a:latin typeface="Times" pitchFamily="18" charset="0"/>
              </a:rPr>
              <a:t>Efek Nilai </a:t>
            </a:r>
            <a:r>
              <a:rPr lang="en-US" altLang="en-US" b="1" i="1" dirty="0" err="1">
                <a:solidFill>
                  <a:schemeClr val="tx1"/>
                </a:solidFill>
                <a:effectLst>
                  <a:outerShdw blurRad="38100" dist="38100" dir="2700000" algn="tl">
                    <a:srgbClr val="C0C0C0"/>
                  </a:outerShdw>
                </a:effectLst>
                <a:latin typeface="Times" pitchFamily="18" charset="0"/>
              </a:rPr>
              <a:t>h</a:t>
            </a:r>
            <a:r>
              <a:rPr lang="en-US" altLang="en-US" b="1" i="1" baseline="-25000" dirty="0" err="1">
                <a:solidFill>
                  <a:schemeClr val="tx1"/>
                </a:solidFill>
                <a:effectLst>
                  <a:outerShdw blurRad="38100" dist="38100" dir="2700000" algn="tl">
                    <a:srgbClr val="C0C0C0"/>
                  </a:outerShdw>
                </a:effectLst>
                <a:latin typeface="Times" pitchFamily="18" charset="0"/>
              </a:rPr>
              <a:t>fe</a:t>
            </a:r>
            <a:r>
              <a:rPr lang="en-US" altLang="en-US" b="1" i="1" dirty="0">
                <a:solidFill>
                  <a:schemeClr val="tx1"/>
                </a:solidFill>
                <a:effectLst>
                  <a:outerShdw blurRad="38100" dist="38100" dir="2700000" algn="tl">
                    <a:srgbClr val="C0C0C0"/>
                  </a:outerShdw>
                </a:effectLst>
                <a:latin typeface="Times" pitchFamily="18" charset="0"/>
              </a:rPr>
              <a:t> (</a:t>
            </a:r>
            <a:r>
              <a:rPr lang="id-ID" altLang="en-US" b="1" dirty="0">
                <a:solidFill>
                  <a:schemeClr val="tx1"/>
                </a:solidFill>
                <a:effectLst>
                  <a:outerShdw blurRad="38100" dist="38100" dir="2700000" algn="tl">
                    <a:srgbClr val="C0C0C0"/>
                  </a:outerShdw>
                </a:effectLst>
                <a:latin typeface="Times" pitchFamily="18" charset="0"/>
              </a:rPr>
              <a:t>atau</a:t>
            </a:r>
            <a:r>
              <a:rPr lang="en-US" altLang="en-US" b="1" i="1" dirty="0">
                <a:solidFill>
                  <a:schemeClr val="tx1"/>
                </a:solidFill>
                <a:effectLst>
                  <a:outerShdw blurRad="38100" dist="38100" dir="2700000" algn="tl">
                    <a:srgbClr val="C0C0C0"/>
                  </a:outerShdw>
                </a:effectLst>
                <a:latin typeface="Times" pitchFamily="18" charset="0"/>
              </a:rPr>
              <a:t> </a:t>
            </a:r>
            <a:r>
              <a:rPr lang="en-US" altLang="en-US" b="1" i="1" dirty="0">
                <a:solidFill>
                  <a:schemeClr val="tx1"/>
                </a:solidFill>
                <a:effectLst>
                  <a:outerShdw blurRad="38100" dist="38100" dir="2700000" algn="tl">
                    <a:srgbClr val="C0C0C0"/>
                  </a:outerShdw>
                </a:effectLst>
                <a:latin typeface="Times" pitchFamily="18" charset="0"/>
                <a:sym typeface="Symbol" pitchFamily="18" charset="2"/>
              </a:rPr>
              <a:t></a:t>
            </a:r>
            <a:r>
              <a:rPr lang="en-US" altLang="en-US" b="1" i="1" dirty="0">
                <a:solidFill>
                  <a:schemeClr val="tx1"/>
                </a:solidFill>
                <a:effectLst>
                  <a:outerShdw blurRad="38100" dist="38100" dir="2700000" algn="tl">
                    <a:srgbClr val="C0C0C0"/>
                  </a:outerShdw>
                </a:effectLst>
                <a:latin typeface="Times" pitchFamily="18" charset="0"/>
              </a:rPr>
              <a:t>) </a:t>
            </a:r>
            <a:endParaRPr lang="en-US" dirty="0"/>
          </a:p>
        </p:txBody>
      </p:sp>
    </p:spTree>
    <p:extLst>
      <p:ext uri="{BB962C8B-B14F-4D97-AF65-F5344CB8AC3E}">
        <p14:creationId xmlns:p14="http://schemas.microsoft.com/office/powerpoint/2010/main" val="50931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890378"/>
            <a:ext cx="7776864" cy="341784"/>
          </a:xfrm>
        </p:spPr>
        <p:txBody>
          <a:bodyPr>
            <a:noAutofit/>
          </a:bodyPr>
          <a:lstStyle/>
          <a:p>
            <a:r>
              <a:rPr lang="en-US" sz="2800" b="1" dirty="0">
                <a:effectLst>
                  <a:outerShdw blurRad="38100" dist="38100" dir="2700000" algn="tl">
                    <a:srgbClr val="000000">
                      <a:alpha val="43137"/>
                    </a:srgbClr>
                  </a:outerShdw>
                </a:effectLst>
              </a:rPr>
              <a:t>HW</a:t>
            </a:r>
          </a:p>
        </p:txBody>
      </p:sp>
      <p:sp>
        <p:nvSpPr>
          <p:cNvPr id="3" name="Content Placeholder 2"/>
          <p:cNvSpPr>
            <a:spLocks noGrp="1"/>
          </p:cNvSpPr>
          <p:nvPr>
            <p:ph idx="1"/>
          </p:nvPr>
        </p:nvSpPr>
        <p:spPr>
          <a:xfrm>
            <a:off x="1847528" y="1628800"/>
            <a:ext cx="6480720" cy="504056"/>
          </a:xfrm>
        </p:spPr>
        <p:txBody>
          <a:bodyPr>
            <a:normAutofit/>
          </a:bodyPr>
          <a:lstStyle/>
          <a:p>
            <a:pPr marL="109728" indent="0">
              <a:buNone/>
            </a:pPr>
            <a:r>
              <a:rPr lang="en-US" sz="1800" dirty="0"/>
              <a:t>1. </a:t>
            </a:r>
            <a:r>
              <a:rPr lang="en-US" sz="1800" dirty="0" err="1"/>
              <a:t>Perhatikan</a:t>
            </a:r>
            <a:r>
              <a:rPr lang="en-US" sz="1800" dirty="0"/>
              <a:t> </a:t>
            </a:r>
            <a:r>
              <a:rPr lang="en-US" sz="1800" dirty="0" err="1"/>
              <a:t>rangkaian</a:t>
            </a:r>
            <a:r>
              <a:rPr lang="en-US" sz="1800" dirty="0"/>
              <a:t> </a:t>
            </a:r>
            <a:r>
              <a:rPr lang="en-US" sz="1800" dirty="0" err="1"/>
              <a:t>penguat</a:t>
            </a:r>
            <a:r>
              <a:rPr lang="en-US" sz="1800" dirty="0"/>
              <a:t> BJT </a:t>
            </a:r>
            <a:r>
              <a:rPr lang="en-US" sz="1800" dirty="0" err="1"/>
              <a:t>berikut</a:t>
            </a:r>
            <a:r>
              <a:rPr lang="en-US" sz="1800" dirty="0"/>
              <a:t> </a:t>
            </a:r>
            <a:r>
              <a:rPr lang="en-US" sz="1800" dirty="0" err="1"/>
              <a:t>ini</a:t>
            </a:r>
            <a:r>
              <a:rPr lang="en-US" sz="1800" dirty="0"/>
              <a:t> :</a:t>
            </a:r>
          </a:p>
        </p:txBody>
      </p:sp>
      <p:pic>
        <p:nvPicPr>
          <p:cNvPr id="4" name="Picture 3"/>
          <p:cNvPicPr>
            <a:picLocks noChangeAspect="1"/>
          </p:cNvPicPr>
          <p:nvPr/>
        </p:nvPicPr>
        <p:blipFill>
          <a:blip r:embed="rId2"/>
          <a:stretch>
            <a:fillRect/>
          </a:stretch>
        </p:blipFill>
        <p:spPr>
          <a:xfrm>
            <a:off x="1559496" y="2177113"/>
            <a:ext cx="4896545" cy="3254670"/>
          </a:xfrm>
          <a:prstGeom prst="rect">
            <a:avLst/>
          </a:prstGeom>
        </p:spPr>
      </p:pic>
      <p:pic>
        <p:nvPicPr>
          <p:cNvPr id="5" name="Picture 4"/>
          <p:cNvPicPr>
            <a:picLocks noChangeAspect="1"/>
          </p:cNvPicPr>
          <p:nvPr/>
        </p:nvPicPr>
        <p:blipFill>
          <a:blip r:embed="rId3"/>
          <a:stretch>
            <a:fillRect/>
          </a:stretch>
        </p:blipFill>
        <p:spPr>
          <a:xfrm>
            <a:off x="6337643" y="2794021"/>
            <a:ext cx="4063996" cy="1211043"/>
          </a:xfrm>
          <a:prstGeom prst="rect">
            <a:avLst/>
          </a:prstGeom>
        </p:spPr>
      </p:pic>
      <p:sp>
        <p:nvSpPr>
          <p:cNvPr id="6" name="Content Placeholder 2"/>
          <p:cNvSpPr txBox="1">
            <a:spLocks/>
          </p:cNvSpPr>
          <p:nvPr/>
        </p:nvSpPr>
        <p:spPr>
          <a:xfrm>
            <a:off x="6278294" y="2347724"/>
            <a:ext cx="3672408" cy="446297"/>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None/>
            </a:pPr>
            <a:r>
              <a:rPr lang="en-US" sz="1600" dirty="0" err="1"/>
              <a:t>Jika</a:t>
            </a:r>
            <a:r>
              <a:rPr lang="en-US" sz="1600" dirty="0"/>
              <a:t> </a:t>
            </a:r>
            <a:r>
              <a:rPr lang="en-US" sz="1600" dirty="0" err="1"/>
              <a:t>diketahui</a:t>
            </a:r>
            <a:r>
              <a:rPr lang="en-US" sz="1600" dirty="0"/>
              <a:t> parameter </a:t>
            </a:r>
            <a:r>
              <a:rPr lang="en-US" sz="1600" dirty="0" err="1"/>
              <a:t>penguat</a:t>
            </a:r>
            <a:r>
              <a:rPr lang="en-US" sz="1600" dirty="0"/>
              <a:t> </a:t>
            </a:r>
            <a:r>
              <a:rPr lang="en-US" sz="1600" dirty="0" err="1"/>
              <a:t>sbb</a:t>
            </a:r>
            <a:r>
              <a:rPr lang="en-US" sz="1600" dirty="0"/>
              <a:t>:</a:t>
            </a:r>
          </a:p>
        </p:txBody>
      </p:sp>
      <p:sp>
        <p:nvSpPr>
          <p:cNvPr id="7" name="Content Placeholder 2"/>
          <p:cNvSpPr txBox="1">
            <a:spLocks/>
          </p:cNvSpPr>
          <p:nvPr/>
        </p:nvSpPr>
        <p:spPr>
          <a:xfrm>
            <a:off x="6297183" y="4221088"/>
            <a:ext cx="4104456" cy="1659290"/>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None/>
            </a:pPr>
            <a:r>
              <a:rPr lang="en-US" sz="1600" dirty="0" err="1"/>
              <a:t>Tentukan</a:t>
            </a:r>
            <a:r>
              <a:rPr lang="en-US" sz="1600" dirty="0"/>
              <a:t> </a:t>
            </a:r>
            <a:r>
              <a:rPr lang="en-US" sz="1600" dirty="0" err="1"/>
              <a:t>respon</a:t>
            </a:r>
            <a:r>
              <a:rPr lang="en-US" sz="1600" dirty="0"/>
              <a:t> </a:t>
            </a:r>
            <a:r>
              <a:rPr lang="en-US" sz="1600" dirty="0" err="1"/>
              <a:t>penguatan</a:t>
            </a:r>
            <a:r>
              <a:rPr lang="en-US" sz="1600" dirty="0"/>
              <a:t> </a:t>
            </a:r>
            <a:r>
              <a:rPr lang="en-US" sz="1600" dirty="0" err="1"/>
              <a:t>pada</a:t>
            </a:r>
            <a:r>
              <a:rPr lang="en-US" sz="1600" b="1" dirty="0"/>
              <a:t>  </a:t>
            </a:r>
            <a:r>
              <a:rPr lang="en-US" sz="1600" dirty="0" err="1"/>
              <a:t>frekuensi</a:t>
            </a:r>
            <a:r>
              <a:rPr lang="en-US" sz="1600" dirty="0"/>
              <a:t> </a:t>
            </a:r>
            <a:r>
              <a:rPr lang="en-US" sz="1600" dirty="0" err="1"/>
              <a:t>bawah</a:t>
            </a:r>
            <a:r>
              <a:rPr lang="en-US" sz="1600" dirty="0"/>
              <a:t> di </a:t>
            </a:r>
            <a:r>
              <a:rPr lang="en-US" sz="1600" dirty="0" err="1"/>
              <a:t>bagian</a:t>
            </a:r>
            <a:r>
              <a:rPr lang="en-US" sz="1600" dirty="0"/>
              <a:t> :</a:t>
            </a:r>
          </a:p>
          <a:p>
            <a:pPr marL="452628" indent="-342900">
              <a:buFont typeface="Georgia"/>
              <a:buAutoNum type="alphaLcPeriod"/>
            </a:pPr>
            <a:r>
              <a:rPr lang="en-US" sz="1600" dirty="0" err="1"/>
              <a:t>sisi</a:t>
            </a:r>
            <a:r>
              <a:rPr lang="en-US" sz="1600" dirty="0"/>
              <a:t> input-</a:t>
            </a:r>
            <a:r>
              <a:rPr lang="en-US" sz="1600" dirty="0" err="1"/>
              <a:t>nya</a:t>
            </a:r>
            <a:r>
              <a:rPr lang="en-US" sz="1600" dirty="0"/>
              <a:t> !</a:t>
            </a:r>
          </a:p>
          <a:p>
            <a:pPr marL="452628" indent="-342900">
              <a:buFont typeface="Georgia"/>
              <a:buAutoNum type="alphaLcPeriod"/>
            </a:pPr>
            <a:r>
              <a:rPr lang="en-US" sz="1600" dirty="0" err="1"/>
              <a:t>sisi</a:t>
            </a:r>
            <a:r>
              <a:rPr lang="en-US" sz="1600" dirty="0"/>
              <a:t> output-</a:t>
            </a:r>
            <a:r>
              <a:rPr lang="en-US" sz="1600" dirty="0" err="1"/>
              <a:t>nya</a:t>
            </a:r>
            <a:r>
              <a:rPr lang="en-US" sz="1600" dirty="0"/>
              <a:t> !</a:t>
            </a:r>
          </a:p>
          <a:p>
            <a:pPr marL="452628" indent="-342900">
              <a:buFont typeface="Georgia"/>
              <a:buAutoNum type="alphaLcPeriod"/>
            </a:pPr>
            <a:r>
              <a:rPr lang="en-US" sz="1600" dirty="0" err="1"/>
              <a:t>sisi</a:t>
            </a:r>
            <a:r>
              <a:rPr lang="en-US" sz="1600" dirty="0"/>
              <a:t> bypass-</a:t>
            </a:r>
            <a:r>
              <a:rPr lang="en-US" sz="1600" dirty="0" err="1"/>
              <a:t>nya</a:t>
            </a:r>
            <a:r>
              <a:rPr lang="en-US" sz="1600" dirty="0"/>
              <a:t> !</a:t>
            </a:r>
          </a:p>
        </p:txBody>
      </p:sp>
    </p:spTree>
    <p:extLst>
      <p:ext uri="{BB962C8B-B14F-4D97-AF65-F5344CB8AC3E}">
        <p14:creationId xmlns:p14="http://schemas.microsoft.com/office/powerpoint/2010/main" val="12862210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36712"/>
            <a:ext cx="8229600" cy="1066800"/>
          </a:xfrm>
        </p:spPr>
        <p:txBody>
          <a:bodyPr>
            <a:normAutofit/>
          </a:bodyPr>
          <a:lstStyle/>
          <a:p>
            <a:r>
              <a:rPr lang="en-US" sz="2400" dirty="0"/>
              <a:t>2. </a:t>
            </a:r>
            <a:r>
              <a:rPr lang="en-US" sz="2400" dirty="0" err="1"/>
              <a:t>Simulasikan</a:t>
            </a:r>
            <a:r>
              <a:rPr lang="en-US" sz="2400" dirty="0"/>
              <a:t> </a:t>
            </a:r>
            <a:r>
              <a:rPr lang="en-US" sz="2400" dirty="0" err="1"/>
              <a:t>rangkaian</a:t>
            </a:r>
            <a:r>
              <a:rPr lang="en-US" sz="2400" dirty="0"/>
              <a:t> </a:t>
            </a:r>
            <a:r>
              <a:rPr lang="en-US" sz="2400" dirty="0" err="1"/>
              <a:t>penguat</a:t>
            </a:r>
            <a:r>
              <a:rPr lang="en-US" sz="2400" dirty="0"/>
              <a:t> BJT </a:t>
            </a:r>
            <a:r>
              <a:rPr lang="en-US" sz="2400" dirty="0" err="1"/>
              <a:t>berikut</a:t>
            </a:r>
            <a:r>
              <a:rPr lang="en-US" sz="2400" dirty="0"/>
              <a:t> </a:t>
            </a:r>
            <a:r>
              <a:rPr lang="en-US" sz="2400" dirty="0" err="1"/>
              <a:t>ini</a:t>
            </a:r>
            <a:r>
              <a:rPr lang="en-US" sz="2400" dirty="0"/>
              <a:t> </a:t>
            </a:r>
            <a:r>
              <a:rPr lang="en-US" sz="2400" dirty="0" err="1"/>
              <a:t>dan</a:t>
            </a:r>
            <a:r>
              <a:rPr lang="en-US" sz="2400" dirty="0"/>
              <a:t> </a:t>
            </a:r>
            <a:r>
              <a:rPr lang="en-US" sz="2400" dirty="0" err="1"/>
              <a:t>gambarkan</a:t>
            </a:r>
            <a:r>
              <a:rPr lang="en-US" sz="2400" dirty="0"/>
              <a:t> </a:t>
            </a:r>
            <a:r>
              <a:rPr lang="en-US" sz="2400" dirty="0" err="1"/>
              <a:t>kurva</a:t>
            </a:r>
            <a:r>
              <a:rPr lang="en-US" sz="2400" dirty="0"/>
              <a:t> </a:t>
            </a:r>
            <a:r>
              <a:rPr lang="en-US" sz="2400" dirty="0" err="1"/>
              <a:t>tanggapan</a:t>
            </a:r>
            <a:r>
              <a:rPr lang="en-US" sz="2400" dirty="0"/>
              <a:t> </a:t>
            </a:r>
            <a:r>
              <a:rPr lang="en-US" sz="2400" dirty="0" err="1"/>
              <a:t>frekuensinya</a:t>
            </a:r>
            <a:endParaRPr lang="en-US" sz="2400" dirty="0"/>
          </a:p>
        </p:txBody>
      </p:sp>
      <p:pic>
        <p:nvPicPr>
          <p:cNvPr id="6" name="Content Placeholder 5"/>
          <p:cNvPicPr>
            <a:picLocks noGrp="1" noChangeAspect="1"/>
          </p:cNvPicPr>
          <p:nvPr>
            <p:ph idx="1"/>
          </p:nvPr>
        </p:nvPicPr>
        <p:blipFill>
          <a:blip r:embed="rId2"/>
          <a:stretch>
            <a:fillRect/>
          </a:stretch>
        </p:blipFill>
        <p:spPr>
          <a:xfrm>
            <a:off x="3018294" y="2249488"/>
            <a:ext cx="6155412" cy="4324350"/>
          </a:xfrm>
          <a:prstGeom prst="rect">
            <a:avLst/>
          </a:prstGeom>
        </p:spPr>
      </p:pic>
    </p:spTree>
    <p:extLst>
      <p:ext uri="{BB962C8B-B14F-4D97-AF65-F5344CB8AC3E}">
        <p14:creationId xmlns:p14="http://schemas.microsoft.com/office/powerpoint/2010/main" val="3311049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B310-956B-4986-B649-6C84FE0800FB}"/>
              </a:ext>
            </a:extLst>
          </p:cNvPr>
          <p:cNvSpPr>
            <a:spLocks noGrp="1"/>
          </p:cNvSpPr>
          <p:nvPr>
            <p:ph type="title"/>
          </p:nvPr>
        </p:nvSpPr>
        <p:spPr>
          <a:xfrm>
            <a:off x="1086643" y="2286000"/>
            <a:ext cx="10018713" cy="1752599"/>
          </a:xfrm>
        </p:spPr>
        <p:txBody>
          <a:bodyPr>
            <a:normAutofit/>
          </a:bodyPr>
          <a:lstStyle/>
          <a:p>
            <a:r>
              <a:rPr lang="en-IN" sz="6600" dirty="0">
                <a:solidFill>
                  <a:schemeClr val="accent4"/>
                </a:solidFill>
              </a:rPr>
              <a:t>Thank You</a:t>
            </a:r>
          </a:p>
        </p:txBody>
      </p:sp>
    </p:spTree>
    <p:extLst>
      <p:ext uri="{BB962C8B-B14F-4D97-AF65-F5344CB8AC3E}">
        <p14:creationId xmlns:p14="http://schemas.microsoft.com/office/powerpoint/2010/main" val="4091008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202</TotalTime>
  <Words>1443</Words>
  <Application>Microsoft Office PowerPoint</Application>
  <PresentationFormat>Widescreen</PresentationFormat>
  <Paragraphs>204</Paragraphs>
  <Slides>45</Slides>
  <Notes>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8" baseType="lpstr">
      <vt:lpstr>맑은 고딕</vt:lpstr>
      <vt:lpstr>Arial</vt:lpstr>
      <vt:lpstr>Arial Narrow</vt:lpstr>
      <vt:lpstr>Calibri</vt:lpstr>
      <vt:lpstr>Calibri Light</vt:lpstr>
      <vt:lpstr>Cambria Math</vt:lpstr>
      <vt:lpstr>Georgia</vt:lpstr>
      <vt:lpstr>Symbol</vt:lpstr>
      <vt:lpstr>Times</vt:lpstr>
      <vt:lpstr>Times New Roman</vt:lpstr>
      <vt:lpstr>Wingdings</vt:lpstr>
      <vt:lpstr>Office Theme</vt:lpstr>
      <vt:lpstr>Equation</vt:lpstr>
      <vt:lpstr>Two stage transistor amplifiers</vt:lpstr>
      <vt:lpstr>Two-stage transistor amplifiers</vt:lpstr>
      <vt:lpstr>PowerPoint Presentation</vt:lpstr>
      <vt:lpstr>Amplifier Consideration</vt:lpstr>
      <vt:lpstr>CE Amplifier </vt:lpstr>
      <vt:lpstr>RC Coupling Amplifier </vt:lpstr>
      <vt:lpstr>Construction of a Two-stage RC Coupled Amplifier </vt:lpstr>
      <vt:lpstr>PowerPoint Presentation</vt:lpstr>
      <vt:lpstr>Frequency Response of RC Coupled Amplifier </vt:lpstr>
      <vt:lpstr>At Low frequencies (i.e. below 50 Hz) </vt:lpstr>
      <vt:lpstr>At High frequencies (i.e. above 20 KHz) </vt:lpstr>
      <vt:lpstr>At Mid-frequencies (i.e. 50 Hz to 20 KHz) </vt:lpstr>
      <vt:lpstr>Advantages of RC Coupled Amplifier </vt:lpstr>
      <vt:lpstr>Disadvantages of RC Coupled Amplifier </vt:lpstr>
      <vt:lpstr>Applications of RC Coupled Amplifier </vt:lpstr>
      <vt:lpstr> Transformer Coupled Amplifier </vt:lpstr>
      <vt:lpstr>Construction of Transformer Coupled Amplifier </vt:lpstr>
      <vt:lpstr>PowerPoint Presentation</vt:lpstr>
      <vt:lpstr> Frequency Response of Transformer Coupled Amplifier </vt:lpstr>
      <vt:lpstr>  Advantages of Transformer Coupled Amplifier </vt:lpstr>
      <vt:lpstr> Disadvantages of Transformer Coupled Amplifier</vt:lpstr>
      <vt:lpstr>Applications </vt:lpstr>
      <vt:lpstr>Direct Coupled Amplifier</vt:lpstr>
      <vt:lpstr>   </vt:lpstr>
      <vt:lpstr>   </vt:lpstr>
      <vt:lpstr>PowerPoint Presentation</vt:lpstr>
      <vt:lpstr>RESPON FREKUENSI PENGUAT TRANSISTOR </vt:lpstr>
      <vt:lpstr>Outlines</vt:lpstr>
      <vt:lpstr>Penguatan terhadap frek</vt:lpstr>
      <vt:lpstr>PowerPoint Presentation</vt:lpstr>
      <vt:lpstr>Penguatan Vs Frekuensi</vt:lpstr>
      <vt:lpstr>PowerPoint Presentation</vt:lpstr>
      <vt:lpstr>PowerPoint Presentation</vt:lpstr>
      <vt:lpstr>Pengaruh Kapasitor pada Penguat </vt:lpstr>
      <vt:lpstr>PowerPoint Presentation</vt:lpstr>
      <vt:lpstr>Respon penguatan di sisi frekuensi bawah  </vt:lpstr>
      <vt:lpstr>PowerPoint Presentation</vt:lpstr>
      <vt:lpstr>PowerPoint Presentation</vt:lpstr>
      <vt:lpstr>IV. Respon penguatan di sisi fekuensi atas</vt:lpstr>
      <vt:lpstr>PowerPoint Presentation</vt:lpstr>
      <vt:lpstr>PowerPoint Presentation</vt:lpstr>
      <vt:lpstr>Efek Nilai hfe (atau ) </vt:lpstr>
      <vt:lpstr>HW</vt:lpstr>
      <vt:lpstr>2. Simulasikan rangkaian penguat BJT berikut ini dan gambarkan kurva tanggapan frekuensinya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Uncertainty Estimation in Medical Image Deep Learning w/ Dr. Brattain</dc:title>
  <dc:creator>pds</dc:creator>
  <cp:lastModifiedBy>Gde</cp:lastModifiedBy>
  <cp:revision>24</cp:revision>
  <dcterms:created xsi:type="dcterms:W3CDTF">2024-07-11T17:06:45Z</dcterms:created>
  <dcterms:modified xsi:type="dcterms:W3CDTF">2025-04-22T03:28:01Z</dcterms:modified>
</cp:coreProperties>
</file>