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4" r:id="rId2"/>
    <p:sldId id="297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72042" autoAdjust="0"/>
  </p:normalViewPr>
  <p:slideViewPr>
    <p:cSldViewPr snapToGrid="0">
      <p:cViewPr varScale="1">
        <p:scale>
          <a:sx n="59" d="100"/>
          <a:sy n="59" d="100"/>
        </p:scale>
        <p:origin x="1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6677" y="2721459"/>
            <a:ext cx="9144000" cy="151032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chemeClr val="bg1">
                    <a:lumMod val="85000"/>
                  </a:schemeClr>
                </a:solidFill>
              </a:rPr>
              <a:t>9.4_Transistors</a:t>
            </a:r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endParaRPr lang="en-US" dirty="0"/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2893786" y="3309896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5838" y="2063750"/>
            <a:ext cx="10515600" cy="1325563"/>
          </a:xfrm>
        </p:spPr>
        <p:txBody>
          <a:bodyPr/>
          <a:lstStyle/>
          <a:p>
            <a:r>
              <a:rPr lang="en-US" dirty="0"/>
              <a:t>What is a </a:t>
            </a:r>
            <a:r>
              <a:rPr lang="en-US" dirty="0"/>
              <a:t>FET?</a:t>
            </a:r>
            <a:endParaRPr lang="en-US" dirty="0"/>
          </a:p>
        </p:txBody>
      </p:sp>
      <p:pic>
        <p:nvPicPr>
          <p:cNvPr id="3" name="Picture 4" descr="Transisto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133299"/>
            <a:ext cx="6159500" cy="34874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55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1200" y="428604"/>
            <a:ext cx="8229600" cy="1418484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TRANSISTORS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285860"/>
            <a:ext cx="8147248" cy="2647196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0"/>
            <a:r>
              <a:rPr lang="en-IN" dirty="0" smtClean="0"/>
              <a:t>A </a:t>
            </a:r>
            <a:r>
              <a:rPr lang="en-IN" b="1" dirty="0" smtClean="0"/>
              <a:t>transistor</a:t>
            </a:r>
            <a:r>
              <a:rPr lang="en-IN" dirty="0" smtClean="0"/>
              <a:t> is a semiconductor device used to amplify or switch electronic signals and electrical power. It is composed of semiconductor material usually with at least three terminals for connection to an external circuit.</a:t>
            </a:r>
          </a:p>
          <a:p>
            <a:pPr>
              <a:buNone/>
            </a:pPr>
            <a:endParaRPr lang="en-IN" dirty="0" smtClean="0"/>
          </a:p>
        </p:txBody>
      </p:sp>
      <p:pic>
        <p:nvPicPr>
          <p:cNvPr id="1026" name="Picture 2" descr="C:\Users\hp\Desktop\trn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47929" y="3645024"/>
            <a:ext cx="4059675" cy="28529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861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712" y="980728"/>
            <a:ext cx="8507288" cy="1356760"/>
          </a:xfrm>
        </p:spPr>
        <p:txBody>
          <a:bodyPr>
            <a:normAutofit fontScale="90000"/>
          </a:bodyPr>
          <a:lstStyle/>
          <a:p>
            <a:pPr algn="ctr" fontAlgn="t"/>
            <a:r>
              <a:rPr lang="en-IN" dirty="0" smtClean="0"/>
              <a:t/>
            </a:r>
            <a:br>
              <a:rPr lang="en-IN" dirty="0" smtClean="0"/>
            </a:br>
            <a:r>
              <a:rPr lang="en-IN" sz="6000" b="1" dirty="0"/>
              <a:t>The three different transistor configurations are:</a:t>
            </a:r>
            <a:endParaRPr lang="en-IN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552" y="2780928"/>
            <a:ext cx="8229600" cy="4389120"/>
          </a:xfrm>
        </p:spPr>
        <p:txBody>
          <a:bodyPr/>
          <a:lstStyle/>
          <a:p>
            <a:pPr algn="ctr">
              <a:buNone/>
            </a:pPr>
            <a:endParaRPr lang="en-US" sz="4800" dirty="0"/>
          </a:p>
          <a:p>
            <a:r>
              <a:rPr lang="en-US" sz="4800" dirty="0"/>
              <a:t>Common Base (CB)</a:t>
            </a:r>
          </a:p>
          <a:p>
            <a:r>
              <a:rPr lang="en-US" sz="4800" dirty="0"/>
              <a:t>Common Emitter(CE)</a:t>
            </a:r>
          </a:p>
          <a:p>
            <a:r>
              <a:rPr lang="en-US" sz="4800" dirty="0"/>
              <a:t>Common Collector(CC)</a:t>
            </a:r>
          </a:p>
          <a:p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97887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923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Common Base(CB):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790680"/>
            <a:ext cx="8229600" cy="1854344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>   </a:t>
            </a:r>
            <a:r>
              <a:rPr lang="en-IN" sz="3200" dirty="0"/>
              <a:t>This transistor configuration provides a low input impedance while offering a high output impedance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9DA353-9167-4643-930C-F46E96A40F6A}"/>
              </a:ext>
            </a:extLst>
          </p:cNvPr>
          <p:cNvSpPr txBox="1">
            <a:spLocks/>
          </p:cNvSpPr>
          <p:nvPr/>
        </p:nvSpPr>
        <p:spPr>
          <a:xfrm>
            <a:off x="1992923" y="4659923"/>
            <a:ext cx="82296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43010" name="AutoShape 2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3012" name="AutoShape 4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3014" name="AutoShape 6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3016" name="AutoShape 8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3018" name="AutoShape 10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3020" name="AutoShape 12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3022" name="AutoShape 14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3024" name="AutoShape 16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3026" name="AutoShape 18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3028" name="AutoShape 20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3030" name="AutoShape 22" descr="Common base transistor configuration showing the base connection common to both input and output circuit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43031" name="Picture 2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9537" y="3861048"/>
            <a:ext cx="3326163" cy="299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32" name="Picture 24" descr="C:\Users\hp\Desktop\C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07969" y="4005064"/>
            <a:ext cx="4497427" cy="24208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5794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35480"/>
            <a:ext cx="8229600" cy="2069584"/>
          </a:xfrm>
        </p:spPr>
        <p:txBody>
          <a:bodyPr>
            <a:normAutofit/>
          </a:bodyPr>
          <a:lstStyle/>
          <a:p>
            <a:pPr lvl="0"/>
            <a:r>
              <a:rPr lang="en-IN" dirty="0" smtClean="0"/>
              <a:t>This transistor configuration has the collector terminal of the transistor common between the input and the output terminals . This offers high input impedance, low output impedance, voltage gain less than one and a large current gain</a:t>
            </a:r>
          </a:p>
          <a:p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Collector(CC):</a:t>
            </a:r>
            <a:endParaRPr lang="en-IN" dirty="0"/>
          </a:p>
        </p:txBody>
      </p:sp>
      <p:pic>
        <p:nvPicPr>
          <p:cNvPr id="41986" name="Picture 2" descr="common collector (cc) configuration of transisto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5521" y="3933056"/>
            <a:ext cx="4598341" cy="2564904"/>
          </a:xfrm>
          <a:prstGeom prst="rect">
            <a:avLst/>
          </a:prstGeom>
          <a:noFill/>
        </p:spPr>
      </p:pic>
      <p:pic>
        <p:nvPicPr>
          <p:cNvPr id="41988" name="Picture 4" descr="input characteristics for cc configuration of transist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16081" y="4221088"/>
            <a:ext cx="3634839" cy="19442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90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35480"/>
            <a:ext cx="8291264" cy="2141592"/>
          </a:xfrm>
        </p:spPr>
        <p:txBody>
          <a:bodyPr/>
          <a:lstStyle/>
          <a:p>
            <a:r>
              <a:rPr lang="en-IN" dirty="0" smtClean="0"/>
              <a:t>In this configuration, the emitter terminal is common between the input and the output terminals . This configuration offers medium input impedance, medium output impedance, medium current gain and voltage gain.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351584" y="980729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>
                    <a:lumMod val="75000"/>
                  </a:schemeClr>
                </a:solidFill>
              </a:rPr>
              <a:t>Common Emitter(CE):</a:t>
            </a:r>
            <a:endParaRPr lang="en-IN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2207568" y="6219401"/>
            <a:ext cx="4968552" cy="39237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64" name="Picture 4" descr="https://www.electrical4u.com/images/march16/146651532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39816" y="3717033"/>
            <a:ext cx="3528392" cy="720080"/>
          </a:xfrm>
          <a:prstGeom prst="rect">
            <a:avLst/>
          </a:prstGeom>
          <a:noFill/>
        </p:spPr>
      </p:pic>
      <p:pic>
        <p:nvPicPr>
          <p:cNvPr id="40966" name="Picture 6" descr="input characteristics for ce configuration of transistor of transist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03512" y="4695824"/>
            <a:ext cx="4152900" cy="2162176"/>
          </a:xfrm>
          <a:prstGeom prst="rect">
            <a:avLst/>
          </a:prstGeom>
          <a:noFill/>
        </p:spPr>
      </p:pic>
      <p:pic>
        <p:nvPicPr>
          <p:cNvPr id="40968" name="Picture 8" descr="output characteristics for ce configuration of transisto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19528" y="4593396"/>
            <a:ext cx="4248472" cy="22646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371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6532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FET(Field Effect Transistor):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844824"/>
            <a:ext cx="8507288" cy="4536504"/>
          </a:xfrm>
        </p:spPr>
        <p:txBody>
          <a:bodyPr>
            <a:noAutofit/>
          </a:bodyPr>
          <a:lstStyle/>
          <a:p>
            <a:pPr>
              <a:buNone/>
            </a:pPr>
            <a:endParaRPr lang="en-IN" sz="3600" dirty="0"/>
          </a:p>
          <a:p>
            <a:r>
              <a:rPr lang="en-IN" sz="3600" dirty="0"/>
              <a:t> </a:t>
            </a:r>
            <a:r>
              <a:rPr lang="en-IN" sz="3600" b="1" dirty="0"/>
              <a:t>FET</a:t>
            </a:r>
            <a:r>
              <a:rPr lang="en-IN" sz="3600" dirty="0"/>
              <a:t> is a transistor, where output current is controlled by electric field. </a:t>
            </a:r>
            <a:r>
              <a:rPr lang="en-IN" sz="3600" b="1" dirty="0"/>
              <a:t>FET </a:t>
            </a:r>
            <a:r>
              <a:rPr lang="en-IN" sz="3600" dirty="0"/>
              <a:t>sometimes, is called </a:t>
            </a:r>
            <a:r>
              <a:rPr lang="en-IN" sz="3600" dirty="0" err="1"/>
              <a:t>uni</a:t>
            </a:r>
            <a:r>
              <a:rPr lang="en-IN" sz="3600" dirty="0"/>
              <a:t>-polar transistor as it involves single carrier type operation. The basic types of </a:t>
            </a:r>
            <a:r>
              <a:rPr lang="en-IN" sz="3600" b="1" dirty="0"/>
              <a:t>FET </a:t>
            </a:r>
            <a:r>
              <a:rPr lang="en-IN" sz="3600" dirty="0"/>
              <a:t>transistor is completely different from BJT transistor basics.</a:t>
            </a:r>
          </a:p>
          <a:p>
            <a:pPr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13275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07568" y="908720"/>
            <a:ext cx="5760640" cy="86409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FET Conventional symbol types: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8914" name="Picture 2" descr="https://upload.wikimedia.org/wikipedia/commons/thumb/6/60/FET_Symbols.svg/1280px-FET_Symbols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9536" y="2708921"/>
            <a:ext cx="8568952" cy="36752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072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5817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Three  terminals of FET: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28736"/>
            <a:ext cx="8229600" cy="489586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IN" dirty="0" smtClean="0"/>
          </a:p>
          <a:p>
            <a:pPr algn="ctr">
              <a:buNone/>
            </a:pPr>
            <a:endParaRPr lang="en-IN" dirty="0" smtClean="0"/>
          </a:p>
          <a:p>
            <a:r>
              <a:rPr lang="en-IN" dirty="0" smtClean="0"/>
              <a:t>Source (S):   which the carriers enter the channel. Conventionally, current entering the channel at S is designated by I</a:t>
            </a:r>
            <a:r>
              <a:rPr lang="en-IN" baseline="-25000" dirty="0" smtClean="0"/>
              <a:t>S</a:t>
            </a:r>
            <a:r>
              <a:rPr lang="en-IN" dirty="0" smtClean="0"/>
              <a:t>.</a:t>
            </a:r>
          </a:p>
          <a:p>
            <a:r>
              <a:rPr lang="en-IN" dirty="0" smtClean="0"/>
              <a:t>Drain (D):   which the carriers leave the channel. Conventionally, current entering the channel at D is designated by I</a:t>
            </a:r>
            <a:r>
              <a:rPr lang="en-IN" baseline="-25000" dirty="0" smtClean="0"/>
              <a:t>D</a:t>
            </a:r>
            <a:r>
              <a:rPr lang="en-IN" dirty="0" smtClean="0"/>
              <a:t>. Drain-to-source voltage is V</a:t>
            </a:r>
            <a:r>
              <a:rPr lang="en-IN" baseline="-25000" dirty="0" smtClean="0"/>
              <a:t>DS</a:t>
            </a:r>
            <a:r>
              <a:rPr lang="en-IN" dirty="0" smtClean="0"/>
              <a:t>.</a:t>
            </a:r>
          </a:p>
          <a:p>
            <a:r>
              <a:rPr lang="en-IN" dirty="0" smtClean="0"/>
              <a:t>Gate (G):     The terminal that modulates the channel conductivity. By applying voltage to G, one can control I</a:t>
            </a:r>
            <a:r>
              <a:rPr lang="en-IN" baseline="-25000" dirty="0" smtClean="0"/>
              <a:t>D</a:t>
            </a:r>
            <a:r>
              <a:rPr lang="en-IN" dirty="0" smtClean="0"/>
              <a:t>.</a:t>
            </a:r>
          </a:p>
          <a:p>
            <a:pPr>
              <a:buNone/>
            </a:pPr>
            <a:endParaRPr lang="en-IN" dirty="0" smtClean="0"/>
          </a:p>
          <a:p>
            <a:pPr lvl="0">
              <a:buNone/>
            </a:pPr>
            <a:endParaRPr lang="en-IN" dirty="0" smtClean="0"/>
          </a:p>
          <a:p>
            <a:pPr>
              <a:buNone/>
            </a:pPr>
            <a:r>
              <a:rPr lang="en-US" dirty="0" smtClean="0"/>
              <a:t> 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076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AutoShape 4" descr="FET type: insulated gate, junction, depletion, enhancement, p-channel, n-channel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70" name="AutoShape 6" descr="FET type: insulated gate, junction, depletion, enhancement, p-channel, n-channel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72" name="AutoShape 8" descr="FET type: insulated gate, junction, depletion, enhancement, p-channel, n-channel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74" name="AutoShape 10" descr="FET type: insulated gate, junction, depletion, enhancement, p-channel, n-channel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76" name="AutoShape 12" descr="FET type: insulated gate, junction, depletion, enhancement, p-channel, n-channel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6880" name="Picture 16" descr="Gate&#10;Drain&#10;Source&#10;SYMBOLS&#10;n-channel JFET&#10;Gate&#10;Drain&#10;Source&#10;n-channel JFET&#10;Offset-gate symbol&#10;Gate&#10;Drain&#10;Source&#10;p-channel J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5680" y="1484784"/>
            <a:ext cx="6076950" cy="45624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204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79608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UJT (</a:t>
            </a:r>
            <a:r>
              <a:rPr lang="en-IN" sz="5400" b="1" dirty="0" err="1"/>
              <a:t>uni</a:t>
            </a:r>
            <a:r>
              <a:rPr lang="en-IN" sz="5400" b="1" dirty="0"/>
              <a:t> junction transistor )</a:t>
            </a:r>
            <a:r>
              <a:rPr lang="en-US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9536" y="2348880"/>
            <a:ext cx="8219256" cy="5096608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lvl="0"/>
            <a:r>
              <a:rPr lang="en-IN" sz="3200" dirty="0"/>
              <a:t>A </a:t>
            </a:r>
            <a:r>
              <a:rPr lang="en-IN" sz="3200" b="1" dirty="0" err="1"/>
              <a:t>unijunction</a:t>
            </a:r>
            <a:r>
              <a:rPr lang="en-IN" sz="3200" b="1" dirty="0"/>
              <a:t> transistor</a:t>
            </a:r>
            <a:r>
              <a:rPr lang="en-IN" sz="3200" dirty="0"/>
              <a:t> (</a:t>
            </a:r>
            <a:r>
              <a:rPr lang="en-IN" sz="3200" b="1" dirty="0"/>
              <a:t>UJT</a:t>
            </a:r>
            <a:r>
              <a:rPr lang="en-IN" sz="3200" dirty="0"/>
              <a:t>) is a three-lead electronic semiconductor device with only one junction that acts exclusively as an electrically controlled switch. The </a:t>
            </a:r>
            <a:r>
              <a:rPr lang="en-IN" sz="3200" b="1" dirty="0"/>
              <a:t>UJT</a:t>
            </a:r>
            <a:r>
              <a:rPr lang="en-IN" sz="3200" dirty="0"/>
              <a:t> is not used as a linear amplifier.</a:t>
            </a:r>
            <a:endParaRPr lang="en-US" sz="2900" dirty="0"/>
          </a:p>
          <a:p>
            <a:pPr algn="just"/>
            <a:endParaRPr lang="en-US" sz="2900" dirty="0"/>
          </a:p>
          <a:p>
            <a:endParaRPr lang="en-IN" sz="2900" dirty="0"/>
          </a:p>
        </p:txBody>
      </p:sp>
    </p:spTree>
    <p:extLst>
      <p:ext uri="{BB962C8B-B14F-4D97-AF65-F5344CB8AC3E}">
        <p14:creationId xmlns:p14="http://schemas.microsoft.com/office/powerpoint/2010/main" val="99824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81200" y="1268760"/>
            <a:ext cx="8229600" cy="1368152"/>
          </a:xfrm>
        </p:spPr>
        <p:txBody>
          <a:bodyPr>
            <a:normAutofit/>
          </a:bodyPr>
          <a:lstStyle/>
          <a:p>
            <a:r>
              <a:rPr lang="en-US" dirty="0" smtClean="0"/>
              <a:t>UJT Symbol  and Construction</a:t>
            </a:r>
            <a:endParaRPr lang="en-IN" dirty="0"/>
          </a:p>
        </p:txBody>
      </p:sp>
      <p:pic>
        <p:nvPicPr>
          <p:cNvPr id="34818" name="Picture 2" descr="https://www.electronics-tutorials.ws/wp-content/uploads/2014/03/power30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2132856"/>
            <a:ext cx="8864683" cy="37444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4567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10800000" flipV="1">
            <a:off x="1919536" y="1124744"/>
            <a:ext cx="8229600" cy="57180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 The time </a:t>
            </a:r>
            <a:r>
              <a:rPr lang="en-US" dirty="0" err="1"/>
              <a:t>peroid</a:t>
            </a:r>
            <a:r>
              <a:rPr lang="en-US" dirty="0"/>
              <a:t> is:</a:t>
            </a:r>
            <a:endParaRPr lang="en-IN" dirty="0"/>
          </a:p>
          <a:p>
            <a:endParaRPr lang="en-IN" dirty="0"/>
          </a:p>
        </p:txBody>
      </p:sp>
      <p:pic>
        <p:nvPicPr>
          <p:cNvPr id="33794" name="Picture 2" descr="ujt oscillator perio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5560" y="1628800"/>
            <a:ext cx="7190118" cy="1152128"/>
          </a:xfrm>
          <a:prstGeom prst="rect">
            <a:avLst/>
          </a:prstGeom>
          <a:noFill/>
        </p:spPr>
      </p:pic>
      <p:pic>
        <p:nvPicPr>
          <p:cNvPr id="33795" name="Picture 3" descr="ujt timing resist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1544" y="3672976"/>
            <a:ext cx="5256584" cy="3185024"/>
          </a:xfrm>
          <a:prstGeom prst="rect">
            <a:avLst/>
          </a:prstGeom>
          <a:noFill/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775520" y="2924944"/>
            <a:ext cx="7797552" cy="72008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 </a:t>
            </a:r>
            <a:r>
              <a:rPr lang="en-IN" sz="3100" dirty="0">
                <a:solidFill>
                  <a:schemeClr val="bg2">
                    <a:lumMod val="10000"/>
                  </a:schemeClr>
                </a:solidFill>
              </a:rPr>
              <a:t>The value of the timing resistor, R</a:t>
            </a:r>
            <a:r>
              <a:rPr lang="en-IN" sz="3100" baseline="-25000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en-IN" sz="3100" dirty="0">
                <a:solidFill>
                  <a:schemeClr val="bg2">
                    <a:lumMod val="10000"/>
                  </a:schemeClr>
                </a:solidFill>
              </a:rPr>
              <a:t> is calculated as:</a:t>
            </a:r>
            <a:endParaRPr lang="en-IN" sz="31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231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1010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Op-AMP(Operational Amplifier)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35480"/>
            <a:ext cx="8229600" cy="1997576"/>
          </a:xfrm>
        </p:spPr>
        <p:txBody>
          <a:bodyPr>
            <a:normAutofit/>
          </a:bodyPr>
          <a:lstStyle/>
          <a:p>
            <a:r>
              <a:rPr lang="en-IN" dirty="0" smtClean="0"/>
              <a:t>An </a:t>
            </a:r>
            <a:r>
              <a:rPr lang="en-IN" b="1" dirty="0" smtClean="0"/>
              <a:t>operational amplifier</a:t>
            </a:r>
            <a:r>
              <a:rPr lang="en-IN" dirty="0" smtClean="0"/>
              <a:t> (often </a:t>
            </a:r>
            <a:r>
              <a:rPr lang="en-IN" b="1" dirty="0" smtClean="0"/>
              <a:t>op</a:t>
            </a:r>
            <a:r>
              <a:rPr lang="en-IN" dirty="0" smtClean="0"/>
              <a:t>-</a:t>
            </a:r>
            <a:r>
              <a:rPr lang="en-IN" b="1" dirty="0" smtClean="0"/>
              <a:t>amp</a:t>
            </a:r>
            <a:r>
              <a:rPr lang="en-IN" dirty="0" smtClean="0"/>
              <a:t> or </a:t>
            </a:r>
            <a:r>
              <a:rPr lang="en-IN" b="1" dirty="0" err="1" smtClean="0"/>
              <a:t>opamp</a:t>
            </a:r>
            <a:r>
              <a:rPr lang="en-IN" dirty="0" smtClean="0"/>
              <a:t>) is a DC-coupled high-gain electronic voltage </a:t>
            </a:r>
            <a:r>
              <a:rPr lang="en-IN" b="1" dirty="0" smtClean="0"/>
              <a:t>amplifier</a:t>
            </a:r>
            <a:r>
              <a:rPr lang="en-IN" dirty="0" smtClean="0"/>
              <a:t> with a differential input and, usually, a single-ended output.</a:t>
            </a:r>
            <a:endParaRPr lang="en-IN" dirty="0"/>
          </a:p>
        </p:txBody>
      </p:sp>
      <p:pic>
        <p:nvPicPr>
          <p:cNvPr id="32770" name="Picture 2" descr="Image result for op-a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5840" y="3886932"/>
            <a:ext cx="3672408" cy="29710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430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628800"/>
            <a:ext cx="8568952" cy="3456384"/>
          </a:xfrm>
        </p:spPr>
        <p:txBody>
          <a:bodyPr>
            <a:normAutofit/>
          </a:bodyPr>
          <a:lstStyle/>
          <a:p>
            <a:r>
              <a:rPr lang="en-IN" b="1" dirty="0" smtClean="0"/>
              <a:t>Op Amps</a:t>
            </a:r>
            <a:r>
              <a:rPr lang="en-IN" dirty="0" smtClean="0"/>
              <a:t> and </a:t>
            </a:r>
            <a:r>
              <a:rPr lang="en-IN" b="1" dirty="0" smtClean="0"/>
              <a:t>Op Amp</a:t>
            </a:r>
            <a:r>
              <a:rPr lang="en-IN" dirty="0" smtClean="0"/>
              <a:t> Circuits. ... </a:t>
            </a:r>
            <a:r>
              <a:rPr lang="en-IN" b="1" dirty="0" smtClean="0"/>
              <a:t>Op amps</a:t>
            </a:r>
            <a:r>
              <a:rPr lang="en-IN" dirty="0" smtClean="0"/>
              <a:t> are used in a wide variety of </a:t>
            </a:r>
            <a:r>
              <a:rPr lang="en-IN" b="1" dirty="0" smtClean="0"/>
              <a:t>applications</a:t>
            </a:r>
            <a:r>
              <a:rPr lang="en-IN" dirty="0" smtClean="0"/>
              <a:t> in electronics. Some of the more common </a:t>
            </a:r>
            <a:r>
              <a:rPr lang="en-IN" b="1" dirty="0" smtClean="0"/>
              <a:t>applications</a:t>
            </a:r>
            <a:r>
              <a:rPr lang="en-IN" dirty="0" smtClean="0"/>
              <a:t> are: as a voltage follower, selective inversion circuit, a current-to-voltage converter, active rectifier, integrator, a whole wide variety of filters, and a voltage comparator</a:t>
            </a:r>
          </a:p>
          <a:p>
            <a:r>
              <a:rPr lang="en-IN" dirty="0" smtClean="0"/>
              <a:t>The </a:t>
            </a:r>
            <a:r>
              <a:rPr lang="en-IN" b="1" dirty="0" smtClean="0"/>
              <a:t>Voltage Gain</a:t>
            </a:r>
            <a:r>
              <a:rPr lang="en-IN" dirty="0" smtClean="0"/>
              <a:t> (A</a:t>
            </a:r>
            <a:r>
              <a:rPr lang="en-IN" baseline="-25000" dirty="0" smtClean="0"/>
              <a:t>V</a:t>
            </a:r>
            <a:r>
              <a:rPr lang="en-IN" dirty="0" smtClean="0"/>
              <a:t>) of the operational amplifier can be found using the following formula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991545" y="620689"/>
            <a:ext cx="57451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>
                    <a:lumMod val="75000"/>
                  </a:schemeClr>
                </a:solidFill>
              </a:rPr>
              <a:t>Applications of op-AMP:</a:t>
            </a:r>
            <a:endParaRPr lang="en-IN" sz="44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1746" name="Picture 2" descr="op-amp voltage gai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31704" y="5157192"/>
            <a:ext cx="5595366" cy="14401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77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743712"/>
          </a:xfrm>
        </p:spPr>
        <p:txBody>
          <a:bodyPr>
            <a:normAutofit/>
          </a:bodyPr>
          <a:lstStyle/>
          <a:p>
            <a:r>
              <a:rPr lang="en-US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28670"/>
            <a:ext cx="8229600" cy="307639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Operational Amplifiers Bandwidth:</a:t>
            </a:r>
          </a:p>
          <a:p>
            <a:endParaRPr lang="en-US" sz="2400" b="1" dirty="0"/>
          </a:p>
          <a:p>
            <a:r>
              <a:rPr lang="en-IN" sz="2400" dirty="0"/>
              <a:t>The operational amplifiers bandwidth is the frequency range over which the voltage gain of the amplifier is above </a:t>
            </a:r>
            <a:r>
              <a:rPr lang="en-IN" sz="2400" b="1" dirty="0"/>
              <a:t>70.7%</a:t>
            </a:r>
            <a:r>
              <a:rPr lang="en-IN" sz="2400" dirty="0"/>
              <a:t> or </a:t>
            </a:r>
            <a:r>
              <a:rPr lang="en-IN" sz="2400" b="1" dirty="0"/>
              <a:t>-3dB</a:t>
            </a:r>
            <a:r>
              <a:rPr lang="en-IN" sz="2400" dirty="0"/>
              <a:t> (where 0dB is the maximum) of its maximum output value as shown below.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/>
            </a:r>
            <a:br>
              <a:rPr lang="en-IN" sz="2400" dirty="0"/>
            </a:br>
            <a:endParaRPr lang="en-US" sz="2400" dirty="0"/>
          </a:p>
        </p:txBody>
      </p:sp>
      <p:pic>
        <p:nvPicPr>
          <p:cNvPr id="30722" name="Picture 2" descr="op-amp frequency response curv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7688" y="2887116"/>
            <a:ext cx="5256584" cy="3706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743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63552" y="1268760"/>
            <a:ext cx="8229600" cy="5817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Block diagram of op-amp:</a:t>
            </a:r>
            <a:endParaRPr lang="en-IN" dirty="0"/>
          </a:p>
        </p:txBody>
      </p:sp>
      <p:pic>
        <p:nvPicPr>
          <p:cNvPr id="6" name="Picture 5" descr="BLOCK DIAGRAM OF OP_AMP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560" y="2060848"/>
            <a:ext cx="7704856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4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1775520" y="3284985"/>
            <a:ext cx="8568952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4400" dirty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Input stage </a:t>
            </a:r>
            <a:endParaRPr lang="en-US" sz="4400" dirty="0">
              <a:latin typeface="Arial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4400" dirty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Mid stage</a:t>
            </a:r>
            <a:endParaRPr lang="en-US" sz="4400" dirty="0">
              <a:latin typeface="Arial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4400" dirty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Level shifter</a:t>
            </a:r>
            <a:endParaRPr lang="en-US" sz="4400" dirty="0">
              <a:latin typeface="Arial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4400" dirty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Output stage</a:t>
            </a:r>
            <a:endParaRPr lang="en-US" sz="4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63552" y="1268760"/>
            <a:ext cx="77048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Block diagram consists of 4 stages:</a:t>
            </a:r>
            <a:endParaRPr lang="en-IN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0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91544" y="1124744"/>
            <a:ext cx="8147248" cy="4661872"/>
          </a:xfrm>
        </p:spPr>
        <p:txBody>
          <a:bodyPr>
            <a:normAutofit fontScale="85000" lnSpcReduction="20000"/>
          </a:bodyPr>
          <a:lstStyle/>
          <a:p>
            <a:r>
              <a:rPr lang="en-US" b="1" u="sng" dirty="0" smtClean="0"/>
              <a:t>Input stage: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It is having dual input and balanced output and used to provide voltage gain to an Op-Amp and it decides input resistance.</a:t>
            </a:r>
            <a:endParaRPr lang="en-IN" dirty="0" smtClean="0"/>
          </a:p>
          <a:p>
            <a:r>
              <a:rPr lang="en-US" b="1" u="sng" dirty="0" smtClean="0"/>
              <a:t>Mid stage: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It is having dual input and unbalanced output. It provides additional voltage gain to the input signal.</a:t>
            </a:r>
            <a:endParaRPr lang="en-IN" dirty="0" smtClean="0"/>
          </a:p>
          <a:p>
            <a:r>
              <a:rPr lang="en-US" b="1" u="sng" dirty="0" smtClean="0"/>
              <a:t>Level shifter: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In this emitter coupled logic circuit is used so that it provides the dc level to zero voltage level with respect to ground.</a:t>
            </a:r>
            <a:endParaRPr lang="en-IN" dirty="0" smtClean="0"/>
          </a:p>
          <a:p>
            <a:r>
              <a:rPr lang="en-US" b="1" u="sng" dirty="0" smtClean="0"/>
              <a:t>Output stage: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In this complimentary push pull circuit is used so that it provides low output resistance.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260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7758138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Inverting amplifier: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19536" y="1628800"/>
            <a:ext cx="8147248" cy="216024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smtClean="0"/>
              <a:t>Inverting Operational Amplifier</a:t>
            </a:r>
            <a:r>
              <a:rPr lang="en-IN" dirty="0" smtClean="0"/>
              <a:t>. ... Negative Feedback is the process of “feeding back” a fraction of the output signal back to the input, but to make the feedback negative, we must feed it back to the negative or “</a:t>
            </a:r>
            <a:r>
              <a:rPr lang="en-IN" b="1" dirty="0" smtClean="0"/>
              <a:t>inverting</a:t>
            </a:r>
            <a:r>
              <a:rPr lang="en-IN" dirty="0" smtClean="0"/>
              <a:t> input” terminal of the </a:t>
            </a:r>
            <a:r>
              <a:rPr lang="en-IN" b="1" dirty="0" smtClean="0"/>
              <a:t>op</a:t>
            </a:r>
            <a:r>
              <a:rPr lang="en-IN" dirty="0" smtClean="0"/>
              <a:t>-</a:t>
            </a:r>
            <a:r>
              <a:rPr lang="en-IN" b="1" dirty="0" err="1" smtClean="0"/>
              <a:t>amp</a:t>
            </a:r>
            <a:r>
              <a:rPr lang="en-IN" dirty="0" err="1" smtClean="0"/>
              <a:t>using</a:t>
            </a:r>
            <a:r>
              <a:rPr lang="en-IN" dirty="0" smtClean="0"/>
              <a:t> an external Feedback Resistor called Rƒ.</a:t>
            </a:r>
            <a:endParaRPr lang="en-IN" dirty="0"/>
          </a:p>
        </p:txBody>
      </p:sp>
      <p:pic>
        <p:nvPicPr>
          <p:cNvPr id="26626" name="Picture 2" descr="Image result for op-amp inverting amplifi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79776" y="3729573"/>
            <a:ext cx="4680520" cy="29844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789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751" y="534103"/>
            <a:ext cx="7819025" cy="819912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Non-inverting amplifier:</a:t>
            </a:r>
            <a:endParaRPr lang="en-IN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75520" y="1340768"/>
            <a:ext cx="8229600" cy="2520280"/>
          </a:xfrm>
        </p:spPr>
        <p:txBody>
          <a:bodyPr/>
          <a:lstStyle/>
          <a:p>
            <a:r>
              <a:rPr lang="en-IN" dirty="0" smtClean="0"/>
              <a:t>In this configuration, the input voltage signal, ( V</a:t>
            </a:r>
            <a:r>
              <a:rPr lang="en-IN" baseline="-25000" dirty="0" smtClean="0"/>
              <a:t>IN</a:t>
            </a:r>
            <a:r>
              <a:rPr lang="en-IN" dirty="0" smtClean="0"/>
              <a:t> ) is applied directly to the </a:t>
            </a:r>
            <a:r>
              <a:rPr lang="en-IN" b="1" dirty="0" smtClean="0"/>
              <a:t>non</a:t>
            </a:r>
            <a:r>
              <a:rPr lang="en-IN" dirty="0" smtClean="0"/>
              <a:t>-</a:t>
            </a:r>
            <a:r>
              <a:rPr lang="en-IN" b="1" dirty="0" smtClean="0"/>
              <a:t>inverting</a:t>
            </a:r>
            <a:r>
              <a:rPr lang="en-IN" dirty="0" smtClean="0"/>
              <a:t> ( + ) input terminal which </a:t>
            </a:r>
            <a:r>
              <a:rPr lang="en-IN" b="1" dirty="0" smtClean="0"/>
              <a:t>means</a:t>
            </a:r>
            <a:r>
              <a:rPr lang="en-IN" dirty="0" smtClean="0"/>
              <a:t> that the output gain of </a:t>
            </a:r>
            <a:r>
              <a:rPr lang="en-IN" dirty="0" err="1" smtClean="0"/>
              <a:t>the</a:t>
            </a:r>
            <a:r>
              <a:rPr lang="en-IN" b="1" dirty="0" err="1" smtClean="0"/>
              <a:t>amplifier</a:t>
            </a:r>
            <a:r>
              <a:rPr lang="en-IN" dirty="0" smtClean="0"/>
              <a:t> becomes “Positive” in value in contrast to the “</a:t>
            </a:r>
            <a:r>
              <a:rPr lang="en-IN" b="1" dirty="0" smtClean="0"/>
              <a:t>Inverting Amplifier</a:t>
            </a:r>
            <a:r>
              <a:rPr lang="en-IN" dirty="0" smtClean="0"/>
              <a:t>” </a:t>
            </a:r>
            <a:r>
              <a:rPr lang="en-IN" b="1" dirty="0" smtClean="0"/>
              <a:t>circuit</a:t>
            </a:r>
            <a:r>
              <a:rPr lang="en-IN" dirty="0" smtClean="0"/>
              <a:t> we saw in the last tutorial whose output gain is negative in value.</a:t>
            </a:r>
            <a:endParaRPr lang="en-IN" dirty="0"/>
          </a:p>
        </p:txBody>
      </p:sp>
      <p:pic>
        <p:nvPicPr>
          <p:cNvPr id="25602" name="Picture 2" descr="Image result for non inverting amplifier defini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91744" y="3789041"/>
            <a:ext cx="4464496" cy="28257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485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404664"/>
            <a:ext cx="8229600" cy="1143000"/>
          </a:xfrm>
        </p:spPr>
        <p:txBody>
          <a:bodyPr/>
          <a:lstStyle/>
          <a:p>
            <a:r>
              <a:rPr lang="en-US" dirty="0" smtClean="0"/>
              <a:t>Op-amp Oscillator: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556792"/>
            <a:ext cx="8748464" cy="2592288"/>
          </a:xfrm>
        </p:spPr>
        <p:txBody>
          <a:bodyPr>
            <a:normAutofit/>
          </a:bodyPr>
          <a:lstStyle/>
          <a:p>
            <a:r>
              <a:rPr lang="en-IN" dirty="0" smtClean="0"/>
              <a:t>The </a:t>
            </a:r>
            <a:r>
              <a:rPr lang="en-IN" b="1" dirty="0" smtClean="0"/>
              <a:t>Op</a:t>
            </a:r>
            <a:r>
              <a:rPr lang="en-IN" dirty="0" smtClean="0"/>
              <a:t>-</a:t>
            </a:r>
            <a:r>
              <a:rPr lang="en-IN" b="1" dirty="0" smtClean="0"/>
              <a:t>amp</a:t>
            </a:r>
            <a:r>
              <a:rPr lang="en-IN" dirty="0" smtClean="0"/>
              <a:t> RC </a:t>
            </a:r>
            <a:r>
              <a:rPr lang="en-IN" b="1" dirty="0" smtClean="0"/>
              <a:t>Oscillator</a:t>
            </a:r>
            <a:r>
              <a:rPr lang="en-IN" dirty="0" smtClean="0"/>
              <a:t>. When used as RC </a:t>
            </a:r>
            <a:r>
              <a:rPr lang="en-IN" b="1" dirty="0" smtClean="0"/>
              <a:t>oscillators</a:t>
            </a:r>
            <a:r>
              <a:rPr lang="en-IN" dirty="0" smtClean="0"/>
              <a:t>, </a:t>
            </a:r>
            <a:r>
              <a:rPr lang="en-IN" b="1" dirty="0" smtClean="0"/>
              <a:t>Operational Amplifier</a:t>
            </a:r>
            <a:r>
              <a:rPr lang="en-IN" dirty="0" smtClean="0"/>
              <a:t> RC </a:t>
            </a:r>
            <a:r>
              <a:rPr lang="en-IN" b="1" dirty="0" smtClean="0"/>
              <a:t>Oscillators</a:t>
            </a:r>
            <a:r>
              <a:rPr lang="en-IN" dirty="0" smtClean="0"/>
              <a:t>are more common than their bipolar transistors counterparts. </a:t>
            </a:r>
          </a:p>
          <a:p>
            <a:r>
              <a:rPr lang="en-IN" dirty="0" smtClean="0"/>
              <a:t>The </a:t>
            </a:r>
            <a:r>
              <a:rPr lang="en-IN" b="1" dirty="0" smtClean="0"/>
              <a:t>oscillator</a:t>
            </a:r>
            <a:r>
              <a:rPr lang="en-IN" dirty="0" smtClean="0"/>
              <a:t> circuit consists of a negative-gain </a:t>
            </a:r>
            <a:r>
              <a:rPr lang="en-IN" b="1" dirty="0" smtClean="0"/>
              <a:t>operational amplifier</a:t>
            </a:r>
            <a:r>
              <a:rPr lang="en-IN" dirty="0" smtClean="0"/>
              <a:t> and a three section RC network that produces the 180</a:t>
            </a:r>
            <a:r>
              <a:rPr lang="en-IN" baseline="30000" dirty="0" smtClean="0"/>
              <a:t>o</a:t>
            </a:r>
            <a:r>
              <a:rPr lang="en-IN" dirty="0" smtClean="0"/>
              <a:t> phase shift.</a:t>
            </a:r>
            <a:endParaRPr lang="en-IN" dirty="0"/>
          </a:p>
        </p:txBody>
      </p:sp>
      <p:pic>
        <p:nvPicPr>
          <p:cNvPr id="58370" name="Picture 2" descr="Image result for oscillators in op-a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47728" y="4121210"/>
            <a:ext cx="5400600" cy="27367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1889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23676</TotalTime>
  <Words>382</Words>
  <Application>Microsoft Office PowerPoint</Application>
  <PresentationFormat>Widescreen</PresentationFormat>
  <Paragraphs>89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맑은 고딕</vt:lpstr>
      <vt:lpstr>Arial</vt:lpstr>
      <vt:lpstr>Calibri</vt:lpstr>
      <vt:lpstr>Calibri Light</vt:lpstr>
      <vt:lpstr>Edwardian Script ITC</vt:lpstr>
      <vt:lpstr>Times New Roman</vt:lpstr>
      <vt:lpstr>Wingdings 2</vt:lpstr>
      <vt:lpstr>Office Theme</vt:lpstr>
      <vt:lpstr>9.4_Transistors </vt:lpstr>
      <vt:lpstr>What is a FET?</vt:lpstr>
      <vt:lpstr>TRANSISTORS </vt:lpstr>
      <vt:lpstr> The three different transistor configurations are:</vt:lpstr>
      <vt:lpstr>Common Base(CB):</vt:lpstr>
      <vt:lpstr>Common Collector(CC):</vt:lpstr>
      <vt:lpstr>PowerPoint Presentation</vt:lpstr>
      <vt:lpstr>FET(Field Effect Transistor):</vt:lpstr>
      <vt:lpstr>PowerPoint Presentation</vt:lpstr>
      <vt:lpstr> Three  terminals of FET:</vt:lpstr>
      <vt:lpstr>PowerPoint Presentation</vt:lpstr>
      <vt:lpstr>UJT (uni junction transistor ):</vt:lpstr>
      <vt:lpstr>PowerPoint Presentation</vt:lpstr>
      <vt:lpstr> The value of the timing resistor, R3 is calculated as:</vt:lpstr>
      <vt:lpstr>Op-AMP(Operational Amplifier)</vt:lpstr>
      <vt:lpstr>PowerPoint Presentation</vt:lpstr>
      <vt:lpstr>:</vt:lpstr>
      <vt:lpstr>Block diagram of op-amp:</vt:lpstr>
      <vt:lpstr>PowerPoint Presentation</vt:lpstr>
      <vt:lpstr>PowerPoint Presentation</vt:lpstr>
      <vt:lpstr>Inverting amplifier:</vt:lpstr>
      <vt:lpstr>Non-inverting amplifier:</vt:lpstr>
      <vt:lpstr>Op-amp Oscillator: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83</cp:revision>
  <dcterms:created xsi:type="dcterms:W3CDTF">2024-10-22T07:52:57Z</dcterms:created>
  <dcterms:modified xsi:type="dcterms:W3CDTF">2026-03-17T08:18:53Z</dcterms:modified>
</cp:coreProperties>
</file>