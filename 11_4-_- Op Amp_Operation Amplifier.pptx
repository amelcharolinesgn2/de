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4" r:id="rId2"/>
    <p:sldId id="279" r:id="rId3"/>
    <p:sldId id="302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278" r:id="rId16"/>
    <p:sldId id="29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042" autoAdjust="0"/>
  </p:normalViewPr>
  <p:slideViewPr>
    <p:cSldViewPr snapToGrid="0">
      <p:cViewPr varScale="1">
        <p:scale>
          <a:sx n="59" d="100"/>
          <a:sy n="59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11_4. </a:t>
          </a:r>
          <a:r>
            <a:rPr lang="en-US" sz="4000" b="1" dirty="0" smtClean="0"/>
            <a:t>Op </a:t>
          </a:r>
          <a:r>
            <a:rPr lang="en-US" sz="4000" b="1" dirty="0" err="1" smtClean="0"/>
            <a:t>Amp_Operation</a:t>
          </a:r>
          <a:r>
            <a:rPr lang="en-US" sz="4000" b="1" dirty="0" smtClean="0"/>
            <a:t> Amplifier.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11_4. </a:t>
          </a:r>
          <a:r>
            <a:rPr lang="en-US" sz="4000" b="1" kern="1200" dirty="0" smtClean="0"/>
            <a:t>Op </a:t>
          </a:r>
          <a:r>
            <a:rPr lang="en-US" sz="4000" b="1" kern="1200" dirty="0" err="1" smtClean="0"/>
            <a:t>Amp_Operation</a:t>
          </a:r>
          <a:r>
            <a:rPr lang="en-US" sz="4000" b="1" kern="1200" dirty="0" smtClean="0"/>
            <a:t> Amplifier.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https://unacademy.com/lesson/low-frequency-analysis-of-bjt-amplifier/5TUKWO6Z</a:t>
            </a:r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C3FDC3-EF9F-44CD-995F-14F445F785F3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814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10B01C-285B-4416-A753-52982DCBEC01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811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482DE3-4257-4544-85F3-380C241CAFEC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204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F7BC58-8A4D-4DCD-A101-5E2CEFAF0B56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653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6700AA-1E07-4512-B551-7EA7F6FD017B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017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0BDB49-7A84-44DF-B832-B1F497B58D4E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961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8EA790-B8C4-4BF1-BD8B-5BBD32D140AC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128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1BBEB7-105C-4404-854D-628EE5170E57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700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C89C9D-BD0C-404A-AFB1-78A74C85F6E1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691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AC0C06-913A-411B-A331-DEA3D247CC77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81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id-ID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0DC5D3-0990-4AAD-81EE-17C2884F7D78}" type="slidenum">
              <a:rPr lang="id-ID" altLang="id-ID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id-ID" altLang="id-ID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855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https://ocw.mit.edu/courses/6-720j-integrated-microelectronic-devices-spring-2007/pages/lecture-notes/</a:t>
            </a:r>
          </a:p>
          <a:p>
            <a:endParaRPr lang="en-US" dirty="0" smtClean="0"/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id.wikipedia.org/wiki/Elektronik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id.wikipedia.org/w/index.php?title=Integrated_circuit&amp;action=edit&amp;redlink=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d.wikipedia.org/wiki/Frekuensi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id.wikipedia.org/wiki/Amplifi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3465894587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Op </a:t>
            </a:r>
            <a:r>
              <a:rPr lang="en-US" b="1" dirty="0" err="1"/>
              <a:t>Amp_Operation</a:t>
            </a:r>
            <a:r>
              <a:rPr lang="en-US" b="1" dirty="0"/>
              <a:t> Amplifier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Mengerti</a:t>
            </a:r>
            <a:r>
              <a:rPr lang="en-US" dirty="0" smtClean="0"/>
              <a:t> op amp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/>
              <a:t>model </a:t>
            </a:r>
            <a:r>
              <a:rPr lang="en-US" dirty="0" err="1" smtClean="0"/>
              <a:t>penguat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Mengerti</a:t>
            </a:r>
            <a:r>
              <a:rPr lang="en-US" dirty="0" smtClean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penguat</a:t>
            </a:r>
            <a:r>
              <a:rPr lang="en-US" dirty="0"/>
              <a:t> </a:t>
            </a:r>
            <a:r>
              <a:rPr lang="en-US" dirty="0" err="1"/>
              <a:t>differensial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op-amp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analog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7086" y="5850235"/>
            <a:ext cx="1126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https://ocw.mit.edu/courses/6-01sc-introduction-to-electrical-engineering-and-computer-science-i-spring-2011/resources/op-amps/</a:t>
            </a:r>
          </a:p>
        </p:txBody>
      </p:sp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Op- Amp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PENGUAT </a:t>
            </a:r>
            <a:r>
              <a:rPr lang="en-US" dirty="0" smtClean="0"/>
              <a:t>INVERTING</a:t>
            </a:r>
          </a:p>
          <a:p>
            <a:r>
              <a:rPr lang="en-US" u="sng" dirty="0"/>
              <a:t> </a:t>
            </a:r>
            <a:r>
              <a:rPr lang="en-US" dirty="0"/>
              <a:t>PENGUAT NON </a:t>
            </a:r>
            <a:r>
              <a:rPr lang="en-US" dirty="0" smtClean="0"/>
              <a:t>INVERTING</a:t>
            </a:r>
          </a:p>
          <a:p>
            <a:r>
              <a:rPr lang="en-US" dirty="0" smtClean="0"/>
              <a:t>Buffer</a:t>
            </a:r>
          </a:p>
          <a:p>
            <a:r>
              <a:rPr lang="en-US" dirty="0" err="1" smtClean="0"/>
              <a:t>Penguat</a:t>
            </a:r>
            <a:r>
              <a:rPr lang="en-US" dirty="0" smtClean="0"/>
              <a:t> Adder</a:t>
            </a:r>
          </a:p>
          <a:p>
            <a:r>
              <a:rPr lang="en-US" dirty="0" err="1" smtClean="0"/>
              <a:t>Penguat</a:t>
            </a:r>
            <a:r>
              <a:rPr lang="en-US" dirty="0" smtClean="0"/>
              <a:t> </a:t>
            </a:r>
            <a:r>
              <a:rPr lang="en-US" dirty="0" err="1" smtClean="0"/>
              <a:t>Substractor</a:t>
            </a:r>
            <a:endParaRPr lang="en-US" dirty="0" smtClean="0"/>
          </a:p>
          <a:p>
            <a:r>
              <a:rPr lang="en-US" dirty="0" err="1" smtClean="0"/>
              <a:t>Penguat</a:t>
            </a:r>
            <a:r>
              <a:rPr lang="en-US" dirty="0" smtClean="0"/>
              <a:t> </a:t>
            </a:r>
            <a:r>
              <a:rPr lang="en-US" dirty="0" err="1" smtClean="0"/>
              <a:t>Diferensiator</a:t>
            </a:r>
            <a:endParaRPr lang="en-US" dirty="0" smtClean="0"/>
          </a:p>
          <a:p>
            <a:r>
              <a:rPr lang="en-US" dirty="0" err="1" smtClean="0"/>
              <a:t>Penguat</a:t>
            </a:r>
            <a:r>
              <a:rPr lang="en-US" dirty="0" smtClean="0"/>
              <a:t> Integrator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Pengertian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d-ID" dirty="0" smtClean="0"/>
              <a:t>	</a:t>
            </a:r>
            <a:r>
              <a:rPr lang="en-US" altLang="id-ID" dirty="0" err="1" smtClean="0"/>
              <a:t>Penguat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operasional</a:t>
            </a:r>
            <a:r>
              <a:rPr lang="en-US" altLang="id-ID" dirty="0" smtClean="0"/>
              <a:t> (O</a:t>
            </a:r>
            <a:r>
              <a:rPr lang="en-US" altLang="id-ID" i="1" dirty="0" smtClean="0"/>
              <a:t>perational amplifier</a:t>
            </a:r>
            <a:r>
              <a:rPr lang="en-US" altLang="id-ID" dirty="0" smtClean="0"/>
              <a:t>). Op-amp </a:t>
            </a:r>
            <a:r>
              <a:rPr lang="en-US" altLang="id-ID" dirty="0" err="1" smtClean="0"/>
              <a:t>merupakan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suatu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komponen</a:t>
            </a:r>
            <a:r>
              <a:rPr lang="en-US" altLang="id-ID" dirty="0" smtClean="0"/>
              <a:t> </a:t>
            </a:r>
            <a:r>
              <a:rPr lang="en-US" altLang="id-ID" dirty="0" err="1" smtClean="0">
                <a:solidFill>
                  <a:srgbClr val="FF0000"/>
                </a:solidFill>
                <a:hlinkClick r:id="rId3" tooltip="Elektronika"/>
              </a:rPr>
              <a:t>elektronika</a:t>
            </a:r>
            <a:r>
              <a:rPr lang="en-US" altLang="id-ID" dirty="0" smtClean="0">
                <a:solidFill>
                  <a:srgbClr val="FF0000"/>
                </a:solidFill>
              </a:rPr>
              <a:t> </a:t>
            </a:r>
            <a:r>
              <a:rPr lang="en-US" altLang="id-ID" dirty="0" err="1" smtClean="0"/>
              <a:t>berupa</a:t>
            </a:r>
            <a:r>
              <a:rPr lang="en-US" altLang="id-ID" dirty="0" smtClean="0"/>
              <a:t> </a:t>
            </a:r>
            <a:r>
              <a:rPr lang="en-US" altLang="id-ID" dirty="0" smtClean="0">
                <a:hlinkClick r:id="rId4" tooltip="Integrated circuit (halaman belum tersedia)"/>
              </a:rPr>
              <a:t>integrated circuit</a:t>
            </a:r>
            <a:r>
              <a:rPr lang="en-US" altLang="id-ID" dirty="0" smtClean="0"/>
              <a:t> (IC). </a:t>
            </a:r>
            <a:r>
              <a:rPr lang="en-US" altLang="id-ID" dirty="0" err="1" smtClean="0"/>
              <a:t>Bagian</a:t>
            </a:r>
            <a:r>
              <a:rPr lang="en-US" altLang="id-ID" dirty="0" smtClean="0"/>
              <a:t> output Op-amp </a:t>
            </a:r>
            <a:r>
              <a:rPr lang="en-US" altLang="id-ID" dirty="0" err="1" smtClean="0"/>
              <a:t>ini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biasanya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dikendalikan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dengan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umpan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balik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negatif</a:t>
            </a:r>
            <a:r>
              <a:rPr lang="en-US" altLang="id-ID" dirty="0" smtClean="0"/>
              <a:t> (negative feedback) </a:t>
            </a:r>
            <a:r>
              <a:rPr lang="en-US" altLang="id-ID" dirty="0" err="1" smtClean="0"/>
              <a:t>karena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nilai</a:t>
            </a:r>
            <a:r>
              <a:rPr lang="en-US" altLang="id-ID" dirty="0" smtClean="0"/>
              <a:t> gain-</a:t>
            </a:r>
            <a:r>
              <a:rPr lang="en-US" altLang="id-ID" dirty="0" err="1" smtClean="0"/>
              <a:t>nya</a:t>
            </a:r>
            <a:r>
              <a:rPr lang="en-US" altLang="id-ID" dirty="0" smtClean="0"/>
              <a:t> yang </a:t>
            </a:r>
            <a:r>
              <a:rPr lang="en-US" altLang="id-ID" dirty="0" err="1" smtClean="0"/>
              <a:t>tinggi</a:t>
            </a:r>
            <a:r>
              <a:rPr lang="en-US" altLang="id-ID" dirty="0" smtClean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t="11072" b="10357"/>
          <a:stretch/>
        </p:blipFill>
        <p:spPr>
          <a:xfrm>
            <a:off x="7529947" y="4327072"/>
            <a:ext cx="3823853" cy="225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6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Keuntungan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d-ID" smtClean="0"/>
              <a:t>	Keuntungan dari penggunaan Op Amp adalah karena komponen ini memiliki : </a:t>
            </a:r>
          </a:p>
          <a:p>
            <a:pPr eaLnBrk="1" hangingPunct="1"/>
            <a:r>
              <a:rPr lang="en-US" altLang="id-ID" smtClean="0"/>
              <a:t>penguatan (A) yang sangat besar, </a:t>
            </a:r>
          </a:p>
          <a:p>
            <a:pPr eaLnBrk="1" hangingPunct="1"/>
            <a:r>
              <a:rPr lang="en-US" altLang="id-ID" smtClean="0"/>
              <a:t>Impedansi input yang besar, (Zin &gt;&gt;) </a:t>
            </a:r>
          </a:p>
          <a:p>
            <a:pPr eaLnBrk="1" hangingPunct="1"/>
            <a:r>
              <a:rPr lang="en-US" altLang="id-ID" smtClean="0"/>
              <a:t>Impedansi Output yang kecil (Zout &lt;&lt;). </a:t>
            </a:r>
          </a:p>
          <a:p>
            <a:pPr eaLnBrk="1" hangingPunct="1"/>
            <a:r>
              <a:rPr lang="en-US" altLang="id-ID" smtClean="0"/>
              <a:t>Kemampuan interval </a:t>
            </a:r>
            <a:r>
              <a:rPr lang="en-US" altLang="id-ID" smtClean="0">
                <a:hlinkClick r:id="rId3" tooltip="Frekuensi"/>
              </a:rPr>
              <a:t>frekuensi</a:t>
            </a:r>
            <a:r>
              <a:rPr lang="en-US" altLang="id-ID" smtClean="0"/>
              <a:t> dari komponen ini sangat lebar. </a:t>
            </a:r>
          </a:p>
        </p:txBody>
      </p:sp>
    </p:spTree>
    <p:extLst>
      <p:ext uri="{BB962C8B-B14F-4D97-AF65-F5344CB8AC3E}">
        <p14:creationId xmlns:p14="http://schemas.microsoft.com/office/powerpoint/2010/main" val="380603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Penggunaan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d-ID" dirty="0" smtClean="0"/>
              <a:t>	</a:t>
            </a:r>
            <a:r>
              <a:rPr lang="en-US" altLang="id-ID" dirty="0" err="1" smtClean="0"/>
              <a:t>Penggunaan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dari</a:t>
            </a:r>
            <a:r>
              <a:rPr lang="en-US" altLang="id-ID" dirty="0" smtClean="0"/>
              <a:t> Op-amp </a:t>
            </a:r>
            <a:r>
              <a:rPr lang="en-US" altLang="id-ID" dirty="0" err="1" smtClean="0"/>
              <a:t>meliputi</a:t>
            </a:r>
            <a:r>
              <a:rPr lang="en-US" altLang="id-ID" dirty="0" smtClean="0"/>
              <a:t>: </a:t>
            </a:r>
          </a:p>
          <a:p>
            <a:pPr eaLnBrk="1" hangingPunct="1"/>
            <a:r>
              <a:rPr lang="en-US" altLang="id-ID" dirty="0" smtClean="0">
                <a:hlinkClick r:id="rId3" tooltip="Amplifier"/>
              </a:rPr>
              <a:t>amplifier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atau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penguat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biasa</a:t>
            </a:r>
            <a:r>
              <a:rPr lang="en-US" altLang="id-ID" dirty="0" smtClean="0"/>
              <a:t> (non-Inverting Amplifier), Inverting Amplifier, </a:t>
            </a:r>
          </a:p>
          <a:p>
            <a:pPr eaLnBrk="1" hangingPunct="1"/>
            <a:r>
              <a:rPr lang="en-US" altLang="id-ID" dirty="0" err="1" smtClean="0"/>
              <a:t>komputer</a:t>
            </a:r>
            <a:r>
              <a:rPr lang="en-US" altLang="id-ID" dirty="0" smtClean="0"/>
              <a:t> analog (</a:t>
            </a:r>
            <a:r>
              <a:rPr lang="en-US" altLang="id-ID" dirty="0" err="1" smtClean="0"/>
              <a:t>operasi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jumlah</a:t>
            </a:r>
            <a:r>
              <a:rPr lang="en-US" altLang="id-ID" dirty="0" smtClean="0"/>
              <a:t>, </a:t>
            </a:r>
            <a:r>
              <a:rPr lang="en-US" altLang="id-ID" dirty="0" err="1" smtClean="0"/>
              <a:t>kurang</a:t>
            </a:r>
            <a:r>
              <a:rPr lang="en-US" altLang="id-ID" dirty="0" smtClean="0"/>
              <a:t>, </a:t>
            </a:r>
            <a:r>
              <a:rPr lang="en-US" altLang="id-ID" dirty="0" err="1" smtClean="0"/>
              <a:t>integrasi</a:t>
            </a:r>
            <a:r>
              <a:rPr lang="en-US" altLang="id-ID" dirty="0" smtClean="0"/>
              <a:t>, </a:t>
            </a:r>
            <a:r>
              <a:rPr lang="en-US" altLang="id-ID" dirty="0" err="1" smtClean="0"/>
              <a:t>dan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diferensiasi</a:t>
            </a:r>
            <a:r>
              <a:rPr lang="en-US" altLang="id-ID" dirty="0" smtClean="0"/>
              <a:t>), </a:t>
            </a:r>
          </a:p>
          <a:p>
            <a:pPr eaLnBrk="1" hangingPunct="1"/>
            <a:r>
              <a:rPr lang="en-US" altLang="id-ID" dirty="0" err="1" smtClean="0"/>
              <a:t>pengubah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tegangan</a:t>
            </a:r>
            <a:r>
              <a:rPr lang="en-US" altLang="id-ID" dirty="0" smtClean="0"/>
              <a:t>, </a:t>
            </a:r>
            <a:r>
              <a:rPr lang="en-US" altLang="id-ID" dirty="0" err="1" smtClean="0"/>
              <a:t>osilator</a:t>
            </a:r>
            <a:r>
              <a:rPr lang="en-US" altLang="id-ID" dirty="0" smtClean="0"/>
              <a:t>, filter </a:t>
            </a:r>
            <a:r>
              <a:rPr lang="en-US" altLang="id-ID" dirty="0" err="1" smtClean="0"/>
              <a:t>dll</a:t>
            </a:r>
            <a:r>
              <a:rPr lang="en-US" altLang="id-ID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588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Simbol Op Amp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389688" y="1600200"/>
            <a:ext cx="3668712" cy="441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d-ID"/>
              <a:t>	</a:t>
            </a:r>
            <a:r>
              <a:rPr lang="id-ID" altLang="id-ID"/>
              <a:t>Ada 2 aturan penting dalam melakukan analisis rangkaian Op-Amp :</a:t>
            </a:r>
          </a:p>
          <a:p>
            <a:pPr eaLnBrk="1" hangingPunct="1"/>
            <a:r>
              <a:rPr lang="id-ID" altLang="id-ID"/>
              <a:t>Perbedaan tegangan </a:t>
            </a:r>
            <a:r>
              <a:rPr lang="en-US" altLang="id-ID"/>
              <a:t>input</a:t>
            </a:r>
            <a:r>
              <a:rPr lang="id-ID" altLang="id-ID"/>
              <a:t> </a:t>
            </a:r>
            <a:r>
              <a:rPr lang="nl-NL" altLang="id-ID"/>
              <a:t>adalah nol</a:t>
            </a:r>
            <a:endParaRPr lang="id-ID" altLang="id-ID"/>
          </a:p>
          <a:p>
            <a:pPr eaLnBrk="1" hangingPunct="1"/>
            <a:r>
              <a:rPr lang="id-ID" altLang="id-ID"/>
              <a:t>Arus input Op-Amp adalah nol.</a:t>
            </a:r>
            <a:r>
              <a:rPr lang="en-US" altLang="id-ID"/>
              <a:t> </a:t>
            </a: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1524001" y="2125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pic>
        <p:nvPicPr>
          <p:cNvPr id="11269" name="Picture 6" descr="sedr42021_02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190751"/>
            <a:ext cx="4419600" cy="286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057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Inverting Amp.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 smtClean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8382000" cy="408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032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Non Inverting Amp.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 smtClean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8382000" cy="425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377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Unity Follower/Buffer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 smtClean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8458200" cy="290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61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Adder Amplifier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5486400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035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Substractor Amplier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 smtClean="0"/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1524001" y="22632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1981200" y="1524001"/>
          <a:ext cx="5105400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Visio" r:id="rId4" imgW="2485644" imgH="1962912" progId="Visio.Drawing.11">
                  <p:embed/>
                </p:oleObj>
              </mc:Choice>
              <mc:Fallback>
                <p:oleObj name="Visio" r:id="rId4" imgW="2485644" imgH="1962912" progId="Visio.Drawing.11">
                  <p:embed/>
                  <p:pic>
                    <p:nvPicPr>
                      <p:cNvPr id="215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524001"/>
                        <a:ext cx="5105400" cy="402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092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Differential Amp.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 smtClean="0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1"/>
            <a:ext cx="8458200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4022725"/>
            <a:ext cx="457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8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Integrator Ampl.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 smtClean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8382000" cy="219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458" y="3981450"/>
            <a:ext cx="52006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9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Tentukan </a:t>
            </a:r>
            <a:r>
              <a:rPr lang="en-US" dirty="0" err="1" smtClean="0"/>
              <a:t>nilai</a:t>
            </a:r>
            <a:r>
              <a:rPr lang="en-US" dirty="0" smtClean="0"/>
              <a:t> v2/v1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57" y="2888597"/>
            <a:ext cx="3866469" cy="295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23816</TotalTime>
  <Words>154</Words>
  <Application>Microsoft Office PowerPoint</Application>
  <PresentationFormat>Widescreen</PresentationFormat>
  <Paragraphs>86</Paragraphs>
  <Slides>16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맑은 고딕</vt:lpstr>
      <vt:lpstr>Arial</vt:lpstr>
      <vt:lpstr>Calibri</vt:lpstr>
      <vt:lpstr>Calibri Light</vt:lpstr>
      <vt:lpstr>Edwardian Script ITC</vt:lpstr>
      <vt:lpstr>Times New Roman</vt:lpstr>
      <vt:lpstr>Wingdings</vt:lpstr>
      <vt:lpstr>Office Theme</vt:lpstr>
      <vt:lpstr>Visio</vt:lpstr>
      <vt:lpstr>PowerPoint Presentation</vt:lpstr>
      <vt:lpstr>Op Amp_Operation Amplifier</vt:lpstr>
      <vt:lpstr>Op- Amp</vt:lpstr>
      <vt:lpstr>Pengertian</vt:lpstr>
      <vt:lpstr>Keuntungan</vt:lpstr>
      <vt:lpstr>Penggunaan</vt:lpstr>
      <vt:lpstr>Simbol Op Amp</vt:lpstr>
      <vt:lpstr>Inverting Amp.</vt:lpstr>
      <vt:lpstr>Non Inverting Amp.</vt:lpstr>
      <vt:lpstr>Unity Follower/Buffer</vt:lpstr>
      <vt:lpstr>Adder Amplifier</vt:lpstr>
      <vt:lpstr>Substractor Amplier</vt:lpstr>
      <vt:lpstr>Differential Amp.</vt:lpstr>
      <vt:lpstr>Integrator Ampl.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114</cp:revision>
  <dcterms:created xsi:type="dcterms:W3CDTF">2024-10-22T07:52:57Z</dcterms:created>
  <dcterms:modified xsi:type="dcterms:W3CDTF">2026-03-25T03:54:08Z</dcterms:modified>
</cp:coreProperties>
</file>