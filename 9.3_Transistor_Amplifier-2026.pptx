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64" r:id="rId2"/>
    <p:sldId id="297" r:id="rId3"/>
    <p:sldId id="299" r:id="rId4"/>
    <p:sldId id="300" r:id="rId5"/>
    <p:sldId id="301" r:id="rId6"/>
    <p:sldId id="302" r:id="rId7"/>
    <p:sldId id="303" r:id="rId8"/>
    <p:sldId id="304" r:id="rId9"/>
    <p:sldId id="305" r:id="rId10"/>
    <p:sldId id="306" r:id="rId11"/>
    <p:sldId id="307" r:id="rId12"/>
    <p:sldId id="308" r:id="rId13"/>
    <p:sldId id="309" r:id="rId14"/>
    <p:sldId id="27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159" autoAdjust="0"/>
    <p:restoredTop sz="72042" autoAdjust="0"/>
  </p:normalViewPr>
  <p:slideViewPr>
    <p:cSldViewPr snapToGrid="0">
      <p:cViewPr varScale="1">
        <p:scale>
          <a:sx n="59" d="100"/>
          <a:sy n="59" d="100"/>
        </p:scale>
        <p:origin x="12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5D0C7D-798A-44DC-AC41-FEC01C38F0EB}" type="datetimeFigureOut">
              <a:rPr lang="en-US" smtClean="0"/>
              <a:t>3/17/2026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1A1DE6-A801-4746-9FC0-8352D20A3103}" type="slidenum">
              <a:rPr lang="en-US" smtClean="0"/>
              <a:t>‹#›</a:t>
            </a:fld>
            <a:endParaRPr lang="en-US"/>
          </a:p>
        </p:txBody>
      </p:sp>
    </p:spTree>
    <p:extLst>
      <p:ext uri="{BB962C8B-B14F-4D97-AF65-F5344CB8AC3E}">
        <p14:creationId xmlns:p14="http://schemas.microsoft.com/office/powerpoint/2010/main" val="28595932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DC773BF-E5C9-44BF-B19B-39EF1F90376E}" type="slidenum">
              <a:rPr lang="en-US" smtClean="0"/>
              <a:t>1</a:t>
            </a:fld>
            <a:endParaRPr lang="en-US"/>
          </a:p>
        </p:txBody>
      </p:sp>
    </p:spTree>
    <p:extLst>
      <p:ext uri="{BB962C8B-B14F-4D97-AF65-F5344CB8AC3E}">
        <p14:creationId xmlns:p14="http://schemas.microsoft.com/office/powerpoint/2010/main" val="884784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C77EA2CC-FABD-466D-82E8-AC953C7EC0CC}" type="slidenum">
              <a:rPr lang="en-US" smtClean="0"/>
              <a:t>14</a:t>
            </a:fld>
            <a:endParaRPr lang="en-US"/>
          </a:p>
        </p:txBody>
      </p:sp>
    </p:spTree>
    <p:extLst>
      <p:ext uri="{BB962C8B-B14F-4D97-AF65-F5344CB8AC3E}">
        <p14:creationId xmlns:p14="http://schemas.microsoft.com/office/powerpoint/2010/main" val="40873288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7BBB5D1-B60B-4B38-B17E-7765EA145201}"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884090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7BBB5D1-B60B-4B38-B17E-7765EA145201}"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1622034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7BBB5D1-B60B-4B38-B17E-7765EA145201}"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346888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7BBB5D1-B60B-4B38-B17E-7765EA145201}"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39443962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7BBB5D1-B60B-4B38-B17E-7765EA145201}" type="datetimeFigureOut">
              <a:rPr lang="en-US" smtClean="0"/>
              <a:t>3/17/2026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2022342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7BBB5D1-B60B-4B38-B17E-7765EA145201}" type="datetimeFigureOut">
              <a:rPr lang="en-US" smtClean="0"/>
              <a:t>3/17/2026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33620848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BBB5D1-B60B-4B38-B17E-7765EA145201}" type="datetimeFigureOut">
              <a:rPr lang="en-US" smtClean="0"/>
              <a:t>3/17/2026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562924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7BBB5D1-B60B-4B38-B17E-7765EA145201}"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2775841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7BBB5D1-B60B-4B38-B17E-7765EA145201}"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2201192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7BBB5D1-B60B-4B38-B17E-7765EA145201}"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1073669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7BBB5D1-B60B-4B38-B17E-7765EA145201}"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29795665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BBB5D1-B60B-4B38-B17E-7765EA145201}" type="datetimeFigureOut">
              <a:rPr lang="en-US" smtClean="0"/>
              <a:t>3/17/2026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F42857-403A-4A86-BF79-9A4C4603A143}" type="slidenum">
              <a:rPr lang="en-US" smtClean="0"/>
              <a:t>‹#›</a:t>
            </a:fld>
            <a:endParaRPr lang="en-US"/>
          </a:p>
        </p:txBody>
      </p:sp>
    </p:spTree>
    <p:extLst>
      <p:ext uri="{BB962C8B-B14F-4D97-AF65-F5344CB8AC3E}">
        <p14:creationId xmlns:p14="http://schemas.microsoft.com/office/powerpoint/2010/main" val="26558989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jpe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6677" y="2721459"/>
            <a:ext cx="9144000" cy="1510320"/>
          </a:xfrm>
        </p:spPr>
        <p:txBody>
          <a:bodyPr>
            <a:normAutofit fontScale="90000"/>
          </a:bodyPr>
          <a:lstStyle/>
          <a:p>
            <a:pPr algn="l"/>
            <a:r>
              <a:rPr lang="en-US" b="1" dirty="0" smtClean="0">
                <a:solidFill>
                  <a:schemeClr val="bg1">
                    <a:lumMod val="85000"/>
                  </a:schemeClr>
                </a:solidFill>
              </a:rPr>
              <a:t>9.3_Transistor Amp</a:t>
            </a:r>
            <a:r>
              <a:rPr lang="en-US" b="1" dirty="0" smtClean="0">
                <a:solidFill>
                  <a:srgbClr val="002060"/>
                </a:solidFill>
              </a:rPr>
              <a:t/>
            </a:r>
            <a:br>
              <a:rPr lang="en-US" b="1" dirty="0" smtClean="0">
                <a:solidFill>
                  <a:srgbClr val="002060"/>
                </a:solidFill>
              </a:rPr>
            </a:br>
            <a:endParaRPr lang="en-US" dirty="0"/>
          </a:p>
        </p:txBody>
      </p:sp>
      <p:sp>
        <p:nvSpPr>
          <p:cNvPr id="13" name="Subtitle 2"/>
          <p:cNvSpPr txBox="1">
            <a:spLocks/>
          </p:cNvSpPr>
          <p:nvPr/>
        </p:nvSpPr>
        <p:spPr>
          <a:xfrm>
            <a:off x="2893786" y="3309896"/>
            <a:ext cx="5287688" cy="52107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dirty="0">
              <a:solidFill>
                <a:srgbClr val="00B0F0"/>
              </a:solidFill>
            </a:endParaRPr>
          </a:p>
        </p:txBody>
      </p:sp>
      <p:grpSp>
        <p:nvGrpSpPr>
          <p:cNvPr id="20" name="Group 19"/>
          <p:cNvGrpSpPr/>
          <p:nvPr/>
        </p:nvGrpSpPr>
        <p:grpSpPr>
          <a:xfrm>
            <a:off x="54496" y="359621"/>
            <a:ext cx="4804363" cy="2463094"/>
            <a:chOff x="54496" y="359621"/>
            <a:chExt cx="4804363" cy="2463094"/>
          </a:xfrm>
        </p:grpSpPr>
        <p:pic>
          <p:nvPicPr>
            <p:cNvPr id="19" name="Picture 18"/>
            <p:cNvPicPr>
              <a:picLocks noChangeAspect="1"/>
            </p:cNvPicPr>
            <p:nvPr/>
          </p:nvPicPr>
          <p:blipFill>
            <a:blip r:embed="rId3"/>
            <a:stretch>
              <a:fillRect/>
            </a:stretch>
          </p:blipFill>
          <p:spPr>
            <a:xfrm>
              <a:off x="235105" y="1901987"/>
              <a:ext cx="3104181" cy="263526"/>
            </a:xfrm>
            <a:prstGeom prst="rect">
              <a:avLst/>
            </a:prstGeom>
          </p:spPr>
        </p:pic>
        <p:sp>
          <p:nvSpPr>
            <p:cNvPr id="6" name="Title 4">
              <a:extLst>
                <a:ext uri="{FF2B5EF4-FFF2-40B4-BE49-F238E27FC236}">
                  <a16:creationId xmlns:a16="http://schemas.microsoft.com/office/drawing/2014/main" id="{27228BAE-048B-681E-DD8D-BD96B22560E0}"/>
                </a:ext>
              </a:extLst>
            </p:cNvPr>
            <p:cNvSpPr txBox="1">
              <a:spLocks/>
            </p:cNvSpPr>
            <p:nvPr/>
          </p:nvSpPr>
          <p:spPr>
            <a:xfrm>
              <a:off x="54496" y="1922610"/>
              <a:ext cx="4804363" cy="900105"/>
            </a:xfrm>
            <a:prstGeom prst="rect">
              <a:avLst/>
            </a:prstGeom>
          </p:spPr>
          <p:txBody>
            <a:bodyPr vert="horz" lIns="91440" tIns="45720" rIns="91440" bIns="45720" rtlCol="0" anchor="b">
              <a:normAutofit fontScale="9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dirty="0" smtClean="0">
                  <a:solidFill>
                    <a:schemeClr val="accent1">
                      <a:lumMod val="75000"/>
                    </a:schemeClr>
                  </a:solidFill>
                </a:rPr>
                <a:t>Computer </a:t>
              </a:r>
              <a:r>
                <a:rPr lang="en-US" dirty="0" smtClean="0">
                  <a:solidFill>
                    <a:srgbClr val="00B0F0"/>
                  </a:solidFill>
                </a:rPr>
                <a:t>Vision</a:t>
              </a:r>
              <a:endParaRPr lang="en-US" dirty="0">
                <a:solidFill>
                  <a:srgbClr val="00B0F0"/>
                </a:solidFill>
              </a:endParaRPr>
            </a:p>
          </p:txBody>
        </p:sp>
        <p:grpSp>
          <p:nvGrpSpPr>
            <p:cNvPr id="7" name="Group 6">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8" name="Freeform 7">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a:solidFill>
                    <a:schemeClr val="tx1"/>
                  </a:solidFill>
                </a:endParaRPr>
              </a:p>
            </p:txBody>
          </p:sp>
          <p:sp>
            <p:nvSpPr>
              <p:cNvPr id="9" name="Freeform 8">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dirty="0">
                  <a:solidFill>
                    <a:schemeClr val="tx1"/>
                  </a:solidFill>
                </a:endParaRPr>
              </a:p>
            </p:txBody>
          </p:sp>
        </p:grpSp>
        <p:grpSp>
          <p:nvGrpSpPr>
            <p:cNvPr id="10" name="Group 9">
              <a:extLst>
                <a:ext uri="{FF2B5EF4-FFF2-40B4-BE49-F238E27FC236}">
                  <a16:creationId xmlns:a16="http://schemas.microsoft.com/office/drawing/2014/main" id="{AB8BC7BC-BF58-402E-9A69-AA9226DE7CAA}"/>
                </a:ext>
              </a:extLst>
            </p:cNvPr>
            <p:cNvGrpSpPr/>
            <p:nvPr/>
          </p:nvGrpSpPr>
          <p:grpSpPr>
            <a:xfrm>
              <a:off x="1356703" y="883096"/>
              <a:ext cx="1334145" cy="620384"/>
              <a:chOff x="7729280" y="2195997"/>
              <a:chExt cx="2143740" cy="996849"/>
            </a:xfrm>
            <a:solidFill>
              <a:schemeClr val="accent6"/>
            </a:solidFill>
          </p:grpSpPr>
          <p:sp>
            <p:nvSpPr>
              <p:cNvPr id="11" name="Freeform: Shape 66">
                <a:extLst>
                  <a:ext uri="{FF2B5EF4-FFF2-40B4-BE49-F238E27FC236}">
                    <a16:creationId xmlns:a16="http://schemas.microsoft.com/office/drawing/2014/main" id="{2A081543-B9FF-49B1-8EEF-ABDF5438EDCD}"/>
                  </a:ext>
                </a:extLst>
              </p:cNvPr>
              <p:cNvSpPr/>
              <p:nvPr/>
            </p:nvSpPr>
            <p:spPr>
              <a:xfrm>
                <a:off x="7729280" y="2195997"/>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sp>
            <p:nvSpPr>
              <p:cNvPr id="12" name="Freeform: Shape 67">
                <a:extLst>
                  <a:ext uri="{FF2B5EF4-FFF2-40B4-BE49-F238E27FC236}">
                    <a16:creationId xmlns:a16="http://schemas.microsoft.com/office/drawing/2014/main" id="{275D1FAA-C13F-4A6B-BA37-7704CFB7ADCD}"/>
                  </a:ext>
                </a:extLst>
              </p:cNvPr>
              <p:cNvSpPr/>
              <p:nvPr/>
            </p:nvSpPr>
            <p:spPr>
              <a:xfrm>
                <a:off x="8421007" y="2543552"/>
                <a:ext cx="443936" cy="326800"/>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14" name="Subtitle 2">
              <a:extLst>
                <a:ext uri="{FF2B5EF4-FFF2-40B4-BE49-F238E27FC236}">
                  <a16:creationId xmlns:a16="http://schemas.microsoft.com/office/drawing/2014/main" id="{53858C97-DA2F-8866-47CC-CDF4077BBF9D}"/>
                </a:ext>
              </a:extLst>
            </p:cNvPr>
            <p:cNvSpPr txBox="1">
              <a:spLocks/>
            </p:cNvSpPr>
            <p:nvPr/>
          </p:nvSpPr>
          <p:spPr>
            <a:xfrm>
              <a:off x="1727403" y="1099395"/>
              <a:ext cx="729275" cy="20338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smtClean="0">
                  <a:solidFill>
                    <a:srgbClr val="7030A0"/>
                  </a:solidFill>
                </a:rPr>
                <a:t>PDS</a:t>
              </a:r>
              <a:endParaRPr lang="en-US" sz="1600" dirty="0">
                <a:solidFill>
                  <a:srgbClr val="7030A0"/>
                </a:solidFill>
              </a:endParaRPr>
            </a:p>
          </p:txBody>
        </p:sp>
        <p:sp>
          <p:nvSpPr>
            <p:cNvPr id="17" name="Title 4">
              <a:extLst>
                <a:ext uri="{FF2B5EF4-FFF2-40B4-BE49-F238E27FC236}">
                  <a16:creationId xmlns:a16="http://schemas.microsoft.com/office/drawing/2014/main" id="{27228BAE-048B-681E-DD8D-BD96B22560E0}"/>
                </a:ext>
              </a:extLst>
            </p:cNvPr>
            <p:cNvSpPr txBox="1">
              <a:spLocks/>
            </p:cNvSpPr>
            <p:nvPr/>
          </p:nvSpPr>
          <p:spPr>
            <a:xfrm>
              <a:off x="788714" y="1452073"/>
              <a:ext cx="938689" cy="470538"/>
            </a:xfrm>
            <a:prstGeom prst="rect">
              <a:avLst/>
            </a:prstGeom>
            <a:solidFill>
              <a:schemeClr val="bg1"/>
            </a:solidFill>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800" dirty="0" smtClean="0">
                  <a:solidFill>
                    <a:schemeClr val="accent5">
                      <a:lumMod val="50000"/>
                    </a:schemeClr>
                  </a:solidFill>
                </a:rPr>
                <a:t>SDN</a:t>
              </a:r>
              <a:endParaRPr lang="en-US" sz="2800" dirty="0">
                <a:solidFill>
                  <a:schemeClr val="accent5">
                    <a:lumMod val="50000"/>
                  </a:schemeClr>
                </a:solidFill>
              </a:endParaRPr>
            </a:p>
          </p:txBody>
        </p:sp>
        <p:sp>
          <p:nvSpPr>
            <p:cNvPr id="18" name="Title 4">
              <a:extLst>
                <a:ext uri="{FF2B5EF4-FFF2-40B4-BE49-F238E27FC236}">
                  <a16:creationId xmlns:a16="http://schemas.microsoft.com/office/drawing/2014/main" id="{27228BAE-048B-681E-DD8D-BD96B22560E0}"/>
                </a:ext>
              </a:extLst>
            </p:cNvPr>
            <p:cNvSpPr txBox="1">
              <a:spLocks/>
            </p:cNvSpPr>
            <p:nvPr/>
          </p:nvSpPr>
          <p:spPr>
            <a:xfrm>
              <a:off x="1449719" y="1352665"/>
              <a:ext cx="928870" cy="581223"/>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800" dirty="0" smtClean="0">
                  <a:solidFill>
                    <a:schemeClr val="accent1">
                      <a:lumMod val="75000"/>
                    </a:schemeClr>
                  </a:solidFill>
                </a:rPr>
                <a:t>NFV</a:t>
              </a:r>
              <a:endParaRPr lang="en-US" sz="2800" dirty="0">
                <a:solidFill>
                  <a:schemeClr val="accent1">
                    <a:lumMod val="75000"/>
                  </a:schemeClr>
                </a:solidFill>
              </a:endParaRPr>
            </a:p>
          </p:txBody>
        </p:sp>
      </p:grpSp>
      <p:sp>
        <p:nvSpPr>
          <p:cNvPr id="22" name="Rectangle 21"/>
          <p:cNvSpPr/>
          <p:nvPr/>
        </p:nvSpPr>
        <p:spPr>
          <a:xfrm>
            <a:off x="9507866" y="6056142"/>
            <a:ext cx="2613761" cy="230832"/>
          </a:xfrm>
          <a:prstGeom prst="rect">
            <a:avLst/>
          </a:prstGeom>
        </p:spPr>
        <p:txBody>
          <a:bodyPr wrap="square">
            <a:spAutoFit/>
          </a:bodyPr>
          <a:lstStyle/>
          <a:p>
            <a:r>
              <a:rPr lang="en-US" sz="900" dirty="0"/>
              <a:t>https://www.youtube.com/@AmelOline/videos</a:t>
            </a:r>
          </a:p>
        </p:txBody>
      </p:sp>
      <p:sp>
        <p:nvSpPr>
          <p:cNvPr id="23" name="Rectangle 22"/>
          <p:cNvSpPr/>
          <p:nvPr/>
        </p:nvSpPr>
        <p:spPr>
          <a:xfrm>
            <a:off x="10344774" y="5917643"/>
            <a:ext cx="1623448" cy="230832"/>
          </a:xfrm>
          <a:prstGeom prst="rect">
            <a:avLst/>
          </a:prstGeom>
        </p:spPr>
        <p:txBody>
          <a:bodyPr wrap="square">
            <a:spAutoFit/>
          </a:bodyPr>
          <a:lstStyle/>
          <a:p>
            <a:r>
              <a:rPr lang="en-US" sz="900" dirty="0"/>
              <a:t>https://github.com/siagianp</a:t>
            </a:r>
          </a:p>
        </p:txBody>
      </p:sp>
      <p:sp>
        <p:nvSpPr>
          <p:cNvPr id="24" name="Rectangle 23"/>
          <p:cNvSpPr/>
          <p:nvPr/>
        </p:nvSpPr>
        <p:spPr>
          <a:xfrm>
            <a:off x="8531473" y="6194642"/>
            <a:ext cx="3667194" cy="230832"/>
          </a:xfrm>
          <a:prstGeom prst="rect">
            <a:avLst/>
          </a:prstGeom>
        </p:spPr>
        <p:txBody>
          <a:bodyPr wrap="square">
            <a:spAutoFit/>
          </a:bodyPr>
          <a:lstStyle/>
          <a:p>
            <a:r>
              <a:rPr lang="en-US" sz="900" dirty="0"/>
              <a:t>https://github.com/amelcharolinesgn2/IoT_simulator-mqtt-NodeRed</a:t>
            </a:r>
          </a:p>
        </p:txBody>
      </p:sp>
      <p:sp>
        <p:nvSpPr>
          <p:cNvPr id="25" name="Rectangle 24"/>
          <p:cNvSpPr/>
          <p:nvPr/>
        </p:nvSpPr>
        <p:spPr>
          <a:xfrm>
            <a:off x="8977163" y="6333141"/>
            <a:ext cx="3204723" cy="230832"/>
          </a:xfrm>
          <a:prstGeom prst="rect">
            <a:avLst/>
          </a:prstGeom>
        </p:spPr>
        <p:txBody>
          <a:bodyPr wrap="none">
            <a:spAutoFit/>
          </a:bodyPr>
          <a:lstStyle/>
          <a:p>
            <a:r>
              <a:rPr lang="en-US" sz="900" dirty="0"/>
              <a:t>https://github.com/amelcharolinesgn2/Cloud-Infrastructures</a:t>
            </a:r>
          </a:p>
        </p:txBody>
      </p:sp>
      <p:sp>
        <p:nvSpPr>
          <p:cNvPr id="26" name="Rectangle 25"/>
          <p:cNvSpPr/>
          <p:nvPr/>
        </p:nvSpPr>
        <p:spPr>
          <a:xfrm>
            <a:off x="8444566" y="6506265"/>
            <a:ext cx="3839513" cy="230832"/>
          </a:xfrm>
          <a:prstGeom prst="rect">
            <a:avLst/>
          </a:prstGeom>
        </p:spPr>
        <p:txBody>
          <a:bodyPr wrap="none">
            <a:spAutoFit/>
          </a:bodyPr>
          <a:lstStyle/>
          <a:p>
            <a:r>
              <a:rPr lang="en-US" sz="900" dirty="0"/>
              <a:t>https://github.com/amelcharolinesgn2/ClouD-Infrastructure-SISKA-2025</a:t>
            </a:r>
          </a:p>
        </p:txBody>
      </p:sp>
    </p:spTree>
    <p:extLst>
      <p:ext uri="{BB962C8B-B14F-4D97-AF65-F5344CB8AC3E}">
        <p14:creationId xmlns:p14="http://schemas.microsoft.com/office/powerpoint/2010/main" val="386400268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985838" y="2063750"/>
            <a:ext cx="10515600" cy="1325563"/>
          </a:xfrm>
        </p:spPr>
        <p:txBody>
          <a:bodyPr/>
          <a:lstStyle/>
          <a:p>
            <a:r>
              <a:rPr lang="en-US" dirty="0"/>
              <a:t>What is a transistor</a:t>
            </a:r>
            <a:r>
              <a:rPr lang="en-US" dirty="0" smtClean="0"/>
              <a:t>?</a:t>
            </a:r>
            <a:endParaRPr lang="en-US" dirty="0"/>
          </a:p>
        </p:txBody>
      </p:sp>
      <p:pic>
        <p:nvPicPr>
          <p:cNvPr id="3" name="Picture 4" descr="Transistor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3133299"/>
            <a:ext cx="6159500" cy="348742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355774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a:spLocks noChangeArrowheads="1"/>
          </p:cNvSpPr>
          <p:nvPr/>
        </p:nvSpPr>
        <p:spPr bwMode="auto">
          <a:xfrm>
            <a:off x="3886200" y="2667000"/>
            <a:ext cx="2533650" cy="164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algn="l" eaLnBrk="1" hangingPunct="1"/>
            <a:r>
              <a:rPr lang="en-US" altLang="en-US" sz="10200" b="0" u="none"/>
              <a:t> </a:t>
            </a:r>
            <a:r>
              <a:rPr lang="en-US" altLang="en-US" sz="1100" b="0" u="none"/>
              <a:t>                                              </a:t>
            </a:r>
            <a:r>
              <a:rPr lang="en-US" altLang="en-US" b="0" u="none">
                <a:latin typeface="Arial" panose="020B0604020202020204" pitchFamily="34" charset="0"/>
              </a:rPr>
              <a:t> </a:t>
            </a:r>
          </a:p>
        </p:txBody>
      </p:sp>
      <p:pic>
        <p:nvPicPr>
          <p:cNvPr id="3075" name="Picture 5" descr="NPN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3400" y="990600"/>
            <a:ext cx="4038600" cy="250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6" name="Rectangle 6"/>
          <p:cNvSpPr>
            <a:spLocks noChangeArrowheads="1"/>
          </p:cNvSpPr>
          <p:nvPr/>
        </p:nvSpPr>
        <p:spPr bwMode="auto">
          <a:xfrm>
            <a:off x="3787775" y="3289300"/>
            <a:ext cx="1873250"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algn="l" eaLnBrk="1" hangingPunct="1"/>
            <a:r>
              <a:rPr lang="en-US" altLang="en-US" sz="1100" u="none"/>
              <a:t>                            </a:t>
            </a:r>
            <a:endParaRPr lang="en-US" altLang="en-US" b="0" u="none">
              <a:latin typeface="Arial" panose="020B0604020202020204" pitchFamily="34" charset="0"/>
            </a:endParaRPr>
          </a:p>
        </p:txBody>
      </p:sp>
      <p:pic>
        <p:nvPicPr>
          <p:cNvPr id="38921" name="Picture 9" descr="PNPdiagr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3400" y="3886200"/>
            <a:ext cx="40386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8" name="Rectangle 10"/>
          <p:cNvSpPr>
            <a:spLocks noGrp="1" noChangeArrowheads="1"/>
          </p:cNvSpPr>
          <p:nvPr>
            <p:ph type="title"/>
          </p:nvPr>
        </p:nvSpPr>
        <p:spPr>
          <a:xfrm>
            <a:off x="2057400" y="152400"/>
            <a:ext cx="7696200" cy="533400"/>
          </a:xfrm>
          <a:solidFill>
            <a:srgbClr val="99FF99"/>
          </a:solidFill>
        </p:spPr>
        <p:txBody>
          <a:bodyPr/>
          <a:lstStyle/>
          <a:p>
            <a:pPr eaLnBrk="1" hangingPunct="1"/>
            <a:r>
              <a:rPr lang="en-US" altLang="en-US" sz="3200">
                <a:latin typeface="Comic Sans MS" panose="030F0702030302020204" pitchFamily="66" charset="0"/>
              </a:rPr>
              <a:t>BJT Transistors:</a:t>
            </a:r>
          </a:p>
        </p:txBody>
      </p:sp>
      <p:sp>
        <p:nvSpPr>
          <p:cNvPr id="3079" name="AutoShape 13"/>
          <p:cNvSpPr>
            <a:spLocks noChangeArrowheads="1"/>
          </p:cNvSpPr>
          <p:nvPr/>
        </p:nvSpPr>
        <p:spPr bwMode="auto">
          <a:xfrm>
            <a:off x="2133600" y="2057400"/>
            <a:ext cx="2057400" cy="685800"/>
          </a:xfrm>
          <a:custGeom>
            <a:avLst/>
            <a:gdLst>
              <a:gd name="T0" fmla="*/ 1543050 w 21600"/>
              <a:gd name="T1" fmla="*/ 0 h 21600"/>
              <a:gd name="T2" fmla="*/ 0 w 21600"/>
              <a:gd name="T3" fmla="*/ 342900 h 21600"/>
              <a:gd name="T4" fmla="*/ 1543050 w 21600"/>
              <a:gd name="T5" fmla="*/ 685800 h 21600"/>
              <a:gd name="T6" fmla="*/ 2057400 w 21600"/>
              <a:gd name="T7" fmla="*/ 342900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99FF99"/>
          </a:solidFill>
          <a:ln w="9525">
            <a:solidFill>
              <a:schemeClr val="tx1"/>
            </a:solidFill>
            <a:miter lim="800000"/>
            <a:headEnd/>
            <a:tailEnd/>
          </a:ln>
        </p:spPr>
        <p:txBody>
          <a:bodyPr wrap="none" anchor="ct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eaLnBrk="1" hangingPunct="1"/>
            <a:endParaRPr lang="en-US" altLang="en-US" sz="2400"/>
          </a:p>
        </p:txBody>
      </p:sp>
      <p:sp>
        <p:nvSpPr>
          <p:cNvPr id="38927" name="AutoShape 15"/>
          <p:cNvSpPr>
            <a:spLocks noChangeArrowheads="1"/>
          </p:cNvSpPr>
          <p:nvPr/>
        </p:nvSpPr>
        <p:spPr bwMode="auto">
          <a:xfrm>
            <a:off x="2133600" y="4724400"/>
            <a:ext cx="2057400" cy="685800"/>
          </a:xfrm>
          <a:custGeom>
            <a:avLst/>
            <a:gdLst>
              <a:gd name="T0" fmla="*/ 1543050 w 21600"/>
              <a:gd name="T1" fmla="*/ 0 h 21600"/>
              <a:gd name="T2" fmla="*/ 0 w 21600"/>
              <a:gd name="T3" fmla="*/ 342900 h 21600"/>
              <a:gd name="T4" fmla="*/ 1543050 w 21600"/>
              <a:gd name="T5" fmla="*/ 685800 h 21600"/>
              <a:gd name="T6" fmla="*/ 2057400 w 21600"/>
              <a:gd name="T7" fmla="*/ 342900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99FF99"/>
          </a:solidFill>
          <a:ln w="9525">
            <a:solidFill>
              <a:schemeClr val="tx1"/>
            </a:solidFill>
            <a:miter lim="800000"/>
            <a:headEnd/>
            <a:tailEnd/>
          </a:ln>
        </p:spPr>
        <p:txBody>
          <a:bodyPr wrap="none" anchor="ct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eaLnBrk="1" hangingPunct="1"/>
            <a:endParaRPr lang="en-US" altLang="en-US"/>
          </a:p>
        </p:txBody>
      </p:sp>
      <p:sp>
        <p:nvSpPr>
          <p:cNvPr id="3081" name="Text Box 16"/>
          <p:cNvSpPr txBox="1">
            <a:spLocks noChangeArrowheads="1"/>
          </p:cNvSpPr>
          <p:nvPr/>
        </p:nvSpPr>
        <p:spPr bwMode="auto">
          <a:xfrm>
            <a:off x="1828800" y="1295401"/>
            <a:ext cx="1752600" cy="830997"/>
          </a:xfrm>
          <a:prstGeom prst="rect">
            <a:avLst/>
          </a:prstGeom>
          <a:solidFill>
            <a:srgbClr val="A4AEFA"/>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algn="l" eaLnBrk="1" hangingPunct="1">
              <a:spcBef>
                <a:spcPct val="50000"/>
              </a:spcBef>
            </a:pPr>
            <a:r>
              <a:rPr lang="en-US" altLang="en-US" sz="2400" u="none"/>
              <a:t>NPN</a:t>
            </a:r>
            <a:r>
              <a:rPr lang="en-US" altLang="en-US" sz="2400"/>
              <a:t> </a:t>
            </a:r>
            <a:r>
              <a:rPr lang="en-US" altLang="en-US" sz="2400" u="none"/>
              <a:t>Transistor</a:t>
            </a:r>
          </a:p>
        </p:txBody>
      </p:sp>
      <p:sp>
        <p:nvSpPr>
          <p:cNvPr id="38929" name="Text Box 17"/>
          <p:cNvSpPr txBox="1">
            <a:spLocks noChangeArrowheads="1"/>
          </p:cNvSpPr>
          <p:nvPr/>
        </p:nvSpPr>
        <p:spPr bwMode="auto">
          <a:xfrm>
            <a:off x="1828800" y="3962401"/>
            <a:ext cx="1752600" cy="830997"/>
          </a:xfrm>
          <a:prstGeom prst="rect">
            <a:avLst/>
          </a:prstGeom>
          <a:solidFill>
            <a:srgbClr val="A4AEFA"/>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algn="l" eaLnBrk="1" hangingPunct="1">
              <a:spcBef>
                <a:spcPct val="50000"/>
              </a:spcBef>
            </a:pPr>
            <a:r>
              <a:rPr lang="en-US" altLang="en-US" sz="2400" u="none"/>
              <a:t>PNP</a:t>
            </a:r>
            <a:r>
              <a:rPr lang="en-US" altLang="en-US" sz="2400"/>
              <a:t> </a:t>
            </a:r>
            <a:r>
              <a:rPr lang="en-US" altLang="en-US" sz="2400" u="none"/>
              <a:t>Transistor</a:t>
            </a:r>
          </a:p>
        </p:txBody>
      </p:sp>
      <p:sp>
        <p:nvSpPr>
          <p:cNvPr id="3083" name="Text Box 18"/>
          <p:cNvSpPr txBox="1">
            <a:spLocks noChangeArrowheads="1"/>
          </p:cNvSpPr>
          <p:nvPr/>
        </p:nvSpPr>
        <p:spPr bwMode="auto">
          <a:xfrm>
            <a:off x="8610600" y="1676401"/>
            <a:ext cx="20574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algn="l" eaLnBrk="1" hangingPunct="1"/>
            <a:r>
              <a:rPr lang="en-US" altLang="en-US" sz="2000" b="0" u="none"/>
              <a:t>Sandwiching a P-type layer between two n-type layers</a:t>
            </a:r>
            <a:r>
              <a:rPr lang="en-US" altLang="en-US" sz="2000"/>
              <a:t>.</a:t>
            </a:r>
          </a:p>
        </p:txBody>
      </p:sp>
      <p:sp>
        <p:nvSpPr>
          <p:cNvPr id="38932" name="Text Box 20"/>
          <p:cNvSpPr txBox="1">
            <a:spLocks noChangeArrowheads="1"/>
          </p:cNvSpPr>
          <p:nvPr/>
        </p:nvSpPr>
        <p:spPr bwMode="auto">
          <a:xfrm>
            <a:off x="8610600" y="4495801"/>
            <a:ext cx="20574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algn="l" eaLnBrk="1" hangingPunct="1"/>
            <a:r>
              <a:rPr lang="en-US" altLang="en-US" sz="2000" b="0" u="none"/>
              <a:t>Sandwiching a N-type layer between two p-type layers.</a:t>
            </a:r>
          </a:p>
        </p:txBody>
      </p:sp>
    </p:spTree>
    <p:extLst>
      <p:ext uri="{BB962C8B-B14F-4D97-AF65-F5344CB8AC3E}">
        <p14:creationId xmlns:p14="http://schemas.microsoft.com/office/powerpoint/2010/main" val="1593114306"/>
      </p:ext>
    </p:extLst>
  </p:cSld>
  <p:clrMapOvr>
    <a:masterClrMapping/>
  </p:clrMapOvr>
  <p:transition>
    <p:whee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38921"/>
                                        </p:tgtEl>
                                        <p:attrNameLst>
                                          <p:attrName>style.visibility</p:attrName>
                                        </p:attrNameLst>
                                      </p:cBhvr>
                                      <p:to>
                                        <p:strVal val="visible"/>
                                      </p:to>
                                    </p:set>
                                    <p:animEffect transition="in" filter="diamond(in)">
                                      <p:cBhvr>
                                        <p:cTn id="7" dur="2000"/>
                                        <p:tgtEl>
                                          <p:spTgt spid="38921"/>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38927"/>
                                        </p:tgtEl>
                                        <p:attrNameLst>
                                          <p:attrName>style.visibility</p:attrName>
                                        </p:attrNameLst>
                                      </p:cBhvr>
                                      <p:to>
                                        <p:strVal val="visible"/>
                                      </p:to>
                                    </p:set>
                                    <p:animEffect transition="in" filter="diamond(in)">
                                      <p:cBhvr>
                                        <p:cTn id="10" dur="2000"/>
                                        <p:tgtEl>
                                          <p:spTgt spid="38927"/>
                                        </p:tgtEl>
                                      </p:cBhvr>
                                    </p:animEffect>
                                  </p:childTnLst>
                                </p:cTn>
                              </p:par>
                              <p:par>
                                <p:cTn id="11" presetID="8" presetClass="entr" presetSubtype="16" fill="hold" grpId="0" nodeType="withEffect">
                                  <p:stCondLst>
                                    <p:cond delay="0"/>
                                  </p:stCondLst>
                                  <p:childTnLst>
                                    <p:set>
                                      <p:cBhvr>
                                        <p:cTn id="12" dur="1" fill="hold">
                                          <p:stCondLst>
                                            <p:cond delay="0"/>
                                          </p:stCondLst>
                                        </p:cTn>
                                        <p:tgtEl>
                                          <p:spTgt spid="38929"/>
                                        </p:tgtEl>
                                        <p:attrNameLst>
                                          <p:attrName>style.visibility</p:attrName>
                                        </p:attrNameLst>
                                      </p:cBhvr>
                                      <p:to>
                                        <p:strVal val="visible"/>
                                      </p:to>
                                    </p:set>
                                    <p:animEffect transition="in" filter="diamond(in)">
                                      <p:cBhvr>
                                        <p:cTn id="13" dur="2000"/>
                                        <p:tgtEl>
                                          <p:spTgt spid="38929"/>
                                        </p:tgtEl>
                                      </p:cBhvr>
                                    </p:animEffect>
                                  </p:childTnLst>
                                </p:cTn>
                              </p:par>
                              <p:par>
                                <p:cTn id="14" presetID="8" presetClass="entr" presetSubtype="16" fill="hold" grpId="0" nodeType="withEffect">
                                  <p:stCondLst>
                                    <p:cond delay="0"/>
                                  </p:stCondLst>
                                  <p:childTnLst>
                                    <p:set>
                                      <p:cBhvr>
                                        <p:cTn id="15" dur="1" fill="hold">
                                          <p:stCondLst>
                                            <p:cond delay="0"/>
                                          </p:stCondLst>
                                        </p:cTn>
                                        <p:tgtEl>
                                          <p:spTgt spid="38932"/>
                                        </p:tgtEl>
                                        <p:attrNameLst>
                                          <p:attrName>style.visibility</p:attrName>
                                        </p:attrNameLst>
                                      </p:cBhvr>
                                      <p:to>
                                        <p:strVal val="visible"/>
                                      </p:to>
                                    </p:set>
                                    <p:animEffect transition="in" filter="diamond(in)">
                                      <p:cBhvr>
                                        <p:cTn id="16" dur="2000"/>
                                        <p:tgtEl>
                                          <p:spTgt spid="389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27" grpId="0" animBg="1"/>
      <p:bldP spid="38929" grpId="0" animBg="1"/>
      <p:bldP spid="3893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p:cNvSpPr>
            <a:spLocks noChangeArrowheads="1"/>
          </p:cNvSpPr>
          <p:nvPr/>
        </p:nvSpPr>
        <p:spPr bwMode="auto">
          <a:xfrm>
            <a:off x="3733801" y="2590800"/>
            <a:ext cx="3222625" cy="164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algn="l" eaLnBrk="1" hangingPunct="1"/>
            <a:r>
              <a:rPr lang="en-US" altLang="en-US" sz="10200" u="none"/>
              <a:t> </a:t>
            </a:r>
            <a:r>
              <a:rPr lang="en-US" altLang="en-US" sz="1100" u="none"/>
              <a:t>                                        </a:t>
            </a:r>
            <a:r>
              <a:rPr lang="en-US" altLang="en-US" b="0" u="none">
                <a:latin typeface="Arial" panose="020B0604020202020204" pitchFamily="34" charset="0"/>
              </a:rPr>
              <a:t> </a:t>
            </a:r>
          </a:p>
        </p:txBody>
      </p:sp>
      <p:pic>
        <p:nvPicPr>
          <p:cNvPr id="4099" name="Picture 5" descr="NPNdiagram_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7000" y="1828800"/>
            <a:ext cx="32004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0" name="Rectangle 6"/>
          <p:cNvSpPr>
            <a:spLocks noGrp="1" noChangeArrowheads="1"/>
          </p:cNvSpPr>
          <p:nvPr>
            <p:ph type="title"/>
          </p:nvPr>
        </p:nvSpPr>
        <p:spPr>
          <a:xfrm>
            <a:off x="2514600" y="304800"/>
            <a:ext cx="7467600" cy="609600"/>
          </a:xfrm>
          <a:solidFill>
            <a:srgbClr val="99FF99"/>
          </a:solidFill>
        </p:spPr>
        <p:txBody>
          <a:bodyPr/>
          <a:lstStyle/>
          <a:p>
            <a:pPr eaLnBrk="1" hangingPunct="1"/>
            <a:r>
              <a:rPr lang="en-US" altLang="en-US" sz="3200" b="1" u="sng">
                <a:latin typeface="Comic Sans MS" panose="030F0702030302020204" pitchFamily="66" charset="0"/>
              </a:rPr>
              <a:t>How a “NPN” Transistor works?</a:t>
            </a:r>
          </a:p>
        </p:txBody>
      </p:sp>
      <p:sp>
        <p:nvSpPr>
          <p:cNvPr id="4101" name="Line 12"/>
          <p:cNvSpPr>
            <a:spLocks noChangeShapeType="1"/>
          </p:cNvSpPr>
          <p:nvPr/>
        </p:nvSpPr>
        <p:spPr bwMode="auto">
          <a:xfrm>
            <a:off x="6477000" y="5105400"/>
            <a:ext cx="0" cy="1066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2" name="Line 13"/>
          <p:cNvSpPr>
            <a:spLocks noChangeShapeType="1"/>
          </p:cNvSpPr>
          <p:nvPr/>
        </p:nvSpPr>
        <p:spPr bwMode="auto">
          <a:xfrm>
            <a:off x="6477000" y="6172200"/>
            <a:ext cx="762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3" name="Line 15"/>
          <p:cNvSpPr>
            <a:spLocks noChangeShapeType="1"/>
          </p:cNvSpPr>
          <p:nvPr/>
        </p:nvSpPr>
        <p:spPr bwMode="auto">
          <a:xfrm>
            <a:off x="8077200" y="5105400"/>
            <a:ext cx="0" cy="1066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4" name="Line 17"/>
          <p:cNvSpPr>
            <a:spLocks noChangeShapeType="1"/>
          </p:cNvSpPr>
          <p:nvPr/>
        </p:nvSpPr>
        <p:spPr bwMode="auto">
          <a:xfrm>
            <a:off x="9906000" y="5029200"/>
            <a:ext cx="0" cy="1143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5" name="Line 18"/>
          <p:cNvSpPr>
            <a:spLocks noChangeShapeType="1"/>
          </p:cNvSpPr>
          <p:nvPr/>
        </p:nvSpPr>
        <p:spPr bwMode="auto">
          <a:xfrm>
            <a:off x="7239000" y="5943600"/>
            <a:ext cx="0" cy="4572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6" name="Line 19"/>
          <p:cNvSpPr>
            <a:spLocks noChangeShapeType="1"/>
          </p:cNvSpPr>
          <p:nvPr/>
        </p:nvSpPr>
        <p:spPr bwMode="auto">
          <a:xfrm>
            <a:off x="7315200" y="6019800"/>
            <a:ext cx="0" cy="304800"/>
          </a:xfrm>
          <a:prstGeom prst="line">
            <a:avLst/>
          </a:prstGeom>
          <a:noFill/>
          <a:ln w="38100">
            <a:solidFill>
              <a:srgbClr val="3366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7" name="Line 21"/>
          <p:cNvSpPr>
            <a:spLocks noChangeShapeType="1"/>
          </p:cNvSpPr>
          <p:nvPr/>
        </p:nvSpPr>
        <p:spPr bwMode="auto">
          <a:xfrm>
            <a:off x="7315200" y="6172200"/>
            <a:ext cx="762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8" name="Line 22"/>
          <p:cNvSpPr>
            <a:spLocks noChangeShapeType="1"/>
          </p:cNvSpPr>
          <p:nvPr/>
        </p:nvSpPr>
        <p:spPr bwMode="auto">
          <a:xfrm>
            <a:off x="8001000" y="6172200"/>
            <a:ext cx="990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9" name="Line 23"/>
          <p:cNvSpPr>
            <a:spLocks noChangeShapeType="1"/>
          </p:cNvSpPr>
          <p:nvPr/>
        </p:nvSpPr>
        <p:spPr bwMode="auto">
          <a:xfrm>
            <a:off x="9067800" y="5943600"/>
            <a:ext cx="0" cy="4572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10" name="Line 24"/>
          <p:cNvSpPr>
            <a:spLocks noChangeShapeType="1"/>
          </p:cNvSpPr>
          <p:nvPr/>
        </p:nvSpPr>
        <p:spPr bwMode="auto">
          <a:xfrm>
            <a:off x="9144000" y="6019800"/>
            <a:ext cx="0" cy="304800"/>
          </a:xfrm>
          <a:prstGeom prst="line">
            <a:avLst/>
          </a:prstGeom>
          <a:noFill/>
          <a:ln w="38100">
            <a:solidFill>
              <a:srgbClr val="3366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11" name="Line 25"/>
          <p:cNvSpPr>
            <a:spLocks noChangeShapeType="1"/>
          </p:cNvSpPr>
          <p:nvPr/>
        </p:nvSpPr>
        <p:spPr bwMode="auto">
          <a:xfrm>
            <a:off x="9144000" y="6172200"/>
            <a:ext cx="762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4112" name="Picture 2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6464" y="3338514"/>
            <a:ext cx="219075"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3" name="Picture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81800" y="4495800"/>
            <a:ext cx="2552700"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14" name="Line 33"/>
          <p:cNvSpPr>
            <a:spLocks noChangeShapeType="1"/>
          </p:cNvSpPr>
          <p:nvPr/>
        </p:nvSpPr>
        <p:spPr bwMode="auto">
          <a:xfrm flipV="1">
            <a:off x="6477000" y="4800600"/>
            <a:ext cx="0" cy="304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15" name="Line 34"/>
          <p:cNvSpPr>
            <a:spLocks noChangeShapeType="1"/>
          </p:cNvSpPr>
          <p:nvPr/>
        </p:nvSpPr>
        <p:spPr bwMode="auto">
          <a:xfrm>
            <a:off x="6477000" y="4800600"/>
            <a:ext cx="381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16" name="Line 35"/>
          <p:cNvSpPr>
            <a:spLocks noChangeShapeType="1"/>
          </p:cNvSpPr>
          <p:nvPr/>
        </p:nvSpPr>
        <p:spPr bwMode="auto">
          <a:xfrm>
            <a:off x="8077200" y="4800600"/>
            <a:ext cx="0" cy="304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17" name="Line 39"/>
          <p:cNvSpPr>
            <a:spLocks noChangeShapeType="1"/>
          </p:cNvSpPr>
          <p:nvPr/>
        </p:nvSpPr>
        <p:spPr bwMode="auto">
          <a:xfrm>
            <a:off x="9296400" y="4800600"/>
            <a:ext cx="609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18" name="Line 40"/>
          <p:cNvSpPr>
            <a:spLocks noChangeShapeType="1"/>
          </p:cNvSpPr>
          <p:nvPr/>
        </p:nvSpPr>
        <p:spPr bwMode="auto">
          <a:xfrm>
            <a:off x="9906000" y="4800600"/>
            <a:ext cx="0" cy="304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19" name="Line 43"/>
          <p:cNvSpPr>
            <a:spLocks noChangeShapeType="1"/>
          </p:cNvSpPr>
          <p:nvPr/>
        </p:nvSpPr>
        <p:spPr bwMode="auto">
          <a:xfrm flipH="1">
            <a:off x="6705600" y="4114800"/>
            <a:ext cx="7620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120" name="Line 44"/>
          <p:cNvSpPr>
            <a:spLocks noChangeShapeType="1"/>
          </p:cNvSpPr>
          <p:nvPr/>
        </p:nvSpPr>
        <p:spPr bwMode="auto">
          <a:xfrm flipH="1">
            <a:off x="8077200" y="4114800"/>
            <a:ext cx="1524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121" name="Line 45"/>
          <p:cNvSpPr>
            <a:spLocks noChangeShapeType="1"/>
          </p:cNvSpPr>
          <p:nvPr/>
        </p:nvSpPr>
        <p:spPr bwMode="auto">
          <a:xfrm>
            <a:off x="9067800" y="4191000"/>
            <a:ext cx="5334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122" name="Text Box 47"/>
          <p:cNvSpPr txBox="1">
            <a:spLocks noChangeArrowheads="1"/>
          </p:cNvSpPr>
          <p:nvPr/>
        </p:nvSpPr>
        <p:spPr bwMode="auto">
          <a:xfrm>
            <a:off x="8229600" y="5105401"/>
            <a:ext cx="1447800" cy="396875"/>
          </a:xfrm>
          <a:prstGeom prst="rect">
            <a:avLst/>
          </a:prstGeom>
          <a:solidFill>
            <a:srgbClr val="F6FDA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eaLnBrk="1" hangingPunct="1"/>
            <a:r>
              <a:rPr lang="en-US" altLang="en-US" sz="2000"/>
              <a:t>Forward</a:t>
            </a:r>
          </a:p>
        </p:txBody>
      </p:sp>
      <p:sp>
        <p:nvSpPr>
          <p:cNvPr id="4123" name="Text Box 50"/>
          <p:cNvSpPr txBox="1">
            <a:spLocks noChangeArrowheads="1"/>
          </p:cNvSpPr>
          <p:nvPr/>
        </p:nvSpPr>
        <p:spPr bwMode="auto">
          <a:xfrm>
            <a:off x="6629400" y="5105401"/>
            <a:ext cx="1328738" cy="396875"/>
          </a:xfrm>
          <a:prstGeom prst="rect">
            <a:avLst/>
          </a:prstGeom>
          <a:solidFill>
            <a:srgbClr val="F6FDA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eaLnBrk="1" hangingPunct="1"/>
            <a:r>
              <a:rPr lang="en-US" altLang="en-US" sz="2000"/>
              <a:t>backward</a:t>
            </a:r>
          </a:p>
        </p:txBody>
      </p:sp>
      <p:sp>
        <p:nvSpPr>
          <p:cNvPr id="4124" name="Text Box 51"/>
          <p:cNvSpPr txBox="1">
            <a:spLocks noChangeArrowheads="1"/>
          </p:cNvSpPr>
          <p:nvPr/>
        </p:nvSpPr>
        <p:spPr bwMode="auto">
          <a:xfrm>
            <a:off x="1752600" y="2590800"/>
            <a:ext cx="3962400"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eaLnBrk="1" hangingPunct="1"/>
            <a:r>
              <a:rPr lang="en-US" altLang="en-US" sz="2400" b="0" u="none"/>
              <a:t>The base-emitter diode (forward) acts as a switch. when v1&gt;0.7  it lets the electrons flow toward collector. so we can control our output current (Ic) with the input current (Ib) by using transistors.</a:t>
            </a:r>
          </a:p>
        </p:txBody>
      </p:sp>
      <p:pic>
        <p:nvPicPr>
          <p:cNvPr id="4125" name="Picture 5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4000" y="5715001"/>
            <a:ext cx="533400"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26" name="Picture 5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05600" y="5867400"/>
            <a:ext cx="45720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27" name="Text Box 57"/>
          <p:cNvSpPr txBox="1">
            <a:spLocks noChangeArrowheads="1"/>
          </p:cNvSpPr>
          <p:nvPr/>
        </p:nvSpPr>
        <p:spPr bwMode="auto">
          <a:xfrm>
            <a:off x="6248401" y="4724400"/>
            <a:ext cx="373063" cy="457200"/>
          </a:xfrm>
          <a:prstGeom prst="rect">
            <a:avLst/>
          </a:prstGeom>
          <a:solidFill>
            <a:srgbClr val="FFCC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eaLnBrk="1" hangingPunct="1"/>
            <a:r>
              <a:rPr lang="en-US" altLang="en-US" sz="2400"/>
              <a:t>C</a:t>
            </a:r>
          </a:p>
        </p:txBody>
      </p:sp>
      <p:sp>
        <p:nvSpPr>
          <p:cNvPr id="4128" name="Text Box 58"/>
          <p:cNvSpPr txBox="1">
            <a:spLocks noChangeArrowheads="1"/>
          </p:cNvSpPr>
          <p:nvPr/>
        </p:nvSpPr>
        <p:spPr bwMode="auto">
          <a:xfrm>
            <a:off x="7924800" y="4724400"/>
            <a:ext cx="376238" cy="457200"/>
          </a:xfrm>
          <a:prstGeom prst="rect">
            <a:avLst/>
          </a:prstGeom>
          <a:solidFill>
            <a:srgbClr val="FFCC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eaLnBrk="1" hangingPunct="1"/>
            <a:r>
              <a:rPr lang="en-US" altLang="en-US" sz="2400"/>
              <a:t>B</a:t>
            </a:r>
          </a:p>
        </p:txBody>
      </p:sp>
      <p:sp>
        <p:nvSpPr>
          <p:cNvPr id="4129" name="Text Box 59"/>
          <p:cNvSpPr txBox="1">
            <a:spLocks noChangeArrowheads="1"/>
          </p:cNvSpPr>
          <p:nvPr/>
        </p:nvSpPr>
        <p:spPr bwMode="auto">
          <a:xfrm>
            <a:off x="9601200" y="4648200"/>
            <a:ext cx="374650" cy="457200"/>
          </a:xfrm>
          <a:prstGeom prst="rect">
            <a:avLst/>
          </a:prstGeom>
          <a:solidFill>
            <a:srgbClr val="FFCC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eaLnBrk="1" hangingPunct="1"/>
            <a:r>
              <a:rPr lang="en-US" altLang="en-US" sz="2400"/>
              <a:t>E</a:t>
            </a:r>
          </a:p>
        </p:txBody>
      </p:sp>
    </p:spTree>
    <p:extLst>
      <p:ext uri="{BB962C8B-B14F-4D97-AF65-F5344CB8AC3E}">
        <p14:creationId xmlns:p14="http://schemas.microsoft.com/office/powerpoint/2010/main" val="2193684579"/>
      </p:ext>
    </p:extLst>
  </p:cSld>
  <p:clrMapOvr>
    <a:masterClrMapping/>
  </p:clrMapOvr>
  <p:transition>
    <p:wheel spokes="1"/>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1" name="AutoShape 5"/>
          <p:cNvSpPr>
            <a:spLocks noChangeArrowheads="1"/>
          </p:cNvSpPr>
          <p:nvPr/>
        </p:nvSpPr>
        <p:spPr bwMode="auto">
          <a:xfrm>
            <a:off x="3429001" y="1066800"/>
            <a:ext cx="3910013" cy="2057400"/>
          </a:xfrm>
          <a:prstGeom prst="roundRect">
            <a:avLst>
              <a:gd name="adj" fmla="val 16667"/>
            </a:avLst>
          </a:prstGeom>
          <a:solidFill>
            <a:srgbClr val="E8FFA9"/>
          </a:solidFill>
          <a:ln w="38100">
            <a:solidFill>
              <a:schemeClr val="tx1"/>
            </a:solidFill>
            <a:round/>
            <a:headEnd type="none" w="sm" len="sm"/>
            <a:tailEnd type="none" w="sm" len="sm"/>
          </a:ln>
        </p:spPr>
        <p:txBody>
          <a:bodyPr wrap="none" anchor="ct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eaLnBrk="1" hangingPunct="1"/>
            <a:endParaRPr lang="en-US" altLang="en-US"/>
          </a:p>
        </p:txBody>
      </p:sp>
      <p:sp>
        <p:nvSpPr>
          <p:cNvPr id="19462" name="Line 6"/>
          <p:cNvSpPr>
            <a:spLocks noChangeShapeType="1"/>
          </p:cNvSpPr>
          <p:nvPr/>
        </p:nvSpPr>
        <p:spPr bwMode="auto">
          <a:xfrm>
            <a:off x="5749925" y="965201"/>
            <a:ext cx="1588" cy="2232025"/>
          </a:xfrm>
          <a:prstGeom prst="line">
            <a:avLst/>
          </a:prstGeom>
          <a:noFill/>
          <a:ln w="762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9463" name="Line 7"/>
          <p:cNvSpPr>
            <a:spLocks noChangeShapeType="1"/>
          </p:cNvSpPr>
          <p:nvPr/>
        </p:nvSpPr>
        <p:spPr bwMode="auto">
          <a:xfrm>
            <a:off x="3013076" y="2117725"/>
            <a:ext cx="2735263" cy="1588"/>
          </a:xfrm>
          <a:prstGeom prst="line">
            <a:avLst/>
          </a:prstGeom>
          <a:noFill/>
          <a:ln w="762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9464" name="Line 8"/>
          <p:cNvSpPr>
            <a:spLocks noChangeShapeType="1"/>
          </p:cNvSpPr>
          <p:nvPr/>
        </p:nvSpPr>
        <p:spPr bwMode="auto">
          <a:xfrm>
            <a:off x="5715000" y="2514601"/>
            <a:ext cx="827088" cy="682625"/>
          </a:xfrm>
          <a:prstGeom prst="line">
            <a:avLst/>
          </a:prstGeom>
          <a:noFill/>
          <a:ln w="76200">
            <a:solidFill>
              <a:schemeClr val="tx1"/>
            </a:solidFill>
            <a:round/>
            <a:headEnd type="none" w="sm" len="sm"/>
            <a:tailEnd type="arrow" w="lg" len="lg"/>
          </a:ln>
          <a:extLst>
            <a:ext uri="{909E8E84-426E-40DD-AFC4-6F175D3DCCD1}">
              <a14:hiddenFill xmlns:a14="http://schemas.microsoft.com/office/drawing/2010/main">
                <a:noFill/>
              </a14:hiddenFill>
            </a:ext>
          </a:extLst>
        </p:spPr>
        <p:txBody>
          <a:bodyPr/>
          <a:lstStyle/>
          <a:p>
            <a:endParaRPr lang="en-US"/>
          </a:p>
        </p:txBody>
      </p:sp>
      <p:sp>
        <p:nvSpPr>
          <p:cNvPr id="19465" name="Line 9"/>
          <p:cNvSpPr>
            <a:spLocks noChangeShapeType="1"/>
          </p:cNvSpPr>
          <p:nvPr/>
        </p:nvSpPr>
        <p:spPr bwMode="auto">
          <a:xfrm rot="5400000">
            <a:off x="5714207" y="1000920"/>
            <a:ext cx="792163" cy="720725"/>
          </a:xfrm>
          <a:prstGeom prst="line">
            <a:avLst/>
          </a:prstGeom>
          <a:noFill/>
          <a:ln w="76200">
            <a:solidFill>
              <a:schemeClr val="tx1"/>
            </a:solidFill>
            <a:round/>
            <a:headEnd type="none" w="sm" len="sm"/>
            <a:tailEnd type="none" w="lg" len="lg"/>
          </a:ln>
          <a:extLst>
            <a:ext uri="{909E8E84-426E-40DD-AFC4-6F175D3DCCD1}">
              <a14:hiddenFill xmlns:a14="http://schemas.microsoft.com/office/drawing/2010/main">
                <a:noFill/>
              </a14:hiddenFill>
            </a:ext>
          </a:extLst>
        </p:spPr>
        <p:txBody>
          <a:bodyPr/>
          <a:lstStyle/>
          <a:p>
            <a:endParaRPr lang="en-US"/>
          </a:p>
        </p:txBody>
      </p:sp>
      <p:sp>
        <p:nvSpPr>
          <p:cNvPr id="19466" name="Rectangle 10"/>
          <p:cNvSpPr>
            <a:spLocks noChangeArrowheads="1"/>
          </p:cNvSpPr>
          <p:nvPr/>
        </p:nvSpPr>
        <p:spPr bwMode="auto">
          <a:xfrm>
            <a:off x="6553200" y="838201"/>
            <a:ext cx="1544638" cy="462307"/>
          </a:xfrm>
          <a:prstGeom prst="rect">
            <a:avLst/>
          </a:prstGeom>
          <a:solidFill>
            <a:srgbClr val="FFFF00"/>
          </a:solidFill>
          <a:ln w="28575">
            <a:solidFill>
              <a:schemeClr val="tx1"/>
            </a:solidFill>
            <a:miter lim="800000"/>
            <a:headEnd/>
            <a:tailEnd/>
          </a:ln>
        </p:spPr>
        <p:txBody>
          <a:bodyPr lIns="92075" tIns="46038" rIns="92075" bIns="46038">
            <a:spAutoFit/>
          </a:bodyPr>
          <a:lstStyle>
            <a:lvl1pPr marL="187325" indent="-187325" defTabSz="541338" eaLnBrk="0" hangingPunct="0">
              <a:defRPr b="1" u="sng">
                <a:solidFill>
                  <a:schemeClr val="tx1"/>
                </a:solidFill>
                <a:latin typeface="Comic Sans MS" panose="030F0702030302020204" pitchFamily="66" charset="0"/>
                <a:cs typeface="Arial" panose="020B0604020202020204" pitchFamily="34" charset="0"/>
              </a:defRPr>
            </a:lvl1pPr>
            <a:lvl2pPr marL="742950" indent="-285750" defTabSz="541338" eaLnBrk="0" hangingPunct="0">
              <a:defRPr b="1" u="sng">
                <a:solidFill>
                  <a:schemeClr val="tx1"/>
                </a:solidFill>
                <a:latin typeface="Comic Sans MS" panose="030F0702030302020204" pitchFamily="66" charset="0"/>
                <a:cs typeface="Arial" panose="020B0604020202020204" pitchFamily="34" charset="0"/>
              </a:defRPr>
            </a:lvl2pPr>
            <a:lvl3pPr marL="1143000" indent="-228600" defTabSz="541338" eaLnBrk="0" hangingPunct="0">
              <a:defRPr b="1" u="sng">
                <a:solidFill>
                  <a:schemeClr val="tx1"/>
                </a:solidFill>
                <a:latin typeface="Comic Sans MS" panose="030F0702030302020204" pitchFamily="66" charset="0"/>
                <a:cs typeface="Arial" panose="020B0604020202020204" pitchFamily="34" charset="0"/>
              </a:defRPr>
            </a:lvl3pPr>
            <a:lvl4pPr marL="1600200" indent="-228600" defTabSz="541338" eaLnBrk="0" hangingPunct="0">
              <a:defRPr b="1" u="sng">
                <a:solidFill>
                  <a:schemeClr val="tx1"/>
                </a:solidFill>
                <a:latin typeface="Comic Sans MS" panose="030F0702030302020204" pitchFamily="66" charset="0"/>
                <a:cs typeface="Arial" panose="020B0604020202020204" pitchFamily="34" charset="0"/>
              </a:defRPr>
            </a:lvl4pPr>
            <a:lvl5pPr marL="2057400" indent="-228600" defTabSz="541338"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r>
              <a:rPr lang="en-US" altLang="en-US" sz="2400" u="none"/>
              <a:t>Collector</a:t>
            </a:r>
            <a:endParaRPr lang="en-US" altLang="en-US" sz="2400" u="none" baseline="30000"/>
          </a:p>
        </p:txBody>
      </p:sp>
      <p:sp>
        <p:nvSpPr>
          <p:cNvPr id="19467" name="Rectangle 11"/>
          <p:cNvSpPr>
            <a:spLocks noChangeArrowheads="1"/>
          </p:cNvSpPr>
          <p:nvPr/>
        </p:nvSpPr>
        <p:spPr bwMode="auto">
          <a:xfrm>
            <a:off x="6477000" y="2743201"/>
            <a:ext cx="1511300" cy="462307"/>
          </a:xfrm>
          <a:prstGeom prst="rect">
            <a:avLst/>
          </a:prstGeom>
          <a:solidFill>
            <a:srgbClr val="FFFF00"/>
          </a:solidFill>
          <a:ln w="28575">
            <a:solidFill>
              <a:schemeClr val="tx1"/>
            </a:solidFill>
            <a:miter lim="800000"/>
            <a:headEnd/>
            <a:tailEnd/>
          </a:ln>
        </p:spPr>
        <p:txBody>
          <a:bodyPr lIns="92075" tIns="46038" rIns="92075" bIns="46038">
            <a:spAutoFit/>
          </a:bodyPr>
          <a:lstStyle>
            <a:lvl1pPr marL="187325" indent="-187325" defTabSz="541338" eaLnBrk="0" hangingPunct="0">
              <a:defRPr b="1" u="sng">
                <a:solidFill>
                  <a:schemeClr val="tx1"/>
                </a:solidFill>
                <a:latin typeface="Comic Sans MS" panose="030F0702030302020204" pitchFamily="66" charset="0"/>
                <a:cs typeface="Arial" panose="020B0604020202020204" pitchFamily="34" charset="0"/>
              </a:defRPr>
            </a:lvl1pPr>
            <a:lvl2pPr marL="742950" indent="-285750" defTabSz="541338" eaLnBrk="0" hangingPunct="0">
              <a:defRPr b="1" u="sng">
                <a:solidFill>
                  <a:schemeClr val="tx1"/>
                </a:solidFill>
                <a:latin typeface="Comic Sans MS" panose="030F0702030302020204" pitchFamily="66" charset="0"/>
                <a:cs typeface="Arial" panose="020B0604020202020204" pitchFamily="34" charset="0"/>
              </a:defRPr>
            </a:lvl2pPr>
            <a:lvl3pPr marL="1143000" indent="-228600" defTabSz="541338" eaLnBrk="0" hangingPunct="0">
              <a:defRPr b="1" u="sng">
                <a:solidFill>
                  <a:schemeClr val="tx1"/>
                </a:solidFill>
                <a:latin typeface="Comic Sans MS" panose="030F0702030302020204" pitchFamily="66" charset="0"/>
                <a:cs typeface="Arial" panose="020B0604020202020204" pitchFamily="34" charset="0"/>
              </a:defRPr>
            </a:lvl3pPr>
            <a:lvl4pPr marL="1600200" indent="-228600" defTabSz="541338" eaLnBrk="0" hangingPunct="0">
              <a:defRPr b="1" u="sng">
                <a:solidFill>
                  <a:schemeClr val="tx1"/>
                </a:solidFill>
                <a:latin typeface="Comic Sans MS" panose="030F0702030302020204" pitchFamily="66" charset="0"/>
                <a:cs typeface="Arial" panose="020B0604020202020204" pitchFamily="34" charset="0"/>
              </a:defRPr>
            </a:lvl4pPr>
            <a:lvl5pPr marL="2057400" indent="-228600" defTabSz="541338"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r>
              <a:rPr lang="en-US" altLang="en-US" sz="2400" u="none"/>
              <a:t>Emitter</a:t>
            </a:r>
            <a:endParaRPr lang="en-US" altLang="en-US" sz="2400" u="none" baseline="30000"/>
          </a:p>
        </p:txBody>
      </p:sp>
      <p:sp>
        <p:nvSpPr>
          <p:cNvPr id="19468" name="Rectangle 12"/>
          <p:cNvSpPr>
            <a:spLocks noChangeArrowheads="1"/>
          </p:cNvSpPr>
          <p:nvPr/>
        </p:nvSpPr>
        <p:spPr bwMode="auto">
          <a:xfrm>
            <a:off x="3657601" y="1600201"/>
            <a:ext cx="1031875" cy="462307"/>
          </a:xfrm>
          <a:prstGeom prst="rect">
            <a:avLst/>
          </a:prstGeom>
          <a:solidFill>
            <a:srgbClr val="FFFF00"/>
          </a:solidFill>
          <a:ln w="28575">
            <a:solidFill>
              <a:schemeClr val="tx1"/>
            </a:solidFill>
            <a:miter lim="800000"/>
            <a:headEnd/>
            <a:tailEnd/>
          </a:ln>
        </p:spPr>
        <p:txBody>
          <a:bodyPr lIns="92075" tIns="46038" rIns="92075" bIns="46038">
            <a:spAutoFit/>
          </a:bodyPr>
          <a:lstStyle>
            <a:lvl1pPr marL="187325" indent="-187325" defTabSz="541338" eaLnBrk="0" hangingPunct="0">
              <a:defRPr b="1" u="sng">
                <a:solidFill>
                  <a:schemeClr val="tx1"/>
                </a:solidFill>
                <a:latin typeface="Comic Sans MS" panose="030F0702030302020204" pitchFamily="66" charset="0"/>
                <a:cs typeface="Arial" panose="020B0604020202020204" pitchFamily="34" charset="0"/>
              </a:defRPr>
            </a:lvl1pPr>
            <a:lvl2pPr marL="742950" indent="-285750" defTabSz="541338" eaLnBrk="0" hangingPunct="0">
              <a:defRPr b="1" u="sng">
                <a:solidFill>
                  <a:schemeClr val="tx1"/>
                </a:solidFill>
                <a:latin typeface="Comic Sans MS" panose="030F0702030302020204" pitchFamily="66" charset="0"/>
                <a:cs typeface="Arial" panose="020B0604020202020204" pitchFamily="34" charset="0"/>
              </a:defRPr>
            </a:lvl2pPr>
            <a:lvl3pPr marL="1143000" indent="-228600" defTabSz="541338" eaLnBrk="0" hangingPunct="0">
              <a:defRPr b="1" u="sng">
                <a:solidFill>
                  <a:schemeClr val="tx1"/>
                </a:solidFill>
                <a:latin typeface="Comic Sans MS" panose="030F0702030302020204" pitchFamily="66" charset="0"/>
                <a:cs typeface="Arial" panose="020B0604020202020204" pitchFamily="34" charset="0"/>
              </a:defRPr>
            </a:lvl3pPr>
            <a:lvl4pPr marL="1600200" indent="-228600" defTabSz="541338" eaLnBrk="0" hangingPunct="0">
              <a:defRPr b="1" u="sng">
                <a:solidFill>
                  <a:schemeClr val="tx1"/>
                </a:solidFill>
                <a:latin typeface="Comic Sans MS" panose="030F0702030302020204" pitchFamily="66" charset="0"/>
                <a:cs typeface="Arial" panose="020B0604020202020204" pitchFamily="34" charset="0"/>
              </a:defRPr>
            </a:lvl4pPr>
            <a:lvl5pPr marL="2057400" indent="-228600" defTabSz="541338"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r>
              <a:rPr lang="en-US" altLang="en-US" sz="2400" u="none"/>
              <a:t>Base</a:t>
            </a:r>
            <a:endParaRPr lang="en-US" altLang="en-US" sz="2400" u="none" baseline="30000"/>
          </a:p>
        </p:txBody>
      </p:sp>
      <p:sp>
        <p:nvSpPr>
          <p:cNvPr id="5130" name="Rectangle 13"/>
          <p:cNvSpPr>
            <a:spLocks noChangeArrowheads="1"/>
          </p:cNvSpPr>
          <p:nvPr/>
        </p:nvSpPr>
        <p:spPr bwMode="auto">
          <a:xfrm>
            <a:off x="2743200" y="228600"/>
            <a:ext cx="7239000" cy="579438"/>
          </a:xfrm>
          <a:prstGeom prst="rect">
            <a:avLst/>
          </a:prstGeom>
          <a:solidFill>
            <a:srgbClr val="99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algn="l" eaLnBrk="1" hangingPunct="1"/>
            <a:r>
              <a:rPr lang="en-US" altLang="en-US" sz="3200" u="none"/>
              <a:t>Transistors have three terminals</a:t>
            </a:r>
            <a:r>
              <a:rPr lang="en-US" altLang="en-US" sz="3200" b="0" u="none"/>
              <a:t>:</a:t>
            </a:r>
          </a:p>
        </p:txBody>
      </p:sp>
      <p:sp>
        <p:nvSpPr>
          <p:cNvPr id="19470" name="Text Box 14"/>
          <p:cNvSpPr txBox="1">
            <a:spLocks noChangeArrowheads="1"/>
          </p:cNvSpPr>
          <p:nvPr/>
        </p:nvSpPr>
        <p:spPr bwMode="auto">
          <a:xfrm>
            <a:off x="1524000" y="4800601"/>
            <a:ext cx="4191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eaLnBrk="1" hangingPunct="1"/>
            <a:r>
              <a:rPr lang="en-US" altLang="en-US" sz="2000" u="none"/>
              <a:t>Transistors work in 3 regions</a:t>
            </a:r>
          </a:p>
        </p:txBody>
      </p:sp>
      <p:sp>
        <p:nvSpPr>
          <p:cNvPr id="19471" name="Line 15"/>
          <p:cNvSpPr>
            <a:spLocks noChangeShapeType="1"/>
          </p:cNvSpPr>
          <p:nvPr/>
        </p:nvSpPr>
        <p:spPr bwMode="auto">
          <a:xfrm flipV="1">
            <a:off x="5638800" y="4114800"/>
            <a:ext cx="6858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472" name="Line 16"/>
          <p:cNvSpPr>
            <a:spLocks noChangeShapeType="1"/>
          </p:cNvSpPr>
          <p:nvPr/>
        </p:nvSpPr>
        <p:spPr bwMode="auto">
          <a:xfrm>
            <a:off x="5715000" y="5029200"/>
            <a:ext cx="762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473" name="Line 17"/>
          <p:cNvSpPr>
            <a:spLocks noChangeShapeType="1"/>
          </p:cNvSpPr>
          <p:nvPr/>
        </p:nvSpPr>
        <p:spPr bwMode="auto">
          <a:xfrm>
            <a:off x="5638800" y="5181600"/>
            <a:ext cx="6858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475" name="Text Box 19"/>
          <p:cNvSpPr txBox="1">
            <a:spLocks noChangeArrowheads="1"/>
          </p:cNvSpPr>
          <p:nvPr/>
        </p:nvSpPr>
        <p:spPr bwMode="auto">
          <a:xfrm>
            <a:off x="6705601" y="3581400"/>
            <a:ext cx="2462213"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eaLnBrk="1" hangingPunct="1"/>
            <a:r>
              <a:rPr lang="en-US" altLang="en-US" sz="2400" u="none"/>
              <a:t>Active: </a:t>
            </a:r>
            <a:r>
              <a:rPr lang="en-US" altLang="en-US" u="none"/>
              <a:t>Always on</a:t>
            </a:r>
          </a:p>
          <a:p>
            <a:pPr eaLnBrk="1" hangingPunct="1"/>
            <a:r>
              <a:rPr lang="en-US" altLang="en-US" u="none"/>
              <a:t>Ic=BIb</a:t>
            </a:r>
            <a:endParaRPr lang="en-US" altLang="en-US" sz="2400" u="none"/>
          </a:p>
        </p:txBody>
      </p:sp>
      <p:sp>
        <p:nvSpPr>
          <p:cNvPr id="19476" name="Text Box 20"/>
          <p:cNvSpPr txBox="1">
            <a:spLocks noChangeArrowheads="1"/>
          </p:cNvSpPr>
          <p:nvPr/>
        </p:nvSpPr>
        <p:spPr bwMode="auto">
          <a:xfrm>
            <a:off x="6705600" y="4648200"/>
            <a:ext cx="3581400"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eaLnBrk="1" hangingPunct="1"/>
            <a:r>
              <a:rPr lang="en-US" altLang="en-US" sz="2400" u="none"/>
              <a:t>Saturation</a:t>
            </a:r>
            <a:r>
              <a:rPr lang="en-US" altLang="en-US" u="none"/>
              <a:t> :Ic=Isaturation</a:t>
            </a:r>
          </a:p>
          <a:p>
            <a:pPr eaLnBrk="1" hangingPunct="1"/>
            <a:r>
              <a:rPr lang="en-US" altLang="en-US" u="none"/>
              <a:t>On as a switch</a:t>
            </a:r>
            <a:endParaRPr lang="en-US" altLang="en-US" sz="2400" u="none"/>
          </a:p>
        </p:txBody>
      </p:sp>
      <p:sp>
        <p:nvSpPr>
          <p:cNvPr id="19477" name="Text Box 21"/>
          <p:cNvSpPr txBox="1">
            <a:spLocks noChangeArrowheads="1"/>
          </p:cNvSpPr>
          <p:nvPr/>
        </p:nvSpPr>
        <p:spPr bwMode="auto">
          <a:xfrm>
            <a:off x="6808788" y="5638800"/>
            <a:ext cx="1947862"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eaLnBrk="1" hangingPunct="1"/>
            <a:r>
              <a:rPr lang="en-US" altLang="en-US" sz="2400" u="none"/>
              <a:t>Off</a:t>
            </a:r>
            <a:r>
              <a:rPr lang="en-US" altLang="en-US" u="none"/>
              <a:t> :Ic=0</a:t>
            </a:r>
          </a:p>
          <a:p>
            <a:pPr eaLnBrk="1" hangingPunct="1"/>
            <a:r>
              <a:rPr lang="en-US" altLang="en-US" u="none"/>
              <a:t>Off as a switch</a:t>
            </a:r>
            <a:endParaRPr lang="en-US" altLang="en-US" sz="2400" u="none"/>
          </a:p>
        </p:txBody>
      </p:sp>
    </p:spTree>
    <p:extLst>
      <p:ext uri="{BB962C8B-B14F-4D97-AF65-F5344CB8AC3E}">
        <p14:creationId xmlns:p14="http://schemas.microsoft.com/office/powerpoint/2010/main" val="3550951829"/>
      </p:ext>
    </p:extLst>
  </p:cSld>
  <p:clrMapOvr>
    <a:masterClrMapping/>
  </p:clrMapOvr>
  <p:transition>
    <p:wheel spokes="2"/>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19461"/>
                                        </p:tgtEl>
                                        <p:attrNameLst>
                                          <p:attrName>style.visibility</p:attrName>
                                        </p:attrNameLst>
                                      </p:cBhvr>
                                      <p:to>
                                        <p:strVal val="visible"/>
                                      </p:to>
                                    </p:set>
                                    <p:animEffect transition="in" filter="dissolve">
                                      <p:cBhvr>
                                        <p:cTn id="7" dur="500"/>
                                        <p:tgtEl>
                                          <p:spTgt spid="19461"/>
                                        </p:tgtEl>
                                      </p:cBhvr>
                                    </p:animEffect>
                                  </p:childTnLst>
                                </p:cTn>
                              </p:par>
                              <p:par>
                                <p:cTn id="8" presetID="9" presetClass="entr" presetSubtype="0" fill="hold" nodeType="withEffect">
                                  <p:stCondLst>
                                    <p:cond delay="0"/>
                                  </p:stCondLst>
                                  <p:childTnLst>
                                    <p:set>
                                      <p:cBhvr>
                                        <p:cTn id="9" dur="1" fill="hold">
                                          <p:stCondLst>
                                            <p:cond delay="0"/>
                                          </p:stCondLst>
                                        </p:cTn>
                                        <p:tgtEl>
                                          <p:spTgt spid="19462"/>
                                        </p:tgtEl>
                                        <p:attrNameLst>
                                          <p:attrName>style.visibility</p:attrName>
                                        </p:attrNameLst>
                                      </p:cBhvr>
                                      <p:to>
                                        <p:strVal val="visible"/>
                                      </p:to>
                                    </p:set>
                                    <p:animEffect transition="in" filter="dissolve">
                                      <p:cBhvr>
                                        <p:cTn id="10" dur="500"/>
                                        <p:tgtEl>
                                          <p:spTgt spid="19462"/>
                                        </p:tgtEl>
                                      </p:cBhvr>
                                    </p:animEffect>
                                  </p:childTnLst>
                                </p:cTn>
                              </p:par>
                              <p:par>
                                <p:cTn id="11" presetID="9" presetClass="entr" presetSubtype="0" fill="hold" nodeType="withEffect">
                                  <p:stCondLst>
                                    <p:cond delay="0"/>
                                  </p:stCondLst>
                                  <p:childTnLst>
                                    <p:set>
                                      <p:cBhvr>
                                        <p:cTn id="12" dur="1" fill="hold">
                                          <p:stCondLst>
                                            <p:cond delay="0"/>
                                          </p:stCondLst>
                                        </p:cTn>
                                        <p:tgtEl>
                                          <p:spTgt spid="19463"/>
                                        </p:tgtEl>
                                        <p:attrNameLst>
                                          <p:attrName>style.visibility</p:attrName>
                                        </p:attrNameLst>
                                      </p:cBhvr>
                                      <p:to>
                                        <p:strVal val="visible"/>
                                      </p:to>
                                    </p:set>
                                    <p:animEffect transition="in" filter="dissolve">
                                      <p:cBhvr>
                                        <p:cTn id="13" dur="500"/>
                                        <p:tgtEl>
                                          <p:spTgt spid="19463"/>
                                        </p:tgtEl>
                                      </p:cBhvr>
                                    </p:animEffect>
                                  </p:childTnLst>
                                </p:cTn>
                              </p:par>
                              <p:par>
                                <p:cTn id="14" presetID="9" presetClass="entr" presetSubtype="0" fill="hold" nodeType="withEffect">
                                  <p:stCondLst>
                                    <p:cond delay="0"/>
                                  </p:stCondLst>
                                  <p:childTnLst>
                                    <p:set>
                                      <p:cBhvr>
                                        <p:cTn id="15" dur="1" fill="hold">
                                          <p:stCondLst>
                                            <p:cond delay="0"/>
                                          </p:stCondLst>
                                        </p:cTn>
                                        <p:tgtEl>
                                          <p:spTgt spid="19464"/>
                                        </p:tgtEl>
                                        <p:attrNameLst>
                                          <p:attrName>style.visibility</p:attrName>
                                        </p:attrNameLst>
                                      </p:cBhvr>
                                      <p:to>
                                        <p:strVal val="visible"/>
                                      </p:to>
                                    </p:set>
                                    <p:animEffect transition="in" filter="dissolve">
                                      <p:cBhvr>
                                        <p:cTn id="16" dur="500"/>
                                        <p:tgtEl>
                                          <p:spTgt spid="19464"/>
                                        </p:tgtEl>
                                      </p:cBhvr>
                                    </p:animEffect>
                                  </p:childTnLst>
                                </p:cTn>
                              </p:par>
                              <p:par>
                                <p:cTn id="17" presetID="9" presetClass="entr" presetSubtype="0" fill="hold" nodeType="withEffect">
                                  <p:stCondLst>
                                    <p:cond delay="0"/>
                                  </p:stCondLst>
                                  <p:childTnLst>
                                    <p:set>
                                      <p:cBhvr>
                                        <p:cTn id="18" dur="1" fill="hold">
                                          <p:stCondLst>
                                            <p:cond delay="0"/>
                                          </p:stCondLst>
                                        </p:cTn>
                                        <p:tgtEl>
                                          <p:spTgt spid="19465"/>
                                        </p:tgtEl>
                                        <p:attrNameLst>
                                          <p:attrName>style.visibility</p:attrName>
                                        </p:attrNameLst>
                                      </p:cBhvr>
                                      <p:to>
                                        <p:strVal val="visible"/>
                                      </p:to>
                                    </p:set>
                                    <p:animEffect transition="in" filter="dissolve">
                                      <p:cBhvr>
                                        <p:cTn id="19" dur="500"/>
                                        <p:tgtEl>
                                          <p:spTgt spid="19465"/>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19468"/>
                                        </p:tgtEl>
                                        <p:attrNameLst>
                                          <p:attrName>style.visibility</p:attrName>
                                        </p:attrNameLst>
                                      </p:cBhvr>
                                      <p:to>
                                        <p:strVal val="visible"/>
                                      </p:to>
                                    </p:set>
                                    <p:animEffect transition="in" filter="dissolve">
                                      <p:cBhvr>
                                        <p:cTn id="22" dur="500"/>
                                        <p:tgtEl>
                                          <p:spTgt spid="19468"/>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19466"/>
                                        </p:tgtEl>
                                        <p:attrNameLst>
                                          <p:attrName>style.visibility</p:attrName>
                                        </p:attrNameLst>
                                      </p:cBhvr>
                                      <p:to>
                                        <p:strVal val="visible"/>
                                      </p:to>
                                    </p:set>
                                    <p:animEffect transition="in" filter="dissolve">
                                      <p:cBhvr>
                                        <p:cTn id="25" dur="500"/>
                                        <p:tgtEl>
                                          <p:spTgt spid="19466"/>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19467"/>
                                        </p:tgtEl>
                                        <p:attrNameLst>
                                          <p:attrName>style.visibility</p:attrName>
                                        </p:attrNameLst>
                                      </p:cBhvr>
                                      <p:to>
                                        <p:strVal val="visible"/>
                                      </p:to>
                                    </p:set>
                                    <p:animEffect transition="in" filter="dissolve">
                                      <p:cBhvr>
                                        <p:cTn id="28" dur="500"/>
                                        <p:tgtEl>
                                          <p:spTgt spid="19467"/>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9470"/>
                                        </p:tgtEl>
                                        <p:attrNameLst>
                                          <p:attrName>style.visibility</p:attrName>
                                        </p:attrNameLst>
                                      </p:cBhvr>
                                      <p:to>
                                        <p:strVal val="visible"/>
                                      </p:to>
                                    </p:set>
                                    <p:anim calcmode="lin" valueType="num">
                                      <p:cBhvr additive="base">
                                        <p:cTn id="33" dur="500" fill="hold"/>
                                        <p:tgtEl>
                                          <p:spTgt spid="19470"/>
                                        </p:tgtEl>
                                        <p:attrNameLst>
                                          <p:attrName>ppt_x</p:attrName>
                                        </p:attrNameLst>
                                      </p:cBhvr>
                                      <p:tavLst>
                                        <p:tav tm="0">
                                          <p:val>
                                            <p:strVal val="#ppt_x"/>
                                          </p:val>
                                        </p:tav>
                                        <p:tav tm="100000">
                                          <p:val>
                                            <p:strVal val="#ppt_x"/>
                                          </p:val>
                                        </p:tav>
                                      </p:tavLst>
                                    </p:anim>
                                    <p:anim calcmode="lin" valueType="num">
                                      <p:cBhvr additive="base">
                                        <p:cTn id="34" dur="500" fill="hold"/>
                                        <p:tgtEl>
                                          <p:spTgt spid="19470"/>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9471"/>
                                        </p:tgtEl>
                                        <p:attrNameLst>
                                          <p:attrName>style.visibility</p:attrName>
                                        </p:attrNameLst>
                                      </p:cBhvr>
                                      <p:to>
                                        <p:strVal val="visible"/>
                                      </p:to>
                                    </p:set>
                                    <p:anim calcmode="lin" valueType="num">
                                      <p:cBhvr additive="base">
                                        <p:cTn id="37" dur="500" fill="hold"/>
                                        <p:tgtEl>
                                          <p:spTgt spid="19471"/>
                                        </p:tgtEl>
                                        <p:attrNameLst>
                                          <p:attrName>ppt_x</p:attrName>
                                        </p:attrNameLst>
                                      </p:cBhvr>
                                      <p:tavLst>
                                        <p:tav tm="0">
                                          <p:val>
                                            <p:strVal val="#ppt_x"/>
                                          </p:val>
                                        </p:tav>
                                        <p:tav tm="100000">
                                          <p:val>
                                            <p:strVal val="#ppt_x"/>
                                          </p:val>
                                        </p:tav>
                                      </p:tavLst>
                                    </p:anim>
                                    <p:anim calcmode="lin" valueType="num">
                                      <p:cBhvr additive="base">
                                        <p:cTn id="38" dur="500" fill="hold"/>
                                        <p:tgtEl>
                                          <p:spTgt spid="19471"/>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9472"/>
                                        </p:tgtEl>
                                        <p:attrNameLst>
                                          <p:attrName>style.visibility</p:attrName>
                                        </p:attrNameLst>
                                      </p:cBhvr>
                                      <p:to>
                                        <p:strVal val="visible"/>
                                      </p:to>
                                    </p:set>
                                    <p:anim calcmode="lin" valueType="num">
                                      <p:cBhvr additive="base">
                                        <p:cTn id="41" dur="500" fill="hold"/>
                                        <p:tgtEl>
                                          <p:spTgt spid="19472"/>
                                        </p:tgtEl>
                                        <p:attrNameLst>
                                          <p:attrName>ppt_x</p:attrName>
                                        </p:attrNameLst>
                                      </p:cBhvr>
                                      <p:tavLst>
                                        <p:tav tm="0">
                                          <p:val>
                                            <p:strVal val="#ppt_x"/>
                                          </p:val>
                                        </p:tav>
                                        <p:tav tm="100000">
                                          <p:val>
                                            <p:strVal val="#ppt_x"/>
                                          </p:val>
                                        </p:tav>
                                      </p:tavLst>
                                    </p:anim>
                                    <p:anim calcmode="lin" valueType="num">
                                      <p:cBhvr additive="base">
                                        <p:cTn id="42" dur="500" fill="hold"/>
                                        <p:tgtEl>
                                          <p:spTgt spid="19472"/>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19473"/>
                                        </p:tgtEl>
                                        <p:attrNameLst>
                                          <p:attrName>style.visibility</p:attrName>
                                        </p:attrNameLst>
                                      </p:cBhvr>
                                      <p:to>
                                        <p:strVal val="visible"/>
                                      </p:to>
                                    </p:set>
                                    <p:anim calcmode="lin" valueType="num">
                                      <p:cBhvr additive="base">
                                        <p:cTn id="45" dur="500" fill="hold"/>
                                        <p:tgtEl>
                                          <p:spTgt spid="19473"/>
                                        </p:tgtEl>
                                        <p:attrNameLst>
                                          <p:attrName>ppt_x</p:attrName>
                                        </p:attrNameLst>
                                      </p:cBhvr>
                                      <p:tavLst>
                                        <p:tav tm="0">
                                          <p:val>
                                            <p:strVal val="#ppt_x"/>
                                          </p:val>
                                        </p:tav>
                                        <p:tav tm="100000">
                                          <p:val>
                                            <p:strVal val="#ppt_x"/>
                                          </p:val>
                                        </p:tav>
                                      </p:tavLst>
                                    </p:anim>
                                    <p:anim calcmode="lin" valueType="num">
                                      <p:cBhvr additive="base">
                                        <p:cTn id="46" dur="500" fill="hold"/>
                                        <p:tgtEl>
                                          <p:spTgt spid="19473"/>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9475"/>
                                        </p:tgtEl>
                                        <p:attrNameLst>
                                          <p:attrName>style.visibility</p:attrName>
                                        </p:attrNameLst>
                                      </p:cBhvr>
                                      <p:to>
                                        <p:strVal val="visible"/>
                                      </p:to>
                                    </p:set>
                                    <p:anim calcmode="lin" valueType="num">
                                      <p:cBhvr additive="base">
                                        <p:cTn id="49" dur="500" fill="hold"/>
                                        <p:tgtEl>
                                          <p:spTgt spid="19475"/>
                                        </p:tgtEl>
                                        <p:attrNameLst>
                                          <p:attrName>ppt_x</p:attrName>
                                        </p:attrNameLst>
                                      </p:cBhvr>
                                      <p:tavLst>
                                        <p:tav tm="0">
                                          <p:val>
                                            <p:strVal val="#ppt_x"/>
                                          </p:val>
                                        </p:tav>
                                        <p:tav tm="100000">
                                          <p:val>
                                            <p:strVal val="#ppt_x"/>
                                          </p:val>
                                        </p:tav>
                                      </p:tavLst>
                                    </p:anim>
                                    <p:anim calcmode="lin" valueType="num">
                                      <p:cBhvr additive="base">
                                        <p:cTn id="50" dur="500" fill="hold"/>
                                        <p:tgtEl>
                                          <p:spTgt spid="19475"/>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9476"/>
                                        </p:tgtEl>
                                        <p:attrNameLst>
                                          <p:attrName>style.visibility</p:attrName>
                                        </p:attrNameLst>
                                      </p:cBhvr>
                                      <p:to>
                                        <p:strVal val="visible"/>
                                      </p:to>
                                    </p:set>
                                    <p:anim calcmode="lin" valueType="num">
                                      <p:cBhvr additive="base">
                                        <p:cTn id="53" dur="500" fill="hold"/>
                                        <p:tgtEl>
                                          <p:spTgt spid="19476"/>
                                        </p:tgtEl>
                                        <p:attrNameLst>
                                          <p:attrName>ppt_x</p:attrName>
                                        </p:attrNameLst>
                                      </p:cBhvr>
                                      <p:tavLst>
                                        <p:tav tm="0">
                                          <p:val>
                                            <p:strVal val="#ppt_x"/>
                                          </p:val>
                                        </p:tav>
                                        <p:tav tm="100000">
                                          <p:val>
                                            <p:strVal val="#ppt_x"/>
                                          </p:val>
                                        </p:tav>
                                      </p:tavLst>
                                    </p:anim>
                                    <p:anim calcmode="lin" valueType="num">
                                      <p:cBhvr additive="base">
                                        <p:cTn id="54" dur="500" fill="hold"/>
                                        <p:tgtEl>
                                          <p:spTgt spid="19476"/>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19477"/>
                                        </p:tgtEl>
                                        <p:attrNameLst>
                                          <p:attrName>style.visibility</p:attrName>
                                        </p:attrNameLst>
                                      </p:cBhvr>
                                      <p:to>
                                        <p:strVal val="visible"/>
                                      </p:to>
                                    </p:set>
                                    <p:anim calcmode="lin" valueType="num">
                                      <p:cBhvr additive="base">
                                        <p:cTn id="57" dur="500" fill="hold"/>
                                        <p:tgtEl>
                                          <p:spTgt spid="19477"/>
                                        </p:tgtEl>
                                        <p:attrNameLst>
                                          <p:attrName>ppt_x</p:attrName>
                                        </p:attrNameLst>
                                      </p:cBhvr>
                                      <p:tavLst>
                                        <p:tav tm="0">
                                          <p:val>
                                            <p:strVal val="#ppt_x"/>
                                          </p:val>
                                        </p:tav>
                                        <p:tav tm="100000">
                                          <p:val>
                                            <p:strVal val="#ppt_x"/>
                                          </p:val>
                                        </p:tav>
                                      </p:tavLst>
                                    </p:anim>
                                    <p:anim calcmode="lin" valueType="num">
                                      <p:cBhvr additive="base">
                                        <p:cTn id="58" dur="500" fill="hold"/>
                                        <p:tgtEl>
                                          <p:spTgt spid="1947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1" grpId="0" animBg="1"/>
      <p:bldP spid="19466" grpId="0" animBg="1"/>
      <p:bldP spid="19467" grpId="0" animBg="1"/>
      <p:bldP spid="19468" grpId="0" animBg="1"/>
      <p:bldP spid="19470" grpId="0"/>
      <p:bldP spid="19475" grpId="0"/>
      <p:bldP spid="19476" grpId="0"/>
      <p:bldP spid="1947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AutoShape 4"/>
          <p:cNvSpPr>
            <a:spLocks noChangeArrowheads="1"/>
          </p:cNvSpPr>
          <p:nvPr/>
        </p:nvSpPr>
        <p:spPr bwMode="auto">
          <a:xfrm>
            <a:off x="2495551" y="1196976"/>
            <a:ext cx="4824413" cy="3097213"/>
          </a:xfrm>
          <a:prstGeom prst="roundRect">
            <a:avLst>
              <a:gd name="adj" fmla="val 16667"/>
            </a:avLst>
          </a:prstGeom>
          <a:solidFill>
            <a:srgbClr val="E8FFA9"/>
          </a:solidFill>
          <a:ln w="38100">
            <a:solidFill>
              <a:schemeClr val="tx1"/>
            </a:solidFill>
            <a:round/>
            <a:headEnd type="none" w="sm" len="sm"/>
            <a:tailEnd type="none" w="sm" len="sm"/>
          </a:ln>
        </p:spPr>
        <p:txBody>
          <a:bodyPr wrap="none" anchor="ct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eaLnBrk="1" hangingPunct="1"/>
            <a:endParaRPr lang="en-US" altLang="en-US"/>
          </a:p>
        </p:txBody>
      </p:sp>
      <p:sp>
        <p:nvSpPr>
          <p:cNvPr id="6147" name="Rectangle 5"/>
          <p:cNvSpPr>
            <a:spLocks noChangeArrowheads="1"/>
          </p:cNvSpPr>
          <p:nvPr/>
        </p:nvSpPr>
        <p:spPr bwMode="auto">
          <a:xfrm>
            <a:off x="1524000" y="0"/>
            <a:ext cx="9144000" cy="585418"/>
          </a:xfrm>
          <a:prstGeom prst="rec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eaLnBrk="1" hangingPunct="1"/>
            <a:r>
              <a:rPr lang="en-GB" altLang="en-US" sz="3200">
                <a:solidFill>
                  <a:srgbClr val="660066"/>
                </a:solidFill>
              </a:rPr>
              <a:t>Transistor as a Switch</a:t>
            </a:r>
          </a:p>
        </p:txBody>
      </p:sp>
      <p:sp>
        <p:nvSpPr>
          <p:cNvPr id="20486" name="Line 6"/>
          <p:cNvSpPr>
            <a:spLocks noChangeShapeType="1"/>
          </p:cNvSpPr>
          <p:nvPr/>
        </p:nvSpPr>
        <p:spPr bwMode="auto">
          <a:xfrm>
            <a:off x="5807075" y="1628776"/>
            <a:ext cx="0" cy="2232025"/>
          </a:xfrm>
          <a:prstGeom prst="line">
            <a:avLst/>
          </a:prstGeom>
          <a:noFill/>
          <a:ln w="762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0487" name="Line 7"/>
          <p:cNvSpPr>
            <a:spLocks noChangeShapeType="1"/>
          </p:cNvSpPr>
          <p:nvPr/>
        </p:nvSpPr>
        <p:spPr bwMode="auto">
          <a:xfrm>
            <a:off x="3070226" y="2781300"/>
            <a:ext cx="2735263" cy="0"/>
          </a:xfrm>
          <a:prstGeom prst="line">
            <a:avLst/>
          </a:prstGeom>
          <a:noFill/>
          <a:ln w="762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0488" name="Line 8"/>
          <p:cNvSpPr>
            <a:spLocks noChangeShapeType="1"/>
          </p:cNvSpPr>
          <p:nvPr/>
        </p:nvSpPr>
        <p:spPr bwMode="auto">
          <a:xfrm>
            <a:off x="5807076" y="3140076"/>
            <a:ext cx="792163" cy="720725"/>
          </a:xfrm>
          <a:prstGeom prst="line">
            <a:avLst/>
          </a:prstGeom>
          <a:noFill/>
          <a:ln w="76200">
            <a:solidFill>
              <a:schemeClr val="tx1"/>
            </a:solidFill>
            <a:round/>
            <a:headEnd type="none" w="sm" len="sm"/>
            <a:tailEnd type="arrow" w="lg" len="lg"/>
          </a:ln>
          <a:extLst>
            <a:ext uri="{909E8E84-426E-40DD-AFC4-6F175D3DCCD1}">
              <a14:hiddenFill xmlns:a14="http://schemas.microsoft.com/office/drawing/2010/main">
                <a:noFill/>
              </a14:hiddenFill>
            </a:ext>
          </a:extLst>
        </p:spPr>
        <p:txBody>
          <a:bodyPr/>
          <a:lstStyle/>
          <a:p>
            <a:endParaRPr lang="en-US"/>
          </a:p>
        </p:txBody>
      </p:sp>
      <p:sp>
        <p:nvSpPr>
          <p:cNvPr id="20489" name="Line 9"/>
          <p:cNvSpPr>
            <a:spLocks noChangeShapeType="1"/>
          </p:cNvSpPr>
          <p:nvPr/>
        </p:nvSpPr>
        <p:spPr bwMode="auto">
          <a:xfrm rot="5400000">
            <a:off x="5771357" y="1664495"/>
            <a:ext cx="792163" cy="720725"/>
          </a:xfrm>
          <a:prstGeom prst="line">
            <a:avLst/>
          </a:prstGeom>
          <a:noFill/>
          <a:ln w="76200">
            <a:solidFill>
              <a:schemeClr val="tx1"/>
            </a:solidFill>
            <a:round/>
            <a:headEnd type="none" w="sm" len="sm"/>
            <a:tailEnd type="none" w="lg" len="lg"/>
          </a:ln>
          <a:extLst>
            <a:ext uri="{909E8E84-426E-40DD-AFC4-6F175D3DCCD1}">
              <a14:hiddenFill xmlns:a14="http://schemas.microsoft.com/office/drawing/2010/main">
                <a:noFill/>
              </a14:hiddenFill>
            </a:ext>
          </a:extLst>
        </p:spPr>
        <p:txBody>
          <a:bodyPr/>
          <a:lstStyle/>
          <a:p>
            <a:endParaRPr lang="en-US"/>
          </a:p>
        </p:txBody>
      </p:sp>
      <p:sp>
        <p:nvSpPr>
          <p:cNvPr id="6152" name="Rectangle 10"/>
          <p:cNvSpPr>
            <a:spLocks noChangeArrowheads="1"/>
          </p:cNvSpPr>
          <p:nvPr/>
        </p:nvSpPr>
        <p:spPr bwMode="auto">
          <a:xfrm>
            <a:off x="2424114" y="639764"/>
            <a:ext cx="7488237" cy="462307"/>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2075" tIns="46038" rIns="92075" bIns="46038">
            <a:spAutoFit/>
          </a:bodyPr>
          <a:lstStyle>
            <a:lvl1pPr marL="187325" indent="-187325" defTabSz="541338" eaLnBrk="0" hangingPunct="0">
              <a:defRPr b="1" u="sng">
                <a:solidFill>
                  <a:schemeClr val="tx1"/>
                </a:solidFill>
                <a:latin typeface="Comic Sans MS" panose="030F0702030302020204" pitchFamily="66" charset="0"/>
                <a:cs typeface="Arial" panose="020B0604020202020204" pitchFamily="34" charset="0"/>
              </a:defRPr>
            </a:lvl1pPr>
            <a:lvl2pPr marL="742950" indent="-285750" defTabSz="541338" eaLnBrk="0" hangingPunct="0">
              <a:defRPr b="1" u="sng">
                <a:solidFill>
                  <a:schemeClr val="tx1"/>
                </a:solidFill>
                <a:latin typeface="Comic Sans MS" panose="030F0702030302020204" pitchFamily="66" charset="0"/>
                <a:cs typeface="Arial" panose="020B0604020202020204" pitchFamily="34" charset="0"/>
              </a:defRPr>
            </a:lvl2pPr>
            <a:lvl3pPr marL="1143000" indent="-228600" defTabSz="541338" eaLnBrk="0" hangingPunct="0">
              <a:defRPr b="1" u="sng">
                <a:solidFill>
                  <a:schemeClr val="tx1"/>
                </a:solidFill>
                <a:latin typeface="Comic Sans MS" panose="030F0702030302020204" pitchFamily="66" charset="0"/>
                <a:cs typeface="Arial" panose="020B0604020202020204" pitchFamily="34" charset="0"/>
              </a:defRPr>
            </a:lvl3pPr>
            <a:lvl4pPr marL="1600200" indent="-228600" defTabSz="541338" eaLnBrk="0" hangingPunct="0">
              <a:defRPr b="1" u="sng">
                <a:solidFill>
                  <a:schemeClr val="tx1"/>
                </a:solidFill>
                <a:latin typeface="Comic Sans MS" panose="030F0702030302020204" pitchFamily="66" charset="0"/>
                <a:cs typeface="Arial" panose="020B0604020202020204" pitchFamily="34" charset="0"/>
              </a:defRPr>
            </a:lvl4pPr>
            <a:lvl5pPr marL="2057400" indent="-228600" defTabSz="541338"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a:buFontTx/>
              <a:buChar char="•"/>
            </a:pPr>
            <a:r>
              <a:rPr lang="en-US" altLang="en-US" sz="2400" u="none"/>
              <a:t>Transistors can be used as switches.</a:t>
            </a:r>
            <a:r>
              <a:rPr lang="en-US" altLang="en-US" sz="2400" u="none" baseline="30000"/>
              <a:t>1</a:t>
            </a:r>
          </a:p>
        </p:txBody>
      </p:sp>
      <p:sp>
        <p:nvSpPr>
          <p:cNvPr id="20491" name="Rectangle 11"/>
          <p:cNvSpPr>
            <a:spLocks noChangeArrowheads="1"/>
          </p:cNvSpPr>
          <p:nvPr/>
        </p:nvSpPr>
        <p:spPr bwMode="auto">
          <a:xfrm>
            <a:off x="2424114" y="5006975"/>
            <a:ext cx="7488237" cy="850900"/>
          </a:xfrm>
          <a:prstGeom prst="rect">
            <a:avLst/>
          </a:prstGeom>
          <a:noFill/>
          <a:ln w="28575">
            <a:solidFill>
              <a:schemeClr val="tx1"/>
            </a:solidFill>
            <a:miter lim="800000"/>
            <a:headEnd/>
            <a:tailEnd/>
          </a:ln>
          <a:effectLst/>
        </p:spPr>
        <p:txBody>
          <a:bodyPr lIns="92075" tIns="46038" rIns="92075" bIns="46038">
            <a:spAutoFit/>
          </a:bodyPr>
          <a:lstStyle/>
          <a:p>
            <a:pPr marL="187325" indent="-187325" algn="just" defTabSz="541338" eaLnBrk="0" hangingPunct="0">
              <a:buFontTx/>
              <a:buChar char="•"/>
              <a:defRPr/>
            </a:pPr>
            <a:r>
              <a:rPr lang="en-US" sz="2400">
                <a:cs typeface="Arial" charset="0"/>
              </a:rPr>
              <a:t>Transistors can either</a:t>
            </a:r>
          </a:p>
          <a:p>
            <a:pPr marL="187325" indent="-187325" algn="r" defTabSz="541338" eaLnBrk="0" hangingPunct="0">
              <a:defRPr/>
            </a:pPr>
            <a:r>
              <a:rPr lang="en-US" sz="2400">
                <a:effectLst>
                  <a:outerShdw blurRad="38100" dist="38100" dir="2700000" algn="tl">
                    <a:srgbClr val="C0C0C0"/>
                  </a:outerShdw>
                </a:effectLst>
                <a:cs typeface="Arial" charset="0"/>
              </a:rPr>
              <a:t>conduct</a:t>
            </a:r>
            <a:r>
              <a:rPr lang="en-US" sz="2400">
                <a:cs typeface="Arial" charset="0"/>
              </a:rPr>
              <a:t> </a:t>
            </a:r>
            <a:r>
              <a:rPr lang="en-US" sz="2400" i="1">
                <a:cs typeface="Arial" charset="0"/>
              </a:rPr>
              <a:t>or</a:t>
            </a:r>
            <a:r>
              <a:rPr lang="en-US" sz="2400">
                <a:cs typeface="Arial" charset="0"/>
              </a:rPr>
              <a:t> </a:t>
            </a:r>
            <a:r>
              <a:rPr lang="en-US" sz="2400">
                <a:effectLst>
                  <a:outerShdw blurRad="38100" dist="38100" dir="2700000" algn="tl">
                    <a:srgbClr val="C0C0C0"/>
                  </a:outerShdw>
                </a:effectLst>
                <a:cs typeface="Arial" charset="0"/>
              </a:rPr>
              <a:t>not conduct</a:t>
            </a:r>
            <a:r>
              <a:rPr lang="en-US" sz="2400">
                <a:cs typeface="Arial" charset="0"/>
              </a:rPr>
              <a:t> current.</a:t>
            </a:r>
            <a:r>
              <a:rPr lang="en-US" sz="2400" baseline="30000">
                <a:cs typeface="Arial" charset="0"/>
              </a:rPr>
              <a:t>2</a:t>
            </a:r>
          </a:p>
        </p:txBody>
      </p:sp>
      <p:sp>
        <p:nvSpPr>
          <p:cNvPr id="20492" name="Rectangle 12"/>
          <p:cNvSpPr>
            <a:spLocks noChangeArrowheads="1"/>
          </p:cNvSpPr>
          <p:nvPr/>
        </p:nvSpPr>
        <p:spPr bwMode="auto">
          <a:xfrm>
            <a:off x="2424114" y="5948364"/>
            <a:ext cx="7488237" cy="462307"/>
          </a:xfrm>
          <a:prstGeom prst="rect">
            <a:avLst/>
          </a:prstGeom>
          <a:noFill/>
          <a:ln w="28575">
            <a:solidFill>
              <a:schemeClr val="tx1"/>
            </a:solidFill>
            <a:miter lim="800000"/>
            <a:headEnd/>
            <a:tailEnd/>
          </a:ln>
          <a:effectLst/>
        </p:spPr>
        <p:txBody>
          <a:bodyPr lIns="92075" tIns="46038" rIns="92075" bIns="46038">
            <a:spAutoFit/>
          </a:bodyPr>
          <a:lstStyle/>
          <a:p>
            <a:pPr marL="187325" indent="-187325" defTabSz="541338" eaLnBrk="0" hangingPunct="0">
              <a:buFontTx/>
              <a:buChar char="•"/>
              <a:defRPr/>
            </a:pPr>
            <a:r>
              <a:rPr lang="en-US" sz="2400">
                <a:cs typeface="Arial" charset="0"/>
              </a:rPr>
              <a:t>ie, transistors can either be </a:t>
            </a:r>
            <a:r>
              <a:rPr lang="en-US" sz="2400">
                <a:effectLst>
                  <a:outerShdw blurRad="38100" dist="38100" dir="2700000" algn="tl">
                    <a:srgbClr val="C0C0C0"/>
                  </a:outerShdw>
                </a:effectLst>
                <a:cs typeface="Arial" charset="0"/>
              </a:rPr>
              <a:t>on</a:t>
            </a:r>
            <a:r>
              <a:rPr lang="en-US" sz="2400">
                <a:cs typeface="Arial" charset="0"/>
              </a:rPr>
              <a:t> </a:t>
            </a:r>
            <a:r>
              <a:rPr lang="en-US" sz="2400" i="1">
                <a:cs typeface="Arial" charset="0"/>
              </a:rPr>
              <a:t>or</a:t>
            </a:r>
            <a:r>
              <a:rPr lang="en-US" sz="2400">
                <a:cs typeface="Arial" charset="0"/>
              </a:rPr>
              <a:t> </a:t>
            </a:r>
            <a:r>
              <a:rPr lang="en-US" sz="2400">
                <a:effectLst>
                  <a:outerShdw blurRad="38100" dist="38100" dir="2700000" algn="tl">
                    <a:srgbClr val="C0C0C0"/>
                  </a:outerShdw>
                </a:effectLst>
                <a:cs typeface="Arial" charset="0"/>
              </a:rPr>
              <a:t>off</a:t>
            </a:r>
            <a:r>
              <a:rPr lang="en-US" sz="2400">
                <a:cs typeface="Arial" charset="0"/>
              </a:rPr>
              <a:t>.</a:t>
            </a:r>
            <a:r>
              <a:rPr lang="en-US" sz="2400" baseline="30000">
                <a:cs typeface="Arial" charset="0"/>
              </a:rPr>
              <a:t>2</a:t>
            </a:r>
          </a:p>
        </p:txBody>
      </p:sp>
      <p:sp>
        <p:nvSpPr>
          <p:cNvPr id="20493" name="AutoShape 13"/>
          <p:cNvSpPr>
            <a:spLocks noChangeArrowheads="1"/>
          </p:cNvSpPr>
          <p:nvPr/>
        </p:nvSpPr>
        <p:spPr bwMode="auto">
          <a:xfrm>
            <a:off x="7680326" y="1196976"/>
            <a:ext cx="2232025" cy="3097213"/>
          </a:xfrm>
          <a:prstGeom prst="roundRect">
            <a:avLst>
              <a:gd name="adj" fmla="val 16667"/>
            </a:avLst>
          </a:prstGeom>
          <a:solidFill>
            <a:srgbClr val="E8FFA9"/>
          </a:solidFill>
          <a:ln w="38100">
            <a:solidFill>
              <a:schemeClr val="tx1"/>
            </a:solidFill>
            <a:round/>
            <a:headEnd type="none" w="sm" len="sm"/>
            <a:tailEnd type="none" w="sm" len="sm"/>
          </a:ln>
        </p:spPr>
        <p:txBody>
          <a:bodyPr wrap="none" anchor="ct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eaLnBrk="1" hangingPunct="1"/>
            <a:endParaRPr lang="en-US" altLang="en-US"/>
          </a:p>
        </p:txBody>
      </p:sp>
      <p:sp>
        <p:nvSpPr>
          <p:cNvPr id="20494" name="Line 14"/>
          <p:cNvSpPr>
            <a:spLocks noChangeShapeType="1"/>
          </p:cNvSpPr>
          <p:nvPr/>
        </p:nvSpPr>
        <p:spPr bwMode="auto">
          <a:xfrm>
            <a:off x="8832850" y="1557338"/>
            <a:ext cx="0" cy="792162"/>
          </a:xfrm>
          <a:prstGeom prst="line">
            <a:avLst/>
          </a:prstGeom>
          <a:noFill/>
          <a:ln w="762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0495" name="Line 15"/>
          <p:cNvSpPr>
            <a:spLocks noChangeShapeType="1"/>
          </p:cNvSpPr>
          <p:nvPr/>
        </p:nvSpPr>
        <p:spPr bwMode="auto">
          <a:xfrm>
            <a:off x="8832850" y="3070226"/>
            <a:ext cx="0" cy="792163"/>
          </a:xfrm>
          <a:prstGeom prst="line">
            <a:avLst/>
          </a:prstGeom>
          <a:noFill/>
          <a:ln w="762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0496" name="Line 16"/>
          <p:cNvSpPr>
            <a:spLocks noChangeShapeType="1"/>
          </p:cNvSpPr>
          <p:nvPr/>
        </p:nvSpPr>
        <p:spPr bwMode="auto">
          <a:xfrm>
            <a:off x="8832850" y="2349500"/>
            <a:ext cx="503238" cy="431800"/>
          </a:xfrm>
          <a:prstGeom prst="line">
            <a:avLst/>
          </a:prstGeom>
          <a:noFill/>
          <a:ln w="76200">
            <a:solidFill>
              <a:schemeClr val="tx1"/>
            </a:solidFill>
            <a:round/>
            <a:headEnd type="none" w="sm" len="sm"/>
            <a:tailEnd type="none" w="lg" len="lg"/>
          </a:ln>
          <a:extLst>
            <a:ext uri="{909E8E84-426E-40DD-AFC4-6F175D3DCCD1}">
              <a14:hiddenFill xmlns:a14="http://schemas.microsoft.com/office/drawing/2010/main">
                <a:noFill/>
              </a14:hiddenFill>
            </a:ext>
          </a:extLst>
        </p:spPr>
        <p:txBody>
          <a:bodyPr/>
          <a:lstStyle/>
          <a:p>
            <a:endParaRPr lang="en-US"/>
          </a:p>
        </p:txBody>
      </p:sp>
      <p:sp>
        <p:nvSpPr>
          <p:cNvPr id="20497" name="Rectangle 17"/>
          <p:cNvSpPr>
            <a:spLocks noChangeArrowheads="1"/>
          </p:cNvSpPr>
          <p:nvPr/>
        </p:nvSpPr>
        <p:spPr bwMode="auto">
          <a:xfrm>
            <a:off x="3935414" y="4383089"/>
            <a:ext cx="1800225" cy="462307"/>
          </a:xfrm>
          <a:prstGeom prst="rect">
            <a:avLst/>
          </a:prstGeom>
          <a:solidFill>
            <a:srgbClr val="FFFF00"/>
          </a:solidFill>
          <a:ln w="28575">
            <a:solidFill>
              <a:schemeClr val="tx1"/>
            </a:solidFill>
            <a:miter lim="800000"/>
            <a:headEnd/>
            <a:tailEnd/>
          </a:ln>
        </p:spPr>
        <p:txBody>
          <a:bodyPr lIns="92075" tIns="46038" rIns="92075" bIns="46038">
            <a:spAutoFit/>
          </a:bodyPr>
          <a:lstStyle>
            <a:lvl1pPr marL="187325" indent="-187325" defTabSz="541338" eaLnBrk="0" hangingPunct="0">
              <a:defRPr b="1" u="sng">
                <a:solidFill>
                  <a:schemeClr val="tx1"/>
                </a:solidFill>
                <a:latin typeface="Comic Sans MS" panose="030F0702030302020204" pitchFamily="66" charset="0"/>
                <a:cs typeface="Arial" panose="020B0604020202020204" pitchFamily="34" charset="0"/>
              </a:defRPr>
            </a:lvl1pPr>
            <a:lvl2pPr marL="742950" indent="-285750" defTabSz="541338" eaLnBrk="0" hangingPunct="0">
              <a:defRPr b="1" u="sng">
                <a:solidFill>
                  <a:schemeClr val="tx1"/>
                </a:solidFill>
                <a:latin typeface="Comic Sans MS" panose="030F0702030302020204" pitchFamily="66" charset="0"/>
                <a:cs typeface="Arial" panose="020B0604020202020204" pitchFamily="34" charset="0"/>
              </a:defRPr>
            </a:lvl2pPr>
            <a:lvl3pPr marL="1143000" indent="-228600" defTabSz="541338" eaLnBrk="0" hangingPunct="0">
              <a:defRPr b="1" u="sng">
                <a:solidFill>
                  <a:schemeClr val="tx1"/>
                </a:solidFill>
                <a:latin typeface="Comic Sans MS" panose="030F0702030302020204" pitchFamily="66" charset="0"/>
                <a:cs typeface="Arial" panose="020B0604020202020204" pitchFamily="34" charset="0"/>
              </a:defRPr>
            </a:lvl3pPr>
            <a:lvl4pPr marL="1600200" indent="-228600" defTabSz="541338" eaLnBrk="0" hangingPunct="0">
              <a:defRPr b="1" u="sng">
                <a:solidFill>
                  <a:schemeClr val="tx1"/>
                </a:solidFill>
                <a:latin typeface="Comic Sans MS" panose="030F0702030302020204" pitchFamily="66" charset="0"/>
                <a:cs typeface="Arial" panose="020B0604020202020204" pitchFamily="34" charset="0"/>
              </a:defRPr>
            </a:lvl4pPr>
            <a:lvl5pPr marL="2057400" indent="-228600" defTabSz="541338"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r>
              <a:rPr lang="en-US" altLang="en-US" sz="2400" u="none"/>
              <a:t>Transistor</a:t>
            </a:r>
            <a:endParaRPr lang="en-US" altLang="en-US" sz="2400" u="none" baseline="30000"/>
          </a:p>
        </p:txBody>
      </p:sp>
      <p:sp>
        <p:nvSpPr>
          <p:cNvPr id="20498" name="Rectangle 18"/>
          <p:cNvSpPr>
            <a:spLocks noChangeArrowheads="1"/>
          </p:cNvSpPr>
          <p:nvPr/>
        </p:nvSpPr>
        <p:spPr bwMode="auto">
          <a:xfrm>
            <a:off x="8183564" y="4383089"/>
            <a:ext cx="1296987" cy="462307"/>
          </a:xfrm>
          <a:prstGeom prst="rect">
            <a:avLst/>
          </a:prstGeom>
          <a:solidFill>
            <a:srgbClr val="FFFF00"/>
          </a:solidFill>
          <a:ln w="28575">
            <a:solidFill>
              <a:schemeClr val="tx1"/>
            </a:solidFill>
            <a:miter lim="800000"/>
            <a:headEnd/>
            <a:tailEnd/>
          </a:ln>
        </p:spPr>
        <p:txBody>
          <a:bodyPr lIns="92075" tIns="46038" rIns="92075" bIns="46038">
            <a:spAutoFit/>
          </a:bodyPr>
          <a:lstStyle>
            <a:lvl1pPr marL="187325" indent="-187325" defTabSz="541338" eaLnBrk="0" hangingPunct="0">
              <a:defRPr b="1" u="sng">
                <a:solidFill>
                  <a:schemeClr val="tx1"/>
                </a:solidFill>
                <a:latin typeface="Comic Sans MS" panose="030F0702030302020204" pitchFamily="66" charset="0"/>
                <a:cs typeface="Arial" panose="020B0604020202020204" pitchFamily="34" charset="0"/>
              </a:defRPr>
            </a:lvl1pPr>
            <a:lvl2pPr marL="742950" indent="-285750" defTabSz="541338" eaLnBrk="0" hangingPunct="0">
              <a:defRPr b="1" u="sng">
                <a:solidFill>
                  <a:schemeClr val="tx1"/>
                </a:solidFill>
                <a:latin typeface="Comic Sans MS" panose="030F0702030302020204" pitchFamily="66" charset="0"/>
                <a:cs typeface="Arial" panose="020B0604020202020204" pitchFamily="34" charset="0"/>
              </a:defRPr>
            </a:lvl2pPr>
            <a:lvl3pPr marL="1143000" indent="-228600" defTabSz="541338" eaLnBrk="0" hangingPunct="0">
              <a:defRPr b="1" u="sng">
                <a:solidFill>
                  <a:schemeClr val="tx1"/>
                </a:solidFill>
                <a:latin typeface="Comic Sans MS" panose="030F0702030302020204" pitchFamily="66" charset="0"/>
                <a:cs typeface="Arial" panose="020B0604020202020204" pitchFamily="34" charset="0"/>
              </a:defRPr>
            </a:lvl3pPr>
            <a:lvl4pPr marL="1600200" indent="-228600" defTabSz="541338" eaLnBrk="0" hangingPunct="0">
              <a:defRPr b="1" u="sng">
                <a:solidFill>
                  <a:schemeClr val="tx1"/>
                </a:solidFill>
                <a:latin typeface="Comic Sans MS" panose="030F0702030302020204" pitchFamily="66" charset="0"/>
                <a:cs typeface="Arial" panose="020B0604020202020204" pitchFamily="34" charset="0"/>
              </a:defRPr>
            </a:lvl4pPr>
            <a:lvl5pPr marL="2057400" indent="-228600" defTabSz="541338"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r>
              <a:rPr lang="en-US" altLang="en-US" sz="2400" u="none"/>
              <a:t>Switch</a:t>
            </a:r>
            <a:endParaRPr lang="en-US" altLang="en-US" sz="2400" u="none" baseline="30000"/>
          </a:p>
        </p:txBody>
      </p:sp>
    </p:spTree>
    <p:extLst>
      <p:ext uri="{BB962C8B-B14F-4D97-AF65-F5344CB8AC3E}">
        <p14:creationId xmlns:p14="http://schemas.microsoft.com/office/powerpoint/2010/main" val="2965710438"/>
      </p:ext>
    </p:extLst>
  </p:cSld>
  <p:clrMapOvr>
    <a:masterClrMapping/>
  </p:clrMapOvr>
  <p:transition>
    <p:wheel spokes="3"/>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20484"/>
                                        </p:tgtEl>
                                        <p:attrNameLst>
                                          <p:attrName>style.visibility</p:attrName>
                                        </p:attrNameLst>
                                      </p:cBhvr>
                                      <p:to>
                                        <p:strVal val="visible"/>
                                      </p:to>
                                    </p:set>
                                    <p:animEffect transition="in" filter="dissolve">
                                      <p:cBhvr>
                                        <p:cTn id="7" dur="500"/>
                                        <p:tgtEl>
                                          <p:spTgt spid="20484"/>
                                        </p:tgtEl>
                                      </p:cBhvr>
                                    </p:animEffect>
                                  </p:childTnLst>
                                </p:cTn>
                              </p:par>
                              <p:par>
                                <p:cTn id="8" presetID="9" presetClass="entr" presetSubtype="0" fill="hold" nodeType="withEffect">
                                  <p:stCondLst>
                                    <p:cond delay="0"/>
                                  </p:stCondLst>
                                  <p:childTnLst>
                                    <p:set>
                                      <p:cBhvr>
                                        <p:cTn id="9" dur="1" fill="hold">
                                          <p:stCondLst>
                                            <p:cond delay="0"/>
                                          </p:stCondLst>
                                        </p:cTn>
                                        <p:tgtEl>
                                          <p:spTgt spid="20486"/>
                                        </p:tgtEl>
                                        <p:attrNameLst>
                                          <p:attrName>style.visibility</p:attrName>
                                        </p:attrNameLst>
                                      </p:cBhvr>
                                      <p:to>
                                        <p:strVal val="visible"/>
                                      </p:to>
                                    </p:set>
                                    <p:animEffect transition="in" filter="dissolve">
                                      <p:cBhvr>
                                        <p:cTn id="10" dur="500"/>
                                        <p:tgtEl>
                                          <p:spTgt spid="20486"/>
                                        </p:tgtEl>
                                      </p:cBhvr>
                                    </p:animEffect>
                                  </p:childTnLst>
                                </p:cTn>
                              </p:par>
                              <p:par>
                                <p:cTn id="11" presetID="9" presetClass="entr" presetSubtype="0" fill="hold" nodeType="withEffect">
                                  <p:stCondLst>
                                    <p:cond delay="0"/>
                                  </p:stCondLst>
                                  <p:childTnLst>
                                    <p:set>
                                      <p:cBhvr>
                                        <p:cTn id="12" dur="1" fill="hold">
                                          <p:stCondLst>
                                            <p:cond delay="0"/>
                                          </p:stCondLst>
                                        </p:cTn>
                                        <p:tgtEl>
                                          <p:spTgt spid="20487"/>
                                        </p:tgtEl>
                                        <p:attrNameLst>
                                          <p:attrName>style.visibility</p:attrName>
                                        </p:attrNameLst>
                                      </p:cBhvr>
                                      <p:to>
                                        <p:strVal val="visible"/>
                                      </p:to>
                                    </p:set>
                                    <p:animEffect transition="in" filter="dissolve">
                                      <p:cBhvr>
                                        <p:cTn id="13" dur="500"/>
                                        <p:tgtEl>
                                          <p:spTgt spid="20487"/>
                                        </p:tgtEl>
                                      </p:cBhvr>
                                    </p:animEffect>
                                  </p:childTnLst>
                                </p:cTn>
                              </p:par>
                              <p:par>
                                <p:cTn id="14" presetID="9" presetClass="entr" presetSubtype="0" fill="hold" nodeType="withEffect">
                                  <p:stCondLst>
                                    <p:cond delay="0"/>
                                  </p:stCondLst>
                                  <p:childTnLst>
                                    <p:set>
                                      <p:cBhvr>
                                        <p:cTn id="15" dur="1" fill="hold">
                                          <p:stCondLst>
                                            <p:cond delay="0"/>
                                          </p:stCondLst>
                                        </p:cTn>
                                        <p:tgtEl>
                                          <p:spTgt spid="20488"/>
                                        </p:tgtEl>
                                        <p:attrNameLst>
                                          <p:attrName>style.visibility</p:attrName>
                                        </p:attrNameLst>
                                      </p:cBhvr>
                                      <p:to>
                                        <p:strVal val="visible"/>
                                      </p:to>
                                    </p:set>
                                    <p:animEffect transition="in" filter="dissolve">
                                      <p:cBhvr>
                                        <p:cTn id="16" dur="500"/>
                                        <p:tgtEl>
                                          <p:spTgt spid="20488"/>
                                        </p:tgtEl>
                                      </p:cBhvr>
                                    </p:animEffect>
                                  </p:childTnLst>
                                </p:cTn>
                              </p:par>
                              <p:par>
                                <p:cTn id="17" presetID="9" presetClass="entr" presetSubtype="0" fill="hold" nodeType="withEffect">
                                  <p:stCondLst>
                                    <p:cond delay="0"/>
                                  </p:stCondLst>
                                  <p:childTnLst>
                                    <p:set>
                                      <p:cBhvr>
                                        <p:cTn id="18" dur="1" fill="hold">
                                          <p:stCondLst>
                                            <p:cond delay="0"/>
                                          </p:stCondLst>
                                        </p:cTn>
                                        <p:tgtEl>
                                          <p:spTgt spid="20489"/>
                                        </p:tgtEl>
                                        <p:attrNameLst>
                                          <p:attrName>style.visibility</p:attrName>
                                        </p:attrNameLst>
                                      </p:cBhvr>
                                      <p:to>
                                        <p:strVal val="visible"/>
                                      </p:to>
                                    </p:set>
                                    <p:animEffect transition="in" filter="dissolve">
                                      <p:cBhvr>
                                        <p:cTn id="19" dur="500"/>
                                        <p:tgtEl>
                                          <p:spTgt spid="20489"/>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20497"/>
                                        </p:tgtEl>
                                        <p:attrNameLst>
                                          <p:attrName>style.visibility</p:attrName>
                                        </p:attrNameLst>
                                      </p:cBhvr>
                                      <p:to>
                                        <p:strVal val="visible"/>
                                      </p:to>
                                    </p:set>
                                    <p:animEffect transition="in" filter="dissolve">
                                      <p:cBhvr>
                                        <p:cTn id="22" dur="500"/>
                                        <p:tgtEl>
                                          <p:spTgt spid="20497"/>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20493"/>
                                        </p:tgtEl>
                                        <p:attrNameLst>
                                          <p:attrName>style.visibility</p:attrName>
                                        </p:attrNameLst>
                                      </p:cBhvr>
                                      <p:to>
                                        <p:strVal val="visible"/>
                                      </p:to>
                                    </p:set>
                                    <p:animEffect transition="in" filter="dissolve">
                                      <p:cBhvr>
                                        <p:cTn id="25" dur="500"/>
                                        <p:tgtEl>
                                          <p:spTgt spid="20493"/>
                                        </p:tgtEl>
                                      </p:cBhvr>
                                    </p:animEffect>
                                  </p:childTnLst>
                                </p:cTn>
                              </p:par>
                              <p:par>
                                <p:cTn id="26" presetID="9" presetClass="entr" presetSubtype="0" fill="hold" nodeType="withEffect">
                                  <p:stCondLst>
                                    <p:cond delay="0"/>
                                  </p:stCondLst>
                                  <p:childTnLst>
                                    <p:set>
                                      <p:cBhvr>
                                        <p:cTn id="27" dur="1" fill="hold">
                                          <p:stCondLst>
                                            <p:cond delay="0"/>
                                          </p:stCondLst>
                                        </p:cTn>
                                        <p:tgtEl>
                                          <p:spTgt spid="20494"/>
                                        </p:tgtEl>
                                        <p:attrNameLst>
                                          <p:attrName>style.visibility</p:attrName>
                                        </p:attrNameLst>
                                      </p:cBhvr>
                                      <p:to>
                                        <p:strVal val="visible"/>
                                      </p:to>
                                    </p:set>
                                    <p:animEffect transition="in" filter="dissolve">
                                      <p:cBhvr>
                                        <p:cTn id="28" dur="500"/>
                                        <p:tgtEl>
                                          <p:spTgt spid="20494"/>
                                        </p:tgtEl>
                                      </p:cBhvr>
                                    </p:animEffect>
                                  </p:childTnLst>
                                </p:cTn>
                              </p:par>
                              <p:par>
                                <p:cTn id="29" presetID="9" presetClass="entr" presetSubtype="0" fill="hold" nodeType="withEffect">
                                  <p:stCondLst>
                                    <p:cond delay="0"/>
                                  </p:stCondLst>
                                  <p:childTnLst>
                                    <p:set>
                                      <p:cBhvr>
                                        <p:cTn id="30" dur="1" fill="hold">
                                          <p:stCondLst>
                                            <p:cond delay="0"/>
                                          </p:stCondLst>
                                        </p:cTn>
                                        <p:tgtEl>
                                          <p:spTgt spid="20495"/>
                                        </p:tgtEl>
                                        <p:attrNameLst>
                                          <p:attrName>style.visibility</p:attrName>
                                        </p:attrNameLst>
                                      </p:cBhvr>
                                      <p:to>
                                        <p:strVal val="visible"/>
                                      </p:to>
                                    </p:set>
                                    <p:animEffect transition="in" filter="dissolve">
                                      <p:cBhvr>
                                        <p:cTn id="31" dur="500"/>
                                        <p:tgtEl>
                                          <p:spTgt spid="20495"/>
                                        </p:tgtEl>
                                      </p:cBhvr>
                                    </p:animEffect>
                                  </p:childTnLst>
                                </p:cTn>
                              </p:par>
                              <p:par>
                                <p:cTn id="32" presetID="9" presetClass="entr" presetSubtype="0" fill="hold" nodeType="withEffect">
                                  <p:stCondLst>
                                    <p:cond delay="0"/>
                                  </p:stCondLst>
                                  <p:childTnLst>
                                    <p:set>
                                      <p:cBhvr>
                                        <p:cTn id="33" dur="1" fill="hold">
                                          <p:stCondLst>
                                            <p:cond delay="0"/>
                                          </p:stCondLst>
                                        </p:cTn>
                                        <p:tgtEl>
                                          <p:spTgt spid="20496"/>
                                        </p:tgtEl>
                                        <p:attrNameLst>
                                          <p:attrName>style.visibility</p:attrName>
                                        </p:attrNameLst>
                                      </p:cBhvr>
                                      <p:to>
                                        <p:strVal val="visible"/>
                                      </p:to>
                                    </p:set>
                                    <p:animEffect transition="in" filter="dissolve">
                                      <p:cBhvr>
                                        <p:cTn id="34" dur="500"/>
                                        <p:tgtEl>
                                          <p:spTgt spid="20496"/>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20498"/>
                                        </p:tgtEl>
                                        <p:attrNameLst>
                                          <p:attrName>style.visibility</p:attrName>
                                        </p:attrNameLst>
                                      </p:cBhvr>
                                      <p:to>
                                        <p:strVal val="visible"/>
                                      </p:to>
                                    </p:set>
                                    <p:animEffect transition="in" filter="dissolve">
                                      <p:cBhvr>
                                        <p:cTn id="37" dur="500"/>
                                        <p:tgtEl>
                                          <p:spTgt spid="20498"/>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20491"/>
                                        </p:tgtEl>
                                        <p:attrNameLst>
                                          <p:attrName>style.visibility</p:attrName>
                                        </p:attrNameLst>
                                      </p:cBhvr>
                                      <p:to>
                                        <p:strVal val="visible"/>
                                      </p:to>
                                    </p:set>
                                    <p:animEffect transition="in" filter="dissolve">
                                      <p:cBhvr>
                                        <p:cTn id="40" dur="500"/>
                                        <p:tgtEl>
                                          <p:spTgt spid="20491"/>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20492"/>
                                        </p:tgtEl>
                                        <p:attrNameLst>
                                          <p:attrName>style.visibility</p:attrName>
                                        </p:attrNameLst>
                                      </p:cBhvr>
                                      <p:to>
                                        <p:strVal val="visible"/>
                                      </p:to>
                                    </p:set>
                                    <p:animEffect transition="in" filter="dissolve">
                                      <p:cBhvr>
                                        <p:cTn id="43" dur="500"/>
                                        <p:tgtEl>
                                          <p:spTgt spid="204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4" grpId="0" animBg="1"/>
      <p:bldP spid="20491" grpId="0" animBg="1"/>
      <p:bldP spid="20492" grpId="0" animBg="1"/>
      <p:bldP spid="20493" grpId="0" animBg="1"/>
      <p:bldP spid="20497" grpId="0" animBg="1"/>
      <p:bldP spid="2049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5"/>
          <p:cNvSpPr>
            <a:spLocks noChangeArrowheads="1"/>
          </p:cNvSpPr>
          <p:nvPr/>
        </p:nvSpPr>
        <p:spPr bwMode="auto">
          <a:xfrm>
            <a:off x="1847850" y="1"/>
            <a:ext cx="9144000" cy="519113"/>
          </a:xfrm>
          <a:prstGeom prst="rec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eaLnBrk="1" hangingPunct="1"/>
            <a:r>
              <a:rPr lang="en-GB" altLang="en-US" sz="2800">
                <a:solidFill>
                  <a:srgbClr val="660066"/>
                </a:solidFill>
              </a:rPr>
              <a:t>Transistor Switching Example</a:t>
            </a:r>
            <a:r>
              <a:rPr lang="en-GB" altLang="en-US" sz="2800" b="0" u="none" baseline="30000">
                <a:solidFill>
                  <a:srgbClr val="660066"/>
                </a:solidFill>
              </a:rPr>
              <a:t>15</a:t>
            </a:r>
          </a:p>
        </p:txBody>
      </p:sp>
      <p:sp>
        <p:nvSpPr>
          <p:cNvPr id="31750" name="Rectangle 6"/>
          <p:cNvSpPr>
            <a:spLocks noChangeArrowheads="1"/>
          </p:cNvSpPr>
          <p:nvPr/>
        </p:nvSpPr>
        <p:spPr bwMode="auto">
          <a:xfrm>
            <a:off x="2063750" y="4178300"/>
            <a:ext cx="8280400" cy="8509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2075" tIns="46038" rIns="92075" bIns="46038">
            <a:spAutoFit/>
          </a:bodyPr>
          <a:lstStyle>
            <a:lvl1pPr marL="187325" indent="-187325" defTabSz="541338" eaLnBrk="0" hangingPunct="0">
              <a:defRPr b="1" u="sng">
                <a:solidFill>
                  <a:schemeClr val="tx1"/>
                </a:solidFill>
                <a:latin typeface="Comic Sans MS" panose="030F0702030302020204" pitchFamily="66" charset="0"/>
                <a:cs typeface="Arial" panose="020B0604020202020204" pitchFamily="34" charset="0"/>
              </a:defRPr>
            </a:lvl1pPr>
            <a:lvl2pPr marL="742950" indent="-285750" defTabSz="541338" eaLnBrk="0" hangingPunct="0">
              <a:defRPr b="1" u="sng">
                <a:solidFill>
                  <a:schemeClr val="tx1"/>
                </a:solidFill>
                <a:latin typeface="Comic Sans MS" panose="030F0702030302020204" pitchFamily="66" charset="0"/>
                <a:cs typeface="Arial" panose="020B0604020202020204" pitchFamily="34" charset="0"/>
              </a:defRPr>
            </a:lvl2pPr>
            <a:lvl3pPr marL="1143000" indent="-228600" defTabSz="541338" eaLnBrk="0" hangingPunct="0">
              <a:defRPr b="1" u="sng">
                <a:solidFill>
                  <a:schemeClr val="tx1"/>
                </a:solidFill>
                <a:latin typeface="Comic Sans MS" panose="030F0702030302020204" pitchFamily="66" charset="0"/>
                <a:cs typeface="Arial" panose="020B0604020202020204" pitchFamily="34" charset="0"/>
              </a:defRPr>
            </a:lvl3pPr>
            <a:lvl4pPr marL="1600200" indent="-228600" defTabSz="541338" eaLnBrk="0" hangingPunct="0">
              <a:defRPr b="1" u="sng">
                <a:solidFill>
                  <a:schemeClr val="tx1"/>
                </a:solidFill>
                <a:latin typeface="Comic Sans MS" panose="030F0702030302020204" pitchFamily="66" charset="0"/>
                <a:cs typeface="Arial" panose="020B0604020202020204" pitchFamily="34" charset="0"/>
              </a:defRPr>
            </a:lvl4pPr>
            <a:lvl5pPr marL="2057400" indent="-228600" defTabSz="541338"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algn="just">
              <a:buFontTx/>
              <a:buChar char="•"/>
            </a:pPr>
            <a:r>
              <a:rPr lang="en-US" altLang="en-US" sz="2400" b="0" u="none"/>
              <a:t>When </a:t>
            </a:r>
            <a:r>
              <a:rPr lang="en-US" altLang="en-US" sz="2400" u="none"/>
              <a:t>V</a:t>
            </a:r>
            <a:r>
              <a:rPr lang="en-US" altLang="en-US" sz="2400" u="none" baseline="-25000"/>
              <a:t>BE</a:t>
            </a:r>
            <a:r>
              <a:rPr lang="en-US" altLang="en-US" sz="2400" b="0" u="none"/>
              <a:t> is less than </a:t>
            </a:r>
            <a:r>
              <a:rPr lang="en-US" altLang="en-US" sz="2400" u="none"/>
              <a:t>0.7V</a:t>
            </a:r>
            <a:r>
              <a:rPr lang="en-US" altLang="en-US" sz="2400" b="0" u="none"/>
              <a:t> the </a:t>
            </a:r>
            <a:r>
              <a:rPr lang="en-US" altLang="en-US" sz="2400"/>
              <a:t>transistor is off</a:t>
            </a:r>
          </a:p>
          <a:p>
            <a:pPr algn="r"/>
            <a:r>
              <a:rPr lang="en-US" altLang="en-US" sz="2400" b="0" u="none"/>
              <a:t>and the </a:t>
            </a:r>
            <a:r>
              <a:rPr lang="en-US" altLang="en-US" sz="2400"/>
              <a:t>lamp does not light</a:t>
            </a:r>
            <a:r>
              <a:rPr lang="en-US" altLang="en-US" sz="2400" b="0" u="none"/>
              <a:t>.</a:t>
            </a:r>
            <a:endParaRPr lang="en-US" altLang="en-US" sz="2400" b="0" u="none" baseline="30000"/>
          </a:p>
        </p:txBody>
      </p:sp>
      <p:sp>
        <p:nvSpPr>
          <p:cNvPr id="31751" name="Rectangle 7"/>
          <p:cNvSpPr>
            <a:spLocks noChangeArrowheads="1"/>
          </p:cNvSpPr>
          <p:nvPr/>
        </p:nvSpPr>
        <p:spPr bwMode="auto">
          <a:xfrm>
            <a:off x="2063750" y="5334000"/>
            <a:ext cx="8280400" cy="8509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2075" tIns="46038" rIns="92075" bIns="46038">
            <a:spAutoFit/>
          </a:bodyPr>
          <a:lstStyle>
            <a:lvl1pPr marL="187325" indent="-187325" defTabSz="541338" eaLnBrk="0" hangingPunct="0">
              <a:defRPr b="1" u="sng">
                <a:solidFill>
                  <a:schemeClr val="tx1"/>
                </a:solidFill>
                <a:latin typeface="Comic Sans MS" panose="030F0702030302020204" pitchFamily="66" charset="0"/>
                <a:cs typeface="Arial" panose="020B0604020202020204" pitchFamily="34" charset="0"/>
              </a:defRPr>
            </a:lvl1pPr>
            <a:lvl2pPr marL="742950" indent="-285750" defTabSz="541338" eaLnBrk="0" hangingPunct="0">
              <a:defRPr b="1" u="sng">
                <a:solidFill>
                  <a:schemeClr val="tx1"/>
                </a:solidFill>
                <a:latin typeface="Comic Sans MS" panose="030F0702030302020204" pitchFamily="66" charset="0"/>
                <a:cs typeface="Arial" panose="020B0604020202020204" pitchFamily="34" charset="0"/>
              </a:defRPr>
            </a:lvl2pPr>
            <a:lvl3pPr marL="1143000" indent="-228600" defTabSz="541338" eaLnBrk="0" hangingPunct="0">
              <a:defRPr b="1" u="sng">
                <a:solidFill>
                  <a:schemeClr val="tx1"/>
                </a:solidFill>
                <a:latin typeface="Comic Sans MS" panose="030F0702030302020204" pitchFamily="66" charset="0"/>
                <a:cs typeface="Arial" panose="020B0604020202020204" pitchFamily="34" charset="0"/>
              </a:defRPr>
            </a:lvl3pPr>
            <a:lvl4pPr marL="1600200" indent="-228600" defTabSz="541338" eaLnBrk="0" hangingPunct="0">
              <a:defRPr b="1" u="sng">
                <a:solidFill>
                  <a:schemeClr val="tx1"/>
                </a:solidFill>
                <a:latin typeface="Comic Sans MS" panose="030F0702030302020204" pitchFamily="66" charset="0"/>
                <a:cs typeface="Arial" panose="020B0604020202020204" pitchFamily="34" charset="0"/>
              </a:defRPr>
            </a:lvl4pPr>
            <a:lvl5pPr marL="2057400" indent="-228600" defTabSz="541338"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algn="just">
              <a:buFontTx/>
              <a:buChar char="•"/>
            </a:pPr>
            <a:r>
              <a:rPr lang="en-US" altLang="en-US" sz="2400" b="0" u="none"/>
              <a:t>When </a:t>
            </a:r>
            <a:r>
              <a:rPr lang="en-US" altLang="en-US" sz="2400" u="none"/>
              <a:t>V</a:t>
            </a:r>
            <a:r>
              <a:rPr lang="en-US" altLang="en-US" sz="2400" u="none" baseline="-25000"/>
              <a:t>BE</a:t>
            </a:r>
            <a:r>
              <a:rPr lang="en-US" altLang="en-US" sz="2400" b="0" u="none"/>
              <a:t> is greater than </a:t>
            </a:r>
            <a:r>
              <a:rPr lang="en-US" altLang="en-US" sz="2400" u="none"/>
              <a:t>0.7V</a:t>
            </a:r>
            <a:r>
              <a:rPr lang="en-US" altLang="en-US" sz="2400" b="0" u="none"/>
              <a:t> the </a:t>
            </a:r>
            <a:r>
              <a:rPr lang="en-US" altLang="en-US" sz="2400"/>
              <a:t>transistor is on</a:t>
            </a:r>
          </a:p>
          <a:p>
            <a:pPr algn="r"/>
            <a:r>
              <a:rPr lang="en-US" altLang="en-US" sz="2400" b="0" u="none"/>
              <a:t>and the </a:t>
            </a:r>
            <a:r>
              <a:rPr lang="en-US" altLang="en-US" sz="2400"/>
              <a:t>lamp lights</a:t>
            </a:r>
            <a:r>
              <a:rPr lang="en-US" altLang="en-US" sz="2400" b="0" u="none"/>
              <a:t>.</a:t>
            </a:r>
            <a:endParaRPr lang="en-US" altLang="en-US" sz="2400" b="0" u="none" baseline="30000"/>
          </a:p>
        </p:txBody>
      </p:sp>
      <p:sp>
        <p:nvSpPr>
          <p:cNvPr id="7173" name="Line 8"/>
          <p:cNvSpPr>
            <a:spLocks noChangeShapeType="1"/>
          </p:cNvSpPr>
          <p:nvPr/>
        </p:nvSpPr>
        <p:spPr bwMode="auto">
          <a:xfrm>
            <a:off x="3719514" y="3860800"/>
            <a:ext cx="6264275" cy="0"/>
          </a:xfrm>
          <a:prstGeom prst="line">
            <a:avLst/>
          </a:prstGeom>
          <a:noFill/>
          <a:ln w="762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7174" name="Line 9"/>
          <p:cNvSpPr>
            <a:spLocks noChangeShapeType="1"/>
          </p:cNvSpPr>
          <p:nvPr/>
        </p:nvSpPr>
        <p:spPr bwMode="auto">
          <a:xfrm>
            <a:off x="3719513" y="2420938"/>
            <a:ext cx="2952750" cy="0"/>
          </a:xfrm>
          <a:prstGeom prst="line">
            <a:avLst/>
          </a:prstGeom>
          <a:noFill/>
          <a:ln w="762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7175" name="Line 10"/>
          <p:cNvSpPr>
            <a:spLocks noChangeShapeType="1"/>
          </p:cNvSpPr>
          <p:nvPr/>
        </p:nvSpPr>
        <p:spPr bwMode="auto">
          <a:xfrm>
            <a:off x="6959600" y="620713"/>
            <a:ext cx="3024188" cy="0"/>
          </a:xfrm>
          <a:prstGeom prst="line">
            <a:avLst/>
          </a:prstGeom>
          <a:noFill/>
          <a:ln w="762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7176" name="Line 11"/>
          <p:cNvSpPr>
            <a:spLocks noChangeShapeType="1"/>
          </p:cNvSpPr>
          <p:nvPr/>
        </p:nvSpPr>
        <p:spPr bwMode="auto">
          <a:xfrm>
            <a:off x="9983788" y="620714"/>
            <a:ext cx="0" cy="1584325"/>
          </a:xfrm>
          <a:prstGeom prst="line">
            <a:avLst/>
          </a:prstGeom>
          <a:noFill/>
          <a:ln w="762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7177" name="Line 12"/>
          <p:cNvSpPr>
            <a:spLocks noChangeShapeType="1"/>
          </p:cNvSpPr>
          <p:nvPr/>
        </p:nvSpPr>
        <p:spPr bwMode="auto">
          <a:xfrm>
            <a:off x="9983788" y="2349500"/>
            <a:ext cx="0" cy="1511300"/>
          </a:xfrm>
          <a:prstGeom prst="line">
            <a:avLst/>
          </a:prstGeom>
          <a:noFill/>
          <a:ln w="762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7178" name="Line 13"/>
          <p:cNvSpPr>
            <a:spLocks noChangeShapeType="1"/>
          </p:cNvSpPr>
          <p:nvPr/>
        </p:nvSpPr>
        <p:spPr bwMode="auto">
          <a:xfrm>
            <a:off x="9625013" y="2205038"/>
            <a:ext cx="792162" cy="0"/>
          </a:xfrm>
          <a:prstGeom prst="line">
            <a:avLst/>
          </a:prstGeom>
          <a:noFill/>
          <a:ln w="762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7179" name="Line 14"/>
          <p:cNvSpPr>
            <a:spLocks noChangeShapeType="1"/>
          </p:cNvSpPr>
          <p:nvPr/>
        </p:nvSpPr>
        <p:spPr bwMode="auto">
          <a:xfrm>
            <a:off x="9840913" y="2349500"/>
            <a:ext cx="360362" cy="0"/>
          </a:xfrm>
          <a:prstGeom prst="line">
            <a:avLst/>
          </a:prstGeom>
          <a:noFill/>
          <a:ln w="762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7180" name="Rectangle 15"/>
          <p:cNvSpPr>
            <a:spLocks noChangeArrowheads="1"/>
          </p:cNvSpPr>
          <p:nvPr/>
        </p:nvSpPr>
        <p:spPr bwMode="auto">
          <a:xfrm>
            <a:off x="5159376" y="2278064"/>
            <a:ext cx="720725" cy="287337"/>
          </a:xfrm>
          <a:prstGeom prst="rect">
            <a:avLst/>
          </a:prstGeom>
          <a:solidFill>
            <a:schemeClr val="bg1"/>
          </a:solidFill>
          <a:ln w="76200">
            <a:solidFill>
              <a:schemeClr val="tx1"/>
            </a:solidFill>
            <a:miter lim="800000"/>
            <a:headEnd type="none" w="sm" len="sm"/>
            <a:tailEnd type="none" w="sm" len="sm"/>
          </a:ln>
        </p:spPr>
        <p:txBody>
          <a:bodyPr wrap="none" anchor="ct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eaLnBrk="1" hangingPunct="1"/>
            <a:endParaRPr lang="en-US" altLang="en-US"/>
          </a:p>
        </p:txBody>
      </p:sp>
      <p:sp>
        <p:nvSpPr>
          <p:cNvPr id="7181" name="Line 16"/>
          <p:cNvSpPr>
            <a:spLocks noChangeShapeType="1"/>
          </p:cNvSpPr>
          <p:nvPr/>
        </p:nvSpPr>
        <p:spPr bwMode="auto">
          <a:xfrm>
            <a:off x="3432176" y="2636838"/>
            <a:ext cx="504825" cy="0"/>
          </a:xfrm>
          <a:prstGeom prst="line">
            <a:avLst/>
          </a:prstGeom>
          <a:noFill/>
          <a:ln w="762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7182" name="Line 17"/>
          <p:cNvSpPr>
            <a:spLocks noChangeShapeType="1"/>
          </p:cNvSpPr>
          <p:nvPr/>
        </p:nvSpPr>
        <p:spPr bwMode="auto">
          <a:xfrm>
            <a:off x="3576638" y="2781300"/>
            <a:ext cx="215900" cy="0"/>
          </a:xfrm>
          <a:prstGeom prst="line">
            <a:avLst/>
          </a:prstGeom>
          <a:noFill/>
          <a:ln w="762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7183" name="Line 18"/>
          <p:cNvSpPr>
            <a:spLocks noChangeShapeType="1"/>
          </p:cNvSpPr>
          <p:nvPr/>
        </p:nvSpPr>
        <p:spPr bwMode="auto">
          <a:xfrm flipV="1">
            <a:off x="3360739" y="2924176"/>
            <a:ext cx="935037" cy="360363"/>
          </a:xfrm>
          <a:prstGeom prst="line">
            <a:avLst/>
          </a:prstGeom>
          <a:noFill/>
          <a:ln w="76200">
            <a:solidFill>
              <a:schemeClr val="tx1"/>
            </a:solidFill>
            <a:round/>
            <a:headEnd type="none" w="sm" len="sm"/>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184" name="Line 19"/>
          <p:cNvSpPr>
            <a:spLocks noChangeShapeType="1"/>
          </p:cNvSpPr>
          <p:nvPr/>
        </p:nvSpPr>
        <p:spPr bwMode="auto">
          <a:xfrm>
            <a:off x="3433764" y="3500438"/>
            <a:ext cx="504825" cy="0"/>
          </a:xfrm>
          <a:prstGeom prst="line">
            <a:avLst/>
          </a:prstGeom>
          <a:noFill/>
          <a:ln w="762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7185" name="Line 20"/>
          <p:cNvSpPr>
            <a:spLocks noChangeShapeType="1"/>
          </p:cNvSpPr>
          <p:nvPr/>
        </p:nvSpPr>
        <p:spPr bwMode="auto">
          <a:xfrm>
            <a:off x="3578225" y="3644900"/>
            <a:ext cx="215900" cy="0"/>
          </a:xfrm>
          <a:prstGeom prst="line">
            <a:avLst/>
          </a:prstGeom>
          <a:noFill/>
          <a:ln w="762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7186" name="Line 21"/>
          <p:cNvSpPr>
            <a:spLocks noChangeShapeType="1"/>
          </p:cNvSpPr>
          <p:nvPr/>
        </p:nvSpPr>
        <p:spPr bwMode="auto">
          <a:xfrm>
            <a:off x="3719513" y="2420938"/>
            <a:ext cx="0" cy="215900"/>
          </a:xfrm>
          <a:prstGeom prst="line">
            <a:avLst/>
          </a:prstGeom>
          <a:noFill/>
          <a:ln w="762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7187" name="Line 22"/>
          <p:cNvSpPr>
            <a:spLocks noChangeShapeType="1"/>
          </p:cNvSpPr>
          <p:nvPr/>
        </p:nvSpPr>
        <p:spPr bwMode="auto">
          <a:xfrm>
            <a:off x="3719513" y="3644900"/>
            <a:ext cx="0" cy="215900"/>
          </a:xfrm>
          <a:prstGeom prst="line">
            <a:avLst/>
          </a:prstGeom>
          <a:noFill/>
          <a:ln w="762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7188" name="Line 23"/>
          <p:cNvSpPr>
            <a:spLocks noChangeShapeType="1"/>
          </p:cNvSpPr>
          <p:nvPr/>
        </p:nvSpPr>
        <p:spPr bwMode="auto">
          <a:xfrm>
            <a:off x="3719513" y="2779714"/>
            <a:ext cx="0" cy="720725"/>
          </a:xfrm>
          <a:prstGeom prst="line">
            <a:avLst/>
          </a:prstGeom>
          <a:noFill/>
          <a:ln w="762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7189" name="Line 24"/>
          <p:cNvSpPr>
            <a:spLocks noChangeShapeType="1"/>
          </p:cNvSpPr>
          <p:nvPr/>
        </p:nvSpPr>
        <p:spPr bwMode="auto">
          <a:xfrm rot="5400000">
            <a:off x="6276182" y="2420144"/>
            <a:ext cx="792162" cy="0"/>
          </a:xfrm>
          <a:prstGeom prst="line">
            <a:avLst/>
          </a:prstGeom>
          <a:noFill/>
          <a:ln w="762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7190" name="Line 25"/>
          <p:cNvSpPr>
            <a:spLocks noChangeShapeType="1"/>
          </p:cNvSpPr>
          <p:nvPr/>
        </p:nvSpPr>
        <p:spPr bwMode="auto">
          <a:xfrm>
            <a:off x="6672263" y="2492376"/>
            <a:ext cx="360362" cy="360363"/>
          </a:xfrm>
          <a:prstGeom prst="line">
            <a:avLst/>
          </a:prstGeom>
          <a:noFill/>
          <a:ln w="63500">
            <a:solidFill>
              <a:schemeClr val="tx1"/>
            </a:solidFill>
            <a:round/>
            <a:headEnd type="none" w="sm" len="sm"/>
            <a:tailEnd type="arrow" w="sm" len="sm"/>
          </a:ln>
          <a:extLst>
            <a:ext uri="{909E8E84-426E-40DD-AFC4-6F175D3DCCD1}">
              <a14:hiddenFill xmlns:a14="http://schemas.microsoft.com/office/drawing/2010/main">
                <a:noFill/>
              </a14:hiddenFill>
            </a:ext>
          </a:extLst>
        </p:spPr>
        <p:txBody>
          <a:bodyPr/>
          <a:lstStyle/>
          <a:p>
            <a:endParaRPr lang="en-US"/>
          </a:p>
        </p:txBody>
      </p:sp>
      <p:sp>
        <p:nvSpPr>
          <p:cNvPr id="7191" name="Line 26"/>
          <p:cNvSpPr>
            <a:spLocks noChangeShapeType="1"/>
          </p:cNvSpPr>
          <p:nvPr/>
        </p:nvSpPr>
        <p:spPr bwMode="auto">
          <a:xfrm>
            <a:off x="6959600" y="2781300"/>
            <a:ext cx="0" cy="1079500"/>
          </a:xfrm>
          <a:prstGeom prst="line">
            <a:avLst/>
          </a:prstGeom>
          <a:noFill/>
          <a:ln w="762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7192" name="Line 27"/>
          <p:cNvSpPr>
            <a:spLocks noChangeShapeType="1"/>
          </p:cNvSpPr>
          <p:nvPr/>
        </p:nvSpPr>
        <p:spPr bwMode="auto">
          <a:xfrm>
            <a:off x="6959600" y="620713"/>
            <a:ext cx="0" cy="1439862"/>
          </a:xfrm>
          <a:prstGeom prst="line">
            <a:avLst/>
          </a:prstGeom>
          <a:noFill/>
          <a:ln w="762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7193" name="Line 28"/>
          <p:cNvSpPr>
            <a:spLocks noChangeShapeType="1"/>
          </p:cNvSpPr>
          <p:nvPr/>
        </p:nvSpPr>
        <p:spPr bwMode="auto">
          <a:xfrm rot="5400000">
            <a:off x="6672264" y="2062164"/>
            <a:ext cx="287337" cy="287337"/>
          </a:xfrm>
          <a:prstGeom prst="line">
            <a:avLst/>
          </a:prstGeom>
          <a:noFill/>
          <a:ln w="635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7194" name="Oval 29"/>
          <p:cNvSpPr>
            <a:spLocks noChangeArrowheads="1"/>
          </p:cNvSpPr>
          <p:nvPr/>
        </p:nvSpPr>
        <p:spPr bwMode="auto">
          <a:xfrm>
            <a:off x="6743700" y="1125538"/>
            <a:ext cx="431800" cy="431800"/>
          </a:xfrm>
          <a:prstGeom prst="ellipse">
            <a:avLst/>
          </a:prstGeom>
          <a:solidFill>
            <a:srgbClr val="FFFF99"/>
          </a:solidFill>
          <a:ln w="50800">
            <a:solidFill>
              <a:schemeClr val="tx1"/>
            </a:solidFill>
            <a:round/>
            <a:headEnd type="none" w="sm" len="sm"/>
            <a:tailEnd type="none" w="sm" len="sm"/>
          </a:ln>
        </p:spPr>
        <p:txBody>
          <a:bodyPr wrap="none" anchor="ct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eaLnBrk="1" hangingPunct="1"/>
            <a:endParaRPr lang="en-US" altLang="en-US"/>
          </a:p>
        </p:txBody>
      </p:sp>
      <p:sp>
        <p:nvSpPr>
          <p:cNvPr id="7195" name="Rectangle 30"/>
          <p:cNvSpPr>
            <a:spLocks noChangeArrowheads="1"/>
          </p:cNvSpPr>
          <p:nvPr/>
        </p:nvSpPr>
        <p:spPr bwMode="auto">
          <a:xfrm>
            <a:off x="6743701" y="1109663"/>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algn="l" eaLnBrk="1" hangingPunct="1"/>
            <a:r>
              <a:rPr lang="en-US" altLang="en-US" sz="2800" u="none"/>
              <a:t>X</a:t>
            </a:r>
            <a:endParaRPr lang="en-GB" altLang="en-US" sz="2800" u="none"/>
          </a:p>
        </p:txBody>
      </p:sp>
      <p:sp>
        <p:nvSpPr>
          <p:cNvPr id="7196" name="Rectangle 31"/>
          <p:cNvSpPr>
            <a:spLocks noChangeArrowheads="1"/>
          </p:cNvSpPr>
          <p:nvPr/>
        </p:nvSpPr>
        <p:spPr bwMode="auto">
          <a:xfrm>
            <a:off x="1919288" y="2528889"/>
            <a:ext cx="1439862" cy="1200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2075" tIns="46038" rIns="92075" bIns="46038">
            <a:spAutoFit/>
          </a:bodyPr>
          <a:lstStyle>
            <a:lvl1pPr marL="187325" indent="-187325" defTabSz="541338" eaLnBrk="0" hangingPunct="0">
              <a:defRPr b="1" u="sng">
                <a:solidFill>
                  <a:schemeClr val="tx1"/>
                </a:solidFill>
                <a:latin typeface="Comic Sans MS" panose="030F0702030302020204" pitchFamily="66" charset="0"/>
                <a:cs typeface="Arial" panose="020B0604020202020204" pitchFamily="34" charset="0"/>
              </a:defRPr>
            </a:lvl1pPr>
            <a:lvl2pPr marL="742950" indent="-285750" defTabSz="541338" eaLnBrk="0" hangingPunct="0">
              <a:defRPr b="1" u="sng">
                <a:solidFill>
                  <a:schemeClr val="tx1"/>
                </a:solidFill>
                <a:latin typeface="Comic Sans MS" panose="030F0702030302020204" pitchFamily="66" charset="0"/>
                <a:cs typeface="Arial" panose="020B0604020202020204" pitchFamily="34" charset="0"/>
              </a:defRPr>
            </a:lvl2pPr>
            <a:lvl3pPr marL="1143000" indent="-228600" defTabSz="541338" eaLnBrk="0" hangingPunct="0">
              <a:defRPr b="1" u="sng">
                <a:solidFill>
                  <a:schemeClr val="tx1"/>
                </a:solidFill>
                <a:latin typeface="Comic Sans MS" panose="030F0702030302020204" pitchFamily="66" charset="0"/>
                <a:cs typeface="Arial" panose="020B0604020202020204" pitchFamily="34" charset="0"/>
              </a:defRPr>
            </a:lvl3pPr>
            <a:lvl4pPr marL="1600200" indent="-228600" defTabSz="541338" eaLnBrk="0" hangingPunct="0">
              <a:defRPr b="1" u="sng">
                <a:solidFill>
                  <a:schemeClr val="tx1"/>
                </a:solidFill>
                <a:latin typeface="Comic Sans MS" panose="030F0702030302020204" pitchFamily="66" charset="0"/>
                <a:cs typeface="Arial" panose="020B0604020202020204" pitchFamily="34" charset="0"/>
              </a:defRPr>
            </a:lvl4pPr>
            <a:lvl5pPr marL="2057400" indent="-228600" defTabSz="541338"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r>
              <a:rPr lang="en-US" altLang="en-US" sz="2400" b="0" u="none"/>
              <a:t>Variable</a:t>
            </a:r>
          </a:p>
          <a:p>
            <a:r>
              <a:rPr lang="en-US" altLang="en-US" sz="2400" b="0" u="none"/>
              <a:t>Voltage</a:t>
            </a:r>
          </a:p>
          <a:p>
            <a:r>
              <a:rPr lang="en-US" altLang="en-US" sz="2400" b="0" u="none"/>
              <a:t>Supply</a:t>
            </a:r>
            <a:endParaRPr lang="en-US" altLang="en-US" sz="2400"/>
          </a:p>
        </p:txBody>
      </p:sp>
      <p:sp>
        <p:nvSpPr>
          <p:cNvPr id="7197" name="Rectangle 32"/>
          <p:cNvSpPr>
            <a:spLocks noChangeArrowheads="1"/>
          </p:cNvSpPr>
          <p:nvPr/>
        </p:nvSpPr>
        <p:spPr bwMode="auto">
          <a:xfrm>
            <a:off x="9912351" y="1844676"/>
            <a:ext cx="720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algn="r"/>
            <a:r>
              <a:rPr lang="en-US" altLang="en-US" sz="2000" b="0" u="none"/>
              <a:t>12V</a:t>
            </a:r>
          </a:p>
        </p:txBody>
      </p:sp>
    </p:spTree>
    <p:extLst>
      <p:ext uri="{BB962C8B-B14F-4D97-AF65-F5344CB8AC3E}">
        <p14:creationId xmlns:p14="http://schemas.microsoft.com/office/powerpoint/2010/main" val="3039197508"/>
      </p:ext>
    </p:extLst>
  </p:cSld>
  <p:clrMapOvr>
    <a:masterClrMapping/>
  </p:clrMapOvr>
  <p:transition>
    <p:wheel spokes="8"/>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31750"/>
                                        </p:tgtEl>
                                        <p:attrNameLst>
                                          <p:attrName>style.visibility</p:attrName>
                                        </p:attrNameLst>
                                      </p:cBhvr>
                                      <p:to>
                                        <p:strVal val="visible"/>
                                      </p:to>
                                    </p:set>
                                    <p:animEffect transition="in" filter="dissolve">
                                      <p:cBhvr>
                                        <p:cTn id="7" dur="500"/>
                                        <p:tgtEl>
                                          <p:spTgt spid="31750"/>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1751"/>
                                        </p:tgtEl>
                                        <p:attrNameLst>
                                          <p:attrName>style.visibility</p:attrName>
                                        </p:attrNameLst>
                                      </p:cBhvr>
                                      <p:to>
                                        <p:strVal val="visible"/>
                                      </p:to>
                                    </p:set>
                                    <p:animEffect transition="in" filter="dissolve">
                                      <p:cBhvr>
                                        <p:cTn id="10" dur="500"/>
                                        <p:tgtEl>
                                          <p:spTgt spid="317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50" grpId="0" animBg="1"/>
      <p:bldP spid="3175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4"/>
          <p:cNvSpPr>
            <a:spLocks noChangeArrowheads="1"/>
          </p:cNvSpPr>
          <p:nvPr/>
        </p:nvSpPr>
        <p:spPr bwMode="auto">
          <a:xfrm>
            <a:off x="1524000" y="288925"/>
            <a:ext cx="9144000" cy="585418"/>
          </a:xfrm>
          <a:prstGeom prst="rec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eaLnBrk="1" hangingPunct="1"/>
            <a:r>
              <a:rPr lang="en-GB" altLang="en-US" sz="3200">
                <a:solidFill>
                  <a:srgbClr val="660066"/>
                </a:solidFill>
              </a:rPr>
              <a:t>Transistor Circuit : Light-Controlled Circuit</a:t>
            </a:r>
          </a:p>
        </p:txBody>
      </p:sp>
      <p:pic>
        <p:nvPicPr>
          <p:cNvPr id="819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750" y="838201"/>
            <a:ext cx="4032250" cy="3687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4" name="Rectangle 6"/>
          <p:cNvSpPr>
            <a:spLocks noChangeArrowheads="1"/>
          </p:cNvSpPr>
          <p:nvPr/>
        </p:nvSpPr>
        <p:spPr bwMode="auto">
          <a:xfrm>
            <a:off x="6167439" y="909638"/>
            <a:ext cx="4427537" cy="73025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2075" tIns="46038" rIns="92075" bIns="46038">
            <a:spAutoFit/>
          </a:bodyPr>
          <a:lstStyle>
            <a:lvl1pPr marL="187325" indent="-187325" defTabSz="541338" eaLnBrk="0" hangingPunct="0">
              <a:defRPr b="1" u="sng">
                <a:solidFill>
                  <a:schemeClr val="tx1"/>
                </a:solidFill>
                <a:latin typeface="Comic Sans MS" panose="030F0702030302020204" pitchFamily="66" charset="0"/>
                <a:cs typeface="Arial" panose="020B0604020202020204" pitchFamily="34" charset="0"/>
              </a:defRPr>
            </a:lvl1pPr>
            <a:lvl2pPr marL="742950" indent="-285750" defTabSz="541338" eaLnBrk="0" hangingPunct="0">
              <a:defRPr b="1" u="sng">
                <a:solidFill>
                  <a:schemeClr val="tx1"/>
                </a:solidFill>
                <a:latin typeface="Comic Sans MS" panose="030F0702030302020204" pitchFamily="66" charset="0"/>
                <a:cs typeface="Arial" panose="020B0604020202020204" pitchFamily="34" charset="0"/>
              </a:defRPr>
            </a:lvl2pPr>
            <a:lvl3pPr marL="1143000" indent="-228600" defTabSz="541338" eaLnBrk="0" hangingPunct="0">
              <a:defRPr b="1" u="sng">
                <a:solidFill>
                  <a:schemeClr val="tx1"/>
                </a:solidFill>
                <a:latin typeface="Comic Sans MS" panose="030F0702030302020204" pitchFamily="66" charset="0"/>
                <a:cs typeface="Arial" panose="020B0604020202020204" pitchFamily="34" charset="0"/>
              </a:defRPr>
            </a:lvl3pPr>
            <a:lvl4pPr marL="1600200" indent="-228600" defTabSz="541338" eaLnBrk="0" hangingPunct="0">
              <a:defRPr b="1" u="sng">
                <a:solidFill>
                  <a:schemeClr val="tx1"/>
                </a:solidFill>
                <a:latin typeface="Comic Sans MS" panose="030F0702030302020204" pitchFamily="66" charset="0"/>
                <a:cs typeface="Arial" panose="020B0604020202020204" pitchFamily="34" charset="0"/>
              </a:defRPr>
            </a:lvl4pPr>
            <a:lvl5pPr marL="2057400" indent="-228600" defTabSz="541338"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algn="just">
              <a:buFontTx/>
              <a:buChar char="•"/>
            </a:pPr>
            <a:r>
              <a:rPr lang="en-US" altLang="en-US" sz="2000" b="0" u="none"/>
              <a:t>This transistor circuit contains</a:t>
            </a:r>
          </a:p>
          <a:p>
            <a:pPr algn="r"/>
            <a:r>
              <a:rPr lang="en-US" altLang="en-US" sz="2000" b="0" u="none"/>
              <a:t>a </a:t>
            </a:r>
            <a:r>
              <a:rPr lang="en-US" altLang="en-US" sz="2000"/>
              <a:t>Light-Dependent Resistor</a:t>
            </a:r>
            <a:r>
              <a:rPr lang="en-US" altLang="en-US" sz="2000" b="0" u="none"/>
              <a:t>.</a:t>
            </a:r>
          </a:p>
        </p:txBody>
      </p:sp>
      <p:sp>
        <p:nvSpPr>
          <p:cNvPr id="32775" name="Rectangle 7"/>
          <p:cNvSpPr>
            <a:spLocks noChangeArrowheads="1"/>
          </p:cNvSpPr>
          <p:nvPr/>
        </p:nvSpPr>
        <p:spPr bwMode="auto">
          <a:xfrm>
            <a:off x="6167439" y="1763713"/>
            <a:ext cx="4427537" cy="73025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2075" tIns="46038" rIns="92075" bIns="46038">
            <a:spAutoFit/>
          </a:bodyPr>
          <a:lstStyle>
            <a:lvl1pPr marL="187325" indent="-187325" defTabSz="541338" eaLnBrk="0" hangingPunct="0">
              <a:defRPr b="1" u="sng">
                <a:solidFill>
                  <a:schemeClr val="tx1"/>
                </a:solidFill>
                <a:latin typeface="Comic Sans MS" panose="030F0702030302020204" pitchFamily="66" charset="0"/>
                <a:cs typeface="Arial" panose="020B0604020202020204" pitchFamily="34" charset="0"/>
              </a:defRPr>
            </a:lvl1pPr>
            <a:lvl2pPr marL="742950" indent="-285750" defTabSz="541338" eaLnBrk="0" hangingPunct="0">
              <a:defRPr b="1" u="sng">
                <a:solidFill>
                  <a:schemeClr val="tx1"/>
                </a:solidFill>
                <a:latin typeface="Comic Sans MS" panose="030F0702030302020204" pitchFamily="66" charset="0"/>
                <a:cs typeface="Arial" panose="020B0604020202020204" pitchFamily="34" charset="0"/>
              </a:defRPr>
            </a:lvl2pPr>
            <a:lvl3pPr marL="1143000" indent="-228600" defTabSz="541338" eaLnBrk="0" hangingPunct="0">
              <a:defRPr b="1" u="sng">
                <a:solidFill>
                  <a:schemeClr val="tx1"/>
                </a:solidFill>
                <a:latin typeface="Comic Sans MS" panose="030F0702030302020204" pitchFamily="66" charset="0"/>
                <a:cs typeface="Arial" panose="020B0604020202020204" pitchFamily="34" charset="0"/>
              </a:defRPr>
            </a:lvl3pPr>
            <a:lvl4pPr marL="1600200" indent="-228600" defTabSz="541338" eaLnBrk="0" hangingPunct="0">
              <a:defRPr b="1" u="sng">
                <a:solidFill>
                  <a:schemeClr val="tx1"/>
                </a:solidFill>
                <a:latin typeface="Comic Sans MS" panose="030F0702030302020204" pitchFamily="66" charset="0"/>
                <a:cs typeface="Arial" panose="020B0604020202020204" pitchFamily="34" charset="0"/>
              </a:defRPr>
            </a:lvl4pPr>
            <a:lvl5pPr marL="2057400" indent="-228600" defTabSz="541338"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algn="just">
              <a:buFontTx/>
              <a:buChar char="•"/>
            </a:pPr>
            <a:r>
              <a:rPr lang="en-US" altLang="en-US" sz="2000" b="0" u="none"/>
              <a:t>Because of the LDR, this circuit is dependent on </a:t>
            </a:r>
            <a:r>
              <a:rPr lang="en-US" altLang="en-US" sz="2000"/>
              <a:t>light</a:t>
            </a:r>
            <a:r>
              <a:rPr lang="en-US" altLang="en-US" sz="2000" b="0" u="none"/>
              <a:t>.</a:t>
            </a:r>
          </a:p>
        </p:txBody>
      </p:sp>
      <p:sp>
        <p:nvSpPr>
          <p:cNvPr id="32776" name="Rectangle 8"/>
          <p:cNvSpPr>
            <a:spLocks noChangeArrowheads="1"/>
          </p:cNvSpPr>
          <p:nvPr/>
        </p:nvSpPr>
        <p:spPr bwMode="auto">
          <a:xfrm>
            <a:off x="6167439" y="2638425"/>
            <a:ext cx="4427537" cy="103505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2075" tIns="46038" rIns="92075" bIns="46038">
            <a:spAutoFit/>
          </a:bodyPr>
          <a:lstStyle>
            <a:lvl1pPr marL="187325" indent="-187325" defTabSz="541338" eaLnBrk="0" hangingPunct="0">
              <a:defRPr b="1" u="sng">
                <a:solidFill>
                  <a:schemeClr val="tx1"/>
                </a:solidFill>
                <a:latin typeface="Comic Sans MS" panose="030F0702030302020204" pitchFamily="66" charset="0"/>
                <a:cs typeface="Arial" panose="020B0604020202020204" pitchFamily="34" charset="0"/>
              </a:defRPr>
            </a:lvl1pPr>
            <a:lvl2pPr marL="742950" indent="-285750" defTabSz="541338" eaLnBrk="0" hangingPunct="0">
              <a:defRPr b="1" u="sng">
                <a:solidFill>
                  <a:schemeClr val="tx1"/>
                </a:solidFill>
                <a:latin typeface="Comic Sans MS" panose="030F0702030302020204" pitchFamily="66" charset="0"/>
                <a:cs typeface="Arial" panose="020B0604020202020204" pitchFamily="34" charset="0"/>
              </a:defRPr>
            </a:lvl2pPr>
            <a:lvl3pPr marL="1143000" indent="-228600" defTabSz="541338" eaLnBrk="0" hangingPunct="0">
              <a:defRPr b="1" u="sng">
                <a:solidFill>
                  <a:schemeClr val="tx1"/>
                </a:solidFill>
                <a:latin typeface="Comic Sans MS" panose="030F0702030302020204" pitchFamily="66" charset="0"/>
                <a:cs typeface="Arial" panose="020B0604020202020204" pitchFamily="34" charset="0"/>
              </a:defRPr>
            </a:lvl3pPr>
            <a:lvl4pPr marL="1600200" indent="-228600" defTabSz="541338" eaLnBrk="0" hangingPunct="0">
              <a:defRPr b="1" u="sng">
                <a:solidFill>
                  <a:schemeClr val="tx1"/>
                </a:solidFill>
                <a:latin typeface="Comic Sans MS" panose="030F0702030302020204" pitchFamily="66" charset="0"/>
                <a:cs typeface="Arial" panose="020B0604020202020204" pitchFamily="34" charset="0"/>
              </a:defRPr>
            </a:lvl4pPr>
            <a:lvl5pPr marL="2057400" indent="-228600" defTabSz="541338"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algn="just">
              <a:buFontTx/>
              <a:buChar char="•"/>
            </a:pPr>
            <a:r>
              <a:rPr lang="en-US" altLang="en-US" sz="2000" b="0" u="none"/>
              <a:t>The purpose of this circuit is to turn on the LED when the light reaches a certain intensity.</a:t>
            </a:r>
          </a:p>
        </p:txBody>
      </p:sp>
      <p:sp>
        <p:nvSpPr>
          <p:cNvPr id="32777" name="Rectangle 9"/>
          <p:cNvSpPr>
            <a:spLocks noChangeArrowheads="1"/>
          </p:cNvSpPr>
          <p:nvPr/>
        </p:nvSpPr>
        <p:spPr bwMode="auto">
          <a:xfrm>
            <a:off x="2028826" y="4914900"/>
            <a:ext cx="3275013" cy="1035050"/>
          </a:xfrm>
          <a:prstGeom prst="rect">
            <a:avLst/>
          </a:prstGeom>
          <a:solidFill>
            <a:srgbClr val="FFFF99"/>
          </a:solidFill>
          <a:ln w="28575">
            <a:solidFill>
              <a:schemeClr val="tx1"/>
            </a:solidFill>
            <a:miter lim="800000"/>
            <a:headEnd/>
            <a:tailEnd/>
          </a:ln>
        </p:spPr>
        <p:txBody>
          <a:bodyPr lIns="92075" tIns="46038" rIns="92075" bIns="46038">
            <a:spAutoFit/>
          </a:bodyPr>
          <a:lstStyle>
            <a:lvl1pPr marL="187325" indent="-187325" defTabSz="541338" eaLnBrk="0" hangingPunct="0">
              <a:tabLst>
                <a:tab pos="989013" algn="l"/>
              </a:tabLst>
              <a:defRPr b="1" u="sng">
                <a:solidFill>
                  <a:schemeClr val="tx1"/>
                </a:solidFill>
                <a:latin typeface="Comic Sans MS" panose="030F0702030302020204" pitchFamily="66" charset="0"/>
                <a:cs typeface="Arial" panose="020B0604020202020204" pitchFamily="34" charset="0"/>
              </a:defRPr>
            </a:lvl1pPr>
            <a:lvl2pPr marL="742950" indent="-285750" defTabSz="541338" eaLnBrk="0" hangingPunct="0">
              <a:tabLst>
                <a:tab pos="989013" algn="l"/>
              </a:tabLst>
              <a:defRPr b="1" u="sng">
                <a:solidFill>
                  <a:schemeClr val="tx1"/>
                </a:solidFill>
                <a:latin typeface="Comic Sans MS" panose="030F0702030302020204" pitchFamily="66" charset="0"/>
                <a:cs typeface="Arial" panose="020B0604020202020204" pitchFamily="34" charset="0"/>
              </a:defRPr>
            </a:lvl2pPr>
            <a:lvl3pPr marL="1143000" indent="-228600" defTabSz="541338" eaLnBrk="0" hangingPunct="0">
              <a:tabLst>
                <a:tab pos="989013" algn="l"/>
              </a:tabLst>
              <a:defRPr b="1" u="sng">
                <a:solidFill>
                  <a:schemeClr val="tx1"/>
                </a:solidFill>
                <a:latin typeface="Comic Sans MS" panose="030F0702030302020204" pitchFamily="66" charset="0"/>
                <a:cs typeface="Arial" panose="020B0604020202020204" pitchFamily="34" charset="0"/>
              </a:defRPr>
            </a:lvl3pPr>
            <a:lvl4pPr marL="1600200" indent="-228600" defTabSz="541338" eaLnBrk="0" hangingPunct="0">
              <a:tabLst>
                <a:tab pos="989013" algn="l"/>
              </a:tabLst>
              <a:defRPr b="1" u="sng">
                <a:solidFill>
                  <a:schemeClr val="tx1"/>
                </a:solidFill>
                <a:latin typeface="Comic Sans MS" panose="030F0702030302020204" pitchFamily="66" charset="0"/>
                <a:cs typeface="Arial" panose="020B0604020202020204" pitchFamily="34" charset="0"/>
              </a:defRPr>
            </a:lvl4pPr>
            <a:lvl5pPr marL="2057400" indent="-228600" defTabSz="541338" eaLnBrk="0" hangingPunct="0">
              <a:tabLst>
                <a:tab pos="989013" algn="l"/>
              </a:tabLst>
              <a:defRPr b="1" u="sng">
                <a:solidFill>
                  <a:schemeClr val="tx1"/>
                </a:solidFill>
                <a:latin typeface="Comic Sans MS" panose="030F0702030302020204" pitchFamily="66" charset="0"/>
                <a:cs typeface="Arial" panose="020B0604020202020204" pitchFamily="34" charset="0"/>
              </a:defRPr>
            </a:lvl5pPr>
            <a:lvl6pPr marL="2514600" indent="-228600" algn="ctr" defTabSz="541338" eaLnBrk="0" fontAlgn="base" hangingPunct="0">
              <a:spcBef>
                <a:spcPct val="0"/>
              </a:spcBef>
              <a:spcAft>
                <a:spcPct val="0"/>
              </a:spcAft>
              <a:tabLst>
                <a:tab pos="989013" algn="l"/>
              </a:tabLst>
              <a:defRPr b="1" u="sng">
                <a:solidFill>
                  <a:schemeClr val="tx1"/>
                </a:solidFill>
                <a:latin typeface="Comic Sans MS" panose="030F0702030302020204" pitchFamily="66" charset="0"/>
                <a:cs typeface="Arial" panose="020B0604020202020204" pitchFamily="34" charset="0"/>
              </a:defRPr>
            </a:lvl6pPr>
            <a:lvl7pPr marL="2971800" indent="-228600" algn="ctr" defTabSz="541338" eaLnBrk="0" fontAlgn="base" hangingPunct="0">
              <a:spcBef>
                <a:spcPct val="0"/>
              </a:spcBef>
              <a:spcAft>
                <a:spcPct val="0"/>
              </a:spcAft>
              <a:tabLst>
                <a:tab pos="989013" algn="l"/>
              </a:tabLst>
              <a:defRPr b="1" u="sng">
                <a:solidFill>
                  <a:schemeClr val="tx1"/>
                </a:solidFill>
                <a:latin typeface="Comic Sans MS" panose="030F0702030302020204" pitchFamily="66" charset="0"/>
                <a:cs typeface="Arial" panose="020B0604020202020204" pitchFamily="34" charset="0"/>
              </a:defRPr>
            </a:lvl7pPr>
            <a:lvl8pPr marL="3429000" indent="-228600" algn="ctr" defTabSz="541338" eaLnBrk="0" fontAlgn="base" hangingPunct="0">
              <a:spcBef>
                <a:spcPct val="0"/>
              </a:spcBef>
              <a:spcAft>
                <a:spcPct val="0"/>
              </a:spcAft>
              <a:tabLst>
                <a:tab pos="989013" algn="l"/>
              </a:tabLst>
              <a:defRPr b="1" u="sng">
                <a:solidFill>
                  <a:schemeClr val="tx1"/>
                </a:solidFill>
                <a:latin typeface="Comic Sans MS" panose="030F0702030302020204" pitchFamily="66" charset="0"/>
                <a:cs typeface="Arial" panose="020B0604020202020204" pitchFamily="34" charset="0"/>
              </a:defRPr>
            </a:lvl8pPr>
            <a:lvl9pPr marL="3886200" indent="-228600" algn="ctr" defTabSz="541338" eaLnBrk="0" fontAlgn="base" hangingPunct="0">
              <a:spcBef>
                <a:spcPct val="0"/>
              </a:spcBef>
              <a:spcAft>
                <a:spcPct val="0"/>
              </a:spcAft>
              <a:tabLst>
                <a:tab pos="989013" algn="l"/>
              </a:tabLst>
              <a:defRPr b="1" u="sng">
                <a:solidFill>
                  <a:schemeClr val="tx1"/>
                </a:solidFill>
                <a:latin typeface="Comic Sans MS" panose="030F0702030302020204" pitchFamily="66" charset="0"/>
                <a:cs typeface="Arial" panose="020B0604020202020204" pitchFamily="34" charset="0"/>
              </a:defRPr>
            </a:lvl9pPr>
          </a:lstStyle>
          <a:p>
            <a:pPr algn="just"/>
            <a:r>
              <a:rPr lang="en-US" altLang="en-US" sz="2000" b="0" u="none"/>
              <a:t>Input	= Voltage Divider</a:t>
            </a:r>
          </a:p>
          <a:p>
            <a:pPr algn="just"/>
            <a:r>
              <a:rPr lang="en-US" altLang="en-US" sz="2000" b="0" u="none"/>
              <a:t>Process	= Transistor</a:t>
            </a:r>
          </a:p>
          <a:p>
            <a:pPr algn="just"/>
            <a:r>
              <a:rPr lang="en-US" altLang="en-US" sz="2000" b="0" u="none"/>
              <a:t>Output	= LED</a:t>
            </a:r>
          </a:p>
        </p:txBody>
      </p:sp>
      <p:sp>
        <p:nvSpPr>
          <p:cNvPr id="32778" name="Rectangle 10"/>
          <p:cNvSpPr>
            <a:spLocks noChangeArrowheads="1"/>
          </p:cNvSpPr>
          <p:nvPr/>
        </p:nvSpPr>
        <p:spPr bwMode="auto">
          <a:xfrm>
            <a:off x="6167439" y="3789363"/>
            <a:ext cx="4427537" cy="194945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2075" tIns="46038" rIns="92075" bIns="46038">
            <a:spAutoFit/>
          </a:bodyPr>
          <a:lstStyle>
            <a:lvl1pPr marL="457200" indent="-457200" defTabSz="541338" eaLnBrk="0" hangingPunct="0">
              <a:defRPr b="1" u="sng">
                <a:solidFill>
                  <a:schemeClr val="tx1"/>
                </a:solidFill>
                <a:latin typeface="Comic Sans MS" panose="030F0702030302020204" pitchFamily="66" charset="0"/>
                <a:cs typeface="Arial" panose="020B0604020202020204" pitchFamily="34" charset="0"/>
              </a:defRPr>
            </a:lvl1pPr>
            <a:lvl2pPr marL="742950" indent="-285750" defTabSz="541338" eaLnBrk="0" hangingPunct="0">
              <a:defRPr b="1" u="sng">
                <a:solidFill>
                  <a:schemeClr val="tx1"/>
                </a:solidFill>
                <a:latin typeface="Comic Sans MS" panose="030F0702030302020204" pitchFamily="66" charset="0"/>
                <a:cs typeface="Arial" panose="020B0604020202020204" pitchFamily="34" charset="0"/>
              </a:defRPr>
            </a:lvl2pPr>
            <a:lvl3pPr marL="1143000" indent="-228600" defTabSz="541338" eaLnBrk="0" hangingPunct="0">
              <a:defRPr b="1" u="sng">
                <a:solidFill>
                  <a:schemeClr val="tx1"/>
                </a:solidFill>
                <a:latin typeface="Comic Sans MS" panose="030F0702030302020204" pitchFamily="66" charset="0"/>
                <a:cs typeface="Arial" panose="020B0604020202020204" pitchFamily="34" charset="0"/>
              </a:defRPr>
            </a:lvl3pPr>
            <a:lvl4pPr marL="1600200" indent="-228600" defTabSz="541338" eaLnBrk="0" hangingPunct="0">
              <a:defRPr b="1" u="sng">
                <a:solidFill>
                  <a:schemeClr val="tx1"/>
                </a:solidFill>
                <a:latin typeface="Comic Sans MS" panose="030F0702030302020204" pitchFamily="66" charset="0"/>
                <a:cs typeface="Arial" panose="020B0604020202020204" pitchFamily="34" charset="0"/>
              </a:defRPr>
            </a:lvl4pPr>
            <a:lvl5pPr marL="2057400" indent="-228600" defTabSz="541338"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defTabSz="541338"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algn="just">
              <a:buFontTx/>
              <a:buAutoNum type="arabicParenR"/>
            </a:pPr>
            <a:r>
              <a:rPr lang="en-US" altLang="en-US" sz="2000" b="0" u="none"/>
              <a:t>LED = Off.</a:t>
            </a:r>
          </a:p>
          <a:p>
            <a:pPr algn="just">
              <a:buFontTx/>
              <a:buAutoNum type="arabicParenR"/>
            </a:pPr>
            <a:r>
              <a:rPr lang="en-US" altLang="en-US" sz="2000" b="0" u="none"/>
              <a:t>Cover LDR.</a:t>
            </a:r>
          </a:p>
          <a:p>
            <a:pPr algn="just">
              <a:buFontTx/>
              <a:buAutoNum type="arabicParenR"/>
            </a:pPr>
            <a:r>
              <a:rPr lang="en-US" altLang="en-US" sz="2000" b="0" u="none"/>
              <a:t>R</a:t>
            </a:r>
            <a:r>
              <a:rPr lang="en-US" altLang="en-US" sz="2000" b="0" u="none" baseline="-25000"/>
              <a:t>LDR</a:t>
            </a:r>
            <a:r>
              <a:rPr lang="en-US" altLang="en-US" sz="2000" b="0" u="none"/>
              <a:t> </a:t>
            </a:r>
            <a:r>
              <a:rPr lang="en-US" altLang="en-US" sz="2000" u="none">
                <a:sym typeface="Symbol" panose="05050102010706020507" pitchFamily="18" charset="2"/>
              </a:rPr>
              <a:t></a:t>
            </a:r>
            <a:r>
              <a:rPr lang="en-US" altLang="en-US" sz="2000" b="0" u="none"/>
              <a:t>.</a:t>
            </a:r>
          </a:p>
          <a:p>
            <a:pPr algn="just">
              <a:buFontTx/>
              <a:buAutoNum type="arabicParenR"/>
            </a:pPr>
            <a:r>
              <a:rPr lang="en-US" altLang="en-US" sz="2000" b="0" u="none"/>
              <a:t>V</a:t>
            </a:r>
            <a:r>
              <a:rPr lang="en-US" altLang="en-US" sz="2000" b="0" u="none" baseline="-25000"/>
              <a:t>LDR</a:t>
            </a:r>
            <a:r>
              <a:rPr lang="en-US" altLang="en-US" sz="2000" b="0" u="none"/>
              <a:t> </a:t>
            </a:r>
            <a:r>
              <a:rPr lang="en-US" altLang="en-US" sz="2000" u="none">
                <a:sym typeface="Symbol" panose="05050102010706020507" pitchFamily="18" charset="2"/>
              </a:rPr>
              <a:t></a:t>
            </a:r>
            <a:r>
              <a:rPr lang="en-US" altLang="en-US" sz="2000" b="0" u="none"/>
              <a:t>.</a:t>
            </a:r>
          </a:p>
          <a:p>
            <a:pPr algn="just">
              <a:buFontTx/>
              <a:buAutoNum type="arabicParenR"/>
            </a:pPr>
            <a:r>
              <a:rPr lang="en-US" altLang="en-US" sz="2000" b="0" u="none">
                <a:sym typeface="Symbol" panose="05050102010706020507" pitchFamily="18" charset="2"/>
              </a:rPr>
              <a:t>Transistor switches on.</a:t>
            </a:r>
          </a:p>
          <a:p>
            <a:pPr algn="just">
              <a:buFontTx/>
              <a:buAutoNum type="arabicParenR"/>
            </a:pPr>
            <a:r>
              <a:rPr lang="en-US" altLang="en-US" sz="2000" b="0" u="none">
                <a:sym typeface="Symbol" panose="05050102010706020507" pitchFamily="18" charset="2"/>
              </a:rPr>
              <a:t>LED = On.</a:t>
            </a:r>
          </a:p>
        </p:txBody>
      </p:sp>
    </p:spTree>
    <p:extLst>
      <p:ext uri="{BB962C8B-B14F-4D97-AF65-F5344CB8AC3E}">
        <p14:creationId xmlns:p14="http://schemas.microsoft.com/office/powerpoint/2010/main" val="3812527404"/>
      </p:ext>
    </p:extLst>
  </p:cSld>
  <p:clrMapOvr>
    <a:masterClrMapping/>
  </p:clrMapOvr>
  <p:transition>
    <p:blind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32774"/>
                                        </p:tgtEl>
                                        <p:attrNameLst>
                                          <p:attrName>style.visibility</p:attrName>
                                        </p:attrNameLst>
                                      </p:cBhvr>
                                      <p:to>
                                        <p:strVal val="visible"/>
                                      </p:to>
                                    </p:set>
                                    <p:animEffect transition="in" filter="dissolve">
                                      <p:cBhvr>
                                        <p:cTn id="7" dur="500"/>
                                        <p:tgtEl>
                                          <p:spTgt spid="3277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2775"/>
                                        </p:tgtEl>
                                        <p:attrNameLst>
                                          <p:attrName>style.visibility</p:attrName>
                                        </p:attrNameLst>
                                      </p:cBhvr>
                                      <p:to>
                                        <p:strVal val="visible"/>
                                      </p:to>
                                    </p:set>
                                    <p:animEffect transition="in" filter="dissolve">
                                      <p:cBhvr>
                                        <p:cTn id="10" dur="500"/>
                                        <p:tgtEl>
                                          <p:spTgt spid="32775"/>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32776"/>
                                        </p:tgtEl>
                                        <p:attrNameLst>
                                          <p:attrName>style.visibility</p:attrName>
                                        </p:attrNameLst>
                                      </p:cBhvr>
                                      <p:to>
                                        <p:strVal val="visible"/>
                                      </p:to>
                                    </p:set>
                                    <p:animEffect transition="in" filter="dissolve">
                                      <p:cBhvr>
                                        <p:cTn id="13" dur="500"/>
                                        <p:tgtEl>
                                          <p:spTgt spid="32776"/>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32777"/>
                                        </p:tgtEl>
                                        <p:attrNameLst>
                                          <p:attrName>style.visibility</p:attrName>
                                        </p:attrNameLst>
                                      </p:cBhvr>
                                      <p:to>
                                        <p:strVal val="visible"/>
                                      </p:to>
                                    </p:set>
                                    <p:animEffect transition="in" filter="dissolve">
                                      <p:cBhvr>
                                        <p:cTn id="16" dur="500"/>
                                        <p:tgtEl>
                                          <p:spTgt spid="32777"/>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32778"/>
                                        </p:tgtEl>
                                        <p:attrNameLst>
                                          <p:attrName>style.visibility</p:attrName>
                                        </p:attrNameLst>
                                      </p:cBhvr>
                                      <p:to>
                                        <p:strVal val="visible"/>
                                      </p:to>
                                    </p:set>
                                    <p:animEffect transition="in" filter="dissolve">
                                      <p:cBhvr>
                                        <p:cTn id="19" dur="500"/>
                                        <p:tgtEl>
                                          <p:spTgt spid="327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4" grpId="0" animBg="1"/>
      <p:bldP spid="32775" grpId="0" animBg="1"/>
      <p:bldP spid="32776" grpId="0" animBg="1"/>
      <p:bldP spid="32777" grpId="0" animBg="1"/>
      <p:bldP spid="3277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6"/>
          <p:cNvSpPr txBox="1">
            <a:spLocks noChangeArrowheads="1"/>
          </p:cNvSpPr>
          <p:nvPr/>
        </p:nvSpPr>
        <p:spPr bwMode="auto">
          <a:xfrm>
            <a:off x="1905000" y="381000"/>
            <a:ext cx="5638800" cy="579438"/>
          </a:xfrm>
          <a:prstGeom prst="rect">
            <a:avLst/>
          </a:prstGeom>
          <a:solidFill>
            <a:srgbClr val="99FF99"/>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eaLnBrk="1" hangingPunct="1"/>
            <a:r>
              <a:rPr lang="en-US" altLang="en-US" sz="3200"/>
              <a:t>Transistor as an amplifier</a:t>
            </a:r>
            <a:r>
              <a:rPr lang="en-US" altLang="en-US" sz="2400"/>
              <a:t>:</a:t>
            </a:r>
          </a:p>
        </p:txBody>
      </p:sp>
      <p:sp>
        <p:nvSpPr>
          <p:cNvPr id="9219" name="Text Box 7"/>
          <p:cNvSpPr txBox="1">
            <a:spLocks noChangeArrowheads="1"/>
          </p:cNvSpPr>
          <p:nvPr/>
        </p:nvSpPr>
        <p:spPr bwMode="auto">
          <a:xfrm>
            <a:off x="2590800" y="1371601"/>
            <a:ext cx="708660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eaLnBrk="1" hangingPunct="1"/>
            <a:r>
              <a:rPr lang="en-US" altLang="en-US" sz="2000" b="0" u="none"/>
              <a:t>Transistors are often used as amplifiers to increase input signal in radios, televisions and some other applications .The circuit may be designed to increase the current or voltage level.</a:t>
            </a:r>
          </a:p>
          <a:p>
            <a:pPr eaLnBrk="1" hangingPunct="1"/>
            <a:r>
              <a:rPr lang="en-US" altLang="en-US" sz="2000" b="0" u="none"/>
              <a:t>The power gain is the product of current gain and voltage gain (P=V*I). </a:t>
            </a:r>
          </a:p>
        </p:txBody>
      </p:sp>
      <p:pic>
        <p:nvPicPr>
          <p:cNvPr id="9220" name="Picture 8" descr="img5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3417888"/>
            <a:ext cx="4876800" cy="301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34780545"/>
      </p:ext>
    </p:extLst>
  </p:cSld>
  <p:clrMapOvr>
    <a:masterClrMapping/>
  </p:clrMapOvr>
  <p:transition>
    <p:blinds dir="ver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5" descr="amplifi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2600" y="1981200"/>
            <a:ext cx="4738688"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3" name="Text Box 6"/>
          <p:cNvSpPr txBox="1">
            <a:spLocks noChangeArrowheads="1"/>
          </p:cNvSpPr>
          <p:nvPr/>
        </p:nvSpPr>
        <p:spPr bwMode="auto">
          <a:xfrm>
            <a:off x="2286000" y="228600"/>
            <a:ext cx="5105400" cy="579438"/>
          </a:xfrm>
          <a:prstGeom prst="rect">
            <a:avLst/>
          </a:prstGeom>
          <a:solidFill>
            <a:srgbClr val="99FF99"/>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eaLnBrk="1" hangingPunct="1"/>
            <a:r>
              <a:rPr lang="en-US" altLang="en-US" sz="3200"/>
              <a:t>Amplifier example:</a:t>
            </a:r>
          </a:p>
        </p:txBody>
      </p:sp>
      <p:sp>
        <p:nvSpPr>
          <p:cNvPr id="10244" name="Text Box 7"/>
          <p:cNvSpPr txBox="1">
            <a:spLocks noChangeArrowheads="1"/>
          </p:cNvSpPr>
          <p:nvPr/>
        </p:nvSpPr>
        <p:spPr bwMode="auto">
          <a:xfrm>
            <a:off x="1752600" y="990601"/>
            <a:ext cx="3657600" cy="222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eaLnBrk="1" hangingPunct="1"/>
            <a:r>
              <a:rPr lang="en-US" altLang="en-US" sz="2000" b="0" u="none"/>
              <a:t>As you see, the transistor is biased to be always on. The input signal is amplified by this circuit. The frequency of output is the same as its input, but the polarity of the signal is inverted.</a:t>
            </a:r>
          </a:p>
        </p:txBody>
      </p:sp>
      <p:sp>
        <p:nvSpPr>
          <p:cNvPr id="10245" name="Text Box 9"/>
          <p:cNvSpPr txBox="1">
            <a:spLocks noChangeArrowheads="1"/>
          </p:cNvSpPr>
          <p:nvPr/>
        </p:nvSpPr>
        <p:spPr bwMode="auto">
          <a:xfrm>
            <a:off x="1828800" y="3733801"/>
            <a:ext cx="3581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eaLnBrk="1" hangingPunct="1"/>
            <a:r>
              <a:rPr lang="en-US" altLang="en-US" sz="2000" b="0" u="none"/>
              <a:t>The measure of amplification is the gain of transistor.</a:t>
            </a:r>
          </a:p>
        </p:txBody>
      </p:sp>
      <p:sp>
        <p:nvSpPr>
          <p:cNvPr id="10246" name="Text Box 10"/>
          <p:cNvSpPr txBox="1">
            <a:spLocks noChangeArrowheads="1"/>
          </p:cNvSpPr>
          <p:nvPr/>
        </p:nvSpPr>
        <p:spPr bwMode="auto">
          <a:xfrm>
            <a:off x="1905000" y="5029201"/>
            <a:ext cx="3505200" cy="1190625"/>
          </a:xfrm>
          <a:prstGeom prst="rect">
            <a:avLst/>
          </a:prstGeom>
          <a:solidFill>
            <a:srgbClr val="F6FDA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eaLnBrk="1" hangingPunct="1"/>
            <a:r>
              <a:rPr lang="en-US" altLang="en-US" b="0" u="none"/>
              <a:t>Example:</a:t>
            </a:r>
          </a:p>
          <a:p>
            <a:pPr eaLnBrk="1" hangingPunct="1"/>
            <a:r>
              <a:rPr lang="en-US" altLang="en-US" b="0" u="none"/>
              <a:t>Input Amplitude =0.2v</a:t>
            </a:r>
          </a:p>
          <a:p>
            <a:pPr eaLnBrk="1" hangingPunct="1"/>
            <a:r>
              <a:rPr lang="en-US" altLang="en-US" b="0" u="none"/>
              <a:t>Output amplitude=10v</a:t>
            </a:r>
          </a:p>
          <a:p>
            <a:pPr eaLnBrk="1" hangingPunct="1"/>
            <a:r>
              <a:rPr lang="en-US" altLang="en-US" b="0" u="none"/>
              <a:t>Gain=10/0.2=50</a:t>
            </a:r>
          </a:p>
        </p:txBody>
      </p:sp>
    </p:spTree>
    <p:extLst>
      <p:ext uri="{BB962C8B-B14F-4D97-AF65-F5344CB8AC3E}">
        <p14:creationId xmlns:p14="http://schemas.microsoft.com/office/powerpoint/2010/main" val="662253467"/>
      </p:ext>
    </p:extLst>
  </p:cSld>
  <p:clrMapOvr>
    <a:masterClrMapping/>
  </p:clrMapOvr>
  <p:transition>
    <p:cove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9" name="Picture 7" descr="JFETsymbo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4495800"/>
            <a:ext cx="1524000" cy="170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61"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1" y="2057400"/>
            <a:ext cx="15716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62"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1752600"/>
            <a:ext cx="27432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64" name="Picture 12" descr="MOSFEToff_0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1752600"/>
            <a:ext cx="28956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66" name="Picture 14" descr="PMOSFET"/>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57800" y="4495800"/>
            <a:ext cx="17526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68" name="Picture 16" descr="CMOS_inverte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20001" y="1752600"/>
            <a:ext cx="2867025"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75" name="Picture 23" descr="CMOS-INV"/>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05800" y="4267200"/>
            <a:ext cx="15240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3" name="Text Box 24"/>
          <p:cNvSpPr txBox="1">
            <a:spLocks noChangeArrowheads="1"/>
          </p:cNvSpPr>
          <p:nvPr/>
        </p:nvSpPr>
        <p:spPr bwMode="auto">
          <a:xfrm>
            <a:off x="3286126" y="55564"/>
            <a:ext cx="4995863" cy="579437"/>
          </a:xfrm>
          <a:prstGeom prst="rect">
            <a:avLst/>
          </a:prstGeom>
          <a:solidFill>
            <a:srgbClr val="99FF99"/>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eaLnBrk="1" hangingPunct="1"/>
            <a:r>
              <a:rPr lang="en-US" altLang="en-US" sz="3200"/>
              <a:t>Field Effect Transistors</a:t>
            </a:r>
          </a:p>
        </p:txBody>
      </p:sp>
      <p:sp>
        <p:nvSpPr>
          <p:cNvPr id="49177" name="Text Box 25"/>
          <p:cNvSpPr txBox="1">
            <a:spLocks noChangeArrowheads="1"/>
          </p:cNvSpPr>
          <p:nvPr/>
        </p:nvSpPr>
        <p:spPr bwMode="auto">
          <a:xfrm>
            <a:off x="2514601" y="914401"/>
            <a:ext cx="8413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eaLnBrk="1" hangingPunct="1"/>
            <a:r>
              <a:rPr lang="en-US" altLang="en-US" sz="2000"/>
              <a:t>JFET</a:t>
            </a:r>
          </a:p>
        </p:txBody>
      </p:sp>
      <p:sp>
        <p:nvSpPr>
          <p:cNvPr id="49178" name="Text Box 26"/>
          <p:cNvSpPr txBox="1">
            <a:spLocks noChangeArrowheads="1"/>
          </p:cNvSpPr>
          <p:nvPr/>
        </p:nvSpPr>
        <p:spPr bwMode="auto">
          <a:xfrm>
            <a:off x="5334000" y="914401"/>
            <a:ext cx="12763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eaLnBrk="1" hangingPunct="1"/>
            <a:r>
              <a:rPr lang="en-US" altLang="en-US" sz="2000"/>
              <a:t>MOSFET</a:t>
            </a:r>
          </a:p>
        </p:txBody>
      </p:sp>
      <p:sp>
        <p:nvSpPr>
          <p:cNvPr id="49179" name="Text Box 27"/>
          <p:cNvSpPr txBox="1">
            <a:spLocks noChangeArrowheads="1"/>
          </p:cNvSpPr>
          <p:nvPr/>
        </p:nvSpPr>
        <p:spPr bwMode="auto">
          <a:xfrm>
            <a:off x="8686800" y="914401"/>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eaLnBrk="1" hangingPunct="1"/>
            <a:r>
              <a:rPr lang="en-US" altLang="en-US" sz="2000"/>
              <a:t>CMOS</a:t>
            </a:r>
          </a:p>
        </p:txBody>
      </p:sp>
    </p:spTree>
    <p:extLst>
      <p:ext uri="{BB962C8B-B14F-4D97-AF65-F5344CB8AC3E}">
        <p14:creationId xmlns:p14="http://schemas.microsoft.com/office/powerpoint/2010/main" val="1296367622"/>
      </p:ext>
    </p:extLst>
  </p:cSld>
  <p:clrMapOvr>
    <a:masterClrMapping/>
  </p:clrMapOvr>
  <p:transition>
    <p:checke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9159"/>
                                        </p:tgtEl>
                                        <p:attrNameLst>
                                          <p:attrName>style.visibility</p:attrName>
                                        </p:attrNameLst>
                                      </p:cBhvr>
                                      <p:to>
                                        <p:strVal val="visible"/>
                                      </p:to>
                                    </p:set>
                                    <p:animEffect transition="in" filter="box(in)">
                                      <p:cBhvr>
                                        <p:cTn id="7" dur="500"/>
                                        <p:tgtEl>
                                          <p:spTgt spid="49159"/>
                                        </p:tgtEl>
                                      </p:cBhvr>
                                    </p:animEffect>
                                  </p:childTnLst>
                                </p:cTn>
                              </p:par>
                              <p:par>
                                <p:cTn id="8" presetID="4" presetClass="entr" presetSubtype="16" fill="hold" nodeType="withEffect">
                                  <p:stCondLst>
                                    <p:cond delay="0"/>
                                  </p:stCondLst>
                                  <p:childTnLst>
                                    <p:set>
                                      <p:cBhvr>
                                        <p:cTn id="9" dur="1" fill="hold">
                                          <p:stCondLst>
                                            <p:cond delay="0"/>
                                          </p:stCondLst>
                                        </p:cTn>
                                        <p:tgtEl>
                                          <p:spTgt spid="49161"/>
                                        </p:tgtEl>
                                        <p:attrNameLst>
                                          <p:attrName>style.visibility</p:attrName>
                                        </p:attrNameLst>
                                      </p:cBhvr>
                                      <p:to>
                                        <p:strVal val="visible"/>
                                      </p:to>
                                    </p:set>
                                    <p:animEffect transition="in" filter="box(in)">
                                      <p:cBhvr>
                                        <p:cTn id="10" dur="500"/>
                                        <p:tgtEl>
                                          <p:spTgt spid="49161"/>
                                        </p:tgtEl>
                                      </p:cBhvr>
                                    </p:animEffect>
                                  </p:childTnLst>
                                </p:cTn>
                              </p:par>
                              <p:par>
                                <p:cTn id="11" presetID="4" presetClass="entr" presetSubtype="16" fill="hold" nodeType="withEffect">
                                  <p:stCondLst>
                                    <p:cond delay="0"/>
                                  </p:stCondLst>
                                  <p:childTnLst>
                                    <p:set>
                                      <p:cBhvr>
                                        <p:cTn id="12" dur="1" fill="hold">
                                          <p:stCondLst>
                                            <p:cond delay="0"/>
                                          </p:stCondLst>
                                        </p:cTn>
                                        <p:tgtEl>
                                          <p:spTgt spid="49162"/>
                                        </p:tgtEl>
                                        <p:attrNameLst>
                                          <p:attrName>style.visibility</p:attrName>
                                        </p:attrNameLst>
                                      </p:cBhvr>
                                      <p:to>
                                        <p:strVal val="visible"/>
                                      </p:to>
                                    </p:set>
                                    <p:animEffect transition="in" filter="box(in)">
                                      <p:cBhvr>
                                        <p:cTn id="13" dur="500"/>
                                        <p:tgtEl>
                                          <p:spTgt spid="49162"/>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49177"/>
                                        </p:tgtEl>
                                        <p:attrNameLst>
                                          <p:attrName>style.visibility</p:attrName>
                                        </p:attrNameLst>
                                      </p:cBhvr>
                                      <p:to>
                                        <p:strVal val="visible"/>
                                      </p:to>
                                    </p:set>
                                    <p:animEffect transition="in" filter="box(in)">
                                      <p:cBhvr>
                                        <p:cTn id="16" dur="500"/>
                                        <p:tgtEl>
                                          <p:spTgt spid="4917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 presetClass="entr" presetSubtype="10" fill="hold" nodeType="clickEffect">
                                  <p:stCondLst>
                                    <p:cond delay="0"/>
                                  </p:stCondLst>
                                  <p:childTnLst>
                                    <p:set>
                                      <p:cBhvr>
                                        <p:cTn id="20" dur="1" fill="hold">
                                          <p:stCondLst>
                                            <p:cond delay="0"/>
                                          </p:stCondLst>
                                        </p:cTn>
                                        <p:tgtEl>
                                          <p:spTgt spid="49164"/>
                                        </p:tgtEl>
                                        <p:attrNameLst>
                                          <p:attrName>style.visibility</p:attrName>
                                        </p:attrNameLst>
                                      </p:cBhvr>
                                      <p:to>
                                        <p:strVal val="visible"/>
                                      </p:to>
                                    </p:set>
                                    <p:animEffect transition="in" filter="checkerboard(across)">
                                      <p:cBhvr>
                                        <p:cTn id="21" dur="500"/>
                                        <p:tgtEl>
                                          <p:spTgt spid="49164"/>
                                        </p:tgtEl>
                                      </p:cBhvr>
                                    </p:animEffect>
                                  </p:childTnLst>
                                </p:cTn>
                              </p:par>
                              <p:par>
                                <p:cTn id="22" presetID="5" presetClass="entr" presetSubtype="10" fill="hold" nodeType="withEffect">
                                  <p:stCondLst>
                                    <p:cond delay="0"/>
                                  </p:stCondLst>
                                  <p:childTnLst>
                                    <p:set>
                                      <p:cBhvr>
                                        <p:cTn id="23" dur="1" fill="hold">
                                          <p:stCondLst>
                                            <p:cond delay="0"/>
                                          </p:stCondLst>
                                        </p:cTn>
                                        <p:tgtEl>
                                          <p:spTgt spid="49166"/>
                                        </p:tgtEl>
                                        <p:attrNameLst>
                                          <p:attrName>style.visibility</p:attrName>
                                        </p:attrNameLst>
                                      </p:cBhvr>
                                      <p:to>
                                        <p:strVal val="visible"/>
                                      </p:to>
                                    </p:set>
                                    <p:animEffect transition="in" filter="checkerboard(across)">
                                      <p:cBhvr>
                                        <p:cTn id="24" dur="500"/>
                                        <p:tgtEl>
                                          <p:spTgt spid="49166"/>
                                        </p:tgtEl>
                                      </p:cBhvr>
                                    </p:animEffect>
                                  </p:childTnLst>
                                </p:cTn>
                              </p:par>
                              <p:par>
                                <p:cTn id="25" presetID="5" presetClass="entr" presetSubtype="10" fill="hold" grpId="0" nodeType="withEffect">
                                  <p:stCondLst>
                                    <p:cond delay="0"/>
                                  </p:stCondLst>
                                  <p:childTnLst>
                                    <p:set>
                                      <p:cBhvr>
                                        <p:cTn id="26" dur="1" fill="hold">
                                          <p:stCondLst>
                                            <p:cond delay="0"/>
                                          </p:stCondLst>
                                        </p:cTn>
                                        <p:tgtEl>
                                          <p:spTgt spid="49178"/>
                                        </p:tgtEl>
                                        <p:attrNameLst>
                                          <p:attrName>style.visibility</p:attrName>
                                        </p:attrNameLst>
                                      </p:cBhvr>
                                      <p:to>
                                        <p:strVal val="visible"/>
                                      </p:to>
                                    </p:set>
                                    <p:animEffect transition="in" filter="checkerboard(across)">
                                      <p:cBhvr>
                                        <p:cTn id="27" dur="500"/>
                                        <p:tgtEl>
                                          <p:spTgt spid="4917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4" fill="hold" nodeType="clickEffect">
                                  <p:stCondLst>
                                    <p:cond delay="0"/>
                                  </p:stCondLst>
                                  <p:childTnLst>
                                    <p:set>
                                      <p:cBhvr>
                                        <p:cTn id="31" dur="1" fill="hold">
                                          <p:stCondLst>
                                            <p:cond delay="0"/>
                                          </p:stCondLst>
                                        </p:cTn>
                                        <p:tgtEl>
                                          <p:spTgt spid="49168"/>
                                        </p:tgtEl>
                                        <p:attrNameLst>
                                          <p:attrName>style.visibility</p:attrName>
                                        </p:attrNameLst>
                                      </p:cBhvr>
                                      <p:to>
                                        <p:strVal val="visible"/>
                                      </p:to>
                                    </p:set>
                                    <p:anim calcmode="lin" valueType="num">
                                      <p:cBhvr additive="base">
                                        <p:cTn id="32" dur="500" fill="hold"/>
                                        <p:tgtEl>
                                          <p:spTgt spid="49168"/>
                                        </p:tgtEl>
                                        <p:attrNameLst>
                                          <p:attrName>ppt_x</p:attrName>
                                        </p:attrNameLst>
                                      </p:cBhvr>
                                      <p:tavLst>
                                        <p:tav tm="0">
                                          <p:val>
                                            <p:strVal val="#ppt_x"/>
                                          </p:val>
                                        </p:tav>
                                        <p:tav tm="100000">
                                          <p:val>
                                            <p:strVal val="#ppt_x"/>
                                          </p:val>
                                        </p:tav>
                                      </p:tavLst>
                                    </p:anim>
                                    <p:anim calcmode="lin" valueType="num">
                                      <p:cBhvr additive="base">
                                        <p:cTn id="33" dur="500" fill="hold"/>
                                        <p:tgtEl>
                                          <p:spTgt spid="49168"/>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49175"/>
                                        </p:tgtEl>
                                        <p:attrNameLst>
                                          <p:attrName>style.visibility</p:attrName>
                                        </p:attrNameLst>
                                      </p:cBhvr>
                                      <p:to>
                                        <p:strVal val="visible"/>
                                      </p:to>
                                    </p:set>
                                    <p:anim calcmode="lin" valueType="num">
                                      <p:cBhvr additive="base">
                                        <p:cTn id="36" dur="500" fill="hold"/>
                                        <p:tgtEl>
                                          <p:spTgt spid="49175"/>
                                        </p:tgtEl>
                                        <p:attrNameLst>
                                          <p:attrName>ppt_x</p:attrName>
                                        </p:attrNameLst>
                                      </p:cBhvr>
                                      <p:tavLst>
                                        <p:tav tm="0">
                                          <p:val>
                                            <p:strVal val="#ppt_x"/>
                                          </p:val>
                                        </p:tav>
                                        <p:tav tm="100000">
                                          <p:val>
                                            <p:strVal val="#ppt_x"/>
                                          </p:val>
                                        </p:tav>
                                      </p:tavLst>
                                    </p:anim>
                                    <p:anim calcmode="lin" valueType="num">
                                      <p:cBhvr additive="base">
                                        <p:cTn id="37" dur="500" fill="hold"/>
                                        <p:tgtEl>
                                          <p:spTgt spid="49175"/>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49179"/>
                                        </p:tgtEl>
                                        <p:attrNameLst>
                                          <p:attrName>style.visibility</p:attrName>
                                        </p:attrNameLst>
                                      </p:cBhvr>
                                      <p:to>
                                        <p:strVal val="visible"/>
                                      </p:to>
                                    </p:set>
                                    <p:anim calcmode="lin" valueType="num">
                                      <p:cBhvr additive="base">
                                        <p:cTn id="40" dur="500" fill="hold"/>
                                        <p:tgtEl>
                                          <p:spTgt spid="49179"/>
                                        </p:tgtEl>
                                        <p:attrNameLst>
                                          <p:attrName>ppt_x</p:attrName>
                                        </p:attrNameLst>
                                      </p:cBhvr>
                                      <p:tavLst>
                                        <p:tav tm="0">
                                          <p:val>
                                            <p:strVal val="#ppt_x"/>
                                          </p:val>
                                        </p:tav>
                                        <p:tav tm="100000">
                                          <p:val>
                                            <p:strVal val="#ppt_x"/>
                                          </p:val>
                                        </p:tav>
                                      </p:tavLst>
                                    </p:anim>
                                    <p:anim calcmode="lin" valueType="num">
                                      <p:cBhvr additive="base">
                                        <p:cTn id="41" dur="500" fill="hold"/>
                                        <p:tgtEl>
                                          <p:spTgt spid="491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77" grpId="0"/>
      <p:bldP spid="49178" grpId="0"/>
      <p:bldP spid="4917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81" name="Picture 5" descr="JFETof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1676400"/>
            <a:ext cx="33528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3" name="Picture 7" descr="JFET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0" y="1676401"/>
            <a:ext cx="3505200" cy="247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2" name="Text Box 8"/>
          <p:cNvSpPr txBox="1">
            <a:spLocks noChangeArrowheads="1"/>
          </p:cNvSpPr>
          <p:nvPr/>
        </p:nvSpPr>
        <p:spPr bwMode="auto">
          <a:xfrm>
            <a:off x="2422526" y="4389438"/>
            <a:ext cx="40544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eaLnBrk="1" hangingPunct="1"/>
            <a:endParaRPr lang="en-US" altLang="en-US"/>
          </a:p>
        </p:txBody>
      </p:sp>
      <p:sp>
        <p:nvSpPr>
          <p:cNvPr id="50185" name="Text Box 9"/>
          <p:cNvSpPr txBox="1">
            <a:spLocks noChangeArrowheads="1"/>
          </p:cNvSpPr>
          <p:nvPr/>
        </p:nvSpPr>
        <p:spPr bwMode="auto">
          <a:xfrm>
            <a:off x="1905000" y="4572001"/>
            <a:ext cx="426720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eaLnBrk="1" hangingPunct="1"/>
            <a:r>
              <a:rPr lang="en-US" altLang="en-US" sz="2000" b="0" u="none"/>
              <a:t>When the gate is negative ,it repels the electron in the N-channel. So there is no way for electrons to flow from source to drain</a:t>
            </a:r>
            <a:r>
              <a:rPr lang="en-US" altLang="en-US" b="0" u="none"/>
              <a:t>. </a:t>
            </a:r>
          </a:p>
        </p:txBody>
      </p:sp>
      <p:sp>
        <p:nvSpPr>
          <p:cNvPr id="50186" name="Text Box 10"/>
          <p:cNvSpPr txBox="1">
            <a:spLocks noChangeArrowheads="1"/>
          </p:cNvSpPr>
          <p:nvPr/>
        </p:nvSpPr>
        <p:spPr bwMode="auto">
          <a:xfrm>
            <a:off x="6324600" y="4572001"/>
            <a:ext cx="396240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eaLnBrk="1" hangingPunct="1"/>
            <a:r>
              <a:rPr lang="en-US" altLang="en-US" sz="2000" b="0" u="none"/>
              <a:t>When the negative voltage is removed from Gate ,the electrons can flow freely from source to drain .so the transistor is on</a:t>
            </a:r>
            <a:r>
              <a:rPr lang="en-US" altLang="en-US" sz="2000" u="none"/>
              <a:t>.</a:t>
            </a:r>
          </a:p>
        </p:txBody>
      </p:sp>
      <p:sp>
        <p:nvSpPr>
          <p:cNvPr id="50187" name="AutoShape 11"/>
          <p:cNvSpPr>
            <a:spLocks noChangeArrowheads="1"/>
          </p:cNvSpPr>
          <p:nvPr/>
        </p:nvSpPr>
        <p:spPr bwMode="auto">
          <a:xfrm>
            <a:off x="3657600" y="4038600"/>
            <a:ext cx="838200" cy="533400"/>
          </a:xfrm>
          <a:prstGeom prst="downArrow">
            <a:avLst>
              <a:gd name="adj1" fmla="val 50000"/>
              <a:gd name="adj2" fmla="val 25000"/>
            </a:avLst>
          </a:prstGeom>
          <a:solidFill>
            <a:srgbClr val="FFCCFF"/>
          </a:solidFill>
          <a:ln w="9525" algn="ctr">
            <a:solidFill>
              <a:schemeClr val="tx1"/>
            </a:solidFill>
            <a:miter lim="800000"/>
            <a:headEnd/>
            <a:tailEnd/>
          </a:ln>
        </p:spPr>
        <p:txBody>
          <a:bodyPr wrap="none" anchor="ct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eaLnBrk="1" hangingPunct="1"/>
            <a:endParaRPr lang="en-US" altLang="en-US"/>
          </a:p>
        </p:txBody>
      </p:sp>
      <p:sp>
        <p:nvSpPr>
          <p:cNvPr id="50188" name="AutoShape 12"/>
          <p:cNvSpPr>
            <a:spLocks noChangeArrowheads="1"/>
          </p:cNvSpPr>
          <p:nvPr/>
        </p:nvSpPr>
        <p:spPr bwMode="auto">
          <a:xfrm>
            <a:off x="7772400" y="4038600"/>
            <a:ext cx="838200" cy="533400"/>
          </a:xfrm>
          <a:prstGeom prst="downArrow">
            <a:avLst>
              <a:gd name="adj1" fmla="val 50000"/>
              <a:gd name="adj2" fmla="val 25000"/>
            </a:avLst>
          </a:prstGeom>
          <a:solidFill>
            <a:srgbClr val="FFCCFF"/>
          </a:solidFill>
          <a:ln w="9525" algn="ctr">
            <a:solidFill>
              <a:schemeClr val="tx1"/>
            </a:solidFill>
            <a:miter lim="800000"/>
            <a:headEnd/>
            <a:tailEnd/>
          </a:ln>
        </p:spPr>
        <p:txBody>
          <a:bodyPr wrap="none" anchor="ct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eaLnBrk="1" hangingPunct="1"/>
            <a:endParaRPr lang="en-US" altLang="en-US"/>
          </a:p>
        </p:txBody>
      </p:sp>
      <p:sp>
        <p:nvSpPr>
          <p:cNvPr id="12297" name="Text Box 13"/>
          <p:cNvSpPr txBox="1">
            <a:spLocks noChangeArrowheads="1"/>
          </p:cNvSpPr>
          <p:nvPr/>
        </p:nvSpPr>
        <p:spPr bwMode="auto">
          <a:xfrm>
            <a:off x="2971800" y="304800"/>
            <a:ext cx="5715000" cy="1066800"/>
          </a:xfrm>
          <a:prstGeom prst="rect">
            <a:avLst/>
          </a:prstGeom>
          <a:solidFill>
            <a:srgbClr val="99FF99"/>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eaLnBrk="1" hangingPunct="1"/>
            <a:r>
              <a:rPr lang="en-US" altLang="en-US" sz="3200"/>
              <a:t>How a JFET transistor works?</a:t>
            </a:r>
          </a:p>
        </p:txBody>
      </p:sp>
    </p:spTree>
    <p:extLst>
      <p:ext uri="{BB962C8B-B14F-4D97-AF65-F5344CB8AC3E}">
        <p14:creationId xmlns:p14="http://schemas.microsoft.com/office/powerpoint/2010/main" val="759724615"/>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0" presetClass="entr" presetSubtype="0" fill="hold" nodeType="clickEffect">
                                  <p:stCondLst>
                                    <p:cond delay="0"/>
                                  </p:stCondLst>
                                  <p:childTnLst>
                                    <p:set>
                                      <p:cBhvr>
                                        <p:cTn id="6" dur="1" fill="hold">
                                          <p:stCondLst>
                                            <p:cond delay="0"/>
                                          </p:stCondLst>
                                        </p:cTn>
                                        <p:tgtEl>
                                          <p:spTgt spid="50181"/>
                                        </p:tgtEl>
                                        <p:attrNameLst>
                                          <p:attrName>style.visibility</p:attrName>
                                        </p:attrNameLst>
                                      </p:cBhvr>
                                      <p:to>
                                        <p:strVal val="visible"/>
                                      </p:to>
                                    </p:set>
                                    <p:animEffect transition="in" filter="wedge">
                                      <p:cBhvr>
                                        <p:cTn id="7" dur="2000"/>
                                        <p:tgtEl>
                                          <p:spTgt spid="50181"/>
                                        </p:tgtEl>
                                      </p:cBhvr>
                                    </p:animEffect>
                                  </p:childTnLst>
                                </p:cTn>
                              </p:par>
                              <p:par>
                                <p:cTn id="8" presetID="20" presetClass="entr" presetSubtype="0" fill="hold" grpId="0" nodeType="withEffect">
                                  <p:stCondLst>
                                    <p:cond delay="0"/>
                                  </p:stCondLst>
                                  <p:childTnLst>
                                    <p:set>
                                      <p:cBhvr>
                                        <p:cTn id="9" dur="1" fill="hold">
                                          <p:stCondLst>
                                            <p:cond delay="0"/>
                                          </p:stCondLst>
                                        </p:cTn>
                                        <p:tgtEl>
                                          <p:spTgt spid="50185"/>
                                        </p:tgtEl>
                                        <p:attrNameLst>
                                          <p:attrName>style.visibility</p:attrName>
                                        </p:attrNameLst>
                                      </p:cBhvr>
                                      <p:to>
                                        <p:strVal val="visible"/>
                                      </p:to>
                                    </p:set>
                                    <p:animEffect transition="in" filter="wedge">
                                      <p:cBhvr>
                                        <p:cTn id="10" dur="2000"/>
                                        <p:tgtEl>
                                          <p:spTgt spid="50185"/>
                                        </p:tgtEl>
                                      </p:cBhvr>
                                    </p:animEffect>
                                  </p:childTnLst>
                                </p:cTn>
                              </p:par>
                              <p:par>
                                <p:cTn id="11" presetID="20" presetClass="entr" presetSubtype="0" fill="hold" grpId="0" nodeType="withEffect">
                                  <p:stCondLst>
                                    <p:cond delay="0"/>
                                  </p:stCondLst>
                                  <p:childTnLst>
                                    <p:set>
                                      <p:cBhvr>
                                        <p:cTn id="12" dur="1" fill="hold">
                                          <p:stCondLst>
                                            <p:cond delay="0"/>
                                          </p:stCondLst>
                                        </p:cTn>
                                        <p:tgtEl>
                                          <p:spTgt spid="50187"/>
                                        </p:tgtEl>
                                        <p:attrNameLst>
                                          <p:attrName>style.visibility</p:attrName>
                                        </p:attrNameLst>
                                      </p:cBhvr>
                                      <p:to>
                                        <p:strVal val="visible"/>
                                      </p:to>
                                    </p:set>
                                    <p:animEffect transition="in" filter="wedge">
                                      <p:cBhvr>
                                        <p:cTn id="13" dur="2000"/>
                                        <p:tgtEl>
                                          <p:spTgt spid="50187"/>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7" presetClass="entr" presetSubtype="4" fill="hold" nodeType="clickEffect">
                                  <p:stCondLst>
                                    <p:cond delay="0"/>
                                  </p:stCondLst>
                                  <p:childTnLst>
                                    <p:set>
                                      <p:cBhvr>
                                        <p:cTn id="17" dur="1" fill="hold">
                                          <p:stCondLst>
                                            <p:cond delay="0"/>
                                          </p:stCondLst>
                                        </p:cTn>
                                        <p:tgtEl>
                                          <p:spTgt spid="50183"/>
                                        </p:tgtEl>
                                        <p:attrNameLst>
                                          <p:attrName>style.visibility</p:attrName>
                                        </p:attrNameLst>
                                      </p:cBhvr>
                                      <p:to>
                                        <p:strVal val="visible"/>
                                      </p:to>
                                    </p:set>
                                    <p:anim calcmode="lin" valueType="num">
                                      <p:cBhvr additive="base">
                                        <p:cTn id="18" dur="5000" fill="hold"/>
                                        <p:tgtEl>
                                          <p:spTgt spid="50183"/>
                                        </p:tgtEl>
                                        <p:attrNameLst>
                                          <p:attrName>ppt_x</p:attrName>
                                        </p:attrNameLst>
                                      </p:cBhvr>
                                      <p:tavLst>
                                        <p:tav tm="0">
                                          <p:val>
                                            <p:strVal val="#ppt_x"/>
                                          </p:val>
                                        </p:tav>
                                        <p:tav tm="100000">
                                          <p:val>
                                            <p:strVal val="#ppt_x"/>
                                          </p:val>
                                        </p:tav>
                                      </p:tavLst>
                                    </p:anim>
                                    <p:anim calcmode="lin" valueType="num">
                                      <p:cBhvr additive="base">
                                        <p:cTn id="19" dur="5000" fill="hold"/>
                                        <p:tgtEl>
                                          <p:spTgt spid="50183"/>
                                        </p:tgtEl>
                                        <p:attrNameLst>
                                          <p:attrName>ppt_y</p:attrName>
                                        </p:attrNameLst>
                                      </p:cBhvr>
                                      <p:tavLst>
                                        <p:tav tm="0">
                                          <p:val>
                                            <p:strVal val="1+#ppt_h/2"/>
                                          </p:val>
                                        </p:tav>
                                        <p:tav tm="100000">
                                          <p:val>
                                            <p:strVal val="#ppt_y"/>
                                          </p:val>
                                        </p:tav>
                                      </p:tavLst>
                                    </p:anim>
                                  </p:childTnLst>
                                </p:cTn>
                              </p:par>
                              <p:par>
                                <p:cTn id="20" presetID="7" presetClass="entr" presetSubtype="4" fill="hold" grpId="0" nodeType="withEffect">
                                  <p:stCondLst>
                                    <p:cond delay="0"/>
                                  </p:stCondLst>
                                  <p:childTnLst>
                                    <p:set>
                                      <p:cBhvr>
                                        <p:cTn id="21" dur="1" fill="hold">
                                          <p:stCondLst>
                                            <p:cond delay="0"/>
                                          </p:stCondLst>
                                        </p:cTn>
                                        <p:tgtEl>
                                          <p:spTgt spid="50186"/>
                                        </p:tgtEl>
                                        <p:attrNameLst>
                                          <p:attrName>style.visibility</p:attrName>
                                        </p:attrNameLst>
                                      </p:cBhvr>
                                      <p:to>
                                        <p:strVal val="visible"/>
                                      </p:to>
                                    </p:set>
                                    <p:anim calcmode="lin" valueType="num">
                                      <p:cBhvr additive="base">
                                        <p:cTn id="22" dur="5000" fill="hold"/>
                                        <p:tgtEl>
                                          <p:spTgt spid="50186"/>
                                        </p:tgtEl>
                                        <p:attrNameLst>
                                          <p:attrName>ppt_x</p:attrName>
                                        </p:attrNameLst>
                                      </p:cBhvr>
                                      <p:tavLst>
                                        <p:tav tm="0">
                                          <p:val>
                                            <p:strVal val="#ppt_x"/>
                                          </p:val>
                                        </p:tav>
                                        <p:tav tm="100000">
                                          <p:val>
                                            <p:strVal val="#ppt_x"/>
                                          </p:val>
                                        </p:tav>
                                      </p:tavLst>
                                    </p:anim>
                                    <p:anim calcmode="lin" valueType="num">
                                      <p:cBhvr additive="base">
                                        <p:cTn id="23" dur="5000" fill="hold"/>
                                        <p:tgtEl>
                                          <p:spTgt spid="50186"/>
                                        </p:tgtEl>
                                        <p:attrNameLst>
                                          <p:attrName>ppt_y</p:attrName>
                                        </p:attrNameLst>
                                      </p:cBhvr>
                                      <p:tavLst>
                                        <p:tav tm="0">
                                          <p:val>
                                            <p:strVal val="1+#ppt_h/2"/>
                                          </p:val>
                                        </p:tav>
                                        <p:tav tm="100000">
                                          <p:val>
                                            <p:strVal val="#ppt_y"/>
                                          </p:val>
                                        </p:tav>
                                      </p:tavLst>
                                    </p:anim>
                                  </p:childTnLst>
                                </p:cTn>
                              </p:par>
                              <p:par>
                                <p:cTn id="24" presetID="7" presetClass="entr" presetSubtype="4" fill="hold" grpId="0" nodeType="withEffect">
                                  <p:stCondLst>
                                    <p:cond delay="0"/>
                                  </p:stCondLst>
                                  <p:childTnLst>
                                    <p:set>
                                      <p:cBhvr>
                                        <p:cTn id="25" dur="1" fill="hold">
                                          <p:stCondLst>
                                            <p:cond delay="0"/>
                                          </p:stCondLst>
                                        </p:cTn>
                                        <p:tgtEl>
                                          <p:spTgt spid="50188"/>
                                        </p:tgtEl>
                                        <p:attrNameLst>
                                          <p:attrName>style.visibility</p:attrName>
                                        </p:attrNameLst>
                                      </p:cBhvr>
                                      <p:to>
                                        <p:strVal val="visible"/>
                                      </p:to>
                                    </p:set>
                                    <p:anim calcmode="lin" valueType="num">
                                      <p:cBhvr additive="base">
                                        <p:cTn id="26" dur="5000" fill="hold"/>
                                        <p:tgtEl>
                                          <p:spTgt spid="50188"/>
                                        </p:tgtEl>
                                        <p:attrNameLst>
                                          <p:attrName>ppt_x</p:attrName>
                                        </p:attrNameLst>
                                      </p:cBhvr>
                                      <p:tavLst>
                                        <p:tav tm="0">
                                          <p:val>
                                            <p:strVal val="#ppt_x"/>
                                          </p:val>
                                        </p:tav>
                                        <p:tav tm="100000">
                                          <p:val>
                                            <p:strVal val="#ppt_x"/>
                                          </p:val>
                                        </p:tav>
                                      </p:tavLst>
                                    </p:anim>
                                    <p:anim calcmode="lin" valueType="num">
                                      <p:cBhvr additive="base">
                                        <p:cTn id="27" dur="5000" fill="hold"/>
                                        <p:tgtEl>
                                          <p:spTgt spid="501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5" grpId="0"/>
      <p:bldP spid="50186" grpId="0"/>
      <p:bldP spid="50187" grpId="0" animBg="1"/>
      <p:bldP spid="5018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5" descr="MOSFETon_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2400" y="2514600"/>
            <a:ext cx="42672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5" name="Text Box 6"/>
          <p:cNvSpPr txBox="1">
            <a:spLocks noChangeArrowheads="1"/>
          </p:cNvSpPr>
          <p:nvPr/>
        </p:nvSpPr>
        <p:spPr bwMode="auto">
          <a:xfrm>
            <a:off x="2270126" y="4765676"/>
            <a:ext cx="61880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eaLnBrk="1" hangingPunct="1"/>
            <a:endParaRPr lang="en-US" altLang="en-US"/>
          </a:p>
        </p:txBody>
      </p:sp>
      <p:sp>
        <p:nvSpPr>
          <p:cNvPr id="13316" name="Text Box 7"/>
          <p:cNvSpPr txBox="1">
            <a:spLocks noChangeArrowheads="1"/>
          </p:cNvSpPr>
          <p:nvPr/>
        </p:nvSpPr>
        <p:spPr bwMode="auto">
          <a:xfrm>
            <a:off x="2651126" y="4460876"/>
            <a:ext cx="413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eaLnBrk="1" hangingPunct="1"/>
            <a:endParaRPr lang="en-US" altLang="en-US"/>
          </a:p>
        </p:txBody>
      </p:sp>
      <p:sp>
        <p:nvSpPr>
          <p:cNvPr id="13317" name="Text Box 8"/>
          <p:cNvSpPr txBox="1">
            <a:spLocks noChangeArrowheads="1"/>
          </p:cNvSpPr>
          <p:nvPr/>
        </p:nvSpPr>
        <p:spPr bwMode="auto">
          <a:xfrm>
            <a:off x="2743200" y="5181600"/>
            <a:ext cx="6781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eaLnBrk="1" hangingPunct="1"/>
            <a:r>
              <a:rPr lang="en-US" altLang="en-US" u="none"/>
              <a:t>When the Gate is positive voltage ,it allows electrons to flow from drain to source .In this case transistor is on.</a:t>
            </a:r>
          </a:p>
        </p:txBody>
      </p:sp>
      <p:sp>
        <p:nvSpPr>
          <p:cNvPr id="13318" name="Text Box 9"/>
          <p:cNvSpPr txBox="1">
            <a:spLocks noChangeArrowheads="1"/>
          </p:cNvSpPr>
          <p:nvPr/>
        </p:nvSpPr>
        <p:spPr bwMode="auto">
          <a:xfrm>
            <a:off x="2667000" y="1371601"/>
            <a:ext cx="69342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eaLnBrk="1" hangingPunct="1"/>
            <a:r>
              <a:rPr lang="en-US" altLang="en-US" sz="2000" u="none"/>
              <a:t>In MosFET, the Gate is insulated from p-channel or n-channel. This prevents gate current from flowing, reducing power usage. </a:t>
            </a:r>
          </a:p>
        </p:txBody>
      </p:sp>
      <p:sp>
        <p:nvSpPr>
          <p:cNvPr id="13319" name="Text Box 10"/>
          <p:cNvSpPr txBox="1">
            <a:spLocks noChangeArrowheads="1"/>
          </p:cNvSpPr>
          <p:nvPr/>
        </p:nvSpPr>
        <p:spPr bwMode="auto">
          <a:xfrm>
            <a:off x="3060701" y="131764"/>
            <a:ext cx="5749925" cy="579437"/>
          </a:xfrm>
          <a:prstGeom prst="rect">
            <a:avLst/>
          </a:prstGeom>
          <a:solidFill>
            <a:srgbClr val="99FF99"/>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b="1" u="sng">
                <a:solidFill>
                  <a:schemeClr val="tx1"/>
                </a:solidFill>
                <a:latin typeface="Comic Sans MS" panose="030F0702030302020204" pitchFamily="66" charset="0"/>
                <a:cs typeface="Arial" panose="020B0604020202020204" pitchFamily="34" charset="0"/>
              </a:defRPr>
            </a:lvl1pPr>
            <a:lvl2pPr marL="742950" indent="-285750" eaLnBrk="0" hangingPunct="0">
              <a:defRPr b="1" u="sng">
                <a:solidFill>
                  <a:schemeClr val="tx1"/>
                </a:solidFill>
                <a:latin typeface="Comic Sans MS" panose="030F0702030302020204" pitchFamily="66" charset="0"/>
                <a:cs typeface="Arial" panose="020B0604020202020204" pitchFamily="34" charset="0"/>
              </a:defRPr>
            </a:lvl2pPr>
            <a:lvl3pPr marL="1143000" indent="-228600" eaLnBrk="0" hangingPunct="0">
              <a:defRPr b="1" u="sng">
                <a:solidFill>
                  <a:schemeClr val="tx1"/>
                </a:solidFill>
                <a:latin typeface="Comic Sans MS" panose="030F0702030302020204" pitchFamily="66" charset="0"/>
                <a:cs typeface="Arial" panose="020B0604020202020204" pitchFamily="34" charset="0"/>
              </a:defRPr>
            </a:lvl3pPr>
            <a:lvl4pPr marL="1600200" indent="-228600" eaLnBrk="0" hangingPunct="0">
              <a:defRPr b="1" u="sng">
                <a:solidFill>
                  <a:schemeClr val="tx1"/>
                </a:solidFill>
                <a:latin typeface="Comic Sans MS" panose="030F0702030302020204" pitchFamily="66" charset="0"/>
                <a:cs typeface="Arial" panose="020B0604020202020204" pitchFamily="34" charset="0"/>
              </a:defRPr>
            </a:lvl4pPr>
            <a:lvl5pPr marL="2057400" indent="-228600" eaLnBrk="0" hangingPunct="0">
              <a:defRPr b="1" u="sng">
                <a:solidFill>
                  <a:schemeClr val="tx1"/>
                </a:solidFill>
                <a:latin typeface="Comic Sans MS" panose="030F0702030302020204" pitchFamily="66" charset="0"/>
                <a:cs typeface="Arial" panose="020B0604020202020204" pitchFamily="34" charset="0"/>
              </a:defRPr>
            </a:lvl5pPr>
            <a:lvl6pPr marL="25146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6pPr>
            <a:lvl7pPr marL="29718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7pPr>
            <a:lvl8pPr marL="34290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8pPr>
            <a:lvl9pPr marL="3886200" indent="-228600" algn="ctr" eaLnBrk="0" fontAlgn="base" hangingPunct="0">
              <a:spcBef>
                <a:spcPct val="0"/>
              </a:spcBef>
              <a:spcAft>
                <a:spcPct val="0"/>
              </a:spcAft>
              <a:defRPr b="1" u="sng">
                <a:solidFill>
                  <a:schemeClr val="tx1"/>
                </a:solidFill>
                <a:latin typeface="Comic Sans MS" panose="030F0702030302020204" pitchFamily="66" charset="0"/>
                <a:cs typeface="Arial" panose="020B0604020202020204" pitchFamily="34" charset="0"/>
              </a:defRPr>
            </a:lvl9pPr>
          </a:lstStyle>
          <a:p>
            <a:pPr eaLnBrk="1" hangingPunct="1"/>
            <a:r>
              <a:rPr lang="en-US" altLang="en-US" sz="2400"/>
              <a:t>How a </a:t>
            </a:r>
            <a:r>
              <a:rPr lang="en-US" altLang="en-US" sz="3200"/>
              <a:t>MOSFET</a:t>
            </a:r>
            <a:r>
              <a:rPr lang="en-US" altLang="en-US" sz="2400"/>
              <a:t> Transistor works?</a:t>
            </a:r>
          </a:p>
        </p:txBody>
      </p:sp>
    </p:spTree>
    <p:extLst>
      <p:ext uri="{BB962C8B-B14F-4D97-AF65-F5344CB8AC3E}">
        <p14:creationId xmlns:p14="http://schemas.microsoft.com/office/powerpoint/2010/main" val="2743661638"/>
      </p:ext>
    </p:extLst>
  </p:cSld>
  <p:clrMapOvr>
    <a:masterClrMapping/>
  </p:clrMapOvr>
  <p:transition>
    <p:cover dir="d"/>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Subtitle 2"/>
          <p:cNvSpPr txBox="1">
            <a:spLocks/>
          </p:cNvSpPr>
          <p:nvPr/>
        </p:nvSpPr>
        <p:spPr>
          <a:xfrm>
            <a:off x="1104646" y="3817180"/>
            <a:ext cx="5178582" cy="165576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just">
              <a:buFontTx/>
              <a:buChar char="-"/>
            </a:pPr>
            <a:endParaRPr lang="en-US" sz="1600" dirty="0">
              <a:latin typeface="Times New Roman" panose="02020603050405020304" pitchFamily="18" charset="0"/>
              <a:cs typeface="Times New Roman" panose="02020603050405020304" pitchFamily="18" charset="0"/>
            </a:endParaRPr>
          </a:p>
        </p:txBody>
      </p:sp>
      <p:sp>
        <p:nvSpPr>
          <p:cNvPr id="9" name="TextBox 8"/>
          <p:cNvSpPr txBox="1"/>
          <p:nvPr/>
        </p:nvSpPr>
        <p:spPr>
          <a:xfrm>
            <a:off x="7592048" y="4424926"/>
            <a:ext cx="4376174" cy="1723549"/>
          </a:xfrm>
          <a:prstGeom prst="rect">
            <a:avLst/>
          </a:prstGeom>
          <a:noFill/>
        </p:spPr>
        <p:txBody>
          <a:bodyPr wrap="square" rtlCol="0">
            <a:spAutoFit/>
          </a:bodyPr>
          <a:lstStyle/>
          <a:p>
            <a:r>
              <a:rPr lang="en-US" sz="6600" dirty="0">
                <a:latin typeface="Edwardian Script ITC" panose="030303020407070D0804" pitchFamily="66" charset="0"/>
              </a:rPr>
              <a:t>Thank You !!</a:t>
            </a:r>
          </a:p>
          <a:p>
            <a:pPr algn="ctr"/>
            <a:r>
              <a:rPr lang="en-US" sz="4000" dirty="0">
                <a:latin typeface="Edwardian Script ITC" panose="030303020407070D0804" pitchFamily="66" charset="0"/>
              </a:rPr>
              <a:t> </a:t>
            </a:r>
          </a:p>
        </p:txBody>
      </p:sp>
      <p:sp>
        <p:nvSpPr>
          <p:cNvPr id="8" name="Rectangle 7"/>
          <p:cNvSpPr/>
          <p:nvPr/>
        </p:nvSpPr>
        <p:spPr>
          <a:xfrm>
            <a:off x="9507866" y="6056142"/>
            <a:ext cx="2613761" cy="230832"/>
          </a:xfrm>
          <a:prstGeom prst="rect">
            <a:avLst/>
          </a:prstGeom>
        </p:spPr>
        <p:txBody>
          <a:bodyPr wrap="square">
            <a:spAutoFit/>
          </a:bodyPr>
          <a:lstStyle/>
          <a:p>
            <a:r>
              <a:rPr lang="en-US" sz="900" dirty="0"/>
              <a:t>https://www.youtube.com/@AmelOline/videos</a:t>
            </a:r>
          </a:p>
        </p:txBody>
      </p:sp>
      <p:sp>
        <p:nvSpPr>
          <p:cNvPr id="10" name="Rectangle 9"/>
          <p:cNvSpPr/>
          <p:nvPr/>
        </p:nvSpPr>
        <p:spPr>
          <a:xfrm>
            <a:off x="10344774" y="5917643"/>
            <a:ext cx="1623448" cy="230832"/>
          </a:xfrm>
          <a:prstGeom prst="rect">
            <a:avLst/>
          </a:prstGeom>
        </p:spPr>
        <p:txBody>
          <a:bodyPr wrap="square">
            <a:spAutoFit/>
          </a:bodyPr>
          <a:lstStyle/>
          <a:p>
            <a:r>
              <a:rPr lang="en-US" sz="900" dirty="0"/>
              <a:t>https://github.com/siagianp</a:t>
            </a:r>
          </a:p>
        </p:txBody>
      </p:sp>
      <p:sp>
        <p:nvSpPr>
          <p:cNvPr id="11" name="Rectangle 10"/>
          <p:cNvSpPr/>
          <p:nvPr/>
        </p:nvSpPr>
        <p:spPr>
          <a:xfrm>
            <a:off x="8531473" y="6194642"/>
            <a:ext cx="3667194" cy="230832"/>
          </a:xfrm>
          <a:prstGeom prst="rect">
            <a:avLst/>
          </a:prstGeom>
        </p:spPr>
        <p:txBody>
          <a:bodyPr wrap="square">
            <a:spAutoFit/>
          </a:bodyPr>
          <a:lstStyle/>
          <a:p>
            <a:r>
              <a:rPr lang="en-US" sz="900" dirty="0"/>
              <a:t>https://github.com/amelcharolinesgn2/IoT_simulator-mqtt-NodeRed</a:t>
            </a:r>
          </a:p>
        </p:txBody>
      </p:sp>
      <p:sp>
        <p:nvSpPr>
          <p:cNvPr id="12" name="Rectangle 11"/>
          <p:cNvSpPr/>
          <p:nvPr/>
        </p:nvSpPr>
        <p:spPr>
          <a:xfrm>
            <a:off x="8977163" y="6333141"/>
            <a:ext cx="3204723" cy="230832"/>
          </a:xfrm>
          <a:prstGeom prst="rect">
            <a:avLst/>
          </a:prstGeom>
        </p:spPr>
        <p:txBody>
          <a:bodyPr wrap="none">
            <a:spAutoFit/>
          </a:bodyPr>
          <a:lstStyle/>
          <a:p>
            <a:r>
              <a:rPr lang="en-US" sz="900" dirty="0"/>
              <a:t>https://github.com/amelcharolinesgn2/Cloud-Infrastructures</a:t>
            </a:r>
          </a:p>
        </p:txBody>
      </p:sp>
      <p:sp>
        <p:nvSpPr>
          <p:cNvPr id="13" name="Rectangle 12"/>
          <p:cNvSpPr/>
          <p:nvPr/>
        </p:nvSpPr>
        <p:spPr>
          <a:xfrm>
            <a:off x="8444566" y="6506265"/>
            <a:ext cx="3839513" cy="230832"/>
          </a:xfrm>
          <a:prstGeom prst="rect">
            <a:avLst/>
          </a:prstGeom>
        </p:spPr>
        <p:txBody>
          <a:bodyPr wrap="none">
            <a:spAutoFit/>
          </a:bodyPr>
          <a:lstStyle/>
          <a:p>
            <a:r>
              <a:rPr lang="en-US" sz="900" dirty="0"/>
              <a:t>https://github.com/amelcharolinesgn2/ClouD-Infrastructure-SISKA-2025</a:t>
            </a:r>
          </a:p>
        </p:txBody>
      </p:sp>
      <p:grpSp>
        <p:nvGrpSpPr>
          <p:cNvPr id="15" name="Group 14"/>
          <p:cNvGrpSpPr/>
          <p:nvPr/>
        </p:nvGrpSpPr>
        <p:grpSpPr>
          <a:xfrm>
            <a:off x="54496" y="359621"/>
            <a:ext cx="4804363" cy="2463094"/>
            <a:chOff x="54496" y="359621"/>
            <a:chExt cx="4804363" cy="2463094"/>
          </a:xfrm>
        </p:grpSpPr>
        <p:pic>
          <p:nvPicPr>
            <p:cNvPr id="16" name="Picture 15"/>
            <p:cNvPicPr>
              <a:picLocks noChangeAspect="1"/>
            </p:cNvPicPr>
            <p:nvPr/>
          </p:nvPicPr>
          <p:blipFill>
            <a:blip r:embed="rId3"/>
            <a:stretch>
              <a:fillRect/>
            </a:stretch>
          </p:blipFill>
          <p:spPr>
            <a:xfrm>
              <a:off x="235105" y="1901987"/>
              <a:ext cx="3104181" cy="263526"/>
            </a:xfrm>
            <a:prstGeom prst="rect">
              <a:avLst/>
            </a:prstGeom>
          </p:spPr>
        </p:pic>
        <p:sp>
          <p:nvSpPr>
            <p:cNvPr id="17" name="Title 4">
              <a:extLst>
                <a:ext uri="{FF2B5EF4-FFF2-40B4-BE49-F238E27FC236}">
                  <a16:creationId xmlns:a16="http://schemas.microsoft.com/office/drawing/2014/main" id="{27228BAE-048B-681E-DD8D-BD96B22560E0}"/>
                </a:ext>
              </a:extLst>
            </p:cNvPr>
            <p:cNvSpPr txBox="1">
              <a:spLocks/>
            </p:cNvSpPr>
            <p:nvPr/>
          </p:nvSpPr>
          <p:spPr>
            <a:xfrm>
              <a:off x="54496" y="1922610"/>
              <a:ext cx="4804363" cy="900105"/>
            </a:xfrm>
            <a:prstGeom prst="rect">
              <a:avLst/>
            </a:prstGeom>
          </p:spPr>
          <p:txBody>
            <a:bodyPr vert="horz" lIns="91440" tIns="45720" rIns="91440" bIns="45720" rtlCol="0" anchor="b">
              <a:normAutofit fontScale="9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dirty="0" smtClean="0">
                  <a:solidFill>
                    <a:schemeClr val="accent1">
                      <a:lumMod val="75000"/>
                    </a:schemeClr>
                  </a:solidFill>
                </a:rPr>
                <a:t>Computer </a:t>
              </a:r>
              <a:r>
                <a:rPr lang="en-US" dirty="0" smtClean="0">
                  <a:solidFill>
                    <a:srgbClr val="00B0F0"/>
                  </a:solidFill>
                </a:rPr>
                <a:t>Vision</a:t>
              </a:r>
              <a:endParaRPr lang="en-US" dirty="0">
                <a:solidFill>
                  <a:srgbClr val="00B0F0"/>
                </a:solidFill>
              </a:endParaRPr>
            </a:p>
          </p:txBody>
        </p:sp>
        <p:grpSp>
          <p:nvGrpSpPr>
            <p:cNvPr id="18" name="Group 17">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25" name="Freeform 24">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a:solidFill>
                    <a:schemeClr val="tx1"/>
                  </a:solidFill>
                </a:endParaRPr>
              </a:p>
            </p:txBody>
          </p:sp>
          <p:sp>
            <p:nvSpPr>
              <p:cNvPr id="26" name="Freeform 25">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dirty="0">
                  <a:solidFill>
                    <a:schemeClr val="tx1"/>
                  </a:solidFill>
                </a:endParaRPr>
              </a:p>
            </p:txBody>
          </p:sp>
        </p:grpSp>
        <p:grpSp>
          <p:nvGrpSpPr>
            <p:cNvPr id="19" name="Group 18">
              <a:extLst>
                <a:ext uri="{FF2B5EF4-FFF2-40B4-BE49-F238E27FC236}">
                  <a16:creationId xmlns:a16="http://schemas.microsoft.com/office/drawing/2014/main" id="{AB8BC7BC-BF58-402E-9A69-AA9226DE7CAA}"/>
                </a:ext>
              </a:extLst>
            </p:cNvPr>
            <p:cNvGrpSpPr/>
            <p:nvPr/>
          </p:nvGrpSpPr>
          <p:grpSpPr>
            <a:xfrm>
              <a:off x="1356703" y="883096"/>
              <a:ext cx="1334145" cy="620384"/>
              <a:chOff x="7729280" y="2195997"/>
              <a:chExt cx="2143740" cy="996849"/>
            </a:xfrm>
            <a:solidFill>
              <a:schemeClr val="accent6"/>
            </a:solidFill>
          </p:grpSpPr>
          <p:sp>
            <p:nvSpPr>
              <p:cNvPr id="23" name="Freeform: Shape 66">
                <a:extLst>
                  <a:ext uri="{FF2B5EF4-FFF2-40B4-BE49-F238E27FC236}">
                    <a16:creationId xmlns:a16="http://schemas.microsoft.com/office/drawing/2014/main" id="{2A081543-B9FF-49B1-8EEF-ABDF5438EDCD}"/>
                  </a:ext>
                </a:extLst>
              </p:cNvPr>
              <p:cNvSpPr/>
              <p:nvPr/>
            </p:nvSpPr>
            <p:spPr>
              <a:xfrm>
                <a:off x="7729280" y="2195997"/>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sp>
            <p:nvSpPr>
              <p:cNvPr id="24" name="Freeform: Shape 67">
                <a:extLst>
                  <a:ext uri="{FF2B5EF4-FFF2-40B4-BE49-F238E27FC236}">
                    <a16:creationId xmlns:a16="http://schemas.microsoft.com/office/drawing/2014/main" id="{275D1FAA-C13F-4A6B-BA37-7704CFB7ADCD}"/>
                  </a:ext>
                </a:extLst>
              </p:cNvPr>
              <p:cNvSpPr/>
              <p:nvPr/>
            </p:nvSpPr>
            <p:spPr>
              <a:xfrm>
                <a:off x="8421007" y="2543552"/>
                <a:ext cx="443936" cy="326800"/>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20" name="Subtitle 2">
              <a:extLst>
                <a:ext uri="{FF2B5EF4-FFF2-40B4-BE49-F238E27FC236}">
                  <a16:creationId xmlns:a16="http://schemas.microsoft.com/office/drawing/2014/main" id="{53858C97-DA2F-8866-47CC-CDF4077BBF9D}"/>
                </a:ext>
              </a:extLst>
            </p:cNvPr>
            <p:cNvSpPr txBox="1">
              <a:spLocks/>
            </p:cNvSpPr>
            <p:nvPr/>
          </p:nvSpPr>
          <p:spPr>
            <a:xfrm>
              <a:off x="1727403" y="1099395"/>
              <a:ext cx="729275" cy="20338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smtClean="0">
                  <a:solidFill>
                    <a:srgbClr val="7030A0"/>
                  </a:solidFill>
                </a:rPr>
                <a:t>PDS</a:t>
              </a:r>
              <a:endParaRPr lang="en-US" sz="1600" dirty="0">
                <a:solidFill>
                  <a:srgbClr val="7030A0"/>
                </a:solidFill>
              </a:endParaRPr>
            </a:p>
          </p:txBody>
        </p:sp>
        <p:sp>
          <p:nvSpPr>
            <p:cNvPr id="21" name="Title 4">
              <a:extLst>
                <a:ext uri="{FF2B5EF4-FFF2-40B4-BE49-F238E27FC236}">
                  <a16:creationId xmlns:a16="http://schemas.microsoft.com/office/drawing/2014/main" id="{27228BAE-048B-681E-DD8D-BD96B22560E0}"/>
                </a:ext>
              </a:extLst>
            </p:cNvPr>
            <p:cNvSpPr txBox="1">
              <a:spLocks/>
            </p:cNvSpPr>
            <p:nvPr/>
          </p:nvSpPr>
          <p:spPr>
            <a:xfrm>
              <a:off x="788714" y="1452073"/>
              <a:ext cx="938689" cy="470538"/>
            </a:xfrm>
            <a:prstGeom prst="rect">
              <a:avLst/>
            </a:prstGeom>
            <a:solidFill>
              <a:schemeClr val="bg1"/>
            </a:solidFill>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800" dirty="0" smtClean="0">
                  <a:solidFill>
                    <a:schemeClr val="accent5">
                      <a:lumMod val="50000"/>
                    </a:schemeClr>
                  </a:solidFill>
                </a:rPr>
                <a:t>SDN</a:t>
              </a:r>
              <a:endParaRPr lang="en-US" sz="2800" dirty="0">
                <a:solidFill>
                  <a:schemeClr val="accent5">
                    <a:lumMod val="50000"/>
                  </a:schemeClr>
                </a:solidFill>
              </a:endParaRPr>
            </a:p>
          </p:txBody>
        </p:sp>
        <p:sp>
          <p:nvSpPr>
            <p:cNvPr id="22" name="Title 4">
              <a:extLst>
                <a:ext uri="{FF2B5EF4-FFF2-40B4-BE49-F238E27FC236}">
                  <a16:creationId xmlns:a16="http://schemas.microsoft.com/office/drawing/2014/main" id="{27228BAE-048B-681E-DD8D-BD96B22560E0}"/>
                </a:ext>
              </a:extLst>
            </p:cNvPr>
            <p:cNvSpPr txBox="1">
              <a:spLocks/>
            </p:cNvSpPr>
            <p:nvPr/>
          </p:nvSpPr>
          <p:spPr>
            <a:xfrm>
              <a:off x="1449719" y="1352665"/>
              <a:ext cx="928870" cy="581223"/>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800" dirty="0" smtClean="0">
                  <a:solidFill>
                    <a:schemeClr val="accent1">
                      <a:lumMod val="75000"/>
                    </a:schemeClr>
                  </a:solidFill>
                </a:rPr>
                <a:t>NFV</a:t>
              </a:r>
              <a:endParaRPr lang="en-US" sz="2800" dirty="0">
                <a:solidFill>
                  <a:schemeClr val="accent1">
                    <a:lumMod val="75000"/>
                  </a:schemeClr>
                </a:solidFill>
              </a:endParaRPr>
            </a:p>
          </p:txBody>
        </p:sp>
      </p:grpSp>
    </p:spTree>
    <p:extLst>
      <p:ext uri="{BB962C8B-B14F-4D97-AF65-F5344CB8AC3E}">
        <p14:creationId xmlns:p14="http://schemas.microsoft.com/office/powerpoint/2010/main" val="80013096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23675</TotalTime>
  <Words>538</Words>
  <Application>Microsoft Office PowerPoint</Application>
  <PresentationFormat>Widescreen</PresentationFormat>
  <Paragraphs>101</Paragraphs>
  <Slides>14</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맑은 고딕</vt:lpstr>
      <vt:lpstr>Arial</vt:lpstr>
      <vt:lpstr>Calibri</vt:lpstr>
      <vt:lpstr>Calibri Light</vt:lpstr>
      <vt:lpstr>Comic Sans MS</vt:lpstr>
      <vt:lpstr>Edwardian Script ITC</vt:lpstr>
      <vt:lpstr>Symbol</vt:lpstr>
      <vt:lpstr>Times New Roman</vt:lpstr>
      <vt:lpstr>Office Theme</vt:lpstr>
      <vt:lpstr>9.3_Transistor Amp </vt:lpstr>
      <vt:lpstr>What is a transistor?</vt:lpstr>
      <vt:lpstr>BJT Transistors:</vt:lpstr>
      <vt:lpstr>How a “NPN” Transistor works?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Fish Tracking, Counting, and Behaviour Analysis in Digital Aquaculture</dc:title>
  <dc:creator>pds</dc:creator>
  <cp:lastModifiedBy>Gde</cp:lastModifiedBy>
  <cp:revision>82</cp:revision>
  <dcterms:created xsi:type="dcterms:W3CDTF">2024-10-22T07:52:57Z</dcterms:created>
  <dcterms:modified xsi:type="dcterms:W3CDTF">2026-03-17T08:15:37Z</dcterms:modified>
</cp:coreProperties>
</file>