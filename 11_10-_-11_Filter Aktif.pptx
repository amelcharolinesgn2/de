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4" r:id="rId2"/>
    <p:sldId id="279" r:id="rId3"/>
    <p:sldId id="296" r:id="rId4"/>
    <p:sldId id="291" r:id="rId5"/>
    <p:sldId id="292" r:id="rId6"/>
    <p:sldId id="293" r:id="rId7"/>
    <p:sldId id="294" r:id="rId8"/>
    <p:sldId id="295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278" r:id="rId28"/>
    <p:sldId id="29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926" autoAdjust="0"/>
  </p:normalViewPr>
  <p:slideViewPr>
    <p:cSldViewPr snapToGrid="0">
      <p:cViewPr varScale="1">
        <p:scale>
          <a:sx n="59" d="100"/>
          <a:sy n="59" d="100"/>
        </p:scale>
        <p:origin x="10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11_10. </a:t>
          </a:r>
          <a:r>
            <a:rPr lang="en-US" sz="4000" dirty="0" smtClean="0"/>
            <a:t>Filter </a:t>
          </a:r>
          <a:r>
            <a:rPr lang="en-US" sz="4000" dirty="0" err="1" smtClean="0"/>
            <a:t>Aktif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4000" dirty="0" smtClean="0"/>
            <a:t>Filter </a:t>
          </a:r>
          <a:r>
            <a:rPr lang="en-US" sz="4000" dirty="0" err="1" smtClean="0"/>
            <a:t>Aktif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4000" dirty="0" smtClean="0"/>
            <a:t>Filter </a:t>
          </a:r>
          <a:r>
            <a:rPr lang="en-US" sz="4000" dirty="0" err="1" smtClean="0"/>
            <a:t>Aktif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4000" dirty="0" err="1" smtClean="0"/>
            <a:t>Perancangan</a:t>
          </a:r>
          <a:r>
            <a:rPr lang="en-US" sz="4000" dirty="0" smtClean="0"/>
            <a:t> Filter </a:t>
          </a:r>
          <a:r>
            <a:rPr lang="en-US" sz="4000" dirty="0" err="1" smtClean="0"/>
            <a:t>Aktif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 custLinFactNeighborX="8383" custLinFactNeighborY="70877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11_10. </a:t>
          </a:r>
          <a:r>
            <a:rPr lang="en-US" sz="4000" kern="1200" dirty="0" smtClean="0"/>
            <a:t>Filter </a:t>
          </a:r>
          <a:r>
            <a:rPr lang="en-US" sz="4000" kern="1200" dirty="0" err="1" smtClean="0"/>
            <a:t>Aktif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Filter </a:t>
          </a:r>
          <a:r>
            <a:rPr lang="en-US" sz="4000" kern="1200" dirty="0" err="1" smtClean="0"/>
            <a:t>Aktif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Filter </a:t>
          </a:r>
          <a:r>
            <a:rPr lang="en-US" sz="4000" kern="1200" dirty="0" err="1" smtClean="0"/>
            <a:t>Aktif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err="1" smtClean="0"/>
            <a:t>Perancangan</a:t>
          </a:r>
          <a:r>
            <a:rPr lang="en-US" sz="4000" kern="1200" dirty="0" smtClean="0"/>
            <a:t> Filter </a:t>
          </a:r>
          <a:r>
            <a:rPr lang="en-US" sz="4000" kern="1200" dirty="0" err="1" smtClean="0"/>
            <a:t>Aktif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cut off 1KHz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3F64C-8936-48B6-AE9F-C8D2C3F4746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3328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baseline="0" dirty="0" smtClean="0"/>
              <a:t> cut off 1kHz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3F64C-8936-48B6-AE9F-C8D2C3F4746A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30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Frekuensi</a:t>
            </a:r>
            <a:r>
              <a:rPr lang="en-US" baseline="0" dirty="0" smtClean="0"/>
              <a:t> 1KHz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3F64C-8936-48B6-AE9F-C8D2C3F4746A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19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Frekuensi</a:t>
            </a:r>
            <a:r>
              <a:rPr lang="en-US" dirty="0" smtClean="0"/>
              <a:t> 1kHz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3F64C-8936-48B6-AE9F-C8D2C3F4746A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420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../simulasi/Filter%20Aktif/1st_order_butterworth_lp.asc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hyperlink" Target="../simulasi/Filter%20Aktif/2nd_order_butterworth_lp.asc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hyperlink" Target="../simulasi/Filter%20Aktif/1st_2nd_order_butterworth_lp.asc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hyperlink" Target="../simulasi/Filter%20Aktif/1st_order_butterworth_hp.asc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hyperlink" Target="../simulasi/Filter%20Aktif/2nd_order_butterworth_hp.asc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hyperlink" Target="../simulasi/Filter%20Aktif/1st_order_butterworth_lp+gain.asc" TargetMode="Externa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hyperlink" Target="../simulasi/Filter%20Aktif/2nd_order_butterworth_lp+gain.asc" TargetMode="Externa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hyperlink" Target="../simulasi/Filter%20Aktif/1st_order_butterworth_hp+gain.asc" TargetMode="Externa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hyperlink" Target="../simulasi/Filter%20Aktif/2nd_order_butterworth_hp+gain.asc" TargetMode="Externa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hyperlink" Target="../simulasi/Filter%20Aktif/2nd_order_chebyshev_3dB_lp.asc" TargetMode="Externa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731951264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Multivibrator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r>
              <a:rPr lang="en-US" dirty="0"/>
              <a:t> 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perancangan</a:t>
            </a:r>
            <a:r>
              <a:rPr lang="en-US" dirty="0"/>
              <a:t> filter </a:t>
            </a:r>
            <a:r>
              <a:rPr lang="en-US" dirty="0" err="1"/>
              <a:t>menggunakan</a:t>
            </a:r>
            <a:r>
              <a:rPr lang="en-US" dirty="0"/>
              <a:t> op-amp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filter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14290" y="545481"/>
            <a:ext cx="9208469" cy="933122"/>
            <a:chOff x="414290" y="545481"/>
            <a:chExt cx="9208469" cy="933122"/>
          </a:xfrm>
        </p:grpSpPr>
        <p:graphicFrame>
          <p:nvGraphicFramePr>
            <p:cNvPr id="8" name="Diagram 7"/>
            <p:cNvGraphicFramePr/>
            <p:nvPr>
              <p:extLst>
                <p:ext uri="{D42A27DB-BD31-4B8C-83A1-F6EECF244321}">
                  <p14:modId xmlns:p14="http://schemas.microsoft.com/office/powerpoint/2010/main" val="4203602042"/>
                </p:ext>
              </p:extLst>
            </p:nvPr>
          </p:nvGraphicFramePr>
          <p:xfrm>
            <a:off x="414290" y="564204"/>
            <a:ext cx="8712579" cy="9143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9" name="Pie 8"/>
            <p:cNvSpPr/>
            <p:nvPr/>
          </p:nvSpPr>
          <p:spPr>
            <a:xfrm rot="10600249">
              <a:off x="8708360" y="545481"/>
              <a:ext cx="914399" cy="914399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chemeClr val="accent2"/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</p:grp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Filter </a:t>
            </a:r>
            <a:r>
              <a:rPr lang="en-US" dirty="0" err="1" smtClean="0"/>
              <a:t>Aktif</a:t>
            </a:r>
            <a:endParaRPr lang="en-US" dirty="0" smtClean="0"/>
          </a:p>
          <a:p>
            <a:r>
              <a:rPr lang="en-US" dirty="0" err="1"/>
              <a:t>Perancangan</a:t>
            </a:r>
            <a:r>
              <a:rPr lang="en-US" dirty="0"/>
              <a:t> Filter </a:t>
            </a:r>
            <a:r>
              <a:rPr lang="en-US" dirty="0" err="1"/>
              <a:t>Aktif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8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963386" y="3559629"/>
            <a:ext cx="10270672" cy="3161846"/>
          </a:xfrm>
        </p:spPr>
        <p:txBody>
          <a:bodyPr>
            <a:normAutofit/>
          </a:bodyPr>
          <a:lstStyle/>
          <a:p>
            <a:pPr marL="609600" indent="-373063" algn="just"/>
            <a:r>
              <a:rPr lang="id-ID" altLang="en-US" sz="2400" dirty="0"/>
              <a:t>Filter</a:t>
            </a:r>
            <a:r>
              <a:rPr lang="en-US" altLang="en-US" sz="2400" dirty="0"/>
              <a:t>:</a:t>
            </a:r>
            <a:r>
              <a:rPr lang="id-ID" altLang="en-US" sz="2400" dirty="0"/>
              <a:t> suatu alat yang memiliki fungsi untuk melewatkan frekuensi tertentu</a:t>
            </a:r>
            <a:r>
              <a:rPr lang="id-ID" altLang="en-US" sz="2400" dirty="0"/>
              <a:t>.</a:t>
            </a:r>
            <a:endParaRPr lang="en-US" altLang="en-US" sz="2400" dirty="0"/>
          </a:p>
          <a:p>
            <a:pPr marL="236537" indent="0" algn="just">
              <a:buNone/>
            </a:pPr>
            <a:r>
              <a:rPr lang="id-ID" altLang="en-US" sz="2400" dirty="0"/>
              <a:t> </a:t>
            </a:r>
            <a:endParaRPr lang="en-US" altLang="en-US" sz="2400" dirty="0"/>
          </a:p>
          <a:p>
            <a:pPr marL="609600" indent="-373063" algn="just"/>
            <a:r>
              <a:rPr lang="id-ID" altLang="en-US" sz="2400" dirty="0"/>
              <a:t>Filter </a:t>
            </a:r>
            <a:r>
              <a:rPr lang="id-ID" altLang="en-US" sz="2400" dirty="0"/>
              <a:t>analog berarti filter yang melewatkan sinyal analog dan pengolahan sinyalnya juga dilakukan secara analog</a:t>
            </a:r>
            <a:r>
              <a:rPr lang="en-US" altLang="en-US" sz="2400" dirty="0"/>
              <a:t> </a:t>
            </a:r>
          </a:p>
          <a:p>
            <a:pPr marL="579437" indent="-342900" algn="just"/>
            <a:endParaRPr lang="en-US" altLang="en-US" sz="2400" dirty="0"/>
          </a:p>
          <a:p>
            <a:pPr marL="609600" indent="-373063" algn="just">
              <a:lnSpc>
                <a:spcPct val="70000"/>
              </a:lnSpc>
            </a:pPr>
            <a:r>
              <a:rPr lang="id-ID" altLang="en-US" sz="2400" dirty="0"/>
              <a:t>Berdasarkan komponen penyusunnya, filter analog dibagi</a:t>
            </a:r>
            <a:r>
              <a:rPr lang="en-US" altLang="en-US" sz="2400" dirty="0"/>
              <a:t>:</a:t>
            </a:r>
          </a:p>
          <a:p>
            <a:pPr marL="1828800" lvl="2" indent="-457200">
              <a:lnSpc>
                <a:spcPct val="70000"/>
              </a:lnSpc>
              <a:buFontTx/>
              <a:buAutoNum type="arabicPeriod"/>
            </a:pPr>
            <a:r>
              <a:rPr lang="id-ID" altLang="en-US" dirty="0"/>
              <a:t>Filter LC pasif </a:t>
            </a:r>
            <a:endParaRPr lang="en-US" altLang="en-US" dirty="0"/>
          </a:p>
          <a:p>
            <a:pPr marL="1828800" lvl="2" indent="-457200">
              <a:lnSpc>
                <a:spcPct val="70000"/>
              </a:lnSpc>
              <a:buFontTx/>
              <a:buAutoNum type="arabicPeriod"/>
            </a:pPr>
            <a:r>
              <a:rPr lang="en-US" altLang="en-US" dirty="0"/>
              <a:t>Filter</a:t>
            </a:r>
            <a:r>
              <a:rPr lang="id-ID" altLang="en-US" dirty="0"/>
              <a:t> </a:t>
            </a:r>
            <a:r>
              <a:rPr lang="id-ID" altLang="en-US" dirty="0"/>
              <a:t>RC </a:t>
            </a:r>
            <a:r>
              <a:rPr lang="id-ID" altLang="en-US" dirty="0"/>
              <a:t>aktif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9CAF-E9B7-4601-8EFE-7FE01A52148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20167" name="Rectangle 7"/>
          <p:cNvSpPr>
            <a:spLocks noChangeArrowheads="1"/>
          </p:cNvSpPr>
          <p:nvPr/>
        </p:nvSpPr>
        <p:spPr bwMode="auto">
          <a:xfrm>
            <a:off x="-838200" y="152400"/>
            <a:ext cx="6477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BAB III</a:t>
            </a:r>
            <a:r>
              <a:rPr lang="en-US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 F</a:t>
            </a:r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ILTER ANALOG</a:t>
            </a:r>
            <a:endParaRPr lang="en-US" altLang="en-US" sz="14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3386" y="795048"/>
            <a:ext cx="342670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/>
              <a:t>Filter </a:t>
            </a:r>
            <a:r>
              <a:rPr lang="en-US" sz="6000" dirty="0" err="1"/>
              <a:t>Aktif</a:t>
            </a:r>
            <a:endParaRPr lang="en-US" sz="6000" dirty="0"/>
          </a:p>
        </p:txBody>
      </p:sp>
      <p:grpSp>
        <p:nvGrpSpPr>
          <p:cNvPr id="6" name="Group 5"/>
          <p:cNvGrpSpPr/>
          <p:nvPr/>
        </p:nvGrpSpPr>
        <p:grpSpPr>
          <a:xfrm>
            <a:off x="577575" y="877589"/>
            <a:ext cx="9208469" cy="933122"/>
            <a:chOff x="414290" y="545481"/>
            <a:chExt cx="9208469" cy="933122"/>
          </a:xfrm>
        </p:grpSpPr>
        <p:graphicFrame>
          <p:nvGraphicFramePr>
            <p:cNvPr id="7" name="Diagram 6"/>
            <p:cNvGraphicFramePr/>
            <p:nvPr>
              <p:extLst>
                <p:ext uri="{D42A27DB-BD31-4B8C-83A1-F6EECF244321}">
                  <p14:modId xmlns:p14="http://schemas.microsoft.com/office/powerpoint/2010/main" val="612019324"/>
                </p:ext>
              </p:extLst>
            </p:nvPr>
          </p:nvGraphicFramePr>
          <p:xfrm>
            <a:off x="414290" y="564204"/>
            <a:ext cx="8712579" cy="9143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8" name="Pie 7"/>
            <p:cNvSpPr/>
            <p:nvPr/>
          </p:nvSpPr>
          <p:spPr>
            <a:xfrm rot="10600249">
              <a:off x="8708360" y="545481"/>
              <a:ext cx="914399" cy="914399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chemeClr val="accent2"/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</p:grpSp>
    </p:spTree>
    <p:extLst>
      <p:ext uri="{BB962C8B-B14F-4D97-AF65-F5344CB8AC3E}">
        <p14:creationId xmlns:p14="http://schemas.microsoft.com/office/powerpoint/2010/main" val="462088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01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7 -3.93064E-6 L 0.32917 -3.9306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7" grpId="0"/>
      <p:bldP spid="22016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idx="1"/>
          </p:nvPr>
        </p:nvSpPr>
        <p:spPr>
          <a:xfrm>
            <a:off x="1752600" y="822324"/>
            <a:ext cx="8534400" cy="5715000"/>
          </a:xfrm>
        </p:spPr>
        <p:txBody>
          <a:bodyPr/>
          <a:lstStyle/>
          <a:p>
            <a:pPr marL="287337" indent="0">
              <a:lnSpc>
                <a:spcPct val="80000"/>
              </a:lnSpc>
              <a:buNone/>
            </a:pPr>
            <a:r>
              <a:rPr lang="id-ID" altLang="en-US" sz="2400" dirty="0"/>
              <a:t>Berdasarkan daerah frekuensi yang dilewatkan, filter analog dibagi menjadi</a:t>
            </a:r>
            <a:endParaRPr lang="en-US" altLang="en-US" sz="2400" dirty="0"/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b="1" i="1" dirty="0"/>
              <a:t>LPF</a:t>
            </a:r>
            <a:r>
              <a:rPr lang="id-ID" altLang="en-US" dirty="0"/>
              <a:t> (</a:t>
            </a:r>
            <a:r>
              <a:rPr lang="id-ID" altLang="en-US" i="1" dirty="0"/>
              <a:t>Low Pass Filter</a:t>
            </a:r>
            <a:r>
              <a:rPr lang="id-ID" altLang="en-US" dirty="0"/>
              <a:t>)</a:t>
            </a:r>
            <a:endParaRPr lang="id-ID" altLang="en-US" i="1" dirty="0"/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b="1" i="1" dirty="0"/>
              <a:t>BPF</a:t>
            </a:r>
            <a:r>
              <a:rPr lang="id-ID" altLang="en-US" dirty="0"/>
              <a:t> (</a:t>
            </a:r>
            <a:r>
              <a:rPr lang="id-ID" altLang="en-US" i="1" dirty="0"/>
              <a:t>Band Pass Filter</a:t>
            </a:r>
            <a:r>
              <a:rPr lang="id-ID" altLang="en-US" dirty="0"/>
              <a:t>)</a:t>
            </a:r>
            <a:endParaRPr lang="id-ID" altLang="en-US" i="1" dirty="0"/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b="1" i="1" dirty="0"/>
              <a:t>HPF</a:t>
            </a:r>
            <a:r>
              <a:rPr lang="id-ID" altLang="en-US" dirty="0"/>
              <a:t> (</a:t>
            </a:r>
            <a:r>
              <a:rPr lang="id-ID" altLang="en-US" i="1" dirty="0"/>
              <a:t>High Pass Filter</a:t>
            </a:r>
            <a:r>
              <a:rPr lang="id-ID" altLang="en-US" dirty="0"/>
              <a:t>)</a:t>
            </a:r>
            <a:endParaRPr lang="id-ID" altLang="en-US" i="1" dirty="0"/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b="1" i="1" dirty="0"/>
              <a:t>BSF/BRF</a:t>
            </a:r>
            <a:r>
              <a:rPr lang="id-ID" altLang="en-US" dirty="0"/>
              <a:t> (</a:t>
            </a:r>
            <a:r>
              <a:rPr lang="id-ID" altLang="en-US" i="1" dirty="0"/>
              <a:t>Band Stop Filter/ Band Reject Filter</a:t>
            </a:r>
            <a:r>
              <a:rPr lang="id-ID" altLang="en-US" dirty="0"/>
              <a:t>)</a:t>
            </a:r>
            <a:endParaRPr lang="id-ID" alt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81950" y="6569076"/>
            <a:ext cx="2057400" cy="365125"/>
          </a:xfrm>
        </p:spPr>
        <p:txBody>
          <a:bodyPr/>
          <a:lstStyle/>
          <a:p>
            <a:fld id="{9B43D50A-7676-463E-92D3-82DBC3B9E5D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21191" name="Rectangle 7"/>
          <p:cNvSpPr>
            <a:spLocks noChangeArrowheads="1"/>
          </p:cNvSpPr>
          <p:nvPr/>
        </p:nvSpPr>
        <p:spPr bwMode="auto">
          <a:xfrm>
            <a:off x="-838200" y="365124"/>
            <a:ext cx="6477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BAB III</a:t>
            </a:r>
            <a:r>
              <a:rPr lang="en-US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 F</a:t>
            </a:r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ILTER ANALOG</a:t>
            </a:r>
            <a:endParaRPr lang="en-US" altLang="en-US" sz="14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pic>
        <p:nvPicPr>
          <p:cNvPr id="7" name="Picture 4" descr="Image result for respon filter low pass high pa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37" y="2819400"/>
            <a:ext cx="4210050" cy="358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15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11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7 -3.93064E-6 L 0.32917 -3.9306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1" grpId="0"/>
      <p:bldP spid="22119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idx="1"/>
          </p:nvPr>
        </p:nvSpPr>
        <p:spPr>
          <a:xfrm>
            <a:off x="1752600" y="822324"/>
            <a:ext cx="8534400" cy="5715000"/>
          </a:xfrm>
        </p:spPr>
        <p:txBody>
          <a:bodyPr/>
          <a:lstStyle/>
          <a:p>
            <a:pPr marL="287337" indent="0" algn="just">
              <a:lnSpc>
                <a:spcPct val="80000"/>
              </a:lnSpc>
              <a:buNone/>
            </a:pPr>
            <a:r>
              <a:rPr lang="id-ID" altLang="en-US" sz="2400" dirty="0"/>
              <a:t>Berdasarkan </a:t>
            </a:r>
            <a:r>
              <a:rPr lang="id-ID" altLang="en-US" sz="2400" dirty="0"/>
              <a:t>bentuk respon frekuensi terhadap gain</a:t>
            </a:r>
            <a:r>
              <a:rPr lang="id-ID" altLang="en-US" sz="2400" dirty="0"/>
              <a:t>:</a:t>
            </a:r>
            <a:endParaRPr lang="en-US" altLang="en-US" dirty="0"/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dirty="0"/>
              <a:t>Filter </a:t>
            </a:r>
            <a:r>
              <a:rPr lang="id-ID" altLang="en-US" dirty="0"/>
              <a:t>Butterworth</a:t>
            </a:r>
            <a:r>
              <a:rPr lang="en-US" altLang="en-US" dirty="0"/>
              <a:t> (</a:t>
            </a:r>
            <a:r>
              <a:rPr lang="id-ID" altLang="en-US" i="1" dirty="0"/>
              <a:t>maximally flat</a:t>
            </a:r>
            <a:r>
              <a:rPr lang="en-US" altLang="en-US" i="1" dirty="0"/>
              <a:t>)</a:t>
            </a:r>
            <a:endParaRPr lang="id-ID" altLang="en-US" dirty="0"/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dirty="0"/>
              <a:t>Filter </a:t>
            </a:r>
            <a:r>
              <a:rPr lang="id-ID" altLang="en-US" dirty="0"/>
              <a:t>Chebyshev</a:t>
            </a:r>
            <a:r>
              <a:rPr lang="en-US" altLang="en-US" dirty="0"/>
              <a:t> (</a:t>
            </a:r>
            <a:r>
              <a:rPr lang="id-ID" altLang="en-US" i="1" dirty="0"/>
              <a:t>Tchebycheff</a:t>
            </a:r>
            <a:r>
              <a:rPr lang="en-US" altLang="en-US" dirty="0"/>
              <a:t>)</a:t>
            </a:r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id-ID" altLang="en-US" dirty="0"/>
              <a:t>Filter Bessel</a:t>
            </a:r>
            <a:r>
              <a:rPr lang="en-US" altLang="en-US" dirty="0"/>
              <a:t> (</a:t>
            </a:r>
            <a:r>
              <a:rPr lang="id-ID" altLang="en-US" i="1" dirty="0"/>
              <a:t>Maximally Flat Time Delay</a:t>
            </a:r>
            <a:r>
              <a:rPr lang="en-US" altLang="en-US" dirty="0"/>
              <a:t>)</a:t>
            </a:r>
          </a:p>
          <a:p>
            <a:pPr marL="1828800" lvl="2" indent="-457200">
              <a:lnSpc>
                <a:spcPct val="80000"/>
              </a:lnSpc>
              <a:buFontTx/>
              <a:buAutoNum type="arabicPeriod"/>
            </a:pPr>
            <a:r>
              <a:rPr lang="en-US" altLang="en-US" dirty="0"/>
              <a:t>Filter Elliptic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81950" y="6569076"/>
            <a:ext cx="2057400" cy="365125"/>
          </a:xfrm>
        </p:spPr>
        <p:txBody>
          <a:bodyPr/>
          <a:lstStyle/>
          <a:p>
            <a:fld id="{9B43D50A-7676-463E-92D3-82DBC3B9E5D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21191" name="Rectangle 7"/>
          <p:cNvSpPr>
            <a:spLocks noChangeArrowheads="1"/>
          </p:cNvSpPr>
          <p:nvPr/>
        </p:nvSpPr>
        <p:spPr bwMode="auto">
          <a:xfrm>
            <a:off x="-838200" y="365124"/>
            <a:ext cx="6477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BAB III</a:t>
            </a:r>
            <a:r>
              <a:rPr lang="en-US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 F</a:t>
            </a:r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ILTER ANALOG</a:t>
            </a:r>
            <a:endParaRPr lang="en-US" altLang="en-US" sz="14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Picture 2" descr="Image result for respon filter butterworth chebyshe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1"/>
            <a:ext cx="4572000" cy="388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09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11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7 -3.93064E-6 L 0.32917 -3.9306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1" grpId="0"/>
      <p:bldP spid="22119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idx="1"/>
          </p:nvPr>
        </p:nvSpPr>
        <p:spPr>
          <a:xfrm>
            <a:off x="1981200" y="838200"/>
            <a:ext cx="7848600" cy="5410200"/>
          </a:xfrm>
        </p:spPr>
        <p:txBody>
          <a:bodyPr>
            <a:normAutofit/>
          </a:bodyPr>
          <a:lstStyle/>
          <a:p>
            <a:pPr marL="0" indent="0" algn="just">
              <a:buClr>
                <a:schemeClr val="tx1"/>
              </a:buClr>
              <a:buNone/>
            </a:pPr>
            <a:r>
              <a:rPr lang="en-US" altLang="en-US" dirty="0" err="1"/>
              <a:t>Berdasarkan</a:t>
            </a:r>
            <a:r>
              <a:rPr lang="en-US" altLang="en-US" dirty="0"/>
              <a:t> </a:t>
            </a:r>
            <a:r>
              <a:rPr lang="en-US" altLang="en-US" dirty="0" err="1"/>
              <a:t>sifat</a:t>
            </a:r>
            <a:r>
              <a:rPr lang="en-US" altLang="en-US" dirty="0"/>
              <a:t> </a:t>
            </a:r>
            <a:r>
              <a:rPr lang="en-US" altLang="en-US" dirty="0" err="1"/>
              <a:t>penguatannya</a:t>
            </a:r>
            <a:r>
              <a:rPr lang="en-US" altLang="en-US" dirty="0"/>
              <a:t>, filter </a:t>
            </a:r>
            <a:r>
              <a:rPr lang="en-US" altLang="en-US" dirty="0" err="1"/>
              <a:t>bisa</a:t>
            </a:r>
            <a:r>
              <a:rPr lang="en-US" altLang="en-US" dirty="0"/>
              <a:t> </a:t>
            </a:r>
            <a:r>
              <a:rPr lang="en-US" altLang="en-US" dirty="0" err="1"/>
              <a:t>diklasifikasikan</a:t>
            </a:r>
            <a:r>
              <a:rPr lang="en-US" altLang="en-US" dirty="0"/>
              <a:t>:</a:t>
            </a:r>
            <a:r>
              <a:rPr lang="id-ID" altLang="en-US" dirty="0"/>
              <a:t> </a:t>
            </a:r>
            <a:endParaRPr lang="en-US" altLang="en-US" dirty="0"/>
          </a:p>
          <a:p>
            <a:pPr marL="685800" lvl="2" indent="0" algn="just">
              <a:buNone/>
            </a:pPr>
            <a:endParaRPr lang="en-US" altLang="en-US" dirty="0"/>
          </a:p>
          <a:p>
            <a:pPr lvl="1" algn="just"/>
            <a:r>
              <a:rPr lang="id-ID" altLang="en-US" dirty="0"/>
              <a:t>Filter aktif</a:t>
            </a:r>
            <a:r>
              <a:rPr lang="en-US" altLang="en-US" dirty="0"/>
              <a:t> : </a:t>
            </a:r>
            <a:r>
              <a:rPr lang="en-US" altLang="en-US" dirty="0" err="1"/>
              <a:t>bersifat</a:t>
            </a:r>
            <a:r>
              <a:rPr lang="en-US" altLang="en-US" dirty="0"/>
              <a:t> </a:t>
            </a:r>
            <a:r>
              <a:rPr lang="en-US" altLang="en-US" dirty="0" err="1"/>
              <a:t>menguatkan</a:t>
            </a:r>
            <a:endParaRPr lang="en-US" altLang="en-US" dirty="0"/>
          </a:p>
          <a:p>
            <a:pPr lvl="2" algn="just"/>
            <a:r>
              <a:rPr lang="en-US" altLang="en-US" b="1" dirty="0"/>
              <a:t>K</a:t>
            </a:r>
            <a:r>
              <a:rPr lang="id-ID" altLang="en-US" b="1" dirty="0"/>
              <a:t>omponen</a:t>
            </a:r>
            <a:r>
              <a:rPr lang="en-US" altLang="en-US" b="1" dirty="0"/>
              <a:t> p</a:t>
            </a:r>
            <a:r>
              <a:rPr lang="id-ID" altLang="en-US" b="1" dirty="0"/>
              <a:t>enyusunnya</a:t>
            </a:r>
            <a:r>
              <a:rPr lang="en-US" altLang="en-US" dirty="0"/>
              <a:t>:</a:t>
            </a:r>
            <a:r>
              <a:rPr lang="id-ID" altLang="en-US" dirty="0"/>
              <a:t> penguat, </a:t>
            </a:r>
            <a:r>
              <a:rPr lang="en-US" altLang="en-US" dirty="0"/>
              <a:t>RC</a:t>
            </a:r>
            <a:r>
              <a:rPr lang="id-ID" altLang="en-US" dirty="0"/>
              <a:t>.</a:t>
            </a:r>
            <a:endParaRPr lang="en-US" altLang="en-US" dirty="0"/>
          </a:p>
          <a:p>
            <a:pPr lvl="2" algn="just"/>
            <a:r>
              <a:rPr lang="en-US" altLang="en-US" b="1" dirty="0"/>
              <a:t>K</a:t>
            </a:r>
            <a:r>
              <a:rPr lang="id-ID" altLang="en-US" b="1" dirty="0"/>
              <a:t>euntungan</a:t>
            </a:r>
            <a:r>
              <a:rPr lang="en-US" altLang="en-US" b="1" dirty="0"/>
              <a:t>:</a:t>
            </a:r>
            <a:r>
              <a:rPr lang="id-ID" altLang="en-US" dirty="0"/>
              <a:t> </a:t>
            </a:r>
            <a:r>
              <a:rPr lang="en-US" altLang="en-US" dirty="0"/>
              <a:t>l</a:t>
            </a:r>
            <a:r>
              <a:rPr lang="id-ID" altLang="en-US" dirty="0"/>
              <a:t>ebih </a:t>
            </a:r>
            <a:r>
              <a:rPr lang="id-ID" altLang="en-US" dirty="0"/>
              <a:t>kecil, </a:t>
            </a:r>
            <a:r>
              <a:rPr lang="id-ID" altLang="en-US" dirty="0"/>
              <a:t>ringan,</a:t>
            </a:r>
            <a:r>
              <a:rPr lang="en-US" altLang="en-US" dirty="0"/>
              <a:t> </a:t>
            </a:r>
            <a:r>
              <a:rPr lang="id-ID" altLang="en-US" dirty="0"/>
              <a:t>murah dan</a:t>
            </a:r>
            <a:r>
              <a:rPr lang="en-US" altLang="en-US" dirty="0"/>
              <a:t> </a:t>
            </a:r>
            <a:r>
              <a:rPr lang="id-ID" altLang="en-US" dirty="0"/>
              <a:t>fleksibel. </a:t>
            </a:r>
            <a:endParaRPr lang="en-US" altLang="en-US" dirty="0"/>
          </a:p>
          <a:p>
            <a:pPr lvl="2" algn="just"/>
            <a:r>
              <a:rPr lang="en-US" altLang="en-US" b="1" dirty="0"/>
              <a:t>K</a:t>
            </a:r>
            <a:r>
              <a:rPr lang="id-ID" altLang="en-US" b="1" dirty="0"/>
              <a:t>ekurangan</a:t>
            </a:r>
            <a:r>
              <a:rPr lang="en-US" altLang="en-US" b="1" dirty="0"/>
              <a:t>:</a:t>
            </a:r>
            <a:r>
              <a:rPr lang="id-ID" altLang="en-US" dirty="0"/>
              <a:t> </a:t>
            </a:r>
            <a:r>
              <a:rPr lang="id-ID" altLang="en-US" dirty="0"/>
              <a:t>catu </a:t>
            </a:r>
            <a:r>
              <a:rPr lang="id-ID" altLang="en-US" dirty="0"/>
              <a:t>daya eksternal, lebih </a:t>
            </a:r>
            <a:r>
              <a:rPr lang="id-ID" altLang="en-US" dirty="0"/>
              <a:t>sensitif, </a:t>
            </a:r>
            <a:r>
              <a:rPr lang="id-ID" altLang="en-US" dirty="0"/>
              <a:t>dan </a:t>
            </a:r>
            <a:r>
              <a:rPr lang="id-ID" altLang="en-US" dirty="0"/>
              <a:t>frekuensi </a:t>
            </a:r>
            <a:r>
              <a:rPr lang="id-ID" altLang="en-US" dirty="0"/>
              <a:t>kerja yang tidak terlalu tinggi </a:t>
            </a:r>
            <a:r>
              <a:rPr lang="id-ID" altLang="en-US" dirty="0"/>
              <a:t>(ratusan </a:t>
            </a:r>
            <a:r>
              <a:rPr lang="id-ID" altLang="en-US" dirty="0"/>
              <a:t>MHz).</a:t>
            </a:r>
            <a:endParaRPr lang="en-US" altLang="en-US" dirty="0"/>
          </a:p>
          <a:p>
            <a:pPr marL="685800" lvl="2" indent="0" algn="just">
              <a:buNone/>
            </a:pPr>
            <a:r>
              <a:rPr lang="id-ID" altLang="en-US" sz="1800" dirty="0"/>
              <a:t> </a:t>
            </a:r>
            <a:endParaRPr lang="en-US" altLang="en-US" sz="1800" dirty="0"/>
          </a:p>
          <a:p>
            <a:pPr lvl="1" algn="just"/>
            <a:r>
              <a:rPr lang="en-US" altLang="en-US" dirty="0"/>
              <a:t>F</a:t>
            </a:r>
            <a:r>
              <a:rPr lang="id-ID" altLang="en-US" dirty="0"/>
              <a:t>ilter pasif </a:t>
            </a:r>
            <a:r>
              <a:rPr lang="en-US" altLang="en-US" dirty="0"/>
              <a:t>: </a:t>
            </a:r>
            <a:r>
              <a:rPr lang="en-US" altLang="en-US" dirty="0" err="1"/>
              <a:t>bersifat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menguatkan</a:t>
            </a:r>
            <a:endParaRPr lang="id-ID" altLang="en-US" sz="2000" dirty="0"/>
          </a:p>
          <a:p>
            <a:pPr lvl="2" algn="just"/>
            <a:r>
              <a:rPr lang="en-US" altLang="en-US" b="1" dirty="0"/>
              <a:t>K</a:t>
            </a:r>
            <a:r>
              <a:rPr lang="id-ID" altLang="en-US" b="1" dirty="0"/>
              <a:t>omponen penyusunnya</a:t>
            </a:r>
            <a:r>
              <a:rPr lang="id-ID" altLang="en-US" dirty="0"/>
              <a:t> : </a:t>
            </a:r>
            <a:r>
              <a:rPr lang="en-US" altLang="en-US" dirty="0"/>
              <a:t>RLC</a:t>
            </a:r>
            <a:endParaRPr lang="id-ID" altLang="en-US" dirty="0"/>
          </a:p>
          <a:p>
            <a:pPr lvl="2" algn="just"/>
            <a:r>
              <a:rPr lang="id-ID" altLang="en-US" b="1" dirty="0"/>
              <a:t>Kelebihan</a:t>
            </a:r>
            <a:r>
              <a:rPr lang="id-ID" altLang="en-US" dirty="0"/>
              <a:t>: untuk frekuensi tinggi</a:t>
            </a:r>
            <a:r>
              <a:rPr lang="en-US" altLang="en-US" dirty="0"/>
              <a:t>,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diperlukan</a:t>
            </a:r>
            <a:r>
              <a:rPr lang="en-US" altLang="en-US" dirty="0"/>
              <a:t> </a:t>
            </a:r>
            <a:r>
              <a:rPr lang="en-US" altLang="en-US" dirty="0" err="1"/>
              <a:t>catu</a:t>
            </a:r>
            <a:r>
              <a:rPr lang="en-US" altLang="en-US" dirty="0"/>
              <a:t> </a:t>
            </a:r>
            <a:r>
              <a:rPr lang="en-US" altLang="en-US" dirty="0" err="1"/>
              <a:t>daya</a:t>
            </a:r>
            <a:r>
              <a:rPr lang="id-ID" altLang="en-US" dirty="0"/>
              <a:t> </a:t>
            </a:r>
          </a:p>
          <a:p>
            <a:pPr lvl="2" algn="just"/>
            <a:r>
              <a:rPr lang="id-ID" altLang="en-US" b="1" dirty="0"/>
              <a:t>Kekurangan</a:t>
            </a:r>
            <a:r>
              <a:rPr lang="id-ID" altLang="en-US" dirty="0"/>
              <a:t>: dimensi lebih besar</a:t>
            </a:r>
            <a:r>
              <a:rPr lang="en-US" altLang="en-US" dirty="0"/>
              <a:t>, loss </a:t>
            </a:r>
            <a:r>
              <a:rPr lang="en-US" altLang="en-US" dirty="0" err="1"/>
              <a:t>pada</a:t>
            </a:r>
            <a:r>
              <a:rPr lang="en-US" altLang="en-US" dirty="0"/>
              <a:t> </a:t>
            </a:r>
            <a:r>
              <a:rPr lang="en-US" altLang="en-US" dirty="0" err="1"/>
              <a:t>daerah</a:t>
            </a:r>
            <a:r>
              <a:rPr lang="en-US" altLang="en-US" dirty="0"/>
              <a:t> passband</a:t>
            </a:r>
            <a:r>
              <a:rPr lang="id-ID" altLang="en-US" sz="1800" dirty="0"/>
              <a:t> </a:t>
            </a:r>
          </a:p>
          <a:p>
            <a:pPr lvl="2" algn="just">
              <a:lnSpc>
                <a:spcPct val="90000"/>
              </a:lnSpc>
            </a:pPr>
            <a:endParaRPr lang="en-US" alt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56F2-F3D9-4E93-992C-718587978BB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-838200" y="152400"/>
            <a:ext cx="6477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BAB III</a:t>
            </a:r>
            <a:r>
              <a:rPr lang="en-US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 F</a:t>
            </a:r>
            <a:r>
              <a:rPr lang="id-ID" altLang="en-US" sz="1400">
                <a:solidFill>
                  <a:schemeClr val="bg1"/>
                </a:solidFill>
                <a:latin typeface="Verdana" panose="020B0604030504040204" pitchFamily="34" charset="0"/>
              </a:rPr>
              <a:t>ILTER ANALOG</a:t>
            </a:r>
            <a:endParaRPr lang="en-US" altLang="en-US" sz="14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60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22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7 -3.93064E-6 L 0.32917 -3.9306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/>
      <p:bldP spid="2222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844" y="658368"/>
            <a:ext cx="8643998" cy="1399032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Keuntungan</a:t>
            </a:r>
            <a:r>
              <a:rPr lang="en-US" sz="3600" dirty="0"/>
              <a:t> filter </a:t>
            </a:r>
            <a:r>
              <a:rPr lang="en-US" sz="3600" dirty="0" err="1"/>
              <a:t>aktif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596" y="2514600"/>
            <a:ext cx="8229600" cy="4572000"/>
          </a:xfrm>
        </p:spPr>
        <p:txBody>
          <a:bodyPr>
            <a:noAutofit/>
          </a:bodyPr>
          <a:lstStyle/>
          <a:p>
            <a:pPr lvl="0" algn="just"/>
            <a:r>
              <a:rPr lang="en-US" sz="2600" dirty="0" err="1"/>
              <a:t>Penguatan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frekuensinya</a:t>
            </a:r>
            <a:r>
              <a:rPr lang="en-US" sz="2600" dirty="0"/>
              <a:t> </a:t>
            </a:r>
            <a:r>
              <a:rPr lang="en-US" sz="2600" dirty="0" err="1"/>
              <a:t>mudah</a:t>
            </a:r>
            <a:r>
              <a:rPr lang="en-US" sz="2600" dirty="0"/>
              <a:t> </a:t>
            </a:r>
            <a:r>
              <a:rPr lang="en-US" sz="2600" dirty="0" err="1"/>
              <a:t>diatur</a:t>
            </a:r>
            <a:endParaRPr lang="en-US" sz="2600" dirty="0"/>
          </a:p>
          <a:p>
            <a:pPr lvl="0" algn="just"/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ada</a:t>
            </a:r>
            <a:r>
              <a:rPr lang="en-US" sz="2600" dirty="0"/>
              <a:t> </a:t>
            </a:r>
            <a:r>
              <a:rPr lang="en-US" sz="2600" dirty="0" err="1"/>
              <a:t>masalah</a:t>
            </a:r>
            <a:r>
              <a:rPr lang="en-US" sz="2600" dirty="0"/>
              <a:t> </a:t>
            </a:r>
            <a:r>
              <a:rPr lang="en-US" sz="2600" dirty="0" err="1"/>
              <a:t>beban</a:t>
            </a:r>
            <a:r>
              <a:rPr lang="en-US" sz="2600" dirty="0"/>
              <a:t>, </a:t>
            </a:r>
            <a:r>
              <a:rPr lang="en-US" sz="2600" dirty="0" err="1"/>
              <a:t>karena</a:t>
            </a:r>
            <a:r>
              <a:rPr lang="en-US" sz="2600" dirty="0"/>
              <a:t> </a:t>
            </a:r>
            <a:r>
              <a:rPr lang="en-US" sz="2600" dirty="0" err="1"/>
              <a:t>tahanan</a:t>
            </a:r>
            <a:r>
              <a:rPr lang="en-US" sz="2600" dirty="0"/>
              <a:t> input </a:t>
            </a:r>
            <a:r>
              <a:rPr lang="en-US" sz="2600" dirty="0" err="1"/>
              <a:t>tinggi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tahanan</a:t>
            </a:r>
            <a:r>
              <a:rPr lang="en-US" sz="2600" dirty="0"/>
              <a:t> output </a:t>
            </a:r>
            <a:r>
              <a:rPr lang="en-US" sz="2600" dirty="0" err="1"/>
              <a:t>rendah</a:t>
            </a:r>
            <a:r>
              <a:rPr lang="en-US" sz="2600" dirty="0"/>
              <a:t>. </a:t>
            </a:r>
          </a:p>
          <a:p>
            <a:pPr lvl="0" algn="just"/>
            <a:r>
              <a:rPr lang="en-US" sz="2600" dirty="0" err="1"/>
              <a:t>Harga</a:t>
            </a:r>
            <a:r>
              <a:rPr lang="en-US" sz="2600" dirty="0"/>
              <a:t>, </a:t>
            </a:r>
            <a:r>
              <a:rPr lang="en-US" sz="2600" dirty="0" err="1"/>
              <a:t>lebih</a:t>
            </a:r>
            <a:r>
              <a:rPr lang="en-US" sz="2600" dirty="0"/>
              <a:t> </a:t>
            </a:r>
            <a:r>
              <a:rPr lang="en-US" sz="2600" dirty="0" err="1"/>
              <a:t>ekonomis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8097286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75" y="2357040"/>
            <a:ext cx="10515600" cy="1325563"/>
          </a:xfrm>
        </p:spPr>
        <p:txBody>
          <a:bodyPr/>
          <a:lstStyle/>
          <a:p>
            <a:r>
              <a:rPr lang="en-US" dirty="0" smtClean="0"/>
              <a:t>Filter </a:t>
            </a:r>
            <a:r>
              <a:rPr lang="en-US" dirty="0" err="1" smtClean="0"/>
              <a:t>Aktif</a:t>
            </a:r>
            <a:r>
              <a:rPr lang="en-US" dirty="0" smtClean="0"/>
              <a:t> LPF </a:t>
            </a:r>
            <a:r>
              <a:rPr lang="en-US" dirty="0" err="1" smtClean="0"/>
              <a:t>Orde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07229" y="4071144"/>
            <a:ext cx="3606163" cy="24677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7258321" y="4645424"/>
                <a:ext cx="1556387" cy="659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𝑠𝐶𝑅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321" y="4645424"/>
                <a:ext cx="1556387" cy="659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773731" y="475947"/>
            <a:ext cx="9208469" cy="933122"/>
            <a:chOff x="414290" y="545481"/>
            <a:chExt cx="9208469" cy="933122"/>
          </a:xfrm>
        </p:grpSpPr>
        <p:graphicFrame>
          <p:nvGraphicFramePr>
            <p:cNvPr id="10" name="Diagram 9"/>
            <p:cNvGraphicFramePr/>
            <p:nvPr>
              <p:extLst>
                <p:ext uri="{D42A27DB-BD31-4B8C-83A1-F6EECF244321}">
                  <p14:modId xmlns:p14="http://schemas.microsoft.com/office/powerpoint/2010/main" val="796148058"/>
                </p:ext>
              </p:extLst>
            </p:nvPr>
          </p:nvGraphicFramePr>
          <p:xfrm>
            <a:off x="414290" y="564204"/>
            <a:ext cx="8712579" cy="9143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1" name="Pie 10"/>
            <p:cNvSpPr/>
            <p:nvPr/>
          </p:nvSpPr>
          <p:spPr>
            <a:xfrm rot="10600249">
              <a:off x="8708360" y="545481"/>
              <a:ext cx="914399" cy="914399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chemeClr val="accent2"/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</p:grpSp>
    </p:spTree>
    <p:extLst>
      <p:ext uri="{BB962C8B-B14F-4D97-AF65-F5344CB8AC3E}">
        <p14:creationId xmlns:p14="http://schemas.microsoft.com/office/powerpoint/2010/main" val="136230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828800" y="829468"/>
            <a:ext cx="5619750" cy="40386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7239000" y="4001295"/>
            <a:ext cx="2971800" cy="2310605"/>
          </a:xfrm>
          <a:prstGeom prst="rect">
            <a:avLst/>
          </a:prstGeom>
        </p:spPr>
      </p:pic>
      <p:graphicFrame>
        <p:nvGraphicFramePr>
          <p:cNvPr id="7" name="Content Placeholder 6">
            <a:hlinkClick r:id="rId6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3429000" y="5486401"/>
          <a:ext cx="2419350" cy="68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Packager Shell Object" showAsIcon="1" r:id="rId7" imgW="2413440" imgH="685800" progId="Package">
                  <p:embed/>
                </p:oleObj>
              </mc:Choice>
              <mc:Fallback>
                <p:oleObj name="Packager Shell Object" showAsIcon="1" r:id="rId7" imgW="2413440" imgH="685800" progId="Package">
                  <p:embed/>
                  <p:pic>
                    <p:nvPicPr>
                      <p:cNvPr id="7" name="Content Placeholder 6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9000" y="5486401"/>
                        <a:ext cx="2419350" cy="68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0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</a:t>
            </a:r>
            <a:r>
              <a:rPr lang="en-US" dirty="0" err="1" smtClean="0"/>
              <a:t>Aktif</a:t>
            </a:r>
            <a:r>
              <a:rPr lang="en-US" dirty="0" smtClean="0"/>
              <a:t> LPF </a:t>
            </a:r>
            <a:r>
              <a:rPr lang="en-US" dirty="0" err="1" smtClean="0"/>
              <a:t>Orde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62200" y="1825625"/>
            <a:ext cx="4267200" cy="2746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791201" y="4098405"/>
                <a:ext cx="3464345" cy="657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1" y="4098405"/>
                <a:ext cx="3464345" cy="6577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244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650" y="1447800"/>
            <a:ext cx="3867150" cy="2286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562600" y="3258434"/>
                <a:ext cx="3679084" cy="11110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258434"/>
                <a:ext cx="3679084" cy="1111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43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828800" y="829468"/>
            <a:ext cx="5619750" cy="40386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6991350" y="4095751"/>
            <a:ext cx="3524250" cy="2081213"/>
          </a:xfrm>
          <a:prstGeom prst="rect">
            <a:avLst/>
          </a:prstGeom>
        </p:spPr>
      </p:pic>
      <p:graphicFrame>
        <p:nvGraphicFramePr>
          <p:cNvPr id="8" name="Content Placeholder 7">
            <a:hlinkClick r:id="rId6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2846842" y="5267326"/>
          <a:ext cx="2182358" cy="601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Packager Shell Object" showAsIcon="1" r:id="rId7" imgW="2489760" imgH="685800" progId="Package">
                  <p:embed/>
                </p:oleObj>
              </mc:Choice>
              <mc:Fallback>
                <p:oleObj name="Packager Shell Object" showAsIcon="1" r:id="rId7" imgW="2489760" imgH="685800" progId="Package">
                  <p:embed/>
                  <p:pic>
                    <p:nvPicPr>
                      <p:cNvPr id="8" name="Content Placeholder 7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6842" y="5267326"/>
                        <a:ext cx="2182358" cy="601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07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Perbandingan</a:t>
            </a:r>
            <a:r>
              <a:rPr lang="en-US" dirty="0" smtClean="0"/>
              <a:t> LPF </a:t>
            </a:r>
            <a:r>
              <a:rPr lang="en-US" dirty="0" err="1" smtClean="0"/>
              <a:t>Orde</a:t>
            </a:r>
            <a:r>
              <a:rPr lang="en-US" dirty="0" smtClean="0"/>
              <a:t> 1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Orde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1" y="1695452"/>
            <a:ext cx="8051719" cy="3702703"/>
          </a:xfrm>
          <a:prstGeom prst="rect">
            <a:avLst/>
          </a:prstGeom>
        </p:spPr>
      </p:pic>
      <p:graphicFrame>
        <p:nvGraphicFramePr>
          <p:cNvPr id="6" name="Content Placeholder 5">
            <a:hlinkClick r:id="rId4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3350379" y="5528797"/>
          <a:ext cx="2440822" cy="596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Packager Shell Object" showAsIcon="1" r:id="rId5" imgW="2807280" imgH="685800" progId="Package">
                  <p:embed/>
                </p:oleObj>
              </mc:Choice>
              <mc:Fallback>
                <p:oleObj name="Packager Shell Object" showAsIcon="1" r:id="rId5" imgW="2807280" imgH="685800" progId="Package">
                  <p:embed/>
                  <p:pic>
                    <p:nvPicPr>
                      <p:cNvPr id="6" name="Content Placeholder 5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0379" y="5528797"/>
                        <a:ext cx="2440822" cy="596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52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Perancangan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Rancanglah</a:t>
            </a:r>
            <a:r>
              <a:rPr lang="en-US" dirty="0" smtClean="0"/>
              <a:t> LPF </a:t>
            </a:r>
            <a:r>
              <a:rPr lang="en-US" dirty="0" err="1" smtClean="0"/>
              <a:t>orde</a:t>
            </a:r>
            <a:r>
              <a:rPr lang="en-US" dirty="0" smtClean="0"/>
              <a:t> 3 Butterworth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en-US" dirty="0" err="1" smtClean="0"/>
              <a:t>sebesar</a:t>
            </a:r>
            <a:r>
              <a:rPr lang="en-US" dirty="0" smtClean="0"/>
              <a:t> 1kH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2667000"/>
            <a:ext cx="4933950" cy="36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8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</a:t>
            </a:r>
            <a:r>
              <a:rPr lang="en-US" dirty="0" err="1" smtClean="0"/>
              <a:t>Aktif</a:t>
            </a:r>
            <a:r>
              <a:rPr lang="en-US" dirty="0" smtClean="0"/>
              <a:t> HPF </a:t>
            </a:r>
            <a:r>
              <a:rPr lang="en-US" dirty="0" err="1" smtClean="0"/>
              <a:t>Orde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650" y="1690689"/>
            <a:ext cx="2876550" cy="21193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101382" y="2717004"/>
                <a:ext cx="1432893" cy="834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82" y="2717004"/>
                <a:ext cx="1432893" cy="834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73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7620000" y="2977356"/>
            <a:ext cx="2767013" cy="2128044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1804987" y="914400"/>
            <a:ext cx="5619750" cy="4038600"/>
          </a:xfrm>
          <a:prstGeom prst="rect">
            <a:avLst/>
          </a:prstGeom>
        </p:spPr>
      </p:pic>
      <p:graphicFrame>
        <p:nvGraphicFramePr>
          <p:cNvPr id="7" name="Content Placeholder 6">
            <a:hlinkClick r:id="rId6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3399760" y="5334000"/>
          <a:ext cx="2430204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Packager Shell Object" showAsIcon="1" r:id="rId7" imgW="2477160" imgH="685800" progId="Package">
                  <p:embed/>
                </p:oleObj>
              </mc:Choice>
              <mc:Fallback>
                <p:oleObj name="Packager Shell Object" showAsIcon="1" r:id="rId7" imgW="2477160" imgH="685800" progId="Package">
                  <p:embed/>
                  <p:pic>
                    <p:nvPicPr>
                      <p:cNvPr id="7" name="Content Placeholder 6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99760" y="5334000"/>
                        <a:ext cx="2430204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7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</a:t>
            </a:r>
            <a:r>
              <a:rPr lang="en-US" dirty="0" err="1" smtClean="0"/>
              <a:t>Aktif</a:t>
            </a:r>
            <a:r>
              <a:rPr lang="en-US" dirty="0" smtClean="0"/>
              <a:t> HPF </a:t>
            </a:r>
            <a:r>
              <a:rPr lang="en-US" dirty="0" err="1" smtClean="0"/>
              <a:t>Orde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67000" y="1690689"/>
            <a:ext cx="3429000" cy="20431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562600" y="3868735"/>
                <a:ext cx="3891578" cy="921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68735"/>
                <a:ext cx="3891578" cy="9214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9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804987" y="914400"/>
            <a:ext cx="5619750" cy="40386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7162800" y="4166394"/>
            <a:ext cx="3505200" cy="2234406"/>
          </a:xfrm>
          <a:prstGeom prst="rect">
            <a:avLst/>
          </a:prstGeom>
        </p:spPr>
      </p:pic>
      <p:graphicFrame>
        <p:nvGraphicFramePr>
          <p:cNvPr id="7" name="Content Placeholder 6">
            <a:hlinkClick r:id="rId6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2829793" y="5283597"/>
          <a:ext cx="1813644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Packager Shell Object" showAsIcon="1" r:id="rId7" imgW="2553120" imgH="685800" progId="Package">
                  <p:embed/>
                </p:oleObj>
              </mc:Choice>
              <mc:Fallback>
                <p:oleObj name="Packager Shell Object" showAsIcon="1" r:id="rId7" imgW="2553120" imgH="685800" progId="Package">
                  <p:embed/>
                  <p:pic>
                    <p:nvPicPr>
                      <p:cNvPr id="7" name="Content Placeholder 6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29793" y="5283597"/>
                        <a:ext cx="1813644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514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Perancangan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Rancanglah</a:t>
            </a:r>
            <a:r>
              <a:rPr lang="en-US" dirty="0" smtClean="0"/>
              <a:t> HPF </a:t>
            </a:r>
            <a:r>
              <a:rPr lang="en-US" dirty="0" err="1" smtClean="0"/>
              <a:t>orde</a:t>
            </a:r>
            <a:r>
              <a:rPr lang="en-US" dirty="0" smtClean="0"/>
              <a:t> 3 Butterworth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en-US" dirty="0" err="1" smtClean="0"/>
              <a:t>sebesar</a:t>
            </a:r>
            <a:r>
              <a:rPr lang="en-US" dirty="0" smtClean="0"/>
              <a:t> 1kH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2667000"/>
            <a:ext cx="4933950" cy="36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0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Filter </a:t>
            </a:r>
            <a:r>
              <a:rPr lang="en-US" sz="2800" dirty="0" err="1"/>
              <a:t>Aktif</a:t>
            </a:r>
            <a:r>
              <a:rPr lang="en-US" sz="2800" dirty="0"/>
              <a:t> LPF </a:t>
            </a:r>
            <a:r>
              <a:rPr lang="en-US" sz="2800" dirty="0" err="1"/>
              <a:t>O</a:t>
            </a:r>
            <a:r>
              <a:rPr lang="en-US" sz="2800" dirty="0" err="1"/>
              <a:t>rde</a:t>
            </a:r>
            <a:r>
              <a:rPr lang="en-US" sz="2800" dirty="0"/>
              <a:t> 1 Butterworth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Penguatan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0" y="1825625"/>
            <a:ext cx="3505200" cy="2667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46237"/>
            <a:ext cx="3181350" cy="3429000"/>
          </a:xfrm>
          <a:prstGeom prst="rect">
            <a:avLst/>
          </a:prstGeom>
        </p:spPr>
      </p:pic>
      <p:graphicFrame>
        <p:nvGraphicFramePr>
          <p:cNvPr id="8" name="Content Placeholder 7">
            <a:hlinkClick r:id="rId5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6821349" y="5257800"/>
          <a:ext cx="249265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Packager Shell Object" showAsIcon="1" r:id="rId6" imgW="2896200" imgH="685800" progId="Package">
                  <p:embed/>
                </p:oleObj>
              </mc:Choice>
              <mc:Fallback>
                <p:oleObj name="Packager Shell Object" showAsIcon="1" r:id="rId6" imgW="2896200" imgH="685800" progId="Package">
                  <p:embed/>
                  <p:pic>
                    <p:nvPicPr>
                      <p:cNvPr id="8" name="Content Placeholder 7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21349" y="5257800"/>
                        <a:ext cx="2492652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725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Filter </a:t>
            </a:r>
            <a:r>
              <a:rPr lang="en-US" sz="2800" dirty="0" err="1"/>
              <a:t>Aktif</a:t>
            </a:r>
            <a:r>
              <a:rPr lang="en-US" sz="2800" dirty="0"/>
              <a:t> LPF </a:t>
            </a:r>
            <a:r>
              <a:rPr lang="en-US" sz="2800" dirty="0" err="1"/>
              <a:t>O</a:t>
            </a:r>
            <a:r>
              <a:rPr lang="en-US" sz="2800" dirty="0" err="1"/>
              <a:t>rde</a:t>
            </a:r>
            <a:r>
              <a:rPr lang="en-US" sz="2800" dirty="0"/>
              <a:t> 2 Butterworth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Penguatan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2514601" y="1895476"/>
            <a:ext cx="2767013" cy="21280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6" y="1895476"/>
            <a:ext cx="4048125" cy="2724150"/>
          </a:xfrm>
          <a:prstGeom prst="rect">
            <a:avLst/>
          </a:prstGeom>
        </p:spPr>
      </p:pic>
      <p:graphicFrame>
        <p:nvGraphicFramePr>
          <p:cNvPr id="10" name="Content Placeholder 9">
            <a:hlinkClick r:id="rId5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6858000" y="5029201"/>
          <a:ext cx="2819400" cy="648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Packager Shell Object" showAsIcon="1" r:id="rId6" imgW="2985120" imgH="685800" progId="Package">
                  <p:embed/>
                </p:oleObj>
              </mc:Choice>
              <mc:Fallback>
                <p:oleObj name="Packager Shell Object" showAsIcon="1" r:id="rId6" imgW="2985120" imgH="685800" progId="Package">
                  <p:embed/>
                  <p:pic>
                    <p:nvPicPr>
                      <p:cNvPr id="10" name="Content Placeholder 9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0" y="5029201"/>
                        <a:ext cx="2819400" cy="648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712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Filter </a:t>
            </a:r>
            <a:r>
              <a:rPr lang="en-US" sz="2400" dirty="0" err="1"/>
              <a:t>Aktif</a:t>
            </a:r>
            <a:r>
              <a:rPr lang="en-US" sz="2400" dirty="0"/>
              <a:t> HPF </a:t>
            </a:r>
            <a:r>
              <a:rPr lang="en-US" sz="2400" dirty="0" err="1"/>
              <a:t>O</a:t>
            </a:r>
            <a:r>
              <a:rPr lang="en-US" sz="2400" dirty="0" err="1"/>
              <a:t>rde</a:t>
            </a:r>
            <a:r>
              <a:rPr lang="en-US" sz="2400" dirty="0"/>
              <a:t> 1 Butterworth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Penguatan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23</a:t>
            </a:fld>
            <a:endParaRPr lang="en-US" altLang="en-US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2514601" y="1895476"/>
            <a:ext cx="2767013" cy="21280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1" y="1319212"/>
            <a:ext cx="3857625" cy="4191000"/>
          </a:xfrm>
          <a:prstGeom prst="rect">
            <a:avLst/>
          </a:prstGeom>
        </p:spPr>
      </p:pic>
      <p:graphicFrame>
        <p:nvGraphicFramePr>
          <p:cNvPr id="10" name="Content Placeholder 9">
            <a:hlinkClick r:id="rId5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6858001" y="5767389"/>
          <a:ext cx="2459881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Packager Shell Object" showAsIcon="1" r:id="rId6" imgW="2959920" imgH="685800" progId="Package">
                  <p:embed/>
                </p:oleObj>
              </mc:Choice>
              <mc:Fallback>
                <p:oleObj name="Packager Shell Object" showAsIcon="1" r:id="rId6" imgW="2959920" imgH="685800" progId="Package">
                  <p:embed/>
                  <p:pic>
                    <p:nvPicPr>
                      <p:cNvPr id="10" name="Content Placeholder 9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1" y="5767389"/>
                        <a:ext cx="2459881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231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Filter </a:t>
            </a:r>
            <a:r>
              <a:rPr lang="en-US" sz="2400" dirty="0" err="1"/>
              <a:t>Aktif</a:t>
            </a:r>
            <a:r>
              <a:rPr lang="en-US" sz="2400" dirty="0"/>
              <a:t> HPF </a:t>
            </a:r>
            <a:r>
              <a:rPr lang="en-US" sz="2400" dirty="0" err="1"/>
              <a:t>O</a:t>
            </a:r>
            <a:r>
              <a:rPr lang="en-US" sz="2400" dirty="0" err="1"/>
              <a:t>rde</a:t>
            </a:r>
            <a:r>
              <a:rPr lang="en-US" sz="2400" dirty="0"/>
              <a:t> 2 Butterworth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Penguatan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128837" y="2140348"/>
            <a:ext cx="3505200" cy="22344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415" y="1871662"/>
            <a:ext cx="4068223" cy="3157538"/>
          </a:xfrm>
          <a:prstGeom prst="rect">
            <a:avLst/>
          </a:prstGeom>
        </p:spPr>
      </p:pic>
      <p:graphicFrame>
        <p:nvGraphicFramePr>
          <p:cNvPr id="8" name="Content Placeholder 7">
            <a:hlinkClick r:id="rId5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6858000" y="5486400"/>
          <a:ext cx="2800350" cy="629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Packager Shell Object" showAsIcon="1" r:id="rId6" imgW="3048840" imgH="685800" progId="Package">
                  <p:embed/>
                </p:oleObj>
              </mc:Choice>
              <mc:Fallback>
                <p:oleObj name="Packager Shell Object" showAsIcon="1" r:id="rId6" imgW="3048840" imgH="685800" progId="Package">
                  <p:embed/>
                  <p:pic>
                    <p:nvPicPr>
                      <p:cNvPr id="8" name="Content Placeholder 7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0" y="5486400"/>
                        <a:ext cx="2800350" cy="629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548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LPF </a:t>
            </a:r>
            <a:r>
              <a:rPr lang="en-US" dirty="0" err="1" smtClean="0"/>
              <a:t>Orde</a:t>
            </a:r>
            <a:r>
              <a:rPr lang="en-US" dirty="0" smtClean="0"/>
              <a:t> 2 </a:t>
            </a:r>
            <a:r>
              <a:rPr lang="id-ID" altLang="en-US" sz="3600" dirty="0"/>
              <a:t>Chebyshev</a:t>
            </a:r>
            <a:r>
              <a:rPr lang="en-US" altLang="en-US" sz="3600" dirty="0"/>
              <a:t> 3 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25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447800"/>
            <a:ext cx="4809596" cy="2324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784" y="3662363"/>
            <a:ext cx="3514725" cy="2514600"/>
          </a:xfrm>
          <a:prstGeom prst="rect">
            <a:avLst/>
          </a:prstGeom>
        </p:spPr>
      </p:pic>
      <p:graphicFrame>
        <p:nvGraphicFramePr>
          <p:cNvPr id="7" name="Content Placeholder 6">
            <a:hlinkClick r:id="rId5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3566583" y="5105400"/>
          <a:ext cx="3105150" cy="76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Packager Shell Object" showAsIcon="1" r:id="rId6" imgW="2769120" imgH="685800" progId="Package">
                  <p:embed/>
                </p:oleObj>
              </mc:Choice>
              <mc:Fallback>
                <p:oleObj name="Packager Shell Object" showAsIcon="1" r:id="rId6" imgW="2769120" imgH="685800" progId="Package">
                  <p:embed/>
                  <p:pic>
                    <p:nvPicPr>
                      <p:cNvPr id="7" name="Content Placeholder 6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66583" y="5105400"/>
                        <a:ext cx="3105150" cy="769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12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HPF </a:t>
            </a:r>
            <a:r>
              <a:rPr lang="en-US" dirty="0" err="1" smtClean="0"/>
              <a:t>Orde</a:t>
            </a:r>
            <a:r>
              <a:rPr lang="en-US" dirty="0" smtClean="0"/>
              <a:t> 3 </a:t>
            </a:r>
            <a:r>
              <a:rPr lang="id-ID" altLang="en-US" sz="3600" dirty="0"/>
              <a:t>Chebyshev</a:t>
            </a:r>
            <a:r>
              <a:rPr lang="en-US" altLang="en-US" sz="3600" dirty="0"/>
              <a:t> 0.1dB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6AA32-DB37-44A4-A84E-923557DB4789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47" y="1419225"/>
            <a:ext cx="4629987" cy="224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0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Lakukan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fi-FI" dirty="0" smtClean="0"/>
              <a:t>umpan </a:t>
            </a:r>
            <a:r>
              <a:rPr lang="fi-FI" dirty="0"/>
              <a:t>balik negatif </a:t>
            </a:r>
            <a:r>
              <a:rPr lang="fi-FI" dirty="0" smtClean="0"/>
              <a:t>bertikut: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23888</TotalTime>
  <Words>493</Words>
  <Application>Microsoft Office PowerPoint</Application>
  <PresentationFormat>Widescreen</PresentationFormat>
  <Paragraphs>132</Paragraphs>
  <Slides>28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맑은 고딕</vt:lpstr>
      <vt:lpstr>Arial</vt:lpstr>
      <vt:lpstr>Calibri</vt:lpstr>
      <vt:lpstr>Calibri Light</vt:lpstr>
      <vt:lpstr>Cambria Math</vt:lpstr>
      <vt:lpstr>Edwardian Script ITC</vt:lpstr>
      <vt:lpstr>Times New Roman</vt:lpstr>
      <vt:lpstr>Verdana</vt:lpstr>
      <vt:lpstr>Office Theme</vt:lpstr>
      <vt:lpstr>Packager Shell Object</vt:lpstr>
      <vt:lpstr>PowerPoint Presentation</vt:lpstr>
      <vt:lpstr>Multivibrator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Keuntungan filter aktif</vt:lpstr>
      <vt:lpstr>Filter Aktif LPF Orde 1</vt:lpstr>
      <vt:lpstr>PowerPoint Presentation</vt:lpstr>
      <vt:lpstr>Filter Aktif LPF Orde 2</vt:lpstr>
      <vt:lpstr>PowerPoint Presentation</vt:lpstr>
      <vt:lpstr>PowerPoint Presentation</vt:lpstr>
      <vt:lpstr>Perbandingan LPF Orde 1 dan Orde 2</vt:lpstr>
      <vt:lpstr>Perancangan</vt:lpstr>
      <vt:lpstr>Filter Aktif HPF Orde 1</vt:lpstr>
      <vt:lpstr>PowerPoint Presentation</vt:lpstr>
      <vt:lpstr>Filter Aktif HPF Orde 2</vt:lpstr>
      <vt:lpstr>PowerPoint Presentation</vt:lpstr>
      <vt:lpstr>Perancangan</vt:lpstr>
      <vt:lpstr>Filter Aktif LPF Orde 1 Butterworth dengan Penguatan</vt:lpstr>
      <vt:lpstr>Filter Aktif LPF Orde 2 Butterworth dengan Penguatan</vt:lpstr>
      <vt:lpstr>Filter Aktif HPF Orde 1 Butterworth dengan Penguatan</vt:lpstr>
      <vt:lpstr>Filter Aktif HPF Orde 2 Butterworth dengan Penguatan</vt:lpstr>
      <vt:lpstr>Filter LPF Orde 2 Chebyshev 3 dB</vt:lpstr>
      <vt:lpstr>Filter HPF Orde 3 Chebyshev 0.1dB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127</cp:revision>
  <dcterms:created xsi:type="dcterms:W3CDTF">2024-10-22T07:52:57Z</dcterms:created>
  <dcterms:modified xsi:type="dcterms:W3CDTF">2026-03-25T03:37:37Z</dcterms:modified>
</cp:coreProperties>
</file>