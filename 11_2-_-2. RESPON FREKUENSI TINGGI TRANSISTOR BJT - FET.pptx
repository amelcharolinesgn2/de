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78" r:id="rId20"/>
    <p:sldId id="2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72042" autoAdjust="0"/>
  </p:normalViewPr>
  <p:slideViewPr>
    <p:cSldViewPr snapToGrid="0">
      <p:cViewPr varScale="1">
        <p:scale>
          <a:sx n="59" d="100"/>
          <a:sy n="59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11_2. </a:t>
          </a:r>
          <a:r>
            <a:rPr lang="en-US" sz="4400" b="0" i="0" dirty="0" err="1" smtClean="0"/>
            <a:t>Respon</a:t>
          </a:r>
          <a:r>
            <a:rPr lang="en-US" sz="4400" b="0" i="0" dirty="0" smtClean="0"/>
            <a:t> </a:t>
          </a:r>
          <a:r>
            <a:rPr lang="en-US" sz="4400" b="0" i="0" dirty="0" err="1" smtClean="0"/>
            <a:t>frekuensi</a:t>
          </a:r>
          <a:r>
            <a:rPr lang="en-US" sz="4400" b="0" i="0" dirty="0" smtClean="0"/>
            <a:t> </a:t>
          </a:r>
          <a:r>
            <a:rPr lang="en-US" sz="4400" b="0" i="0" dirty="0" err="1" smtClean="0"/>
            <a:t>tinggi</a:t>
          </a:r>
          <a:r>
            <a:rPr lang="en-US" sz="4400" b="0" i="0" dirty="0" smtClean="0"/>
            <a:t> transistor BJT </a:t>
          </a:r>
          <a:r>
            <a:rPr lang="en-US" sz="4400" b="0" i="0" dirty="0" err="1" smtClean="0"/>
            <a:t>dan</a:t>
          </a:r>
          <a:r>
            <a:rPr lang="en-US" sz="4400" b="0" i="0" dirty="0" smtClean="0"/>
            <a:t> FET</a:t>
          </a:r>
          <a:endParaRPr lang="en-US" sz="44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11_2. </a:t>
          </a:r>
          <a:r>
            <a:rPr lang="en-US" sz="4400" b="0" i="0" kern="1200" dirty="0" err="1" smtClean="0"/>
            <a:t>Respon</a:t>
          </a:r>
          <a:r>
            <a:rPr lang="en-US" sz="4400" b="0" i="0" kern="1200" dirty="0" smtClean="0"/>
            <a:t> </a:t>
          </a:r>
          <a:r>
            <a:rPr lang="en-US" sz="4400" b="0" i="0" kern="1200" dirty="0" err="1" smtClean="0"/>
            <a:t>frekuensi</a:t>
          </a:r>
          <a:r>
            <a:rPr lang="en-US" sz="4400" b="0" i="0" kern="1200" dirty="0" smtClean="0"/>
            <a:t> </a:t>
          </a:r>
          <a:r>
            <a:rPr lang="en-US" sz="4400" b="0" i="0" kern="1200" dirty="0" err="1" smtClean="0"/>
            <a:t>tinggi</a:t>
          </a:r>
          <a:r>
            <a:rPr lang="en-US" sz="4400" b="0" i="0" kern="1200" dirty="0" smtClean="0"/>
            <a:t> transistor BJT </a:t>
          </a:r>
          <a:r>
            <a:rPr lang="en-US" sz="4400" b="0" i="0" kern="1200" dirty="0" err="1" smtClean="0"/>
            <a:t>dan</a:t>
          </a:r>
          <a:r>
            <a:rPr lang="en-US" sz="4400" b="0" i="0" kern="1200" dirty="0" smtClean="0"/>
            <a:t> FET</a:t>
          </a:r>
          <a:endParaRPr lang="en-US" sz="44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431.07321" units="1/cm"/>
          <inkml:channelProperty channel="Y" name="resolution" value="575.079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8T05:20:38.75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13F3A5-6926-4BC4-B513-79C518B9932D}" type="slidenum">
              <a:rPr lang="en-US" altLang="id-ID"/>
              <a:pPr>
                <a:spcBef>
                  <a:spcPct val="0"/>
                </a:spcBef>
              </a:pPr>
              <a:t>6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365008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B2EC33-2020-489C-900B-A472E112ECD2}" type="slidenum">
              <a:rPr lang="en-US" altLang="id-ID"/>
              <a:pPr>
                <a:spcBef>
                  <a:spcPct val="0"/>
                </a:spcBef>
              </a:pPr>
              <a:t>7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816719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053AEE-617F-4BD1-947B-C38D73EC150C}" type="slidenum">
              <a:rPr lang="en-US" altLang="id-ID"/>
              <a:pPr>
                <a:spcBef>
                  <a:spcPct val="0"/>
                </a:spcBef>
              </a:pPr>
              <a:t>8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49999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D0C44F-DC51-4A79-8796-20FE70B43BBB}" type="slidenum">
              <a:rPr lang="en-US" altLang="id-ID"/>
              <a:pPr>
                <a:spcBef>
                  <a:spcPct val="0"/>
                </a:spcBef>
              </a:pPr>
              <a:t>9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13216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34383C-1EAD-46F5-9365-EDCF15C1FF1B}" type="slidenum">
              <a:rPr lang="en-US" altLang="id-ID"/>
              <a:pPr>
                <a:spcBef>
                  <a:spcPct val="0"/>
                </a:spcBef>
              </a:pPr>
              <a:t>10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039739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3EFDC4-FA63-40D1-9A47-E1B195862BCA}" type="slidenum">
              <a:rPr lang="en-US" altLang="id-ID"/>
              <a:pPr>
                <a:spcBef>
                  <a:spcPct val="0"/>
                </a:spcBef>
              </a:pPr>
              <a:t>11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949730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840416-D981-42BE-9EDB-8F89AF7B0EF9}" type="slidenum">
              <a:rPr lang="en-US" altLang="id-ID"/>
              <a:pPr>
                <a:spcBef>
                  <a:spcPct val="0"/>
                </a:spcBef>
              </a:pPr>
              <a:t>12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121786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E7B4A0-C262-4FA6-BF90-8F2942889B12}" type="slidenum">
              <a:rPr lang="en-US" altLang="id-ID" smtClean="0"/>
              <a:pPr>
                <a:spcBef>
                  <a:spcPct val="0"/>
                </a:spcBef>
              </a:pPr>
              <a:t>13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2979334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32B062-8DA3-477E-84BF-AFBC87E43552}" type="slidenum">
              <a:rPr lang="en-US" altLang="id-ID" smtClean="0"/>
              <a:pPr>
                <a:spcBef>
                  <a:spcPct val="0"/>
                </a:spcBef>
              </a:pPr>
              <a:t>14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3757016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B7C0C4-AA71-4284-918C-72D3D89B9026}" type="slidenum">
              <a:rPr lang="en-US" altLang="id-ID" smtClean="0"/>
              <a:pPr>
                <a:spcBef>
                  <a:spcPct val="0"/>
                </a:spcBef>
              </a:pPr>
              <a:t>15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2353466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11EC54-AD55-4ADA-9089-7651F1F14C8F}" type="slidenum">
              <a:rPr lang="en-US" altLang="id-ID" smtClean="0"/>
              <a:pPr>
                <a:spcBef>
                  <a:spcPct val="0"/>
                </a:spcBef>
              </a:pPr>
              <a:t>16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4053258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20C768-ED2A-4FB0-ADF0-717D50C270F8}" type="slidenum">
              <a:rPr lang="en-US" altLang="id-ID" smtClean="0"/>
              <a:pPr>
                <a:spcBef>
                  <a:spcPct val="0"/>
                </a:spcBef>
              </a:pPr>
              <a:t>17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3218032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id-ID" altLang="id-ID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79F666-CF64-4984-B65C-344FC0966AFF}" type="slidenum">
              <a:rPr lang="en-US" altLang="id-ID" smtClean="0"/>
              <a:pPr>
                <a:spcBef>
                  <a:spcPct val="0"/>
                </a:spcBef>
              </a:pPr>
              <a:t>18</a:t>
            </a:fld>
            <a:endParaRPr lang="en-US" altLang="id-ID" smtClean="0"/>
          </a:p>
        </p:txBody>
      </p:sp>
    </p:spTree>
    <p:extLst>
      <p:ext uri="{BB962C8B-B14F-4D97-AF65-F5344CB8AC3E}">
        <p14:creationId xmlns:p14="http://schemas.microsoft.com/office/powerpoint/2010/main" val="3083303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notesSlide" Target="../notesSlides/notesSlide7.xml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952184891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transistor BJT </a:t>
            </a:r>
            <a:r>
              <a:rPr lang="en-US" dirty="0" err="1"/>
              <a:t>dan</a:t>
            </a:r>
            <a:r>
              <a:rPr lang="en-US" dirty="0"/>
              <a:t> FET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Mengerti</a:t>
            </a:r>
            <a:r>
              <a:rPr lang="en-US" dirty="0" smtClean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tinggi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/>
              <a:t>model </a:t>
            </a:r>
            <a:r>
              <a:rPr lang="en-US" dirty="0" err="1"/>
              <a:t>penguat</a:t>
            </a:r>
            <a:r>
              <a:rPr lang="en-US" dirty="0"/>
              <a:t> di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tinggi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 smtClean="0"/>
              <a:t>tinggi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 </a:t>
            </a:r>
            <a:r>
              <a:rPr lang="en-US" dirty="0" err="1"/>
              <a:t>penguat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yang </a:t>
            </a:r>
            <a:r>
              <a:rPr lang="en-US" dirty="0" err="1"/>
              <a:t>diiinginkan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Respon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</a:t>
            </a:r>
            <a:r>
              <a:rPr lang="en-US" dirty="0" smtClean="0"/>
              <a:t>::&gt;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 smtClean="0"/>
              <a:t>representasi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input </a:t>
            </a:r>
            <a:r>
              <a:rPr lang="en-US" dirty="0" smtClean="0"/>
              <a:t>sinusoidal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/>
              <a:t>frekuensi</a:t>
            </a:r>
            <a:r>
              <a:rPr lang="en-US" dirty="0"/>
              <a:t> yang </a:t>
            </a:r>
            <a:r>
              <a:rPr lang="en-US" dirty="0" err="1" smtClean="0"/>
              <a:t>bervariasi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alih</a:t>
            </a:r>
            <a:r>
              <a:rPr lang="en-US" dirty="0"/>
              <a:t> </a:t>
            </a:r>
            <a:r>
              <a:rPr lang="en-US" dirty="0" err="1"/>
              <a:t>sinusoida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 descr="http://1.bp.blogspot.com/-w_onitZ1AUI/U0Jum-X4EPI/AAAAAAAAACs/y_5oqrow74g/s1600/Proses+respon+frekuens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191001"/>
            <a:ext cx="4739292" cy="183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51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Karakteristik Respon Frekuensi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01" y="1295400"/>
            <a:ext cx="8767371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716110" y="3820733"/>
            <a:ext cx="175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Kapasitor</a:t>
            </a:r>
          </a:p>
          <a:p>
            <a:r>
              <a:rPr lang="id-ID" sz="2800" dirty="0"/>
              <a:t>eksternal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839200" y="3810001"/>
            <a:ext cx="175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dirty="0"/>
              <a:t>Kapasitor</a:t>
            </a:r>
          </a:p>
          <a:p>
            <a:r>
              <a:rPr lang="id-ID" sz="2800" dirty="0"/>
              <a:t>internal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220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Respon</a:t>
            </a:r>
            <a:r>
              <a:rPr lang="en-US" dirty="0" smtClean="0"/>
              <a:t> </a:t>
            </a:r>
            <a:r>
              <a:rPr lang="en-US" dirty="0" err="1" smtClean="0"/>
              <a:t>Frekuensi</a:t>
            </a:r>
            <a:r>
              <a:rPr lang="en-US" dirty="0" smtClean="0"/>
              <a:t> Tinggi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id-ID" dirty="0" smtClean="0"/>
              <a:t>Transistor </a:t>
            </a:r>
            <a:r>
              <a:rPr lang="en-US" altLang="id-ID" dirty="0" err="1"/>
              <a:t>memiliki</a:t>
            </a:r>
            <a:r>
              <a:rPr lang="en-US" altLang="id-ID" dirty="0"/>
              <a:t> </a:t>
            </a:r>
            <a:r>
              <a:rPr lang="en-US" altLang="id-ID" dirty="0" err="1"/>
              <a:t>kapasitansi</a:t>
            </a:r>
            <a:r>
              <a:rPr lang="en-US" altLang="id-ID" dirty="0"/>
              <a:t> internal </a:t>
            </a:r>
            <a:r>
              <a:rPr lang="en-US" altLang="id-ID" dirty="0" err="1"/>
              <a:t>karena</a:t>
            </a:r>
            <a:r>
              <a:rPr lang="en-US" altLang="id-ID" dirty="0"/>
              <a:t> </a:t>
            </a:r>
            <a:r>
              <a:rPr lang="en-US" altLang="id-ID" dirty="0" err="1"/>
              <a:t>struktur</a:t>
            </a:r>
            <a:r>
              <a:rPr lang="en-US" altLang="id-ID" dirty="0"/>
              <a:t> </a:t>
            </a:r>
            <a:r>
              <a:rPr lang="en-US" altLang="id-ID" dirty="0" err="1"/>
              <a:t>fisiknya</a:t>
            </a:r>
            <a:endParaRPr lang="en-US" altLang="id-ID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id-ID" dirty="0" err="1"/>
              <a:t>Nilai</a:t>
            </a:r>
            <a:r>
              <a:rPr lang="en-US" altLang="id-ID" dirty="0"/>
              <a:t> </a:t>
            </a:r>
            <a:r>
              <a:rPr lang="en-US" altLang="id-ID" dirty="0" err="1"/>
              <a:t>kapasitansi</a:t>
            </a:r>
            <a:r>
              <a:rPr lang="en-US" altLang="id-ID" dirty="0"/>
              <a:t> </a:t>
            </a:r>
            <a:r>
              <a:rPr lang="en-US" altLang="id-ID" dirty="0" err="1"/>
              <a:t>ini</a:t>
            </a:r>
            <a:r>
              <a:rPr lang="en-US" altLang="id-ID" dirty="0"/>
              <a:t> </a:t>
            </a:r>
            <a:r>
              <a:rPr lang="en-US" altLang="id-ID" dirty="0" err="1"/>
              <a:t>sangat</a:t>
            </a:r>
            <a:r>
              <a:rPr lang="en-US" altLang="id-ID" dirty="0"/>
              <a:t> </a:t>
            </a:r>
            <a:r>
              <a:rPr lang="en-US" altLang="id-ID" dirty="0" err="1"/>
              <a:t>kecil</a:t>
            </a:r>
            <a:r>
              <a:rPr lang="en-US" altLang="id-ID" dirty="0"/>
              <a:t> (</a:t>
            </a:r>
            <a:r>
              <a:rPr lang="en-US" altLang="id-ID" dirty="0" err="1"/>
              <a:t>dalam</a:t>
            </a:r>
            <a:r>
              <a:rPr lang="en-US" altLang="id-ID" dirty="0"/>
              <a:t> pF) </a:t>
            </a:r>
            <a:r>
              <a:rPr lang="en-US" altLang="id-ID" dirty="0" err="1"/>
              <a:t>sehingga</a:t>
            </a:r>
            <a:r>
              <a:rPr lang="en-US" altLang="id-ID" dirty="0"/>
              <a:t> </a:t>
            </a:r>
            <a:r>
              <a:rPr lang="en-US" altLang="id-ID" dirty="0" err="1"/>
              <a:t>kecenderungannya</a:t>
            </a:r>
            <a:r>
              <a:rPr lang="en-US" altLang="id-ID" dirty="0"/>
              <a:t> </a:t>
            </a:r>
            <a:r>
              <a:rPr lang="en-US" altLang="id-ID" dirty="0" err="1"/>
              <a:t>nilai</a:t>
            </a:r>
            <a:r>
              <a:rPr lang="en-US" altLang="id-ID" dirty="0"/>
              <a:t> </a:t>
            </a:r>
            <a:r>
              <a:rPr lang="en-US" altLang="id-ID" dirty="0" err="1"/>
              <a:t>impedansinya</a:t>
            </a:r>
            <a:r>
              <a:rPr lang="en-US" altLang="id-ID" dirty="0"/>
              <a:t> </a:t>
            </a:r>
            <a:r>
              <a:rPr lang="en-US" altLang="id-ID" dirty="0" err="1"/>
              <a:t>sangat</a:t>
            </a:r>
            <a:r>
              <a:rPr lang="en-US" altLang="id-ID" dirty="0"/>
              <a:t> </a:t>
            </a:r>
            <a:r>
              <a:rPr lang="en-US" altLang="id-ID" dirty="0" err="1"/>
              <a:t>besar</a:t>
            </a:r>
            <a:r>
              <a:rPr lang="en-US" altLang="id-ID" dirty="0"/>
              <a:t> (</a:t>
            </a:r>
            <a:r>
              <a:rPr lang="en-US" altLang="id-ID" dirty="0" err="1"/>
              <a:t>rangkaian</a:t>
            </a:r>
            <a:r>
              <a:rPr lang="en-US" altLang="id-ID" dirty="0"/>
              <a:t> </a:t>
            </a:r>
            <a:r>
              <a:rPr lang="en-US" altLang="id-ID" dirty="0" err="1"/>
              <a:t>terbuka</a:t>
            </a:r>
            <a:r>
              <a:rPr lang="en-US" altLang="id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id-ID" dirty="0" err="1"/>
              <a:t>Jika</a:t>
            </a:r>
            <a:r>
              <a:rPr lang="en-US" altLang="id-ID" dirty="0"/>
              <a:t> </a:t>
            </a:r>
            <a:r>
              <a:rPr lang="en-US" altLang="id-ID" dirty="0" err="1"/>
              <a:t>impedansi</a:t>
            </a:r>
            <a:r>
              <a:rPr lang="en-US" altLang="id-ID" dirty="0"/>
              <a:t> </a:t>
            </a:r>
            <a:r>
              <a:rPr lang="en-US" altLang="id-ID" dirty="0" err="1"/>
              <a:t>ini</a:t>
            </a:r>
            <a:r>
              <a:rPr lang="en-US" altLang="id-ID" dirty="0"/>
              <a:t> </a:t>
            </a:r>
            <a:r>
              <a:rPr lang="en-US" altLang="id-ID" dirty="0" err="1"/>
              <a:t>dipengaruhi</a:t>
            </a:r>
            <a:r>
              <a:rPr lang="en-US" altLang="id-ID" dirty="0"/>
              <a:t> </a:t>
            </a:r>
            <a:r>
              <a:rPr lang="en-US" altLang="id-ID" dirty="0" err="1"/>
              <a:t>oleh</a:t>
            </a:r>
            <a:r>
              <a:rPr lang="en-US" altLang="id-ID" dirty="0"/>
              <a:t> </a:t>
            </a:r>
            <a:r>
              <a:rPr lang="en-US" altLang="id-ID" dirty="0" err="1"/>
              <a:t>frekuensi</a:t>
            </a:r>
            <a:r>
              <a:rPr lang="en-US" altLang="id-ID" dirty="0"/>
              <a:t> </a:t>
            </a:r>
            <a:r>
              <a:rPr lang="en-US" altLang="id-ID" dirty="0" err="1"/>
              <a:t>maka</a:t>
            </a:r>
            <a:r>
              <a:rPr lang="en-US" altLang="id-ID" dirty="0"/>
              <a:t> </a:t>
            </a:r>
            <a:r>
              <a:rPr lang="en-US" altLang="id-ID" dirty="0" err="1"/>
              <a:t>akan</a:t>
            </a:r>
            <a:r>
              <a:rPr lang="en-US" altLang="id-ID" dirty="0"/>
              <a:t> </a:t>
            </a:r>
            <a:r>
              <a:rPr lang="en-US" altLang="id-ID" dirty="0" err="1"/>
              <a:t>berpengaruh</a:t>
            </a:r>
            <a:r>
              <a:rPr lang="en-US" altLang="id-ID" dirty="0"/>
              <a:t> juga </a:t>
            </a:r>
            <a:r>
              <a:rPr lang="en-US" altLang="id-ID" dirty="0" err="1"/>
              <a:t>pada</a:t>
            </a:r>
            <a:r>
              <a:rPr lang="en-US" altLang="id-ID" dirty="0"/>
              <a:t> </a:t>
            </a:r>
            <a:r>
              <a:rPr lang="en-US" altLang="id-ID" dirty="0" err="1"/>
              <a:t>penguatan</a:t>
            </a:r>
            <a:r>
              <a:rPr lang="en-US" altLang="id-ID" dirty="0"/>
              <a:t> </a:t>
            </a:r>
            <a:r>
              <a:rPr lang="en-US" altLang="id-ID" dirty="0" smtClean="0"/>
              <a:t>transistor</a:t>
            </a:r>
            <a:endParaRPr lang="en-US" altLang="id-ID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id-ID" dirty="0"/>
              <a:t>Internal </a:t>
            </a:r>
            <a:r>
              <a:rPr lang="en-US" altLang="id-ID" dirty="0" err="1"/>
              <a:t>kapasitansi</a:t>
            </a:r>
            <a:r>
              <a:rPr lang="en-US" altLang="id-ID" dirty="0"/>
              <a:t> </a:t>
            </a:r>
            <a:r>
              <a:rPr lang="en-US" altLang="id-ID" dirty="0" err="1"/>
              <a:t>hanya</a:t>
            </a:r>
            <a:r>
              <a:rPr lang="en-US" altLang="id-ID" dirty="0"/>
              <a:t> </a:t>
            </a:r>
            <a:r>
              <a:rPr lang="en-US" altLang="id-ID" dirty="0" err="1"/>
              <a:t>berlaku</a:t>
            </a:r>
            <a:r>
              <a:rPr lang="en-US" altLang="id-ID" dirty="0"/>
              <a:t> </a:t>
            </a:r>
            <a:r>
              <a:rPr lang="en-US" altLang="id-ID" dirty="0" err="1"/>
              <a:t>jika</a:t>
            </a:r>
            <a:r>
              <a:rPr lang="en-US" altLang="id-ID" dirty="0"/>
              <a:t> </a:t>
            </a:r>
            <a:r>
              <a:rPr lang="en-US" altLang="id-ID" dirty="0" err="1"/>
              <a:t>diberikan</a:t>
            </a:r>
            <a:r>
              <a:rPr lang="en-US" altLang="id-ID" dirty="0"/>
              <a:t> </a:t>
            </a:r>
            <a:r>
              <a:rPr lang="en-US" altLang="id-ID" dirty="0" err="1"/>
              <a:t>frekuensi</a:t>
            </a:r>
            <a:r>
              <a:rPr lang="en-US" altLang="id-ID" dirty="0"/>
              <a:t> </a:t>
            </a:r>
            <a:r>
              <a:rPr lang="en-US" altLang="id-ID" dirty="0" err="1"/>
              <a:t>tinggi</a:t>
            </a:r>
            <a:r>
              <a:rPr lang="en-US" altLang="id-ID" dirty="0"/>
              <a:t>, </a:t>
            </a:r>
            <a:r>
              <a:rPr lang="en-US" altLang="id-ID" dirty="0" err="1"/>
              <a:t>karena</a:t>
            </a:r>
            <a:r>
              <a:rPr lang="en-US" altLang="id-ID" dirty="0"/>
              <a:t> </a:t>
            </a:r>
            <a:r>
              <a:rPr lang="en-US" altLang="id-ID" dirty="0" err="1"/>
              <a:t>impedansi</a:t>
            </a:r>
            <a:r>
              <a:rPr lang="en-US" altLang="id-ID" dirty="0"/>
              <a:t> </a:t>
            </a:r>
            <a:r>
              <a:rPr lang="en-US" altLang="id-ID" dirty="0" err="1"/>
              <a:t>menjadi</a:t>
            </a:r>
            <a:r>
              <a:rPr lang="en-US" altLang="id-ID" dirty="0"/>
              <a:t> </a:t>
            </a:r>
            <a:r>
              <a:rPr lang="en-US" altLang="id-ID" dirty="0" err="1"/>
              <a:t>turun</a:t>
            </a:r>
            <a:endParaRPr lang="en-US" altLang="id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5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z="3800"/>
              <a:t>Model FET pada Frekuensi Tinggi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362201"/>
            <a:ext cx="4050758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9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Penguat CS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altLang="id-ID" dirty="0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447801"/>
            <a:ext cx="6477000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452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Respon Frekuensi Tinggi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76400"/>
            <a:ext cx="8153400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891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1"/>
            <a:ext cx="9144000" cy="335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11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Dalil Miller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524001" y="2268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id-ID" sz="1800">
              <a:latin typeface="Arial" panose="020B0604020202020204" pitchFamily="34" charset="0"/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>
            <p:extLst/>
          </p:nvPr>
        </p:nvGraphicFramePr>
        <p:xfrm>
          <a:off x="5410200" y="76200"/>
          <a:ext cx="1828800" cy="2060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Visio" r:id="rId4" imgW="1737741" imgH="1955292" progId="Visio.Drawing.11">
                  <p:embed/>
                </p:oleObj>
              </mc:Choice>
              <mc:Fallback>
                <p:oleObj name="Visio" r:id="rId4" imgW="1737741" imgH="1955292" progId="Visio.Drawing.11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76200"/>
                        <a:ext cx="1828800" cy="2060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75" y="4139248"/>
            <a:ext cx="6524625" cy="177097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1224" y="2358707"/>
            <a:ext cx="6505575" cy="16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2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5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2151064" y="3335339"/>
          <a:ext cx="7050087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4" imgW="4064000" imgH="1663700" progId="Equation.3">
                  <p:embed/>
                </p:oleObj>
              </mc:Choice>
              <mc:Fallback>
                <p:oleObj name="Equation" r:id="rId4" imgW="4064000" imgH="1663700" progId="Equation.3">
                  <p:embed/>
                  <p:pic>
                    <p:nvPicPr>
                      <p:cNvPr id="23555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4" y="3335339"/>
                        <a:ext cx="7050087" cy="288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2400"/>
            <a:ext cx="7848600" cy="320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1921350" y="1320772"/>
              <a:ext cx="360" cy="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09470" y="1296652"/>
                <a:ext cx="2412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585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Grp="1" noChangeArrowheads="1"/>
          </p:cNvSpPr>
          <p:nvPr>
            <p:ph type="title"/>
          </p:nvPr>
        </p:nvSpPr>
        <p:spPr>
          <a:xfrm>
            <a:off x="405493" y="250134"/>
            <a:ext cx="7886700" cy="414338"/>
          </a:xfrm>
        </p:spPr>
        <p:txBody>
          <a:bodyPr>
            <a:normAutofit fontScale="90000"/>
          </a:bodyPr>
          <a:lstStyle/>
          <a:p>
            <a:pPr eaLnBrk="1" hangingPunct="1"/>
            <a:endParaRPr lang="id-ID" altLang="id-ID" dirty="0" smtClean="0"/>
          </a:p>
        </p:txBody>
      </p:sp>
      <p:graphicFrame>
        <p:nvGraphicFramePr>
          <p:cNvPr id="25603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48585747"/>
              </p:ext>
            </p:extLst>
          </p:nvPr>
        </p:nvGraphicFramePr>
        <p:xfrm>
          <a:off x="1306284" y="881846"/>
          <a:ext cx="9805335" cy="5630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4" imgW="4025900" imgH="2311400" progId="Equation.3">
                  <p:embed/>
                </p:oleObj>
              </mc:Choice>
              <mc:Fallback>
                <p:oleObj name="Equation" r:id="rId4" imgW="4025900" imgH="2311400" progId="Equation.3">
                  <p:embed/>
                  <p:pic>
                    <p:nvPicPr>
                      <p:cNvPr id="2560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284" y="881846"/>
                        <a:ext cx="9805335" cy="56301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310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z="3800"/>
              <a:t>Model BJT pada Frekuensi Tinggi</a:t>
            </a:r>
          </a:p>
        </p:txBody>
      </p:sp>
      <p:graphicFrame>
        <p:nvGraphicFramePr>
          <p:cNvPr id="7171" name="Object 6"/>
          <p:cNvGraphicFramePr>
            <a:graphicFrameLocks noGrp="1" noChangeAspect="1"/>
          </p:cNvGraphicFramePr>
          <p:nvPr>
            <p:ph sz="half" idx="1"/>
            <p:extLst/>
          </p:nvPr>
        </p:nvGraphicFramePr>
        <p:xfrm>
          <a:off x="2209800" y="4240214"/>
          <a:ext cx="2590800" cy="208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1104900" imgH="889000" progId="Equation.3">
                  <p:embed/>
                </p:oleObj>
              </mc:Choice>
              <mc:Fallback>
                <p:oleObj name="Equation" r:id="rId4" imgW="1104900" imgH="889000" progId="Equation.3">
                  <p:embed/>
                  <p:pic>
                    <p:nvPicPr>
                      <p:cNvPr id="7171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240214"/>
                        <a:ext cx="2590800" cy="208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7600950" y="3544888"/>
          <a:ext cx="99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6" imgW="990600" imgH="914400" progId="Equation.3">
                  <p:embed/>
                </p:oleObj>
              </mc:Choice>
              <mc:Fallback>
                <p:oleObj name="Equation" r:id="rId6" imgW="990600" imgH="914400" progId="Equation.3">
                  <p:embed/>
                  <p:pic>
                    <p:nvPicPr>
                      <p:cNvPr id="7172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3544888"/>
                        <a:ext cx="990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2818"/>
            <a:ext cx="7620000" cy="2958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56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Penguat CE</a:t>
            </a:r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00201"/>
            <a:ext cx="6096000" cy="443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300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d-ID" smtClean="0"/>
              <a:t>Respon Frekuensi Tinggi</a:t>
            </a:r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9144000" cy="273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225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"/>
            <a:ext cx="9144000" cy="560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688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828800" y="2868614"/>
          <a:ext cx="7467600" cy="398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4" imgW="3708400" imgH="1981200" progId="Equation.3">
                  <p:embed/>
                </p:oleObj>
              </mc:Choice>
              <mc:Fallback>
                <p:oleObj name="Equation" r:id="rId4" imgW="3708400" imgH="1981200" progId="Equation.3">
                  <p:embed/>
                  <p:pic>
                    <p:nvPicPr>
                      <p:cNvPr id="25603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68614"/>
                        <a:ext cx="7467600" cy="398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"/>
            <a:ext cx="6172200" cy="322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69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1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1752601" y="457200"/>
          <a:ext cx="8685213" cy="477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4" imgW="4064000" imgH="2235200" progId="Equation.3">
                  <p:embed/>
                </p:oleObj>
              </mc:Choice>
              <mc:Fallback>
                <p:oleObj name="Equation" r:id="rId4" imgW="4064000" imgH="2235200" progId="Equation.3">
                  <p:embed/>
                  <p:pic>
                    <p:nvPicPr>
                      <p:cNvPr id="27651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457200"/>
                        <a:ext cx="8685213" cy="477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893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23796</TotalTime>
  <Words>231</Words>
  <Application>Microsoft Office PowerPoint</Application>
  <PresentationFormat>Widescreen</PresentationFormat>
  <Paragraphs>67</Paragraphs>
  <Slides>20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맑은 고딕</vt:lpstr>
      <vt:lpstr>Arial</vt:lpstr>
      <vt:lpstr>Calibri</vt:lpstr>
      <vt:lpstr>Calibri Light</vt:lpstr>
      <vt:lpstr>Edwardian Script ITC</vt:lpstr>
      <vt:lpstr>Times New Roman</vt:lpstr>
      <vt:lpstr>Wingdings</vt:lpstr>
      <vt:lpstr>Office Theme</vt:lpstr>
      <vt:lpstr>Visio</vt:lpstr>
      <vt:lpstr>Equation</vt:lpstr>
      <vt:lpstr>PowerPoint Presentation</vt:lpstr>
      <vt:lpstr>Respon frekuensi tinggi transistor BJT dan FET</vt:lpstr>
      <vt:lpstr> </vt:lpstr>
      <vt:lpstr>Karakteristik Respon Frekuensi</vt:lpstr>
      <vt:lpstr>Respon Frekuensi Tinggi</vt:lpstr>
      <vt:lpstr>Model FET pada Frekuensi Tinggi</vt:lpstr>
      <vt:lpstr>Penguat CS</vt:lpstr>
      <vt:lpstr>Respon Frekuensi Tinggi</vt:lpstr>
      <vt:lpstr>PowerPoint Presentation</vt:lpstr>
      <vt:lpstr>Dalil Miller</vt:lpstr>
      <vt:lpstr>PowerPoint Presentation</vt:lpstr>
      <vt:lpstr>PowerPoint Presentation</vt:lpstr>
      <vt:lpstr>Model BJT pada Frekuensi Tinggi</vt:lpstr>
      <vt:lpstr>Penguat CE</vt:lpstr>
      <vt:lpstr>Respon Frekuensi Tinggi</vt:lpstr>
      <vt:lpstr>PowerPoint Presentation</vt:lpstr>
      <vt:lpstr>PowerPoint Presentation</vt:lpstr>
      <vt:lpstr>PowerPoint Presentation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104</cp:revision>
  <dcterms:created xsi:type="dcterms:W3CDTF">2024-10-22T07:52:57Z</dcterms:created>
  <dcterms:modified xsi:type="dcterms:W3CDTF">2026-03-25T01:49:27Z</dcterms:modified>
</cp:coreProperties>
</file>