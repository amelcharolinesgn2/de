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64" r:id="rId2"/>
    <p:sldId id="279" r:id="rId3"/>
    <p:sldId id="280" r:id="rId4"/>
    <p:sldId id="306" r:id="rId5"/>
    <p:sldId id="301" r:id="rId6"/>
    <p:sldId id="305" r:id="rId7"/>
    <p:sldId id="282" r:id="rId8"/>
    <p:sldId id="299" r:id="rId9"/>
    <p:sldId id="283" r:id="rId10"/>
    <p:sldId id="284" r:id="rId11"/>
    <p:sldId id="300" r:id="rId12"/>
    <p:sldId id="285" r:id="rId13"/>
    <p:sldId id="307" r:id="rId14"/>
    <p:sldId id="308" r:id="rId15"/>
    <p:sldId id="309" r:id="rId16"/>
    <p:sldId id="290" r:id="rId17"/>
    <p:sldId id="291" r:id="rId18"/>
    <p:sldId id="292" r:id="rId19"/>
    <p:sldId id="293" r:id="rId20"/>
    <p:sldId id="294" r:id="rId21"/>
    <p:sldId id="295" r:id="rId22"/>
    <p:sldId id="296" r:id="rId23"/>
    <p:sldId id="297" r:id="rId24"/>
    <p:sldId id="298" r:id="rId25"/>
    <p:sldId id="281" r:id="rId26"/>
    <p:sldId id="310" r:id="rId27"/>
    <p:sldId id="311" r:id="rId28"/>
    <p:sldId id="331" r:id="rId29"/>
    <p:sldId id="332" r:id="rId30"/>
    <p:sldId id="333" r:id="rId31"/>
    <p:sldId id="334" r:id="rId32"/>
    <p:sldId id="335" r:id="rId33"/>
    <p:sldId id="313" r:id="rId34"/>
    <p:sldId id="314" r:id="rId35"/>
    <p:sldId id="315" r:id="rId36"/>
    <p:sldId id="316" r:id="rId37"/>
    <p:sldId id="317" r:id="rId38"/>
    <p:sldId id="318" r:id="rId39"/>
    <p:sldId id="319" r:id="rId40"/>
    <p:sldId id="320" r:id="rId41"/>
    <p:sldId id="321" r:id="rId42"/>
    <p:sldId id="322" r:id="rId43"/>
    <p:sldId id="323" r:id="rId44"/>
    <p:sldId id="324" r:id="rId45"/>
    <p:sldId id="325" r:id="rId46"/>
    <p:sldId id="326" r:id="rId47"/>
    <p:sldId id="327" r:id="rId48"/>
    <p:sldId id="328" r:id="rId49"/>
    <p:sldId id="329" r:id="rId50"/>
    <p:sldId id="330" r:id="rId51"/>
    <p:sldId id="278"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59" autoAdjust="0"/>
    <p:restoredTop sz="72042" autoAdjust="0"/>
  </p:normalViewPr>
  <p:slideViewPr>
    <p:cSldViewPr snapToGrid="0">
      <p:cViewPr varScale="1">
        <p:scale>
          <a:sx n="58" d="100"/>
          <a:sy n="58" d="100"/>
        </p:scale>
        <p:origin x="108"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11. Electronic Fundamentals</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1. </a:t>
          </a:r>
          <a:r>
            <a:rPr lang="en-US" b="1" dirty="0" err="1" smtClean="0"/>
            <a:t>Pembahasan</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2. </a:t>
          </a:r>
          <a:r>
            <a:rPr lang="en-US" b="1" dirty="0" err="1" smtClean="0"/>
            <a:t>Apllication</a:t>
          </a:r>
          <a:r>
            <a:rPr lang="en-US" b="1" dirty="0" smtClean="0"/>
            <a:t>: Switch Transistor</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2. </a:t>
          </a:r>
          <a:r>
            <a:rPr lang="en-US" b="1" dirty="0" err="1" smtClean="0"/>
            <a:t>Apllication</a:t>
          </a:r>
          <a:r>
            <a:rPr lang="en-US" b="1" dirty="0" smtClean="0"/>
            <a:t>: Transistor Driver Motor</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2. </a:t>
          </a:r>
          <a:r>
            <a:rPr lang="en-US" b="1" dirty="0" err="1" smtClean="0"/>
            <a:t>Apllication</a:t>
          </a:r>
          <a:r>
            <a:rPr lang="en-US" b="1" dirty="0" smtClean="0"/>
            <a:t> : </a:t>
          </a:r>
          <a:r>
            <a:rPr lang="en-US" b="1" dirty="0" err="1" smtClean="0"/>
            <a:t>LineFollower</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2. </a:t>
          </a:r>
          <a:r>
            <a:rPr lang="en-US" b="1" dirty="0" err="1" smtClean="0"/>
            <a:t>Apllication</a:t>
          </a:r>
          <a:r>
            <a:rPr lang="en-US" b="1" dirty="0" smtClean="0"/>
            <a:t>: Garden</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2. </a:t>
          </a:r>
          <a:r>
            <a:rPr lang="en-US" b="1" dirty="0" err="1" smtClean="0"/>
            <a:t>Apllication</a:t>
          </a:r>
          <a:r>
            <a:rPr lang="en-US" b="1" dirty="0" smtClean="0"/>
            <a:t>: EKG</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2. </a:t>
          </a:r>
          <a:r>
            <a:rPr lang="en-US" b="1" dirty="0" err="1" smtClean="0"/>
            <a:t>Apllication</a:t>
          </a:r>
          <a:r>
            <a:rPr lang="en-US" b="1" dirty="0" smtClean="0"/>
            <a:t> : </a:t>
          </a:r>
          <a:r>
            <a:rPr lang="en-US" b="1" dirty="0" err="1" smtClean="0"/>
            <a:t>Osilator</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2. </a:t>
          </a:r>
          <a:r>
            <a:rPr lang="en-US" b="1" dirty="0" err="1" smtClean="0"/>
            <a:t>Apllication</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2. </a:t>
          </a:r>
          <a:r>
            <a:rPr lang="en-US" b="1" dirty="0" err="1" smtClean="0"/>
            <a:t>Apllication</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2. </a:t>
          </a:r>
          <a:r>
            <a:rPr lang="en-US" b="1" dirty="0" err="1" smtClean="0"/>
            <a:t>Apllication</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2. </a:t>
          </a:r>
          <a:r>
            <a:rPr lang="en-US" b="1" dirty="0" err="1" smtClean="0"/>
            <a:t>Apllication</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2. </a:t>
          </a:r>
          <a:r>
            <a:rPr lang="en-US" b="1" dirty="0" err="1" smtClean="0"/>
            <a:t>Apllication</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2. </a:t>
          </a:r>
          <a:r>
            <a:rPr lang="en-US" b="1" dirty="0" err="1" smtClean="0"/>
            <a:t>Apllication</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2. </a:t>
          </a:r>
          <a:r>
            <a:rPr lang="en-US" b="1" dirty="0" err="1" smtClean="0"/>
            <a:t>Apllication</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2. </a:t>
          </a:r>
          <a:r>
            <a:rPr lang="en-US" b="1" dirty="0" err="1" smtClean="0"/>
            <a:t>Apllication</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2. </a:t>
          </a:r>
          <a:r>
            <a:rPr lang="en-US" b="1" dirty="0" err="1" smtClean="0"/>
            <a:t>Apllication</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2. </a:t>
          </a:r>
          <a:r>
            <a:rPr lang="en-US" b="1" dirty="0" err="1" smtClean="0"/>
            <a:t>Apllication</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2. </a:t>
          </a:r>
          <a:r>
            <a:rPr lang="en-US" b="1" dirty="0" err="1" smtClean="0"/>
            <a:t>Apllication</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2. </a:t>
          </a:r>
          <a:r>
            <a:rPr lang="en-US" b="1" dirty="0" err="1" smtClean="0"/>
            <a:t>Apllication</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simple5" qsCatId="simple" csTypeId="urn:microsoft.com/office/officeart/2005/8/colors/accent2_2" csCatId="accent2" phldr="1"/>
      <dgm:spPr/>
      <dgm:t>
        <a:bodyPr/>
        <a:lstStyle/>
        <a:p>
          <a:endParaRPr lang="en-US"/>
        </a:p>
      </dgm:t>
    </dgm:pt>
    <dgm:pt modelId="{D8FDBA16-E463-462A-B396-7080D4852B10}">
      <dgm:prSet/>
      <dgm:spPr/>
      <dgm:t>
        <a:bodyPr/>
        <a:lstStyle/>
        <a:p>
          <a:pPr rtl="0"/>
          <a:r>
            <a:rPr lang="en-US" b="1" dirty="0" smtClean="0"/>
            <a:t>See the next</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smtClean="0"/>
            <a:t>11. Electronic Fundamentals</a:t>
          </a:r>
          <a:endParaRPr lang="en-US" sz="4200" kern="1200" dirty="0"/>
        </a:p>
      </dsp:txBody>
      <dsp:txXfrm>
        <a:off x="457199" y="0"/>
        <a:ext cx="8255379" cy="9143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smtClean="0"/>
            <a:t>1. </a:t>
          </a:r>
          <a:r>
            <a:rPr lang="en-US" sz="4200" b="1" kern="1200" dirty="0" err="1" smtClean="0"/>
            <a:t>Pembahasan</a:t>
          </a:r>
          <a:endParaRPr lang="en-US" sz="4200" kern="1200" dirty="0"/>
        </a:p>
      </dsp:txBody>
      <dsp:txXfrm>
        <a:off x="457199" y="0"/>
        <a:ext cx="8255379" cy="9143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smtClean="0"/>
            <a:t>2. </a:t>
          </a:r>
          <a:r>
            <a:rPr lang="en-US" sz="4200" b="1" kern="1200" dirty="0" err="1" smtClean="0"/>
            <a:t>Apllication</a:t>
          </a:r>
          <a:r>
            <a:rPr lang="en-US" sz="4200" b="1" kern="1200" dirty="0" smtClean="0"/>
            <a:t>: Switch Transistor</a:t>
          </a:r>
          <a:endParaRPr lang="en-US" sz="4200" kern="1200" dirty="0"/>
        </a:p>
      </dsp:txBody>
      <dsp:txXfrm>
        <a:off x="457199" y="0"/>
        <a:ext cx="8255379" cy="9143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48590" tIns="148590" rIns="148590" bIns="148590" numCol="1" spcCol="1270" anchor="ctr" anchorCtr="0">
          <a:noAutofit/>
        </a:bodyPr>
        <a:lstStyle/>
        <a:p>
          <a:pPr lvl="0" algn="l" defTabSz="1733550" rtl="0">
            <a:lnSpc>
              <a:spcPct val="90000"/>
            </a:lnSpc>
            <a:spcBef>
              <a:spcPct val="0"/>
            </a:spcBef>
            <a:spcAft>
              <a:spcPct val="35000"/>
            </a:spcAft>
          </a:pPr>
          <a:r>
            <a:rPr lang="en-US" sz="3900" b="1" kern="1200" dirty="0" smtClean="0"/>
            <a:t>2. </a:t>
          </a:r>
          <a:r>
            <a:rPr lang="en-US" sz="3900" b="1" kern="1200" dirty="0" err="1" smtClean="0"/>
            <a:t>Apllication</a:t>
          </a:r>
          <a:r>
            <a:rPr lang="en-US" sz="3900" b="1" kern="1200" dirty="0" smtClean="0"/>
            <a:t>: Transistor Driver Motor</a:t>
          </a:r>
          <a:endParaRPr lang="en-US" sz="3900" kern="1200" dirty="0"/>
        </a:p>
      </dsp:txBody>
      <dsp:txXfrm>
        <a:off x="457199" y="0"/>
        <a:ext cx="8255379" cy="91439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smtClean="0"/>
            <a:t>2. </a:t>
          </a:r>
          <a:r>
            <a:rPr lang="en-US" sz="4200" b="1" kern="1200" dirty="0" err="1" smtClean="0"/>
            <a:t>Apllication</a:t>
          </a:r>
          <a:r>
            <a:rPr lang="en-US" sz="4200" b="1" kern="1200" dirty="0" smtClean="0"/>
            <a:t> : </a:t>
          </a:r>
          <a:r>
            <a:rPr lang="en-US" sz="4200" b="1" kern="1200" dirty="0" err="1" smtClean="0"/>
            <a:t>LineFollower</a:t>
          </a:r>
          <a:endParaRPr lang="en-US" sz="4200" kern="1200" dirty="0"/>
        </a:p>
      </dsp:txBody>
      <dsp:txXfrm>
        <a:off x="457199" y="0"/>
        <a:ext cx="8255379" cy="91439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smtClean="0"/>
            <a:t>2. </a:t>
          </a:r>
          <a:r>
            <a:rPr lang="en-US" sz="4200" b="1" kern="1200" dirty="0" err="1" smtClean="0"/>
            <a:t>Apllication</a:t>
          </a:r>
          <a:r>
            <a:rPr lang="en-US" sz="4200" b="1" kern="1200" dirty="0" smtClean="0"/>
            <a:t>: Garden</a:t>
          </a:r>
          <a:endParaRPr lang="en-US" sz="4200" kern="1200" dirty="0"/>
        </a:p>
      </dsp:txBody>
      <dsp:txXfrm>
        <a:off x="457199" y="0"/>
        <a:ext cx="8255379" cy="91439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smtClean="0"/>
            <a:t>2. </a:t>
          </a:r>
          <a:r>
            <a:rPr lang="en-US" sz="4200" b="1" kern="1200" dirty="0" err="1" smtClean="0"/>
            <a:t>Apllication</a:t>
          </a:r>
          <a:r>
            <a:rPr lang="en-US" sz="4200" b="1" kern="1200" dirty="0" smtClean="0"/>
            <a:t>: EKG</a:t>
          </a:r>
          <a:endParaRPr lang="en-US" sz="4200" kern="1200" dirty="0"/>
        </a:p>
      </dsp:txBody>
      <dsp:txXfrm>
        <a:off x="457199" y="0"/>
        <a:ext cx="8255379" cy="91439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smtClean="0"/>
            <a:t>2. </a:t>
          </a:r>
          <a:r>
            <a:rPr lang="en-US" sz="4200" b="1" kern="1200" dirty="0" err="1" smtClean="0"/>
            <a:t>Apllication</a:t>
          </a:r>
          <a:r>
            <a:rPr lang="en-US" sz="4200" b="1" kern="1200" dirty="0" smtClean="0"/>
            <a:t> : </a:t>
          </a:r>
          <a:r>
            <a:rPr lang="en-US" sz="4200" b="1" kern="1200" dirty="0" err="1" smtClean="0"/>
            <a:t>Osilator</a:t>
          </a:r>
          <a:endParaRPr lang="en-US" sz="4200" kern="1200" dirty="0"/>
        </a:p>
      </dsp:txBody>
      <dsp:txXfrm>
        <a:off x="457199" y="0"/>
        <a:ext cx="8255379" cy="91439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smtClean="0"/>
            <a:t>2. </a:t>
          </a:r>
          <a:r>
            <a:rPr lang="en-US" sz="4200" b="1" kern="1200" dirty="0" err="1" smtClean="0"/>
            <a:t>Apllication</a:t>
          </a:r>
          <a:endParaRPr lang="en-US" sz="4200" kern="1200" dirty="0"/>
        </a:p>
      </dsp:txBody>
      <dsp:txXfrm>
        <a:off x="457199" y="0"/>
        <a:ext cx="8255379" cy="91439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smtClean="0"/>
            <a:t>2. </a:t>
          </a:r>
          <a:r>
            <a:rPr lang="en-US" sz="4200" b="1" kern="1200" dirty="0" err="1" smtClean="0"/>
            <a:t>Apllication</a:t>
          </a:r>
          <a:endParaRPr lang="en-US" sz="4200" kern="1200" dirty="0"/>
        </a:p>
      </dsp:txBody>
      <dsp:txXfrm>
        <a:off x="457199" y="0"/>
        <a:ext cx="8255379" cy="91439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smtClean="0"/>
            <a:t>2. </a:t>
          </a:r>
          <a:r>
            <a:rPr lang="en-US" sz="4200" b="1" kern="1200" dirty="0" err="1" smtClean="0"/>
            <a:t>Apllication</a:t>
          </a:r>
          <a:endParaRPr lang="en-US" sz="4200" kern="1200" dirty="0"/>
        </a:p>
      </dsp:txBody>
      <dsp:txXfrm>
        <a:off x="457199" y="0"/>
        <a:ext cx="8255379" cy="91439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smtClean="0"/>
            <a:t>2. </a:t>
          </a:r>
          <a:r>
            <a:rPr lang="en-US" sz="4200" b="1" kern="1200" dirty="0" err="1" smtClean="0"/>
            <a:t>Apllication</a:t>
          </a:r>
          <a:endParaRPr lang="en-US" sz="4200" kern="1200" dirty="0"/>
        </a:p>
      </dsp:txBody>
      <dsp:txXfrm>
        <a:off x="457199" y="0"/>
        <a:ext cx="8255379" cy="91439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smtClean="0"/>
            <a:t>2. </a:t>
          </a:r>
          <a:r>
            <a:rPr lang="en-US" sz="4200" b="1" kern="1200" dirty="0" err="1" smtClean="0"/>
            <a:t>Apllication</a:t>
          </a:r>
          <a:endParaRPr lang="en-US" sz="4200" kern="1200" dirty="0"/>
        </a:p>
      </dsp:txBody>
      <dsp:txXfrm>
        <a:off x="457199" y="0"/>
        <a:ext cx="8255379" cy="91439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smtClean="0"/>
            <a:t>2. </a:t>
          </a:r>
          <a:r>
            <a:rPr lang="en-US" sz="4200" b="1" kern="1200" dirty="0" err="1" smtClean="0"/>
            <a:t>Apllication</a:t>
          </a:r>
          <a:endParaRPr lang="en-US" sz="4200" kern="1200" dirty="0"/>
        </a:p>
      </dsp:txBody>
      <dsp:txXfrm>
        <a:off x="457199" y="0"/>
        <a:ext cx="8255379" cy="914399"/>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smtClean="0"/>
            <a:t>2. </a:t>
          </a:r>
          <a:r>
            <a:rPr lang="en-US" sz="4200" b="1" kern="1200" dirty="0" err="1" smtClean="0"/>
            <a:t>Apllication</a:t>
          </a:r>
          <a:endParaRPr lang="en-US" sz="4200" kern="1200" dirty="0"/>
        </a:p>
      </dsp:txBody>
      <dsp:txXfrm>
        <a:off x="457199" y="0"/>
        <a:ext cx="8255379" cy="91439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smtClean="0"/>
            <a:t>2. </a:t>
          </a:r>
          <a:r>
            <a:rPr lang="en-US" sz="4200" b="1" kern="1200" dirty="0" err="1" smtClean="0"/>
            <a:t>Apllication</a:t>
          </a:r>
          <a:endParaRPr lang="en-US" sz="4200" kern="1200" dirty="0"/>
        </a:p>
      </dsp:txBody>
      <dsp:txXfrm>
        <a:off x="457199" y="0"/>
        <a:ext cx="8255379" cy="91439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smtClean="0"/>
            <a:t>2. </a:t>
          </a:r>
          <a:r>
            <a:rPr lang="en-US" sz="4200" b="1" kern="1200" dirty="0" err="1" smtClean="0"/>
            <a:t>Apllication</a:t>
          </a:r>
          <a:endParaRPr lang="en-US" sz="4200" kern="1200" dirty="0"/>
        </a:p>
      </dsp:txBody>
      <dsp:txXfrm>
        <a:off x="457199" y="0"/>
        <a:ext cx="8255379" cy="91439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smtClean="0"/>
            <a:t>2. </a:t>
          </a:r>
          <a:r>
            <a:rPr lang="en-US" sz="4200" b="1" kern="1200" dirty="0" err="1" smtClean="0"/>
            <a:t>Apllication</a:t>
          </a:r>
          <a:endParaRPr lang="en-US" sz="4200" kern="1200" dirty="0"/>
        </a:p>
      </dsp:txBody>
      <dsp:txXfrm>
        <a:off x="457199" y="0"/>
        <a:ext cx="8255379" cy="91439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smtClean="0"/>
            <a:t>2. </a:t>
          </a:r>
          <a:r>
            <a:rPr lang="en-US" sz="4200" b="1" kern="1200" dirty="0" err="1" smtClean="0"/>
            <a:t>Apllication</a:t>
          </a:r>
          <a:endParaRPr lang="en-US" sz="4200" kern="1200" dirty="0"/>
        </a:p>
      </dsp:txBody>
      <dsp:txXfrm>
        <a:off x="457199" y="0"/>
        <a:ext cx="8255379" cy="91439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smtClean="0"/>
            <a:t>2. </a:t>
          </a:r>
          <a:r>
            <a:rPr lang="en-US" sz="4200" b="1" kern="1200" dirty="0" err="1" smtClean="0"/>
            <a:t>Apllication</a:t>
          </a:r>
          <a:endParaRPr lang="en-US" sz="4200" kern="1200" dirty="0"/>
        </a:p>
      </dsp:txBody>
      <dsp:txXfrm>
        <a:off x="457199" y="0"/>
        <a:ext cx="8255379" cy="914399"/>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endParaRPr lang="en-US" sz="4200" kern="1200" dirty="0"/>
        </a:p>
      </dsp:txBody>
      <dsp:txXfrm>
        <a:off x="457199" y="0"/>
        <a:ext cx="8255379" cy="914399"/>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0DAA3CF-D6D9-4A12-B5E8-9D3BDC3303B6}">
      <dsp:nvSpPr>
        <dsp:cNvPr id="0" name=""/>
        <dsp:cNvSpPr/>
      </dsp:nvSpPr>
      <dsp:spPr>
        <a:xfrm>
          <a:off x="457199" y="0"/>
          <a:ext cx="7772400"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ctr" defTabSz="1866900" rtl="0">
            <a:lnSpc>
              <a:spcPct val="90000"/>
            </a:lnSpc>
            <a:spcBef>
              <a:spcPct val="0"/>
            </a:spcBef>
            <a:spcAft>
              <a:spcPct val="35000"/>
            </a:spcAft>
          </a:pPr>
          <a:r>
            <a:rPr lang="en-US" sz="4200" b="1" kern="1200" dirty="0" smtClean="0"/>
            <a:t>See the next</a:t>
          </a:r>
          <a:endParaRPr lang="en-US" sz="4200" kern="1200" dirty="0"/>
        </a:p>
      </dsp:txBody>
      <dsp:txXfrm>
        <a:off x="457199" y="0"/>
        <a:ext cx="7772400" cy="914399"/>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4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 Id="rId4" Type="http://schemas.openxmlformats.org/officeDocument/2006/relationships/image" Target="../media/image6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69.wmf"/><Relationship Id="rId1" Type="http://schemas.openxmlformats.org/officeDocument/2006/relationships/image" Target="../media/image6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5D0C7D-798A-44DC-AC41-FEC01C38F0EB}" type="datetimeFigureOut">
              <a:rPr lang="en-US" smtClean="0"/>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1A1DE6-A801-4746-9FC0-8352D20A3103}" type="slidenum">
              <a:rPr lang="en-US" smtClean="0"/>
              <a:t>‹#›</a:t>
            </a:fld>
            <a:endParaRPr lang="en-US"/>
          </a:p>
        </p:txBody>
      </p:sp>
    </p:spTree>
    <p:extLst>
      <p:ext uri="{BB962C8B-B14F-4D97-AF65-F5344CB8AC3E}">
        <p14:creationId xmlns:p14="http://schemas.microsoft.com/office/powerpoint/2010/main" val="2859593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esclabs.in/diy-line-follower-robot-using-op-amp/"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http://www.sophphx.caltech.edu/Physics_5/Experiment_6.pdf</a:t>
            </a:r>
          </a:p>
          <a:p>
            <a:endParaRPr lang="en-US" dirty="0" smtClean="0"/>
          </a:p>
          <a:p>
            <a:r>
              <a:rPr lang="en-US" dirty="0" smtClean="0"/>
              <a:t>https://ocw.mit.edu/ans7870/RES/RES.6-010/MITRES_6-010S13_comchaptrs.pdf</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884784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smtClean="0">
                <a:solidFill>
                  <a:schemeClr val="tx1"/>
                </a:solidFill>
                <a:effectLst/>
                <a:latin typeface="+mn-lt"/>
                <a:ea typeface="+mn-ea"/>
                <a:cs typeface="+mn-cs"/>
              </a:rPr>
              <a:t>Sedra</a:t>
            </a:r>
            <a:r>
              <a:rPr lang="en-US" sz="1200" b="0" i="0" kern="1200" dirty="0" smtClean="0">
                <a:solidFill>
                  <a:schemeClr val="tx1"/>
                </a:solidFill>
                <a:effectLst/>
                <a:latin typeface="+mn-lt"/>
                <a:ea typeface="+mn-ea"/>
                <a:cs typeface="+mn-cs"/>
              </a:rPr>
              <a:t> A.S, Smith K.C, : </a:t>
            </a:r>
            <a:r>
              <a:rPr lang="en-US" sz="1200" b="0" i="1" kern="1200" dirty="0" smtClean="0">
                <a:solidFill>
                  <a:schemeClr val="tx1"/>
                </a:solidFill>
                <a:effectLst/>
                <a:latin typeface="+mn-lt"/>
                <a:ea typeface="+mn-ea"/>
                <a:cs typeface="+mn-cs"/>
              </a:rPr>
              <a:t>Microelectronic Circuits</a:t>
            </a:r>
            <a:r>
              <a:rPr lang="en-US" sz="1200" b="0" i="0" kern="1200" dirty="0" smtClean="0">
                <a:solidFill>
                  <a:schemeClr val="tx1"/>
                </a:solidFill>
                <a:effectLst/>
                <a:latin typeface="+mn-lt"/>
                <a:ea typeface="+mn-ea"/>
                <a:cs typeface="+mn-cs"/>
              </a:rPr>
              <a:t>, Oxford University Press, 2004</a:t>
            </a:r>
          </a:p>
          <a:p>
            <a:r>
              <a:rPr lang="en-US" sz="1200" b="0" i="0" kern="1200" dirty="0" err="1" smtClean="0">
                <a:solidFill>
                  <a:schemeClr val="tx1"/>
                </a:solidFill>
                <a:effectLst/>
                <a:latin typeface="+mn-lt"/>
                <a:ea typeface="+mn-ea"/>
                <a:cs typeface="+mn-cs"/>
              </a:rPr>
              <a:t>Millman</a:t>
            </a:r>
            <a:r>
              <a:rPr lang="en-US" sz="1200" b="0" i="0" kern="1200" dirty="0" smtClean="0">
                <a:solidFill>
                  <a:schemeClr val="tx1"/>
                </a:solidFill>
                <a:effectLst/>
                <a:latin typeface="+mn-lt"/>
                <a:ea typeface="+mn-ea"/>
                <a:cs typeface="+mn-cs"/>
              </a:rPr>
              <a:t>, J., </a:t>
            </a:r>
            <a:r>
              <a:rPr lang="en-US" sz="1200" b="0" i="0" kern="1200" dirty="0" err="1" smtClean="0">
                <a:solidFill>
                  <a:schemeClr val="tx1"/>
                </a:solidFill>
                <a:effectLst/>
                <a:latin typeface="+mn-lt"/>
                <a:ea typeface="+mn-ea"/>
                <a:cs typeface="+mn-cs"/>
              </a:rPr>
              <a:t>Grabel</a:t>
            </a:r>
            <a:r>
              <a:rPr lang="en-US" sz="1200" b="0" i="0" kern="1200" dirty="0" smtClean="0">
                <a:solidFill>
                  <a:schemeClr val="tx1"/>
                </a:solidFill>
                <a:effectLst/>
                <a:latin typeface="+mn-lt"/>
                <a:ea typeface="+mn-ea"/>
                <a:cs typeface="+mn-cs"/>
              </a:rPr>
              <a:t>, A. : </a:t>
            </a:r>
            <a:r>
              <a:rPr lang="en-US" sz="1200" b="0" i="1" kern="1200" dirty="0" smtClean="0">
                <a:solidFill>
                  <a:schemeClr val="tx1"/>
                </a:solidFill>
                <a:effectLst/>
                <a:latin typeface="+mn-lt"/>
                <a:ea typeface="+mn-ea"/>
                <a:cs typeface="+mn-cs"/>
              </a:rPr>
              <a:t>Microelectronics</a:t>
            </a:r>
            <a:r>
              <a:rPr lang="en-US" sz="1200" b="0" i="0" kern="1200" dirty="0" smtClean="0">
                <a:solidFill>
                  <a:schemeClr val="tx1"/>
                </a:solidFill>
                <a:effectLst/>
                <a:latin typeface="+mn-lt"/>
                <a:ea typeface="+mn-ea"/>
                <a:cs typeface="+mn-cs"/>
              </a:rPr>
              <a:t>, Mc </a:t>
            </a:r>
            <a:r>
              <a:rPr lang="en-US" sz="1200" b="0" i="0" kern="1200" dirty="0" err="1" smtClean="0">
                <a:solidFill>
                  <a:schemeClr val="tx1"/>
                </a:solidFill>
                <a:effectLst/>
                <a:latin typeface="+mn-lt"/>
                <a:ea typeface="+mn-ea"/>
                <a:cs typeface="+mn-cs"/>
              </a:rPr>
              <a:t>Graw</a:t>
            </a:r>
            <a:r>
              <a:rPr lang="en-US" sz="1200" b="0" i="0" kern="1200" dirty="0" smtClean="0">
                <a:solidFill>
                  <a:schemeClr val="tx1"/>
                </a:solidFill>
                <a:effectLst/>
                <a:latin typeface="+mn-lt"/>
                <a:ea typeface="+mn-ea"/>
                <a:cs typeface="+mn-cs"/>
              </a:rPr>
              <a:t> Hill</a:t>
            </a:r>
          </a:p>
          <a:p>
            <a:r>
              <a:rPr lang="en-US" sz="1200" b="0" i="0" kern="1200" dirty="0" smtClean="0">
                <a:solidFill>
                  <a:schemeClr val="tx1"/>
                </a:solidFill>
                <a:effectLst/>
                <a:latin typeface="+mn-lt"/>
                <a:ea typeface="+mn-ea"/>
                <a:cs typeface="+mn-cs"/>
              </a:rPr>
              <a:t>Robert </a:t>
            </a:r>
            <a:r>
              <a:rPr lang="en-US" sz="1200" b="0" i="0" kern="1200" dirty="0" err="1" smtClean="0">
                <a:solidFill>
                  <a:schemeClr val="tx1"/>
                </a:solidFill>
                <a:effectLst/>
                <a:latin typeface="+mn-lt"/>
                <a:ea typeface="+mn-ea"/>
                <a:cs typeface="+mn-cs"/>
              </a:rPr>
              <a:t>Boylestad</a:t>
            </a:r>
            <a:r>
              <a:rPr lang="en-US" sz="1200" b="0" i="0" kern="1200" dirty="0" smtClean="0">
                <a:solidFill>
                  <a:schemeClr val="tx1"/>
                </a:solidFill>
                <a:effectLst/>
                <a:latin typeface="+mn-lt"/>
                <a:ea typeface="+mn-ea"/>
                <a:cs typeface="+mn-cs"/>
              </a:rPr>
              <a:t>, Louis </a:t>
            </a:r>
            <a:r>
              <a:rPr lang="en-US" sz="1200" b="0" i="0" kern="1200" dirty="0" err="1" smtClean="0">
                <a:solidFill>
                  <a:schemeClr val="tx1"/>
                </a:solidFill>
                <a:effectLst/>
                <a:latin typeface="+mn-lt"/>
                <a:ea typeface="+mn-ea"/>
                <a:cs typeface="+mn-cs"/>
              </a:rPr>
              <a:t>Nashelsky</a:t>
            </a:r>
            <a:r>
              <a:rPr lang="en-US" sz="1200" b="0" i="0" kern="1200" dirty="0" smtClean="0">
                <a:solidFill>
                  <a:schemeClr val="tx1"/>
                </a:solidFill>
                <a:effectLst/>
                <a:latin typeface="+mn-lt"/>
                <a:ea typeface="+mn-ea"/>
                <a:cs typeface="+mn-cs"/>
              </a:rPr>
              <a:t> : </a:t>
            </a:r>
            <a:r>
              <a:rPr lang="en-US" sz="1200" b="0" i="1" kern="1200" dirty="0" smtClean="0">
                <a:solidFill>
                  <a:schemeClr val="tx1"/>
                </a:solidFill>
                <a:effectLst/>
                <a:latin typeface="+mn-lt"/>
                <a:ea typeface="+mn-ea"/>
                <a:cs typeface="+mn-cs"/>
              </a:rPr>
              <a:t>Electronic Devices and Circuit Theory</a:t>
            </a:r>
            <a:r>
              <a:rPr lang="en-US" sz="1200" b="0" i="0" kern="1200" dirty="0" smtClean="0">
                <a:solidFill>
                  <a:schemeClr val="tx1"/>
                </a:solidFill>
                <a:effectLst/>
                <a:latin typeface="+mn-lt"/>
                <a:ea typeface="+mn-ea"/>
                <a:cs typeface="+mn-cs"/>
              </a:rPr>
              <a:t>, Prentice Hall</a:t>
            </a:r>
          </a:p>
          <a:p>
            <a:r>
              <a:rPr lang="en-US" sz="1200" b="0" i="0" kern="1200" dirty="0" smtClean="0">
                <a:solidFill>
                  <a:schemeClr val="tx1"/>
                </a:solidFill>
                <a:effectLst/>
                <a:latin typeface="+mn-lt"/>
                <a:ea typeface="+mn-ea"/>
                <a:cs typeface="+mn-cs"/>
              </a:rPr>
              <a:t>Richard C. Jaeger, Travis N. Blalock : </a:t>
            </a:r>
            <a:r>
              <a:rPr lang="en-US" sz="1200" b="0" i="1" kern="1200" dirty="0" smtClean="0">
                <a:solidFill>
                  <a:schemeClr val="tx1"/>
                </a:solidFill>
                <a:effectLst/>
                <a:latin typeface="+mn-lt"/>
                <a:ea typeface="+mn-ea"/>
                <a:cs typeface="+mn-cs"/>
              </a:rPr>
              <a:t>Microelectronic Circuit Design</a:t>
            </a:r>
            <a:r>
              <a:rPr lang="en-US" sz="1200" b="0" i="0" kern="1200" dirty="0" smtClean="0">
                <a:solidFill>
                  <a:schemeClr val="tx1"/>
                </a:solidFill>
                <a:effectLst/>
                <a:latin typeface="+mn-lt"/>
                <a:ea typeface="+mn-ea"/>
                <a:cs typeface="+mn-cs"/>
              </a:rPr>
              <a:t>, McGraw-Hill</a:t>
            </a:r>
          </a:p>
          <a:p>
            <a:r>
              <a:rPr lang="en-US" sz="1200" b="0" i="0" kern="1200" dirty="0" err="1" smtClean="0">
                <a:solidFill>
                  <a:schemeClr val="tx1"/>
                </a:solidFill>
                <a:effectLst/>
                <a:latin typeface="+mn-lt"/>
                <a:ea typeface="+mn-ea"/>
                <a:cs typeface="+mn-cs"/>
              </a:rPr>
              <a:t>Neamen</a:t>
            </a:r>
            <a:r>
              <a:rPr lang="en-US" sz="1200" b="0" i="0" kern="1200" dirty="0" smtClean="0">
                <a:solidFill>
                  <a:schemeClr val="tx1"/>
                </a:solidFill>
                <a:effectLst/>
                <a:latin typeface="+mn-lt"/>
                <a:ea typeface="+mn-ea"/>
                <a:cs typeface="+mn-cs"/>
              </a:rPr>
              <a:t> D.A : </a:t>
            </a:r>
            <a:r>
              <a:rPr lang="en-US" sz="1200" b="0" i="1" kern="1200" dirty="0" smtClean="0">
                <a:solidFill>
                  <a:schemeClr val="tx1"/>
                </a:solidFill>
                <a:effectLst/>
                <a:latin typeface="+mn-lt"/>
                <a:ea typeface="+mn-ea"/>
                <a:cs typeface="+mn-cs"/>
              </a:rPr>
              <a:t>Microelectronics Circuit Analysis and Design</a:t>
            </a:r>
            <a:r>
              <a:rPr lang="en-US" sz="1200" b="0" i="0" kern="1200" dirty="0" smtClean="0">
                <a:solidFill>
                  <a:schemeClr val="tx1"/>
                </a:solidFill>
                <a:effectLst/>
                <a:latin typeface="+mn-lt"/>
                <a:ea typeface="+mn-ea"/>
                <a:cs typeface="+mn-cs"/>
              </a:rPr>
              <a:t>, Mc-</a:t>
            </a:r>
            <a:r>
              <a:rPr lang="en-US" sz="1200" b="0" i="0" kern="1200" dirty="0" err="1" smtClean="0">
                <a:solidFill>
                  <a:schemeClr val="tx1"/>
                </a:solidFill>
                <a:effectLst/>
                <a:latin typeface="+mn-lt"/>
                <a:ea typeface="+mn-ea"/>
                <a:cs typeface="+mn-cs"/>
              </a:rPr>
              <a:t>Graw</a:t>
            </a:r>
            <a:r>
              <a:rPr lang="en-US" sz="1200" b="0" i="0" kern="1200" dirty="0" smtClean="0">
                <a:solidFill>
                  <a:schemeClr val="tx1"/>
                </a:solidFill>
                <a:effectLst/>
                <a:latin typeface="+mn-lt"/>
                <a:ea typeface="+mn-ea"/>
                <a:cs typeface="+mn-cs"/>
              </a:rPr>
              <a:t> Hill, 2010</a:t>
            </a:r>
          </a:p>
          <a:p>
            <a:r>
              <a:rPr lang="en-US" sz="1200" b="0" i="0" kern="1200" dirty="0" err="1" smtClean="0">
                <a:solidFill>
                  <a:schemeClr val="tx1"/>
                </a:solidFill>
                <a:effectLst/>
                <a:latin typeface="+mn-lt"/>
                <a:ea typeface="+mn-ea"/>
                <a:cs typeface="+mn-cs"/>
              </a:rPr>
              <a:t>Behzad</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Razavi</a:t>
            </a:r>
            <a:r>
              <a:rPr lang="en-US" sz="1200" b="0" i="0" kern="1200" dirty="0" smtClean="0">
                <a:solidFill>
                  <a:schemeClr val="tx1"/>
                </a:solidFill>
                <a:effectLst/>
                <a:latin typeface="+mn-lt"/>
                <a:ea typeface="+mn-ea"/>
                <a:cs typeface="+mn-cs"/>
              </a:rPr>
              <a:t> : </a:t>
            </a:r>
            <a:r>
              <a:rPr lang="en-US" sz="1200" b="0" i="1" kern="1200" dirty="0" smtClean="0">
                <a:solidFill>
                  <a:schemeClr val="tx1"/>
                </a:solidFill>
                <a:effectLst/>
                <a:latin typeface="+mn-lt"/>
                <a:ea typeface="+mn-ea"/>
                <a:cs typeface="+mn-cs"/>
              </a:rPr>
              <a:t>Fundamentals of Microelectronics</a:t>
            </a:r>
            <a:r>
              <a:rPr lang="en-US" sz="1200" b="0" i="0" kern="1200" dirty="0" smtClean="0">
                <a:solidFill>
                  <a:schemeClr val="tx1"/>
                </a:solidFill>
                <a:effectLst/>
                <a:latin typeface="+mn-lt"/>
                <a:ea typeface="+mn-ea"/>
                <a:cs typeface="+mn-cs"/>
              </a:rPr>
              <a:t>, Wiley</a:t>
            </a:r>
          </a:p>
          <a:p>
            <a:endParaRPr lang="en-US" dirty="0"/>
          </a:p>
        </p:txBody>
      </p:sp>
      <p:sp>
        <p:nvSpPr>
          <p:cNvPr id="4" name="Slide Number Placeholder 3"/>
          <p:cNvSpPr>
            <a:spLocks noGrp="1"/>
          </p:cNvSpPr>
          <p:nvPr>
            <p:ph type="sldNum" sz="quarter" idx="10"/>
          </p:nvPr>
        </p:nvSpPr>
        <p:spPr/>
        <p:txBody>
          <a:bodyPr/>
          <a:lstStyle/>
          <a:p>
            <a:fld id="{F71A1DE6-A801-4746-9FC0-8352D20A3103}" type="slidenum">
              <a:rPr lang="en-US" smtClean="0"/>
              <a:t>2</a:t>
            </a:fld>
            <a:endParaRPr lang="en-US"/>
          </a:p>
        </p:txBody>
      </p:sp>
    </p:spTree>
    <p:extLst>
      <p:ext uri="{BB962C8B-B14F-4D97-AF65-F5344CB8AC3E}">
        <p14:creationId xmlns:p14="http://schemas.microsoft.com/office/powerpoint/2010/main" val="13879183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https://www.onsemi.com/download/data-sheet/pdf/2n3903-d.pdf</a:t>
            </a:r>
          </a:p>
          <a:p>
            <a:endParaRPr lang="en-US" dirty="0" smtClean="0"/>
          </a:p>
          <a:p>
            <a:r>
              <a:rPr lang="en-US" dirty="0" smtClean="0"/>
              <a:t>https://forum.arduino.cc/t/explain-the-use-of-a-transistor-in-a-motor-driver/1421278</a:t>
            </a:r>
          </a:p>
          <a:p>
            <a:endParaRPr lang="en-US" dirty="0" smtClean="0"/>
          </a:p>
          <a:p>
            <a:r>
              <a:rPr lang="en-US" dirty="0" err="1" smtClean="0"/>
              <a:t>const</a:t>
            </a:r>
            <a:r>
              <a:rPr lang="en-US" dirty="0" smtClean="0"/>
              <a:t> </a:t>
            </a:r>
            <a:r>
              <a:rPr lang="en-US" dirty="0" err="1" smtClean="0"/>
              <a:t>int</a:t>
            </a:r>
            <a:r>
              <a:rPr lang="en-US" dirty="0" smtClean="0"/>
              <a:t> </a:t>
            </a:r>
            <a:r>
              <a:rPr lang="en-US" dirty="0" err="1" smtClean="0"/>
              <a:t>potPin</a:t>
            </a:r>
            <a:r>
              <a:rPr lang="en-US" dirty="0" smtClean="0"/>
              <a:t> = A0;</a:t>
            </a:r>
          </a:p>
          <a:p>
            <a:r>
              <a:rPr lang="en-US" dirty="0" err="1" smtClean="0"/>
              <a:t>const</a:t>
            </a:r>
            <a:r>
              <a:rPr lang="en-US" dirty="0" smtClean="0"/>
              <a:t> </a:t>
            </a:r>
            <a:r>
              <a:rPr lang="en-US" dirty="0" err="1" smtClean="0"/>
              <a:t>int</a:t>
            </a:r>
            <a:r>
              <a:rPr lang="en-US" dirty="0" smtClean="0"/>
              <a:t> </a:t>
            </a:r>
            <a:r>
              <a:rPr lang="en-US" dirty="0" err="1" smtClean="0"/>
              <a:t>motorPin</a:t>
            </a:r>
            <a:r>
              <a:rPr lang="en-US" dirty="0" smtClean="0"/>
              <a:t> = 3;</a:t>
            </a:r>
          </a:p>
          <a:p>
            <a:r>
              <a:rPr lang="en-US" dirty="0" err="1" smtClean="0"/>
              <a:t>const</a:t>
            </a:r>
            <a:r>
              <a:rPr lang="en-US" dirty="0" smtClean="0"/>
              <a:t> </a:t>
            </a:r>
            <a:r>
              <a:rPr lang="en-US" dirty="0" err="1" smtClean="0"/>
              <a:t>int</a:t>
            </a:r>
            <a:r>
              <a:rPr lang="en-US" dirty="0" smtClean="0"/>
              <a:t> threshold = 2;</a:t>
            </a:r>
          </a:p>
          <a:p>
            <a:endParaRPr lang="en-US" dirty="0" smtClean="0"/>
          </a:p>
          <a:p>
            <a:r>
              <a:rPr lang="en-US" dirty="0" err="1" smtClean="0"/>
              <a:t>int</a:t>
            </a:r>
            <a:r>
              <a:rPr lang="en-US" dirty="0" smtClean="0"/>
              <a:t> </a:t>
            </a:r>
            <a:r>
              <a:rPr lang="en-US" dirty="0" err="1" smtClean="0"/>
              <a:t>potValue</a:t>
            </a:r>
            <a:r>
              <a:rPr lang="en-US" dirty="0" smtClean="0"/>
              <a:t> = 0;</a:t>
            </a:r>
          </a:p>
          <a:p>
            <a:r>
              <a:rPr lang="en-US" dirty="0" err="1" smtClean="0"/>
              <a:t>int</a:t>
            </a:r>
            <a:r>
              <a:rPr lang="en-US" dirty="0" smtClean="0"/>
              <a:t> </a:t>
            </a:r>
            <a:r>
              <a:rPr lang="en-US" dirty="0" err="1" smtClean="0"/>
              <a:t>pwmValue</a:t>
            </a:r>
            <a:r>
              <a:rPr lang="en-US" dirty="0" smtClean="0"/>
              <a:t> = 0;</a:t>
            </a:r>
          </a:p>
          <a:p>
            <a:r>
              <a:rPr lang="en-US" dirty="0" err="1" smtClean="0"/>
              <a:t>int</a:t>
            </a:r>
            <a:r>
              <a:rPr lang="en-US" dirty="0" smtClean="0"/>
              <a:t> </a:t>
            </a:r>
            <a:r>
              <a:rPr lang="en-US" dirty="0" err="1" smtClean="0"/>
              <a:t>prevPWM</a:t>
            </a:r>
            <a:r>
              <a:rPr lang="en-US" dirty="0" smtClean="0"/>
              <a:t> = 0;</a:t>
            </a:r>
          </a:p>
          <a:p>
            <a:endParaRPr lang="en-US" dirty="0" smtClean="0"/>
          </a:p>
          <a:p>
            <a:r>
              <a:rPr lang="en-US" dirty="0" smtClean="0"/>
              <a:t>void setup() {</a:t>
            </a:r>
          </a:p>
          <a:p>
            <a:r>
              <a:rPr lang="en-US" dirty="0" smtClean="0"/>
              <a:t>  </a:t>
            </a:r>
            <a:r>
              <a:rPr lang="en-US" dirty="0" err="1" smtClean="0"/>
              <a:t>pinMode</a:t>
            </a:r>
            <a:r>
              <a:rPr lang="en-US" dirty="0" smtClean="0"/>
              <a:t>(</a:t>
            </a:r>
            <a:r>
              <a:rPr lang="en-US" dirty="0" err="1" smtClean="0"/>
              <a:t>motorPin</a:t>
            </a:r>
            <a:r>
              <a:rPr lang="en-US" dirty="0" smtClean="0"/>
              <a:t>, OUTPUT);</a:t>
            </a:r>
          </a:p>
          <a:p>
            <a:r>
              <a:rPr lang="en-US" dirty="0" smtClean="0"/>
              <a:t>  </a:t>
            </a:r>
            <a:r>
              <a:rPr lang="en-US" dirty="0" err="1" smtClean="0"/>
              <a:t>Serial.begin</a:t>
            </a:r>
            <a:r>
              <a:rPr lang="en-US" dirty="0" smtClean="0"/>
              <a:t>(115200);</a:t>
            </a:r>
          </a:p>
          <a:p>
            <a:r>
              <a:rPr lang="en-US" dirty="0" smtClean="0"/>
              <a:t>}</a:t>
            </a:r>
          </a:p>
          <a:p>
            <a:endParaRPr lang="en-US" dirty="0" smtClean="0"/>
          </a:p>
          <a:p>
            <a:r>
              <a:rPr lang="en-US" dirty="0" smtClean="0"/>
              <a:t>void loop() {</a:t>
            </a:r>
          </a:p>
          <a:p>
            <a:r>
              <a:rPr lang="en-US" dirty="0" smtClean="0"/>
              <a:t>  </a:t>
            </a:r>
            <a:r>
              <a:rPr lang="en-US" dirty="0" err="1" smtClean="0"/>
              <a:t>potValue</a:t>
            </a:r>
            <a:r>
              <a:rPr lang="en-US" dirty="0" smtClean="0"/>
              <a:t> = </a:t>
            </a:r>
            <a:r>
              <a:rPr lang="en-US" dirty="0" err="1" smtClean="0"/>
              <a:t>analogRead</a:t>
            </a:r>
            <a:r>
              <a:rPr lang="en-US" dirty="0" smtClean="0"/>
              <a:t>(</a:t>
            </a:r>
            <a:r>
              <a:rPr lang="en-US" dirty="0" err="1" smtClean="0"/>
              <a:t>potPin</a:t>
            </a:r>
            <a:r>
              <a:rPr lang="en-US" dirty="0" smtClean="0"/>
              <a:t>);</a:t>
            </a:r>
          </a:p>
          <a:p>
            <a:r>
              <a:rPr lang="en-US" dirty="0" smtClean="0"/>
              <a:t>  </a:t>
            </a:r>
            <a:r>
              <a:rPr lang="en-US" dirty="0" err="1" smtClean="0"/>
              <a:t>pwmValue</a:t>
            </a:r>
            <a:r>
              <a:rPr lang="en-US" dirty="0" smtClean="0"/>
              <a:t> = map(</a:t>
            </a:r>
            <a:r>
              <a:rPr lang="en-US" dirty="0" err="1" smtClean="0"/>
              <a:t>potValue</a:t>
            </a:r>
            <a:r>
              <a:rPr lang="en-US" dirty="0" smtClean="0"/>
              <a:t>, 0, 1023, 0, 255);</a:t>
            </a:r>
          </a:p>
          <a:p>
            <a:endParaRPr lang="en-US" dirty="0" smtClean="0"/>
          </a:p>
          <a:p>
            <a:r>
              <a:rPr lang="en-US" dirty="0" smtClean="0"/>
              <a:t>  if (abs(</a:t>
            </a:r>
            <a:r>
              <a:rPr lang="en-US" dirty="0" err="1" smtClean="0"/>
              <a:t>pwmValue</a:t>
            </a:r>
            <a:r>
              <a:rPr lang="en-US" dirty="0" smtClean="0"/>
              <a:t> - </a:t>
            </a:r>
            <a:r>
              <a:rPr lang="en-US" dirty="0" err="1" smtClean="0"/>
              <a:t>prevPWM</a:t>
            </a:r>
            <a:r>
              <a:rPr lang="en-US" dirty="0" smtClean="0"/>
              <a:t>) &gt; threshold) {</a:t>
            </a:r>
          </a:p>
          <a:p>
            <a:r>
              <a:rPr lang="en-US" dirty="0" smtClean="0"/>
              <a:t>    </a:t>
            </a:r>
            <a:r>
              <a:rPr lang="en-US" dirty="0" err="1" smtClean="0"/>
              <a:t>analogWrite</a:t>
            </a:r>
            <a:r>
              <a:rPr lang="en-US" dirty="0" smtClean="0"/>
              <a:t>(</a:t>
            </a:r>
            <a:r>
              <a:rPr lang="en-US" dirty="0" err="1" smtClean="0"/>
              <a:t>motorPin</a:t>
            </a:r>
            <a:r>
              <a:rPr lang="en-US" dirty="0" smtClean="0"/>
              <a:t>, </a:t>
            </a:r>
            <a:r>
              <a:rPr lang="en-US" dirty="0" err="1" smtClean="0"/>
              <a:t>pwmValue</a:t>
            </a:r>
            <a:r>
              <a:rPr lang="en-US" dirty="0" smtClean="0"/>
              <a:t>);</a:t>
            </a:r>
          </a:p>
          <a:p>
            <a:r>
              <a:rPr lang="en-US" dirty="0" smtClean="0"/>
              <a:t>    </a:t>
            </a:r>
            <a:r>
              <a:rPr lang="en-US" dirty="0" err="1" smtClean="0"/>
              <a:t>Serial.print</a:t>
            </a:r>
            <a:r>
              <a:rPr lang="en-US" dirty="0" smtClean="0"/>
              <a:t>("PWM ");</a:t>
            </a:r>
          </a:p>
          <a:p>
            <a:r>
              <a:rPr lang="en-US" dirty="0" smtClean="0"/>
              <a:t>    </a:t>
            </a:r>
            <a:r>
              <a:rPr lang="en-US" dirty="0" err="1" smtClean="0"/>
              <a:t>Serial.println</a:t>
            </a:r>
            <a:r>
              <a:rPr lang="en-US" dirty="0" smtClean="0"/>
              <a:t>(</a:t>
            </a:r>
            <a:r>
              <a:rPr lang="en-US" dirty="0" err="1" smtClean="0"/>
              <a:t>pwmValue</a:t>
            </a:r>
            <a:r>
              <a:rPr lang="en-US" dirty="0" smtClean="0"/>
              <a:t>);</a:t>
            </a:r>
          </a:p>
          <a:p>
            <a:r>
              <a:rPr lang="en-US" dirty="0" smtClean="0"/>
              <a:t>    </a:t>
            </a:r>
            <a:r>
              <a:rPr lang="en-US" dirty="0" err="1" smtClean="0"/>
              <a:t>prevPWM</a:t>
            </a:r>
            <a:r>
              <a:rPr lang="en-US" dirty="0" smtClean="0"/>
              <a:t> = </a:t>
            </a:r>
            <a:r>
              <a:rPr lang="en-US" dirty="0" err="1" smtClean="0"/>
              <a:t>pwmValue</a:t>
            </a:r>
            <a:r>
              <a:rPr lang="en-US" dirty="0" smtClean="0"/>
              <a:t>;</a:t>
            </a:r>
          </a:p>
          <a:p>
            <a:r>
              <a:rPr lang="en-US" dirty="0" smtClean="0"/>
              <a:t>  }</a:t>
            </a:r>
          </a:p>
          <a:p>
            <a:r>
              <a:rPr lang="en-US" dirty="0" smtClean="0"/>
              <a:t>}</a:t>
            </a:r>
          </a:p>
          <a:p>
            <a:endParaRPr lang="en-US" dirty="0" smtClean="0"/>
          </a:p>
          <a:p>
            <a:endParaRPr lang="en-US" dirty="0" smtClean="0"/>
          </a:p>
          <a:p>
            <a:endParaRPr lang="en-US" dirty="0" smtClean="0"/>
          </a:p>
          <a:p>
            <a:r>
              <a:rPr lang="en-US" dirty="0" smtClean="0"/>
              <a:t>https://forum.arduino.cc/t/explain-the-use-of-a-transistor-in-a-motor-driver/1421278</a:t>
            </a:r>
          </a:p>
          <a:p>
            <a:endParaRPr lang="en-US" sz="1200" kern="1200" dirty="0" smtClean="0">
              <a:solidFill>
                <a:schemeClr val="tx1"/>
              </a:solidFill>
              <a:effectLst/>
              <a:latin typeface="+mn-lt"/>
              <a:ea typeface="+mn-ea"/>
              <a:cs typeface="+mn-cs"/>
            </a:endParaRPr>
          </a:p>
          <a:p>
            <a:r>
              <a:rPr lang="en-US" dirty="0" err="1" smtClean="0"/>
              <a:t>int</a:t>
            </a:r>
            <a:r>
              <a:rPr lang="en-US" dirty="0" smtClean="0"/>
              <a:t> motor = 9; </a:t>
            </a:r>
          </a:p>
          <a:p>
            <a:r>
              <a:rPr lang="en-US" dirty="0" err="1" smtClean="0"/>
              <a:t>int</a:t>
            </a:r>
            <a:r>
              <a:rPr lang="en-US" dirty="0" smtClean="0"/>
              <a:t> speed = 0; </a:t>
            </a:r>
          </a:p>
          <a:p>
            <a:r>
              <a:rPr lang="en-US" dirty="0" err="1" smtClean="0"/>
              <a:t>int</a:t>
            </a:r>
            <a:r>
              <a:rPr lang="en-US" dirty="0" smtClean="0"/>
              <a:t> </a:t>
            </a:r>
            <a:r>
              <a:rPr lang="en-US" dirty="0" err="1" smtClean="0"/>
              <a:t>speedAmount</a:t>
            </a:r>
            <a:r>
              <a:rPr lang="en-US" dirty="0" smtClean="0"/>
              <a:t> = 5; </a:t>
            </a:r>
          </a:p>
          <a:p>
            <a:endParaRPr lang="en-US" dirty="0" smtClean="0"/>
          </a:p>
          <a:p>
            <a:r>
              <a:rPr lang="en-US" dirty="0" smtClean="0"/>
              <a:t>void setup() { </a:t>
            </a:r>
          </a:p>
          <a:p>
            <a:r>
              <a:rPr lang="en-US" dirty="0" smtClean="0"/>
              <a:t>  </a:t>
            </a:r>
            <a:r>
              <a:rPr lang="en-US" dirty="0" err="1" smtClean="0"/>
              <a:t>pinMode</a:t>
            </a:r>
            <a:r>
              <a:rPr lang="en-US" dirty="0" smtClean="0"/>
              <a:t>(motor, OUTPUT); </a:t>
            </a:r>
          </a:p>
          <a:p>
            <a:r>
              <a:rPr lang="en-US" dirty="0" smtClean="0"/>
              <a:t>	} </a:t>
            </a:r>
          </a:p>
          <a:p>
            <a:endParaRPr lang="en-US" dirty="0" smtClean="0"/>
          </a:p>
          <a:p>
            <a:r>
              <a:rPr lang="en-US" dirty="0" smtClean="0"/>
              <a:t>void loop() { </a:t>
            </a:r>
          </a:p>
          <a:p>
            <a:r>
              <a:rPr lang="en-US" dirty="0" smtClean="0"/>
              <a:t>  </a:t>
            </a:r>
            <a:r>
              <a:rPr lang="en-US" dirty="0" err="1" smtClean="0"/>
              <a:t>analogWrite</a:t>
            </a:r>
            <a:r>
              <a:rPr lang="en-US" dirty="0" smtClean="0"/>
              <a:t>(motor, speed); </a:t>
            </a:r>
          </a:p>
          <a:p>
            <a:r>
              <a:rPr lang="en-US" dirty="0" smtClean="0"/>
              <a:t>	speed = speed + </a:t>
            </a:r>
            <a:r>
              <a:rPr lang="en-US" dirty="0" err="1" smtClean="0"/>
              <a:t>speedAmount</a:t>
            </a:r>
            <a:r>
              <a:rPr lang="en-US" dirty="0" smtClean="0"/>
              <a:t>; </a:t>
            </a:r>
          </a:p>
          <a:p>
            <a:r>
              <a:rPr lang="en-US" dirty="0" smtClean="0"/>
              <a:t>	if (speed &lt;= 0 || speed &gt;= 255) { </a:t>
            </a:r>
          </a:p>
          <a:p>
            <a:r>
              <a:rPr lang="en-US" dirty="0" smtClean="0"/>
              <a:t>	  </a:t>
            </a:r>
            <a:r>
              <a:rPr lang="en-US" dirty="0" err="1" smtClean="0"/>
              <a:t>speedAmount</a:t>
            </a:r>
            <a:r>
              <a:rPr lang="en-US" dirty="0" smtClean="0"/>
              <a:t> = -</a:t>
            </a:r>
            <a:r>
              <a:rPr lang="en-US" dirty="0" err="1" smtClean="0"/>
              <a:t>speedAmount</a:t>
            </a:r>
            <a:r>
              <a:rPr lang="en-US" dirty="0" smtClean="0"/>
              <a:t>; </a:t>
            </a:r>
          </a:p>
          <a:p>
            <a:r>
              <a:rPr lang="en-US" dirty="0" smtClean="0"/>
              <a:t>	} </a:t>
            </a:r>
          </a:p>
          <a:p>
            <a:r>
              <a:rPr lang="en-US" dirty="0" smtClean="0"/>
              <a:t>	delay(30); </a:t>
            </a:r>
          </a:p>
          <a:p>
            <a:r>
              <a:rPr lang="en-US" dirty="0" smtClean="0"/>
              <a:t>}</a:t>
            </a:r>
            <a:endParaRPr lang="en-US" dirty="0"/>
          </a:p>
        </p:txBody>
      </p:sp>
      <p:sp>
        <p:nvSpPr>
          <p:cNvPr id="4" name="Slide Number Placeholder 3"/>
          <p:cNvSpPr>
            <a:spLocks noGrp="1"/>
          </p:cNvSpPr>
          <p:nvPr>
            <p:ph type="sldNum" sz="quarter" idx="10"/>
          </p:nvPr>
        </p:nvSpPr>
        <p:spPr/>
        <p:txBody>
          <a:bodyPr/>
          <a:lstStyle/>
          <a:p>
            <a:fld id="{F71A1DE6-A801-4746-9FC0-8352D20A3103}" type="slidenum">
              <a:rPr lang="en-US" smtClean="0"/>
              <a:t>5</a:t>
            </a:fld>
            <a:endParaRPr lang="en-US"/>
          </a:p>
        </p:txBody>
      </p:sp>
    </p:spTree>
    <p:extLst>
      <p:ext uri="{BB962C8B-B14F-4D97-AF65-F5344CB8AC3E}">
        <p14:creationId xmlns:p14="http://schemas.microsoft.com/office/powerpoint/2010/main" val="3779929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COMPONENTS NEEDED</a:t>
            </a:r>
          </a:p>
          <a:p>
            <a:r>
              <a:rPr lang="en-US" sz="1200" b="0" i="0" kern="1200" dirty="0" smtClean="0">
                <a:solidFill>
                  <a:schemeClr val="tx1"/>
                </a:solidFill>
                <a:effectLst/>
                <a:latin typeface="+mn-lt"/>
                <a:ea typeface="+mn-ea"/>
                <a:cs typeface="+mn-cs"/>
              </a:rPr>
              <a:t>L293d motor driver*1</a:t>
            </a:r>
          </a:p>
          <a:p>
            <a:r>
              <a:rPr lang="en-US" sz="1200" b="0" i="0" kern="1200" dirty="0" smtClean="0">
                <a:solidFill>
                  <a:schemeClr val="tx1"/>
                </a:solidFill>
                <a:effectLst/>
                <a:latin typeface="+mn-lt"/>
                <a:ea typeface="+mn-ea"/>
                <a:cs typeface="+mn-cs"/>
              </a:rPr>
              <a:t>Lm358 op amp*1</a:t>
            </a:r>
          </a:p>
          <a:p>
            <a:r>
              <a:rPr lang="en-US" sz="1200" b="0" i="0" kern="1200" dirty="0" smtClean="0">
                <a:solidFill>
                  <a:schemeClr val="tx1"/>
                </a:solidFill>
                <a:effectLst/>
                <a:latin typeface="+mn-lt"/>
                <a:ea typeface="+mn-ea"/>
                <a:cs typeface="+mn-cs"/>
                <a:hlinkClick r:id="rId3"/>
              </a:rPr>
              <a:t> </a:t>
            </a:r>
            <a:r>
              <a:rPr lang="en-US" sz="1200" b="0" i="0" kern="1200" dirty="0" err="1" smtClean="0">
                <a:solidFill>
                  <a:schemeClr val="tx1"/>
                </a:solidFill>
                <a:effectLst/>
                <a:latin typeface="+mn-lt"/>
                <a:ea typeface="+mn-ea"/>
                <a:cs typeface="+mn-cs"/>
                <a:hlinkClick r:id="rId3"/>
              </a:rPr>
              <a:t>Ic</a:t>
            </a:r>
            <a:r>
              <a:rPr lang="en-US" sz="1200" b="0" i="0" kern="1200" dirty="0" smtClean="0">
                <a:solidFill>
                  <a:schemeClr val="tx1"/>
                </a:solidFill>
                <a:effectLst/>
                <a:latin typeface="+mn-lt"/>
                <a:ea typeface="+mn-ea"/>
                <a:cs typeface="+mn-cs"/>
              </a:rPr>
              <a:t> base 16 pin*1</a:t>
            </a:r>
          </a:p>
          <a:p>
            <a:r>
              <a:rPr lang="en-US" sz="1200" b="0" i="0" kern="1200" dirty="0" smtClean="0">
                <a:solidFill>
                  <a:schemeClr val="tx1"/>
                </a:solidFill>
                <a:effectLst/>
                <a:latin typeface="+mn-lt"/>
                <a:ea typeface="+mn-ea"/>
                <a:cs typeface="+mn-cs"/>
              </a:rPr>
              <a:t>Bc547 transistor*1</a:t>
            </a:r>
          </a:p>
          <a:p>
            <a:r>
              <a:rPr lang="en-US" sz="1200" b="0" i="0" kern="1200" dirty="0" smtClean="0">
                <a:solidFill>
                  <a:schemeClr val="tx1"/>
                </a:solidFill>
                <a:effectLst/>
                <a:latin typeface="+mn-lt"/>
                <a:ea typeface="+mn-ea"/>
                <a:cs typeface="+mn-cs"/>
              </a:rPr>
              <a:t>10k resistor*2</a:t>
            </a:r>
          </a:p>
          <a:p>
            <a:r>
              <a:rPr lang="en-US" sz="1200" b="0" i="0" kern="1200" dirty="0" smtClean="0">
                <a:solidFill>
                  <a:schemeClr val="tx1"/>
                </a:solidFill>
                <a:effectLst/>
                <a:latin typeface="+mn-lt"/>
                <a:ea typeface="+mn-ea"/>
                <a:cs typeface="+mn-cs"/>
              </a:rPr>
              <a:t>1K resistor*4</a:t>
            </a:r>
          </a:p>
          <a:p>
            <a:r>
              <a:rPr lang="en-US" sz="1200" b="0" i="0" kern="1200" dirty="0" smtClean="0">
                <a:solidFill>
                  <a:schemeClr val="tx1"/>
                </a:solidFill>
                <a:effectLst/>
                <a:latin typeface="+mn-lt"/>
                <a:ea typeface="+mn-ea"/>
                <a:cs typeface="+mn-cs"/>
              </a:rPr>
              <a:t>470 ohm resistor*2</a:t>
            </a:r>
          </a:p>
          <a:p>
            <a:r>
              <a:rPr lang="en-US" sz="1200" b="0" i="0" kern="1200" dirty="0" smtClean="0">
                <a:solidFill>
                  <a:schemeClr val="tx1"/>
                </a:solidFill>
                <a:effectLst/>
                <a:latin typeface="+mn-lt"/>
                <a:ea typeface="+mn-ea"/>
                <a:cs typeface="+mn-cs"/>
              </a:rPr>
              <a:t>100nf capacitor*2</a:t>
            </a:r>
          </a:p>
          <a:p>
            <a:r>
              <a:rPr lang="en-US" sz="1200" b="0" i="0" kern="1200" dirty="0" smtClean="0">
                <a:solidFill>
                  <a:schemeClr val="tx1"/>
                </a:solidFill>
                <a:effectLst/>
                <a:latin typeface="+mn-lt"/>
                <a:ea typeface="+mn-ea"/>
                <a:cs typeface="+mn-cs"/>
              </a:rPr>
              <a:t>2.54 JST 2pin connector*1</a:t>
            </a:r>
          </a:p>
          <a:p>
            <a:r>
              <a:rPr lang="en-US" sz="1200" b="0" i="0" kern="1200" dirty="0" smtClean="0">
                <a:solidFill>
                  <a:schemeClr val="tx1"/>
                </a:solidFill>
                <a:effectLst/>
                <a:latin typeface="+mn-lt"/>
                <a:ea typeface="+mn-ea"/>
                <a:cs typeface="+mn-cs"/>
              </a:rPr>
              <a:t>IR LED*2</a:t>
            </a:r>
          </a:p>
          <a:p>
            <a:r>
              <a:rPr lang="en-US" sz="1200" b="0" i="0" kern="1200" dirty="0" smtClean="0">
                <a:solidFill>
                  <a:schemeClr val="tx1"/>
                </a:solidFill>
                <a:effectLst/>
                <a:latin typeface="+mn-lt"/>
                <a:ea typeface="+mn-ea"/>
                <a:cs typeface="+mn-cs"/>
              </a:rPr>
              <a:t>IR receiver*2</a:t>
            </a:r>
          </a:p>
          <a:p>
            <a:r>
              <a:rPr lang="en-US" sz="1200" b="0" i="0" kern="1200" dirty="0" smtClean="0">
                <a:solidFill>
                  <a:schemeClr val="tx1"/>
                </a:solidFill>
                <a:effectLst/>
                <a:latin typeface="+mn-lt"/>
                <a:ea typeface="+mn-ea"/>
                <a:cs typeface="+mn-cs"/>
              </a:rPr>
              <a:t>USB Type-C socket*1</a:t>
            </a:r>
          </a:p>
          <a:p>
            <a:r>
              <a:rPr lang="en-US" sz="1200" b="0" i="0" kern="1200" dirty="0" smtClean="0">
                <a:solidFill>
                  <a:schemeClr val="tx1"/>
                </a:solidFill>
                <a:effectLst/>
                <a:latin typeface="+mn-lt"/>
                <a:ea typeface="+mn-ea"/>
                <a:cs typeface="+mn-cs"/>
              </a:rPr>
              <a:t>On/off switch*1</a:t>
            </a:r>
          </a:p>
          <a:p>
            <a:r>
              <a:rPr lang="en-US" sz="1200" b="0" i="0" kern="1200" dirty="0" smtClean="0">
                <a:solidFill>
                  <a:schemeClr val="tx1"/>
                </a:solidFill>
                <a:effectLst/>
                <a:latin typeface="+mn-lt"/>
                <a:ea typeface="+mn-ea"/>
                <a:cs typeface="+mn-cs"/>
              </a:rPr>
              <a:t>Screw terminal*2</a:t>
            </a:r>
          </a:p>
          <a:p>
            <a:r>
              <a:rPr lang="en-US" sz="1200" b="0" i="0" kern="1200" dirty="0" smtClean="0">
                <a:solidFill>
                  <a:schemeClr val="tx1"/>
                </a:solidFill>
                <a:effectLst/>
                <a:latin typeface="+mn-lt"/>
                <a:ea typeface="+mn-ea"/>
                <a:cs typeface="+mn-cs"/>
              </a:rPr>
              <a:t>N20 motors*2</a:t>
            </a:r>
          </a:p>
          <a:p>
            <a:r>
              <a:rPr lang="en-US" sz="1200" b="0" i="0" kern="1200" dirty="0" smtClean="0">
                <a:solidFill>
                  <a:schemeClr val="tx1"/>
                </a:solidFill>
                <a:effectLst/>
                <a:latin typeface="+mn-lt"/>
                <a:ea typeface="+mn-ea"/>
                <a:cs typeface="+mn-cs"/>
              </a:rPr>
              <a:t>N20 motor bracket*2</a:t>
            </a:r>
          </a:p>
          <a:p>
            <a:r>
              <a:rPr lang="en-US" sz="1200" b="0" i="0" kern="1200" dirty="0" smtClean="0">
                <a:solidFill>
                  <a:schemeClr val="tx1"/>
                </a:solidFill>
                <a:effectLst/>
                <a:latin typeface="+mn-lt"/>
                <a:ea typeface="+mn-ea"/>
                <a:cs typeface="+mn-cs"/>
              </a:rPr>
              <a:t>3.7v li-ion/</a:t>
            </a:r>
            <a:r>
              <a:rPr lang="en-US" sz="1200" b="0" i="0" kern="1200" dirty="0" err="1" smtClean="0">
                <a:solidFill>
                  <a:schemeClr val="tx1"/>
                </a:solidFill>
                <a:effectLst/>
                <a:latin typeface="+mn-lt"/>
                <a:ea typeface="+mn-ea"/>
                <a:cs typeface="+mn-cs"/>
              </a:rPr>
              <a:t>po</a:t>
            </a:r>
            <a:r>
              <a:rPr lang="en-US" sz="1200" b="0" i="0" kern="1200" dirty="0" smtClean="0">
                <a:solidFill>
                  <a:schemeClr val="tx1"/>
                </a:solidFill>
                <a:effectLst/>
                <a:latin typeface="+mn-lt"/>
                <a:ea typeface="+mn-ea"/>
                <a:cs typeface="+mn-cs"/>
              </a:rPr>
              <a:t> battery*1</a:t>
            </a:r>
          </a:p>
          <a:p>
            <a:r>
              <a:rPr lang="en-US" sz="1200" b="0" i="0" kern="1200" dirty="0" smtClean="0">
                <a:solidFill>
                  <a:schemeClr val="tx1"/>
                </a:solidFill>
                <a:effectLst/>
                <a:latin typeface="+mn-lt"/>
                <a:ea typeface="+mn-ea"/>
                <a:cs typeface="+mn-cs"/>
              </a:rPr>
              <a:t>5V booster module*1</a:t>
            </a:r>
          </a:p>
          <a:p>
            <a:r>
              <a:rPr lang="en-US" sz="1200" b="0" i="0" kern="1200" dirty="0" smtClean="0">
                <a:solidFill>
                  <a:schemeClr val="tx1"/>
                </a:solidFill>
                <a:effectLst/>
                <a:latin typeface="+mn-lt"/>
                <a:ea typeface="+mn-ea"/>
                <a:cs typeface="+mn-cs"/>
              </a:rPr>
              <a:t>Castor wheel*1</a:t>
            </a:r>
          </a:p>
          <a:p>
            <a:r>
              <a:rPr lang="en-US" sz="1200" b="0" i="0" kern="1200" dirty="0" smtClean="0">
                <a:solidFill>
                  <a:schemeClr val="tx1"/>
                </a:solidFill>
                <a:effectLst/>
                <a:latin typeface="+mn-lt"/>
                <a:ea typeface="+mn-ea"/>
                <a:cs typeface="+mn-cs"/>
              </a:rPr>
              <a:t>Custom PCB*1</a:t>
            </a:r>
          </a:p>
          <a:p>
            <a:endParaRPr lang="en-US" dirty="0"/>
          </a:p>
        </p:txBody>
      </p:sp>
      <p:sp>
        <p:nvSpPr>
          <p:cNvPr id="4" name="Slide Number Placeholder 3"/>
          <p:cNvSpPr>
            <a:spLocks noGrp="1"/>
          </p:cNvSpPr>
          <p:nvPr>
            <p:ph type="sldNum" sz="quarter" idx="10"/>
          </p:nvPr>
        </p:nvSpPr>
        <p:spPr/>
        <p:txBody>
          <a:bodyPr/>
          <a:lstStyle/>
          <a:p>
            <a:fld id="{F71A1DE6-A801-4746-9FC0-8352D20A3103}" type="slidenum">
              <a:rPr lang="en-US" smtClean="0"/>
              <a:t>7</a:t>
            </a:fld>
            <a:endParaRPr lang="en-US"/>
          </a:p>
        </p:txBody>
      </p:sp>
    </p:spTree>
    <p:extLst>
      <p:ext uri="{BB962C8B-B14F-4D97-AF65-F5344CB8AC3E}">
        <p14:creationId xmlns:p14="http://schemas.microsoft.com/office/powerpoint/2010/main" val="2926585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https://github.com/RonAaron61/EMG-ECG_Arduino</a:t>
            </a:r>
          </a:p>
          <a:p>
            <a:endParaRPr lang="en-US" dirty="0" smtClean="0"/>
          </a:p>
          <a:p>
            <a:r>
              <a:rPr lang="en-US" dirty="0" smtClean="0"/>
              <a:t>https://forum.arduino.cc/t/ecg-circuit-arduino-simulation/1275980</a:t>
            </a:r>
            <a:endParaRPr lang="en-US" dirty="0"/>
          </a:p>
        </p:txBody>
      </p:sp>
      <p:sp>
        <p:nvSpPr>
          <p:cNvPr id="4" name="Slide Number Placeholder 3"/>
          <p:cNvSpPr>
            <a:spLocks noGrp="1"/>
          </p:cNvSpPr>
          <p:nvPr>
            <p:ph type="sldNum" sz="quarter" idx="10"/>
          </p:nvPr>
        </p:nvSpPr>
        <p:spPr/>
        <p:txBody>
          <a:bodyPr/>
          <a:lstStyle/>
          <a:p>
            <a:fld id="{F71A1DE6-A801-4746-9FC0-8352D20A3103}" type="slidenum">
              <a:rPr lang="en-US" smtClean="0"/>
              <a:t>10</a:t>
            </a:fld>
            <a:endParaRPr lang="en-US"/>
          </a:p>
        </p:txBody>
      </p:sp>
    </p:spTree>
    <p:extLst>
      <p:ext uri="{BB962C8B-B14F-4D97-AF65-F5344CB8AC3E}">
        <p14:creationId xmlns:p14="http://schemas.microsoft.com/office/powerpoint/2010/main" val="2372168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Component</a:t>
            </a:r>
          </a:p>
          <a:p>
            <a:r>
              <a:rPr lang="en-US" sz="1200" b="0" i="0" kern="1200" dirty="0" smtClean="0">
                <a:solidFill>
                  <a:schemeClr val="tx1"/>
                </a:solidFill>
                <a:effectLst/>
                <a:latin typeface="+mn-lt"/>
                <a:ea typeface="+mn-ea"/>
                <a:cs typeface="+mn-cs"/>
              </a:rPr>
              <a:t>For this project, I will use AD620 for the pre-amp, and LM358 to amplify it again</a:t>
            </a:r>
          </a:p>
          <a:p>
            <a:r>
              <a:rPr lang="en-US" sz="1200" b="0" i="0" kern="1200" dirty="0" smtClean="0">
                <a:solidFill>
                  <a:schemeClr val="tx1"/>
                </a:solidFill>
                <a:effectLst/>
                <a:latin typeface="+mn-lt"/>
                <a:ea typeface="+mn-ea"/>
                <a:cs typeface="+mn-cs"/>
              </a:rPr>
              <a:t>The filters I will be using are a </a:t>
            </a:r>
            <a:r>
              <a:rPr lang="en-US" sz="1200" b="0" i="0" kern="1200" dirty="0" err="1" smtClean="0">
                <a:solidFill>
                  <a:schemeClr val="tx1"/>
                </a:solidFill>
                <a:effectLst/>
                <a:latin typeface="+mn-lt"/>
                <a:ea typeface="+mn-ea"/>
                <a:cs typeface="+mn-cs"/>
              </a:rPr>
              <a:t>bandpass</a:t>
            </a:r>
            <a:r>
              <a:rPr lang="en-US" sz="1200" b="0" i="0" kern="1200" dirty="0" smtClean="0">
                <a:solidFill>
                  <a:schemeClr val="tx1"/>
                </a:solidFill>
                <a:effectLst/>
                <a:latin typeface="+mn-lt"/>
                <a:ea typeface="+mn-ea"/>
                <a:cs typeface="+mn-cs"/>
              </a:rPr>
              <a:t> filter</a:t>
            </a:r>
          </a:p>
          <a:p>
            <a:r>
              <a:rPr lang="en-US" sz="1200" b="0" i="0" kern="1200" dirty="0" smtClean="0">
                <a:solidFill>
                  <a:schemeClr val="tx1"/>
                </a:solidFill>
                <a:effectLst/>
                <a:latin typeface="+mn-lt"/>
                <a:ea typeface="+mn-ea"/>
                <a:cs typeface="+mn-cs"/>
              </a:rPr>
              <a:t>Component used:</a:t>
            </a:r>
          </a:p>
          <a:p>
            <a:r>
              <a:rPr lang="en-US" sz="1200" b="0" i="0" kern="1200" dirty="0" smtClean="0">
                <a:solidFill>
                  <a:schemeClr val="tx1"/>
                </a:solidFill>
                <a:effectLst/>
                <a:latin typeface="+mn-lt"/>
                <a:ea typeface="+mn-ea"/>
                <a:cs typeface="+mn-cs"/>
              </a:rPr>
              <a:t>IC:</a:t>
            </a:r>
          </a:p>
          <a:p>
            <a:r>
              <a:rPr lang="en-US" sz="1200" b="0" i="0" kern="1200" dirty="0" smtClean="0">
                <a:solidFill>
                  <a:schemeClr val="tx1"/>
                </a:solidFill>
                <a:effectLst/>
                <a:latin typeface="+mn-lt"/>
                <a:ea typeface="+mn-ea"/>
                <a:cs typeface="+mn-cs"/>
              </a:rPr>
              <a:t>AD620 (instrument amplifier)</a:t>
            </a:r>
          </a:p>
          <a:p>
            <a:r>
              <a:rPr lang="en-US" sz="1200" b="0" i="0" kern="1200" dirty="0" smtClean="0">
                <a:solidFill>
                  <a:schemeClr val="tx1"/>
                </a:solidFill>
                <a:effectLst/>
                <a:latin typeface="+mn-lt"/>
                <a:ea typeface="+mn-ea"/>
                <a:cs typeface="+mn-cs"/>
              </a:rPr>
              <a:t>LM358 (Op-Amp)</a:t>
            </a:r>
          </a:p>
          <a:p>
            <a:r>
              <a:rPr lang="en-US" sz="1200" b="0" i="0" kern="1200" dirty="0" smtClean="0">
                <a:solidFill>
                  <a:schemeClr val="tx1"/>
                </a:solidFill>
                <a:effectLst/>
                <a:latin typeface="+mn-lt"/>
                <a:ea typeface="+mn-ea"/>
                <a:cs typeface="+mn-cs"/>
              </a:rPr>
              <a:t>Resistor:</a:t>
            </a:r>
          </a:p>
          <a:p>
            <a:r>
              <a:rPr lang="en-US" sz="1200" b="0" i="0" kern="1200" dirty="0" smtClean="0">
                <a:solidFill>
                  <a:schemeClr val="tx1"/>
                </a:solidFill>
                <a:effectLst/>
                <a:latin typeface="+mn-lt"/>
                <a:ea typeface="+mn-ea"/>
                <a:cs typeface="+mn-cs"/>
              </a:rPr>
              <a:t>10 </a:t>
            </a:r>
            <a:r>
              <a:rPr lang="en-US" sz="1200" b="0" i="0" kern="1200" dirty="0" err="1" smtClean="0">
                <a:solidFill>
                  <a:schemeClr val="tx1"/>
                </a:solidFill>
                <a:effectLst/>
                <a:latin typeface="+mn-lt"/>
                <a:ea typeface="+mn-ea"/>
                <a:cs typeface="+mn-cs"/>
              </a:rPr>
              <a:t>kΩ</a:t>
            </a:r>
            <a:r>
              <a:rPr lang="en-US" sz="1200" b="0" i="0" kern="1200" dirty="0" smtClean="0">
                <a:solidFill>
                  <a:schemeClr val="tx1"/>
                </a:solidFill>
                <a:effectLst/>
                <a:latin typeface="+mn-lt"/>
                <a:ea typeface="+mn-ea"/>
                <a:cs typeface="+mn-cs"/>
              </a:rPr>
              <a:t> (2)</a:t>
            </a:r>
          </a:p>
          <a:p>
            <a:r>
              <a:rPr lang="en-US" sz="1200" b="0" i="0" kern="1200" dirty="0" smtClean="0">
                <a:solidFill>
                  <a:schemeClr val="tx1"/>
                </a:solidFill>
                <a:effectLst/>
                <a:latin typeface="+mn-lt"/>
                <a:ea typeface="+mn-ea"/>
                <a:cs typeface="+mn-cs"/>
              </a:rPr>
              <a:t>330 Ω (2)</a:t>
            </a:r>
          </a:p>
          <a:p>
            <a:r>
              <a:rPr lang="en-US" sz="1200" b="0" i="0" kern="1200" dirty="0" smtClean="0">
                <a:solidFill>
                  <a:schemeClr val="tx1"/>
                </a:solidFill>
                <a:effectLst/>
                <a:latin typeface="+mn-lt"/>
                <a:ea typeface="+mn-ea"/>
                <a:cs typeface="+mn-cs"/>
              </a:rPr>
              <a:t>33 </a:t>
            </a:r>
            <a:r>
              <a:rPr lang="en-US" sz="1200" b="0" i="0" kern="1200" dirty="0" err="1" smtClean="0">
                <a:solidFill>
                  <a:schemeClr val="tx1"/>
                </a:solidFill>
                <a:effectLst/>
                <a:latin typeface="+mn-lt"/>
                <a:ea typeface="+mn-ea"/>
                <a:cs typeface="+mn-cs"/>
              </a:rPr>
              <a:t>kΩ</a:t>
            </a:r>
            <a:r>
              <a:rPr lang="en-US" sz="1200" b="0" i="0" kern="1200" dirty="0" smtClean="0">
                <a:solidFill>
                  <a:schemeClr val="tx1"/>
                </a:solidFill>
                <a:effectLst/>
                <a:latin typeface="+mn-lt"/>
                <a:ea typeface="+mn-ea"/>
                <a:cs typeface="+mn-cs"/>
              </a:rPr>
              <a:t> (1)</a:t>
            </a:r>
          </a:p>
          <a:p>
            <a:r>
              <a:rPr lang="en-US" sz="1200" b="0" i="0" kern="1200" dirty="0" err="1" smtClean="0">
                <a:solidFill>
                  <a:schemeClr val="tx1"/>
                </a:solidFill>
                <a:effectLst/>
                <a:latin typeface="+mn-lt"/>
                <a:ea typeface="+mn-ea"/>
                <a:cs typeface="+mn-cs"/>
              </a:rPr>
              <a:t>Trimpot</a:t>
            </a:r>
            <a:r>
              <a:rPr lang="en-US" sz="1200" b="0" i="0" kern="1200" dirty="0" smtClean="0">
                <a:solidFill>
                  <a:schemeClr val="tx1"/>
                </a:solidFill>
                <a:effectLst/>
                <a:latin typeface="+mn-lt"/>
                <a:ea typeface="+mn-ea"/>
                <a:cs typeface="+mn-cs"/>
              </a:rPr>
              <a:t> or potentiometer (I used 50 </a:t>
            </a:r>
            <a:r>
              <a:rPr lang="en-US" sz="1200" b="0" i="0" kern="1200" dirty="0" err="1" smtClean="0">
                <a:solidFill>
                  <a:schemeClr val="tx1"/>
                </a:solidFill>
                <a:effectLst/>
                <a:latin typeface="+mn-lt"/>
                <a:ea typeface="+mn-ea"/>
                <a:cs typeface="+mn-cs"/>
              </a:rPr>
              <a:t>kΩ</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Capacitor:</a:t>
            </a:r>
          </a:p>
          <a:p>
            <a:r>
              <a:rPr lang="en-US" sz="1200" b="0" i="0" kern="1200" dirty="0" smtClean="0">
                <a:solidFill>
                  <a:schemeClr val="tx1"/>
                </a:solidFill>
                <a:effectLst/>
                <a:latin typeface="+mn-lt"/>
                <a:ea typeface="+mn-ea"/>
                <a:cs typeface="+mn-cs"/>
              </a:rPr>
              <a:t>10 </a:t>
            </a:r>
            <a:r>
              <a:rPr lang="en-US" sz="1200" b="0" i="0" kern="1200" dirty="0" err="1" smtClean="0">
                <a:solidFill>
                  <a:schemeClr val="tx1"/>
                </a:solidFill>
                <a:effectLst/>
                <a:latin typeface="+mn-lt"/>
                <a:ea typeface="+mn-ea"/>
                <a:cs typeface="+mn-cs"/>
              </a:rPr>
              <a:t>nF</a:t>
            </a:r>
            <a:r>
              <a:rPr lang="en-US" sz="1200" b="0" i="0" kern="1200" dirty="0" smtClean="0">
                <a:solidFill>
                  <a:schemeClr val="tx1"/>
                </a:solidFill>
                <a:effectLst/>
                <a:latin typeface="+mn-lt"/>
                <a:ea typeface="+mn-ea"/>
                <a:cs typeface="+mn-cs"/>
              </a:rPr>
              <a:t> (1)</a:t>
            </a:r>
          </a:p>
          <a:p>
            <a:r>
              <a:rPr lang="en-US" sz="1200" b="0" i="0" kern="1200" dirty="0" smtClean="0">
                <a:solidFill>
                  <a:schemeClr val="tx1"/>
                </a:solidFill>
                <a:effectLst/>
                <a:latin typeface="+mn-lt"/>
                <a:ea typeface="+mn-ea"/>
                <a:cs typeface="+mn-cs"/>
              </a:rPr>
              <a:t>10 </a:t>
            </a:r>
            <a:r>
              <a:rPr lang="en-US" sz="1200" b="0" i="0" kern="1200" dirty="0" err="1" smtClean="0">
                <a:solidFill>
                  <a:schemeClr val="tx1"/>
                </a:solidFill>
                <a:effectLst/>
                <a:latin typeface="+mn-lt"/>
                <a:ea typeface="+mn-ea"/>
                <a:cs typeface="+mn-cs"/>
              </a:rPr>
              <a:t>uF</a:t>
            </a:r>
            <a:r>
              <a:rPr lang="en-US" sz="1200" b="0" i="0" kern="1200" dirty="0" smtClean="0">
                <a:solidFill>
                  <a:schemeClr val="tx1"/>
                </a:solidFill>
                <a:effectLst/>
                <a:latin typeface="+mn-lt"/>
                <a:ea typeface="+mn-ea"/>
                <a:cs typeface="+mn-cs"/>
              </a:rPr>
              <a:t> (1)</a:t>
            </a:r>
          </a:p>
          <a:p>
            <a:r>
              <a:rPr lang="en-US" sz="1200" b="0" i="0" kern="1200" dirty="0" smtClean="0">
                <a:solidFill>
                  <a:schemeClr val="tx1"/>
                </a:solidFill>
                <a:effectLst/>
                <a:latin typeface="+mn-lt"/>
                <a:ea typeface="+mn-ea"/>
                <a:cs typeface="+mn-cs"/>
              </a:rPr>
              <a:t>220 </a:t>
            </a:r>
            <a:r>
              <a:rPr lang="en-US" sz="1200" b="0" i="0" kern="1200" dirty="0" err="1" smtClean="0">
                <a:solidFill>
                  <a:schemeClr val="tx1"/>
                </a:solidFill>
                <a:effectLst/>
                <a:latin typeface="+mn-lt"/>
                <a:ea typeface="+mn-ea"/>
                <a:cs typeface="+mn-cs"/>
              </a:rPr>
              <a:t>uF</a:t>
            </a:r>
            <a:r>
              <a:rPr lang="en-US" sz="1200" b="0" i="0" kern="1200" dirty="0" smtClean="0">
                <a:solidFill>
                  <a:schemeClr val="tx1"/>
                </a:solidFill>
                <a:effectLst/>
                <a:latin typeface="+mn-lt"/>
                <a:ea typeface="+mn-ea"/>
                <a:cs typeface="+mn-cs"/>
              </a:rPr>
              <a:t> (1)</a:t>
            </a:r>
          </a:p>
          <a:p>
            <a:r>
              <a:rPr lang="en-US" sz="1200" b="0" i="0" kern="1200" dirty="0" smtClean="0">
                <a:solidFill>
                  <a:schemeClr val="tx1"/>
                </a:solidFill>
                <a:effectLst/>
                <a:latin typeface="+mn-lt"/>
                <a:ea typeface="+mn-ea"/>
                <a:cs typeface="+mn-cs"/>
              </a:rPr>
              <a:t>Other:</a:t>
            </a:r>
          </a:p>
          <a:p>
            <a:r>
              <a:rPr lang="en-US" sz="1200" b="0" i="0" kern="1200" dirty="0" smtClean="0">
                <a:solidFill>
                  <a:schemeClr val="tx1"/>
                </a:solidFill>
                <a:effectLst/>
                <a:latin typeface="+mn-lt"/>
                <a:ea typeface="+mn-ea"/>
                <a:cs typeface="+mn-cs"/>
              </a:rPr>
              <a:t>Diode (1)</a:t>
            </a:r>
          </a:p>
          <a:p>
            <a:r>
              <a:rPr lang="en-US" sz="1200" b="0" i="0" kern="1200" dirty="0" smtClean="0">
                <a:solidFill>
                  <a:schemeClr val="tx1"/>
                </a:solidFill>
                <a:effectLst/>
                <a:latin typeface="+mn-lt"/>
                <a:ea typeface="+mn-ea"/>
                <a:cs typeface="+mn-cs"/>
              </a:rPr>
              <a:t>LM7660 module (you can also use MC34063A positive to negative module)</a:t>
            </a:r>
          </a:p>
          <a:p>
            <a:endParaRPr lang="en-US" dirty="0"/>
          </a:p>
        </p:txBody>
      </p:sp>
      <p:sp>
        <p:nvSpPr>
          <p:cNvPr id="4" name="Slide Number Placeholder 3"/>
          <p:cNvSpPr>
            <a:spLocks noGrp="1"/>
          </p:cNvSpPr>
          <p:nvPr>
            <p:ph type="sldNum" sz="quarter" idx="10"/>
          </p:nvPr>
        </p:nvSpPr>
        <p:spPr/>
        <p:txBody>
          <a:bodyPr/>
          <a:lstStyle/>
          <a:p>
            <a:fld id="{F71A1DE6-A801-4746-9FC0-8352D20A3103}" type="slidenum">
              <a:rPr lang="en-US" smtClean="0"/>
              <a:t>11</a:t>
            </a:fld>
            <a:endParaRPr lang="en-US"/>
          </a:p>
        </p:txBody>
      </p:sp>
    </p:spTree>
    <p:extLst>
      <p:ext uri="{BB962C8B-B14F-4D97-AF65-F5344CB8AC3E}">
        <p14:creationId xmlns:p14="http://schemas.microsoft.com/office/powerpoint/2010/main" val="468238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https://github.com/RonAaron61/Bioimpedance_measure_microcontroller</a:t>
            </a:r>
            <a:endParaRPr lang="en-US" dirty="0"/>
          </a:p>
        </p:txBody>
      </p:sp>
      <p:sp>
        <p:nvSpPr>
          <p:cNvPr id="4" name="Slide Number Placeholder 3"/>
          <p:cNvSpPr>
            <a:spLocks noGrp="1"/>
          </p:cNvSpPr>
          <p:nvPr>
            <p:ph type="sldNum" sz="quarter" idx="10"/>
          </p:nvPr>
        </p:nvSpPr>
        <p:spPr/>
        <p:txBody>
          <a:bodyPr/>
          <a:lstStyle/>
          <a:p>
            <a:fld id="{F71A1DE6-A801-4746-9FC0-8352D20A3103}" type="slidenum">
              <a:rPr lang="en-US" smtClean="0"/>
              <a:t>12</a:t>
            </a:fld>
            <a:endParaRPr lang="en-US"/>
          </a:p>
        </p:txBody>
      </p:sp>
    </p:spTree>
    <p:extLst>
      <p:ext uri="{BB962C8B-B14F-4D97-AF65-F5344CB8AC3E}">
        <p14:creationId xmlns:p14="http://schemas.microsoft.com/office/powerpoint/2010/main" val="9246526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https://e2e.ti.com/support/amplifiers-group/amplifiers/f/amplifiers-forum/693061/ina129-why-did-not-i-recognize-the-differences-of-ina128-vs-ina129-and-opa2134-vs-tl074</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28</a:t>
            </a:fld>
            <a:endParaRPr lang="en-US"/>
          </a:p>
        </p:txBody>
      </p:sp>
    </p:spTree>
    <p:extLst>
      <p:ext uri="{BB962C8B-B14F-4D97-AF65-F5344CB8AC3E}">
        <p14:creationId xmlns:p14="http://schemas.microsoft.com/office/powerpoint/2010/main" val="40013629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https://e2e.ti.com/support/amplifiers-group/amplifiers/f/amplifiers-forum/693061/ina129-why-did-not-i-recognize-the-differences-of-ina128-vs-ina129-and-opa2134-vs-tl074</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29</a:t>
            </a:fld>
            <a:endParaRPr lang="en-US"/>
          </a:p>
        </p:txBody>
      </p:sp>
    </p:spTree>
    <p:extLst>
      <p:ext uri="{BB962C8B-B14F-4D97-AF65-F5344CB8AC3E}">
        <p14:creationId xmlns:p14="http://schemas.microsoft.com/office/powerpoint/2010/main" val="1966076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https://e2e.ti.com/support/amplifiers-group/amplifiers/f/amplifiers-forum/693061/ina129-why-did-not-i-recognize-the-differences-of-ina128-vs-ina129-and-opa2134-vs-tl074</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30</a:t>
            </a:fld>
            <a:endParaRPr lang="en-US"/>
          </a:p>
        </p:txBody>
      </p:sp>
    </p:spTree>
    <p:extLst>
      <p:ext uri="{BB962C8B-B14F-4D97-AF65-F5344CB8AC3E}">
        <p14:creationId xmlns:p14="http://schemas.microsoft.com/office/powerpoint/2010/main" val="42326522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https://e2e.ti.com/support/amplifiers-group/amplifiers/f/amplifiers-forum/693061/ina129-why-did-not-i-recognize-the-differences-of-ina128-vs-ina129-and-opa2134-vs-tl074</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31</a:t>
            </a:fld>
            <a:endParaRPr lang="en-US"/>
          </a:p>
        </p:txBody>
      </p:sp>
    </p:spTree>
    <p:extLst>
      <p:ext uri="{BB962C8B-B14F-4D97-AF65-F5344CB8AC3E}">
        <p14:creationId xmlns:p14="http://schemas.microsoft.com/office/powerpoint/2010/main" val="41468834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ln/>
        </p:spPr>
      </p:sp>
      <p:sp>
        <p:nvSpPr>
          <p:cNvPr id="16387" name="Notes Placeholder 2"/>
          <p:cNvSpPr>
            <a:spLocks noGrp="1"/>
          </p:cNvSpPr>
          <p:nvPr>
            <p:ph type="body" idx="1"/>
          </p:nvPr>
        </p:nvSpPr>
        <p:spPr>
          <a:noFill/>
        </p:spPr>
        <p:txBody>
          <a:bodyPr/>
          <a:lstStyle/>
          <a:p>
            <a:r>
              <a:rPr lang="id-ID" altLang="en-US" smtClean="0"/>
              <a:t>/*</a:t>
            </a:r>
          </a:p>
          <a:p>
            <a:r>
              <a:rPr lang="id-ID" altLang="en-US" smtClean="0"/>
              <a:t>* VVC terhubung dengan +5V</a:t>
            </a:r>
          </a:p>
          <a:p>
            <a:r>
              <a:rPr lang="id-ID" altLang="en-US" smtClean="0"/>
              <a:t>* GND terhubung dengan to ground</a:t>
            </a:r>
          </a:p>
          <a:p>
            <a:r>
              <a:rPr lang="id-ID" altLang="en-US" smtClean="0"/>
              <a:t>* TRIG terhubung dengan 12</a:t>
            </a:r>
          </a:p>
          <a:p>
            <a:r>
              <a:rPr lang="id-ID" altLang="en-US" smtClean="0"/>
              <a:t>* ECHO terhubung dengan 13</a:t>
            </a:r>
          </a:p>
          <a:p>
            <a:r>
              <a:rPr lang="id-ID" altLang="en-US" smtClean="0"/>
              <a:t>*/</a:t>
            </a:r>
          </a:p>
          <a:p>
            <a:r>
              <a:rPr lang="id-ID" altLang="en-US" smtClean="0"/>
              <a:t>const int TRIG_PIN = 12;</a:t>
            </a:r>
          </a:p>
          <a:p>
            <a:r>
              <a:rPr lang="id-ID" altLang="en-US" smtClean="0"/>
              <a:t>const int ECHO_PIN = 13;</a:t>
            </a:r>
          </a:p>
          <a:p>
            <a:r>
              <a:rPr lang="id-ID" altLang="en-US" smtClean="0"/>
              <a:t>void setup() {</a:t>
            </a:r>
          </a:p>
          <a:p>
            <a:r>
              <a:rPr lang="id-ID" altLang="en-US" smtClean="0"/>
              <a:t>// inisialisasi komunikasi serial:</a:t>
            </a:r>
          </a:p>
          <a:p>
            <a:r>
              <a:rPr lang="id-ID" altLang="en-US" smtClean="0"/>
              <a:t>Serial.begin(9600);</a:t>
            </a:r>
          </a:p>
          <a:p>
            <a:r>
              <a:rPr lang="id-ID" altLang="en-US" smtClean="0"/>
              <a:t>pinMode(TRIG_PIN,OUTPUT);</a:t>
            </a:r>
          </a:p>
          <a:p>
            <a:r>
              <a:rPr lang="id-ID" altLang="en-US" smtClean="0"/>
              <a:t>pinMode(ECHO_PIN,INPUT);</a:t>
            </a:r>
          </a:p>
          <a:p>
            <a:r>
              <a:rPr lang="id-ID" altLang="en-US" smtClean="0"/>
              <a:t>}</a:t>
            </a:r>
          </a:p>
          <a:p>
            <a:r>
              <a:rPr lang="id-ID" altLang="en-US" smtClean="0"/>
              <a:t>void loop()</a:t>
            </a:r>
          </a:p>
          <a:p>
            <a:r>
              <a:rPr lang="id-ID" altLang="en-US" smtClean="0"/>
              <a:t>{</a:t>
            </a:r>
          </a:p>
          <a:p>
            <a:r>
              <a:rPr lang="id-ID" altLang="en-US" smtClean="0"/>
              <a:t>long waktu, jarakCm;</a:t>
            </a:r>
          </a:p>
          <a:p>
            <a:r>
              <a:rPr lang="id-ID" altLang="en-US" smtClean="0"/>
              <a:t>digitalWrite(TRIG_PIN, LOW);</a:t>
            </a:r>
          </a:p>
          <a:p>
            <a:r>
              <a:rPr lang="id-ID" altLang="en-US" smtClean="0"/>
              <a:t>delayMicroseconds(2);</a:t>
            </a:r>
          </a:p>
          <a:p>
            <a:r>
              <a:rPr lang="id-ID" altLang="en-US" smtClean="0"/>
              <a:t>digitalWrite(TRIG_PIN, HIGH);</a:t>
            </a:r>
          </a:p>
          <a:p>
            <a:r>
              <a:rPr lang="id-ID" altLang="en-US" smtClean="0"/>
              <a:t>delayMicroseconds(10);</a:t>
            </a:r>
          </a:p>
          <a:p>
            <a:r>
              <a:rPr lang="id-ID" altLang="en-US" smtClean="0"/>
              <a:t>digitalWrite(TRIG_PIN, LOW);</a:t>
            </a:r>
          </a:p>
          <a:p>
            <a:r>
              <a:rPr lang="id-ID" altLang="en-US" smtClean="0"/>
              <a:t>waktu = pulseIn(ECHO_PIN,HIGH);</a:t>
            </a:r>
          </a:p>
          <a:p>
            <a:r>
              <a:rPr lang="id-ID" altLang="en-US" smtClean="0"/>
              <a:t>// konversi waktu menjadi jarak</a:t>
            </a:r>
          </a:p>
          <a:p>
            <a:r>
              <a:rPr lang="id-ID" altLang="en-US" smtClean="0"/>
              <a:t>jarakCm = (waktu * 347.662 *100)/(1000000*2);</a:t>
            </a:r>
          </a:p>
          <a:p>
            <a:r>
              <a:rPr lang="id-ID" altLang="en-US" smtClean="0"/>
              <a:t>if (jarakCm &lt;= 0){</a:t>
            </a:r>
          </a:p>
          <a:p>
            <a:r>
              <a:rPr lang="id-ID" altLang="en-US" smtClean="0"/>
              <a:t>Serial.println(“Out of range”);</a:t>
            </a:r>
          </a:p>
          <a:p>
            <a:r>
              <a:rPr lang="id-ID" altLang="en-US" smtClean="0"/>
              <a:t>}</a:t>
            </a:r>
          </a:p>
          <a:p>
            <a:r>
              <a:rPr lang="id-ID" altLang="en-US" smtClean="0"/>
              <a:t>else {</a:t>
            </a:r>
          </a:p>
          <a:p>
            <a:r>
              <a:rPr lang="id-ID" altLang="en-US" smtClean="0"/>
              <a:t>Serial.print(jarakCm);</a:t>
            </a:r>
          </a:p>
          <a:p>
            <a:r>
              <a:rPr lang="id-ID" altLang="en-US" smtClean="0"/>
              <a:t>Serial.print(“cm, “);</a:t>
            </a:r>
          </a:p>
          <a:p>
            <a:r>
              <a:rPr lang="id-ID" altLang="en-US" smtClean="0"/>
              <a:t>Serial.print(waktu);</a:t>
            </a:r>
          </a:p>
          <a:p>
            <a:r>
              <a:rPr lang="id-ID" altLang="en-US" smtClean="0"/>
              <a:t>Serial.print(“us”);</a:t>
            </a:r>
          </a:p>
          <a:p>
            <a:r>
              <a:rPr lang="id-ID" altLang="en-US" smtClean="0"/>
              <a:t>Serial.println();</a:t>
            </a:r>
          </a:p>
          <a:p>
            <a:r>
              <a:rPr lang="id-ID" altLang="en-US" smtClean="0"/>
              <a:t>}</a:t>
            </a:r>
          </a:p>
          <a:p>
            <a:r>
              <a:rPr lang="id-ID" altLang="en-US" smtClean="0"/>
              <a:t>delay(1000);</a:t>
            </a:r>
          </a:p>
          <a:p>
            <a:r>
              <a:rPr lang="id-ID" altLang="en-US" smtClean="0"/>
              <a:t>}</a:t>
            </a:r>
          </a:p>
          <a:p>
            <a:r>
              <a:rPr lang="id-ID" altLang="en-US" smtClean="0"/>
              <a:t>Kita perhatikan persamaan untuk mengukur jarak pada program di atas.</a:t>
            </a:r>
          </a:p>
          <a:p>
            <a:r>
              <a:rPr lang="id-ID" altLang="en-US" smtClean="0"/>
              <a:t>jarakCm = (waktu * 347.662 *100)/(1000000*2)</a:t>
            </a:r>
          </a:p>
          <a:p>
            <a:r>
              <a:rPr lang="id-ID" altLang="en-US" smtClean="0"/>
              <a:t>Angka 347.662 merupakan kecepatan suara pada suhu 27 </a:t>
            </a:r>
            <a:r>
              <a:rPr lang="id-ID" altLang="en-US" baseline="30000" smtClean="0"/>
              <a:t>o</a:t>
            </a:r>
            <a:r>
              <a:rPr lang="id-ID" altLang="en-US" smtClean="0"/>
              <a:t>C. Kecepatan suara bergantung suhu dengan persamaan</a:t>
            </a:r>
          </a:p>
          <a:p>
            <a:r>
              <a:rPr lang="id-ID" altLang="en-US" smtClean="0"/>
              <a:t>sedangkan pengali 100 adalah konversi m/s ke cm/s. Waktu yang terukur dalam satuan mikrosekon sehingga jika ingin dikonversi menjadi sekon kita harus membaginya dengan 1000000 (satu juta). Seperti yang telah saya sebutkan di atas, jarak harus dibagi 2 karena gelombang ultrasonik menempuh dua lintasan yaitu sensor ke penghalang dan penghalang ke sensor.</a:t>
            </a:r>
          </a:p>
        </p:txBody>
      </p:sp>
      <p:sp>
        <p:nvSpPr>
          <p:cNvPr id="16388"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60690D3-69F8-49BE-B561-AA5375ED766B}" type="slidenum">
              <a:rPr lang="en-US" altLang="en-US" smtClean="0"/>
              <a:pPr/>
              <a:t>40</a:t>
            </a:fld>
            <a:endParaRPr lang="en-US" altLang="en-US" smtClean="0"/>
          </a:p>
        </p:txBody>
      </p:sp>
    </p:spTree>
    <p:extLst>
      <p:ext uri="{BB962C8B-B14F-4D97-AF65-F5344CB8AC3E}">
        <p14:creationId xmlns:p14="http://schemas.microsoft.com/office/powerpoint/2010/main" val="29736365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C77EA2CC-FABD-466D-82E8-AC953C7EC0CC}" type="slidenum">
              <a:rPr lang="en-US" smtClean="0"/>
              <a:t>51</a:t>
            </a:fld>
            <a:endParaRPr lang="en-US"/>
          </a:p>
        </p:txBody>
      </p:sp>
    </p:spTree>
    <p:extLst>
      <p:ext uri="{BB962C8B-B14F-4D97-AF65-F5344CB8AC3E}">
        <p14:creationId xmlns:p14="http://schemas.microsoft.com/office/powerpoint/2010/main" val="4087328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88409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622034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7BBB5D1-B60B-4B38-B17E-7765EA145201}"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46888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7BBB5D1-B60B-4B38-B17E-7765EA145201}"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944396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7BBB5D1-B60B-4B38-B17E-7765EA145201}" type="datetimeFigureOut">
              <a:rPr lang="en-US" smtClean="0"/>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022342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7BBB5D1-B60B-4B38-B17E-7765EA145201}" type="datetimeFigureOut">
              <a:rPr lang="en-US" smtClean="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362084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BBB5D1-B60B-4B38-B17E-7765EA145201}" type="datetimeFigureOut">
              <a:rPr lang="en-US" smtClean="0"/>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562924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775841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201192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073669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979566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BBB5D1-B60B-4B38-B17E-7765EA145201}" type="datetimeFigureOut">
              <a:rPr lang="en-US" smtClean="0"/>
              <a:t>4/2/2026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F42857-403A-4A86-BF79-9A4C4603A143}" type="slidenum">
              <a:rPr lang="en-US" smtClean="0"/>
              <a:t>‹#›</a:t>
            </a:fld>
            <a:endParaRPr lang="en-US"/>
          </a:p>
        </p:txBody>
      </p:sp>
    </p:spTree>
    <p:extLst>
      <p:ext uri="{BB962C8B-B14F-4D97-AF65-F5344CB8AC3E}">
        <p14:creationId xmlns:p14="http://schemas.microsoft.com/office/powerpoint/2010/main" val="2655898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Layout" Target="../diagrams/layout3.xml"/><Relationship Id="rId7" Type="http://schemas.openxmlformats.org/officeDocument/2006/relationships/image" Target="../media/image2.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 Id="rId9"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10" Type="http://schemas.openxmlformats.org/officeDocument/2006/relationships/image" Target="../media/image7.png"/><Relationship Id="rId4" Type="http://schemas.openxmlformats.org/officeDocument/2006/relationships/diagramLayout" Target="../diagrams/layout4.xml"/><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10" Type="http://schemas.openxmlformats.org/officeDocument/2006/relationships/image" Target="../media/image11.png"/><Relationship Id="rId4" Type="http://schemas.openxmlformats.org/officeDocument/2006/relationships/diagramLayout" Target="../diagrams/layout5.xml"/><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14.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7.xml"/><Relationship Id="rId11" Type="http://schemas.openxmlformats.org/officeDocument/2006/relationships/image" Target="../media/image18.png"/><Relationship Id="rId5" Type="http://schemas.openxmlformats.org/officeDocument/2006/relationships/diagramQuickStyle" Target="../diagrams/quickStyle7.xml"/><Relationship Id="rId10" Type="http://schemas.openxmlformats.org/officeDocument/2006/relationships/image" Target="../media/image17.png"/><Relationship Id="rId4" Type="http://schemas.openxmlformats.org/officeDocument/2006/relationships/diagramLayout" Target="../diagrams/layout7.xml"/><Relationship Id="rId9"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diagramLayout" Target="../diagrams/layout21.xml"/><Relationship Id="rId7" Type="http://schemas.openxmlformats.org/officeDocument/2006/relationships/image" Target="../media/image24.png"/><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wmf"/><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3.wmf"/><Relationship Id="rId5" Type="http://schemas.openxmlformats.org/officeDocument/2006/relationships/oleObject" Target="../embeddings/oleObject2.bin"/><Relationship Id="rId10" Type="http://schemas.openxmlformats.org/officeDocument/2006/relationships/image" Target="../media/image36.png"/><Relationship Id="rId4" Type="http://schemas.openxmlformats.org/officeDocument/2006/relationships/image" Target="../media/image32.png"/><Relationship Id="rId9"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32.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8.wmf"/><Relationship Id="rId7" Type="http://schemas.openxmlformats.org/officeDocument/2006/relationships/image" Target="../media/image49.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47.wmf"/><Relationship Id="rId10" Type="http://schemas.openxmlformats.org/officeDocument/2006/relationships/image" Target="../media/image52.png"/><Relationship Id="rId4" Type="http://schemas.openxmlformats.org/officeDocument/2006/relationships/oleObject" Target="../embeddings/oleObject4.bin"/><Relationship Id="rId9" Type="http://schemas.openxmlformats.org/officeDocument/2006/relationships/image" Target="../media/image51.png"/></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oleObject" Target="../embeddings/oleObject11.bin"/><Relationship Id="rId3" Type="http://schemas.openxmlformats.org/officeDocument/2006/relationships/image" Target="../media/image55.wmf"/><Relationship Id="rId7" Type="http://schemas.openxmlformats.org/officeDocument/2006/relationships/image" Target="../media/image56.wmf"/><Relationship Id="rId12"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7.bin"/><Relationship Id="rId11" Type="http://schemas.openxmlformats.org/officeDocument/2006/relationships/image" Target="../media/image54.wmf"/><Relationship Id="rId5" Type="http://schemas.openxmlformats.org/officeDocument/2006/relationships/image" Target="../media/image47.w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53.wmf"/><Relationship Id="rId14" Type="http://schemas.openxmlformats.org/officeDocument/2006/relationships/image" Target="../media/image57.w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image" Target="../media/image62.wmf"/><Relationship Id="rId7" Type="http://schemas.openxmlformats.org/officeDocument/2006/relationships/image" Target="../media/image59.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13.bin"/><Relationship Id="rId11" Type="http://schemas.openxmlformats.org/officeDocument/2006/relationships/image" Target="../media/image61.wmf"/><Relationship Id="rId5" Type="http://schemas.openxmlformats.org/officeDocument/2006/relationships/image" Target="../media/image58.wmf"/><Relationship Id="rId10" Type="http://schemas.openxmlformats.org/officeDocument/2006/relationships/oleObject" Target="../embeddings/oleObject15.bin"/><Relationship Id="rId4" Type="http://schemas.openxmlformats.org/officeDocument/2006/relationships/oleObject" Target="../embeddings/oleObject12.bin"/><Relationship Id="rId9" Type="http://schemas.openxmlformats.org/officeDocument/2006/relationships/image" Target="../media/image60.wmf"/></Relationships>
</file>

<file path=ppt/slides/_rels/slide35.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64.wmf"/><Relationship Id="rId5" Type="http://schemas.openxmlformats.org/officeDocument/2006/relationships/oleObject" Target="../embeddings/oleObject17.bin"/><Relationship Id="rId4" Type="http://schemas.openxmlformats.org/officeDocument/2006/relationships/image" Target="../media/image63.wmf"/><Relationship Id="rId9" Type="http://schemas.openxmlformats.org/officeDocument/2006/relationships/image" Target="../media/image66.png"/></Relationships>
</file>

<file path=ppt/slides/_rels/slide36.xml.rels><?xml version="1.0" encoding="UTF-8" standalone="yes"?>
<Relationships xmlns="http://schemas.openxmlformats.org/package/2006/relationships"><Relationship Id="rId2" Type="http://schemas.openxmlformats.org/officeDocument/2006/relationships/image" Target="../media/image67.w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0.wmf"/><Relationship Id="rId7" Type="http://schemas.openxmlformats.org/officeDocument/2006/relationships/image" Target="../media/image69.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20.bin"/><Relationship Id="rId5" Type="http://schemas.openxmlformats.org/officeDocument/2006/relationships/image" Target="../media/image68.wmf"/><Relationship Id="rId4" Type="http://schemas.openxmlformats.org/officeDocument/2006/relationships/oleObject" Target="../embeddings/oleObject19.bin"/></Relationships>
</file>

<file path=ppt/slides/_rels/slide3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_rels/slide4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42.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86.jpeg"/><Relationship Id="rId5" Type="http://schemas.openxmlformats.org/officeDocument/2006/relationships/image" Target="../media/image85.emf"/><Relationship Id="rId4" Type="http://schemas.openxmlformats.org/officeDocument/2006/relationships/image" Target="../media/image84.emf"/></Relationships>
</file>

<file path=ppt/slides/_rels/slide43.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image" Target="../media/image89.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microsoft.com/office/2007/relationships/diagramDrawing" Target="../diagrams/drawing22.xml"/><Relationship Id="rId3" Type="http://schemas.openxmlformats.org/officeDocument/2006/relationships/image" Target="../media/image1.png"/><Relationship Id="rId7" Type="http://schemas.openxmlformats.org/officeDocument/2006/relationships/diagramColors" Target="../diagrams/colors22.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QuickStyle" Target="../diagrams/quickStyle22.xml"/><Relationship Id="rId5" Type="http://schemas.openxmlformats.org/officeDocument/2006/relationships/diagramLayout" Target="../diagrams/layout22.xml"/><Relationship Id="rId4" Type="http://schemas.openxmlformats.org/officeDocument/2006/relationships/diagramData" Target="../diagrams/data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ubtitle 2"/>
          <p:cNvSpPr txBox="1">
            <a:spLocks/>
          </p:cNvSpPr>
          <p:nvPr/>
        </p:nvSpPr>
        <p:spPr>
          <a:xfrm>
            <a:off x="5038473" y="1264112"/>
            <a:ext cx="5287688" cy="5210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solidFill>
                <a:srgbClr val="00B0F0"/>
              </a:solidFill>
            </a:endParaRPr>
          </a:p>
        </p:txBody>
      </p:sp>
      <p:grpSp>
        <p:nvGrpSpPr>
          <p:cNvPr id="20" name="Group 19"/>
          <p:cNvGrpSpPr/>
          <p:nvPr/>
        </p:nvGrpSpPr>
        <p:grpSpPr>
          <a:xfrm>
            <a:off x="234110" y="395322"/>
            <a:ext cx="4804363" cy="2463094"/>
            <a:chOff x="54496" y="359621"/>
            <a:chExt cx="4804363" cy="2463094"/>
          </a:xfrm>
        </p:grpSpPr>
        <p:pic>
          <p:nvPicPr>
            <p:cNvPr id="19" name="Picture 18"/>
            <p:cNvPicPr>
              <a:picLocks noChangeAspect="1"/>
            </p:cNvPicPr>
            <p:nvPr/>
          </p:nvPicPr>
          <p:blipFill>
            <a:blip r:embed="rId3"/>
            <a:stretch>
              <a:fillRect/>
            </a:stretch>
          </p:blipFill>
          <p:spPr>
            <a:xfrm>
              <a:off x="235105" y="1901987"/>
              <a:ext cx="3104181" cy="263526"/>
            </a:xfrm>
            <a:prstGeom prst="rect">
              <a:avLst/>
            </a:prstGeom>
          </p:spPr>
        </p:pic>
        <p:sp>
          <p:nvSpPr>
            <p:cNvPr id="6"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7" name="Group 6">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8" name="Freeform 7">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9" name="Freeform 8">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0" name="Group 9">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17"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18"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sp>
        <p:nvSpPr>
          <p:cNvPr id="22" name="Rectangle 21"/>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23" name="Rectangle 22"/>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24" name="Rectangle 23"/>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25" name="Rectangle 24"/>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26" name="Rectangle 25"/>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grpSp>
        <p:nvGrpSpPr>
          <p:cNvPr id="2" name="Group 1"/>
          <p:cNvGrpSpPr/>
          <p:nvPr/>
        </p:nvGrpSpPr>
        <p:grpSpPr>
          <a:xfrm>
            <a:off x="2063476" y="3415832"/>
            <a:ext cx="9208469" cy="933122"/>
            <a:chOff x="2063476" y="3415832"/>
            <a:chExt cx="9208469" cy="933122"/>
          </a:xfrm>
        </p:grpSpPr>
        <p:graphicFrame>
          <p:nvGraphicFramePr>
            <p:cNvPr id="21" name="Diagram 20"/>
            <p:cNvGraphicFramePr/>
            <p:nvPr>
              <p:extLst>
                <p:ext uri="{D42A27DB-BD31-4B8C-83A1-F6EECF244321}">
                  <p14:modId xmlns:p14="http://schemas.microsoft.com/office/powerpoint/2010/main" val="3585890564"/>
                </p:ext>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7" name="Pie 26"/>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spTree>
    <p:extLst>
      <p:ext uri="{BB962C8B-B14F-4D97-AF65-F5344CB8AC3E}">
        <p14:creationId xmlns:p14="http://schemas.microsoft.com/office/powerpoint/2010/main" val="38640026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Outlines:</a:t>
            </a:r>
            <a:r>
              <a:rPr lang="en-US" dirty="0"/>
              <a:t/>
            </a:r>
            <a:br>
              <a:rPr lang="en-US" dirty="0"/>
            </a:br>
            <a:endParaRPr lang="en-US" dirty="0"/>
          </a:p>
        </p:txBody>
      </p:sp>
      <p:sp>
        <p:nvSpPr>
          <p:cNvPr id="3" name="Content Placeholder 2"/>
          <p:cNvSpPr>
            <a:spLocks noGrp="1"/>
          </p:cNvSpPr>
          <p:nvPr>
            <p:ph idx="1"/>
          </p:nvPr>
        </p:nvSpPr>
        <p:spPr/>
        <p:txBody>
          <a:bodyPr>
            <a:normAutofit fontScale="62500" lnSpcReduction="20000"/>
          </a:bodyPr>
          <a:lstStyle/>
          <a:p>
            <a:r>
              <a:rPr lang="en-US" b="1" i="1" dirty="0" err="1" smtClean="0"/>
              <a:t>Pembahasan</a:t>
            </a:r>
            <a:r>
              <a:rPr lang="en-US" b="1" i="1" dirty="0" smtClean="0"/>
              <a:t>  1</a:t>
            </a:r>
            <a:r>
              <a:rPr lang="en-US" dirty="0"/>
              <a:t> : </a:t>
            </a:r>
            <a:r>
              <a:rPr lang="en-US" dirty="0" smtClean="0"/>
              <a:t>Transistor - </a:t>
            </a:r>
            <a:r>
              <a:rPr lang="en-US" dirty="0" err="1" smtClean="0"/>
              <a:t>Respon</a:t>
            </a:r>
            <a:r>
              <a:rPr lang="en-US" dirty="0" smtClean="0"/>
              <a:t> </a:t>
            </a:r>
            <a:r>
              <a:rPr lang="en-US" dirty="0" err="1"/>
              <a:t>frekuensi</a:t>
            </a:r>
            <a:r>
              <a:rPr lang="en-US" dirty="0"/>
              <a:t> </a:t>
            </a:r>
            <a:r>
              <a:rPr lang="en-US" dirty="0" err="1"/>
              <a:t>tengah</a:t>
            </a:r>
            <a:r>
              <a:rPr lang="en-US" dirty="0"/>
              <a:t> </a:t>
            </a:r>
            <a:r>
              <a:rPr lang="en-US" dirty="0" err="1"/>
              <a:t>untuk</a:t>
            </a:r>
            <a:r>
              <a:rPr lang="en-US" dirty="0"/>
              <a:t> transistor BJT </a:t>
            </a:r>
            <a:r>
              <a:rPr lang="en-US" dirty="0" err="1"/>
              <a:t>dan</a:t>
            </a:r>
            <a:r>
              <a:rPr lang="en-US" dirty="0"/>
              <a:t> FET</a:t>
            </a:r>
          </a:p>
          <a:p>
            <a:r>
              <a:rPr lang="en-US" b="1" i="1" dirty="0" err="1"/>
              <a:t>Pembahasan</a:t>
            </a:r>
            <a:r>
              <a:rPr lang="en-US" b="1" i="1" dirty="0"/>
              <a:t> 2</a:t>
            </a:r>
            <a:r>
              <a:rPr lang="en-US" dirty="0"/>
              <a:t> : Transistor - </a:t>
            </a:r>
            <a:r>
              <a:rPr lang="en-US" dirty="0" err="1" smtClean="0"/>
              <a:t>Respon</a:t>
            </a:r>
            <a:r>
              <a:rPr lang="en-US" dirty="0" smtClean="0"/>
              <a:t> </a:t>
            </a:r>
            <a:r>
              <a:rPr lang="en-US" dirty="0" err="1"/>
              <a:t>frekuensi</a:t>
            </a:r>
            <a:r>
              <a:rPr lang="en-US" dirty="0"/>
              <a:t> </a:t>
            </a:r>
            <a:r>
              <a:rPr lang="en-US" dirty="0" err="1"/>
              <a:t>tinggi</a:t>
            </a:r>
            <a:r>
              <a:rPr lang="en-US" dirty="0"/>
              <a:t> </a:t>
            </a:r>
            <a:r>
              <a:rPr lang="en-US" dirty="0" err="1"/>
              <a:t>untuk</a:t>
            </a:r>
            <a:r>
              <a:rPr lang="en-US" dirty="0"/>
              <a:t> transistor BJT </a:t>
            </a:r>
            <a:r>
              <a:rPr lang="en-US" dirty="0" err="1"/>
              <a:t>dan</a:t>
            </a:r>
            <a:r>
              <a:rPr lang="en-US" dirty="0"/>
              <a:t> FET</a:t>
            </a:r>
          </a:p>
          <a:p>
            <a:r>
              <a:rPr lang="en-US" b="1" i="1" dirty="0" err="1"/>
              <a:t>Pembahasan</a:t>
            </a:r>
            <a:r>
              <a:rPr lang="en-US" b="1" i="1" dirty="0"/>
              <a:t> 3</a:t>
            </a:r>
            <a:r>
              <a:rPr lang="en-US" dirty="0"/>
              <a:t> : Transistor - </a:t>
            </a:r>
            <a:r>
              <a:rPr lang="en-US" dirty="0" err="1" smtClean="0"/>
              <a:t>Respon</a:t>
            </a:r>
            <a:r>
              <a:rPr lang="en-US" dirty="0" smtClean="0"/>
              <a:t> </a:t>
            </a:r>
            <a:r>
              <a:rPr lang="en-US" dirty="0" err="1"/>
              <a:t>frekuensi</a:t>
            </a:r>
            <a:r>
              <a:rPr lang="en-US" dirty="0"/>
              <a:t> </a:t>
            </a:r>
            <a:r>
              <a:rPr lang="en-US" dirty="0" err="1"/>
              <a:t>rendah</a:t>
            </a:r>
            <a:r>
              <a:rPr lang="en-US" dirty="0"/>
              <a:t> </a:t>
            </a:r>
            <a:r>
              <a:rPr lang="en-US" dirty="0" err="1"/>
              <a:t>untuk</a:t>
            </a:r>
            <a:r>
              <a:rPr lang="en-US" dirty="0"/>
              <a:t> transistor BJT </a:t>
            </a:r>
            <a:r>
              <a:rPr lang="en-US" dirty="0" err="1"/>
              <a:t>dan</a:t>
            </a:r>
            <a:r>
              <a:rPr lang="en-US" dirty="0"/>
              <a:t> FET</a:t>
            </a:r>
          </a:p>
          <a:p>
            <a:r>
              <a:rPr lang="en-US" b="1" i="1" dirty="0" err="1"/>
              <a:t>Pembahasan</a:t>
            </a:r>
            <a:r>
              <a:rPr lang="en-US" b="1" i="1" dirty="0"/>
              <a:t> 4</a:t>
            </a:r>
            <a:r>
              <a:rPr lang="en-US" dirty="0"/>
              <a:t> : </a:t>
            </a:r>
            <a:r>
              <a:rPr lang="en-US" dirty="0" smtClean="0"/>
              <a:t>OP AMP- </a:t>
            </a:r>
            <a:r>
              <a:rPr lang="en-US" dirty="0" err="1" smtClean="0"/>
              <a:t>Penguat</a:t>
            </a:r>
            <a:r>
              <a:rPr lang="en-US" dirty="0" smtClean="0"/>
              <a:t> </a:t>
            </a:r>
            <a:r>
              <a:rPr lang="en-US" dirty="0"/>
              <a:t>Op-Amp</a:t>
            </a:r>
          </a:p>
          <a:p>
            <a:r>
              <a:rPr lang="en-US" b="1" i="1" dirty="0" err="1"/>
              <a:t>Pembahasan</a:t>
            </a:r>
            <a:r>
              <a:rPr lang="en-US" b="1" i="1" dirty="0"/>
              <a:t> 5</a:t>
            </a:r>
            <a:r>
              <a:rPr lang="en-US" dirty="0"/>
              <a:t> : OP AMP- </a:t>
            </a:r>
            <a:r>
              <a:rPr lang="en-US" dirty="0" err="1" smtClean="0"/>
              <a:t>Umpan</a:t>
            </a:r>
            <a:r>
              <a:rPr lang="en-US" dirty="0" smtClean="0"/>
              <a:t> </a:t>
            </a:r>
            <a:r>
              <a:rPr lang="en-US" dirty="0" err="1"/>
              <a:t>balik</a:t>
            </a:r>
            <a:r>
              <a:rPr lang="en-US" dirty="0"/>
              <a:t> </a:t>
            </a:r>
            <a:r>
              <a:rPr lang="en-US" dirty="0" err="1"/>
              <a:t>negatif</a:t>
            </a:r>
            <a:endParaRPr lang="en-US" dirty="0"/>
          </a:p>
          <a:p>
            <a:r>
              <a:rPr lang="en-US" b="1" i="1" dirty="0" err="1"/>
              <a:t>Pembahasan</a:t>
            </a:r>
            <a:r>
              <a:rPr lang="en-US" b="1" i="1" dirty="0"/>
              <a:t> 6</a:t>
            </a:r>
            <a:r>
              <a:rPr lang="en-US" dirty="0"/>
              <a:t> : OP AMP- </a:t>
            </a:r>
            <a:r>
              <a:rPr lang="en-US" dirty="0" err="1" smtClean="0"/>
              <a:t>Topologi</a:t>
            </a:r>
            <a:r>
              <a:rPr lang="en-US" dirty="0" smtClean="0"/>
              <a:t> </a:t>
            </a:r>
            <a:r>
              <a:rPr lang="en-US" dirty="0" err="1"/>
              <a:t>umpan</a:t>
            </a:r>
            <a:r>
              <a:rPr lang="en-US" dirty="0"/>
              <a:t> </a:t>
            </a:r>
            <a:r>
              <a:rPr lang="en-US" dirty="0" err="1"/>
              <a:t>balik</a:t>
            </a:r>
            <a:r>
              <a:rPr lang="en-US" dirty="0"/>
              <a:t> </a:t>
            </a:r>
            <a:r>
              <a:rPr lang="en-US" dirty="0" err="1"/>
              <a:t>negatif</a:t>
            </a:r>
            <a:endParaRPr lang="en-US" dirty="0"/>
          </a:p>
          <a:p>
            <a:r>
              <a:rPr lang="en-US" b="1" i="1" dirty="0" err="1"/>
              <a:t>Pembahasan</a:t>
            </a:r>
            <a:r>
              <a:rPr lang="en-US" b="1" i="1" dirty="0"/>
              <a:t> 7</a:t>
            </a:r>
            <a:r>
              <a:rPr lang="en-US" dirty="0"/>
              <a:t> : OP AMP- </a:t>
            </a:r>
            <a:r>
              <a:rPr lang="en-US" dirty="0" err="1" smtClean="0"/>
              <a:t>Penguatan</a:t>
            </a:r>
            <a:r>
              <a:rPr lang="en-US" dirty="0" smtClean="0"/>
              <a:t> </a:t>
            </a:r>
            <a:r>
              <a:rPr lang="en-US" dirty="0"/>
              <a:t>A </a:t>
            </a:r>
            <a:r>
              <a:rPr lang="en-US" dirty="0" err="1"/>
              <a:t>dan</a:t>
            </a:r>
            <a:r>
              <a:rPr lang="en-US" dirty="0"/>
              <a:t> </a:t>
            </a:r>
            <a:r>
              <a:rPr lang="el-GR" dirty="0"/>
              <a:t>β </a:t>
            </a:r>
            <a:r>
              <a:rPr lang="en-US" dirty="0" err="1"/>
              <a:t>pada</a:t>
            </a:r>
            <a:r>
              <a:rPr lang="en-US" dirty="0"/>
              <a:t> </a:t>
            </a:r>
            <a:r>
              <a:rPr lang="en-US" dirty="0" err="1"/>
              <a:t>umpan</a:t>
            </a:r>
            <a:r>
              <a:rPr lang="en-US" dirty="0"/>
              <a:t> </a:t>
            </a:r>
            <a:r>
              <a:rPr lang="en-US" dirty="0" err="1"/>
              <a:t>balik</a:t>
            </a:r>
            <a:r>
              <a:rPr lang="en-US" dirty="0"/>
              <a:t> </a:t>
            </a:r>
            <a:r>
              <a:rPr lang="en-US" dirty="0" err="1"/>
              <a:t>negatif</a:t>
            </a:r>
            <a:endParaRPr lang="en-US" dirty="0"/>
          </a:p>
          <a:p>
            <a:r>
              <a:rPr lang="en-US" b="1" i="1" dirty="0" err="1"/>
              <a:t>Pembahasan</a:t>
            </a:r>
            <a:r>
              <a:rPr lang="en-US" b="1" i="1" dirty="0"/>
              <a:t> 8</a:t>
            </a:r>
            <a:r>
              <a:rPr lang="en-US" dirty="0"/>
              <a:t> : </a:t>
            </a:r>
            <a:r>
              <a:rPr lang="en-US" dirty="0" err="1"/>
              <a:t>Osilator</a:t>
            </a:r>
            <a:endParaRPr lang="en-US" dirty="0"/>
          </a:p>
          <a:p>
            <a:r>
              <a:rPr lang="en-US" b="1" i="1" dirty="0" err="1"/>
              <a:t>Pembahasan</a:t>
            </a:r>
            <a:r>
              <a:rPr lang="en-US" b="1" i="1" dirty="0"/>
              <a:t> 9</a:t>
            </a:r>
            <a:r>
              <a:rPr lang="en-US" dirty="0"/>
              <a:t> : </a:t>
            </a:r>
            <a:r>
              <a:rPr lang="en-US" dirty="0" err="1"/>
              <a:t>Jenis-jenis</a:t>
            </a:r>
            <a:r>
              <a:rPr lang="en-US" dirty="0"/>
              <a:t> </a:t>
            </a:r>
            <a:r>
              <a:rPr lang="en-US" dirty="0" err="1"/>
              <a:t>osilator</a:t>
            </a:r>
            <a:endParaRPr lang="en-US" dirty="0"/>
          </a:p>
          <a:p>
            <a:r>
              <a:rPr lang="en-US" b="1" i="1" dirty="0" err="1"/>
              <a:t>Pembahasan</a:t>
            </a:r>
            <a:r>
              <a:rPr lang="en-US" b="1" i="1" dirty="0"/>
              <a:t> 10</a:t>
            </a:r>
            <a:r>
              <a:rPr lang="en-US" dirty="0"/>
              <a:t> : </a:t>
            </a:r>
            <a:r>
              <a:rPr lang="en-US" dirty="0" err="1"/>
              <a:t>Multivibrator</a:t>
            </a:r>
            <a:endParaRPr lang="en-US" dirty="0"/>
          </a:p>
          <a:p>
            <a:r>
              <a:rPr lang="en-US" b="1" i="1" dirty="0" err="1"/>
              <a:t>Pembahasan</a:t>
            </a:r>
            <a:r>
              <a:rPr lang="en-US" b="1" i="1" dirty="0"/>
              <a:t> 11</a:t>
            </a:r>
            <a:r>
              <a:rPr lang="en-US" dirty="0"/>
              <a:t> : Filter </a:t>
            </a:r>
            <a:r>
              <a:rPr lang="en-US" dirty="0" err="1"/>
              <a:t>aktif</a:t>
            </a:r>
            <a:endParaRPr lang="en-US" dirty="0"/>
          </a:p>
          <a:p>
            <a:r>
              <a:rPr lang="en-US" b="1" i="1" dirty="0" err="1"/>
              <a:t>Pembahasan</a:t>
            </a:r>
            <a:r>
              <a:rPr lang="en-US" b="1" i="1" dirty="0"/>
              <a:t> 12</a:t>
            </a:r>
            <a:r>
              <a:rPr lang="en-US" dirty="0"/>
              <a:t> : </a:t>
            </a:r>
            <a:r>
              <a:rPr lang="en-US" dirty="0" err="1"/>
              <a:t>Perancangan</a:t>
            </a:r>
            <a:r>
              <a:rPr lang="en-US" dirty="0"/>
              <a:t> filter </a:t>
            </a:r>
            <a:r>
              <a:rPr lang="en-US" dirty="0" err="1"/>
              <a:t>aktif</a:t>
            </a:r>
            <a:endParaRPr lang="en-US" dirty="0"/>
          </a:p>
          <a:p>
            <a:r>
              <a:rPr lang="en-US" b="1" i="1" dirty="0" err="1"/>
              <a:t>Pembahasan</a:t>
            </a:r>
            <a:r>
              <a:rPr lang="en-US" b="1" i="1" dirty="0"/>
              <a:t> 13</a:t>
            </a:r>
            <a:r>
              <a:rPr lang="en-US" dirty="0" smtClean="0"/>
              <a:t> : Regulator</a:t>
            </a:r>
            <a:endParaRPr lang="en-US" dirty="0"/>
          </a:p>
          <a:p>
            <a:endParaRPr lang="en-US" dirty="0"/>
          </a:p>
        </p:txBody>
      </p:sp>
      <p:grpSp>
        <p:nvGrpSpPr>
          <p:cNvPr id="4" name="Group 3"/>
          <p:cNvGrpSpPr/>
          <p:nvPr/>
        </p:nvGrpSpPr>
        <p:grpSpPr>
          <a:xfrm>
            <a:off x="642890" y="230188"/>
            <a:ext cx="9208469" cy="933122"/>
            <a:chOff x="2063476" y="3415832"/>
            <a:chExt cx="9208469" cy="933122"/>
          </a:xfrm>
        </p:grpSpPr>
        <p:graphicFrame>
          <p:nvGraphicFramePr>
            <p:cNvPr id="5" name="Diagram 4"/>
            <p:cNvGraphicFramePr/>
            <p:nvPr>
              <p:extLst>
                <p:ext uri="{D42A27DB-BD31-4B8C-83A1-F6EECF244321}">
                  <p14:modId xmlns:p14="http://schemas.microsoft.com/office/powerpoint/2010/main" val="758300341"/>
                </p:ext>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spTree>
    <p:extLst>
      <p:ext uri="{BB962C8B-B14F-4D97-AF65-F5344CB8AC3E}">
        <p14:creationId xmlns:p14="http://schemas.microsoft.com/office/powerpoint/2010/main" val="27783686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Referensi</a:t>
            </a:r>
            <a:endParaRPr lang="en-US" dirty="0"/>
          </a:p>
        </p:txBody>
      </p:sp>
      <p:sp>
        <p:nvSpPr>
          <p:cNvPr id="3" name="Content Placeholder 2"/>
          <p:cNvSpPr>
            <a:spLocks noGrp="1"/>
          </p:cNvSpPr>
          <p:nvPr>
            <p:ph idx="1"/>
          </p:nvPr>
        </p:nvSpPr>
        <p:spPr/>
        <p:txBody>
          <a:bodyPr>
            <a:normAutofit lnSpcReduction="10000"/>
          </a:bodyPr>
          <a:lstStyle/>
          <a:p>
            <a:r>
              <a:rPr lang="en-US" dirty="0" err="1"/>
              <a:t>Sedra</a:t>
            </a:r>
            <a:r>
              <a:rPr lang="en-US" dirty="0"/>
              <a:t> A.S, Smith K.C, : </a:t>
            </a:r>
            <a:r>
              <a:rPr lang="en-US" i="1" dirty="0"/>
              <a:t>Microelectronic Circuits</a:t>
            </a:r>
            <a:r>
              <a:rPr lang="en-US" dirty="0"/>
              <a:t>, Oxford University Press, 2004</a:t>
            </a:r>
          </a:p>
          <a:p>
            <a:r>
              <a:rPr lang="en-US" dirty="0" err="1"/>
              <a:t>Millman</a:t>
            </a:r>
            <a:r>
              <a:rPr lang="en-US" dirty="0"/>
              <a:t>, J., </a:t>
            </a:r>
            <a:r>
              <a:rPr lang="en-US" dirty="0" err="1"/>
              <a:t>Grabel</a:t>
            </a:r>
            <a:r>
              <a:rPr lang="en-US" dirty="0"/>
              <a:t>, A. : </a:t>
            </a:r>
            <a:r>
              <a:rPr lang="en-US" i="1" dirty="0"/>
              <a:t>Microelectronics</a:t>
            </a:r>
            <a:r>
              <a:rPr lang="en-US" dirty="0"/>
              <a:t>, Mc </a:t>
            </a:r>
            <a:r>
              <a:rPr lang="en-US" dirty="0" err="1"/>
              <a:t>Graw</a:t>
            </a:r>
            <a:r>
              <a:rPr lang="en-US" dirty="0"/>
              <a:t> Hill</a:t>
            </a:r>
          </a:p>
          <a:p>
            <a:r>
              <a:rPr lang="en-US" dirty="0"/>
              <a:t>Robert </a:t>
            </a:r>
            <a:r>
              <a:rPr lang="en-US" dirty="0" err="1"/>
              <a:t>Boylestad</a:t>
            </a:r>
            <a:r>
              <a:rPr lang="en-US" dirty="0"/>
              <a:t>, Louis </a:t>
            </a:r>
            <a:r>
              <a:rPr lang="en-US" dirty="0" err="1"/>
              <a:t>Nashelsky</a:t>
            </a:r>
            <a:r>
              <a:rPr lang="en-US" dirty="0"/>
              <a:t> : </a:t>
            </a:r>
            <a:r>
              <a:rPr lang="en-US" i="1" dirty="0"/>
              <a:t>Electronic Devices and Circuit Theory</a:t>
            </a:r>
            <a:r>
              <a:rPr lang="en-US" dirty="0"/>
              <a:t>, Prentice Hall</a:t>
            </a:r>
          </a:p>
          <a:p>
            <a:r>
              <a:rPr lang="en-US" dirty="0"/>
              <a:t>Richard C. Jaeger, Travis N. Blalock : </a:t>
            </a:r>
            <a:r>
              <a:rPr lang="en-US" i="1" dirty="0"/>
              <a:t>Microelectronic Circuit Design</a:t>
            </a:r>
            <a:r>
              <a:rPr lang="en-US" dirty="0"/>
              <a:t>, McGraw-Hill</a:t>
            </a:r>
          </a:p>
          <a:p>
            <a:r>
              <a:rPr lang="en-US" dirty="0" err="1"/>
              <a:t>Neamen</a:t>
            </a:r>
            <a:r>
              <a:rPr lang="en-US" dirty="0"/>
              <a:t> D.A : </a:t>
            </a:r>
            <a:r>
              <a:rPr lang="en-US" i="1" dirty="0"/>
              <a:t>Microelectronics Circuit Analysis and Design</a:t>
            </a:r>
            <a:r>
              <a:rPr lang="en-US" dirty="0"/>
              <a:t>, Mc-</a:t>
            </a:r>
            <a:r>
              <a:rPr lang="en-US" dirty="0" err="1"/>
              <a:t>Graw</a:t>
            </a:r>
            <a:r>
              <a:rPr lang="en-US" dirty="0"/>
              <a:t> Hill, 2010</a:t>
            </a:r>
          </a:p>
          <a:p>
            <a:r>
              <a:rPr lang="en-US" dirty="0" err="1"/>
              <a:t>Behzad</a:t>
            </a:r>
            <a:r>
              <a:rPr lang="en-US" dirty="0"/>
              <a:t> </a:t>
            </a:r>
            <a:r>
              <a:rPr lang="en-US" dirty="0" err="1"/>
              <a:t>Razavi</a:t>
            </a:r>
            <a:r>
              <a:rPr lang="en-US" dirty="0"/>
              <a:t> : </a:t>
            </a:r>
            <a:r>
              <a:rPr lang="en-US" i="1" dirty="0"/>
              <a:t>Fundamentals of Microelectronics</a:t>
            </a:r>
            <a:r>
              <a:rPr lang="en-US" dirty="0"/>
              <a:t>, Wiley</a:t>
            </a:r>
          </a:p>
          <a:p>
            <a:endParaRPr lang="en-US" dirty="0"/>
          </a:p>
        </p:txBody>
      </p:sp>
    </p:spTree>
    <p:extLst>
      <p:ext uri="{BB962C8B-B14F-4D97-AF65-F5344CB8AC3E}">
        <p14:creationId xmlns:p14="http://schemas.microsoft.com/office/powerpoint/2010/main" val="41992456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85790" y="427703"/>
            <a:ext cx="9208469" cy="933122"/>
            <a:chOff x="2063476" y="3415832"/>
            <a:chExt cx="9208469" cy="933122"/>
          </a:xfrm>
        </p:grpSpPr>
        <p:graphicFrame>
          <p:nvGraphicFramePr>
            <p:cNvPr id="5" name="Diagram 4"/>
            <p:cNvGraphicFramePr/>
            <p:nvPr>
              <p:extLst>
                <p:ext uri="{D42A27DB-BD31-4B8C-83A1-F6EECF244321}">
                  <p14:modId xmlns:p14="http://schemas.microsoft.com/office/powerpoint/2010/main" val="490026436"/>
                </p:ext>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pic>
        <p:nvPicPr>
          <p:cNvPr id="2" name="Picture 1"/>
          <p:cNvPicPr>
            <a:picLocks noChangeAspect="1"/>
          </p:cNvPicPr>
          <p:nvPr/>
        </p:nvPicPr>
        <p:blipFill>
          <a:blip r:embed="rId7"/>
          <a:stretch>
            <a:fillRect/>
          </a:stretch>
        </p:blipFill>
        <p:spPr>
          <a:xfrm>
            <a:off x="587828" y="1591015"/>
            <a:ext cx="3848100" cy="2164556"/>
          </a:xfrm>
          <a:prstGeom prst="rect">
            <a:avLst/>
          </a:prstGeom>
        </p:spPr>
      </p:pic>
      <p:pic>
        <p:nvPicPr>
          <p:cNvPr id="3" name="Picture 2"/>
          <p:cNvPicPr>
            <a:picLocks noChangeAspect="1"/>
          </p:cNvPicPr>
          <p:nvPr/>
        </p:nvPicPr>
        <p:blipFill>
          <a:blip r:embed="rId8"/>
          <a:stretch>
            <a:fillRect/>
          </a:stretch>
        </p:blipFill>
        <p:spPr>
          <a:xfrm>
            <a:off x="8164286" y="4811826"/>
            <a:ext cx="3635828" cy="1874724"/>
          </a:xfrm>
          <a:prstGeom prst="rect">
            <a:avLst/>
          </a:prstGeom>
        </p:spPr>
      </p:pic>
      <p:pic>
        <p:nvPicPr>
          <p:cNvPr id="7" name="Picture 6"/>
          <p:cNvPicPr>
            <a:picLocks noChangeAspect="1"/>
          </p:cNvPicPr>
          <p:nvPr/>
        </p:nvPicPr>
        <p:blipFill>
          <a:blip r:embed="rId9"/>
          <a:stretch>
            <a:fillRect/>
          </a:stretch>
        </p:blipFill>
        <p:spPr>
          <a:xfrm>
            <a:off x="587828" y="4012644"/>
            <a:ext cx="2298505" cy="2673906"/>
          </a:xfrm>
          <a:prstGeom prst="rect">
            <a:avLst/>
          </a:prstGeom>
        </p:spPr>
      </p:pic>
    </p:spTree>
    <p:extLst>
      <p:ext uri="{BB962C8B-B14F-4D97-AF65-F5344CB8AC3E}">
        <p14:creationId xmlns:p14="http://schemas.microsoft.com/office/powerpoint/2010/main" val="6794974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85790" y="427703"/>
            <a:ext cx="9208469" cy="933122"/>
            <a:chOff x="2063476" y="3415832"/>
            <a:chExt cx="9208469" cy="933122"/>
          </a:xfrm>
        </p:grpSpPr>
        <p:graphicFrame>
          <p:nvGraphicFramePr>
            <p:cNvPr id="5" name="Diagram 4"/>
            <p:cNvGraphicFramePr/>
            <p:nvPr>
              <p:extLst>
                <p:ext uri="{D42A27DB-BD31-4B8C-83A1-F6EECF244321}">
                  <p14:modId xmlns:p14="http://schemas.microsoft.com/office/powerpoint/2010/main" val="2782363415"/>
                </p:ext>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pic>
        <p:nvPicPr>
          <p:cNvPr id="2" name="Picture 1"/>
          <p:cNvPicPr>
            <a:picLocks noChangeAspect="1"/>
          </p:cNvPicPr>
          <p:nvPr/>
        </p:nvPicPr>
        <p:blipFill>
          <a:blip r:embed="rId8"/>
          <a:stretch>
            <a:fillRect/>
          </a:stretch>
        </p:blipFill>
        <p:spPr>
          <a:xfrm>
            <a:off x="8262257" y="1412385"/>
            <a:ext cx="3053443" cy="2313215"/>
          </a:xfrm>
          <a:prstGeom prst="rect">
            <a:avLst/>
          </a:prstGeom>
        </p:spPr>
      </p:pic>
      <p:pic>
        <p:nvPicPr>
          <p:cNvPr id="3" name="Picture 2"/>
          <p:cNvPicPr>
            <a:picLocks noChangeAspect="1"/>
          </p:cNvPicPr>
          <p:nvPr/>
        </p:nvPicPr>
        <p:blipFill>
          <a:blip r:embed="rId9"/>
          <a:stretch>
            <a:fillRect/>
          </a:stretch>
        </p:blipFill>
        <p:spPr>
          <a:xfrm>
            <a:off x="8131629" y="3734708"/>
            <a:ext cx="3778704" cy="2519136"/>
          </a:xfrm>
          <a:prstGeom prst="rect">
            <a:avLst/>
          </a:prstGeom>
        </p:spPr>
      </p:pic>
      <p:sp>
        <p:nvSpPr>
          <p:cNvPr id="7" name="Rectangle 6"/>
          <p:cNvSpPr/>
          <p:nvPr/>
        </p:nvSpPr>
        <p:spPr>
          <a:xfrm>
            <a:off x="8131628" y="5930679"/>
            <a:ext cx="4060371" cy="646331"/>
          </a:xfrm>
          <a:prstGeom prst="rect">
            <a:avLst/>
          </a:prstGeom>
        </p:spPr>
        <p:txBody>
          <a:bodyPr wrap="square">
            <a:spAutoFit/>
          </a:bodyPr>
          <a:lstStyle/>
          <a:p>
            <a:r>
              <a:rPr lang="en-US" dirty="0"/>
              <a:t>Arduino DC Motor Speed Control using Potentiometer and MOSFET</a:t>
            </a:r>
          </a:p>
        </p:txBody>
      </p:sp>
      <p:pic>
        <p:nvPicPr>
          <p:cNvPr id="8" name="Picture 7"/>
          <p:cNvPicPr>
            <a:picLocks noChangeAspect="1"/>
          </p:cNvPicPr>
          <p:nvPr/>
        </p:nvPicPr>
        <p:blipFill>
          <a:blip r:embed="rId10"/>
          <a:stretch>
            <a:fillRect/>
          </a:stretch>
        </p:blipFill>
        <p:spPr>
          <a:xfrm>
            <a:off x="449036" y="1696358"/>
            <a:ext cx="2247900" cy="2038350"/>
          </a:xfrm>
          <a:prstGeom prst="rect">
            <a:avLst/>
          </a:prstGeom>
        </p:spPr>
      </p:pic>
      <p:sp>
        <p:nvSpPr>
          <p:cNvPr id="9" name="Rectangle 8"/>
          <p:cNvSpPr/>
          <p:nvPr/>
        </p:nvSpPr>
        <p:spPr>
          <a:xfrm>
            <a:off x="7886700" y="3563853"/>
            <a:ext cx="4572000" cy="923330"/>
          </a:xfrm>
          <a:prstGeom prst="rect">
            <a:avLst/>
          </a:prstGeom>
        </p:spPr>
        <p:txBody>
          <a:bodyPr wrap="square">
            <a:spAutoFit/>
          </a:bodyPr>
          <a:lstStyle/>
          <a:p>
            <a:r>
              <a:rPr lang="en-US" dirty="0"/>
              <a:t>that reads potentiometer values and map them to values between 0 255 in order to control small 3.3V mini vibration motors.</a:t>
            </a:r>
          </a:p>
        </p:txBody>
      </p:sp>
    </p:spTree>
    <p:extLst>
      <p:ext uri="{BB962C8B-B14F-4D97-AF65-F5344CB8AC3E}">
        <p14:creationId xmlns:p14="http://schemas.microsoft.com/office/powerpoint/2010/main" val="6810768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Optocoupler</a:t>
            </a:r>
            <a:endParaRPr lang="en-US" dirty="0"/>
          </a:p>
        </p:txBody>
      </p:sp>
      <p:pic>
        <p:nvPicPr>
          <p:cNvPr id="4" name="Content Placeholder 3"/>
          <p:cNvPicPr>
            <a:picLocks noGrp="1" noChangeAspect="1"/>
          </p:cNvPicPr>
          <p:nvPr>
            <p:ph idx="1"/>
          </p:nvPr>
        </p:nvPicPr>
        <p:blipFill>
          <a:blip r:embed="rId2"/>
          <a:stretch>
            <a:fillRect/>
          </a:stretch>
        </p:blipFill>
        <p:spPr>
          <a:xfrm>
            <a:off x="3143250" y="2710656"/>
            <a:ext cx="5905500" cy="2581275"/>
          </a:xfrm>
          <a:prstGeom prst="rect">
            <a:avLst/>
          </a:prstGeom>
        </p:spPr>
      </p:pic>
    </p:spTree>
    <p:extLst>
      <p:ext uri="{BB962C8B-B14F-4D97-AF65-F5344CB8AC3E}">
        <p14:creationId xmlns:p14="http://schemas.microsoft.com/office/powerpoint/2010/main" val="38436877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85790" y="427703"/>
            <a:ext cx="9208469" cy="933122"/>
            <a:chOff x="2063476" y="3415832"/>
            <a:chExt cx="9208469" cy="933122"/>
          </a:xfrm>
        </p:grpSpPr>
        <p:graphicFrame>
          <p:nvGraphicFramePr>
            <p:cNvPr id="5" name="Diagram 4"/>
            <p:cNvGraphicFramePr/>
            <p:nvPr>
              <p:extLst>
                <p:ext uri="{D42A27DB-BD31-4B8C-83A1-F6EECF244321}">
                  <p14:modId xmlns:p14="http://schemas.microsoft.com/office/powerpoint/2010/main" val="1540280802"/>
                </p:ext>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pic>
        <p:nvPicPr>
          <p:cNvPr id="3" name="Picture 2"/>
          <p:cNvPicPr>
            <a:picLocks noChangeAspect="1"/>
          </p:cNvPicPr>
          <p:nvPr/>
        </p:nvPicPr>
        <p:blipFill>
          <a:blip r:embed="rId8"/>
          <a:stretch>
            <a:fillRect/>
          </a:stretch>
        </p:blipFill>
        <p:spPr>
          <a:xfrm>
            <a:off x="557616" y="2307381"/>
            <a:ext cx="6316711" cy="3657344"/>
          </a:xfrm>
          <a:prstGeom prst="rect">
            <a:avLst/>
          </a:prstGeom>
        </p:spPr>
      </p:pic>
      <p:sp>
        <p:nvSpPr>
          <p:cNvPr id="8" name="Rectangle 7"/>
          <p:cNvSpPr/>
          <p:nvPr/>
        </p:nvSpPr>
        <p:spPr>
          <a:xfrm>
            <a:off x="1325060" y="1938049"/>
            <a:ext cx="3375476" cy="369332"/>
          </a:xfrm>
          <a:prstGeom prst="rect">
            <a:avLst/>
          </a:prstGeom>
        </p:spPr>
        <p:txBody>
          <a:bodyPr wrap="none">
            <a:spAutoFit/>
          </a:bodyPr>
          <a:lstStyle/>
          <a:p>
            <a:r>
              <a:rPr lang="en-US" dirty="0"/>
              <a:t>Line Follower Robot with </a:t>
            </a:r>
            <a:r>
              <a:rPr lang="en-US" dirty="0" err="1"/>
              <a:t>OpAmps</a:t>
            </a:r>
            <a:endParaRPr lang="en-US" dirty="0"/>
          </a:p>
        </p:txBody>
      </p:sp>
      <p:pic>
        <p:nvPicPr>
          <p:cNvPr id="9" name="Picture 8"/>
          <p:cNvPicPr>
            <a:picLocks noChangeAspect="1"/>
          </p:cNvPicPr>
          <p:nvPr/>
        </p:nvPicPr>
        <p:blipFill>
          <a:blip r:embed="rId9"/>
          <a:stretch>
            <a:fillRect/>
          </a:stretch>
        </p:blipFill>
        <p:spPr>
          <a:xfrm>
            <a:off x="7750631" y="1405328"/>
            <a:ext cx="4488457" cy="3857625"/>
          </a:xfrm>
          <a:prstGeom prst="rect">
            <a:avLst/>
          </a:prstGeom>
        </p:spPr>
      </p:pic>
      <p:pic>
        <p:nvPicPr>
          <p:cNvPr id="10" name="Picture 9"/>
          <p:cNvPicPr>
            <a:picLocks noChangeAspect="1"/>
          </p:cNvPicPr>
          <p:nvPr/>
        </p:nvPicPr>
        <p:blipFill>
          <a:blip r:embed="rId10"/>
          <a:stretch>
            <a:fillRect/>
          </a:stretch>
        </p:blipFill>
        <p:spPr>
          <a:xfrm>
            <a:off x="9319558" y="4742481"/>
            <a:ext cx="2919530" cy="2115519"/>
          </a:xfrm>
          <a:prstGeom prst="rect">
            <a:avLst/>
          </a:prstGeom>
        </p:spPr>
      </p:pic>
    </p:spTree>
    <p:extLst>
      <p:ext uri="{BB962C8B-B14F-4D97-AF65-F5344CB8AC3E}">
        <p14:creationId xmlns:p14="http://schemas.microsoft.com/office/powerpoint/2010/main" val="39452576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75558" y="1060395"/>
            <a:ext cx="4631514" cy="2401262"/>
          </a:xfrm>
          <a:prstGeom prst="rect">
            <a:avLst/>
          </a:prstGeom>
        </p:spPr>
      </p:pic>
      <p:sp>
        <p:nvSpPr>
          <p:cNvPr id="5" name="Rectangle 4"/>
          <p:cNvSpPr/>
          <p:nvPr/>
        </p:nvSpPr>
        <p:spPr>
          <a:xfrm>
            <a:off x="190500" y="150363"/>
            <a:ext cx="6096000" cy="646331"/>
          </a:xfrm>
          <a:prstGeom prst="rect">
            <a:avLst/>
          </a:prstGeom>
        </p:spPr>
        <p:txBody>
          <a:bodyPr>
            <a:spAutoFit/>
          </a:bodyPr>
          <a:lstStyle/>
          <a:p>
            <a:r>
              <a:rPr lang="en-US" dirty="0"/>
              <a:t>Code For Line Follower Robot Using Arduino Uno Robot Car Line Follower Robot Using Arduino Code</a:t>
            </a:r>
          </a:p>
        </p:txBody>
      </p:sp>
      <p:pic>
        <p:nvPicPr>
          <p:cNvPr id="6" name="Picture 5"/>
          <p:cNvPicPr>
            <a:picLocks noChangeAspect="1"/>
          </p:cNvPicPr>
          <p:nvPr/>
        </p:nvPicPr>
        <p:blipFill>
          <a:blip r:embed="rId3"/>
          <a:stretch>
            <a:fillRect/>
          </a:stretch>
        </p:blipFill>
        <p:spPr>
          <a:xfrm>
            <a:off x="5992585" y="796694"/>
            <a:ext cx="5177518" cy="2975347"/>
          </a:xfrm>
          <a:prstGeom prst="rect">
            <a:avLst/>
          </a:prstGeom>
        </p:spPr>
      </p:pic>
    </p:spTree>
    <p:extLst>
      <p:ext uri="{BB962C8B-B14F-4D97-AF65-F5344CB8AC3E}">
        <p14:creationId xmlns:p14="http://schemas.microsoft.com/office/powerpoint/2010/main" val="40258853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85790" y="427703"/>
            <a:ext cx="9208469" cy="933122"/>
            <a:chOff x="2063476" y="3415832"/>
            <a:chExt cx="9208469" cy="933122"/>
          </a:xfrm>
        </p:grpSpPr>
        <p:graphicFrame>
          <p:nvGraphicFramePr>
            <p:cNvPr id="5" name="Diagram 4"/>
            <p:cNvGraphicFramePr/>
            <p:nvPr>
              <p:extLst>
                <p:ext uri="{D42A27DB-BD31-4B8C-83A1-F6EECF244321}">
                  <p14:modId xmlns:p14="http://schemas.microsoft.com/office/powerpoint/2010/main" val="3893089818"/>
                </p:ext>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sp>
        <p:nvSpPr>
          <p:cNvPr id="2" name="Rectangle 1"/>
          <p:cNvSpPr/>
          <p:nvPr/>
        </p:nvSpPr>
        <p:spPr>
          <a:xfrm>
            <a:off x="803215" y="1791091"/>
            <a:ext cx="2453942" cy="369332"/>
          </a:xfrm>
          <a:prstGeom prst="rect">
            <a:avLst/>
          </a:prstGeom>
        </p:spPr>
        <p:txBody>
          <a:bodyPr wrap="none">
            <a:spAutoFit/>
          </a:bodyPr>
          <a:lstStyle/>
          <a:p>
            <a:r>
              <a:rPr lang="en-US" dirty="0"/>
              <a:t>Op Amp for your garden</a:t>
            </a:r>
          </a:p>
        </p:txBody>
      </p:sp>
      <p:pic>
        <p:nvPicPr>
          <p:cNvPr id="3" name="Picture 2"/>
          <p:cNvPicPr>
            <a:picLocks noChangeAspect="1"/>
          </p:cNvPicPr>
          <p:nvPr/>
        </p:nvPicPr>
        <p:blipFill>
          <a:blip r:embed="rId7"/>
          <a:stretch>
            <a:fillRect/>
          </a:stretch>
        </p:blipFill>
        <p:spPr>
          <a:xfrm>
            <a:off x="2312448" y="2405382"/>
            <a:ext cx="6059261" cy="3845059"/>
          </a:xfrm>
          <a:prstGeom prst="rect">
            <a:avLst/>
          </a:prstGeom>
        </p:spPr>
      </p:pic>
    </p:spTree>
    <p:extLst>
      <p:ext uri="{BB962C8B-B14F-4D97-AF65-F5344CB8AC3E}">
        <p14:creationId xmlns:p14="http://schemas.microsoft.com/office/powerpoint/2010/main" val="36978490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85790" y="427703"/>
            <a:ext cx="9208469" cy="933122"/>
            <a:chOff x="2063476" y="3415832"/>
            <a:chExt cx="9208469" cy="933122"/>
          </a:xfrm>
        </p:grpSpPr>
        <p:graphicFrame>
          <p:nvGraphicFramePr>
            <p:cNvPr id="5" name="Diagram 4"/>
            <p:cNvGraphicFramePr/>
            <p:nvPr>
              <p:extLst>
                <p:ext uri="{D42A27DB-BD31-4B8C-83A1-F6EECF244321}">
                  <p14:modId xmlns:p14="http://schemas.microsoft.com/office/powerpoint/2010/main" val="654495015"/>
                </p:ext>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pic>
        <p:nvPicPr>
          <p:cNvPr id="2" name="Picture 1"/>
          <p:cNvPicPr>
            <a:picLocks noChangeAspect="1"/>
          </p:cNvPicPr>
          <p:nvPr/>
        </p:nvPicPr>
        <p:blipFill>
          <a:blip r:embed="rId8"/>
          <a:stretch>
            <a:fillRect/>
          </a:stretch>
        </p:blipFill>
        <p:spPr>
          <a:xfrm>
            <a:off x="5342079" y="1726508"/>
            <a:ext cx="4046352" cy="2225006"/>
          </a:xfrm>
          <a:prstGeom prst="rect">
            <a:avLst/>
          </a:prstGeom>
        </p:spPr>
      </p:pic>
      <p:sp>
        <p:nvSpPr>
          <p:cNvPr id="3" name="Rectangle 2"/>
          <p:cNvSpPr/>
          <p:nvPr/>
        </p:nvSpPr>
        <p:spPr>
          <a:xfrm>
            <a:off x="435429" y="1550739"/>
            <a:ext cx="4691742" cy="3416320"/>
          </a:xfrm>
          <a:prstGeom prst="rect">
            <a:avLst/>
          </a:prstGeom>
        </p:spPr>
        <p:txBody>
          <a:bodyPr wrap="square">
            <a:spAutoFit/>
          </a:bodyPr>
          <a:lstStyle/>
          <a:p>
            <a:pPr algn="just"/>
            <a:r>
              <a:rPr lang="en-US" dirty="0"/>
              <a:t>Electromyography (EMG) is a technique for evaluating and recording the electrical activity produced by skeletal muscles. EMG is performed using an instrument called an </a:t>
            </a:r>
            <a:r>
              <a:rPr lang="en-US" dirty="0" err="1"/>
              <a:t>electromyograph</a:t>
            </a:r>
            <a:r>
              <a:rPr lang="en-US" dirty="0"/>
              <a:t> to produce a record called an electromyogram. An </a:t>
            </a:r>
            <a:r>
              <a:rPr lang="en-US" dirty="0" err="1"/>
              <a:t>electromyograph</a:t>
            </a:r>
            <a:r>
              <a:rPr lang="en-US" dirty="0"/>
              <a:t> detects the electric potential generated by muscle cells when these cells are electrically or neurologically activated. The signals can be analyzed to detect abnormalities, activation level, or recruitment order, or to analyze the biomechanics of human or animal movement.</a:t>
            </a:r>
          </a:p>
        </p:txBody>
      </p:sp>
      <p:pic>
        <p:nvPicPr>
          <p:cNvPr id="7" name="Picture 6"/>
          <p:cNvPicPr>
            <a:picLocks noChangeAspect="1"/>
          </p:cNvPicPr>
          <p:nvPr/>
        </p:nvPicPr>
        <p:blipFill>
          <a:blip r:embed="rId9"/>
          <a:stretch>
            <a:fillRect/>
          </a:stretch>
        </p:blipFill>
        <p:spPr>
          <a:xfrm>
            <a:off x="9412030" y="1726507"/>
            <a:ext cx="2779969" cy="3972163"/>
          </a:xfrm>
          <a:prstGeom prst="rect">
            <a:avLst/>
          </a:prstGeom>
        </p:spPr>
      </p:pic>
      <p:pic>
        <p:nvPicPr>
          <p:cNvPr id="8" name="Picture 7"/>
          <p:cNvPicPr>
            <a:picLocks noChangeAspect="1"/>
          </p:cNvPicPr>
          <p:nvPr/>
        </p:nvPicPr>
        <p:blipFill>
          <a:blip r:embed="rId10"/>
          <a:stretch>
            <a:fillRect/>
          </a:stretch>
        </p:blipFill>
        <p:spPr>
          <a:xfrm>
            <a:off x="5196018" y="4451577"/>
            <a:ext cx="1614315" cy="1338943"/>
          </a:xfrm>
          <a:prstGeom prst="rect">
            <a:avLst/>
          </a:prstGeom>
        </p:spPr>
      </p:pic>
      <p:pic>
        <p:nvPicPr>
          <p:cNvPr id="9" name="Picture 8"/>
          <p:cNvPicPr>
            <a:picLocks noChangeAspect="1"/>
          </p:cNvPicPr>
          <p:nvPr/>
        </p:nvPicPr>
        <p:blipFill>
          <a:blip r:embed="rId11"/>
          <a:stretch>
            <a:fillRect/>
          </a:stretch>
        </p:blipFill>
        <p:spPr>
          <a:xfrm>
            <a:off x="5284211" y="4206045"/>
            <a:ext cx="3647518" cy="2305753"/>
          </a:xfrm>
          <a:prstGeom prst="rect">
            <a:avLst/>
          </a:prstGeom>
        </p:spPr>
      </p:pic>
    </p:spTree>
    <p:extLst>
      <p:ext uri="{BB962C8B-B14F-4D97-AF65-F5344CB8AC3E}">
        <p14:creationId xmlns:p14="http://schemas.microsoft.com/office/powerpoint/2010/main" val="32434891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37146" y="3516189"/>
            <a:ext cx="7658764" cy="321118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4"/>
          <a:stretch>
            <a:fillRect/>
          </a:stretch>
        </p:blipFill>
        <p:spPr>
          <a:xfrm>
            <a:off x="637146" y="1338828"/>
            <a:ext cx="4856816" cy="2465729"/>
          </a:xfrm>
          <a:prstGeom prst="rect">
            <a:avLst/>
          </a:prstGeom>
        </p:spPr>
      </p:pic>
      <p:pic>
        <p:nvPicPr>
          <p:cNvPr id="5" name="Picture 4"/>
          <p:cNvPicPr>
            <a:picLocks noChangeAspect="1"/>
          </p:cNvPicPr>
          <p:nvPr/>
        </p:nvPicPr>
        <p:blipFill>
          <a:blip r:embed="rId5"/>
          <a:stretch>
            <a:fillRect/>
          </a:stretch>
        </p:blipFill>
        <p:spPr>
          <a:xfrm>
            <a:off x="7514457" y="738664"/>
            <a:ext cx="3710593" cy="2777525"/>
          </a:xfrm>
          <a:prstGeom prst="rect">
            <a:avLst/>
          </a:prstGeom>
        </p:spPr>
      </p:pic>
      <p:sp>
        <p:nvSpPr>
          <p:cNvPr id="6" name="Rectangle 5"/>
          <p:cNvSpPr/>
          <p:nvPr/>
        </p:nvSpPr>
        <p:spPr>
          <a:xfrm>
            <a:off x="7576456" y="0"/>
            <a:ext cx="4615543" cy="1477328"/>
          </a:xfrm>
          <a:prstGeom prst="rect">
            <a:avLst/>
          </a:prstGeom>
        </p:spPr>
        <p:txBody>
          <a:bodyPr wrap="square">
            <a:spAutoFit/>
          </a:bodyPr>
          <a:lstStyle/>
          <a:p>
            <a:r>
              <a:rPr lang="en-US" dirty="0"/>
              <a:t>If you want to remove 50 Hz/60 Hz noise caused by power line you can add notch filter to remove it. You can use Twin T notch filter to use it. To filter 50 Hz noise you can use as follow:</a:t>
            </a:r>
          </a:p>
        </p:txBody>
      </p:sp>
      <p:sp>
        <p:nvSpPr>
          <p:cNvPr id="7" name="Rectangle 6"/>
          <p:cNvSpPr/>
          <p:nvPr/>
        </p:nvSpPr>
        <p:spPr>
          <a:xfrm>
            <a:off x="198234" y="138499"/>
            <a:ext cx="6096000" cy="1200329"/>
          </a:xfrm>
          <a:prstGeom prst="rect">
            <a:avLst/>
          </a:prstGeom>
        </p:spPr>
        <p:txBody>
          <a:bodyPr>
            <a:spAutoFit/>
          </a:bodyPr>
          <a:lstStyle/>
          <a:p>
            <a:pPr algn="just"/>
            <a:r>
              <a:rPr lang="en-US" dirty="0">
                <a:solidFill>
                  <a:srgbClr val="1F2328"/>
                </a:solidFill>
                <a:latin typeface="-apple-system"/>
              </a:rPr>
              <a:t>The </a:t>
            </a:r>
            <a:r>
              <a:rPr lang="en-US" dirty="0" err="1">
                <a:solidFill>
                  <a:srgbClr val="1F2328"/>
                </a:solidFill>
                <a:latin typeface="-apple-system"/>
              </a:rPr>
              <a:t>bandpass</a:t>
            </a:r>
            <a:r>
              <a:rPr lang="en-US" dirty="0">
                <a:solidFill>
                  <a:srgbClr val="1F2328"/>
                </a:solidFill>
                <a:latin typeface="-apple-system"/>
              </a:rPr>
              <a:t> consists of HPF (High Pass Filter) and LPF (Low Pass Filter), for the HPF the Fc (cut-off frequency) is around 2.2 Hz, and for LPF the Fc is 480 Hz. The </a:t>
            </a:r>
            <a:r>
              <a:rPr lang="en-US" dirty="0" err="1">
                <a:solidFill>
                  <a:srgbClr val="1F2328"/>
                </a:solidFill>
                <a:latin typeface="-apple-system"/>
              </a:rPr>
              <a:t>bandpass</a:t>
            </a:r>
            <a:r>
              <a:rPr lang="en-US" dirty="0">
                <a:solidFill>
                  <a:srgbClr val="1F2328"/>
                </a:solidFill>
                <a:latin typeface="-apple-system"/>
              </a:rPr>
              <a:t> filter also amplified the signal by 100 gain</a:t>
            </a:r>
            <a:endParaRPr lang="en-US" dirty="0"/>
          </a:p>
        </p:txBody>
      </p:sp>
      <p:pic>
        <p:nvPicPr>
          <p:cNvPr id="8" name="Picture 7"/>
          <p:cNvPicPr>
            <a:picLocks noChangeAspect="1"/>
          </p:cNvPicPr>
          <p:nvPr/>
        </p:nvPicPr>
        <p:blipFill>
          <a:blip r:embed="rId6"/>
          <a:stretch>
            <a:fillRect/>
          </a:stretch>
        </p:blipFill>
        <p:spPr>
          <a:xfrm>
            <a:off x="8587283" y="3396343"/>
            <a:ext cx="2593888" cy="1378003"/>
          </a:xfrm>
          <a:prstGeom prst="rect">
            <a:avLst/>
          </a:prstGeom>
        </p:spPr>
      </p:pic>
    </p:spTree>
    <p:extLst>
      <p:ext uri="{BB962C8B-B14F-4D97-AF65-F5344CB8AC3E}">
        <p14:creationId xmlns:p14="http://schemas.microsoft.com/office/powerpoint/2010/main" val="42050091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85790" y="427703"/>
            <a:ext cx="9208469" cy="933122"/>
            <a:chOff x="2063476" y="3415832"/>
            <a:chExt cx="9208469" cy="933122"/>
          </a:xfrm>
        </p:grpSpPr>
        <p:graphicFrame>
          <p:nvGraphicFramePr>
            <p:cNvPr id="5" name="Diagram 4"/>
            <p:cNvGraphicFramePr/>
            <p:nvPr>
              <p:extLst>
                <p:ext uri="{D42A27DB-BD31-4B8C-83A1-F6EECF244321}">
                  <p14:modId xmlns:p14="http://schemas.microsoft.com/office/powerpoint/2010/main" val="246576601"/>
                </p:ext>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sp>
        <p:nvSpPr>
          <p:cNvPr id="2" name="Rectangle 1"/>
          <p:cNvSpPr/>
          <p:nvPr/>
        </p:nvSpPr>
        <p:spPr>
          <a:xfrm>
            <a:off x="461564" y="1693120"/>
            <a:ext cx="4018985" cy="369332"/>
          </a:xfrm>
          <a:prstGeom prst="rect">
            <a:avLst/>
          </a:prstGeom>
        </p:spPr>
        <p:txBody>
          <a:bodyPr wrap="none">
            <a:spAutoFit/>
          </a:bodyPr>
          <a:lstStyle/>
          <a:p>
            <a:r>
              <a:rPr lang="en-US" dirty="0" err="1"/>
              <a:t>Bioimpedance_measure_microcontroller</a:t>
            </a:r>
            <a:endParaRPr lang="en-US" dirty="0"/>
          </a:p>
        </p:txBody>
      </p:sp>
      <p:sp>
        <p:nvSpPr>
          <p:cNvPr id="3" name="Rectangle 2"/>
          <p:cNvSpPr/>
          <p:nvPr/>
        </p:nvSpPr>
        <p:spPr>
          <a:xfrm>
            <a:off x="461564" y="2062452"/>
            <a:ext cx="4469665" cy="4524315"/>
          </a:xfrm>
          <a:prstGeom prst="rect">
            <a:avLst/>
          </a:prstGeom>
        </p:spPr>
        <p:txBody>
          <a:bodyPr wrap="square">
            <a:spAutoFit/>
          </a:bodyPr>
          <a:lstStyle/>
          <a:p>
            <a:pPr algn="just"/>
            <a:r>
              <a:rPr lang="en-US" dirty="0"/>
              <a:t>A tool for measuring a person's </a:t>
            </a:r>
            <a:r>
              <a:rPr lang="en-US" dirty="0" err="1"/>
              <a:t>bioimpedance</a:t>
            </a:r>
            <a:r>
              <a:rPr lang="en-US" dirty="0"/>
              <a:t>, using a microcontroller as a signal processor and reader of measurement results, and displaying it. The device that is made consists of a signal generator that uses a Wien bridge oscillator circuit to produce a 33 kHz sine wave signal, then VCCS to convert the input voltage into a current source so that it is safe when it enters the body, and then the signal is read using an instrument amplifier as an amplifier so that it is easy to read, and converted to a DC signal for reading. After trying, this tool can be used as an angle estimation on the human hand to control robotic, and I tried to control the servo motor.</a:t>
            </a:r>
          </a:p>
        </p:txBody>
      </p:sp>
      <p:pic>
        <p:nvPicPr>
          <p:cNvPr id="8" name="Picture 7"/>
          <p:cNvPicPr>
            <a:picLocks noChangeAspect="1"/>
          </p:cNvPicPr>
          <p:nvPr/>
        </p:nvPicPr>
        <p:blipFill>
          <a:blip r:embed="rId8"/>
          <a:stretch>
            <a:fillRect/>
          </a:stretch>
        </p:blipFill>
        <p:spPr>
          <a:xfrm>
            <a:off x="5506174" y="1877786"/>
            <a:ext cx="5947594" cy="4189734"/>
          </a:xfrm>
          <a:prstGeom prst="rect">
            <a:avLst/>
          </a:prstGeom>
        </p:spPr>
      </p:pic>
    </p:spTree>
    <p:extLst>
      <p:ext uri="{BB962C8B-B14F-4D97-AF65-F5344CB8AC3E}">
        <p14:creationId xmlns:p14="http://schemas.microsoft.com/office/powerpoint/2010/main" val="22165996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85790" y="427703"/>
            <a:ext cx="9208469" cy="933122"/>
            <a:chOff x="2063476" y="3415832"/>
            <a:chExt cx="9208469" cy="933122"/>
          </a:xfrm>
        </p:grpSpPr>
        <p:graphicFrame>
          <p:nvGraphicFramePr>
            <p:cNvPr id="5" name="Diagram 4"/>
            <p:cNvGraphicFramePr/>
            <p:nvPr>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spTree>
    <p:extLst>
      <p:ext uri="{BB962C8B-B14F-4D97-AF65-F5344CB8AC3E}">
        <p14:creationId xmlns:p14="http://schemas.microsoft.com/office/powerpoint/2010/main" val="34856582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85790" y="427703"/>
            <a:ext cx="9208469" cy="933122"/>
            <a:chOff x="2063476" y="3415832"/>
            <a:chExt cx="9208469" cy="933122"/>
          </a:xfrm>
        </p:grpSpPr>
        <p:graphicFrame>
          <p:nvGraphicFramePr>
            <p:cNvPr id="5" name="Diagram 4"/>
            <p:cNvGraphicFramePr/>
            <p:nvPr>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spTree>
    <p:extLst>
      <p:ext uri="{BB962C8B-B14F-4D97-AF65-F5344CB8AC3E}">
        <p14:creationId xmlns:p14="http://schemas.microsoft.com/office/powerpoint/2010/main" val="6321892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85790" y="427703"/>
            <a:ext cx="9208469" cy="933122"/>
            <a:chOff x="2063476" y="3415832"/>
            <a:chExt cx="9208469" cy="933122"/>
          </a:xfrm>
        </p:grpSpPr>
        <p:graphicFrame>
          <p:nvGraphicFramePr>
            <p:cNvPr id="5" name="Diagram 4"/>
            <p:cNvGraphicFramePr/>
            <p:nvPr>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spTree>
    <p:extLst>
      <p:ext uri="{BB962C8B-B14F-4D97-AF65-F5344CB8AC3E}">
        <p14:creationId xmlns:p14="http://schemas.microsoft.com/office/powerpoint/2010/main" val="28447541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85790" y="427703"/>
            <a:ext cx="9208469" cy="933122"/>
            <a:chOff x="2063476" y="3415832"/>
            <a:chExt cx="9208469" cy="933122"/>
          </a:xfrm>
        </p:grpSpPr>
        <p:graphicFrame>
          <p:nvGraphicFramePr>
            <p:cNvPr id="5" name="Diagram 4"/>
            <p:cNvGraphicFramePr/>
            <p:nvPr>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spTree>
    <p:extLst>
      <p:ext uri="{BB962C8B-B14F-4D97-AF65-F5344CB8AC3E}">
        <p14:creationId xmlns:p14="http://schemas.microsoft.com/office/powerpoint/2010/main" val="34557400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85790" y="427703"/>
            <a:ext cx="9208469" cy="933122"/>
            <a:chOff x="2063476" y="3415832"/>
            <a:chExt cx="9208469" cy="933122"/>
          </a:xfrm>
        </p:grpSpPr>
        <p:graphicFrame>
          <p:nvGraphicFramePr>
            <p:cNvPr id="5" name="Diagram 4"/>
            <p:cNvGraphicFramePr/>
            <p:nvPr>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spTree>
    <p:extLst>
      <p:ext uri="{BB962C8B-B14F-4D97-AF65-F5344CB8AC3E}">
        <p14:creationId xmlns:p14="http://schemas.microsoft.com/office/powerpoint/2010/main" val="40308909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85790" y="427703"/>
            <a:ext cx="9208469" cy="933122"/>
            <a:chOff x="2063476" y="3415832"/>
            <a:chExt cx="9208469" cy="933122"/>
          </a:xfrm>
        </p:grpSpPr>
        <p:graphicFrame>
          <p:nvGraphicFramePr>
            <p:cNvPr id="5" name="Diagram 4"/>
            <p:cNvGraphicFramePr/>
            <p:nvPr>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spTree>
    <p:extLst>
      <p:ext uri="{BB962C8B-B14F-4D97-AF65-F5344CB8AC3E}">
        <p14:creationId xmlns:p14="http://schemas.microsoft.com/office/powerpoint/2010/main" val="170298720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85790" y="427703"/>
            <a:ext cx="9208469" cy="933122"/>
            <a:chOff x="2063476" y="3415832"/>
            <a:chExt cx="9208469" cy="933122"/>
          </a:xfrm>
        </p:grpSpPr>
        <p:graphicFrame>
          <p:nvGraphicFramePr>
            <p:cNvPr id="5" name="Diagram 4"/>
            <p:cNvGraphicFramePr/>
            <p:nvPr>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spTree>
    <p:extLst>
      <p:ext uri="{BB962C8B-B14F-4D97-AF65-F5344CB8AC3E}">
        <p14:creationId xmlns:p14="http://schemas.microsoft.com/office/powerpoint/2010/main" val="158239280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85790" y="427703"/>
            <a:ext cx="9208469" cy="933122"/>
            <a:chOff x="2063476" y="3415832"/>
            <a:chExt cx="9208469" cy="933122"/>
          </a:xfrm>
        </p:grpSpPr>
        <p:graphicFrame>
          <p:nvGraphicFramePr>
            <p:cNvPr id="5" name="Diagram 4"/>
            <p:cNvGraphicFramePr/>
            <p:nvPr>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spTree>
    <p:extLst>
      <p:ext uri="{BB962C8B-B14F-4D97-AF65-F5344CB8AC3E}">
        <p14:creationId xmlns:p14="http://schemas.microsoft.com/office/powerpoint/2010/main" val="29597451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85790" y="427703"/>
            <a:ext cx="9208469" cy="933122"/>
            <a:chOff x="2063476" y="3415832"/>
            <a:chExt cx="9208469" cy="933122"/>
          </a:xfrm>
        </p:grpSpPr>
        <p:graphicFrame>
          <p:nvGraphicFramePr>
            <p:cNvPr id="5" name="Diagram 4"/>
            <p:cNvGraphicFramePr/>
            <p:nvPr>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spTree>
    <p:extLst>
      <p:ext uri="{BB962C8B-B14F-4D97-AF65-F5344CB8AC3E}">
        <p14:creationId xmlns:p14="http://schemas.microsoft.com/office/powerpoint/2010/main" val="1463425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85790" y="427703"/>
            <a:ext cx="9208469" cy="933122"/>
            <a:chOff x="2063476" y="3415832"/>
            <a:chExt cx="9208469" cy="933122"/>
          </a:xfrm>
        </p:grpSpPr>
        <p:graphicFrame>
          <p:nvGraphicFramePr>
            <p:cNvPr id="5" name="Diagram 4"/>
            <p:cNvGraphicFramePr/>
            <p:nvPr>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spTree>
    <p:extLst>
      <p:ext uri="{BB962C8B-B14F-4D97-AF65-F5344CB8AC3E}">
        <p14:creationId xmlns:p14="http://schemas.microsoft.com/office/powerpoint/2010/main" val="29730295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85790" y="427703"/>
            <a:ext cx="9208469" cy="933122"/>
            <a:chOff x="2063476" y="3415832"/>
            <a:chExt cx="9208469" cy="933122"/>
          </a:xfrm>
        </p:grpSpPr>
        <p:graphicFrame>
          <p:nvGraphicFramePr>
            <p:cNvPr id="5" name="Diagram 4"/>
            <p:cNvGraphicFramePr/>
            <p:nvPr>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spTree>
    <p:extLst>
      <p:ext uri="{BB962C8B-B14F-4D97-AF65-F5344CB8AC3E}">
        <p14:creationId xmlns:p14="http://schemas.microsoft.com/office/powerpoint/2010/main" val="40867902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85790" y="427703"/>
            <a:ext cx="9208469" cy="933122"/>
            <a:chOff x="2063476" y="3415832"/>
            <a:chExt cx="9208469" cy="933122"/>
          </a:xfrm>
        </p:grpSpPr>
        <p:graphicFrame>
          <p:nvGraphicFramePr>
            <p:cNvPr id="5" name="Diagram 4"/>
            <p:cNvGraphicFramePr/>
            <p:nvPr>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spTree>
    <p:extLst>
      <p:ext uri="{BB962C8B-B14F-4D97-AF65-F5344CB8AC3E}">
        <p14:creationId xmlns:p14="http://schemas.microsoft.com/office/powerpoint/2010/main" val="26351098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985790" y="427703"/>
            <a:ext cx="9208469" cy="933122"/>
            <a:chOff x="2063476" y="3415832"/>
            <a:chExt cx="9208469" cy="933122"/>
          </a:xfrm>
        </p:grpSpPr>
        <p:graphicFrame>
          <p:nvGraphicFramePr>
            <p:cNvPr id="5" name="Diagram 4"/>
            <p:cNvGraphicFramePr/>
            <p:nvPr>
              <p:extLst>
                <p:ext uri="{D42A27DB-BD31-4B8C-83A1-F6EECF244321}">
                  <p14:modId xmlns:p14="http://schemas.microsoft.com/office/powerpoint/2010/main" val="2009235037"/>
                </p:ext>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Pie 5"/>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grpSp>
      <p:pic>
        <p:nvPicPr>
          <p:cNvPr id="1026" name="Picture 2" descr="Simple Line Follower Circuit"/>
          <p:cNvPicPr>
            <a:picLocks noGrp="1" noChangeAspect="1" noChangeArrowheads="1"/>
          </p:cNvPicPr>
          <p:nvPr>
            <p:ph idx="1"/>
          </p:nvPr>
        </p:nvPicPr>
        <p:blipFill>
          <a:blip r:embed="rId7">
            <a:extLst>
              <a:ext uri="{28A0092B-C50C-407E-A947-70E740481C1C}">
                <a14:useLocalDpi xmlns:a14="http://schemas.microsoft.com/office/drawing/2010/main" val="0"/>
              </a:ext>
            </a:extLst>
          </a:blip>
          <a:srcRect/>
          <a:stretch>
            <a:fillRect/>
          </a:stretch>
        </p:blipFill>
        <p:spPr bwMode="auto">
          <a:xfrm>
            <a:off x="408214" y="1911235"/>
            <a:ext cx="5783742" cy="325335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8"/>
          <a:stretch>
            <a:fillRect/>
          </a:stretch>
        </p:blipFill>
        <p:spPr>
          <a:xfrm>
            <a:off x="6747127" y="2450972"/>
            <a:ext cx="4780844" cy="3338187"/>
          </a:xfrm>
          <a:prstGeom prst="rect">
            <a:avLst/>
          </a:prstGeom>
        </p:spPr>
      </p:pic>
    </p:spTree>
    <p:extLst>
      <p:ext uri="{BB962C8B-B14F-4D97-AF65-F5344CB8AC3E}">
        <p14:creationId xmlns:p14="http://schemas.microsoft.com/office/powerpoint/2010/main" val="33392013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C438222-79D1-4229-8F0C-07DBBFFDBA40}" type="slidenum">
              <a:rPr lang="en-US" altLang="en-US" sz="1400"/>
              <a:pPr>
                <a:spcBef>
                  <a:spcPct val="0"/>
                </a:spcBef>
                <a:buFontTx/>
                <a:buNone/>
              </a:pPr>
              <a:t>26</a:t>
            </a:fld>
            <a:endParaRPr lang="en-US" altLang="en-US" sz="1400"/>
          </a:p>
        </p:txBody>
      </p:sp>
      <p:sp>
        <p:nvSpPr>
          <p:cNvPr id="5123" name="Rectangle 1"/>
          <p:cNvSpPr>
            <a:spLocks noChangeArrowheads="1"/>
          </p:cNvSpPr>
          <p:nvPr/>
        </p:nvSpPr>
        <p:spPr bwMode="auto">
          <a:xfrm>
            <a:off x="1828801" y="457200"/>
            <a:ext cx="3813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id-ID" altLang="en-US" sz="1800"/>
              <a:t>Penggandeng Optis (Opto Coupler)</a:t>
            </a:r>
          </a:p>
        </p:txBody>
      </p:sp>
      <p:sp>
        <p:nvSpPr>
          <p:cNvPr id="5124" name="Rectangle 2"/>
          <p:cNvSpPr>
            <a:spLocks noChangeArrowheads="1"/>
          </p:cNvSpPr>
          <p:nvPr/>
        </p:nvSpPr>
        <p:spPr bwMode="auto">
          <a:xfrm>
            <a:off x="2286000" y="827088"/>
            <a:ext cx="8077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a:t>Penggandeng optis (</a:t>
            </a:r>
            <a:r>
              <a:rPr lang="en-AU" altLang="en-US" sz="1800" i="1"/>
              <a:t>opto coupler</a:t>
            </a:r>
            <a:r>
              <a:rPr lang="en-AU" altLang="en-US" sz="1800"/>
              <a:t>) atau isolator optis adalah suatu komponen elektronik yang menggabungkan LED (</a:t>
            </a:r>
            <a:r>
              <a:rPr lang="en-AU" altLang="en-US" sz="1800" i="1"/>
              <a:t>light emitting diode</a:t>
            </a:r>
            <a:r>
              <a:rPr lang="en-AU" altLang="en-US" sz="1800"/>
              <a:t>) atau IRED (</a:t>
            </a:r>
            <a:r>
              <a:rPr lang="en-AU" altLang="en-US" sz="1800" i="1"/>
              <a:t>infra red emitting diode</a:t>
            </a:r>
            <a:r>
              <a:rPr lang="en-AU" altLang="en-US" sz="1800"/>
              <a:t>) dalam satu paket dengan beberapa jenis transistor cahaya atau </a:t>
            </a:r>
            <a:r>
              <a:rPr lang="en-AU" altLang="en-US" sz="1800" i="1"/>
              <a:t>thyristor</a:t>
            </a:r>
            <a:r>
              <a:rPr lang="en-AU" altLang="en-US" sz="1800"/>
              <a:t>. </a:t>
            </a:r>
            <a:endParaRPr lang="id-ID" altLang="en-US" sz="1800"/>
          </a:p>
        </p:txBody>
      </p:sp>
      <p:pic>
        <p:nvPicPr>
          <p:cNvPr id="512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5851" y="2365376"/>
            <a:ext cx="1247775"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8564" y="2454276"/>
            <a:ext cx="126682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7" name="Rectangle 6"/>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id-ID" altLang="en-US" sz="1800"/>
          </a:p>
        </p:txBody>
      </p:sp>
      <p:sp>
        <p:nvSpPr>
          <p:cNvPr id="5128" name="Rectangle 7"/>
          <p:cNvSpPr>
            <a:spLocks noChangeArrowheads="1"/>
          </p:cNvSpPr>
          <p:nvPr/>
        </p:nvSpPr>
        <p:spPr bwMode="auto">
          <a:xfrm>
            <a:off x="5368878" y="994977"/>
            <a:ext cx="1454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AU" altLang="ko-KR" sz="1200">
                <a:latin typeface="Times New Roman" panose="02020603050405020304" pitchFamily="18" charset="0"/>
                <a:ea typeface="Batang" pitchFamily="18" charset="-127"/>
                <a:cs typeface="Times New Roman" panose="02020603050405020304" pitchFamily="18" charset="0"/>
              </a:rPr>
              <a:t>                                 </a:t>
            </a:r>
            <a:endParaRPr lang="en-AU" altLang="ko-KR" sz="1800">
              <a:ea typeface="Batang" pitchFamily="18" charset="-127"/>
              <a:cs typeface="Times New Roman" panose="02020603050405020304" pitchFamily="18" charset="0"/>
            </a:endParaRPr>
          </a:p>
        </p:txBody>
      </p:sp>
      <p:sp>
        <p:nvSpPr>
          <p:cNvPr id="5129" name="Rectangle 8"/>
          <p:cNvSpPr>
            <a:spLocks noChangeArrowheads="1"/>
          </p:cNvSpPr>
          <p:nvPr/>
        </p:nvSpPr>
        <p:spPr bwMode="auto">
          <a:xfrm>
            <a:off x="2184401" y="2188777"/>
            <a:ext cx="498405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AU" altLang="ko-KR" sz="1200">
                <a:latin typeface="Times New Roman" panose="02020603050405020304" pitchFamily="18" charset="0"/>
                <a:ea typeface="Batang" pitchFamily="18" charset="-127"/>
                <a:cs typeface="Times New Roman" panose="02020603050405020304" pitchFamily="18" charset="0"/>
              </a:rPr>
              <a:t>(a) Sebagai isolator optis                        (b) Sebagai sensor deteksi warna        </a:t>
            </a:r>
            <a:endParaRPr lang="en-AU" altLang="ko-KR" sz="1800">
              <a:ea typeface="Batang" pitchFamily="18" charset="-127"/>
              <a:cs typeface="Times New Roman" panose="02020603050405020304" pitchFamily="18" charset="0"/>
            </a:endParaRPr>
          </a:p>
        </p:txBody>
      </p:sp>
      <p:sp>
        <p:nvSpPr>
          <p:cNvPr id="5130" name="Rectangle 7"/>
          <p:cNvSpPr>
            <a:spLocks noChangeArrowheads="1"/>
          </p:cNvSpPr>
          <p:nvPr/>
        </p:nvSpPr>
        <p:spPr bwMode="auto">
          <a:xfrm>
            <a:off x="2286000" y="3182939"/>
            <a:ext cx="62865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200">
                <a:latin typeface="Times New Roman" panose="02020603050405020304" pitchFamily="18" charset="0"/>
                <a:ea typeface="Batang" pitchFamily="18" charset="-127"/>
              </a:rPr>
              <a:t>Sebagai isolator optis                        (b) Sebagai sensor deteksi warna </a:t>
            </a:r>
            <a:endParaRPr lang="id-ID" altLang="en-US" sz="1800"/>
          </a:p>
        </p:txBody>
      </p:sp>
      <p:pic>
        <p:nvPicPr>
          <p:cNvPr id="5131" name="Picture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4621213"/>
            <a:ext cx="1504950"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2" name="Picture 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19975" y="4859339"/>
            <a:ext cx="230505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3" name="Picture 3"/>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079625" y="3602039"/>
            <a:ext cx="3562350"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4" name="Picture 4"/>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419976" y="2198689"/>
            <a:ext cx="2409825"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753432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87C60B8-C2CC-41C4-9C7D-6FF6E2268290}" type="slidenum">
              <a:rPr lang="en-US" altLang="en-US" sz="1400"/>
              <a:pPr>
                <a:spcBef>
                  <a:spcPct val="0"/>
                </a:spcBef>
                <a:buFontTx/>
                <a:buNone/>
              </a:pPr>
              <a:t>27</a:t>
            </a:fld>
            <a:endParaRPr lang="en-US" altLang="en-US" sz="1400"/>
          </a:p>
        </p:txBody>
      </p:sp>
      <p:sp>
        <p:nvSpPr>
          <p:cNvPr id="6147" name="Rectangle 1"/>
          <p:cNvSpPr>
            <a:spLocks noChangeArrowheads="1"/>
          </p:cNvSpPr>
          <p:nvPr/>
        </p:nvSpPr>
        <p:spPr bwMode="auto">
          <a:xfrm>
            <a:off x="1828800" y="381000"/>
            <a:ext cx="1492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id-ID" altLang="en-US" sz="1800"/>
              <a:t>RC Coupling</a:t>
            </a:r>
          </a:p>
        </p:txBody>
      </p:sp>
      <p:sp>
        <p:nvSpPr>
          <p:cNvPr id="6148" name="Rectangle 2"/>
          <p:cNvSpPr>
            <a:spLocks noChangeArrowheads="1"/>
          </p:cNvSpPr>
          <p:nvPr/>
        </p:nvSpPr>
        <p:spPr bwMode="auto">
          <a:xfrm>
            <a:off x="1855788" y="1066800"/>
            <a:ext cx="8507412"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id-ID" altLang="en-US" sz="1800"/>
              <a:t>Rangkaian penggandeng RC (RC coupler) adalah sebuah rangkaian yang dapat melewatkan sinyal AC tetapi menghalangi sinyal DC untuk masuk. Rangkaian ini sering digunakan pada penguat yaitu untuk dihubungkan dengan input ataupun output rangkaian. Penggandeng RC adalah sebuah filter pelewat tinggi orde 1 yang dapat melemahkan komponen frekuensi rendah dari sinyal yang masuk tetapi melewatkan komponen frekuensi tinggi tanpa pelemahan sedikitpun. </a:t>
            </a:r>
          </a:p>
        </p:txBody>
      </p:sp>
      <p:sp>
        <p:nvSpPr>
          <p:cNvPr id="614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graphicFrame>
        <p:nvGraphicFramePr>
          <p:cNvPr id="6150" name="Object 4"/>
          <p:cNvGraphicFramePr>
            <a:graphicFrameLocks noChangeAspect="1"/>
          </p:cNvGraphicFramePr>
          <p:nvPr/>
        </p:nvGraphicFramePr>
        <p:xfrm>
          <a:off x="2654300" y="3352801"/>
          <a:ext cx="1333500" cy="1228725"/>
        </p:xfrm>
        <a:graphic>
          <a:graphicData uri="http://schemas.openxmlformats.org/presentationml/2006/ole">
            <mc:AlternateContent xmlns:mc="http://schemas.openxmlformats.org/markup-compatibility/2006">
              <mc:Choice xmlns:v="urn:schemas-microsoft-com:vml" Requires="v">
                <p:oleObj spid="_x0000_s1035" name="Bitmap Image" r:id="rId3" imgW="1333333" imgH="1228571" progId="Paint.Picture">
                  <p:embed/>
                </p:oleObj>
              </mc:Choice>
              <mc:Fallback>
                <p:oleObj name="Bitmap Image" r:id="rId3" imgW="1333333" imgH="1228571" progId="Paint.Picture">
                  <p:embed/>
                  <p:pic>
                    <p:nvPicPr>
                      <p:cNvPr id="615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4300" y="3352801"/>
                        <a:ext cx="1333500"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51" name="Rectangle 5"/>
          <p:cNvSpPr>
            <a:spLocks noChangeArrowheads="1"/>
          </p:cNvSpPr>
          <p:nvPr/>
        </p:nvSpPr>
        <p:spPr bwMode="auto">
          <a:xfrm>
            <a:off x="5486400" y="3048000"/>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en-AU" altLang="en-US" sz="1800"/>
              <a:t>Jika sebuah rangkaian bekerja untuk sebuah nilai frekuensi utama (</a:t>
            </a:r>
            <a:r>
              <a:rPr lang="en-AU" altLang="en-US" sz="1800" i="1"/>
              <a:t>f</a:t>
            </a:r>
            <a:r>
              <a:rPr lang="en-AU" altLang="en-US" sz="1800" i="1" baseline="-25000"/>
              <a:t>0</a:t>
            </a:r>
            <a:r>
              <a:rPr lang="en-AU" altLang="en-US" sz="1800"/>
              <a:t>) maka pemilihan nilai frekuensi cut-off  (</a:t>
            </a:r>
            <a:r>
              <a:rPr lang="en-AU" altLang="en-US" sz="1800" i="1"/>
              <a:t>f</a:t>
            </a:r>
            <a:r>
              <a:rPr lang="en-AU" altLang="en-US" sz="1800" i="1" baseline="-25000"/>
              <a:t>c</a:t>
            </a:r>
            <a:r>
              <a:rPr lang="en-AU" altLang="en-US" sz="1800"/>
              <a:t>) harus cukup jauh dari nilai ini </a:t>
            </a:r>
            <a:endParaRPr lang="id-ID" altLang="en-US" sz="1800"/>
          </a:p>
        </p:txBody>
      </p:sp>
      <p:sp>
        <p:nvSpPr>
          <p:cNvPr id="6152" name="Rectangle 4"/>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graphicFrame>
        <p:nvGraphicFramePr>
          <p:cNvPr id="6153" name="Object 7"/>
          <p:cNvGraphicFramePr>
            <a:graphicFrameLocks noChangeAspect="1"/>
          </p:cNvGraphicFramePr>
          <p:nvPr/>
        </p:nvGraphicFramePr>
        <p:xfrm>
          <a:off x="6553201" y="4495800"/>
          <a:ext cx="638175" cy="228600"/>
        </p:xfrm>
        <a:graphic>
          <a:graphicData uri="http://schemas.openxmlformats.org/presentationml/2006/ole">
            <mc:AlternateContent xmlns:mc="http://schemas.openxmlformats.org/markup-compatibility/2006">
              <mc:Choice xmlns:v="urn:schemas-microsoft-com:vml" Requires="v">
                <p:oleObj spid="_x0000_s1036" name="Equation" r:id="rId5" imgW="634725" imgH="228501" progId="Equation.3">
                  <p:embed/>
                </p:oleObj>
              </mc:Choice>
              <mc:Fallback>
                <p:oleObj name="Equation" r:id="rId5" imgW="634725" imgH="228501" progId="Equation.3">
                  <p:embed/>
                  <p:pic>
                    <p:nvPicPr>
                      <p:cNvPr id="6153"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3201" y="4495800"/>
                        <a:ext cx="6381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54" name="Rectangle 8"/>
          <p:cNvSpPr>
            <a:spLocks noChangeArrowheads="1"/>
          </p:cNvSpPr>
          <p:nvPr/>
        </p:nvSpPr>
        <p:spPr bwMode="auto">
          <a:xfrm>
            <a:off x="1855788" y="5029201"/>
            <a:ext cx="457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a:t>Hubungan antara frekuensi cut-off dengan besarnya nilai resistor dan kapasitor </a:t>
            </a:r>
            <a:endParaRPr lang="id-ID" altLang="en-US" sz="1800"/>
          </a:p>
        </p:txBody>
      </p:sp>
      <p:sp>
        <p:nvSpPr>
          <p:cNvPr id="6155" name="Rectangle 6"/>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graphicFrame>
        <p:nvGraphicFramePr>
          <p:cNvPr id="6156" name="Object 10"/>
          <p:cNvGraphicFramePr>
            <a:graphicFrameLocks noChangeAspect="1"/>
          </p:cNvGraphicFramePr>
          <p:nvPr/>
        </p:nvGraphicFramePr>
        <p:xfrm>
          <a:off x="3408364" y="6019801"/>
          <a:ext cx="733425" cy="390525"/>
        </p:xfrm>
        <a:graphic>
          <a:graphicData uri="http://schemas.openxmlformats.org/presentationml/2006/ole">
            <mc:AlternateContent xmlns:mc="http://schemas.openxmlformats.org/markup-compatibility/2006">
              <mc:Choice xmlns:v="urn:schemas-microsoft-com:vml" Requires="v">
                <p:oleObj spid="_x0000_s1037" name="Equation" r:id="rId7" imgW="736280" imgH="393529" progId="Equation.3">
                  <p:embed/>
                </p:oleObj>
              </mc:Choice>
              <mc:Fallback>
                <p:oleObj name="Equation" r:id="rId7" imgW="736280" imgH="393529" progId="Equation.3">
                  <p:embed/>
                  <p:pic>
                    <p:nvPicPr>
                      <p:cNvPr id="6156"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08364" y="6019801"/>
                        <a:ext cx="7334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157" name="Picture 1"/>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7951789" y="4068764"/>
            <a:ext cx="238442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8" name="Picture 2"/>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7926388" y="5499100"/>
            <a:ext cx="264795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484015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31222" y="886255"/>
            <a:ext cx="1087927" cy="369332"/>
          </a:xfrm>
          <a:prstGeom prst="rect">
            <a:avLst/>
          </a:prstGeom>
        </p:spPr>
        <p:txBody>
          <a:bodyPr wrap="none">
            <a:spAutoFit/>
          </a:bodyPr>
          <a:lstStyle/>
          <a:p>
            <a:r>
              <a:rPr lang="en-US" b="1" dirty="0"/>
              <a:t>Proteus </a:t>
            </a:r>
            <a:r>
              <a:rPr lang="en-US" b="1" dirty="0" smtClean="0"/>
              <a:t> :</a:t>
            </a:r>
            <a:endParaRPr lang="en-US" b="1" dirty="0"/>
          </a:p>
        </p:txBody>
      </p:sp>
      <p:pic>
        <p:nvPicPr>
          <p:cNvPr id="7" name="Picture 6"/>
          <p:cNvPicPr>
            <a:picLocks noChangeAspect="1"/>
          </p:cNvPicPr>
          <p:nvPr/>
        </p:nvPicPr>
        <p:blipFill rotWithShape="1">
          <a:blip r:embed="rId3"/>
          <a:srcRect l="2537" t="13408" r="15759" b="9001"/>
          <a:stretch/>
        </p:blipFill>
        <p:spPr>
          <a:xfrm>
            <a:off x="1240946" y="1534594"/>
            <a:ext cx="9425500" cy="5034986"/>
          </a:xfrm>
          <a:prstGeom prst="rect">
            <a:avLst/>
          </a:prstGeom>
        </p:spPr>
      </p:pic>
      <p:sp>
        <p:nvSpPr>
          <p:cNvPr id="2" name="Rectangle 1"/>
          <p:cNvSpPr/>
          <p:nvPr/>
        </p:nvSpPr>
        <p:spPr>
          <a:xfrm>
            <a:off x="4023129" y="218501"/>
            <a:ext cx="4444999" cy="369332"/>
          </a:xfrm>
          <a:prstGeom prst="rect">
            <a:avLst/>
          </a:prstGeom>
        </p:spPr>
        <p:txBody>
          <a:bodyPr wrap="none">
            <a:spAutoFit/>
          </a:bodyPr>
          <a:lstStyle/>
          <a:p>
            <a:pPr>
              <a:spcBef>
                <a:spcPct val="0"/>
              </a:spcBef>
            </a:pPr>
            <a:r>
              <a:rPr lang="en-AU" altLang="en-US" b="1" dirty="0" err="1"/>
              <a:t>Penguat</a:t>
            </a:r>
            <a:r>
              <a:rPr lang="en-AU" altLang="en-US" b="1" dirty="0"/>
              <a:t> </a:t>
            </a:r>
            <a:r>
              <a:rPr lang="en-AU" altLang="en-US" b="1" dirty="0" err="1"/>
              <a:t>Operasional</a:t>
            </a:r>
            <a:r>
              <a:rPr lang="en-AU" altLang="en-US" b="1" dirty="0"/>
              <a:t> (Operational Amplifier)</a:t>
            </a:r>
            <a:endParaRPr lang="id-ID" altLang="en-US" b="1" dirty="0"/>
          </a:p>
        </p:txBody>
      </p:sp>
    </p:spTree>
    <p:extLst>
      <p:ext uri="{BB962C8B-B14F-4D97-AF65-F5344CB8AC3E}">
        <p14:creationId xmlns:p14="http://schemas.microsoft.com/office/powerpoint/2010/main" val="77954680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3"/>
          <a:stretch>
            <a:fillRect/>
          </a:stretch>
        </p:blipFill>
        <p:spPr>
          <a:xfrm>
            <a:off x="238125" y="0"/>
            <a:ext cx="11715750" cy="4791075"/>
          </a:xfrm>
          <a:prstGeom prst="rect">
            <a:avLst/>
          </a:prstGeom>
        </p:spPr>
      </p:pic>
      <p:pic>
        <p:nvPicPr>
          <p:cNvPr id="5" name="Picture 4"/>
          <p:cNvPicPr>
            <a:picLocks noChangeAspect="1"/>
          </p:cNvPicPr>
          <p:nvPr/>
        </p:nvPicPr>
        <p:blipFill>
          <a:blip r:embed="rId4"/>
          <a:stretch>
            <a:fillRect/>
          </a:stretch>
        </p:blipFill>
        <p:spPr>
          <a:xfrm>
            <a:off x="238125" y="1019175"/>
            <a:ext cx="11715750" cy="4819650"/>
          </a:xfrm>
          <a:prstGeom prst="rect">
            <a:avLst/>
          </a:prstGeom>
        </p:spPr>
      </p:pic>
      <p:pic>
        <p:nvPicPr>
          <p:cNvPr id="6" name="Picture 5"/>
          <p:cNvPicPr>
            <a:picLocks noChangeAspect="1"/>
          </p:cNvPicPr>
          <p:nvPr/>
        </p:nvPicPr>
        <p:blipFill>
          <a:blip r:embed="rId5"/>
          <a:stretch>
            <a:fillRect/>
          </a:stretch>
        </p:blipFill>
        <p:spPr>
          <a:xfrm>
            <a:off x="552450" y="1057275"/>
            <a:ext cx="11087100" cy="4743450"/>
          </a:xfrm>
          <a:prstGeom prst="rect">
            <a:avLst/>
          </a:prstGeom>
        </p:spPr>
      </p:pic>
      <p:pic>
        <p:nvPicPr>
          <p:cNvPr id="7" name="Picture 6"/>
          <p:cNvPicPr>
            <a:picLocks noChangeAspect="1"/>
          </p:cNvPicPr>
          <p:nvPr/>
        </p:nvPicPr>
        <p:blipFill>
          <a:blip r:embed="rId6"/>
          <a:stretch>
            <a:fillRect/>
          </a:stretch>
        </p:blipFill>
        <p:spPr>
          <a:xfrm>
            <a:off x="238125" y="1700212"/>
            <a:ext cx="11715750" cy="3457575"/>
          </a:xfrm>
          <a:prstGeom prst="rect">
            <a:avLst/>
          </a:prstGeom>
        </p:spPr>
      </p:pic>
      <p:pic>
        <p:nvPicPr>
          <p:cNvPr id="8" name="Picture 7"/>
          <p:cNvPicPr>
            <a:picLocks noChangeAspect="1"/>
          </p:cNvPicPr>
          <p:nvPr/>
        </p:nvPicPr>
        <p:blipFill>
          <a:blip r:embed="rId6"/>
          <a:stretch>
            <a:fillRect/>
          </a:stretch>
        </p:blipFill>
        <p:spPr>
          <a:xfrm>
            <a:off x="390525" y="1852612"/>
            <a:ext cx="11715750" cy="3457575"/>
          </a:xfrm>
          <a:prstGeom prst="rect">
            <a:avLst/>
          </a:prstGeom>
        </p:spPr>
      </p:pic>
    </p:spTree>
    <p:extLst>
      <p:ext uri="{BB962C8B-B14F-4D97-AF65-F5344CB8AC3E}">
        <p14:creationId xmlns:p14="http://schemas.microsoft.com/office/powerpoint/2010/main" val="100849846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377952" y="247269"/>
            <a:ext cx="6096000" cy="1352550"/>
          </a:xfrm>
          <a:prstGeom prst="rect">
            <a:avLst/>
          </a:prstGeom>
        </p:spPr>
      </p:pic>
      <p:pic>
        <p:nvPicPr>
          <p:cNvPr id="5" name="Picture 4"/>
          <p:cNvPicPr>
            <a:picLocks noChangeAspect="1"/>
          </p:cNvPicPr>
          <p:nvPr/>
        </p:nvPicPr>
        <p:blipFill>
          <a:blip r:embed="rId4"/>
          <a:stretch>
            <a:fillRect/>
          </a:stretch>
        </p:blipFill>
        <p:spPr>
          <a:xfrm>
            <a:off x="476250" y="1983676"/>
            <a:ext cx="11715750" cy="3000375"/>
          </a:xfrm>
          <a:prstGeom prst="rect">
            <a:avLst/>
          </a:prstGeom>
        </p:spPr>
      </p:pic>
    </p:spTree>
    <p:extLst>
      <p:ext uri="{BB962C8B-B14F-4D97-AF65-F5344CB8AC3E}">
        <p14:creationId xmlns:p14="http://schemas.microsoft.com/office/powerpoint/2010/main" val="303716869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01549" y="138303"/>
            <a:ext cx="11715750" cy="4057650"/>
          </a:xfrm>
          <a:prstGeom prst="rect">
            <a:avLst/>
          </a:prstGeom>
        </p:spPr>
      </p:pic>
      <p:pic>
        <p:nvPicPr>
          <p:cNvPr id="3" name="Picture 2"/>
          <p:cNvPicPr>
            <a:picLocks noChangeAspect="1"/>
          </p:cNvPicPr>
          <p:nvPr/>
        </p:nvPicPr>
        <p:blipFill>
          <a:blip r:embed="rId4"/>
          <a:stretch>
            <a:fillRect/>
          </a:stretch>
        </p:blipFill>
        <p:spPr>
          <a:xfrm>
            <a:off x="476250" y="649414"/>
            <a:ext cx="11715750" cy="4791075"/>
          </a:xfrm>
          <a:prstGeom prst="rect">
            <a:avLst/>
          </a:prstGeom>
        </p:spPr>
      </p:pic>
      <p:pic>
        <p:nvPicPr>
          <p:cNvPr id="4" name="Picture 3"/>
          <p:cNvPicPr>
            <a:picLocks noChangeAspect="1"/>
          </p:cNvPicPr>
          <p:nvPr/>
        </p:nvPicPr>
        <p:blipFill>
          <a:blip r:embed="rId5"/>
          <a:stretch>
            <a:fillRect/>
          </a:stretch>
        </p:blipFill>
        <p:spPr>
          <a:xfrm>
            <a:off x="476250" y="2487739"/>
            <a:ext cx="11715750" cy="4438650"/>
          </a:xfrm>
          <a:prstGeom prst="rect">
            <a:avLst/>
          </a:prstGeom>
        </p:spPr>
      </p:pic>
      <p:pic>
        <p:nvPicPr>
          <p:cNvPr id="5" name="Picture 4"/>
          <p:cNvPicPr>
            <a:picLocks noChangeAspect="1"/>
          </p:cNvPicPr>
          <p:nvPr/>
        </p:nvPicPr>
        <p:blipFill>
          <a:blip r:embed="rId5"/>
          <a:stretch>
            <a:fillRect/>
          </a:stretch>
        </p:blipFill>
        <p:spPr>
          <a:xfrm>
            <a:off x="238125" y="1209675"/>
            <a:ext cx="11715750" cy="4438650"/>
          </a:xfrm>
          <a:prstGeom prst="rect">
            <a:avLst/>
          </a:prstGeom>
        </p:spPr>
      </p:pic>
    </p:spTree>
    <p:extLst>
      <p:ext uri="{BB962C8B-B14F-4D97-AF65-F5344CB8AC3E}">
        <p14:creationId xmlns:p14="http://schemas.microsoft.com/office/powerpoint/2010/main" val="266396834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8397F94-7FB7-4F62-BC33-8237B384BD10}" type="slidenum">
              <a:rPr lang="en-US" altLang="en-US" sz="1400"/>
              <a:pPr>
                <a:spcBef>
                  <a:spcPct val="0"/>
                </a:spcBef>
                <a:buFontTx/>
                <a:buNone/>
              </a:pPr>
              <a:t>32</a:t>
            </a:fld>
            <a:endParaRPr lang="en-US" altLang="en-US" sz="1400"/>
          </a:p>
        </p:txBody>
      </p:sp>
      <p:sp>
        <p:nvSpPr>
          <p:cNvPr id="7171" name="Rectangle 1"/>
          <p:cNvSpPr>
            <a:spLocks noChangeArrowheads="1"/>
          </p:cNvSpPr>
          <p:nvPr/>
        </p:nvSpPr>
        <p:spPr bwMode="auto">
          <a:xfrm>
            <a:off x="1708150" y="147639"/>
            <a:ext cx="716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b="1" dirty="0" err="1"/>
              <a:t>Penguat</a:t>
            </a:r>
            <a:r>
              <a:rPr lang="en-AU" altLang="en-US" sz="1800" b="1" dirty="0"/>
              <a:t> </a:t>
            </a:r>
            <a:r>
              <a:rPr lang="en-AU" altLang="en-US" sz="1800" b="1" dirty="0" err="1"/>
              <a:t>Operasional</a:t>
            </a:r>
            <a:r>
              <a:rPr lang="en-AU" altLang="en-US" sz="1800" b="1" dirty="0"/>
              <a:t> (Operational Amplifier)</a:t>
            </a:r>
            <a:endParaRPr lang="id-ID" altLang="en-US" sz="1800" b="1" dirty="0"/>
          </a:p>
        </p:txBody>
      </p:sp>
      <p:sp>
        <p:nvSpPr>
          <p:cNvPr id="7172" name="Rectangle 2"/>
          <p:cNvSpPr>
            <a:spLocks noChangeArrowheads="1"/>
          </p:cNvSpPr>
          <p:nvPr/>
        </p:nvSpPr>
        <p:spPr bwMode="auto">
          <a:xfrm>
            <a:off x="1993900" y="1066800"/>
            <a:ext cx="84455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id-ID" altLang="en-US" sz="1800"/>
              <a:t>Penguat operasional adalah jenis penguat dengan gain yang sangat besar. Secara umum, operational amplifier (op amp) digunakan untuk menyediakan perubahan amplitudo tegangan, sebagai osilator, tapis dan beberapa untai instrumentasi.</a:t>
            </a:r>
          </a:p>
          <a:p>
            <a:pPr algn="just" eaLnBrk="1" hangingPunct="1">
              <a:spcBef>
                <a:spcPct val="0"/>
              </a:spcBef>
              <a:buFontTx/>
              <a:buNone/>
            </a:pPr>
            <a:r>
              <a:rPr lang="en-AU" altLang="en-US" sz="1800"/>
              <a:t>contoh IC TL 082 dan TL 084 memiliki karakteristik yang sama, namun pada IC TL 082 setiap kemasan hanya ada 2 buah op amp, sedangkan pada IC TL 084 pada setiap kemasannya ada 4 buah op amp. </a:t>
            </a:r>
            <a:endParaRPr lang="id-ID" altLang="en-US" sz="1800"/>
          </a:p>
        </p:txBody>
      </p:sp>
      <p:sp>
        <p:nvSpPr>
          <p:cNvPr id="7173" name="Rectangle 3"/>
          <p:cNvSpPr>
            <a:spLocks noChangeArrowheads="1"/>
          </p:cNvSpPr>
          <p:nvPr/>
        </p:nvSpPr>
        <p:spPr bwMode="auto">
          <a:xfrm>
            <a:off x="1689100" y="3281363"/>
            <a:ext cx="3416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id-ID" altLang="en-US" sz="1800"/>
              <a:t>1. </a:t>
            </a:r>
            <a:r>
              <a:rPr lang="en-AU" altLang="en-US" sz="1800"/>
              <a:t>Pengali dengan gain konstan</a:t>
            </a:r>
            <a:endParaRPr lang="id-ID" altLang="en-US" sz="1800"/>
          </a:p>
        </p:txBody>
      </p:sp>
      <p:sp>
        <p:nvSpPr>
          <p:cNvPr id="7174" name="Rectangle 4"/>
          <p:cNvSpPr>
            <a:spLocks noChangeArrowheads="1"/>
          </p:cNvSpPr>
          <p:nvPr/>
        </p:nvSpPr>
        <p:spPr bwMode="auto">
          <a:xfrm>
            <a:off x="2100264" y="4343401"/>
            <a:ext cx="31464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eaLnBrk="1" hangingPunct="1">
              <a:spcBef>
                <a:spcPct val="0"/>
              </a:spcBef>
              <a:buFontTx/>
              <a:buNone/>
            </a:pPr>
            <a:r>
              <a:rPr lang="en-AU" altLang="en-US" sz="1800"/>
              <a:t>Penguat Membalik (</a:t>
            </a:r>
            <a:r>
              <a:rPr lang="en-AU" altLang="en-US" sz="1800" i="1"/>
              <a:t>Inverting Amplifier</a:t>
            </a:r>
            <a:r>
              <a:rPr lang="en-AU" altLang="en-US" sz="1800"/>
              <a:t>)</a:t>
            </a:r>
            <a:endParaRPr lang="id-ID" altLang="en-US" sz="1800"/>
          </a:p>
        </p:txBody>
      </p:sp>
      <p:pic>
        <p:nvPicPr>
          <p:cNvPr id="717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3901" y="5076825"/>
            <a:ext cx="2435225"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6" name="Rectangle 5"/>
          <p:cNvSpPr>
            <a:spLocks noChangeArrowheads="1"/>
          </p:cNvSpPr>
          <p:nvPr/>
        </p:nvSpPr>
        <p:spPr bwMode="auto">
          <a:xfrm>
            <a:off x="5381625" y="4892675"/>
            <a:ext cx="12382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a:t>Vo = A Vin</a:t>
            </a:r>
            <a:endParaRPr lang="id-ID" altLang="en-US" sz="1800"/>
          </a:p>
        </p:txBody>
      </p:sp>
      <p:graphicFrame>
        <p:nvGraphicFramePr>
          <p:cNvPr id="7177" name="Object 7"/>
          <p:cNvGraphicFramePr>
            <a:graphicFrameLocks noChangeAspect="1"/>
          </p:cNvGraphicFramePr>
          <p:nvPr/>
        </p:nvGraphicFramePr>
        <p:xfrm>
          <a:off x="6216651" y="5332414"/>
          <a:ext cx="295275" cy="390525"/>
        </p:xfrm>
        <a:graphic>
          <a:graphicData uri="http://schemas.openxmlformats.org/presentationml/2006/ole">
            <mc:AlternateContent xmlns:mc="http://schemas.openxmlformats.org/markup-compatibility/2006">
              <mc:Choice xmlns:v="urn:schemas-microsoft-com:vml" Requires="v">
                <p:oleObj spid="_x0000_s7172" name="Equation" r:id="rId4" imgW="291973" imgH="393529" progId="Equation.3">
                  <p:embed/>
                </p:oleObj>
              </mc:Choice>
              <mc:Fallback>
                <p:oleObj name="Equation" r:id="rId4" imgW="291973" imgH="393529" progId="Equation.3">
                  <p:embed/>
                  <p:pic>
                    <p:nvPicPr>
                      <p:cNvPr id="7177"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16651" y="5332414"/>
                        <a:ext cx="2952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8" name="Rectangle 4"/>
          <p:cNvSpPr>
            <a:spLocks noChangeArrowheads="1"/>
          </p:cNvSpPr>
          <p:nvPr/>
        </p:nvSpPr>
        <p:spPr bwMode="auto">
          <a:xfrm>
            <a:off x="1524000" y="252027"/>
            <a:ext cx="21755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AU" altLang="ko-KR" sz="1200">
                <a:latin typeface="Times New Roman" panose="02020603050405020304" pitchFamily="18" charset="0"/>
                <a:ea typeface="Batang" pitchFamily="18" charset="-127"/>
                <a:cs typeface="Times New Roman" panose="02020603050405020304" pitchFamily="18" charset="0"/>
              </a:rPr>
              <a:t>                                                   </a:t>
            </a:r>
            <a:r>
              <a:rPr lang="id-ID" altLang="ko-KR" sz="800">
                <a:ea typeface="Batang" pitchFamily="18" charset="-127"/>
                <a:cs typeface="Times New Roman" panose="02020603050405020304" pitchFamily="18" charset="0"/>
              </a:rPr>
              <a:t> </a:t>
            </a:r>
            <a:endParaRPr lang="id-ID" altLang="ko-KR" sz="1800">
              <a:ea typeface="Batang" pitchFamily="18" charset="-127"/>
              <a:cs typeface="Times New Roman" panose="02020603050405020304" pitchFamily="18" charset="0"/>
            </a:endParaRPr>
          </a:p>
        </p:txBody>
      </p:sp>
      <p:sp>
        <p:nvSpPr>
          <p:cNvPr id="7179" name="Rectangle 9"/>
          <p:cNvSpPr>
            <a:spLocks noChangeArrowheads="1"/>
          </p:cNvSpPr>
          <p:nvPr/>
        </p:nvSpPr>
        <p:spPr bwMode="auto">
          <a:xfrm>
            <a:off x="5597526" y="5343525"/>
            <a:ext cx="665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a:t>A =</a:t>
            </a:r>
            <a:r>
              <a:rPr lang="id-ID" altLang="en-US" sz="1800"/>
              <a:t> -</a:t>
            </a:r>
          </a:p>
        </p:txBody>
      </p:sp>
      <p:sp>
        <p:nvSpPr>
          <p:cNvPr id="7180" name="Rectangle 10"/>
          <p:cNvSpPr>
            <a:spLocks noChangeArrowheads="1"/>
          </p:cNvSpPr>
          <p:nvPr/>
        </p:nvSpPr>
        <p:spPr bwMode="auto">
          <a:xfrm>
            <a:off x="5603875" y="6103939"/>
            <a:ext cx="7937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a:t>Vo =</a:t>
            </a:r>
            <a:r>
              <a:rPr lang="id-ID" altLang="en-US" sz="1800"/>
              <a:t> -</a:t>
            </a:r>
          </a:p>
        </p:txBody>
      </p:sp>
      <p:sp>
        <p:nvSpPr>
          <p:cNvPr id="7181" name="Rectangle 6"/>
          <p:cNvSpPr>
            <a:spLocks noChangeArrowheads="1"/>
          </p:cNvSpPr>
          <p:nvPr/>
        </p:nvSpPr>
        <p:spPr bwMode="auto">
          <a:xfrm>
            <a:off x="1676401" y="-322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graphicFrame>
        <p:nvGraphicFramePr>
          <p:cNvPr id="7182" name="Object 12"/>
          <p:cNvGraphicFramePr>
            <a:graphicFrameLocks noChangeAspect="1"/>
          </p:cNvGraphicFramePr>
          <p:nvPr/>
        </p:nvGraphicFramePr>
        <p:xfrm>
          <a:off x="6484939" y="5991226"/>
          <a:ext cx="295275" cy="390525"/>
        </p:xfrm>
        <a:graphic>
          <a:graphicData uri="http://schemas.openxmlformats.org/presentationml/2006/ole">
            <mc:AlternateContent xmlns:mc="http://schemas.openxmlformats.org/markup-compatibility/2006">
              <mc:Choice xmlns:v="urn:schemas-microsoft-com:vml" Requires="v">
                <p:oleObj spid="_x0000_s7173" name="Equation" r:id="rId6" imgW="291973" imgH="393529" progId="Equation.3">
                  <p:embed/>
                </p:oleObj>
              </mc:Choice>
              <mc:Fallback>
                <p:oleObj name="Equation" r:id="rId6" imgW="291973" imgH="393529" progId="Equation.3">
                  <p:embed/>
                  <p:pic>
                    <p:nvPicPr>
                      <p:cNvPr id="7182"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4939" y="5991226"/>
                        <a:ext cx="2952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83" name="Rectangle 16"/>
          <p:cNvSpPr>
            <a:spLocks noChangeArrowheads="1"/>
          </p:cNvSpPr>
          <p:nvPr/>
        </p:nvSpPr>
        <p:spPr bwMode="auto">
          <a:xfrm>
            <a:off x="6835775" y="6076950"/>
            <a:ext cx="514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a:t>Vin</a:t>
            </a:r>
            <a:endParaRPr lang="id-ID" altLang="en-US" sz="1800"/>
          </a:p>
        </p:txBody>
      </p:sp>
      <p:pic>
        <p:nvPicPr>
          <p:cNvPr id="7184" name="Picture 1"/>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72514" y="3281364"/>
            <a:ext cx="1538287"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85" name="Picture 2"/>
          <p:cNvPicPr>
            <a:picLocks noChangeAspect="1"/>
          </p:cNvPicPr>
          <p:nvPr/>
        </p:nvPicPr>
        <p:blipFill>
          <a:blip r:embed="rId8">
            <a:extLst>
              <a:ext uri="{28A0092B-C50C-407E-A947-70E740481C1C}">
                <a14:useLocalDpi xmlns:a14="http://schemas.microsoft.com/office/drawing/2010/main" val="0"/>
              </a:ext>
            </a:extLst>
          </a:blip>
          <a:srcRect l="27002" t="43683" r="66248" b="45816"/>
          <a:stretch>
            <a:fillRect/>
          </a:stretch>
        </p:blipFill>
        <p:spPr bwMode="auto">
          <a:xfrm>
            <a:off x="7993063" y="3241675"/>
            <a:ext cx="60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86" name="Picture 3"/>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8672514" y="4076700"/>
            <a:ext cx="1577975"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87" name="Picture 4"/>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8423276" y="5149851"/>
            <a:ext cx="2144713" cy="129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6098222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62B498F-3E94-4A0A-840B-38CDDE3FD98A}" type="slidenum">
              <a:rPr lang="en-US" altLang="en-US" sz="1400"/>
              <a:pPr>
                <a:spcBef>
                  <a:spcPct val="0"/>
                </a:spcBef>
                <a:buFontTx/>
                <a:buNone/>
              </a:pPr>
              <a:t>33</a:t>
            </a:fld>
            <a:endParaRPr lang="en-US" altLang="en-US" sz="1400"/>
          </a:p>
        </p:txBody>
      </p:sp>
      <p:sp>
        <p:nvSpPr>
          <p:cNvPr id="8195" name="Rectangle 1"/>
          <p:cNvSpPr>
            <a:spLocks noChangeArrowheads="1"/>
          </p:cNvSpPr>
          <p:nvPr/>
        </p:nvSpPr>
        <p:spPr bwMode="auto">
          <a:xfrm>
            <a:off x="1285875" y="228601"/>
            <a:ext cx="3124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eaLnBrk="1" hangingPunct="1">
              <a:spcBef>
                <a:spcPct val="0"/>
              </a:spcBef>
              <a:buFontTx/>
              <a:buNone/>
            </a:pPr>
            <a:r>
              <a:rPr lang="en-AU" altLang="en-US" sz="1800"/>
              <a:t>Penguat Tak Membalik (</a:t>
            </a:r>
            <a:r>
              <a:rPr lang="en-AU" altLang="en-US" sz="1800" i="1"/>
              <a:t>Non Inverting Amplifier</a:t>
            </a:r>
            <a:r>
              <a:rPr lang="en-AU" altLang="en-US" sz="1800"/>
              <a:t>)</a:t>
            </a:r>
            <a:endParaRPr lang="id-ID" altLang="en-US" sz="1800"/>
          </a:p>
        </p:txBody>
      </p:sp>
      <p:pic>
        <p:nvPicPr>
          <p:cNvPr id="8196"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1800" y="914401"/>
            <a:ext cx="1828800"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Rectangle 2"/>
          <p:cNvSpPr>
            <a:spLocks noChangeArrowheads="1"/>
          </p:cNvSpPr>
          <p:nvPr/>
        </p:nvSpPr>
        <p:spPr bwMode="auto">
          <a:xfrm>
            <a:off x="1636713" y="2293939"/>
            <a:ext cx="13017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a:t>Vo = A Vin </a:t>
            </a:r>
            <a:endParaRPr lang="id-ID" altLang="en-US" sz="1800"/>
          </a:p>
        </p:txBody>
      </p:sp>
      <p:graphicFrame>
        <p:nvGraphicFramePr>
          <p:cNvPr id="8198" name="Object 4"/>
          <p:cNvGraphicFramePr>
            <a:graphicFrameLocks noChangeAspect="1"/>
          </p:cNvGraphicFramePr>
          <p:nvPr/>
        </p:nvGraphicFramePr>
        <p:xfrm>
          <a:off x="2725739" y="2743201"/>
          <a:ext cx="295275" cy="390525"/>
        </p:xfrm>
        <a:graphic>
          <a:graphicData uri="http://schemas.openxmlformats.org/presentationml/2006/ole">
            <mc:AlternateContent xmlns:mc="http://schemas.openxmlformats.org/markup-compatibility/2006">
              <mc:Choice xmlns:v="urn:schemas-microsoft-com:vml" Requires="v">
                <p:oleObj spid="_x0000_s3092" name="Equation" r:id="rId4" imgW="291973" imgH="393529" progId="Equation.3">
                  <p:embed/>
                </p:oleObj>
              </mc:Choice>
              <mc:Fallback>
                <p:oleObj name="Equation" r:id="rId4" imgW="291973" imgH="393529" progId="Equation.3">
                  <p:embed/>
                  <p:pic>
                    <p:nvPicPr>
                      <p:cNvPr id="819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5739" y="2743201"/>
                        <a:ext cx="2952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99" name="Rectangle 5"/>
          <p:cNvSpPr>
            <a:spLocks noChangeArrowheads="1"/>
          </p:cNvSpPr>
          <p:nvPr/>
        </p:nvSpPr>
        <p:spPr bwMode="auto">
          <a:xfrm>
            <a:off x="1636714" y="2767014"/>
            <a:ext cx="9794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a:t>A = 1</a:t>
            </a:r>
            <a:r>
              <a:rPr lang="id-ID" altLang="en-US" sz="1800"/>
              <a:t> +</a:t>
            </a:r>
            <a:r>
              <a:rPr lang="en-AU" altLang="en-US" sz="1800"/>
              <a:t> </a:t>
            </a:r>
            <a:endParaRPr lang="id-ID" altLang="en-US" sz="1800"/>
          </a:p>
        </p:txBody>
      </p:sp>
      <p:sp>
        <p:nvSpPr>
          <p:cNvPr id="8200" name="Rectangle 8"/>
          <p:cNvSpPr>
            <a:spLocks noChangeArrowheads="1"/>
          </p:cNvSpPr>
          <p:nvPr/>
        </p:nvSpPr>
        <p:spPr bwMode="auto">
          <a:xfrm>
            <a:off x="1636713" y="3505200"/>
            <a:ext cx="24241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a:t>Vo = </a:t>
            </a:r>
            <a:r>
              <a:rPr lang="id-ID" altLang="en-US" sz="1800"/>
              <a:t>(1 +           ) </a:t>
            </a:r>
            <a:r>
              <a:rPr lang="en-AU" altLang="en-US" sz="1800"/>
              <a:t> Vin </a:t>
            </a:r>
            <a:endParaRPr lang="id-ID" altLang="en-US" sz="1800"/>
          </a:p>
        </p:txBody>
      </p:sp>
      <p:graphicFrame>
        <p:nvGraphicFramePr>
          <p:cNvPr id="8201" name="Object 9"/>
          <p:cNvGraphicFramePr>
            <a:graphicFrameLocks noChangeAspect="1"/>
          </p:cNvGraphicFramePr>
          <p:nvPr/>
        </p:nvGraphicFramePr>
        <p:xfrm>
          <a:off x="2790826" y="3484564"/>
          <a:ext cx="295275" cy="390525"/>
        </p:xfrm>
        <a:graphic>
          <a:graphicData uri="http://schemas.openxmlformats.org/presentationml/2006/ole">
            <mc:AlternateContent xmlns:mc="http://schemas.openxmlformats.org/markup-compatibility/2006">
              <mc:Choice xmlns:v="urn:schemas-microsoft-com:vml" Requires="v">
                <p:oleObj spid="_x0000_s3093" name="Equation" r:id="rId6" imgW="291973" imgH="393529" progId="Equation.3">
                  <p:embed/>
                </p:oleObj>
              </mc:Choice>
              <mc:Fallback>
                <p:oleObj name="Equation" r:id="rId6" imgW="291973" imgH="393529" progId="Equation.3">
                  <p:embed/>
                  <p:pic>
                    <p:nvPicPr>
                      <p:cNvPr id="8201"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0826" y="3484564"/>
                        <a:ext cx="2952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02" name="Rectangle 6"/>
          <p:cNvSpPr>
            <a:spLocks noChangeArrowheads="1"/>
          </p:cNvSpPr>
          <p:nvPr/>
        </p:nvSpPr>
        <p:spPr bwMode="auto">
          <a:xfrm>
            <a:off x="4953000" y="228601"/>
            <a:ext cx="2286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id-ID" altLang="en-US" sz="1800"/>
              <a:t>Penguat Bertingkat (Cascade Amplifier)</a:t>
            </a:r>
          </a:p>
        </p:txBody>
      </p:sp>
      <p:pic>
        <p:nvPicPr>
          <p:cNvPr id="8203"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21239" y="914401"/>
            <a:ext cx="3443287"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4" name="Rectangle 7"/>
          <p:cNvSpPr>
            <a:spLocks noChangeArrowheads="1"/>
          </p:cNvSpPr>
          <p:nvPr/>
        </p:nvSpPr>
        <p:spPr bwMode="auto">
          <a:xfrm>
            <a:off x="4872038" y="1925638"/>
            <a:ext cx="1371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id-ID" altLang="en-US" sz="1800"/>
              <a:t>A = A1 x A2</a:t>
            </a:r>
          </a:p>
        </p:txBody>
      </p:sp>
      <p:sp>
        <p:nvSpPr>
          <p:cNvPr id="8205" name="Rectangle 13"/>
          <p:cNvSpPr>
            <a:spLocks noChangeArrowheads="1"/>
          </p:cNvSpPr>
          <p:nvPr/>
        </p:nvSpPr>
        <p:spPr bwMode="auto">
          <a:xfrm>
            <a:off x="4953000" y="2543175"/>
            <a:ext cx="9223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a:t>A </a:t>
            </a:r>
            <a:r>
              <a:rPr lang="id-ID" altLang="en-US" sz="1800"/>
              <a:t>1 </a:t>
            </a:r>
            <a:r>
              <a:rPr lang="en-AU" altLang="en-US" sz="1800"/>
              <a:t>= - </a:t>
            </a:r>
            <a:endParaRPr lang="id-ID" altLang="en-US" sz="1800"/>
          </a:p>
        </p:txBody>
      </p:sp>
      <p:sp>
        <p:nvSpPr>
          <p:cNvPr id="8206" name="Rectangle 8"/>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graphicFrame>
        <p:nvGraphicFramePr>
          <p:cNvPr id="8207" name="Object 11"/>
          <p:cNvGraphicFramePr>
            <a:graphicFrameLocks noChangeAspect="1"/>
          </p:cNvGraphicFramePr>
          <p:nvPr/>
        </p:nvGraphicFramePr>
        <p:xfrm>
          <a:off x="5835650" y="2522539"/>
          <a:ext cx="342900" cy="390525"/>
        </p:xfrm>
        <a:graphic>
          <a:graphicData uri="http://schemas.openxmlformats.org/presentationml/2006/ole">
            <mc:AlternateContent xmlns:mc="http://schemas.openxmlformats.org/markup-compatibility/2006">
              <mc:Choice xmlns:v="urn:schemas-microsoft-com:vml" Requires="v">
                <p:oleObj spid="_x0000_s3094" name="Equation" r:id="rId8" imgW="342751" imgH="393529" progId="Equation.3">
                  <p:embed/>
                </p:oleObj>
              </mc:Choice>
              <mc:Fallback>
                <p:oleObj name="Equation" r:id="rId8" imgW="342751" imgH="393529" progId="Equation.3">
                  <p:embed/>
                  <p:pic>
                    <p:nvPicPr>
                      <p:cNvPr id="8207"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35650" y="2522539"/>
                        <a:ext cx="3429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08" name="Rectangle 16"/>
          <p:cNvSpPr>
            <a:spLocks noChangeArrowheads="1"/>
          </p:cNvSpPr>
          <p:nvPr/>
        </p:nvSpPr>
        <p:spPr bwMode="auto">
          <a:xfrm>
            <a:off x="4953000" y="3313114"/>
            <a:ext cx="9223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a:t>A </a:t>
            </a:r>
            <a:r>
              <a:rPr lang="id-ID" altLang="en-US" sz="1800"/>
              <a:t>2 </a:t>
            </a:r>
            <a:r>
              <a:rPr lang="en-AU" altLang="en-US" sz="1800"/>
              <a:t>= - </a:t>
            </a:r>
            <a:endParaRPr lang="id-ID" altLang="en-US" sz="1800"/>
          </a:p>
        </p:txBody>
      </p:sp>
      <p:sp>
        <p:nvSpPr>
          <p:cNvPr id="8209" name="Rectangle 10"/>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graphicFrame>
        <p:nvGraphicFramePr>
          <p:cNvPr id="8210" name="Object 14"/>
          <p:cNvGraphicFramePr>
            <a:graphicFrameLocks noChangeAspect="1"/>
          </p:cNvGraphicFramePr>
          <p:nvPr/>
        </p:nvGraphicFramePr>
        <p:xfrm>
          <a:off x="5875339" y="3313114"/>
          <a:ext cx="371475" cy="390525"/>
        </p:xfrm>
        <a:graphic>
          <a:graphicData uri="http://schemas.openxmlformats.org/presentationml/2006/ole">
            <mc:AlternateContent xmlns:mc="http://schemas.openxmlformats.org/markup-compatibility/2006">
              <mc:Choice xmlns:v="urn:schemas-microsoft-com:vml" Requires="v">
                <p:oleObj spid="_x0000_s3095" name="Equation" r:id="rId10" imgW="368140" imgH="393529" progId="Equation.3">
                  <p:embed/>
                </p:oleObj>
              </mc:Choice>
              <mc:Fallback>
                <p:oleObj name="Equation" r:id="rId10" imgW="368140" imgH="393529" progId="Equation.3">
                  <p:embed/>
                  <p:pic>
                    <p:nvPicPr>
                      <p:cNvPr id="821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75339" y="3313114"/>
                        <a:ext cx="3714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11" name="Rectangle 15"/>
          <p:cNvSpPr>
            <a:spLocks noChangeArrowheads="1"/>
          </p:cNvSpPr>
          <p:nvPr/>
        </p:nvSpPr>
        <p:spPr bwMode="auto">
          <a:xfrm>
            <a:off x="5016501" y="3875088"/>
            <a:ext cx="2854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a:t>Vo =</a:t>
            </a:r>
            <a:r>
              <a:rPr lang="id-ID" altLang="en-US" sz="1800"/>
              <a:t> [ ( -       ) ( -       )] Vin</a:t>
            </a:r>
          </a:p>
        </p:txBody>
      </p:sp>
      <p:graphicFrame>
        <p:nvGraphicFramePr>
          <p:cNvPr id="8212" name="Object 20"/>
          <p:cNvGraphicFramePr>
            <a:graphicFrameLocks noChangeAspect="1"/>
          </p:cNvGraphicFramePr>
          <p:nvPr/>
        </p:nvGraphicFramePr>
        <p:xfrm>
          <a:off x="6072188" y="3875089"/>
          <a:ext cx="342900" cy="390525"/>
        </p:xfrm>
        <a:graphic>
          <a:graphicData uri="http://schemas.openxmlformats.org/presentationml/2006/ole">
            <mc:AlternateContent xmlns:mc="http://schemas.openxmlformats.org/markup-compatibility/2006">
              <mc:Choice xmlns:v="urn:schemas-microsoft-com:vml" Requires="v">
                <p:oleObj spid="_x0000_s3096" name="Equation" r:id="rId12" imgW="342751" imgH="393529" progId="Equation.3">
                  <p:embed/>
                </p:oleObj>
              </mc:Choice>
              <mc:Fallback>
                <p:oleObj name="Equation" r:id="rId12" imgW="342751" imgH="393529" progId="Equation.3">
                  <p:embed/>
                  <p:pic>
                    <p:nvPicPr>
                      <p:cNvPr id="8212" name="Object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72188" y="3875089"/>
                        <a:ext cx="3429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13" name="Object 21"/>
          <p:cNvGraphicFramePr>
            <a:graphicFrameLocks noChangeAspect="1"/>
          </p:cNvGraphicFramePr>
          <p:nvPr/>
        </p:nvGraphicFramePr>
        <p:xfrm>
          <a:off x="6867526" y="3875089"/>
          <a:ext cx="371475" cy="390525"/>
        </p:xfrm>
        <a:graphic>
          <a:graphicData uri="http://schemas.openxmlformats.org/presentationml/2006/ole">
            <mc:AlternateContent xmlns:mc="http://schemas.openxmlformats.org/markup-compatibility/2006">
              <mc:Choice xmlns:v="urn:schemas-microsoft-com:vml" Requires="v">
                <p:oleObj spid="_x0000_s3097" name="Equation" r:id="rId13" imgW="368140" imgH="393529" progId="Equation.3">
                  <p:embed/>
                </p:oleObj>
              </mc:Choice>
              <mc:Fallback>
                <p:oleObj name="Equation" r:id="rId13" imgW="368140" imgH="393529" progId="Equation.3">
                  <p:embed/>
                  <p:pic>
                    <p:nvPicPr>
                      <p:cNvPr id="8213"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67526" y="3875089"/>
                        <a:ext cx="3714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14" name="Rectangle 17"/>
          <p:cNvSpPr>
            <a:spLocks noChangeArrowheads="1"/>
          </p:cNvSpPr>
          <p:nvPr/>
        </p:nvSpPr>
        <p:spPr bwMode="auto">
          <a:xfrm>
            <a:off x="1701800" y="4800600"/>
            <a:ext cx="4249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id-ID" altLang="en-US" sz="1800"/>
              <a:t>2. </a:t>
            </a:r>
            <a:r>
              <a:rPr lang="en-AU" altLang="en-US" sz="1800"/>
              <a:t>Penyangga tegangan (</a:t>
            </a:r>
            <a:r>
              <a:rPr lang="en-AU" altLang="en-US" sz="1800" i="1"/>
              <a:t>voltage buffer</a:t>
            </a:r>
            <a:r>
              <a:rPr lang="en-AU" altLang="en-US" sz="1800"/>
              <a:t>)</a:t>
            </a:r>
            <a:endParaRPr lang="id-ID" altLang="en-US" sz="1800"/>
          </a:p>
        </p:txBody>
      </p:sp>
      <p:sp>
        <p:nvSpPr>
          <p:cNvPr id="8215" name="Rectangle 18"/>
          <p:cNvSpPr>
            <a:spLocks noChangeArrowheads="1"/>
          </p:cNvSpPr>
          <p:nvPr/>
        </p:nvSpPr>
        <p:spPr bwMode="auto">
          <a:xfrm>
            <a:off x="1774825" y="5170489"/>
            <a:ext cx="45720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en-AU" altLang="en-US" sz="1800"/>
              <a:t>Rangkaian penyangga merupakan piranti yang mengisolasi sinyal masukan dari beban dengan menggunakan satu tahap penguatan dengan penguatan satu kali tanpa terjadi pembalikan fase sinyal</a:t>
            </a:r>
            <a:endParaRPr lang="id-ID" altLang="en-US" sz="1800"/>
          </a:p>
        </p:txBody>
      </p:sp>
      <p:pic>
        <p:nvPicPr>
          <p:cNvPr id="8216" name="Picture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65926" y="4818063"/>
            <a:ext cx="2208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17" name="Rectangle 19"/>
          <p:cNvSpPr>
            <a:spLocks noChangeArrowheads="1"/>
          </p:cNvSpPr>
          <p:nvPr/>
        </p:nvSpPr>
        <p:spPr bwMode="auto">
          <a:xfrm>
            <a:off x="7239001" y="5913438"/>
            <a:ext cx="10461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a:t>Vo = Vin</a:t>
            </a:r>
            <a:endParaRPr lang="id-ID" altLang="en-US" sz="1800"/>
          </a:p>
        </p:txBody>
      </p:sp>
    </p:spTree>
    <p:extLst>
      <p:ext uri="{BB962C8B-B14F-4D97-AF65-F5344CB8AC3E}">
        <p14:creationId xmlns:p14="http://schemas.microsoft.com/office/powerpoint/2010/main" val="392100905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652EFAA-20ED-42CB-9681-EEA8213E24D4}" type="slidenum">
              <a:rPr lang="en-US" altLang="en-US" sz="1400"/>
              <a:pPr>
                <a:spcBef>
                  <a:spcPct val="0"/>
                </a:spcBef>
                <a:buFontTx/>
                <a:buNone/>
              </a:pPr>
              <a:t>34</a:t>
            </a:fld>
            <a:endParaRPr lang="en-US" altLang="en-US" sz="1400"/>
          </a:p>
        </p:txBody>
      </p:sp>
      <p:sp>
        <p:nvSpPr>
          <p:cNvPr id="9219" name="Rectangle 1"/>
          <p:cNvSpPr>
            <a:spLocks noChangeArrowheads="1"/>
          </p:cNvSpPr>
          <p:nvPr/>
        </p:nvSpPr>
        <p:spPr bwMode="auto">
          <a:xfrm>
            <a:off x="1765301" y="228600"/>
            <a:ext cx="2595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id-ID" altLang="en-US" sz="1800"/>
              <a:t>3. Pengurang tegangan</a:t>
            </a:r>
          </a:p>
        </p:txBody>
      </p:sp>
      <p:sp>
        <p:nvSpPr>
          <p:cNvPr id="9220" name="Rectangle 2"/>
          <p:cNvSpPr>
            <a:spLocks noChangeArrowheads="1"/>
          </p:cNvSpPr>
          <p:nvPr/>
        </p:nvSpPr>
        <p:spPr bwMode="auto">
          <a:xfrm>
            <a:off x="1765300" y="669926"/>
            <a:ext cx="4572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en-AU" altLang="en-US" sz="1800"/>
              <a:t>Rangkaian in sering disebut dengan </a:t>
            </a:r>
            <a:r>
              <a:rPr lang="en-AU" altLang="en-US" sz="1800" i="1"/>
              <a:t>differential</a:t>
            </a:r>
            <a:r>
              <a:rPr lang="en-AU" altLang="en-US" sz="1800"/>
              <a:t>, dimana kerja rangkaian ini berdasar pada perbedaan tegangan pada tiap terminal masukannya</a:t>
            </a:r>
            <a:endParaRPr lang="id-ID" altLang="en-US" sz="1800"/>
          </a:p>
          <a:p>
            <a:pPr algn="just" eaLnBrk="1" hangingPunct="1">
              <a:spcBef>
                <a:spcPct val="0"/>
              </a:spcBef>
              <a:buFontTx/>
              <a:buNone/>
            </a:pPr>
            <a:r>
              <a:rPr lang="en-AU" altLang="en-US" sz="1800"/>
              <a:t>Dari rumusan diatas dapat dilihat bahwa keluaran Vo merupakan hasil pengurangan terminal positif dengan terminal negatif.</a:t>
            </a:r>
            <a:endParaRPr lang="id-ID" altLang="en-US" sz="1800"/>
          </a:p>
          <a:p>
            <a:pPr algn="just" eaLnBrk="1" hangingPunct="1">
              <a:spcBef>
                <a:spcPct val="0"/>
              </a:spcBef>
              <a:buFontTx/>
              <a:buNone/>
            </a:pPr>
            <a:endParaRPr lang="id-ID" altLang="en-US" sz="1800"/>
          </a:p>
        </p:txBody>
      </p:sp>
      <p:pic>
        <p:nvPicPr>
          <p:cNvPr id="922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7100" y="-1588"/>
            <a:ext cx="2363788" cy="1343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222" name="Object 3"/>
          <p:cNvGraphicFramePr>
            <a:graphicFrameLocks noChangeAspect="1"/>
          </p:cNvGraphicFramePr>
          <p:nvPr/>
        </p:nvGraphicFramePr>
        <p:xfrm>
          <a:off x="7178676" y="1479551"/>
          <a:ext cx="542925" cy="390525"/>
        </p:xfrm>
        <a:graphic>
          <a:graphicData uri="http://schemas.openxmlformats.org/presentationml/2006/ole">
            <mc:AlternateContent xmlns:mc="http://schemas.openxmlformats.org/markup-compatibility/2006">
              <mc:Choice xmlns:v="urn:schemas-microsoft-com:vml" Requires="v">
                <p:oleObj spid="_x0000_s4110" name="Equation" r:id="rId4" imgW="545863" imgH="393529" progId="Equation.3">
                  <p:embed/>
                </p:oleObj>
              </mc:Choice>
              <mc:Fallback>
                <p:oleObj name="Equation" r:id="rId4" imgW="545863" imgH="393529" progId="Equation.3">
                  <p:embed/>
                  <p:pic>
                    <p:nvPicPr>
                      <p:cNvPr id="9222"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78676" y="1479551"/>
                        <a:ext cx="5429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23" name="Object 4"/>
          <p:cNvGraphicFramePr>
            <a:graphicFrameLocks noChangeAspect="1"/>
          </p:cNvGraphicFramePr>
          <p:nvPr/>
        </p:nvGraphicFramePr>
        <p:xfrm>
          <a:off x="7878764" y="1479551"/>
          <a:ext cx="581025" cy="390525"/>
        </p:xfrm>
        <a:graphic>
          <a:graphicData uri="http://schemas.openxmlformats.org/presentationml/2006/ole">
            <mc:AlternateContent xmlns:mc="http://schemas.openxmlformats.org/markup-compatibility/2006">
              <mc:Choice xmlns:v="urn:schemas-microsoft-com:vml" Requires="v">
                <p:oleObj spid="_x0000_s4111" name="Equation" r:id="rId6" imgW="583947" imgH="393529" progId="Equation.3">
                  <p:embed/>
                </p:oleObj>
              </mc:Choice>
              <mc:Fallback>
                <p:oleObj name="Equation" r:id="rId6" imgW="583947" imgH="393529" progId="Equation.3">
                  <p:embed/>
                  <p:pic>
                    <p:nvPicPr>
                      <p:cNvPr id="9223"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78764" y="1479551"/>
                        <a:ext cx="5810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4" name="Rectangle 6"/>
          <p:cNvSpPr>
            <a:spLocks noChangeArrowheads="1"/>
          </p:cNvSpPr>
          <p:nvPr/>
        </p:nvSpPr>
        <p:spPr bwMode="auto">
          <a:xfrm>
            <a:off x="1524000" y="252027"/>
            <a:ext cx="22313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AU" altLang="ko-KR" sz="1200">
                <a:latin typeface="Times New Roman" panose="02020603050405020304" pitchFamily="18" charset="0"/>
                <a:ea typeface="Batang" pitchFamily="18" charset="-127"/>
                <a:cs typeface="Times New Roman" panose="02020603050405020304" pitchFamily="18" charset="0"/>
              </a:rPr>
              <a:t> </a:t>
            </a:r>
            <a:endParaRPr lang="en-AU" altLang="ko-KR" sz="1800">
              <a:ea typeface="Batang" pitchFamily="18" charset="-127"/>
              <a:cs typeface="Times New Roman" panose="02020603050405020304" pitchFamily="18" charset="0"/>
            </a:endParaRPr>
          </a:p>
        </p:txBody>
      </p:sp>
      <p:sp>
        <p:nvSpPr>
          <p:cNvPr id="9225" name="Rectangle 10"/>
          <p:cNvSpPr>
            <a:spLocks noChangeArrowheads="1"/>
          </p:cNvSpPr>
          <p:nvPr/>
        </p:nvSpPr>
        <p:spPr bwMode="auto">
          <a:xfrm>
            <a:off x="6337301" y="1470025"/>
            <a:ext cx="6524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a:t>Vo =</a:t>
            </a:r>
            <a:endParaRPr lang="id-ID" altLang="en-US" sz="1800"/>
          </a:p>
        </p:txBody>
      </p:sp>
      <p:sp>
        <p:nvSpPr>
          <p:cNvPr id="9226" name="Rectangle 11"/>
          <p:cNvSpPr>
            <a:spLocks noChangeArrowheads="1"/>
          </p:cNvSpPr>
          <p:nvPr/>
        </p:nvSpPr>
        <p:spPr bwMode="auto">
          <a:xfrm>
            <a:off x="8523288" y="1514475"/>
            <a:ext cx="13652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a:t>V</a:t>
            </a:r>
            <a:r>
              <a:rPr lang="id-ID" altLang="en-US" sz="1800"/>
              <a:t>1 -        v2</a:t>
            </a:r>
          </a:p>
        </p:txBody>
      </p:sp>
      <p:sp>
        <p:nvSpPr>
          <p:cNvPr id="9227" name="Rectangle 10"/>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graphicFrame>
        <p:nvGraphicFramePr>
          <p:cNvPr id="9228" name="Object 13"/>
          <p:cNvGraphicFramePr>
            <a:graphicFrameLocks noChangeAspect="1"/>
          </p:cNvGraphicFramePr>
          <p:nvPr/>
        </p:nvGraphicFramePr>
        <p:xfrm>
          <a:off x="9164639" y="1514476"/>
          <a:ext cx="257175" cy="390525"/>
        </p:xfrm>
        <a:graphic>
          <a:graphicData uri="http://schemas.openxmlformats.org/presentationml/2006/ole">
            <mc:AlternateContent xmlns:mc="http://schemas.openxmlformats.org/markup-compatibility/2006">
              <mc:Choice xmlns:v="urn:schemas-microsoft-com:vml" Requires="v">
                <p:oleObj spid="_x0000_s4112" name="Equation" r:id="rId8" imgW="253890" imgH="393529" progId="Equation.3">
                  <p:embed/>
                </p:oleObj>
              </mc:Choice>
              <mc:Fallback>
                <p:oleObj name="Equation" r:id="rId8" imgW="253890" imgH="393529" progId="Equation.3">
                  <p:embed/>
                  <p:pic>
                    <p:nvPicPr>
                      <p:cNvPr id="9228"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64639" y="1514476"/>
                        <a:ext cx="2571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9" name="Rectangle 14"/>
          <p:cNvSpPr>
            <a:spLocks noChangeArrowheads="1"/>
          </p:cNvSpPr>
          <p:nvPr/>
        </p:nvSpPr>
        <p:spPr bwMode="auto">
          <a:xfrm>
            <a:off x="1765300" y="2978150"/>
            <a:ext cx="23129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id-ID" altLang="en-US" sz="1800"/>
              <a:t>4. </a:t>
            </a:r>
            <a:r>
              <a:rPr lang="en-AU" altLang="en-US" sz="1800"/>
              <a:t>Penyearah Presisi</a:t>
            </a:r>
            <a:endParaRPr lang="id-ID" altLang="en-US" sz="1800"/>
          </a:p>
        </p:txBody>
      </p:sp>
      <p:sp>
        <p:nvSpPr>
          <p:cNvPr id="9230" name="Rectangle 15"/>
          <p:cNvSpPr>
            <a:spLocks noChangeArrowheads="1"/>
          </p:cNvSpPr>
          <p:nvPr/>
        </p:nvSpPr>
        <p:spPr bwMode="auto">
          <a:xfrm>
            <a:off x="1765300" y="3429000"/>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id-ID" altLang="en-US" sz="1800"/>
              <a:t>Rangkaian penyearah presisi merupakan rangkaian yang mampu melakukan operasi penguatan dan penyearahan sinyal pada waktu yang bersamaan. </a:t>
            </a:r>
          </a:p>
        </p:txBody>
      </p:sp>
      <p:sp>
        <p:nvSpPr>
          <p:cNvPr id="9231" name="Rectangle 1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graphicFrame>
        <p:nvGraphicFramePr>
          <p:cNvPr id="9232" name="Object 17"/>
          <p:cNvGraphicFramePr>
            <a:graphicFrameLocks noChangeAspect="1"/>
          </p:cNvGraphicFramePr>
          <p:nvPr/>
        </p:nvGraphicFramePr>
        <p:xfrm>
          <a:off x="6570664" y="2301876"/>
          <a:ext cx="4105275" cy="2486025"/>
        </p:xfrm>
        <a:graphic>
          <a:graphicData uri="http://schemas.openxmlformats.org/presentationml/2006/ole">
            <mc:AlternateContent xmlns:mc="http://schemas.openxmlformats.org/markup-compatibility/2006">
              <mc:Choice xmlns:v="urn:schemas-microsoft-com:vml" Requires="v">
                <p:oleObj spid="_x0000_s4113" name="Picture" r:id="rId10" imgW="4109720" imgH="2486660" progId="Word.Picture.8">
                  <p:embed/>
                </p:oleObj>
              </mc:Choice>
              <mc:Fallback>
                <p:oleObj name="Picture" r:id="rId10" imgW="4109720" imgH="2486660" progId="Word.Picture.8">
                  <p:embed/>
                  <p:pic>
                    <p:nvPicPr>
                      <p:cNvPr id="9232"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70664" y="2301876"/>
                        <a:ext cx="4105275"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33" name="Rectangle 18"/>
          <p:cNvSpPr>
            <a:spLocks noChangeArrowheads="1"/>
          </p:cNvSpPr>
          <p:nvPr/>
        </p:nvSpPr>
        <p:spPr bwMode="auto">
          <a:xfrm>
            <a:off x="1524000" y="4629150"/>
            <a:ext cx="8866188"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en-AU" altLang="en-US" sz="1800"/>
              <a:t>Jika Vin positif maka V</a:t>
            </a:r>
            <a:r>
              <a:rPr lang="en-AU" altLang="en-US" sz="1800" baseline="-25000"/>
              <a:t>B</a:t>
            </a:r>
            <a:r>
              <a:rPr lang="en-AU" altLang="en-US" sz="1800"/>
              <a:t> akan berayun ke negatif, menyebabkan D2 mati sehingga I</a:t>
            </a:r>
            <a:r>
              <a:rPr lang="en-AU" altLang="en-US" sz="1800" baseline="-25000"/>
              <a:t>L</a:t>
            </a:r>
            <a:r>
              <a:rPr lang="en-AU" altLang="en-US" sz="1800"/>
              <a:t> akan 0 dan Vout juga 0 volt. Saat Vin negatif maka V</a:t>
            </a:r>
            <a:r>
              <a:rPr lang="en-AU" altLang="en-US" sz="1800" baseline="-25000"/>
              <a:t>B </a:t>
            </a:r>
            <a:r>
              <a:rPr lang="en-AU" altLang="en-US" sz="1800"/>
              <a:t>akan berayun ke positif, menyebabkan D1 mati dan D2 menghantar, sehingga I</a:t>
            </a:r>
            <a:r>
              <a:rPr lang="en-AU" altLang="en-US" sz="1800" baseline="-25000"/>
              <a:t>L </a:t>
            </a:r>
            <a:r>
              <a:rPr lang="en-AU" altLang="en-US" sz="1800"/>
              <a:t> ada dan besarnya dirumuskan dengan persamaan 2.15. Melihat cara kerja penyearah ini maka dapat diketahui bahwa keluaran penyearah hanya ada ketika masukannya bernilai negatif atau hanya setengah siklus gelombang masukannya. Oleh karena itu penyearh ini disebut sebagai penyearah setengah gelombang.</a:t>
            </a:r>
            <a:endParaRPr lang="id-ID" altLang="en-US" sz="1800"/>
          </a:p>
        </p:txBody>
      </p:sp>
    </p:spTree>
    <p:extLst>
      <p:ext uri="{BB962C8B-B14F-4D97-AF65-F5344CB8AC3E}">
        <p14:creationId xmlns:p14="http://schemas.microsoft.com/office/powerpoint/2010/main" val="298713777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7F0DA01F-D08B-481A-9719-9D722A017CA2}" type="slidenum">
              <a:rPr lang="en-US" altLang="en-US" sz="1400"/>
              <a:pPr>
                <a:spcBef>
                  <a:spcPct val="0"/>
                </a:spcBef>
                <a:buFontTx/>
                <a:buNone/>
              </a:pPr>
              <a:t>35</a:t>
            </a:fld>
            <a:endParaRPr lang="en-US" altLang="en-US" sz="1400"/>
          </a:p>
        </p:txBody>
      </p:sp>
      <p:sp>
        <p:nvSpPr>
          <p:cNvPr id="10243" name="Rectangle 1"/>
          <p:cNvSpPr>
            <a:spLocks noChangeArrowheads="1"/>
          </p:cNvSpPr>
          <p:nvPr/>
        </p:nvSpPr>
        <p:spPr bwMode="auto">
          <a:xfrm>
            <a:off x="1752601" y="381000"/>
            <a:ext cx="5064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a:t>I</a:t>
            </a:r>
            <a:r>
              <a:rPr lang="en-AU" altLang="en-US" sz="1800" baseline="-25000"/>
              <a:t>L </a:t>
            </a:r>
            <a:r>
              <a:rPr lang="en-AU" altLang="en-US" sz="1800"/>
              <a:t>=</a:t>
            </a:r>
            <a:endParaRPr lang="id-ID" altLang="en-US" sz="1800"/>
          </a:p>
        </p:txBody>
      </p:sp>
      <p:sp>
        <p:nvSpPr>
          <p:cNvPr id="1024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graphicFrame>
        <p:nvGraphicFramePr>
          <p:cNvPr id="10245" name="Object 3"/>
          <p:cNvGraphicFramePr>
            <a:graphicFrameLocks noChangeAspect="1"/>
          </p:cNvGraphicFramePr>
          <p:nvPr/>
        </p:nvGraphicFramePr>
        <p:xfrm>
          <a:off x="2343151" y="360364"/>
          <a:ext cx="352425" cy="390525"/>
        </p:xfrm>
        <a:graphic>
          <a:graphicData uri="http://schemas.openxmlformats.org/presentationml/2006/ole">
            <mc:AlternateContent xmlns:mc="http://schemas.openxmlformats.org/markup-compatibility/2006">
              <mc:Choice xmlns:v="urn:schemas-microsoft-com:vml" Requires="v">
                <p:oleObj spid="_x0000_s5131" name="Equation" r:id="rId3" imgW="355292" imgH="393359" progId="Equation.3">
                  <p:embed/>
                </p:oleObj>
              </mc:Choice>
              <mc:Fallback>
                <p:oleObj name="Equation" r:id="rId3" imgW="355292" imgH="393359" progId="Equation.3">
                  <p:embed/>
                  <p:pic>
                    <p:nvPicPr>
                      <p:cNvPr id="1024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3151" y="360364"/>
                        <a:ext cx="3524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6" name="Rectangle 4"/>
          <p:cNvSpPr>
            <a:spLocks noChangeArrowheads="1"/>
          </p:cNvSpPr>
          <p:nvPr/>
        </p:nvSpPr>
        <p:spPr bwMode="auto">
          <a:xfrm>
            <a:off x="3600451" y="328614"/>
            <a:ext cx="1050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a:t>Vout =</a:t>
            </a:r>
            <a:r>
              <a:rPr lang="id-ID" altLang="en-US" sz="1800"/>
              <a:t>  -</a:t>
            </a:r>
          </a:p>
        </p:txBody>
      </p:sp>
      <p:sp>
        <p:nvSpPr>
          <p:cNvPr id="10247" name="Rectangle 5"/>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graphicFrame>
        <p:nvGraphicFramePr>
          <p:cNvPr id="10248" name="Object 6"/>
          <p:cNvGraphicFramePr>
            <a:graphicFrameLocks noChangeAspect="1"/>
          </p:cNvGraphicFramePr>
          <p:nvPr/>
        </p:nvGraphicFramePr>
        <p:xfrm>
          <a:off x="4700589" y="307976"/>
          <a:ext cx="523875" cy="409575"/>
        </p:xfrm>
        <a:graphic>
          <a:graphicData uri="http://schemas.openxmlformats.org/presentationml/2006/ole">
            <mc:AlternateContent xmlns:mc="http://schemas.openxmlformats.org/markup-compatibility/2006">
              <mc:Choice xmlns:v="urn:schemas-microsoft-com:vml" Requires="v">
                <p:oleObj spid="_x0000_s5132" name="Equation" r:id="rId5" imgW="520474" imgH="406224" progId="Equation.3">
                  <p:embed/>
                </p:oleObj>
              </mc:Choice>
              <mc:Fallback>
                <p:oleObj name="Equation" r:id="rId5" imgW="520474" imgH="406224" progId="Equation.3">
                  <p:embed/>
                  <p:pic>
                    <p:nvPicPr>
                      <p:cNvPr id="10248"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00589" y="307976"/>
                        <a:ext cx="52387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9" name="Rectangle 6"/>
          <p:cNvSpPr>
            <a:spLocks noChangeArrowheads="1"/>
          </p:cNvSpPr>
          <p:nvPr/>
        </p:nvSpPr>
        <p:spPr bwMode="auto">
          <a:xfrm>
            <a:off x="1627189" y="771526"/>
            <a:ext cx="86328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4572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AU" altLang="ko-KR" sz="1200">
                <a:latin typeface="Times New Roman" panose="02020603050405020304" pitchFamily="18" charset="0"/>
                <a:ea typeface="Batang" pitchFamily="18" charset="-127"/>
                <a:cs typeface="Times New Roman" panose="02020603050405020304" pitchFamily="18" charset="0"/>
              </a:rPr>
              <a:t>Dengan I</a:t>
            </a:r>
            <a:r>
              <a:rPr lang="en-AU" altLang="ko-KR" sz="1200" baseline="-30000">
                <a:latin typeface="Times New Roman" panose="02020603050405020304" pitchFamily="18" charset="0"/>
                <a:ea typeface="Batang" pitchFamily="18" charset="-127"/>
                <a:cs typeface="Times New Roman" panose="02020603050405020304" pitchFamily="18" charset="0"/>
              </a:rPr>
              <a:t>L </a:t>
            </a:r>
            <a:r>
              <a:rPr lang="en-AU" altLang="ko-KR" sz="1200">
                <a:latin typeface="Times New Roman" panose="02020603050405020304" pitchFamily="18" charset="0"/>
                <a:ea typeface="Batang" pitchFamily="18" charset="-127"/>
                <a:cs typeface="Times New Roman" panose="02020603050405020304" pitchFamily="18" charset="0"/>
              </a:rPr>
              <a:t>adalah arus keluaran penyearah, Vout adalah besarnya tegangan keluaran penyearah, Rf adalah hambatan umpan balik </a:t>
            </a:r>
            <a:endParaRPr lang="id-ID" altLang="ko-KR" sz="1200">
              <a:latin typeface="Times New Roman" panose="02020603050405020304" pitchFamily="18" charset="0"/>
              <a:ea typeface="Batang" pitchFamily="18" charset="-127"/>
              <a:cs typeface="Times New Roman" panose="02020603050405020304" pitchFamily="18" charset="0"/>
            </a:endParaRPr>
          </a:p>
          <a:p>
            <a:pPr>
              <a:spcBef>
                <a:spcPct val="0"/>
              </a:spcBef>
              <a:buFontTx/>
              <a:buNone/>
            </a:pPr>
            <a:r>
              <a:rPr lang="en-AU" altLang="ko-KR" sz="1200">
                <a:latin typeface="Times New Roman" panose="02020603050405020304" pitchFamily="18" charset="0"/>
                <a:ea typeface="Batang" pitchFamily="18" charset="-127"/>
                <a:cs typeface="Times New Roman" panose="02020603050405020304" pitchFamily="18" charset="0"/>
              </a:rPr>
              <a:t>dan Rin adalah hambatan masukan penyearah. </a:t>
            </a:r>
            <a:endParaRPr lang="en-AU" altLang="ko-KR" sz="1800">
              <a:ea typeface="Batang" pitchFamily="18" charset="-127"/>
              <a:cs typeface="Times New Roman" panose="02020603050405020304" pitchFamily="18" charset="0"/>
            </a:endParaRPr>
          </a:p>
        </p:txBody>
      </p:sp>
      <p:sp>
        <p:nvSpPr>
          <p:cNvPr id="10250" name="Rectangle 8"/>
          <p:cNvSpPr>
            <a:spLocks noChangeArrowheads="1"/>
          </p:cNvSpPr>
          <p:nvPr/>
        </p:nvSpPr>
        <p:spPr bwMode="auto">
          <a:xfrm>
            <a:off x="1716088" y="1752600"/>
            <a:ext cx="1809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id-ID" altLang="en-US" sz="1800" b="1"/>
              <a:t>5. </a:t>
            </a:r>
            <a:r>
              <a:rPr lang="en-AU" altLang="en-US" sz="1800" b="1"/>
              <a:t>Tapis (</a:t>
            </a:r>
            <a:r>
              <a:rPr lang="en-AU" altLang="en-US" sz="1800" b="1" i="1"/>
              <a:t>Filter</a:t>
            </a:r>
            <a:r>
              <a:rPr lang="en-AU" altLang="en-US" sz="1800" b="1"/>
              <a:t>)</a:t>
            </a:r>
            <a:endParaRPr lang="id-ID" altLang="en-US" sz="1800" b="1"/>
          </a:p>
        </p:txBody>
      </p:sp>
      <p:sp>
        <p:nvSpPr>
          <p:cNvPr id="10251" name="Rectangle 9"/>
          <p:cNvSpPr>
            <a:spLocks noChangeArrowheads="1"/>
          </p:cNvSpPr>
          <p:nvPr/>
        </p:nvSpPr>
        <p:spPr bwMode="auto">
          <a:xfrm>
            <a:off x="1908175" y="3424239"/>
            <a:ext cx="2217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a:t>Frekuensi </a:t>
            </a:r>
            <a:r>
              <a:rPr lang="en-AU" altLang="en-US" sz="1800" i="1"/>
              <a:t>cut off</a:t>
            </a:r>
            <a:r>
              <a:rPr lang="en-AU" altLang="en-US" sz="1800"/>
              <a:t>  = </a:t>
            </a:r>
            <a:endParaRPr lang="id-ID" altLang="en-US" sz="1800"/>
          </a:p>
        </p:txBody>
      </p:sp>
      <p:sp>
        <p:nvSpPr>
          <p:cNvPr id="10252" name="Rectangle 8"/>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graphicFrame>
        <p:nvGraphicFramePr>
          <p:cNvPr id="10253" name="Object 11"/>
          <p:cNvGraphicFramePr>
            <a:graphicFrameLocks noChangeAspect="1"/>
          </p:cNvGraphicFramePr>
          <p:nvPr/>
        </p:nvGraphicFramePr>
        <p:xfrm>
          <a:off x="4184651" y="3424239"/>
          <a:ext cx="466725" cy="390525"/>
        </p:xfrm>
        <a:graphic>
          <a:graphicData uri="http://schemas.openxmlformats.org/presentationml/2006/ole">
            <mc:AlternateContent xmlns:mc="http://schemas.openxmlformats.org/markup-compatibility/2006">
              <mc:Choice xmlns:v="urn:schemas-microsoft-com:vml" Requires="v">
                <p:oleObj spid="_x0000_s5133" name="Equation" r:id="rId7" imgW="469696" imgH="393529" progId="Equation.3">
                  <p:embed/>
                </p:oleObj>
              </mc:Choice>
              <mc:Fallback>
                <p:oleObj name="Equation" r:id="rId7" imgW="469696" imgH="393529" progId="Equation.3">
                  <p:embed/>
                  <p:pic>
                    <p:nvPicPr>
                      <p:cNvPr id="10253"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84651" y="3424239"/>
                        <a:ext cx="4667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54" name="Rectangle 12"/>
          <p:cNvSpPr>
            <a:spLocks noChangeArrowheads="1"/>
          </p:cNvSpPr>
          <p:nvPr/>
        </p:nvSpPr>
        <p:spPr bwMode="auto">
          <a:xfrm>
            <a:off x="1660525" y="2122489"/>
            <a:ext cx="85994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en-AU" altLang="en-US" sz="1800"/>
              <a:t>Pelewatan sinyal berhubungan langsung dengan aksi pemotongan rentang frekuensi. Hal ini sering disebut dengan frekuensi </a:t>
            </a:r>
            <a:r>
              <a:rPr lang="en-AU" altLang="en-US" sz="1800" i="1"/>
              <a:t>cut off</a:t>
            </a:r>
            <a:r>
              <a:rPr lang="en-AU" altLang="en-US" sz="1800"/>
              <a:t>. Persamaan yang belaku untuk frekuensi </a:t>
            </a:r>
            <a:r>
              <a:rPr lang="en-AU" altLang="en-US" sz="1800" i="1"/>
              <a:t>cut off </a:t>
            </a:r>
            <a:r>
              <a:rPr lang="en-AU" altLang="en-US" sz="1800"/>
              <a:t>yaitu (untuk tapis RC) </a:t>
            </a:r>
            <a:endParaRPr lang="id-ID" altLang="en-US" sz="1800"/>
          </a:p>
        </p:txBody>
      </p:sp>
      <p:pic>
        <p:nvPicPr>
          <p:cNvPr id="10255" name="Picture 9"/>
          <p:cNvPicPr>
            <a:picLocks noChangeAspect="1" noChangeArrowheads="1"/>
          </p:cNvPicPr>
          <p:nvPr/>
        </p:nvPicPr>
        <p:blipFill>
          <a:blip r:embed="rId9">
            <a:lum contrast="30000"/>
            <a:extLst>
              <a:ext uri="{28A0092B-C50C-407E-A947-70E740481C1C}">
                <a14:useLocalDpi xmlns:a14="http://schemas.microsoft.com/office/drawing/2010/main" val="0"/>
              </a:ext>
            </a:extLst>
          </a:blip>
          <a:srcRect/>
          <a:stretch>
            <a:fillRect/>
          </a:stretch>
        </p:blipFill>
        <p:spPr bwMode="auto">
          <a:xfrm>
            <a:off x="3017839" y="4191001"/>
            <a:ext cx="2339975"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320005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A790E26-2F00-40E6-850F-4D6D31B45086}" type="slidenum">
              <a:rPr lang="en-US" altLang="en-US" sz="1400"/>
              <a:pPr>
                <a:spcBef>
                  <a:spcPct val="0"/>
                </a:spcBef>
                <a:buFontTx/>
                <a:buNone/>
              </a:pPr>
              <a:t>36</a:t>
            </a:fld>
            <a:endParaRPr lang="en-US" altLang="en-US" sz="1400"/>
          </a:p>
        </p:txBody>
      </p:sp>
      <p:pic>
        <p:nvPicPr>
          <p:cNvPr id="11267"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838200"/>
            <a:ext cx="5145088" cy="218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Rectangle 1"/>
          <p:cNvSpPr>
            <a:spLocks noChangeArrowheads="1"/>
          </p:cNvSpPr>
          <p:nvPr/>
        </p:nvSpPr>
        <p:spPr bwMode="auto">
          <a:xfrm>
            <a:off x="1905001" y="381000"/>
            <a:ext cx="3121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b="1"/>
              <a:t>RangkaianDriver Motor DC</a:t>
            </a:r>
            <a:endParaRPr lang="id-ID" altLang="en-US" sz="1800"/>
          </a:p>
        </p:txBody>
      </p:sp>
      <p:graphicFrame>
        <p:nvGraphicFramePr>
          <p:cNvPr id="3" name="Table 2"/>
          <p:cNvGraphicFramePr>
            <a:graphicFrameLocks noGrp="1"/>
          </p:cNvGraphicFramePr>
          <p:nvPr/>
        </p:nvGraphicFramePr>
        <p:xfrm>
          <a:off x="2797175" y="3276600"/>
          <a:ext cx="4457700" cy="1795464"/>
        </p:xfrm>
        <a:graphic>
          <a:graphicData uri="http://schemas.openxmlformats.org/drawingml/2006/table">
            <a:tbl>
              <a:tblPr>
                <a:tableStyleId>{5C22544A-7EE6-4342-B048-85BDC9FD1C3A}</a:tableStyleId>
              </a:tblPr>
              <a:tblGrid>
                <a:gridCol w="1028700">
                  <a:extLst>
                    <a:ext uri="{9D8B030D-6E8A-4147-A177-3AD203B41FA5}">
                      <a16:colId xmlns:a16="http://schemas.microsoft.com/office/drawing/2014/main" val="20000"/>
                    </a:ext>
                  </a:extLst>
                </a:gridCol>
                <a:gridCol w="814705">
                  <a:extLst>
                    <a:ext uri="{9D8B030D-6E8A-4147-A177-3AD203B41FA5}">
                      <a16:colId xmlns:a16="http://schemas.microsoft.com/office/drawing/2014/main" val="20001"/>
                    </a:ext>
                  </a:extLst>
                </a:gridCol>
                <a:gridCol w="785495">
                  <a:extLst>
                    <a:ext uri="{9D8B030D-6E8A-4147-A177-3AD203B41FA5}">
                      <a16:colId xmlns:a16="http://schemas.microsoft.com/office/drawing/2014/main" val="20002"/>
                    </a:ext>
                  </a:extLst>
                </a:gridCol>
                <a:gridCol w="8001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tblGrid>
              <a:tr h="163224">
                <a:tc>
                  <a:txBody>
                    <a:bodyPr/>
                    <a:lstStyle/>
                    <a:p>
                      <a:pPr algn="ctr">
                        <a:spcAft>
                          <a:spcPts val="0"/>
                        </a:spcAft>
                      </a:pPr>
                      <a:r>
                        <a:rPr lang="en-AU" sz="1000">
                          <a:effectLst/>
                        </a:rPr>
                        <a:t>Arah motor1</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PWM M1</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Out1_M1</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Out2_M1</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Putaran Motor</a:t>
                      </a:r>
                      <a:endParaRPr lang="id-ID" sz="1200">
                        <a:effectLst/>
                        <a:latin typeface="Times New Roman"/>
                        <a:ea typeface="Batang"/>
                      </a:endParaRPr>
                    </a:p>
                  </a:txBody>
                  <a:tcPr marL="10795" marR="10795" marT="10797" marB="0" anchor="b"/>
                </a:tc>
                <a:extLst>
                  <a:ext uri="{0D108BD9-81ED-4DB2-BD59-A6C34878D82A}">
                    <a16:rowId xmlns:a16="http://schemas.microsoft.com/office/drawing/2014/main" val="10000"/>
                  </a:ext>
                </a:extLst>
              </a:tr>
              <a:tr h="163224">
                <a:tc>
                  <a:txBody>
                    <a:bodyPr/>
                    <a:lstStyle/>
                    <a:p>
                      <a:pPr algn="ctr">
                        <a:spcAft>
                          <a:spcPts val="0"/>
                        </a:spcAft>
                      </a:pPr>
                      <a:r>
                        <a:rPr lang="en-AU" sz="1000">
                          <a:effectLst/>
                        </a:rPr>
                        <a:t>L</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off</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X</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X</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Berhenti</a:t>
                      </a:r>
                      <a:endParaRPr lang="id-ID" sz="1200">
                        <a:effectLst/>
                        <a:latin typeface="Times New Roman"/>
                        <a:ea typeface="Batang"/>
                      </a:endParaRPr>
                    </a:p>
                  </a:txBody>
                  <a:tcPr marL="10795" marR="10795" marT="10797" marB="0" anchor="b"/>
                </a:tc>
                <a:extLst>
                  <a:ext uri="{0D108BD9-81ED-4DB2-BD59-A6C34878D82A}">
                    <a16:rowId xmlns:a16="http://schemas.microsoft.com/office/drawing/2014/main" val="10001"/>
                  </a:ext>
                </a:extLst>
              </a:tr>
              <a:tr h="163224">
                <a:tc>
                  <a:txBody>
                    <a:bodyPr/>
                    <a:lstStyle/>
                    <a:p>
                      <a:pPr algn="ctr">
                        <a:spcAft>
                          <a:spcPts val="0"/>
                        </a:spcAft>
                      </a:pPr>
                      <a:r>
                        <a:rPr lang="en-AU" sz="1000">
                          <a:effectLst/>
                        </a:rPr>
                        <a:t>L</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on</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H</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L</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Ke kanan</a:t>
                      </a:r>
                      <a:endParaRPr lang="id-ID" sz="1200">
                        <a:effectLst/>
                        <a:latin typeface="Times New Roman"/>
                        <a:ea typeface="Batang"/>
                      </a:endParaRPr>
                    </a:p>
                  </a:txBody>
                  <a:tcPr marL="10795" marR="10795" marT="10797" marB="0" anchor="b"/>
                </a:tc>
                <a:extLst>
                  <a:ext uri="{0D108BD9-81ED-4DB2-BD59-A6C34878D82A}">
                    <a16:rowId xmlns:a16="http://schemas.microsoft.com/office/drawing/2014/main" val="10002"/>
                  </a:ext>
                </a:extLst>
              </a:tr>
              <a:tr h="163224">
                <a:tc>
                  <a:txBody>
                    <a:bodyPr/>
                    <a:lstStyle/>
                    <a:p>
                      <a:pPr algn="ctr">
                        <a:spcAft>
                          <a:spcPts val="0"/>
                        </a:spcAft>
                      </a:pPr>
                      <a:r>
                        <a:rPr lang="en-AU" sz="1000">
                          <a:effectLst/>
                        </a:rPr>
                        <a:t>H</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off</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X</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X</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Berhenti</a:t>
                      </a:r>
                      <a:endParaRPr lang="id-ID" sz="1200">
                        <a:effectLst/>
                        <a:latin typeface="Times New Roman"/>
                        <a:ea typeface="Batang"/>
                      </a:endParaRPr>
                    </a:p>
                  </a:txBody>
                  <a:tcPr marL="10795" marR="10795" marT="10797" marB="0" anchor="b"/>
                </a:tc>
                <a:extLst>
                  <a:ext uri="{0D108BD9-81ED-4DB2-BD59-A6C34878D82A}">
                    <a16:rowId xmlns:a16="http://schemas.microsoft.com/office/drawing/2014/main" val="10003"/>
                  </a:ext>
                </a:extLst>
              </a:tr>
              <a:tr h="163224">
                <a:tc>
                  <a:txBody>
                    <a:bodyPr/>
                    <a:lstStyle/>
                    <a:p>
                      <a:pPr algn="ctr">
                        <a:spcAft>
                          <a:spcPts val="0"/>
                        </a:spcAft>
                      </a:pPr>
                      <a:r>
                        <a:rPr lang="en-AU" sz="1000">
                          <a:effectLst/>
                        </a:rPr>
                        <a:t>H</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on</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L</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H</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Ke kiri</a:t>
                      </a:r>
                      <a:endParaRPr lang="id-ID" sz="1200">
                        <a:effectLst/>
                        <a:latin typeface="Times New Roman"/>
                        <a:ea typeface="Batang"/>
                      </a:endParaRPr>
                    </a:p>
                  </a:txBody>
                  <a:tcPr marL="10795" marR="10795" marT="10797" marB="0" anchor="b"/>
                </a:tc>
                <a:extLst>
                  <a:ext uri="{0D108BD9-81ED-4DB2-BD59-A6C34878D82A}">
                    <a16:rowId xmlns:a16="http://schemas.microsoft.com/office/drawing/2014/main" val="10004"/>
                  </a:ext>
                </a:extLst>
              </a:tr>
              <a:tr h="163224">
                <a:tc>
                  <a:txBody>
                    <a:bodyPr/>
                    <a:lstStyle/>
                    <a:p>
                      <a:pPr>
                        <a:spcAft>
                          <a:spcPts val="0"/>
                        </a:spcAft>
                      </a:pPr>
                      <a:r>
                        <a:rPr lang="en-AU" sz="1000">
                          <a:effectLst/>
                        </a:rPr>
                        <a:t> </a:t>
                      </a:r>
                      <a:endParaRPr lang="id-ID" sz="1200">
                        <a:effectLst/>
                        <a:latin typeface="Times New Roman"/>
                        <a:ea typeface="Batang"/>
                      </a:endParaRPr>
                    </a:p>
                  </a:txBody>
                  <a:tcPr marL="10795" marR="10795" marT="10797" marB="0" anchor="b"/>
                </a:tc>
                <a:tc>
                  <a:txBody>
                    <a:bodyPr/>
                    <a:lstStyle/>
                    <a:p>
                      <a:pPr>
                        <a:spcAft>
                          <a:spcPts val="0"/>
                        </a:spcAft>
                      </a:pPr>
                      <a:r>
                        <a:rPr lang="en-AU" sz="1000">
                          <a:effectLst/>
                        </a:rPr>
                        <a:t> </a:t>
                      </a:r>
                      <a:endParaRPr lang="id-ID" sz="1200">
                        <a:effectLst/>
                        <a:latin typeface="Times New Roman"/>
                        <a:ea typeface="Batang"/>
                      </a:endParaRPr>
                    </a:p>
                  </a:txBody>
                  <a:tcPr marL="10795" marR="10795" marT="10797" marB="0" anchor="b"/>
                </a:tc>
                <a:tc>
                  <a:txBody>
                    <a:bodyPr/>
                    <a:lstStyle/>
                    <a:p>
                      <a:pPr>
                        <a:spcAft>
                          <a:spcPts val="0"/>
                        </a:spcAft>
                      </a:pPr>
                      <a:r>
                        <a:rPr lang="en-AU" sz="1000">
                          <a:effectLst/>
                        </a:rPr>
                        <a:t> </a:t>
                      </a:r>
                      <a:endParaRPr lang="id-ID" sz="1200">
                        <a:effectLst/>
                        <a:latin typeface="Times New Roman"/>
                        <a:ea typeface="Batang"/>
                      </a:endParaRPr>
                    </a:p>
                  </a:txBody>
                  <a:tcPr marL="10795" marR="10795" marT="10797" marB="0" anchor="b"/>
                </a:tc>
                <a:tc>
                  <a:txBody>
                    <a:bodyPr/>
                    <a:lstStyle/>
                    <a:p>
                      <a:pPr>
                        <a:spcAft>
                          <a:spcPts val="0"/>
                        </a:spcAft>
                      </a:pPr>
                      <a:r>
                        <a:rPr lang="en-AU" sz="1000">
                          <a:effectLst/>
                        </a:rPr>
                        <a:t> </a:t>
                      </a:r>
                      <a:endParaRPr lang="id-ID" sz="1200">
                        <a:effectLst/>
                        <a:latin typeface="Times New Roman"/>
                        <a:ea typeface="Batang"/>
                      </a:endParaRPr>
                    </a:p>
                  </a:txBody>
                  <a:tcPr marL="10795" marR="10795" marT="10797" marB="0" anchor="b"/>
                </a:tc>
                <a:tc>
                  <a:txBody>
                    <a:bodyPr/>
                    <a:lstStyle/>
                    <a:p>
                      <a:pPr>
                        <a:spcAft>
                          <a:spcPts val="0"/>
                        </a:spcAft>
                      </a:pPr>
                      <a:r>
                        <a:rPr lang="en-AU" sz="1000">
                          <a:effectLst/>
                        </a:rPr>
                        <a:t> </a:t>
                      </a:r>
                      <a:endParaRPr lang="id-ID" sz="1200">
                        <a:effectLst/>
                        <a:latin typeface="Times New Roman"/>
                        <a:ea typeface="Batang"/>
                      </a:endParaRPr>
                    </a:p>
                  </a:txBody>
                  <a:tcPr marL="10795" marR="10795" marT="10797" marB="0" anchor="b"/>
                </a:tc>
                <a:extLst>
                  <a:ext uri="{0D108BD9-81ED-4DB2-BD59-A6C34878D82A}">
                    <a16:rowId xmlns:a16="http://schemas.microsoft.com/office/drawing/2014/main" val="10005"/>
                  </a:ext>
                </a:extLst>
              </a:tr>
              <a:tr h="163224">
                <a:tc>
                  <a:txBody>
                    <a:bodyPr/>
                    <a:lstStyle/>
                    <a:p>
                      <a:pPr algn="ctr">
                        <a:spcAft>
                          <a:spcPts val="0"/>
                        </a:spcAft>
                      </a:pPr>
                      <a:r>
                        <a:rPr lang="en-AU" sz="1000">
                          <a:effectLst/>
                        </a:rPr>
                        <a:t>Arah motor2</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PWM M2</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Out1_M2</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Out2_M2</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Putaran Motor</a:t>
                      </a:r>
                      <a:endParaRPr lang="id-ID" sz="1200">
                        <a:effectLst/>
                        <a:latin typeface="Times New Roman"/>
                        <a:ea typeface="Batang"/>
                      </a:endParaRPr>
                    </a:p>
                  </a:txBody>
                  <a:tcPr marL="10795" marR="10795" marT="10797" marB="0" anchor="b"/>
                </a:tc>
                <a:extLst>
                  <a:ext uri="{0D108BD9-81ED-4DB2-BD59-A6C34878D82A}">
                    <a16:rowId xmlns:a16="http://schemas.microsoft.com/office/drawing/2014/main" val="10006"/>
                  </a:ext>
                </a:extLst>
              </a:tr>
              <a:tr h="163224">
                <a:tc>
                  <a:txBody>
                    <a:bodyPr/>
                    <a:lstStyle/>
                    <a:p>
                      <a:pPr algn="ctr">
                        <a:spcAft>
                          <a:spcPts val="0"/>
                        </a:spcAft>
                      </a:pPr>
                      <a:r>
                        <a:rPr lang="en-AU" sz="1000">
                          <a:effectLst/>
                        </a:rPr>
                        <a:t>L</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off</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X</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X</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Berhenti</a:t>
                      </a:r>
                      <a:endParaRPr lang="id-ID" sz="1200">
                        <a:effectLst/>
                        <a:latin typeface="Times New Roman"/>
                        <a:ea typeface="Batang"/>
                      </a:endParaRPr>
                    </a:p>
                  </a:txBody>
                  <a:tcPr marL="10795" marR="10795" marT="10797" marB="0" anchor="b"/>
                </a:tc>
                <a:extLst>
                  <a:ext uri="{0D108BD9-81ED-4DB2-BD59-A6C34878D82A}">
                    <a16:rowId xmlns:a16="http://schemas.microsoft.com/office/drawing/2014/main" val="10007"/>
                  </a:ext>
                </a:extLst>
              </a:tr>
              <a:tr h="163224">
                <a:tc>
                  <a:txBody>
                    <a:bodyPr/>
                    <a:lstStyle/>
                    <a:p>
                      <a:pPr algn="ctr">
                        <a:spcAft>
                          <a:spcPts val="0"/>
                        </a:spcAft>
                      </a:pPr>
                      <a:r>
                        <a:rPr lang="en-AU" sz="1000">
                          <a:effectLst/>
                        </a:rPr>
                        <a:t>L</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on</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H</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L</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Ke kanan</a:t>
                      </a:r>
                      <a:endParaRPr lang="id-ID" sz="1200">
                        <a:effectLst/>
                        <a:latin typeface="Times New Roman"/>
                        <a:ea typeface="Batang"/>
                      </a:endParaRPr>
                    </a:p>
                  </a:txBody>
                  <a:tcPr marL="10795" marR="10795" marT="10797" marB="0" anchor="b"/>
                </a:tc>
                <a:extLst>
                  <a:ext uri="{0D108BD9-81ED-4DB2-BD59-A6C34878D82A}">
                    <a16:rowId xmlns:a16="http://schemas.microsoft.com/office/drawing/2014/main" val="10008"/>
                  </a:ext>
                </a:extLst>
              </a:tr>
              <a:tr h="163224">
                <a:tc>
                  <a:txBody>
                    <a:bodyPr/>
                    <a:lstStyle/>
                    <a:p>
                      <a:pPr algn="ctr">
                        <a:spcAft>
                          <a:spcPts val="0"/>
                        </a:spcAft>
                      </a:pPr>
                      <a:r>
                        <a:rPr lang="en-AU" sz="1000">
                          <a:effectLst/>
                        </a:rPr>
                        <a:t>H</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off</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X</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X</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Berhenti</a:t>
                      </a:r>
                      <a:endParaRPr lang="id-ID" sz="1200">
                        <a:effectLst/>
                        <a:latin typeface="Times New Roman"/>
                        <a:ea typeface="Batang"/>
                      </a:endParaRPr>
                    </a:p>
                  </a:txBody>
                  <a:tcPr marL="10795" marR="10795" marT="10797" marB="0" anchor="b"/>
                </a:tc>
                <a:extLst>
                  <a:ext uri="{0D108BD9-81ED-4DB2-BD59-A6C34878D82A}">
                    <a16:rowId xmlns:a16="http://schemas.microsoft.com/office/drawing/2014/main" val="10009"/>
                  </a:ext>
                </a:extLst>
              </a:tr>
              <a:tr h="163224">
                <a:tc>
                  <a:txBody>
                    <a:bodyPr/>
                    <a:lstStyle/>
                    <a:p>
                      <a:pPr algn="ctr">
                        <a:spcAft>
                          <a:spcPts val="0"/>
                        </a:spcAft>
                      </a:pPr>
                      <a:r>
                        <a:rPr lang="en-AU" sz="1000">
                          <a:effectLst/>
                        </a:rPr>
                        <a:t>H</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on</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L</a:t>
                      </a:r>
                      <a:endParaRPr lang="id-ID" sz="1200">
                        <a:effectLst/>
                        <a:latin typeface="Times New Roman"/>
                        <a:ea typeface="Batang"/>
                      </a:endParaRPr>
                    </a:p>
                  </a:txBody>
                  <a:tcPr marL="10795" marR="10795" marT="10797" marB="0" anchor="b"/>
                </a:tc>
                <a:tc>
                  <a:txBody>
                    <a:bodyPr/>
                    <a:lstStyle/>
                    <a:p>
                      <a:pPr algn="ctr">
                        <a:spcAft>
                          <a:spcPts val="0"/>
                        </a:spcAft>
                      </a:pPr>
                      <a:r>
                        <a:rPr lang="en-AU" sz="1000">
                          <a:effectLst/>
                        </a:rPr>
                        <a:t>H</a:t>
                      </a:r>
                      <a:endParaRPr lang="id-ID" sz="1200">
                        <a:effectLst/>
                        <a:latin typeface="Times New Roman"/>
                        <a:ea typeface="Batang"/>
                      </a:endParaRPr>
                    </a:p>
                  </a:txBody>
                  <a:tcPr marL="10795" marR="10795" marT="10797" marB="0" anchor="b"/>
                </a:tc>
                <a:tc>
                  <a:txBody>
                    <a:bodyPr/>
                    <a:lstStyle/>
                    <a:p>
                      <a:pPr algn="ctr">
                        <a:spcAft>
                          <a:spcPts val="0"/>
                        </a:spcAft>
                      </a:pPr>
                      <a:r>
                        <a:rPr lang="en-AU" sz="1000" dirty="0" err="1">
                          <a:effectLst/>
                        </a:rPr>
                        <a:t>Ke</a:t>
                      </a:r>
                      <a:r>
                        <a:rPr lang="en-AU" sz="1000" dirty="0">
                          <a:effectLst/>
                        </a:rPr>
                        <a:t> </a:t>
                      </a:r>
                      <a:r>
                        <a:rPr lang="en-AU" sz="1000" dirty="0" err="1">
                          <a:effectLst/>
                        </a:rPr>
                        <a:t>kiri</a:t>
                      </a:r>
                      <a:endParaRPr lang="id-ID" sz="1200" dirty="0">
                        <a:effectLst/>
                        <a:latin typeface="Times New Roman"/>
                        <a:ea typeface="Batang"/>
                      </a:endParaRPr>
                    </a:p>
                  </a:txBody>
                  <a:tcPr marL="10795" marR="10795" marT="10797" marB="0" anchor="b"/>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76227251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1FDFC89-7C42-4CC2-8970-01C366D70799}" type="slidenum">
              <a:rPr lang="en-US" altLang="en-US" sz="1400"/>
              <a:pPr>
                <a:spcBef>
                  <a:spcPct val="0"/>
                </a:spcBef>
                <a:buFontTx/>
                <a:buNone/>
              </a:pPr>
              <a:t>37</a:t>
            </a:fld>
            <a:endParaRPr lang="en-US" altLang="en-US" sz="1400"/>
          </a:p>
        </p:txBody>
      </p:sp>
      <p:pic>
        <p:nvPicPr>
          <p:cNvPr id="1229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1863" y="752476"/>
            <a:ext cx="2616200" cy="169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292" name="Object 2"/>
          <p:cNvGraphicFramePr>
            <a:graphicFrameLocks noChangeAspect="1"/>
          </p:cNvGraphicFramePr>
          <p:nvPr/>
        </p:nvGraphicFramePr>
        <p:xfrm>
          <a:off x="2528889" y="3411539"/>
          <a:ext cx="180975" cy="390525"/>
        </p:xfrm>
        <a:graphic>
          <a:graphicData uri="http://schemas.openxmlformats.org/presentationml/2006/ole">
            <mc:AlternateContent xmlns:mc="http://schemas.openxmlformats.org/markup-compatibility/2006">
              <mc:Choice xmlns:v="urn:schemas-microsoft-com:vml" Requires="v">
                <p:oleObj spid="_x0000_s6152" name="Equation" r:id="rId4" imgW="177646" imgH="393359" progId="Equation.3">
                  <p:embed/>
                </p:oleObj>
              </mc:Choice>
              <mc:Fallback>
                <p:oleObj name="Equation" r:id="rId4" imgW="177646" imgH="393359" progId="Equation.3">
                  <p:embed/>
                  <p:pic>
                    <p:nvPicPr>
                      <p:cNvPr id="12292"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8889" y="3411539"/>
                        <a:ext cx="1809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3" name="Rectangle 4"/>
          <p:cNvSpPr>
            <a:spLocks noChangeArrowheads="1"/>
          </p:cNvSpPr>
          <p:nvPr/>
        </p:nvSpPr>
        <p:spPr bwMode="auto">
          <a:xfrm>
            <a:off x="1914526" y="3433763"/>
            <a:ext cx="6143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AU" altLang="en-US" sz="1800" b="1"/>
              <a:t>R = </a:t>
            </a:r>
            <a:endParaRPr lang="id-ID" altLang="en-US" sz="1800"/>
          </a:p>
        </p:txBody>
      </p:sp>
      <p:sp>
        <p:nvSpPr>
          <p:cNvPr id="12294" name="Rectangle 6"/>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graphicFrame>
        <p:nvGraphicFramePr>
          <p:cNvPr id="12295" name="Object 6"/>
          <p:cNvGraphicFramePr>
            <a:graphicFrameLocks noChangeAspect="1"/>
          </p:cNvGraphicFramePr>
          <p:nvPr/>
        </p:nvGraphicFramePr>
        <p:xfrm>
          <a:off x="3048001" y="3433764"/>
          <a:ext cx="428625" cy="390525"/>
        </p:xfrm>
        <a:graphic>
          <a:graphicData uri="http://schemas.openxmlformats.org/presentationml/2006/ole">
            <mc:AlternateContent xmlns:mc="http://schemas.openxmlformats.org/markup-compatibility/2006">
              <mc:Choice xmlns:v="urn:schemas-microsoft-com:vml" Requires="v">
                <p:oleObj spid="_x0000_s6153" name="Equation" r:id="rId6" imgW="431613" imgH="393529" progId="Equation.3">
                  <p:embed/>
                </p:oleObj>
              </mc:Choice>
              <mc:Fallback>
                <p:oleObj name="Equation" r:id="rId6" imgW="431613" imgH="393529" progId="Equation.3">
                  <p:embed/>
                  <p:pic>
                    <p:nvPicPr>
                      <p:cNvPr id="12295"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1" y="3433764"/>
                        <a:ext cx="4286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6" name="Rectangle 7"/>
          <p:cNvSpPr>
            <a:spLocks noChangeArrowheads="1"/>
          </p:cNvSpPr>
          <p:nvPr/>
        </p:nvSpPr>
        <p:spPr bwMode="auto">
          <a:xfrm>
            <a:off x="3733800" y="3476625"/>
            <a:ext cx="1009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id-ID" altLang="en-US" sz="1800"/>
              <a:t>= </a:t>
            </a:r>
            <a:r>
              <a:rPr lang="en-US" altLang="en-US" sz="1800"/>
              <a:t>250 </a:t>
            </a:r>
            <a:r>
              <a:rPr lang="en-US" altLang="en-US" sz="1800">
                <a:sym typeface="Symbol" panose="05050102010706020507" pitchFamily="18" charset="2"/>
              </a:rPr>
              <a:t></a:t>
            </a:r>
            <a:endParaRPr lang="id-ID" altLang="en-US" sz="1800" b="1"/>
          </a:p>
        </p:txBody>
      </p:sp>
      <p:sp>
        <p:nvSpPr>
          <p:cNvPr id="12297" name="Rectangle 8"/>
          <p:cNvSpPr>
            <a:spLocks noChangeArrowheads="1"/>
          </p:cNvSpPr>
          <p:nvPr/>
        </p:nvSpPr>
        <p:spPr bwMode="auto">
          <a:xfrm>
            <a:off x="5410200" y="457200"/>
            <a:ext cx="45720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en-AU" altLang="en-US" sz="1800" b="1"/>
              <a:t>LED inframerah yang digunakan mempunyai spesifikasi mampu dilalui arus sebesar 20 mA. Tegangan masukan yang diterapkan sebesar 5 V, sehingga diperlukan pembatas arus yang berupa sebuah hambatan. </a:t>
            </a:r>
            <a:endParaRPr lang="id-ID" altLang="en-US" sz="1800"/>
          </a:p>
        </p:txBody>
      </p:sp>
      <p:sp>
        <p:nvSpPr>
          <p:cNvPr id="12298" name="Rectangle 9"/>
          <p:cNvSpPr>
            <a:spLocks noChangeArrowheads="1"/>
          </p:cNvSpPr>
          <p:nvPr/>
        </p:nvSpPr>
        <p:spPr bwMode="auto">
          <a:xfrm>
            <a:off x="1728789" y="223839"/>
            <a:ext cx="2954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pl-PL" altLang="en-US" sz="1800"/>
              <a:t>Pembataas Gerakan Motor</a:t>
            </a:r>
            <a:endParaRPr lang="id-ID" altLang="en-US" sz="1800"/>
          </a:p>
        </p:txBody>
      </p:sp>
      <p:grpSp>
        <p:nvGrpSpPr>
          <p:cNvPr id="12299" name="Group 7"/>
          <p:cNvGrpSpPr>
            <a:grpSpLocks/>
          </p:cNvGrpSpPr>
          <p:nvPr/>
        </p:nvGrpSpPr>
        <p:grpSpPr bwMode="auto">
          <a:xfrm>
            <a:off x="1477963" y="4495800"/>
            <a:ext cx="4572001" cy="2038350"/>
            <a:chOff x="1980" y="5970"/>
            <a:chExt cx="7200" cy="3210"/>
          </a:xfrm>
        </p:grpSpPr>
        <p:sp>
          <p:nvSpPr>
            <p:cNvPr id="12300" name="Oval 8"/>
            <p:cNvSpPr>
              <a:spLocks noChangeArrowheads="1"/>
            </p:cNvSpPr>
            <p:nvPr/>
          </p:nvSpPr>
          <p:spPr bwMode="auto">
            <a:xfrm>
              <a:off x="2520" y="6300"/>
              <a:ext cx="2226" cy="2160"/>
            </a:xfrm>
            <a:prstGeom prst="ellipse">
              <a:avLst/>
            </a:prstGeom>
            <a:gradFill rotWithShape="1">
              <a:gsLst>
                <a:gs pos="0">
                  <a:srgbClr val="FFFFFF">
                    <a:alpha val="84000"/>
                  </a:srgbClr>
                </a:gs>
                <a:gs pos="100000">
                  <a:srgbClr val="767676"/>
                </a:gs>
              </a:gsLst>
              <a:lin ang="0" scaled="1"/>
            </a:gra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sp>
          <p:nvSpPr>
            <p:cNvPr id="12301" name="AutoShape 9"/>
            <p:cNvSpPr>
              <a:spLocks/>
            </p:cNvSpPr>
            <p:nvPr/>
          </p:nvSpPr>
          <p:spPr bwMode="auto">
            <a:xfrm>
              <a:off x="4770" y="7219"/>
              <a:ext cx="158" cy="158"/>
            </a:xfrm>
            <a:prstGeom prst="rightBrace">
              <a:avLst>
                <a:gd name="adj1" fmla="val 8333"/>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sp>
          <p:nvSpPr>
            <p:cNvPr id="12302" name="Line 10"/>
            <p:cNvSpPr>
              <a:spLocks noChangeShapeType="1"/>
            </p:cNvSpPr>
            <p:nvPr/>
          </p:nvSpPr>
          <p:spPr bwMode="auto">
            <a:xfrm>
              <a:off x="5000" y="7303"/>
              <a:ext cx="126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303" name="AutoShape 11"/>
            <p:cNvSpPr>
              <a:spLocks/>
            </p:cNvSpPr>
            <p:nvPr/>
          </p:nvSpPr>
          <p:spPr bwMode="auto">
            <a:xfrm rot="4515975">
              <a:off x="6571" y="6327"/>
              <a:ext cx="158" cy="475"/>
            </a:xfrm>
            <a:prstGeom prst="leftBracket">
              <a:avLst>
                <a:gd name="adj" fmla="val 150316"/>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sp>
          <p:nvSpPr>
            <p:cNvPr id="12304" name="AutoShape 12"/>
            <p:cNvSpPr>
              <a:spLocks/>
            </p:cNvSpPr>
            <p:nvPr/>
          </p:nvSpPr>
          <p:spPr bwMode="auto">
            <a:xfrm>
              <a:off x="7913" y="5970"/>
              <a:ext cx="1267" cy="240"/>
            </a:xfrm>
            <a:prstGeom prst="borderCallout2">
              <a:avLst>
                <a:gd name="adj1" fmla="val 75000"/>
                <a:gd name="adj2" fmla="val -9472"/>
                <a:gd name="adj3" fmla="val 75000"/>
                <a:gd name="adj4" fmla="val -41671"/>
                <a:gd name="adj5" fmla="val 181250"/>
                <a:gd name="adj6" fmla="val -77111"/>
              </a:avLst>
            </a:prstGeom>
            <a:solidFill>
              <a:srgbClr val="FFFFFF"/>
            </a:solidFill>
            <a:ln w="9525">
              <a:solidFill>
                <a:srgbClr val="000000"/>
              </a:solidFill>
              <a:miter lim="800000"/>
              <a:headEnd/>
              <a:tailEnd/>
            </a:ln>
          </p:spPr>
          <p:txBody>
            <a:bodyPr lIns="0" tIns="0" rIns="0" bIns="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spcAft>
                  <a:spcPts val="1000"/>
                </a:spcAft>
                <a:buNone/>
              </a:pPr>
              <a:r>
                <a:rPr lang="id-ID" altLang="en-US" sz="1100">
                  <a:latin typeface="Calibri" panose="020F0502020204030204" pitchFamily="34" charset="0"/>
                </a:rPr>
                <a:t>6 derajat</a:t>
              </a:r>
              <a:endParaRPr lang="id-ID" altLang="en-US" sz="1800"/>
            </a:p>
          </p:txBody>
        </p:sp>
        <p:sp>
          <p:nvSpPr>
            <p:cNvPr id="12305" name="AutoShape 13"/>
            <p:cNvSpPr>
              <a:spLocks/>
            </p:cNvSpPr>
            <p:nvPr/>
          </p:nvSpPr>
          <p:spPr bwMode="auto">
            <a:xfrm>
              <a:off x="5118" y="8040"/>
              <a:ext cx="1542" cy="240"/>
            </a:xfrm>
            <a:prstGeom prst="borderCallout2">
              <a:avLst>
                <a:gd name="adj1" fmla="val 75000"/>
                <a:gd name="adj2" fmla="val -7782"/>
                <a:gd name="adj3" fmla="val 75000"/>
                <a:gd name="adj4" fmla="val -21662"/>
                <a:gd name="adj5" fmla="val -12083"/>
                <a:gd name="adj6" fmla="val -36963"/>
              </a:avLst>
            </a:prstGeom>
            <a:solidFill>
              <a:srgbClr val="FFFFFF"/>
            </a:solidFill>
            <a:ln w="9525">
              <a:solidFill>
                <a:srgbClr val="000000"/>
              </a:solidFill>
              <a:miter lim="800000"/>
              <a:headEnd/>
              <a:tailEnd/>
            </a:ln>
          </p:spPr>
          <p:txBody>
            <a:bodyPr lIns="0" tIns="0" rIns="0" bIns="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spcAft>
                  <a:spcPts val="1000"/>
                </a:spcAft>
                <a:buNone/>
              </a:pPr>
              <a:r>
                <a:rPr lang="id-ID" altLang="en-US" sz="1100">
                  <a:latin typeface="Calibri" panose="020F0502020204030204" pitchFamily="34" charset="0"/>
                </a:rPr>
                <a:t>Ada 60 lubang</a:t>
              </a:r>
              <a:endParaRPr lang="id-ID" altLang="en-US" sz="1800"/>
            </a:p>
          </p:txBody>
        </p:sp>
        <p:sp>
          <p:nvSpPr>
            <p:cNvPr id="12306" name="Oval 14"/>
            <p:cNvSpPr>
              <a:spLocks noChangeArrowheads="1"/>
            </p:cNvSpPr>
            <p:nvPr/>
          </p:nvSpPr>
          <p:spPr bwMode="auto">
            <a:xfrm>
              <a:off x="6840" y="6480"/>
              <a:ext cx="180" cy="18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sp>
          <p:nvSpPr>
            <p:cNvPr id="12307" name="Oval 15"/>
            <p:cNvSpPr>
              <a:spLocks noChangeArrowheads="1"/>
            </p:cNvSpPr>
            <p:nvPr/>
          </p:nvSpPr>
          <p:spPr bwMode="auto">
            <a:xfrm>
              <a:off x="6300" y="6660"/>
              <a:ext cx="180" cy="18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sp>
          <p:nvSpPr>
            <p:cNvPr id="12308" name="Line 16"/>
            <p:cNvSpPr>
              <a:spLocks noChangeShapeType="1"/>
            </p:cNvSpPr>
            <p:nvPr/>
          </p:nvSpPr>
          <p:spPr bwMode="auto">
            <a:xfrm flipH="1" flipV="1">
              <a:off x="6480" y="6840"/>
              <a:ext cx="540" cy="7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309" name="Line 17"/>
            <p:cNvSpPr>
              <a:spLocks noChangeShapeType="1"/>
            </p:cNvSpPr>
            <p:nvPr/>
          </p:nvSpPr>
          <p:spPr bwMode="auto">
            <a:xfrm flipH="1" flipV="1">
              <a:off x="7020" y="6660"/>
              <a:ext cx="0" cy="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310" name="Oval 18"/>
            <p:cNvSpPr>
              <a:spLocks noChangeArrowheads="1"/>
            </p:cNvSpPr>
            <p:nvPr/>
          </p:nvSpPr>
          <p:spPr bwMode="auto">
            <a:xfrm>
              <a:off x="4500" y="7200"/>
              <a:ext cx="180" cy="18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sp>
          <p:nvSpPr>
            <p:cNvPr id="12311" name="Oval 19"/>
            <p:cNvSpPr>
              <a:spLocks noChangeArrowheads="1"/>
            </p:cNvSpPr>
            <p:nvPr/>
          </p:nvSpPr>
          <p:spPr bwMode="auto">
            <a:xfrm>
              <a:off x="4472" y="7456"/>
              <a:ext cx="180" cy="18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sp>
          <p:nvSpPr>
            <p:cNvPr id="12312" name="Oval 20"/>
            <p:cNvSpPr>
              <a:spLocks noChangeArrowheads="1"/>
            </p:cNvSpPr>
            <p:nvPr/>
          </p:nvSpPr>
          <p:spPr bwMode="auto">
            <a:xfrm>
              <a:off x="4405" y="7712"/>
              <a:ext cx="180" cy="18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sp>
          <p:nvSpPr>
            <p:cNvPr id="12313" name="Oval 21"/>
            <p:cNvSpPr>
              <a:spLocks noChangeArrowheads="1"/>
            </p:cNvSpPr>
            <p:nvPr/>
          </p:nvSpPr>
          <p:spPr bwMode="auto">
            <a:xfrm>
              <a:off x="4244" y="7920"/>
              <a:ext cx="180" cy="18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sp>
          <p:nvSpPr>
            <p:cNvPr id="12314" name="Oval 22"/>
            <p:cNvSpPr>
              <a:spLocks noChangeArrowheads="1"/>
            </p:cNvSpPr>
            <p:nvPr/>
          </p:nvSpPr>
          <p:spPr bwMode="auto">
            <a:xfrm>
              <a:off x="4028" y="8090"/>
              <a:ext cx="180" cy="18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sp>
          <p:nvSpPr>
            <p:cNvPr id="12315" name="Oval 23"/>
            <p:cNvSpPr>
              <a:spLocks noChangeArrowheads="1"/>
            </p:cNvSpPr>
            <p:nvPr/>
          </p:nvSpPr>
          <p:spPr bwMode="auto">
            <a:xfrm>
              <a:off x="3779" y="8194"/>
              <a:ext cx="180" cy="18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sp>
          <p:nvSpPr>
            <p:cNvPr id="12316" name="Oval 24"/>
            <p:cNvSpPr>
              <a:spLocks noChangeArrowheads="1"/>
            </p:cNvSpPr>
            <p:nvPr/>
          </p:nvSpPr>
          <p:spPr bwMode="auto">
            <a:xfrm>
              <a:off x="4443" y="6944"/>
              <a:ext cx="180" cy="18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sp>
          <p:nvSpPr>
            <p:cNvPr id="12317" name="Oval 25"/>
            <p:cNvSpPr>
              <a:spLocks noChangeArrowheads="1"/>
            </p:cNvSpPr>
            <p:nvPr/>
          </p:nvSpPr>
          <p:spPr bwMode="auto">
            <a:xfrm>
              <a:off x="4303" y="6717"/>
              <a:ext cx="180" cy="18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sp>
          <p:nvSpPr>
            <p:cNvPr id="12318" name="Oval 26"/>
            <p:cNvSpPr>
              <a:spLocks noChangeArrowheads="1"/>
            </p:cNvSpPr>
            <p:nvPr/>
          </p:nvSpPr>
          <p:spPr bwMode="auto">
            <a:xfrm>
              <a:off x="4111" y="6555"/>
              <a:ext cx="180" cy="18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sp>
          <p:nvSpPr>
            <p:cNvPr id="12319" name="AutoShape 27"/>
            <p:cNvSpPr>
              <a:spLocks noChangeArrowheads="1"/>
            </p:cNvSpPr>
            <p:nvPr/>
          </p:nvSpPr>
          <p:spPr bwMode="auto">
            <a:xfrm rot="5400000">
              <a:off x="1980" y="6480"/>
              <a:ext cx="2160" cy="1800"/>
            </a:xfrm>
            <a:prstGeom prst="wave">
              <a:avLst>
                <a:gd name="adj1" fmla="val 13005"/>
                <a:gd name="adj2" fmla="val 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sp>
          <p:nvSpPr>
            <p:cNvPr id="12320" name="Rectangle 28"/>
            <p:cNvSpPr>
              <a:spLocks noChangeArrowheads="1"/>
            </p:cNvSpPr>
            <p:nvPr/>
          </p:nvSpPr>
          <p:spPr bwMode="auto">
            <a:xfrm>
              <a:off x="1980" y="6120"/>
              <a:ext cx="1440" cy="27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sp>
          <p:nvSpPr>
            <p:cNvPr id="12321" name="Rectangle 29"/>
            <p:cNvSpPr>
              <a:spLocks noChangeArrowheads="1"/>
            </p:cNvSpPr>
            <p:nvPr/>
          </p:nvSpPr>
          <p:spPr bwMode="auto">
            <a:xfrm>
              <a:off x="2274" y="6120"/>
              <a:ext cx="1440" cy="7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sp>
          <p:nvSpPr>
            <p:cNvPr id="12322" name="Rectangle 30"/>
            <p:cNvSpPr>
              <a:spLocks noChangeArrowheads="1"/>
            </p:cNvSpPr>
            <p:nvPr/>
          </p:nvSpPr>
          <p:spPr bwMode="auto">
            <a:xfrm>
              <a:off x="2236" y="8460"/>
              <a:ext cx="1440" cy="7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id-ID" altLang="en-US" sz="1800"/>
            </a:p>
          </p:txBody>
        </p:sp>
      </p:grpSp>
    </p:spTree>
    <p:extLst>
      <p:ext uri="{BB962C8B-B14F-4D97-AF65-F5344CB8AC3E}">
        <p14:creationId xmlns:p14="http://schemas.microsoft.com/office/powerpoint/2010/main" val="69296999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3CC5BAB-90B5-49F7-8605-8E27A8D5989A}" type="slidenum">
              <a:rPr lang="en-US" altLang="en-US" sz="1400"/>
              <a:pPr>
                <a:spcBef>
                  <a:spcPct val="0"/>
                </a:spcBef>
                <a:buFontTx/>
                <a:buNone/>
              </a:pPr>
              <a:t>38</a:t>
            </a:fld>
            <a:endParaRPr lang="en-US" altLang="en-US" sz="1400"/>
          </a:p>
        </p:txBody>
      </p:sp>
      <p:sp>
        <p:nvSpPr>
          <p:cNvPr id="13315" name="Rectangle 1"/>
          <p:cNvSpPr>
            <a:spLocks noChangeArrowheads="1"/>
          </p:cNvSpPr>
          <p:nvPr/>
        </p:nvSpPr>
        <p:spPr bwMode="auto">
          <a:xfrm>
            <a:off x="1752600" y="304800"/>
            <a:ext cx="7162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Rangkaian pengubah catu daya positif ke negatif</a:t>
            </a:r>
            <a:endParaRPr lang="id-ID" altLang="en-US" sz="1800" b="1"/>
          </a:p>
        </p:txBody>
      </p:sp>
      <p:pic>
        <p:nvPicPr>
          <p:cNvPr id="13316"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9464" y="777876"/>
            <a:ext cx="3792537"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Rectangle 2"/>
          <p:cNvSpPr>
            <a:spLocks noChangeArrowheads="1"/>
          </p:cNvSpPr>
          <p:nvPr/>
        </p:nvSpPr>
        <p:spPr bwMode="auto">
          <a:xfrm>
            <a:off x="1716088" y="4419600"/>
            <a:ext cx="89154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en-US" altLang="en-US" sz="1800"/>
              <a:t>Modul sensor ultra sonik memiliki rangkaian pengubah catu tegangan positif ke negatif. Catu tegangan negatif dibutuhkan oleh IC OpAmp yang ada pada modul sensor ultra sonik. Rangkaian pengubah catu daya positif ke negatif tersebut dapat dilihat dalam gambar 3.19. IC LM555 berfungsi untuk menghasilkan gelombang kotak dengan Vpp = 9.6 volt. Saat output timer pada pin 3 bertegangan 9.6 volt, kapasitor 22uF terisi dan ketika output timer pada pin 3 bertegangan 0 volt, kapasitor 22uF </a:t>
            </a:r>
            <a:r>
              <a:rPr lang="en-US" altLang="en-US" sz="1800" i="1"/>
              <a:t>disharge</a:t>
            </a:r>
            <a:r>
              <a:rPr lang="en-US" altLang="en-US" sz="1800"/>
              <a:t> dan kapasitor 100uF terisi. Sehingga muncul tegangan negatif.</a:t>
            </a:r>
            <a:endParaRPr lang="id-ID" altLang="en-US" sz="1800" b="1"/>
          </a:p>
        </p:txBody>
      </p:sp>
      <p:sp>
        <p:nvSpPr>
          <p:cNvPr id="13318" name="Rectangle 3"/>
          <p:cNvSpPr>
            <a:spLocks noChangeArrowheads="1"/>
          </p:cNvSpPr>
          <p:nvPr/>
        </p:nvSpPr>
        <p:spPr bwMode="auto">
          <a:xfrm>
            <a:off x="1752600" y="3752851"/>
            <a:ext cx="457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Modul sensor ultra sonik dirancang bekerja pada tegangan 9.2 V</a:t>
            </a:r>
            <a:endParaRPr lang="id-ID" altLang="en-US" sz="1800" b="1"/>
          </a:p>
        </p:txBody>
      </p:sp>
    </p:spTree>
    <p:extLst>
      <p:ext uri="{BB962C8B-B14F-4D97-AF65-F5344CB8AC3E}">
        <p14:creationId xmlns:p14="http://schemas.microsoft.com/office/powerpoint/2010/main" val="148414897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16BBFEBD-FCE7-436A-A4CC-2DEFBB3B12D6}" type="slidenum">
              <a:rPr lang="en-US" altLang="en-US" sz="1400"/>
              <a:pPr>
                <a:spcBef>
                  <a:spcPct val="0"/>
                </a:spcBef>
                <a:buFontTx/>
                <a:buNone/>
              </a:pPr>
              <a:t>39</a:t>
            </a:fld>
            <a:endParaRPr lang="en-US" altLang="en-US" sz="1400"/>
          </a:p>
        </p:txBody>
      </p:sp>
      <p:pic>
        <p:nvPicPr>
          <p:cNvPr id="14339" name="Picture 33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76201"/>
            <a:ext cx="8839200" cy="628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4908550"/>
            <a:ext cx="3455988" cy="161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8483293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720C4A4-0068-4057-8CF5-9DA7594989E3}" type="slidenum">
              <a:rPr lang="en-US" altLang="en-US" sz="1400"/>
              <a:pPr>
                <a:spcBef>
                  <a:spcPct val="0"/>
                </a:spcBef>
                <a:buFontTx/>
                <a:buNone/>
              </a:pPr>
              <a:t>40</a:t>
            </a:fld>
            <a:endParaRPr lang="en-US" altLang="en-US" sz="1400"/>
          </a:p>
        </p:txBody>
      </p:sp>
      <p:pic>
        <p:nvPicPr>
          <p:cNvPr id="15363" name="Picture 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09538"/>
            <a:ext cx="3443288"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Picture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2092326"/>
            <a:ext cx="4210050" cy="439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22439" y="1524000"/>
            <a:ext cx="1533525"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Rectangle 3"/>
          <p:cNvSpPr>
            <a:spLocks noChangeArrowheads="1"/>
          </p:cNvSpPr>
          <p:nvPr/>
        </p:nvSpPr>
        <p:spPr bwMode="auto">
          <a:xfrm>
            <a:off x="5164138" y="228601"/>
            <a:ext cx="4572000" cy="46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eaLnBrk="1" hangingPunct="1">
              <a:spcBef>
                <a:spcPct val="0"/>
              </a:spcBef>
              <a:buFontTx/>
              <a:buNone/>
            </a:pPr>
            <a:r>
              <a:rPr lang="id-ID" altLang="en-US" sz="3200"/>
              <a:t>v = s/t</a:t>
            </a:r>
          </a:p>
          <a:p>
            <a:pPr lvl="1" eaLnBrk="1" hangingPunct="1">
              <a:spcBef>
                <a:spcPct val="0"/>
              </a:spcBef>
              <a:buFontTx/>
              <a:buNone/>
            </a:pPr>
            <a:r>
              <a:rPr lang="id-ID" altLang="en-US" sz="3200"/>
              <a:t>s = v.t</a:t>
            </a:r>
          </a:p>
          <a:p>
            <a:pPr eaLnBrk="1" hangingPunct="1">
              <a:spcBef>
                <a:spcPct val="0"/>
              </a:spcBef>
              <a:buFontTx/>
              <a:buNone/>
            </a:pPr>
            <a:r>
              <a:rPr lang="id-ID" altLang="en-US" sz="1800"/>
              <a:t>Dengan :    </a:t>
            </a:r>
          </a:p>
          <a:p>
            <a:pPr eaLnBrk="1" hangingPunct="1">
              <a:spcBef>
                <a:spcPct val="0"/>
              </a:spcBef>
              <a:buFontTx/>
              <a:buNone/>
            </a:pPr>
            <a:r>
              <a:rPr lang="id-ID" altLang="en-US" sz="1800"/>
              <a:t>v adalah jarak</a:t>
            </a:r>
          </a:p>
          <a:p>
            <a:pPr eaLnBrk="1" hangingPunct="1">
              <a:spcBef>
                <a:spcPct val="0"/>
              </a:spcBef>
              <a:buFontTx/>
              <a:buNone/>
            </a:pPr>
            <a:r>
              <a:rPr lang="id-ID" altLang="en-US" sz="1800"/>
              <a:t>S adalah kecepatan gelombang ultrasonik</a:t>
            </a:r>
          </a:p>
          <a:p>
            <a:pPr eaLnBrk="1" hangingPunct="1">
              <a:spcBef>
                <a:spcPct val="0"/>
              </a:spcBef>
              <a:buFontTx/>
              <a:buNone/>
            </a:pPr>
            <a:r>
              <a:rPr lang="id-ID" altLang="en-US" sz="1800"/>
              <a:t>T adalah waktu tempuh</a:t>
            </a:r>
          </a:p>
          <a:p>
            <a:pPr eaLnBrk="1" hangingPunct="1">
              <a:spcBef>
                <a:spcPct val="0"/>
              </a:spcBef>
              <a:buFontTx/>
              <a:buNone/>
            </a:pPr>
            <a:endParaRPr lang="id-ID" altLang="en-US" sz="1800"/>
          </a:p>
          <a:p>
            <a:pPr eaLnBrk="1" hangingPunct="1">
              <a:spcBef>
                <a:spcPct val="0"/>
              </a:spcBef>
              <a:buFontTx/>
              <a:buNone/>
            </a:pPr>
            <a:r>
              <a:rPr lang="id-ID" altLang="en-US" sz="1800"/>
              <a:t>Jika jarak sensor SRF ke object 10 cm</a:t>
            </a:r>
          </a:p>
          <a:p>
            <a:pPr eaLnBrk="1" hangingPunct="1">
              <a:spcBef>
                <a:spcPct val="0"/>
              </a:spcBef>
              <a:buFontTx/>
              <a:buNone/>
            </a:pPr>
            <a:r>
              <a:rPr lang="id-ID" altLang="en-US" sz="1800"/>
              <a:t>Maka :</a:t>
            </a:r>
          </a:p>
          <a:p>
            <a:pPr eaLnBrk="1" hangingPunct="1">
              <a:spcBef>
                <a:spcPct val="0"/>
              </a:spcBef>
              <a:buFontTx/>
              <a:buNone/>
            </a:pPr>
            <a:r>
              <a:rPr lang="id-ID" altLang="en-US" sz="1800"/>
              <a:t>    Speed of sound :</a:t>
            </a:r>
          </a:p>
          <a:p>
            <a:pPr eaLnBrk="1" hangingPunct="1">
              <a:spcBef>
                <a:spcPct val="0"/>
              </a:spcBef>
              <a:buFontTx/>
              <a:buNone/>
            </a:pPr>
            <a:r>
              <a:rPr lang="id-ID" altLang="en-US" sz="1800"/>
              <a:t>            v=340 m/s = 0,034 cm/uS</a:t>
            </a:r>
          </a:p>
          <a:p>
            <a:pPr eaLnBrk="1" hangingPunct="1">
              <a:spcBef>
                <a:spcPct val="0"/>
              </a:spcBef>
              <a:buFontTx/>
              <a:buNone/>
            </a:pPr>
            <a:r>
              <a:rPr lang="id-ID" altLang="en-US" sz="1800"/>
              <a:t>    Time = distance / speed :</a:t>
            </a:r>
          </a:p>
          <a:p>
            <a:pPr eaLnBrk="1" hangingPunct="1">
              <a:spcBef>
                <a:spcPct val="0"/>
              </a:spcBef>
              <a:buFontTx/>
              <a:buNone/>
            </a:pPr>
            <a:r>
              <a:rPr lang="id-ID" altLang="en-US" sz="1800"/>
              <a:t>            T= s/v = 100/0,034 = 294 uS</a:t>
            </a:r>
          </a:p>
          <a:p>
            <a:pPr eaLnBrk="1" hangingPunct="1">
              <a:spcBef>
                <a:spcPct val="0"/>
              </a:spcBef>
              <a:buFontTx/>
              <a:buNone/>
            </a:pPr>
            <a:r>
              <a:rPr lang="id-ID" altLang="en-US" sz="1800"/>
              <a:t>     Distance :</a:t>
            </a:r>
          </a:p>
          <a:p>
            <a:pPr eaLnBrk="1" hangingPunct="1">
              <a:spcBef>
                <a:spcPct val="0"/>
              </a:spcBef>
              <a:buFontTx/>
              <a:buNone/>
            </a:pPr>
            <a:r>
              <a:rPr lang="id-ID" altLang="en-US" sz="1800"/>
              <a:t>             S = t.0,034/2</a:t>
            </a:r>
          </a:p>
        </p:txBody>
      </p:sp>
    </p:spTree>
    <p:extLst>
      <p:ext uri="{BB962C8B-B14F-4D97-AF65-F5344CB8AC3E}">
        <p14:creationId xmlns:p14="http://schemas.microsoft.com/office/powerpoint/2010/main" val="136559272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55D5D91-3E67-4ED1-9788-749FFE110396}" type="slidenum">
              <a:rPr lang="en-US" altLang="en-US" sz="1400"/>
              <a:pPr>
                <a:spcBef>
                  <a:spcPct val="0"/>
                </a:spcBef>
                <a:buFontTx/>
                <a:buNone/>
              </a:pPr>
              <a:t>41</a:t>
            </a:fld>
            <a:endParaRPr lang="en-US" altLang="en-US" sz="1400"/>
          </a:p>
        </p:txBody>
      </p:sp>
      <p:pic>
        <p:nvPicPr>
          <p:cNvPr id="17411"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28801" y="1828801"/>
            <a:ext cx="3171825"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2"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28600"/>
            <a:ext cx="27432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212725"/>
            <a:ext cx="2522538"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7"/>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057401" y="3352800"/>
            <a:ext cx="29432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5" name="Picture 8"/>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4876800"/>
            <a:ext cx="2781300"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973514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C4D2B91-E9C8-49E1-AA40-13BFF886FA40}" type="slidenum">
              <a:rPr lang="en-US" altLang="en-US" sz="1400"/>
              <a:pPr>
                <a:spcBef>
                  <a:spcPct val="0"/>
                </a:spcBef>
                <a:buFontTx/>
                <a:buNone/>
              </a:pPr>
              <a:t>42</a:t>
            </a:fld>
            <a:endParaRPr lang="en-US" altLang="en-US" sz="1400"/>
          </a:p>
        </p:txBody>
      </p:sp>
      <p:sp>
        <p:nvSpPr>
          <p:cNvPr id="18435" name="Rectangle 1"/>
          <p:cNvSpPr>
            <a:spLocks noChangeArrowheads="1"/>
          </p:cNvSpPr>
          <p:nvPr/>
        </p:nvSpPr>
        <p:spPr bwMode="auto">
          <a:xfrm>
            <a:off x="1752600" y="228600"/>
            <a:ext cx="7772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id-ID" altLang="en-US" sz="1800"/>
              <a:t>Driver Motor Stepper        dan                             Driver Motor  Kipas</a:t>
            </a:r>
          </a:p>
        </p:txBody>
      </p:sp>
      <p:pic>
        <p:nvPicPr>
          <p:cNvPr id="1843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066801"/>
            <a:ext cx="3265488" cy="119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1" y="598489"/>
            <a:ext cx="2505075" cy="143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8" name="Rectangle 2"/>
          <p:cNvSpPr>
            <a:spLocks noChangeArrowheads="1"/>
          </p:cNvSpPr>
          <p:nvPr/>
        </p:nvSpPr>
        <p:spPr bwMode="auto">
          <a:xfrm>
            <a:off x="1909764" y="2919413"/>
            <a:ext cx="23002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id-ID" altLang="en-US" sz="1800" b="1"/>
              <a:t>Sensor Photodioda</a:t>
            </a:r>
          </a:p>
        </p:txBody>
      </p:sp>
      <p:pic>
        <p:nvPicPr>
          <p:cNvPr id="1843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8814" y="3657600"/>
            <a:ext cx="2719387" cy="199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0" name="Rectangle 3"/>
          <p:cNvSpPr>
            <a:spLocks noChangeArrowheads="1"/>
          </p:cNvSpPr>
          <p:nvPr/>
        </p:nvSpPr>
        <p:spPr bwMode="auto">
          <a:xfrm>
            <a:off x="5295900" y="3059114"/>
            <a:ext cx="4237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id-ID" altLang="en-US" sz="1800"/>
              <a:t>Sensor Pembatas Gerak Motor Stepper</a:t>
            </a:r>
          </a:p>
        </p:txBody>
      </p:sp>
      <p:pic>
        <p:nvPicPr>
          <p:cNvPr id="18441"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64300" y="3657601"/>
            <a:ext cx="1900238"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2" name="Rectangle 4"/>
          <p:cNvSpPr>
            <a:spLocks noChangeArrowheads="1"/>
          </p:cNvSpPr>
          <p:nvPr/>
        </p:nvSpPr>
        <p:spPr bwMode="auto">
          <a:xfrm>
            <a:off x="5329239" y="4892675"/>
            <a:ext cx="1838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1"/>
              <a:t>Penguat Buffer</a:t>
            </a:r>
            <a:endParaRPr lang="id-ID" altLang="en-US" sz="1800"/>
          </a:p>
        </p:txBody>
      </p:sp>
      <p:pic>
        <p:nvPicPr>
          <p:cNvPr id="18443" name="Picture 7" descr="unity_gain_buffe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67550" y="4860925"/>
            <a:ext cx="2933700" cy="210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3658028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9EF23E00-45B5-49D8-BE68-AD2BBA262DF6}" type="slidenum">
              <a:rPr lang="en-US" altLang="en-US" sz="1400"/>
              <a:pPr>
                <a:spcBef>
                  <a:spcPct val="0"/>
                </a:spcBef>
                <a:buFontTx/>
                <a:buNone/>
              </a:pPr>
              <a:t>43</a:t>
            </a:fld>
            <a:endParaRPr lang="en-US" altLang="en-US" sz="1400"/>
          </a:p>
        </p:txBody>
      </p:sp>
      <p:pic>
        <p:nvPicPr>
          <p:cNvPr id="19459" name="Picture 3" descr="blok_diagram_penerima_suar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1" y="533401"/>
            <a:ext cx="4760913"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Picture 4" descr="penguat_invert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9101" y="1371601"/>
            <a:ext cx="2957513"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Rectangle 1"/>
          <p:cNvSpPr>
            <a:spLocks noChangeArrowheads="1"/>
          </p:cNvSpPr>
          <p:nvPr/>
        </p:nvSpPr>
        <p:spPr bwMode="auto">
          <a:xfrm>
            <a:off x="1828800" y="136525"/>
            <a:ext cx="7162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Rancangan Penguat Pembalik dengan RC Coupling</a:t>
            </a:r>
            <a:endParaRPr lang="id-ID" altLang="en-US" sz="1800"/>
          </a:p>
        </p:txBody>
      </p:sp>
    </p:spTree>
    <p:extLst>
      <p:ext uri="{BB962C8B-B14F-4D97-AF65-F5344CB8AC3E}">
        <p14:creationId xmlns:p14="http://schemas.microsoft.com/office/powerpoint/2010/main" val="343663032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4A16EEF-CA5C-4350-B246-75625C3E734D}" type="slidenum">
              <a:rPr lang="en-US" altLang="en-US" sz="1400"/>
              <a:pPr>
                <a:spcBef>
                  <a:spcPct val="0"/>
                </a:spcBef>
                <a:buFontTx/>
                <a:buNone/>
              </a:pPr>
              <a:t>44</a:t>
            </a:fld>
            <a:endParaRPr lang="en-US" altLang="en-US" sz="1400"/>
          </a:p>
        </p:txBody>
      </p:sp>
      <p:sp>
        <p:nvSpPr>
          <p:cNvPr id="20483" name="Rectangle 1"/>
          <p:cNvSpPr>
            <a:spLocks noChangeArrowheads="1"/>
          </p:cNvSpPr>
          <p:nvPr/>
        </p:nvSpPr>
        <p:spPr bwMode="auto">
          <a:xfrm>
            <a:off x="1752601" y="381000"/>
            <a:ext cx="37576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1"/>
              <a:t>Rangkaian Penyesuai Tegangan </a:t>
            </a:r>
            <a:endParaRPr lang="id-ID" altLang="en-US" sz="1800"/>
          </a:p>
        </p:txBody>
      </p:sp>
      <p:pic>
        <p:nvPicPr>
          <p:cNvPr id="20484" name="Picture 3" descr="step-u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3739" y="1531939"/>
            <a:ext cx="3336925" cy="306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5"/>
          <p:cNvSpPr>
            <a:spLocks noChangeArrowheads="1"/>
          </p:cNvSpPr>
          <p:nvPr/>
        </p:nvSpPr>
        <p:spPr bwMode="auto">
          <a:xfrm>
            <a:off x="2409826" y="4876800"/>
            <a:ext cx="1222375"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FontTx/>
              <a:buNone/>
            </a:pPr>
            <a:r>
              <a:rPr lang="en-US" altLang="en-US" sz="1100">
                <a:latin typeface="Times New Roman" panose="02020603050405020304" pitchFamily="18" charset="0"/>
                <a:ea typeface="Calibri" panose="020F0502020204030204" pitchFamily="34" charset="0"/>
                <a:cs typeface="Times New Roman" panose="02020603050405020304" pitchFamily="18" charset="0"/>
              </a:rPr>
              <a:t>Rangkaian Sep-up</a:t>
            </a:r>
            <a:endParaRPr lang="en-US" altLang="en-US" sz="1800">
              <a:ea typeface="Calibri" panose="020F0502020204030204" pitchFamily="34" charset="0"/>
              <a:cs typeface="Times New Roman" panose="02020603050405020304" pitchFamily="18" charset="0"/>
            </a:endParaRPr>
          </a:p>
        </p:txBody>
      </p:sp>
      <p:pic>
        <p:nvPicPr>
          <p:cNvPr id="20486" name="Picture 6" descr="step-dow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1" y="1511301"/>
            <a:ext cx="3336925" cy="306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7" name="Rectangle 3"/>
          <p:cNvSpPr>
            <a:spLocks noChangeArrowheads="1"/>
          </p:cNvSpPr>
          <p:nvPr/>
        </p:nvSpPr>
        <p:spPr bwMode="auto">
          <a:xfrm>
            <a:off x="7323139" y="4953000"/>
            <a:ext cx="2454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Rangkaian Step-down</a:t>
            </a:r>
            <a:endParaRPr lang="id-ID" altLang="en-US" sz="1800"/>
          </a:p>
        </p:txBody>
      </p:sp>
    </p:spTree>
    <p:extLst>
      <p:ext uri="{BB962C8B-B14F-4D97-AF65-F5344CB8AC3E}">
        <p14:creationId xmlns:p14="http://schemas.microsoft.com/office/powerpoint/2010/main" val="295774492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25BBEA7-6894-4258-9D27-5BABBEB365BD}" type="slidenum">
              <a:rPr lang="en-US" altLang="en-US" sz="1400"/>
              <a:pPr>
                <a:spcBef>
                  <a:spcPct val="0"/>
                </a:spcBef>
                <a:buFontTx/>
                <a:buNone/>
              </a:pPr>
              <a:t>45</a:t>
            </a:fld>
            <a:endParaRPr lang="en-US" altLang="en-US" sz="1400"/>
          </a:p>
        </p:txBody>
      </p:sp>
      <p:pic>
        <p:nvPicPr>
          <p:cNvPr id="21507" name="Picture 3" descr="chebyshe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295401"/>
            <a:ext cx="4287838"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1"/>
          <p:cNvSpPr>
            <a:spLocks noChangeArrowheads="1"/>
          </p:cNvSpPr>
          <p:nvPr/>
        </p:nvSpPr>
        <p:spPr bwMode="auto">
          <a:xfrm>
            <a:off x="2057400" y="304801"/>
            <a:ext cx="457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Rangkaian penghasil suara [Filter Chebyshev + penguat buffer]</a:t>
            </a:r>
            <a:endParaRPr lang="id-ID" altLang="en-US" sz="1800"/>
          </a:p>
        </p:txBody>
      </p:sp>
    </p:spTree>
    <p:extLst>
      <p:ext uri="{BB962C8B-B14F-4D97-AF65-F5344CB8AC3E}">
        <p14:creationId xmlns:p14="http://schemas.microsoft.com/office/powerpoint/2010/main" val="285335253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2CAF046-97B8-4B9F-A22F-7229BBD5C31C}" type="slidenum">
              <a:rPr lang="en-US" altLang="en-US" sz="1400"/>
              <a:pPr>
                <a:spcBef>
                  <a:spcPct val="0"/>
                </a:spcBef>
                <a:buFontTx/>
                <a:buNone/>
              </a:pPr>
              <a:t>46</a:t>
            </a:fld>
            <a:endParaRPr lang="en-US" altLang="en-US" sz="1400"/>
          </a:p>
        </p:txBody>
      </p:sp>
      <p:pic>
        <p:nvPicPr>
          <p:cNvPr id="22531" name="Picture 6" descr="Description: 298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762000"/>
            <a:ext cx="8404225"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420721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7BC55CC-A595-4F74-AB8F-564C2CB47AB5}" type="slidenum">
              <a:rPr lang="en-US" altLang="en-US" sz="1400"/>
              <a:pPr>
                <a:spcBef>
                  <a:spcPct val="0"/>
                </a:spcBef>
                <a:buFontTx/>
                <a:buNone/>
              </a:pPr>
              <a:t>47</a:t>
            </a:fld>
            <a:endParaRPr lang="en-US" altLang="en-US" sz="1400"/>
          </a:p>
        </p:txBody>
      </p:sp>
      <p:pic>
        <p:nvPicPr>
          <p:cNvPr id="235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371601"/>
            <a:ext cx="5734050" cy="355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172200" y="4343400"/>
            <a:ext cx="1066800"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a:p>
        </p:txBody>
      </p:sp>
    </p:spTree>
    <p:extLst>
      <p:ext uri="{BB962C8B-B14F-4D97-AF65-F5344CB8AC3E}">
        <p14:creationId xmlns:p14="http://schemas.microsoft.com/office/powerpoint/2010/main" val="304105365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3838DE7-813A-4F65-A981-842F3B66C6AE}" type="slidenum">
              <a:rPr lang="en-US" altLang="en-US" sz="1400"/>
              <a:pPr>
                <a:spcBef>
                  <a:spcPct val="0"/>
                </a:spcBef>
                <a:buFontTx/>
                <a:buNone/>
              </a:pPr>
              <a:t>48</a:t>
            </a:fld>
            <a:endParaRPr lang="en-US" altLang="en-US" sz="1400"/>
          </a:p>
        </p:txBody>
      </p:sp>
      <p:pic>
        <p:nvPicPr>
          <p:cNvPr id="2457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754064"/>
            <a:ext cx="5734050" cy="406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4"/>
          <p:cNvPicPr>
            <a:picLocks noChangeAspect="1" noChangeArrowheads="1"/>
          </p:cNvPicPr>
          <p:nvPr/>
        </p:nvPicPr>
        <p:blipFill>
          <a:blip r:embed="rId2">
            <a:extLst>
              <a:ext uri="{28A0092B-C50C-407E-A947-70E740481C1C}">
                <a14:useLocalDpi xmlns:a14="http://schemas.microsoft.com/office/drawing/2010/main" val="0"/>
              </a:ext>
            </a:extLst>
          </a:blip>
          <a:srcRect r="39085" b="84090"/>
          <a:stretch>
            <a:fillRect/>
          </a:stretch>
        </p:blipFill>
        <p:spPr bwMode="auto">
          <a:xfrm>
            <a:off x="2582863" y="1295401"/>
            <a:ext cx="4419600"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393915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5E112A2-4E2E-4B39-B819-E5D8B1571EB3}" type="slidenum">
              <a:rPr lang="en-US" altLang="en-US" sz="1400"/>
              <a:pPr>
                <a:spcBef>
                  <a:spcPct val="0"/>
                </a:spcBef>
                <a:buFontTx/>
                <a:buNone/>
              </a:pPr>
              <a:t>49</a:t>
            </a:fld>
            <a:endParaRPr lang="en-US" altLang="en-US" sz="1400"/>
          </a:p>
        </p:txBody>
      </p:sp>
      <p:pic>
        <p:nvPicPr>
          <p:cNvPr id="2560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1" y="3176"/>
            <a:ext cx="4772025" cy="312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3505201"/>
            <a:ext cx="5734050" cy="313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444600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E9CCC5A-536E-4B8D-B842-E2F6DDFFC459}" type="slidenum">
              <a:rPr lang="en-US" altLang="en-US" sz="1400"/>
              <a:pPr>
                <a:spcBef>
                  <a:spcPct val="0"/>
                </a:spcBef>
                <a:buFontTx/>
                <a:buNone/>
              </a:pPr>
              <a:t>50</a:t>
            </a:fld>
            <a:endParaRPr lang="en-US" altLang="en-US" sz="1400"/>
          </a:p>
        </p:txBody>
      </p:sp>
      <p:pic>
        <p:nvPicPr>
          <p:cNvPr id="26627"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1" y="152400"/>
            <a:ext cx="4684713"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7013" y="3810001"/>
            <a:ext cx="5734050"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981200" y="304800"/>
            <a:ext cx="1219200" cy="304800"/>
          </a:xfrm>
          <a:prstGeom prst="rect">
            <a:avLst/>
          </a:prstGeom>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a:p>
        </p:txBody>
      </p:sp>
    </p:spTree>
    <p:extLst>
      <p:ext uri="{BB962C8B-B14F-4D97-AF65-F5344CB8AC3E}">
        <p14:creationId xmlns:p14="http://schemas.microsoft.com/office/powerpoint/2010/main" val="389443508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ubtitle 2"/>
          <p:cNvSpPr txBox="1">
            <a:spLocks/>
          </p:cNvSpPr>
          <p:nvPr/>
        </p:nvSpPr>
        <p:spPr>
          <a:xfrm>
            <a:off x="1104646" y="3817180"/>
            <a:ext cx="5178582" cy="16557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buFontTx/>
              <a:buChar char="-"/>
            </a:pPr>
            <a:endParaRPr lang="en-US" sz="16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7592048" y="4424926"/>
            <a:ext cx="4376174" cy="1723549"/>
          </a:xfrm>
          <a:prstGeom prst="rect">
            <a:avLst/>
          </a:prstGeom>
          <a:noFill/>
        </p:spPr>
        <p:txBody>
          <a:bodyPr wrap="square" rtlCol="0">
            <a:spAutoFit/>
          </a:bodyPr>
          <a:lstStyle/>
          <a:p>
            <a:r>
              <a:rPr lang="en-US" sz="6600" dirty="0">
                <a:latin typeface="Edwardian Script ITC" panose="030303020407070D0804" pitchFamily="66" charset="0"/>
              </a:rPr>
              <a:t>Thank You !!</a:t>
            </a:r>
          </a:p>
          <a:p>
            <a:pPr algn="ctr"/>
            <a:r>
              <a:rPr lang="en-US" sz="4000" dirty="0">
                <a:latin typeface="Edwardian Script ITC" panose="030303020407070D0804" pitchFamily="66" charset="0"/>
              </a:rPr>
              <a:t> </a:t>
            </a:r>
          </a:p>
        </p:txBody>
      </p:sp>
      <p:sp>
        <p:nvSpPr>
          <p:cNvPr id="8" name="Rectangle 7"/>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10" name="Rectangle 9"/>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11" name="Rectangle 10"/>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12" name="Rectangle 11"/>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13" name="Rectangle 12"/>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grpSp>
        <p:nvGrpSpPr>
          <p:cNvPr id="15" name="Group 14"/>
          <p:cNvGrpSpPr/>
          <p:nvPr/>
        </p:nvGrpSpPr>
        <p:grpSpPr>
          <a:xfrm>
            <a:off x="54496" y="359621"/>
            <a:ext cx="4804363" cy="2463094"/>
            <a:chOff x="54496" y="359621"/>
            <a:chExt cx="4804363" cy="2463094"/>
          </a:xfrm>
        </p:grpSpPr>
        <p:pic>
          <p:nvPicPr>
            <p:cNvPr id="16" name="Picture 15"/>
            <p:cNvPicPr>
              <a:picLocks noChangeAspect="1"/>
            </p:cNvPicPr>
            <p:nvPr/>
          </p:nvPicPr>
          <p:blipFill>
            <a:blip r:embed="rId3"/>
            <a:stretch>
              <a:fillRect/>
            </a:stretch>
          </p:blipFill>
          <p:spPr>
            <a:xfrm>
              <a:off x="235105" y="1901987"/>
              <a:ext cx="3104181" cy="263526"/>
            </a:xfrm>
            <a:prstGeom prst="rect">
              <a:avLst/>
            </a:prstGeom>
          </p:spPr>
        </p:pic>
        <p:sp>
          <p:nvSpPr>
            <p:cNvPr id="17"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18" name="Group 17">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25" name="Freeform 24">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6" name="Freeform 25">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9" name="Group 18">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23"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24"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0"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21"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22"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graphicFrame>
        <p:nvGraphicFramePr>
          <p:cNvPr id="27" name="Diagram 26"/>
          <p:cNvGraphicFramePr/>
          <p:nvPr>
            <p:extLst>
              <p:ext uri="{D42A27DB-BD31-4B8C-83A1-F6EECF244321}">
                <p14:modId xmlns:p14="http://schemas.microsoft.com/office/powerpoint/2010/main" val="1474028532"/>
              </p:ext>
            </p:extLst>
          </p:nvPr>
        </p:nvGraphicFramePr>
        <p:xfrm>
          <a:off x="1981200" y="5655129"/>
          <a:ext cx="8229600" cy="9143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8" name="Pie 27"/>
          <p:cNvSpPr/>
          <p:nvPr/>
        </p:nvSpPr>
        <p:spPr>
          <a:xfrm rot="10600249">
            <a:off x="9753600" y="5655127"/>
            <a:ext cx="914399" cy="914399"/>
          </a:xfrm>
          <a:prstGeom prst="pie">
            <a:avLst>
              <a:gd name="adj1" fmla="val 5400000"/>
              <a:gd name="adj2" fmla="val 16200000"/>
            </a:avLst>
          </a:pr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sp>
    </p:spTree>
    <p:extLst>
      <p:ext uri="{BB962C8B-B14F-4D97-AF65-F5344CB8AC3E}">
        <p14:creationId xmlns:p14="http://schemas.microsoft.com/office/powerpoint/2010/main" val="8001309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23930</TotalTime>
  <Words>1909</Words>
  <Application>Microsoft Office PowerPoint</Application>
  <PresentationFormat>Widescreen</PresentationFormat>
  <Paragraphs>392</Paragraphs>
  <Slides>51</Slides>
  <Notes>13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3</vt:i4>
      </vt:variant>
      <vt:variant>
        <vt:lpstr>Slide Titles</vt:lpstr>
      </vt:variant>
      <vt:variant>
        <vt:i4>51</vt:i4>
      </vt:variant>
    </vt:vector>
  </HeadingPairs>
  <TitlesOfParts>
    <vt:vector size="64" baseType="lpstr">
      <vt:lpstr>맑은 고딕</vt:lpstr>
      <vt:lpstr>-apple-system</vt:lpstr>
      <vt:lpstr>Arial</vt:lpstr>
      <vt:lpstr>Batang</vt:lpstr>
      <vt:lpstr>Calibri</vt:lpstr>
      <vt:lpstr>Calibri Light</vt:lpstr>
      <vt:lpstr>Edwardian Script ITC</vt:lpstr>
      <vt:lpstr>Symbol</vt:lpstr>
      <vt:lpstr>Times New Roman</vt:lpstr>
      <vt:lpstr>Office Theme</vt:lpstr>
      <vt:lpstr>Bitmap Image</vt:lpstr>
      <vt:lpstr>Equation</vt:lpstr>
      <vt:lpstr>Picture</vt:lpstr>
      <vt:lpstr>PowerPoint Presentation</vt:lpstr>
      <vt:lpstr>Outlines: </vt:lpstr>
      <vt:lpstr>Referensi</vt:lpstr>
      <vt:lpstr>PowerPoint Presentation</vt:lpstr>
      <vt:lpstr>PowerPoint Presentation</vt:lpstr>
      <vt:lpstr>Optocoupler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Fish Tracking, Counting, and Behaviour Analysis in Digital Aquaculture</dc:title>
  <dc:creator>pds</dc:creator>
  <cp:lastModifiedBy>Gde</cp:lastModifiedBy>
  <cp:revision>116</cp:revision>
  <dcterms:created xsi:type="dcterms:W3CDTF">2024-10-22T07:52:57Z</dcterms:created>
  <dcterms:modified xsi:type="dcterms:W3CDTF">2026-04-02T02:06:10Z</dcterms:modified>
</cp:coreProperties>
</file>