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7" r:id="rId1"/>
  </p:sldMasterIdLst>
  <p:notesMasterIdLst>
    <p:notesMasterId r:id="rId21"/>
  </p:notesMasterIdLst>
  <p:sldIdLst>
    <p:sldId id="317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1A9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1"/>
    <p:restoredTop sz="74248" autoAdjust="0"/>
  </p:normalViewPr>
  <p:slideViewPr>
    <p:cSldViewPr snapToGrid="0">
      <p:cViewPr varScale="1">
        <p:scale>
          <a:sx n="49" d="100"/>
          <a:sy n="49" d="100"/>
        </p:scale>
        <p:origin x="48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AD89A-DE75-490E-B3B8-DA645685EB5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648F-4152-4278-B136-F77E8E2B3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2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https://www.labcenter.com/blog/sim-multistage-bjt-amplifier/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14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01196-2467-4D0A-B750-F6764188003A}" type="slidenum">
              <a:rPr lang="id-ID" smtClean="0"/>
              <a:pPr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2346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01196-2467-4D0A-B750-F6764188003A}" type="slidenum">
              <a:rPr lang="id-ID" smtClean="0"/>
              <a:pPr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738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A2648F-4152-4278-B136-F77E8E2B33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7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301196-2467-4D0A-B750-F6764188003A}" type="slidenum">
              <a:rPr lang="id-ID" smtClean="0"/>
              <a:pPr/>
              <a:t>14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0727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7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2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8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4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2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0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5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image" Target="../media/image17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6.w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8.wmf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787E-D6B3-8B0D-9456-5D2BA79AB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1179" y="3987071"/>
            <a:ext cx="7235659" cy="681673"/>
          </a:xfrm>
        </p:spPr>
        <p:txBody>
          <a:bodyPr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lang="en-US" sz="3600" dirty="0" smtClean="0">
                <a:latin typeface="Arial Narrow" panose="020B0606020202030204" pitchFamily="34" charset="0"/>
              </a:rPr>
              <a:t>RESPON </a:t>
            </a:r>
            <a:r>
              <a:rPr lang="id-ID" sz="3600" dirty="0">
                <a:latin typeface="Arial Narrow" panose="020B0606020202030204" pitchFamily="34" charset="0"/>
              </a:rPr>
              <a:t>FREKUENSI PENGUAT TRANSISTOR </a:t>
            </a:r>
            <a:endParaRPr lang="en-US" sz="3600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58C97-DA2F-8866-47CC-CDF4077BB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9718" y="4619069"/>
            <a:ext cx="1493454" cy="309770"/>
          </a:xfrm>
        </p:spPr>
        <p:txBody>
          <a:bodyPr>
            <a:normAutofit lnSpcReduction="10000"/>
          </a:bodyPr>
          <a:lstStyle/>
          <a:p>
            <a:r>
              <a:rPr lang="en-US" sz="1600" dirty="0" smtClean="0"/>
              <a:t>PDS</a:t>
            </a:r>
            <a:endParaRPr lang="en-US" sz="1600" dirty="0"/>
          </a:p>
        </p:txBody>
      </p:sp>
      <p:pic>
        <p:nvPicPr>
          <p:cNvPr id="48" name="Picture 47" descr="White structure">
            <a:extLst>
              <a:ext uri="{FF2B5EF4-FFF2-40B4-BE49-F238E27FC236}">
                <a16:creationId xmlns:a16="http://schemas.microsoft.com/office/drawing/2014/main" id="{E0652CF5-4E0B-F89D-4D88-A13BE5A6A8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0" r="25990" b="3"/>
          <a:stretch/>
        </p:blipFill>
        <p:spPr>
          <a:xfrm>
            <a:off x="-1" y="1371600"/>
            <a:ext cx="4076699" cy="411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26FD42-6AB7-9431-FDD4-769D80985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361" y="330959"/>
            <a:ext cx="4640189" cy="329714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ABCB87-2ECC-4C03-B5BB-6EE11C8A4485}"/>
              </a:ext>
            </a:extLst>
          </p:cNvPr>
          <p:cNvGrpSpPr/>
          <p:nvPr/>
        </p:nvGrpSpPr>
        <p:grpSpPr>
          <a:xfrm>
            <a:off x="346874" y="2470551"/>
            <a:ext cx="3064025" cy="1516520"/>
            <a:chOff x="4853562" y="1589418"/>
            <a:chExt cx="2609520" cy="1291565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3546B24-FABC-4B2A-A80F-B03654D56A7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>
                <a:solidFill>
                  <a:schemeClr val="tx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2E1A011-CDEA-4BBC-B725-C88AF5464891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3601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Freeform: Shape 67">
            <a:extLst>
              <a:ext uri="{FF2B5EF4-FFF2-40B4-BE49-F238E27FC236}">
                <a16:creationId xmlns:a16="http://schemas.microsoft.com/office/drawing/2014/main" id="{275D1FAA-C13F-4A6B-BA37-7704CFB7ADCD}"/>
              </a:ext>
            </a:extLst>
          </p:cNvPr>
          <p:cNvSpPr/>
          <p:nvPr/>
        </p:nvSpPr>
        <p:spPr>
          <a:xfrm>
            <a:off x="1948515" y="3348349"/>
            <a:ext cx="276281" cy="203382"/>
          </a:xfrm>
          <a:custGeom>
            <a:avLst/>
            <a:gdLst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788485 w 3738080"/>
              <a:gd name="connsiteY5" fmla="*/ 1841061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624294 w 3738080"/>
              <a:gd name="connsiteY5" fmla="*/ 1992174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1858846 w 3738080"/>
              <a:gd name="connsiteY5" fmla="*/ 1306247 h 2751770"/>
              <a:gd name="connsiteX6" fmla="*/ 2645621 w 3738080"/>
              <a:gd name="connsiteY6" fmla="*/ 1504218 h 2751770"/>
              <a:gd name="connsiteX7" fmla="*/ 2795575 w 3738080"/>
              <a:gd name="connsiteY7" fmla="*/ 1757331 h 2751770"/>
              <a:gd name="connsiteX8" fmla="*/ 2539052 w 3738080"/>
              <a:gd name="connsiteY8" fmla="*/ 1841672 h 2751770"/>
              <a:gd name="connsiteX9" fmla="*/ 1353947 w 3738080"/>
              <a:gd name="connsiteY9" fmla="*/ 1778974 h 2751770"/>
              <a:gd name="connsiteX10" fmla="*/ 982333 w 3738080"/>
              <a:gd name="connsiteY10" fmla="*/ 1780833 h 2751770"/>
              <a:gd name="connsiteX11" fmla="*/ 966756 w 3738080"/>
              <a:gd name="connsiteY11" fmla="*/ 1667407 h 2751770"/>
              <a:gd name="connsiteX12" fmla="*/ 1217540 w 3738080"/>
              <a:gd name="connsiteY12" fmla="*/ 1445700 h 2751770"/>
              <a:gd name="connsiteX13" fmla="*/ 1858846 w 3738080"/>
              <a:gd name="connsiteY13" fmla="*/ 1306247 h 2751770"/>
              <a:gd name="connsiteX14" fmla="*/ 1828129 w 3738080"/>
              <a:gd name="connsiteY14" fmla="*/ 650059 h 2751770"/>
              <a:gd name="connsiteX15" fmla="*/ 3108200 w 3738080"/>
              <a:gd name="connsiteY15" fmla="*/ 1008980 h 2751770"/>
              <a:gd name="connsiteX16" fmla="*/ 3258155 w 3738080"/>
              <a:gd name="connsiteY16" fmla="*/ 1319033 h 2751770"/>
              <a:gd name="connsiteX17" fmla="*/ 2937692 w 3738080"/>
              <a:gd name="connsiteY17" fmla="*/ 1304637 h 2751770"/>
              <a:gd name="connsiteX18" fmla="*/ 763561 w 3738080"/>
              <a:gd name="connsiteY18" fmla="*/ 1325535 h 2751770"/>
              <a:gd name="connsiteX19" fmla="*/ 464412 w 3738080"/>
              <a:gd name="connsiteY19" fmla="*/ 1278813 h 2751770"/>
              <a:gd name="connsiteX20" fmla="*/ 450482 w 3738080"/>
              <a:gd name="connsiteY20" fmla="*/ 1202928 h 2751770"/>
              <a:gd name="connsiteX21" fmla="*/ 622892 w 3738080"/>
              <a:gd name="connsiteY21" fmla="*/ 1008979 h 2751770"/>
              <a:gd name="connsiteX22" fmla="*/ 1828129 w 3738080"/>
              <a:gd name="connsiteY22" fmla="*/ 650059 h 2751770"/>
              <a:gd name="connsiteX23" fmla="*/ 1764313 w 3738080"/>
              <a:gd name="connsiteY23" fmla="*/ 591 h 2751770"/>
              <a:gd name="connsiteX24" fmla="*/ 3559697 w 3738080"/>
              <a:gd name="connsiteY24" fmla="*/ 547180 h 2751770"/>
              <a:gd name="connsiteX25" fmla="*/ 3709650 w 3738080"/>
              <a:gd name="connsiteY25" fmla="*/ 882310 h 2751770"/>
              <a:gd name="connsiteX26" fmla="*/ 3367875 w 3738080"/>
              <a:gd name="connsiteY26" fmla="*/ 834477 h 2751770"/>
              <a:gd name="connsiteX27" fmla="*/ 318417 w 3738080"/>
              <a:gd name="connsiteY27" fmla="*/ 884635 h 2751770"/>
              <a:gd name="connsiteX28" fmla="*/ 19267 w 3738080"/>
              <a:gd name="connsiteY28" fmla="*/ 846272 h 2751770"/>
              <a:gd name="connsiteX29" fmla="*/ 275 w 3738080"/>
              <a:gd name="connsiteY29" fmla="*/ 760137 h 2751770"/>
              <a:gd name="connsiteX30" fmla="*/ 173484 w 3738080"/>
              <a:gd name="connsiteY30" fmla="*/ 547180 h 2751770"/>
              <a:gd name="connsiteX31" fmla="*/ 1764313 w 3738080"/>
              <a:gd name="connsiteY31" fmla="*/ 591 h 2751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738080" h="2751770">
                <a:moveTo>
                  <a:pt x="1869041" y="1997576"/>
                </a:moveTo>
                <a:cubicBezTo>
                  <a:pt x="2077306" y="1997576"/>
                  <a:pt x="2246138" y="2166408"/>
                  <a:pt x="2246138" y="2374673"/>
                </a:cubicBezTo>
                <a:cubicBezTo>
                  <a:pt x="2246138" y="2582938"/>
                  <a:pt x="2077306" y="2751770"/>
                  <a:pt x="1869041" y="2751770"/>
                </a:cubicBezTo>
                <a:cubicBezTo>
                  <a:pt x="1660776" y="2751770"/>
                  <a:pt x="1491944" y="2582938"/>
                  <a:pt x="1491944" y="2374673"/>
                </a:cubicBezTo>
                <a:cubicBezTo>
                  <a:pt x="1491944" y="2166408"/>
                  <a:pt x="1660776" y="1997576"/>
                  <a:pt x="1869041" y="1997576"/>
                </a:cubicBezTo>
                <a:close/>
                <a:moveTo>
                  <a:pt x="1858846" y="1306247"/>
                </a:moveTo>
                <a:cubicBezTo>
                  <a:pt x="2165924" y="1301758"/>
                  <a:pt x="2404940" y="1399722"/>
                  <a:pt x="2645621" y="1504218"/>
                </a:cubicBezTo>
                <a:cubicBezTo>
                  <a:pt x="2813424" y="1597955"/>
                  <a:pt x="2823993" y="1678797"/>
                  <a:pt x="2795575" y="1757331"/>
                </a:cubicBezTo>
                <a:cubicBezTo>
                  <a:pt x="2761471" y="1842158"/>
                  <a:pt x="2685239" y="1908552"/>
                  <a:pt x="2539052" y="1841672"/>
                </a:cubicBezTo>
                <a:cubicBezTo>
                  <a:pt x="2347207" y="1684231"/>
                  <a:pt x="1733351" y="1556050"/>
                  <a:pt x="1353947" y="1778974"/>
                </a:cubicBezTo>
                <a:cubicBezTo>
                  <a:pt x="1250080" y="1855218"/>
                  <a:pt x="1037749" y="1915097"/>
                  <a:pt x="982333" y="1780833"/>
                </a:cubicBezTo>
                <a:cubicBezTo>
                  <a:pt x="968480" y="1736637"/>
                  <a:pt x="963386" y="1699601"/>
                  <a:pt x="966756" y="1667407"/>
                </a:cubicBezTo>
                <a:cubicBezTo>
                  <a:pt x="976866" y="1570822"/>
                  <a:pt x="1063141" y="1517802"/>
                  <a:pt x="1217540" y="1445700"/>
                </a:cubicBezTo>
                <a:cubicBezTo>
                  <a:pt x="1465851" y="1348519"/>
                  <a:pt x="1674601" y="1308942"/>
                  <a:pt x="1858846" y="1306247"/>
                </a:cubicBezTo>
                <a:close/>
                <a:moveTo>
                  <a:pt x="1828129" y="650059"/>
                </a:moveTo>
                <a:cubicBezTo>
                  <a:pt x="2445754" y="646836"/>
                  <a:pt x="2937662" y="894034"/>
                  <a:pt x="3108200" y="1008980"/>
                </a:cubicBezTo>
                <a:cubicBezTo>
                  <a:pt x="3228810" y="1075858"/>
                  <a:pt x="3343409" y="1171509"/>
                  <a:pt x="3258155" y="1319033"/>
                </a:cubicBezTo>
                <a:cubicBezTo>
                  <a:pt x="3134282" y="1435449"/>
                  <a:pt x="3057301" y="1393031"/>
                  <a:pt x="2937692" y="1304637"/>
                </a:cubicBezTo>
                <a:cubicBezTo>
                  <a:pt x="2647778" y="1191783"/>
                  <a:pt x="2008321" y="619142"/>
                  <a:pt x="763561" y="1325535"/>
                </a:cubicBezTo>
                <a:cubicBezTo>
                  <a:pt x="621636" y="1425852"/>
                  <a:pt x="511304" y="1376178"/>
                  <a:pt x="464412" y="1278813"/>
                </a:cubicBezTo>
                <a:cubicBezTo>
                  <a:pt x="452398" y="1252494"/>
                  <a:pt x="448110" y="1227223"/>
                  <a:pt x="450482" y="1202928"/>
                </a:cubicBezTo>
                <a:cubicBezTo>
                  <a:pt x="457599" y="1130049"/>
                  <a:pt x="524660" y="1065987"/>
                  <a:pt x="622892" y="1008979"/>
                </a:cubicBezTo>
                <a:cubicBezTo>
                  <a:pt x="1041721" y="744082"/>
                  <a:pt x="1457554" y="651995"/>
                  <a:pt x="1828129" y="650059"/>
                </a:cubicBezTo>
                <a:close/>
                <a:moveTo>
                  <a:pt x="1764313" y="591"/>
                </a:moveTo>
                <a:cubicBezTo>
                  <a:pt x="2430887" y="-13278"/>
                  <a:pt x="3056659" y="218017"/>
                  <a:pt x="3559697" y="547180"/>
                </a:cubicBezTo>
                <a:cubicBezTo>
                  <a:pt x="3671781" y="597338"/>
                  <a:pt x="3794905" y="759863"/>
                  <a:pt x="3709650" y="882310"/>
                </a:cubicBezTo>
                <a:cubicBezTo>
                  <a:pt x="3594303" y="984791"/>
                  <a:pt x="3449118" y="907547"/>
                  <a:pt x="3367875" y="834477"/>
                </a:cubicBezTo>
                <a:cubicBezTo>
                  <a:pt x="3193985" y="725799"/>
                  <a:pt x="1920315" y="-235561"/>
                  <a:pt x="318417" y="884635"/>
                </a:cubicBezTo>
                <a:cubicBezTo>
                  <a:pt x="189280" y="993311"/>
                  <a:pt x="70419" y="922739"/>
                  <a:pt x="19267" y="846272"/>
                </a:cubicBezTo>
                <a:cubicBezTo>
                  <a:pt x="4410" y="817516"/>
                  <a:pt x="-1388" y="788500"/>
                  <a:pt x="275" y="760137"/>
                </a:cubicBezTo>
                <a:cubicBezTo>
                  <a:pt x="5260" y="675044"/>
                  <a:pt x="77384" y="595829"/>
                  <a:pt x="173484" y="547180"/>
                </a:cubicBezTo>
                <a:cubicBezTo>
                  <a:pt x="702741" y="170471"/>
                  <a:pt x="1245868" y="11376"/>
                  <a:pt x="1764313" y="591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ectangle 11"/>
          <p:cNvSpPr/>
          <p:nvPr/>
        </p:nvSpPr>
        <p:spPr>
          <a:xfrm>
            <a:off x="6422695" y="6291845"/>
            <a:ext cx="4910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https://github.com/amelcharolinesgn2/DE/upload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9475" y="5801383"/>
            <a:ext cx="3957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https://www.youtube.com/@AmelOline</a:t>
            </a:r>
          </a:p>
        </p:txBody>
      </p:sp>
    </p:spTree>
    <p:extLst>
      <p:ext uri="{BB962C8B-B14F-4D97-AF65-F5344CB8AC3E}">
        <p14:creationId xmlns:p14="http://schemas.microsoft.com/office/powerpoint/2010/main" val="3002868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id-ID" dirty="0" smtClean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Pendahuluan</a:t>
            </a:r>
            <a:endParaRPr lang="id-ID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Konsep</a:t>
            </a:r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</a:t>
            </a:r>
            <a:r>
              <a:rPr lang="id-ID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Frekuensi Penguat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d-ID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</a:t>
            </a:r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Penguat</a:t>
            </a:r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</a:t>
            </a:r>
            <a:r>
              <a:rPr lang="en-US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sisi</a:t>
            </a:r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</a:t>
            </a:r>
            <a:r>
              <a:rPr lang="id-ID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rekuensi </a:t>
            </a:r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id-ID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endah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id-ID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Respon </a:t>
            </a:r>
            <a:r>
              <a:rPr lang="en-US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Penguat</a:t>
            </a:r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 </a:t>
            </a:r>
            <a:r>
              <a:rPr lang="en-US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sisi</a:t>
            </a:r>
            <a:r>
              <a:rPr lang="en-US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</a:t>
            </a:r>
            <a:r>
              <a:rPr lang="id-ID" dirty="0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rekuensi </a:t>
            </a:r>
            <a:r>
              <a:rPr lang="en-US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tinggi</a:t>
            </a:r>
            <a:endParaRPr lang="id-ID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228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420888"/>
            <a:ext cx="8229600" cy="4153648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2400" dirty="0" err="1"/>
              <a:t>Respon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p</a:t>
            </a:r>
            <a:r>
              <a:rPr lang="id-ID" sz="2400" dirty="0"/>
              <a:t>enguat terhadap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frekuensi</a:t>
            </a:r>
            <a:r>
              <a:rPr lang="en-US" sz="2400" dirty="0"/>
              <a:t> input-</a:t>
            </a:r>
            <a:r>
              <a:rPr lang="en-US" sz="2400" dirty="0" err="1"/>
              <a:t>nya</a:t>
            </a:r>
            <a:r>
              <a:rPr lang="en-US" sz="2400" dirty="0"/>
              <a:t> </a:t>
            </a:r>
            <a:r>
              <a:rPr lang="en-US" sz="2400" dirty="0" err="1"/>
              <a:t>dinyatakan</a:t>
            </a:r>
            <a:r>
              <a:rPr lang="en-US" sz="2400" dirty="0"/>
              <a:t>: “</a:t>
            </a:r>
            <a:r>
              <a:rPr lang="en-US" sz="2400" i="1" dirty="0" err="1">
                <a:solidFill>
                  <a:srgbClr val="FF0000"/>
                </a:solidFill>
              </a:rPr>
              <a:t>fungsi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i="1" dirty="0" err="1">
                <a:solidFill>
                  <a:srgbClr val="FF0000"/>
                </a:solidFill>
              </a:rPr>
              <a:t>penguatan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i="1" dirty="0" err="1">
                <a:solidFill>
                  <a:srgbClr val="FF0000"/>
                </a:solidFill>
              </a:rPr>
              <a:t>terhadap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i="1" dirty="0" err="1">
                <a:solidFill>
                  <a:srgbClr val="FF0000"/>
                </a:solidFill>
              </a:rPr>
              <a:t>frek</a:t>
            </a:r>
            <a:r>
              <a:rPr lang="en-US" sz="2400" i="1" dirty="0">
                <a:solidFill>
                  <a:srgbClr val="FF0000"/>
                </a:solidFill>
              </a:rPr>
              <a:t>. </a:t>
            </a:r>
            <a:r>
              <a:rPr lang="en-US" sz="2400" i="1" dirty="0" err="1">
                <a:solidFill>
                  <a:srgbClr val="FF0000"/>
                </a:solidFill>
              </a:rPr>
              <a:t>masukan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i="1" dirty="0" err="1">
                <a:solidFill>
                  <a:srgbClr val="FF0000"/>
                </a:solidFill>
              </a:rPr>
              <a:t>penguat</a:t>
            </a:r>
            <a:r>
              <a:rPr lang="en-US" sz="2400" dirty="0"/>
              <a:t>”</a:t>
            </a:r>
            <a:endParaRPr lang="id-ID" sz="2400" dirty="0"/>
          </a:p>
          <a:p>
            <a:pPr>
              <a:buNone/>
            </a:pPr>
            <a:endParaRPr lang="id-ID" sz="2400" dirty="0"/>
          </a:p>
          <a:p>
            <a:r>
              <a:rPr lang="en-US" sz="2400" b="1" i="1" dirty="0" err="1"/>
              <a:t>Akibatnya</a:t>
            </a:r>
            <a:r>
              <a:rPr lang="en-US" sz="2400" b="1" i="1" dirty="0"/>
              <a:t> ?</a:t>
            </a:r>
            <a:r>
              <a:rPr lang="id-ID" sz="2400" b="1" i="1" dirty="0"/>
              <a:t> </a:t>
            </a:r>
            <a:r>
              <a:rPr lang="en-US" sz="2400" dirty="0"/>
              <a:t>output</a:t>
            </a:r>
            <a:r>
              <a:rPr lang="en-US" sz="2400" b="1" i="1" dirty="0"/>
              <a:t> </a:t>
            </a:r>
            <a:r>
              <a:rPr lang="id-ID" sz="2400" dirty="0"/>
              <a:t>penguatan </a:t>
            </a:r>
            <a:r>
              <a:rPr lang="en-US" sz="2400" dirty="0" err="1"/>
              <a:t>penguat</a:t>
            </a:r>
            <a:r>
              <a:rPr lang="en-US" sz="2400" dirty="0"/>
              <a:t> </a:t>
            </a:r>
            <a:r>
              <a:rPr lang="en-US" sz="2400" dirty="0" err="1"/>
              <a:t>mengalami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penguatan</a:t>
            </a:r>
            <a:r>
              <a:rPr lang="en-US" sz="2400" dirty="0"/>
              <a:t> </a:t>
            </a:r>
            <a:r>
              <a:rPr lang="en-US" sz="2400" dirty="0" err="1"/>
              <a:t>akibat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frekuensi</a:t>
            </a:r>
            <a:r>
              <a:rPr lang="en-US" sz="2400" dirty="0"/>
              <a:t> input-</a:t>
            </a:r>
            <a:r>
              <a:rPr lang="en-US" sz="2400" dirty="0" err="1"/>
              <a:t>nya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: </a:t>
            </a:r>
            <a:r>
              <a:rPr lang="en-US" sz="2400" b="1" dirty="0">
                <a:solidFill>
                  <a:srgbClr val="0070C0"/>
                </a:solidFill>
              </a:rPr>
              <a:t>“</a:t>
            </a:r>
            <a:r>
              <a:rPr lang="en-US" sz="2400" b="1" dirty="0" err="1">
                <a:solidFill>
                  <a:srgbClr val="0070C0"/>
                </a:solidFill>
              </a:rPr>
              <a:t>tanggapan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id-ID" sz="2400" b="1" dirty="0">
                <a:solidFill>
                  <a:srgbClr val="0070C0"/>
                </a:solidFill>
              </a:rPr>
              <a:t>frekuensi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penguat</a:t>
            </a:r>
            <a:r>
              <a:rPr lang="en-US" sz="2400" b="1" dirty="0">
                <a:solidFill>
                  <a:srgbClr val="0070C0"/>
                </a:solidFill>
              </a:rPr>
              <a:t>”</a:t>
            </a:r>
            <a:endParaRPr lang="id-ID" sz="2400" b="1" dirty="0"/>
          </a:p>
          <a:p>
            <a:pPr>
              <a:buNone/>
            </a:pPr>
            <a:endParaRPr lang="id-ID" b="1" dirty="0" smtClean="0"/>
          </a:p>
          <a:p>
            <a:endParaRPr lang="id-ID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 smtClean="0">
                <a:solidFill>
                  <a:srgbClr val="FF0000"/>
                </a:solidFill>
              </a:rPr>
              <a:t>Penguatan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terhadap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frek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6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ttp://elektronika-dasar.web.id/wp-content/uploads/2012/05/Kurva-Respon-Frekuensi-Penguat-CE-Kopling-Kapasitor.jpg"/>
          <p:cNvPicPr>
            <a:picLocks noGrp="1"/>
          </p:cNvPicPr>
          <p:nvPr>
            <p:ph idx="1"/>
          </p:nvPr>
        </p:nvPicPr>
        <p:blipFill>
          <a:blip r:embed="rId2">
            <a:lum bright="14000" contrast="-30000"/>
          </a:blip>
          <a:srcRect/>
          <a:stretch>
            <a:fillRect/>
          </a:stretch>
        </p:blipFill>
        <p:spPr bwMode="auto">
          <a:xfrm>
            <a:off x="2063553" y="1707776"/>
            <a:ext cx="8118643" cy="4601544"/>
          </a:xfrm>
          <a:prstGeom prst="rect">
            <a:avLst/>
          </a:prstGeom>
          <a:ln w="190500" cap="sq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2204864"/>
            <a:ext cx="8712968" cy="4297664"/>
          </a:xfr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id-ID" sz="2400" dirty="0"/>
              <a:t>Penguatan </a:t>
            </a:r>
            <a:r>
              <a:rPr lang="en-US" sz="2400" dirty="0" err="1"/>
              <a:t>maksimum</a:t>
            </a:r>
            <a:r>
              <a:rPr lang="en-US" sz="2400" dirty="0"/>
              <a:t> </a:t>
            </a:r>
            <a:r>
              <a:rPr lang="id-ID" sz="2400" dirty="0"/>
              <a:t>selalu terjadi pada </a:t>
            </a:r>
            <a:r>
              <a:rPr lang="en-US" sz="2400" dirty="0" err="1"/>
              <a:t>daerah</a:t>
            </a:r>
            <a:r>
              <a:rPr lang="en-US" sz="2400" dirty="0"/>
              <a:t> “</a:t>
            </a:r>
            <a:r>
              <a:rPr lang="id-ID" sz="2400" dirty="0"/>
              <a:t>frekuensi tengah</a:t>
            </a:r>
            <a:r>
              <a:rPr lang="en-US" sz="2400" dirty="0"/>
              <a:t>”</a:t>
            </a:r>
            <a:r>
              <a:rPr lang="id-ID" sz="2400" dirty="0"/>
              <a:t>.</a:t>
            </a:r>
            <a:endParaRPr lang="en-US" sz="2400" dirty="0"/>
          </a:p>
          <a:p>
            <a:endParaRPr lang="id-ID" sz="2400" dirty="0"/>
          </a:p>
          <a:p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id-ID" sz="2400" dirty="0"/>
              <a:t>frekuensi</a:t>
            </a:r>
            <a:r>
              <a:rPr lang="en-US" sz="2400" dirty="0"/>
              <a:t> </a:t>
            </a:r>
            <a:r>
              <a:rPr lang="en-US" sz="2400" dirty="0" err="1"/>
              <a:t>bawah</a:t>
            </a:r>
            <a:r>
              <a:rPr lang="id-ID" sz="2400" dirty="0"/>
              <a:t>, </a:t>
            </a:r>
            <a:r>
              <a:rPr lang="en-US" sz="2400" dirty="0" err="1"/>
              <a:t>cenderung</a:t>
            </a:r>
            <a:r>
              <a:rPr lang="en-US" sz="2400" dirty="0"/>
              <a:t> </a:t>
            </a:r>
            <a:r>
              <a:rPr lang="id-ID" sz="2400" dirty="0"/>
              <a:t>penguatan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id-ID" sz="2400" dirty="0"/>
              <a:t>semakin </a:t>
            </a:r>
            <a:r>
              <a:rPr lang="en-US" sz="2400" dirty="0" err="1"/>
              <a:t>bertambah</a:t>
            </a:r>
            <a:r>
              <a:rPr lang="en-US" sz="2400" dirty="0"/>
              <a:t>, </a:t>
            </a:r>
            <a:r>
              <a:rPr lang="id-ID" sz="2400" dirty="0"/>
              <a:t>disebabkan</a:t>
            </a:r>
            <a:r>
              <a:rPr lang="en-US" sz="2400" dirty="0"/>
              <a:t>: “</a:t>
            </a:r>
            <a:r>
              <a:rPr lang="id-ID" sz="2400" b="1" i="1" dirty="0">
                <a:solidFill>
                  <a:srgbClr val="FF0000"/>
                </a:solidFill>
              </a:rPr>
              <a:t>faktor reaktansi kapasitif y</a:t>
            </a:r>
            <a:r>
              <a:rPr lang="en-US" sz="2400" b="1" i="1" dirty="0" err="1">
                <a:solidFill>
                  <a:srgbClr val="FF0000"/>
                </a:solidFill>
              </a:rPr>
              <a:t>ang</a:t>
            </a:r>
            <a:r>
              <a:rPr lang="id-ID" sz="2400" b="1" i="1" dirty="0">
                <a:solidFill>
                  <a:srgbClr val="FF0000"/>
                </a:solidFill>
              </a:rPr>
              <a:t> besar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dari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</a:rPr>
              <a:t>penguat</a:t>
            </a:r>
            <a:r>
              <a:rPr lang="en-US" sz="2400" dirty="0">
                <a:solidFill>
                  <a:srgbClr val="FF0000"/>
                </a:solidFill>
              </a:rPr>
              <a:t>”.</a:t>
            </a:r>
            <a:r>
              <a:rPr lang="id-ID" sz="2400" dirty="0">
                <a:solidFill>
                  <a:srgbClr val="FF0000"/>
                </a:solidFill>
              </a:rPr>
              <a:t> </a:t>
            </a:r>
            <a:endParaRPr lang="en-US" sz="2400" dirty="0">
              <a:solidFill>
                <a:srgbClr val="FF0000"/>
              </a:solidFill>
            </a:endParaRPr>
          </a:p>
          <a:p>
            <a:endParaRPr lang="id-ID" sz="2400" dirty="0">
              <a:solidFill>
                <a:srgbClr val="FF0000"/>
              </a:solidFill>
            </a:endParaRPr>
          </a:p>
          <a:p>
            <a:r>
              <a:rPr lang="en-US" sz="2400" dirty="0" err="1"/>
              <a:t>pada</a:t>
            </a:r>
            <a:r>
              <a:rPr lang="id-ID" sz="2400" dirty="0"/>
              <a:t> frekuensi</a:t>
            </a:r>
            <a:r>
              <a:rPr lang="en-US" sz="2400" dirty="0"/>
              <a:t> </a:t>
            </a:r>
            <a:r>
              <a:rPr lang="en-US" sz="2400" dirty="0" err="1"/>
              <a:t>atas</a:t>
            </a:r>
            <a:r>
              <a:rPr lang="id-ID" sz="2400" dirty="0"/>
              <a:t>, </a:t>
            </a:r>
            <a:r>
              <a:rPr lang="en-US" sz="2400" dirty="0" err="1"/>
              <a:t>cenderung</a:t>
            </a:r>
            <a:r>
              <a:rPr lang="en-US" sz="2400" dirty="0"/>
              <a:t> </a:t>
            </a:r>
            <a:r>
              <a:rPr lang="id-ID" sz="2400" dirty="0"/>
              <a:t>penguatan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id-ID" sz="2400" dirty="0"/>
              <a:t>semakin menurun</a:t>
            </a:r>
            <a:r>
              <a:rPr lang="en-US" sz="2400" dirty="0"/>
              <a:t>, </a:t>
            </a:r>
            <a:r>
              <a:rPr lang="en-US" sz="2400" dirty="0" err="1"/>
              <a:t>sebabnya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:</a:t>
            </a:r>
            <a:r>
              <a:rPr lang="id-ID" sz="2400" dirty="0"/>
              <a:t> </a:t>
            </a:r>
            <a:r>
              <a:rPr lang="en-US" sz="2400" dirty="0"/>
              <a:t>“</a:t>
            </a:r>
            <a:r>
              <a:rPr lang="id-ID" sz="2400" b="1" i="1" dirty="0">
                <a:solidFill>
                  <a:srgbClr val="0070C0"/>
                </a:solidFill>
              </a:rPr>
              <a:t>stray</a:t>
            </a:r>
            <a:r>
              <a:rPr lang="id-ID" sz="2400" b="1" dirty="0">
                <a:solidFill>
                  <a:srgbClr val="0070C0"/>
                </a:solidFill>
              </a:rPr>
              <a:t> kapasitif (kapasitor liar) yg semakin kecil</a:t>
            </a:r>
            <a:r>
              <a:rPr lang="en-US" sz="2400" b="1" dirty="0">
                <a:solidFill>
                  <a:srgbClr val="0070C0"/>
                </a:solidFill>
              </a:rPr>
              <a:t> (</a:t>
            </a:r>
            <a:r>
              <a:rPr lang="en-US" sz="2400" b="1" dirty="0" err="1">
                <a:solidFill>
                  <a:srgbClr val="0070C0"/>
                </a:solidFill>
              </a:rPr>
              <a:t>reaktansi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kapasitif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kecil</a:t>
            </a:r>
            <a:r>
              <a:rPr lang="en-US" sz="2400" b="1" dirty="0">
                <a:solidFill>
                  <a:srgbClr val="0070C0"/>
                </a:solidFill>
              </a:rPr>
              <a:t>)” </a:t>
            </a:r>
            <a:r>
              <a:rPr lang="en-US" sz="2400" dirty="0"/>
              <a:t>yang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id-ID" sz="2400" dirty="0"/>
              <a:t>dapat membebani penguatan.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solidFill>
                  <a:srgbClr val="C00000"/>
                </a:solidFill>
              </a:rPr>
              <a:t>Penguatan</a:t>
            </a:r>
            <a:r>
              <a:rPr lang="id-ID" b="1" dirty="0"/>
              <a:t> Vs </a:t>
            </a:r>
            <a:r>
              <a:rPr lang="id-ID" b="1" dirty="0">
                <a:solidFill>
                  <a:srgbClr val="0070C0"/>
                </a:solidFill>
              </a:rPr>
              <a:t>Frekuensi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24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19536" y="1412776"/>
                <a:ext cx="8572560" cy="4896544"/>
              </a:xfr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r>
                  <a:rPr lang="id-ID" sz="2400" dirty="0"/>
                  <a:t>Nilai penguatan di titik </a:t>
                </a:r>
                <a:r>
                  <a:rPr lang="id-ID" sz="2400" i="1" dirty="0"/>
                  <a:t>f</a:t>
                </a:r>
                <a:r>
                  <a:rPr lang="id-ID" sz="2000" i="1" dirty="0"/>
                  <a:t>1</a:t>
                </a:r>
                <a:r>
                  <a:rPr lang="id-ID" sz="2400" dirty="0"/>
                  <a:t> </a:t>
                </a:r>
                <a:r>
                  <a:rPr lang="en-US" sz="2400" dirty="0" err="1"/>
                  <a:t>atau</a:t>
                </a:r>
                <a:r>
                  <a:rPr lang="en-US" sz="2400" dirty="0"/>
                  <a:t> </a:t>
                </a:r>
                <a:r>
                  <a:rPr lang="id-ID" sz="2400" dirty="0"/>
                  <a:t> </a:t>
                </a:r>
                <a:r>
                  <a:rPr lang="id-ID" sz="2400" i="1" dirty="0"/>
                  <a:t>f</a:t>
                </a:r>
                <a:r>
                  <a:rPr lang="id-ID" sz="2000" i="1" dirty="0"/>
                  <a:t>2</a:t>
                </a:r>
                <a:r>
                  <a:rPr lang="id-ID" sz="2400" dirty="0"/>
                  <a:t> </a:t>
                </a:r>
                <a:r>
                  <a:rPr lang="en-US" sz="2400" dirty="0" err="1"/>
                  <a:t>disebut</a:t>
                </a:r>
                <a:r>
                  <a:rPr lang="id-ID" sz="2400" dirty="0"/>
                  <a:t> </a:t>
                </a:r>
                <a:r>
                  <a:rPr lang="en-US" sz="2400" dirty="0"/>
                  <a:t>“</a:t>
                </a:r>
                <a:r>
                  <a:rPr lang="id-ID" sz="2400" dirty="0">
                    <a:solidFill>
                      <a:srgbClr val="FF0000"/>
                    </a:solidFill>
                  </a:rPr>
                  <a:t>setengah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penguatan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id-ID" sz="2400" dirty="0">
                    <a:solidFill>
                      <a:srgbClr val="FF0000"/>
                    </a:solidFill>
                  </a:rPr>
                  <a:t>daya maksim</a:t>
                </a:r>
                <a:r>
                  <a:rPr lang="en-US" sz="2400" dirty="0">
                    <a:solidFill>
                      <a:srgbClr val="FF0000"/>
                    </a:solidFill>
                  </a:rPr>
                  <a:t>um</a:t>
                </a:r>
                <a:r>
                  <a:rPr lang="id-ID" sz="2400" dirty="0">
                    <a:solidFill>
                      <a:srgbClr val="FF0000"/>
                    </a:solidFill>
                  </a:rPr>
                  <a:t> keluaran</a:t>
                </a:r>
                <a:r>
                  <a:rPr lang="en-US" sz="2400" dirty="0">
                    <a:solidFill>
                      <a:srgbClr val="FF0000"/>
                    </a:solidFill>
                  </a:rPr>
                  <a:t>”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atau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daerah</a:t>
                </a:r>
                <a:r>
                  <a:rPr lang="en-US" sz="2400" dirty="0">
                    <a:solidFill>
                      <a:srgbClr val="FF0000"/>
                    </a:solidFill>
                  </a:rPr>
                  <a:t> cut-off</a:t>
                </a:r>
                <a:r>
                  <a:rPr lang="id-ID" sz="2400" dirty="0"/>
                  <a:t> </a:t>
                </a:r>
                <a:endParaRPr lang="en-US" sz="2400" dirty="0"/>
              </a:p>
              <a:p>
                <a:pPr marL="109728" indent="0">
                  <a:buNone/>
                </a:pPr>
                <a:endParaRPr lang="en-US" dirty="0" smtClean="0"/>
              </a:p>
              <a:p>
                <a:pPr marL="109728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𝐶𝑢𝑡</m:t>
                      </m:r>
                      <m:r>
                        <a:rPr lang="en-US" b="0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𝑜𝑓𝑓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=0,707 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𝑚𝑖𝑑</m:t>
                          </m:r>
                          <m:r>
                            <a:rPr lang="en-US" i="1" smtClean="0">
                              <a:ln w="0"/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id-ID" sz="2400" dirty="0"/>
                  <a:t>Dalam sistem komunikasi, audio, video, satuan penguatan ini dikonversi ke dalam satuan decibel (dB)</a:t>
                </a:r>
              </a:p>
              <a:p>
                <a:pPr>
                  <a:buNone/>
                </a:pPr>
                <a:endParaRPr lang="id-ID" dirty="0" smtClean="0"/>
              </a:p>
              <a:p>
                <a:pPr algn="ctr">
                  <a:buNone/>
                </a:pPr>
                <a:r>
                  <a:rPr lang="id-ID" sz="2400" b="1" dirty="0"/>
                  <a:t>    </a:t>
                </a:r>
                <a:r>
                  <a:rPr lang="id-ID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Av/Av</a:t>
                </a:r>
                <a:r>
                  <a:rPr lang="id-ID" sz="16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mid</a:t>
                </a:r>
                <a:r>
                  <a:rPr lang="id-ID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(dB) = 20 log (Av/Av</a:t>
                </a:r>
                <a:r>
                  <a:rPr lang="id-ID" sz="16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mid </a:t>
                </a:r>
                <a:r>
                  <a:rPr lang="id-ID" sz="24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)</a:t>
                </a:r>
              </a:p>
              <a:p>
                <a:pPr>
                  <a:buNone/>
                </a:pPr>
                <a:endParaRPr lang="id-ID" b="1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536" y="1412776"/>
                <a:ext cx="8572560" cy="4896544"/>
              </a:xfrm>
              <a:blipFill>
                <a:blip r:embed="rId2"/>
                <a:stretch>
                  <a:fillRect l="-923" t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863752" y="2420888"/>
            <a:ext cx="4392488" cy="108012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07768" y="4725144"/>
            <a:ext cx="4822732" cy="792088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12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052737"/>
            <a:ext cx="4824536" cy="40572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394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Grp="1" noChangeArrowheads="1"/>
          </p:cNvSpPr>
          <p:nvPr>
            <p:ph idx="1"/>
          </p:nvPr>
        </p:nvSpPr>
        <p:spPr bwMode="auto">
          <a:xfrm>
            <a:off x="2135560" y="3429000"/>
            <a:ext cx="8115328" cy="204876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id-ID" altLang="en-US" b="1" dirty="0" smtClean="0">
                <a:latin typeface="Times New Roman" pitchFamily="18" charset="0"/>
              </a:rPr>
              <a:t>   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Kurva respon 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f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rekuensi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 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menujuk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k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an bahwa 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“</a:t>
            </a:r>
            <a:r>
              <a:rPr lang="id-ID" altLang="en-US" b="1" i="1" dirty="0" smtClean="0">
                <a:solidFill>
                  <a:srgbClr val="FF0000"/>
                </a:solidFill>
                <a:latin typeface="Times New Roman" pitchFamily="18" charset="0"/>
              </a:rPr>
              <a:t>antar</a:t>
            </a:r>
            <a:r>
              <a:rPr lang="en-US" altLang="en-US" b="1" i="1" dirty="0" smtClean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id-ID" altLang="en-US" b="1" i="1" dirty="0" smtClean="0">
                <a:solidFill>
                  <a:srgbClr val="FF0000"/>
                </a:solidFill>
                <a:latin typeface="Times New Roman" pitchFamily="18" charset="0"/>
              </a:rPr>
              <a:t> kapasitor yang terpasang memiliki pengaruh berbeda terhadap hasil frekuensi cut off-nya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”</a:t>
            </a:r>
            <a:r>
              <a:rPr lang="id-ID" altLang="en-US" b="1" dirty="0" smtClean="0">
                <a:solidFill>
                  <a:srgbClr val="0070C0"/>
                </a:solidFill>
                <a:latin typeface="Times New Roman" pitchFamily="18" charset="0"/>
              </a:rPr>
              <a:t>.</a:t>
            </a:r>
            <a:r>
              <a:rPr lang="en-US" altLang="en-US" b="1" dirty="0" smtClean="0">
                <a:solidFill>
                  <a:srgbClr val="0070C0"/>
                </a:solidFill>
                <a:latin typeface="Times New Roman" pitchFamily="18" charset="0"/>
              </a:rPr>
              <a:t> </a:t>
            </a:r>
            <a:endParaRPr lang="en-US" altLang="en-US" sz="3200" b="1" dirty="0">
              <a:solidFill>
                <a:srgbClr val="0070C0"/>
              </a:solidFill>
              <a:latin typeface="Times New Roman" pitchFamily="18" charset="0"/>
            </a:endParaRPr>
          </a:p>
          <a:p>
            <a:pPr>
              <a:buNone/>
            </a:pPr>
            <a:endParaRPr lang="en-US" altLang="en-US" sz="2000" b="1" dirty="0">
              <a:latin typeface="Times New Roman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Pengaruh</a:t>
            </a:r>
            <a:r>
              <a:rPr lang="en-US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Kapasitor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pada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Penguat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71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7569" y="1052736"/>
            <a:ext cx="7683651" cy="5400600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704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224688" y="1803456"/>
            <a:ext cx="6031552" cy="536634"/>
          </a:xfrm>
        </p:spPr>
        <p:txBody>
          <a:bodyPr>
            <a:normAutofit/>
          </a:bodyPr>
          <a:lstStyle/>
          <a:p>
            <a:r>
              <a:rPr lang="en-US" sz="2400" dirty="0" err="1"/>
              <a:t>Sisi</a:t>
            </a:r>
            <a:r>
              <a:rPr lang="id-ID" sz="2400" dirty="0"/>
              <a:t> input (Cs)</a:t>
            </a:r>
          </a:p>
        </p:txBody>
      </p:sp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10116" y="2586510"/>
            <a:ext cx="5857884" cy="4117325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5125" name="Object 5"/>
          <p:cNvGraphicFramePr>
            <a:graphicFrameLocks noChangeAspect="1"/>
          </p:cNvGraphicFramePr>
          <p:nvPr>
            <p:extLst/>
          </p:nvPr>
        </p:nvGraphicFramePr>
        <p:xfrm>
          <a:off x="2695964" y="2526762"/>
          <a:ext cx="2679956" cy="902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4" imgW="1282680" imgH="431640" progId="Equation.3">
                  <p:embed/>
                </p:oleObj>
              </mc:Choice>
              <mc:Fallback>
                <p:oleObj name="Equation" r:id="rId4" imgW="1282680" imgH="431640" progId="Equation.3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964" y="2526762"/>
                        <a:ext cx="2679956" cy="90223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tx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>
            <p:extLst/>
          </p:nvPr>
        </p:nvGraphicFramePr>
        <p:xfrm>
          <a:off x="2495600" y="4071943"/>
          <a:ext cx="2205458" cy="362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Equation" r:id="rId6" imgW="1257120" imgH="228600" progId="Equation.3">
                  <p:embed/>
                </p:oleObj>
              </mc:Choice>
              <mc:Fallback>
                <p:oleObj name="Equation" r:id="rId6" imgW="1257120" imgH="228600" progId="Equation.3">
                  <p:embed/>
                  <p:pic>
                    <p:nvPicPr>
                      <p:cNvPr id="51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4071943"/>
                        <a:ext cx="2205458" cy="362276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2500298" y="3528956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501342" y="4577252"/>
            <a:ext cx="1524000" cy="40011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b="1" dirty="0">
                <a:latin typeface="Times New Roman" pitchFamily="18" charset="0"/>
              </a:rPr>
              <a:t>hie = </a:t>
            </a:r>
            <a:r>
              <a:rPr lang="el-GR" sz="2000" b="1" dirty="0">
                <a:latin typeface="Times New Roman" pitchFamily="18" charset="0"/>
              </a:rPr>
              <a:t>β</a:t>
            </a:r>
            <a:r>
              <a:rPr lang="id-ID" sz="2000" b="1" dirty="0">
                <a:latin typeface="Times New Roman" pitchFamily="18" charset="0"/>
              </a:rPr>
              <a:t>re</a:t>
            </a:r>
            <a:endParaRPr lang="en-US" sz="2000" b="1" dirty="0">
              <a:latin typeface="Times New Roman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087888" y="3528957"/>
            <a:ext cx="908070" cy="9052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Respon</a:t>
            </a:r>
            <a:r>
              <a:rPr lang="en-US" b="1" dirty="0"/>
              <a:t> </a:t>
            </a:r>
            <a:r>
              <a:rPr lang="en-US" b="1" dirty="0" err="1"/>
              <a:t>penguatan</a:t>
            </a:r>
            <a:r>
              <a:rPr lang="en-US" b="1" dirty="0"/>
              <a:t> di </a:t>
            </a:r>
            <a:r>
              <a:rPr lang="en-US" b="1" dirty="0" err="1"/>
              <a:t>sisi</a:t>
            </a:r>
            <a:r>
              <a:rPr lang="en-US" b="1" dirty="0"/>
              <a:t> </a:t>
            </a:r>
            <a:r>
              <a:rPr lang="en-US" b="1" dirty="0" err="1"/>
              <a:t>frekuensi</a:t>
            </a:r>
            <a:r>
              <a:rPr lang="en-US" b="1" dirty="0"/>
              <a:t> </a:t>
            </a:r>
            <a:r>
              <a:rPr lang="en-US" b="1" dirty="0" err="1"/>
              <a:t>bawah</a:t>
            </a:r>
            <a:r>
              <a:rPr lang="en-US" b="1" dirty="0"/>
              <a:t> 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01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5576" y="995618"/>
            <a:ext cx="6941430" cy="857256"/>
          </a:xfrm>
        </p:spPr>
        <p:txBody>
          <a:bodyPr>
            <a:normAutofit/>
          </a:bodyPr>
          <a:lstStyle/>
          <a:p>
            <a:r>
              <a:rPr lang="en-US" sz="2400" dirty="0" err="1"/>
              <a:t>Sisi</a:t>
            </a:r>
            <a:r>
              <a:rPr lang="en-US" sz="2400" dirty="0"/>
              <a:t> </a:t>
            </a:r>
            <a:r>
              <a:rPr lang="id-ID" sz="2400" dirty="0"/>
              <a:t>ouput (Cc)</a:t>
            </a:r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83832" y="2459634"/>
            <a:ext cx="5889836" cy="4139783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6146" name="Object 2"/>
          <p:cNvGraphicFramePr>
            <a:graphicFrameLocks noChangeAspect="1"/>
          </p:cNvGraphicFramePr>
          <p:nvPr>
            <p:extLst/>
          </p:nvPr>
        </p:nvGraphicFramePr>
        <p:xfrm>
          <a:off x="2751138" y="1963738"/>
          <a:ext cx="24511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4" imgW="1346040" imgH="431640" progId="Equation.3">
                  <p:embed/>
                </p:oleObj>
              </mc:Choice>
              <mc:Fallback>
                <p:oleObj name="Equation" r:id="rId4" imgW="1346040" imgH="431640" progId="Equation.3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1138" y="1963738"/>
                        <a:ext cx="2451100" cy="7858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tx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2510420" y="2962693"/>
            <a:ext cx="12754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>
            <p:extLst/>
          </p:nvPr>
        </p:nvGraphicFramePr>
        <p:xfrm>
          <a:off x="2567609" y="3610058"/>
          <a:ext cx="1428207" cy="35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6" imgW="901440" imgH="228600" progId="Equation.3">
                  <p:embed/>
                </p:oleObj>
              </mc:Choice>
              <mc:Fallback>
                <p:oleObj name="Equation" r:id="rId6" imgW="901440" imgH="228600" progId="Equation.3">
                  <p:embed/>
                  <p:pic>
                    <p:nvPicPr>
                      <p:cNvPr id="61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9" y="3610058"/>
                        <a:ext cx="1428207" cy="35796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5447928" y="2762560"/>
            <a:ext cx="2952328" cy="10264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717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772461"/>
            <a:ext cx="8229600" cy="608072"/>
          </a:xfrm>
        </p:spPr>
        <p:txBody>
          <a:bodyPr>
            <a:normAutofit/>
          </a:bodyPr>
          <a:lstStyle/>
          <a:p>
            <a:r>
              <a:rPr lang="en-US" dirty="0" smtClean="0"/>
              <a:t>S</a:t>
            </a:r>
            <a:r>
              <a:rPr lang="id-ID" dirty="0" smtClean="0"/>
              <a:t>isi emiter (Ce: </a:t>
            </a:r>
            <a:r>
              <a:rPr lang="id-ID" i="1" dirty="0" smtClean="0"/>
              <a:t>Capasitor bypass</a:t>
            </a:r>
            <a:r>
              <a:rPr lang="id-ID" dirty="0" smtClean="0"/>
              <a:t>)</a:t>
            </a:r>
            <a:endParaRPr lang="id-ID" dirty="0"/>
          </a:p>
        </p:txBody>
      </p:sp>
      <p:pic>
        <p:nvPicPr>
          <p:cNvPr id="4" name="Picture 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0580" y="2376504"/>
            <a:ext cx="5664577" cy="39814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6" name="Object 10"/>
          <p:cNvGraphicFramePr>
            <a:graphicFrameLocks noChangeAspect="1"/>
          </p:cNvGraphicFramePr>
          <p:nvPr>
            <p:extLst/>
          </p:nvPr>
        </p:nvGraphicFramePr>
        <p:xfrm>
          <a:off x="3043925" y="1546484"/>
          <a:ext cx="2071702" cy="869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4" imgW="1054080" imgH="444240" progId="Equation.3">
                  <p:embed/>
                </p:oleObj>
              </mc:Choice>
              <mc:Fallback>
                <p:oleObj name="Equation" r:id="rId4" imgW="1054080" imgH="444240" progId="Equation.3">
                  <p:embed/>
                  <p:pic>
                    <p:nvPicPr>
                      <p:cNvPr id="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925" y="1546484"/>
                        <a:ext cx="2071702" cy="86968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solidFill>
                          <a:schemeClr val="tx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2333526" y="2664821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8" name="Object 11"/>
          <p:cNvGraphicFramePr>
            <a:graphicFrameLocks noChangeAspect="1"/>
          </p:cNvGraphicFramePr>
          <p:nvPr>
            <p:extLst/>
          </p:nvPr>
        </p:nvGraphicFramePr>
        <p:xfrm>
          <a:off x="2375942" y="3186169"/>
          <a:ext cx="18478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Equation" r:id="rId6" imgW="1384200" imgH="431640" progId="Equation.3">
                  <p:embed/>
                </p:oleObj>
              </mc:Choice>
              <mc:Fallback>
                <p:oleObj name="Equation" r:id="rId6" imgW="1384200" imgH="431640" progId="Equation.3">
                  <p:embed/>
                  <p:pic>
                    <p:nvPicPr>
                      <p:cNvPr id="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942" y="3186169"/>
                        <a:ext cx="1847850" cy="57626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/>
          </p:nvPr>
        </p:nvGraphicFramePr>
        <p:xfrm>
          <a:off x="2359244" y="4228313"/>
          <a:ext cx="17462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Equation" r:id="rId8" imgW="1244520" imgH="228600" progId="Equation.3">
                  <p:embed/>
                </p:oleObj>
              </mc:Choice>
              <mc:Fallback>
                <p:oleObj name="Equation" r:id="rId8" imgW="1244520" imgH="228600" progId="Equation.3">
                  <p:embed/>
                  <p:pic>
                    <p:nvPicPr>
                      <p:cNvPr id="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244" y="4228313"/>
                        <a:ext cx="174625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5015880" y="2492896"/>
            <a:ext cx="3240360" cy="2952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028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994" y="620688"/>
            <a:ext cx="8606190" cy="10668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/>
              <a:t>IV. </a:t>
            </a:r>
            <a:r>
              <a:rPr lang="id-ID" sz="2400" b="1" dirty="0"/>
              <a:t>Respon </a:t>
            </a:r>
            <a:r>
              <a:rPr lang="en-US" sz="2400" b="1" dirty="0" err="1"/>
              <a:t>penguatan</a:t>
            </a:r>
            <a:r>
              <a:rPr lang="en-US" sz="2400" b="1" dirty="0"/>
              <a:t> di </a:t>
            </a:r>
            <a:r>
              <a:rPr lang="en-US" sz="2400" b="1" dirty="0" err="1"/>
              <a:t>sisi</a:t>
            </a:r>
            <a:r>
              <a:rPr lang="en-US" sz="2400" b="1" dirty="0"/>
              <a:t> f</a:t>
            </a:r>
            <a:r>
              <a:rPr lang="id-ID" sz="2400" b="1" dirty="0"/>
              <a:t>ekuensi </a:t>
            </a:r>
            <a:r>
              <a:rPr lang="en-US" sz="2400" b="1" dirty="0" err="1"/>
              <a:t>atas</a:t>
            </a:r>
            <a:endParaRPr lang="id-ID" sz="2400" b="1" dirty="0"/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600056" y="2032388"/>
            <a:ext cx="4067944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id-ID" altLang="en-US" sz="2000" dirty="0">
                <a:latin typeface="Times New Roman" pitchFamily="18" charset="0"/>
              </a:rPr>
              <a:t>Pengaruh nilai kapasitansi terhadap respon frekuensi tinggi penguat BJT:</a:t>
            </a:r>
          </a:p>
          <a:p>
            <a:endParaRPr lang="en-US" altLang="en-US" sz="20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altLang="en-US" sz="2000" b="1" dirty="0">
                <a:latin typeface="Times New Roman" pitchFamily="18" charset="0"/>
              </a:rPr>
              <a:t> </a:t>
            </a:r>
            <a:r>
              <a:rPr lang="id-ID" altLang="en-US" sz="2000" b="1" dirty="0">
                <a:latin typeface="Times New Roman" pitchFamily="18" charset="0"/>
              </a:rPr>
              <a:t>Kapasitansi </a:t>
            </a:r>
            <a:r>
              <a:rPr lang="en-US" altLang="en-US" sz="2000" b="1" dirty="0">
                <a:latin typeface="Times New Roman" pitchFamily="18" charset="0"/>
              </a:rPr>
              <a:t>Junction</a:t>
            </a:r>
            <a:r>
              <a:rPr lang="id-ID" altLang="en-US" sz="2000" b="1" dirty="0">
                <a:latin typeface="Times New Roman" pitchFamily="18" charset="0"/>
              </a:rPr>
              <a:t>:</a:t>
            </a:r>
            <a:endParaRPr lang="en-US" altLang="en-US" sz="2000" b="1" dirty="0">
              <a:latin typeface="Times New Roman" pitchFamily="18" charset="0"/>
            </a:endParaRPr>
          </a:p>
          <a:p>
            <a:pPr lvl="1"/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       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be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,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bc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,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ce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</a:p>
          <a:p>
            <a:pPr lvl="2"/>
            <a:endParaRPr lang="en-US" altLang="en-US" sz="20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d-ID" altLang="en-US" sz="2000" b="1" dirty="0">
                <a:latin typeface="Times New Roman" pitchFamily="18" charset="0"/>
                <a:cs typeface="Times New Roman" pitchFamily="18" charset="0"/>
              </a:rPr>
              <a:t>Jalur Kapasitansi :</a:t>
            </a:r>
            <a:r>
              <a:rPr lang="en-US" alt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wi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, </a:t>
            </a:r>
            <a:r>
              <a:rPr lang="en-US" altLang="en-US" sz="2000" b="1" dirty="0" err="1">
                <a:solidFill>
                  <a:srgbClr val="0070C0"/>
                </a:solidFill>
                <a:latin typeface="Times New Roman" pitchFamily="18" charset="0"/>
              </a:rPr>
              <a:t>C</a:t>
            </a:r>
            <a:r>
              <a:rPr lang="en-US" altLang="en-US" sz="2000" b="1" baseline="-25000" dirty="0" err="1">
                <a:solidFill>
                  <a:srgbClr val="0070C0"/>
                </a:solidFill>
                <a:latin typeface="Times New Roman" pitchFamily="18" charset="0"/>
              </a:rPr>
              <a:t>wo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</a:t>
            </a:r>
          </a:p>
          <a:p>
            <a:pPr lvl="1"/>
            <a:endParaRPr lang="en-US" altLang="en-US" sz="2000" b="1" dirty="0">
              <a:solidFill>
                <a:srgbClr val="0070C0"/>
              </a:solidFill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altLang="en-US" sz="2000" b="1" dirty="0">
                <a:latin typeface="Times New Roman" pitchFamily="18" charset="0"/>
              </a:rPr>
              <a:t> </a:t>
            </a:r>
            <a:r>
              <a:rPr lang="id-ID" altLang="en-US" sz="2000" b="1" dirty="0">
                <a:latin typeface="Times New Roman" pitchFamily="18" charset="0"/>
              </a:rPr>
              <a:t>Kopling Kapasitor :</a:t>
            </a:r>
            <a:r>
              <a:rPr lang="en-US" altLang="en-US" sz="2000" b="1" dirty="0">
                <a:latin typeface="Times New Roman" pitchFamily="18" charset="0"/>
              </a:rPr>
              <a:t> </a:t>
            </a:r>
          </a:p>
          <a:p>
            <a:pPr lvl="1"/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             C</a:t>
            </a:r>
            <a:r>
              <a:rPr lang="en-US" altLang="en-US" sz="2000" b="1" baseline="-25000" dirty="0">
                <a:solidFill>
                  <a:srgbClr val="0070C0"/>
                </a:solidFill>
                <a:latin typeface="Times New Roman" pitchFamily="18" charset="0"/>
              </a:rPr>
              <a:t>S</a:t>
            </a:r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, C</a:t>
            </a:r>
            <a:r>
              <a:rPr lang="en-US" altLang="en-US" sz="2000" b="1" baseline="-25000" dirty="0">
                <a:solidFill>
                  <a:srgbClr val="0070C0"/>
                </a:solidFill>
                <a:latin typeface="Times New Roman" pitchFamily="18" charset="0"/>
              </a:rPr>
              <a:t>C</a:t>
            </a:r>
          </a:p>
          <a:p>
            <a:pPr lvl="1"/>
            <a:endParaRPr lang="en-US" altLang="en-US" sz="2000" b="1" dirty="0">
              <a:latin typeface="Times New Roman" pitchFamily="18" charset="0"/>
            </a:endParaRPr>
          </a:p>
          <a:p>
            <a:pPr lvl="1">
              <a:buFontTx/>
              <a:buChar char="•"/>
            </a:pPr>
            <a:r>
              <a:rPr lang="en-US" altLang="en-US" sz="2000" b="1" dirty="0">
                <a:latin typeface="Times New Roman" pitchFamily="18" charset="0"/>
              </a:rPr>
              <a:t> </a:t>
            </a:r>
            <a:r>
              <a:rPr lang="id-ID" altLang="en-US" sz="2000" b="1" dirty="0">
                <a:latin typeface="Times New Roman" pitchFamily="18" charset="0"/>
              </a:rPr>
              <a:t>Kapasitor </a:t>
            </a:r>
            <a:r>
              <a:rPr lang="en-US" altLang="en-US" sz="2000" b="1" dirty="0">
                <a:latin typeface="Times New Roman" pitchFamily="18" charset="0"/>
              </a:rPr>
              <a:t>Bypass</a:t>
            </a:r>
            <a:r>
              <a:rPr lang="id-ID" altLang="en-US" sz="2000" b="1" dirty="0">
                <a:latin typeface="Times New Roman" pitchFamily="18" charset="0"/>
              </a:rPr>
              <a:t> :</a:t>
            </a:r>
            <a:r>
              <a:rPr lang="en-US" altLang="en-US" sz="2000" b="1" dirty="0">
                <a:latin typeface="Times New Roman" pitchFamily="18" charset="0"/>
              </a:rPr>
              <a:t> </a:t>
            </a:r>
          </a:p>
          <a:p>
            <a:pPr lvl="1"/>
            <a:r>
              <a:rPr lang="en-US" altLang="en-US" sz="2000" b="1" dirty="0">
                <a:solidFill>
                  <a:srgbClr val="0070C0"/>
                </a:solidFill>
                <a:latin typeface="Times New Roman" pitchFamily="18" charset="0"/>
              </a:rPr>
              <a:t>                   C</a:t>
            </a:r>
            <a:r>
              <a:rPr lang="en-US" altLang="en-US" sz="2000" b="1" baseline="-25000" dirty="0">
                <a:solidFill>
                  <a:srgbClr val="0070C0"/>
                </a:solidFill>
                <a:latin typeface="Times New Roman" pitchFamily="18" charset="0"/>
              </a:rPr>
              <a:t>E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8358" y="2935204"/>
            <a:ext cx="4787683" cy="3386410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64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20" y="785794"/>
            <a:ext cx="8229600" cy="642942"/>
          </a:xfrm>
        </p:spPr>
        <p:txBody>
          <a:bodyPr>
            <a:normAutofit/>
          </a:bodyPr>
          <a:lstStyle/>
          <a:p>
            <a:r>
              <a:rPr lang="en-US" dirty="0" err="1" smtClean="0"/>
              <a:t>Sisi</a:t>
            </a:r>
            <a:r>
              <a:rPr lang="en-US" dirty="0" smtClean="0"/>
              <a:t> </a:t>
            </a:r>
            <a:r>
              <a:rPr lang="id-ID" dirty="0" smtClean="0"/>
              <a:t>input penguat </a:t>
            </a:r>
            <a:endParaRPr lang="id-ID" dirty="0"/>
          </a:p>
        </p:txBody>
      </p:sp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9856" y="2624617"/>
            <a:ext cx="5724128" cy="4048774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aphicFrame>
        <p:nvGraphicFramePr>
          <p:cNvPr id="12290" name="Object 2"/>
          <p:cNvGraphicFramePr>
            <a:graphicFrameLocks noChangeAspect="1"/>
          </p:cNvGraphicFramePr>
          <p:nvPr>
            <p:extLst/>
          </p:nvPr>
        </p:nvGraphicFramePr>
        <p:xfrm>
          <a:off x="3460750" y="1520825"/>
          <a:ext cx="2700338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Equation" r:id="rId5" imgW="1041120" imgH="444240" progId="Equation.3">
                  <p:embed/>
                </p:oleObj>
              </mc:Choice>
              <mc:Fallback>
                <p:oleObj name="Equation" r:id="rId5" imgW="1041120" imgH="444240" progId="Equation.3">
                  <p:embed/>
                  <p:pic>
                    <p:nvPicPr>
                      <p:cNvPr id="122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1520825"/>
                        <a:ext cx="2700338" cy="114935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3"/>
          <p:cNvGraphicFramePr>
            <a:graphicFrameLocks noChangeAspect="1"/>
          </p:cNvGraphicFramePr>
          <p:nvPr>
            <p:extLst/>
          </p:nvPr>
        </p:nvGraphicFramePr>
        <p:xfrm>
          <a:off x="2038350" y="3713536"/>
          <a:ext cx="2286000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7" imgW="1498320" imgH="241200" progId="Equation.3">
                  <p:embed/>
                </p:oleObj>
              </mc:Choice>
              <mc:Fallback>
                <p:oleObj name="Equation" r:id="rId7" imgW="1498320" imgH="241200" progId="Equation.3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713536"/>
                        <a:ext cx="2286000" cy="36353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1991544" y="2643182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>
            <p:extLst/>
          </p:nvPr>
        </p:nvGraphicFramePr>
        <p:xfrm>
          <a:off x="2093913" y="4473575"/>
          <a:ext cx="271621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Equation" r:id="rId9" imgW="1739880" imgH="228600" progId="Equation.3">
                  <p:embed/>
                </p:oleObj>
              </mc:Choice>
              <mc:Fallback>
                <p:oleObj name="Equation" r:id="rId9" imgW="1739880" imgH="228600" progId="Equation.3">
                  <p:embed/>
                  <p:pic>
                    <p:nvPicPr>
                      <p:cNvPr id="12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3913" y="4473575"/>
                        <a:ext cx="2716212" cy="35083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095473" y="3105150"/>
            <a:ext cx="1907699" cy="395289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</p:pic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1919537" y="5597515"/>
            <a:ext cx="243973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 err="1">
                <a:latin typeface="Times New Roman" pitchFamily="18" charset="0"/>
              </a:rPr>
              <a:t>Nilai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ini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biasanya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sudah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ada</a:t>
            </a:r>
            <a:r>
              <a:rPr lang="en-US" sz="2000" dirty="0">
                <a:latin typeface="Times New Roman" pitchFamily="18" charset="0"/>
              </a:rPr>
              <a:t> di data sheet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783632" y="5148918"/>
            <a:ext cx="144016" cy="512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1991544" y="4221088"/>
            <a:ext cx="2880320" cy="8640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1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20" y="785794"/>
            <a:ext cx="8229600" cy="642942"/>
          </a:xfrm>
        </p:spPr>
        <p:txBody>
          <a:bodyPr>
            <a:normAutofit/>
          </a:bodyPr>
          <a:lstStyle/>
          <a:p>
            <a:r>
              <a:rPr lang="en-US" dirty="0" err="1" smtClean="0"/>
              <a:t>Sisi</a:t>
            </a:r>
            <a:r>
              <a:rPr lang="en-US" dirty="0" smtClean="0"/>
              <a:t> </a:t>
            </a:r>
            <a:r>
              <a:rPr lang="id-ID" dirty="0" smtClean="0"/>
              <a:t>ouput penguat :</a:t>
            </a:r>
            <a:endParaRPr lang="id-ID" dirty="0"/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>
            <p:extLst/>
          </p:nvPr>
        </p:nvGraphicFramePr>
        <p:xfrm>
          <a:off x="2509838" y="1600201"/>
          <a:ext cx="257016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Equation" r:id="rId3" imgW="1130040" imgH="444240" progId="Equation.3">
                  <p:embed/>
                </p:oleObj>
              </mc:Choice>
              <mc:Fallback>
                <p:oleObj name="Equation" r:id="rId3" imgW="1130040" imgH="444240" progId="Equation.3">
                  <p:embed/>
                  <p:pic>
                    <p:nvPicPr>
                      <p:cNvPr id="13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1600201"/>
                        <a:ext cx="2570162" cy="1000125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chemeClr val="accent1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1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1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</a:gradFill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2166910" y="2643182"/>
            <a:ext cx="152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d-ID" sz="2000" dirty="0">
                <a:latin typeface="Times New Roman" pitchFamily="18" charset="0"/>
              </a:rPr>
              <a:t>Dimana:</a:t>
            </a:r>
            <a:endParaRPr lang="en-US" sz="2000" dirty="0">
              <a:latin typeface="Times New Roman" pitchFamily="18" charset="0"/>
            </a:endParaRP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>
            <p:extLst/>
          </p:nvPr>
        </p:nvGraphicFramePr>
        <p:xfrm>
          <a:off x="2149475" y="3349626"/>
          <a:ext cx="196215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Equation" r:id="rId5" imgW="1307880" imgH="241200" progId="Equation.3">
                  <p:embed/>
                </p:oleObj>
              </mc:Choice>
              <mc:Fallback>
                <p:oleObj name="Equation" r:id="rId5" imgW="1307880" imgH="241200" progId="Equation.3">
                  <p:embed/>
                  <p:pic>
                    <p:nvPicPr>
                      <p:cNvPr id="13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3349626"/>
                        <a:ext cx="1962150" cy="35242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>
            <p:extLst/>
          </p:nvPr>
        </p:nvGraphicFramePr>
        <p:xfrm>
          <a:off x="1991544" y="4023792"/>
          <a:ext cx="23383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Equation" r:id="rId7" imgW="1587240" imgH="228600" progId="Equation.3">
                  <p:embed/>
                </p:oleObj>
              </mc:Choice>
              <mc:Fallback>
                <p:oleObj name="Equation" r:id="rId7" imgW="1587240" imgH="228600" progId="Equation.3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4023792"/>
                        <a:ext cx="2338388" cy="34131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371948" y="2600302"/>
            <a:ext cx="6215074" cy="4214842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1802048" y="5280739"/>
            <a:ext cx="243973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 err="1">
                <a:latin typeface="Times New Roman" pitchFamily="18" charset="0"/>
              </a:rPr>
              <a:t>Nilai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ini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biasanya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sudah</a:t>
            </a:r>
            <a:r>
              <a:rPr lang="en-US" sz="2000" dirty="0">
                <a:latin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</a:rPr>
              <a:t>ada</a:t>
            </a:r>
            <a:r>
              <a:rPr lang="en-US" sz="2000" dirty="0">
                <a:latin typeface="Times New Roman" pitchFamily="18" charset="0"/>
              </a:rPr>
              <a:t> di data sheet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2509838" y="4730406"/>
            <a:ext cx="273794" cy="550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1991544" y="3789041"/>
            <a:ext cx="2380404" cy="8029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8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1844824"/>
            <a:ext cx="7028564" cy="5013176"/>
          </a:xfrm>
          <a:prstGeom prst="rect">
            <a:avLst/>
          </a:prstGeom>
          <a:noFill/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6747774" y="1810744"/>
            <a:ext cx="3729608" cy="1785380"/>
            <a:chOff x="3168" y="576"/>
            <a:chExt cx="2304" cy="1296"/>
          </a:xfrm>
        </p:grpSpPr>
        <p:sp>
          <p:nvSpPr>
            <p:cNvPr id="7" name="Rectangle 14"/>
            <p:cNvSpPr>
              <a:spLocks noChangeArrowheads="1"/>
            </p:cNvSpPr>
            <p:nvPr/>
          </p:nvSpPr>
          <p:spPr bwMode="auto">
            <a:xfrm>
              <a:off x="3168" y="576"/>
              <a:ext cx="2304" cy="1296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id-ID"/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3264" y="672"/>
              <a:ext cx="1920" cy="670"/>
            </a:xfrm>
            <a:prstGeom prst="rect">
              <a:avLst/>
            </a:prstGeom>
            <a:ln>
              <a:solidFill>
                <a:schemeClr val="bg1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r>
                <a:rPr lang="en-US" altLang="en-US" b="1" dirty="0" err="1">
                  <a:latin typeface="Times New Roman" pitchFamily="18" charset="0"/>
                </a:rPr>
                <a:t>Dampak</a:t>
              </a:r>
              <a:r>
                <a:rPr lang="en-US" altLang="en-US" b="1" dirty="0">
                  <a:latin typeface="Times New Roman" pitchFamily="18" charset="0"/>
                </a:rPr>
                <a:t> v</a:t>
              </a:r>
              <a:r>
                <a:rPr lang="id-ID" altLang="en-US" b="1" dirty="0">
                  <a:latin typeface="Times New Roman" pitchFamily="18" charset="0"/>
                </a:rPr>
                <a:t>ariasi </a:t>
              </a:r>
              <a:r>
                <a:rPr lang="en-US" altLang="en-US" b="1" dirty="0" err="1">
                  <a:latin typeface="Times New Roman" pitchFamily="18" charset="0"/>
                </a:rPr>
                <a:t>h</a:t>
              </a:r>
              <a:r>
                <a:rPr lang="en-US" altLang="en-US" b="1" baseline="-25000" dirty="0" err="1">
                  <a:latin typeface="Times New Roman" pitchFamily="18" charset="0"/>
                </a:rPr>
                <a:t>fe</a:t>
              </a:r>
              <a:r>
                <a:rPr lang="en-US" altLang="en-US" b="1" dirty="0">
                  <a:latin typeface="Times New Roman" pitchFamily="18" charset="0"/>
                </a:rPr>
                <a:t> (</a:t>
              </a:r>
              <a:r>
                <a:rPr lang="id-ID" altLang="en-US" b="1" dirty="0">
                  <a:latin typeface="Times New Roman" pitchFamily="18" charset="0"/>
                </a:rPr>
                <a:t>atau</a:t>
              </a:r>
              <a:r>
                <a:rPr lang="en-US" altLang="en-US" b="1" dirty="0">
                  <a:latin typeface="Times New Roman" pitchFamily="18" charset="0"/>
                </a:rPr>
                <a:t> </a:t>
              </a:r>
              <a:r>
                <a:rPr lang="en-US" altLang="en-US" b="1" dirty="0">
                  <a:latin typeface="Times New Roman" pitchFamily="18" charset="0"/>
                  <a:sym typeface="Symbol" pitchFamily="18" charset="2"/>
                </a:rPr>
                <a:t></a:t>
              </a:r>
              <a:r>
                <a:rPr lang="en-US" altLang="en-US" b="1" dirty="0">
                  <a:latin typeface="Times New Roman" pitchFamily="18" charset="0"/>
                </a:rPr>
                <a:t>) </a:t>
              </a:r>
              <a:r>
                <a:rPr lang="id-ID" altLang="en-US" b="1" dirty="0">
                  <a:latin typeface="Times New Roman" pitchFamily="18" charset="0"/>
                </a:rPr>
                <a:t>sebuah</a:t>
              </a:r>
              <a:r>
                <a:rPr lang="en-US" altLang="en-US" b="1" dirty="0">
                  <a:latin typeface="Times New Roman" pitchFamily="18" charset="0"/>
                </a:rPr>
                <a:t> transistor</a:t>
              </a:r>
              <a:r>
                <a:rPr lang="id-ID" altLang="en-US" b="1" dirty="0">
                  <a:latin typeface="Times New Roman" pitchFamily="18" charset="0"/>
                </a:rPr>
                <a:t> terhadap</a:t>
              </a:r>
              <a:r>
                <a:rPr lang="en-US" altLang="en-US" b="1" dirty="0">
                  <a:latin typeface="Times New Roman" pitchFamily="18" charset="0"/>
                </a:rPr>
                <a:t> </a:t>
              </a:r>
              <a:r>
                <a:rPr lang="en-US" altLang="en-US" b="1" dirty="0" err="1">
                  <a:latin typeface="Times New Roman" pitchFamily="18" charset="0"/>
                </a:rPr>
                <a:t>fre</a:t>
              </a:r>
              <a:r>
                <a:rPr lang="id-ID" altLang="en-US" b="1" dirty="0">
                  <a:latin typeface="Times New Roman" pitchFamily="18" charset="0"/>
                </a:rPr>
                <a:t>k</a:t>
              </a:r>
              <a:r>
                <a:rPr lang="en-US" altLang="en-US" b="1" dirty="0" err="1">
                  <a:latin typeface="Times New Roman" pitchFamily="18" charset="0"/>
                </a:rPr>
                <a:t>uensi</a:t>
              </a:r>
              <a:r>
                <a:rPr lang="id-ID" altLang="en-US" b="1" dirty="0">
                  <a:latin typeface="Times New Roman" pitchFamily="18" charset="0"/>
                </a:rPr>
                <a:t> kerja penguat :</a:t>
              </a:r>
              <a:endParaRPr lang="en-US" altLang="en-US" b="1" dirty="0">
                <a:solidFill>
                  <a:schemeClr val="accent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9" name="Object 13"/>
            <p:cNvGraphicFramePr>
              <a:graphicFrameLocks noChangeAspect="1"/>
            </p:cNvGraphicFramePr>
            <p:nvPr>
              <p:extLst/>
            </p:nvPr>
          </p:nvGraphicFramePr>
          <p:xfrm>
            <a:off x="3457" y="1330"/>
            <a:ext cx="1512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7" name="Equation" r:id="rId4" imgW="1562040" imgH="431640" progId="Equation.3">
                    <p:embed/>
                  </p:oleObj>
                </mc:Choice>
                <mc:Fallback>
                  <p:oleObj name="Equation" r:id="rId4" imgW="1562040" imgH="431640" progId="Equation.3">
                    <p:embed/>
                    <p:pic>
                      <p:nvPicPr>
                        <p:cNvPr id="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1330"/>
                          <a:ext cx="1512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7392145" y="4365104"/>
            <a:ext cx="2952328" cy="523220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en-US" sz="1400" b="1" dirty="0" err="1">
                <a:solidFill>
                  <a:schemeClr val="tx1"/>
                </a:solidFill>
                <a:latin typeface="Times New Roman" pitchFamily="18" charset="0"/>
              </a:rPr>
              <a:t>dapat</a:t>
            </a:r>
            <a:r>
              <a:rPr lang="en-US" altLang="en-US" sz="14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altLang="en-US" sz="1400" b="1" dirty="0" err="1">
                <a:solidFill>
                  <a:schemeClr val="tx1"/>
                </a:solidFill>
                <a:latin typeface="Times New Roman" pitchFamily="18" charset="0"/>
              </a:rPr>
              <a:t>mempersempit</a:t>
            </a:r>
            <a:r>
              <a:rPr lang="en-US" altLang="en-US" sz="14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altLang="en-US" sz="1400" b="1" dirty="0" err="1">
                <a:solidFill>
                  <a:schemeClr val="tx1"/>
                </a:solidFill>
                <a:latin typeface="Times New Roman" pitchFamily="18" charset="0"/>
              </a:rPr>
              <a:t>atau</a:t>
            </a:r>
            <a:r>
              <a:rPr lang="en-US" altLang="en-US" sz="14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altLang="en-US" sz="1400" b="1" dirty="0" err="1">
                <a:solidFill>
                  <a:schemeClr val="tx1"/>
                </a:solidFill>
                <a:latin typeface="Times New Roman" pitchFamily="18" charset="0"/>
              </a:rPr>
              <a:t>memperlebar</a:t>
            </a:r>
            <a:r>
              <a:rPr lang="en-US" altLang="en-US" sz="1400" b="1" dirty="0">
                <a:solidFill>
                  <a:schemeClr val="tx1"/>
                </a:solidFill>
                <a:latin typeface="Times New Roman" pitchFamily="18" charset="0"/>
              </a:rPr>
              <a:t> bandwidth </a:t>
            </a:r>
            <a:r>
              <a:rPr lang="en-US" altLang="en-US" sz="1400" b="1" dirty="0" err="1">
                <a:solidFill>
                  <a:schemeClr val="tx1"/>
                </a:solidFill>
                <a:latin typeface="Times New Roman" pitchFamily="18" charset="0"/>
              </a:rPr>
              <a:t>penguat</a:t>
            </a:r>
            <a:r>
              <a:rPr lang="en-US" altLang="en-US" sz="14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2" name="Down Arrow 1"/>
          <p:cNvSpPr/>
          <p:nvPr/>
        </p:nvSpPr>
        <p:spPr>
          <a:xfrm>
            <a:off x="8392852" y="3773926"/>
            <a:ext cx="439452" cy="51917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19536" y="655043"/>
            <a:ext cx="8229600" cy="1066800"/>
          </a:xfrm>
        </p:spPr>
        <p:txBody>
          <a:bodyPr/>
          <a:lstStyle/>
          <a:p>
            <a:r>
              <a:rPr lang="id-ID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Efek Nilai </a:t>
            </a:r>
            <a:r>
              <a:rPr lang="en-US" altLang="en-US" b="1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h</a:t>
            </a:r>
            <a:r>
              <a:rPr lang="en-US" altLang="en-US" b="1" i="1" baseline="-25000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fe</a:t>
            </a:r>
            <a:r>
              <a:rPr lang="en-US" altLang="en-US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(</a:t>
            </a:r>
            <a:r>
              <a:rPr lang="id-ID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atau</a:t>
            </a:r>
            <a:r>
              <a:rPr lang="en-US" altLang="en-US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 </a:t>
            </a:r>
            <a:r>
              <a:rPr lang="en-US" altLang="en-US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sym typeface="Symbol" pitchFamily="18" charset="2"/>
              </a:rPr>
              <a:t></a:t>
            </a:r>
            <a:r>
              <a:rPr lang="en-US" altLang="en-US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31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890378"/>
            <a:ext cx="7776864" cy="341784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628800"/>
            <a:ext cx="6480720" cy="504056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1800" dirty="0"/>
              <a:t>1. </a:t>
            </a:r>
            <a:r>
              <a:rPr lang="en-US" sz="1800" dirty="0" err="1"/>
              <a:t>Perhatikan</a:t>
            </a:r>
            <a:r>
              <a:rPr lang="en-US" sz="1800" dirty="0"/>
              <a:t> </a:t>
            </a:r>
            <a:r>
              <a:rPr lang="en-US" sz="1800" dirty="0" err="1"/>
              <a:t>rangkaian</a:t>
            </a:r>
            <a:r>
              <a:rPr lang="en-US" sz="1800" dirty="0"/>
              <a:t> </a:t>
            </a:r>
            <a:r>
              <a:rPr lang="en-US" sz="1800" dirty="0" err="1"/>
              <a:t>penguat</a:t>
            </a:r>
            <a:r>
              <a:rPr lang="en-US" sz="1800" dirty="0"/>
              <a:t> BJT </a:t>
            </a:r>
            <a:r>
              <a:rPr lang="en-US" sz="1800" dirty="0" err="1"/>
              <a:t>berikut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2177113"/>
            <a:ext cx="4896545" cy="32546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643" y="2794021"/>
            <a:ext cx="4063996" cy="1211043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278294" y="2347724"/>
            <a:ext cx="3672408" cy="44629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n-US" sz="1600" dirty="0" err="1"/>
              <a:t>diketahui</a:t>
            </a:r>
            <a:r>
              <a:rPr lang="en-US" sz="1600" dirty="0"/>
              <a:t> parameter </a:t>
            </a:r>
            <a:r>
              <a:rPr lang="en-US" sz="1600" dirty="0" err="1"/>
              <a:t>penguat</a:t>
            </a:r>
            <a:r>
              <a:rPr lang="en-US" sz="1600" dirty="0"/>
              <a:t> </a:t>
            </a:r>
            <a:r>
              <a:rPr lang="en-US" sz="1600" dirty="0" err="1"/>
              <a:t>sbb</a:t>
            </a:r>
            <a:r>
              <a:rPr lang="en-US" sz="1600" dirty="0"/>
              <a:t>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297183" y="4221088"/>
            <a:ext cx="4104456" cy="165929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None/>
            </a:pPr>
            <a:r>
              <a:rPr lang="en-US" sz="1600" dirty="0" err="1"/>
              <a:t>Tentukan</a:t>
            </a:r>
            <a:r>
              <a:rPr lang="en-US" sz="1600" dirty="0"/>
              <a:t> </a:t>
            </a:r>
            <a:r>
              <a:rPr lang="en-US" sz="1600" dirty="0" err="1"/>
              <a:t>respon</a:t>
            </a:r>
            <a:r>
              <a:rPr lang="en-US" sz="1600" dirty="0"/>
              <a:t> </a:t>
            </a:r>
            <a:r>
              <a:rPr lang="en-US" sz="1600" dirty="0" err="1"/>
              <a:t>penguatan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b="1" dirty="0"/>
              <a:t>  </a:t>
            </a:r>
            <a:r>
              <a:rPr lang="en-US" sz="1600" dirty="0" err="1"/>
              <a:t>frekuensi</a:t>
            </a:r>
            <a:r>
              <a:rPr lang="en-US" sz="1600" dirty="0"/>
              <a:t> </a:t>
            </a:r>
            <a:r>
              <a:rPr lang="en-US" sz="1600" dirty="0" err="1"/>
              <a:t>bawah</a:t>
            </a:r>
            <a:r>
              <a:rPr lang="en-US" sz="1600" dirty="0"/>
              <a:t> di </a:t>
            </a:r>
            <a:r>
              <a:rPr lang="en-US" sz="1600" dirty="0" err="1"/>
              <a:t>bagian</a:t>
            </a:r>
            <a:r>
              <a:rPr lang="en-US" sz="1600" dirty="0"/>
              <a:t> :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sisi</a:t>
            </a:r>
            <a:r>
              <a:rPr lang="en-US" sz="1600" dirty="0"/>
              <a:t> input-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sisi</a:t>
            </a:r>
            <a:r>
              <a:rPr lang="en-US" sz="1600" dirty="0"/>
              <a:t> output-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</a:p>
          <a:p>
            <a:pPr marL="452628" indent="-342900">
              <a:buFont typeface="Georgia"/>
              <a:buAutoNum type="alphaLcPeriod"/>
            </a:pPr>
            <a:r>
              <a:rPr lang="en-US" sz="1600" dirty="0" err="1"/>
              <a:t>sisi</a:t>
            </a:r>
            <a:r>
              <a:rPr lang="en-US" sz="1600" dirty="0"/>
              <a:t> bypass-</a:t>
            </a:r>
            <a:r>
              <a:rPr lang="en-US" sz="1600" dirty="0" err="1"/>
              <a:t>nya</a:t>
            </a:r>
            <a:r>
              <a:rPr lang="en-US" sz="16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128622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836712"/>
            <a:ext cx="8229600" cy="1066800"/>
          </a:xfrm>
        </p:spPr>
        <p:txBody>
          <a:bodyPr>
            <a:normAutofit/>
          </a:bodyPr>
          <a:lstStyle/>
          <a:p>
            <a:r>
              <a:rPr lang="en-US" sz="2400" dirty="0"/>
              <a:t>2. </a:t>
            </a:r>
            <a:r>
              <a:rPr lang="en-US" sz="2400" dirty="0" err="1"/>
              <a:t>Simulasikan</a:t>
            </a:r>
            <a:r>
              <a:rPr lang="en-US" sz="2400" dirty="0"/>
              <a:t>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penguat</a:t>
            </a:r>
            <a:r>
              <a:rPr lang="en-US" sz="2400" dirty="0"/>
              <a:t> BJT </a:t>
            </a:r>
            <a:r>
              <a:rPr lang="en-US" sz="2400" dirty="0" err="1"/>
              <a:t>berikut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gambarkan</a:t>
            </a:r>
            <a:r>
              <a:rPr lang="en-US" sz="2400" dirty="0"/>
              <a:t> </a:t>
            </a:r>
            <a:r>
              <a:rPr lang="en-US" sz="2400" dirty="0" err="1"/>
              <a:t>kurva</a:t>
            </a:r>
            <a:r>
              <a:rPr lang="en-US" sz="2400" dirty="0"/>
              <a:t> </a:t>
            </a:r>
            <a:r>
              <a:rPr lang="en-US" sz="2400" dirty="0" err="1"/>
              <a:t>tanggapan</a:t>
            </a:r>
            <a:r>
              <a:rPr lang="en-US" sz="2400" dirty="0"/>
              <a:t> </a:t>
            </a:r>
            <a:r>
              <a:rPr lang="en-US" sz="2400" dirty="0" err="1"/>
              <a:t>frekuensinya</a:t>
            </a:r>
            <a:endParaRPr lang="en-US" sz="24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8294" y="2249488"/>
            <a:ext cx="6155412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49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310-956B-4986-B649-6C84FE0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43" y="2286000"/>
            <a:ext cx="10018713" cy="1752599"/>
          </a:xfrm>
        </p:spPr>
        <p:txBody>
          <a:bodyPr>
            <a:normAutofit/>
          </a:bodyPr>
          <a:lstStyle/>
          <a:p>
            <a:r>
              <a:rPr lang="en-IN" sz="6600" dirty="0">
                <a:solidFill>
                  <a:schemeClr val="accent4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91008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</TotalTime>
  <Words>404</Words>
  <Application>Microsoft Office PowerPoint</Application>
  <PresentationFormat>Widescreen</PresentationFormat>
  <Paragraphs>76</Paragraphs>
  <Slides>19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맑은 고딕</vt:lpstr>
      <vt:lpstr>Arial</vt:lpstr>
      <vt:lpstr>Arial Narrow</vt:lpstr>
      <vt:lpstr>Calibri</vt:lpstr>
      <vt:lpstr>Calibri Light</vt:lpstr>
      <vt:lpstr>Cambria Math</vt:lpstr>
      <vt:lpstr>Georgia</vt:lpstr>
      <vt:lpstr>Symbol</vt:lpstr>
      <vt:lpstr>Times</vt:lpstr>
      <vt:lpstr>Times New Roman</vt:lpstr>
      <vt:lpstr>Wingdings</vt:lpstr>
      <vt:lpstr>Office Theme</vt:lpstr>
      <vt:lpstr>Equation</vt:lpstr>
      <vt:lpstr>RESPON FREKUENSI PENGUAT TRANSISTOR </vt:lpstr>
      <vt:lpstr>Outlines</vt:lpstr>
      <vt:lpstr>Penguatan terhadap frek</vt:lpstr>
      <vt:lpstr>PowerPoint Presentation</vt:lpstr>
      <vt:lpstr>Penguatan Vs Frekuensi</vt:lpstr>
      <vt:lpstr>PowerPoint Presentation</vt:lpstr>
      <vt:lpstr>PowerPoint Presentation</vt:lpstr>
      <vt:lpstr>Pengaruh Kapasitor pada Penguat </vt:lpstr>
      <vt:lpstr>PowerPoint Presentation</vt:lpstr>
      <vt:lpstr>Respon penguatan di sisi frekuensi bawah  </vt:lpstr>
      <vt:lpstr>PowerPoint Presentation</vt:lpstr>
      <vt:lpstr>PowerPoint Presentation</vt:lpstr>
      <vt:lpstr>IV. Respon penguatan di sisi fekuensi atas</vt:lpstr>
      <vt:lpstr>PowerPoint Presentation</vt:lpstr>
      <vt:lpstr>PowerPoint Presentation</vt:lpstr>
      <vt:lpstr>Efek Nilai hfe (atau ) </vt:lpstr>
      <vt:lpstr>HW</vt:lpstr>
      <vt:lpstr>2. Simulasikan rangkaian penguat BJT berikut ini dan gambarkan kurva tanggapan frekuensinya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 Uncertainty Estimation in Medical Image Deep Learning w/ Dr. Brattain</dc:title>
  <dc:creator>pds</dc:creator>
  <cp:lastModifiedBy>Gde</cp:lastModifiedBy>
  <cp:revision>29</cp:revision>
  <dcterms:created xsi:type="dcterms:W3CDTF">2024-07-11T17:06:45Z</dcterms:created>
  <dcterms:modified xsi:type="dcterms:W3CDTF">2025-04-22T03:28:44Z</dcterms:modified>
</cp:coreProperties>
</file>