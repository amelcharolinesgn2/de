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4" r:id="rId2"/>
    <p:sldId id="279" r:id="rId3"/>
    <p:sldId id="291"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278"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59" autoAdjust="0"/>
    <p:restoredTop sz="94926" autoAdjust="0"/>
  </p:normalViewPr>
  <p:slideViewPr>
    <p:cSldViewPr snapToGrid="0">
      <p:cViewPr varScale="1">
        <p:scale>
          <a:sx n="59" d="100"/>
          <a:sy n="59" d="100"/>
        </p:scale>
        <p:origin x="102"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custT="1"/>
      <dgm:spPr/>
      <dgm:t>
        <a:bodyPr/>
        <a:lstStyle/>
        <a:p>
          <a:pPr algn="l" rtl="0"/>
          <a:r>
            <a:rPr lang="en-US" sz="2600" b="1" dirty="0" smtClean="0"/>
            <a:t>11_9. </a:t>
          </a:r>
          <a:r>
            <a:rPr lang="en-US" sz="4000" dirty="0" err="1" smtClean="0"/>
            <a:t>Multivibrator</a:t>
          </a:r>
          <a:endParaRPr lang="en-US" sz="4000"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custT="1"/>
      <dgm:spPr/>
      <dgm:t>
        <a:bodyPr/>
        <a:lstStyle/>
        <a:p>
          <a:pPr algn="l" rtl="0"/>
          <a:r>
            <a:rPr lang="en-US" sz="4000" dirty="0" err="1" smtClean="0"/>
            <a:t>Multivibrator</a:t>
          </a:r>
          <a:endParaRPr lang="en-US" sz="4000"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simple5" qsCatId="simple" csTypeId="urn:microsoft.com/office/officeart/2005/8/colors/accent2_2" csCatId="accent2" phldr="1"/>
      <dgm:spPr/>
      <dgm:t>
        <a:bodyPr/>
        <a:lstStyle/>
        <a:p>
          <a:endParaRPr lang="en-US"/>
        </a:p>
      </dgm:t>
    </dgm:pt>
    <dgm:pt modelId="{D8FDBA16-E463-462A-B396-7080D4852B10}">
      <dgm:prSet/>
      <dgm:spPr/>
      <dgm:t>
        <a:bodyPr/>
        <a:lstStyle/>
        <a:p>
          <a:pPr rtl="0"/>
          <a:r>
            <a:rPr lang="en-US" b="1" dirty="0" smtClean="0"/>
            <a:t>See the next</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b="1" kern="1200" dirty="0" smtClean="0"/>
            <a:t>11_9. </a:t>
          </a:r>
          <a:r>
            <a:rPr lang="en-US" sz="4000" kern="1200" dirty="0" err="1" smtClean="0"/>
            <a:t>Multivibrator</a:t>
          </a:r>
          <a:endParaRPr lang="en-US" sz="4000" kern="1200" dirty="0"/>
        </a:p>
      </dsp:txBody>
      <dsp:txXfrm>
        <a:off x="457199" y="0"/>
        <a:ext cx="8255379" cy="914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kern="1200" dirty="0" err="1" smtClean="0"/>
            <a:t>Multivibrator</a:t>
          </a:r>
          <a:endParaRPr lang="en-US" sz="4000" kern="1200" dirty="0"/>
        </a:p>
      </dsp:txBody>
      <dsp:txXfrm>
        <a:off x="457199" y="0"/>
        <a:ext cx="8255379" cy="914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DAA3CF-D6D9-4A12-B5E8-9D3BDC3303B6}">
      <dsp:nvSpPr>
        <dsp:cNvPr id="0" name=""/>
        <dsp:cNvSpPr/>
      </dsp:nvSpPr>
      <dsp:spPr>
        <a:xfrm>
          <a:off x="457199" y="0"/>
          <a:ext cx="7772400"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US" sz="4200" b="1" kern="1200" dirty="0" smtClean="0"/>
            <a:t>See the next</a:t>
          </a:r>
          <a:endParaRPr lang="en-US" sz="4200" kern="1200" dirty="0"/>
        </a:p>
      </dsp:txBody>
      <dsp:txXfrm>
        <a:off x="457199" y="0"/>
        <a:ext cx="7772400" cy="91439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p>
          <a:p>
            <a:endParaRPr lang="en-US" dirty="0" smtClean="0"/>
          </a:p>
          <a:p>
            <a:r>
              <a:rPr lang="en-US" dirty="0" smtClean="0"/>
              <a:t>https://ocw.mit.edu/ans7870/RES/RES.6-010/MITRES_6-010S13_comchaptrs.pdf</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https://unacademy.com/lesson/low-frequency-analysis-of-bjt-amplifier/5TUKWO6Z</a:t>
            </a:r>
          </a:p>
          <a:p>
            <a:r>
              <a:rPr lang="en-US" dirty="0" smtClean="0"/>
              <a:t>https://ocw.mit.edu/courses/6-01sc-introduction-to-electrical-engineering-and-computer-science-i-spring-2011/resources/op-amps/</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2</a:t>
            </a:fld>
            <a:endParaRPr lang="en-US"/>
          </a:p>
        </p:txBody>
      </p:sp>
    </p:spTree>
    <p:extLst>
      <p:ext uri="{BB962C8B-B14F-4D97-AF65-F5344CB8AC3E}">
        <p14:creationId xmlns:p14="http://schemas.microsoft.com/office/powerpoint/2010/main" val="3012341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601C10-E4C6-4CB6-A2CE-ACFBC973B43E}" type="slidenum">
              <a:rPr lang="id-ID" altLang="en-US" smtClean="0"/>
              <a:pPr/>
              <a:t>14</a:t>
            </a:fld>
            <a:endParaRPr lang="id-ID" altLang="en-US"/>
          </a:p>
        </p:txBody>
      </p:sp>
    </p:spTree>
    <p:extLst>
      <p:ext uri="{BB962C8B-B14F-4D97-AF65-F5344CB8AC3E}">
        <p14:creationId xmlns:p14="http://schemas.microsoft.com/office/powerpoint/2010/main" val="3445756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31</a:t>
            </a:fld>
            <a:endParaRPr lang="en-US"/>
          </a:p>
        </p:txBody>
      </p:sp>
    </p:spTree>
    <p:extLst>
      <p:ext uri="{BB962C8B-B14F-4D97-AF65-F5344CB8AC3E}">
        <p14:creationId xmlns:p14="http://schemas.microsoft.com/office/powerpoint/2010/main" val="4087328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https://ocw.mit.edu/courses/6-720j-integrated-microelectronic-devices-spring-2007/pages/lecture-notes/</a:t>
            </a:r>
          </a:p>
          <a:p>
            <a:endParaRPr lang="en-US" dirty="0" smtClean="0"/>
          </a:p>
          <a:p>
            <a:r>
              <a:rPr lang="en-US" dirty="0" smtClean="0"/>
              <a:t>https://ocw.mit.edu/courses/6-01sc-introduction-to-electrical-engineering-and-computer-science-i-spring-2011/resources/op-amps/</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32</a:t>
            </a:fld>
            <a:endParaRPr lang="en-US"/>
          </a:p>
        </p:txBody>
      </p:sp>
    </p:spTree>
    <p:extLst>
      <p:ext uri="{BB962C8B-B14F-4D97-AF65-F5344CB8AC3E}">
        <p14:creationId xmlns:p14="http://schemas.microsoft.com/office/powerpoint/2010/main" val="1450862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hyperlink" Target="../../S1_17_18/simulasi/Astable%20Multivibrator%201.asc"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Download/74HCT_v_test/74HCT_Example_v.asc" TargetMode="Externa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image" Target="../media/image6.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simulasi/Monostable%20555.asc" TargetMode="External"/><Relationship Id="rId3" Type="http://schemas.openxmlformats.org/officeDocument/2006/relationships/image" Target="../media/image11.JPG"/><Relationship Id="rId7" Type="http://schemas.openxmlformats.org/officeDocument/2006/relationships/image" Target="../media/image9.w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hyperlink" Target="../simulasi/Monostable%20LTC6752_F12.asc" TargetMode="External"/><Relationship Id="rId10" Type="http://schemas.openxmlformats.org/officeDocument/2006/relationships/image" Target="../media/image10.wmf"/><Relationship Id="rId4" Type="http://schemas.openxmlformats.org/officeDocument/2006/relationships/image" Target="../media/image12.png"/><Relationship Id="rId9"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5.bin"/><Relationship Id="rId4" Type="http://schemas.openxmlformats.org/officeDocument/2006/relationships/hyperlink" Target="../simulasi/Bistable%20Multivibrator.asc" TargetMode="External"/></Relationships>
</file>

<file path=ppt/slides/_rels/slide1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7.xml"/><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19.w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2.wmf"/><Relationship Id="rId4" Type="http://schemas.openxmlformats.org/officeDocument/2006/relationships/oleObject" Target="../embeddings/oleObject8.bin"/></Relationships>
</file>

<file path=ppt/slides/_rels/slide2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a:xfrm>
            <a:off x="5038473" y="1264112"/>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234110" y="395322"/>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aphicFrame>
        <p:nvGraphicFramePr>
          <p:cNvPr id="21" name="Diagram 20"/>
          <p:cNvGraphicFramePr/>
          <p:nvPr>
            <p:extLst>
              <p:ext uri="{D42A27DB-BD31-4B8C-83A1-F6EECF244321}">
                <p14:modId xmlns:p14="http://schemas.microsoft.com/office/powerpoint/2010/main" val="2530572760"/>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Pie 26"/>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err="1"/>
              <a:t>Multivibrator</a:t>
            </a:r>
            <a:endParaRPr lang="en-US" dirty="0"/>
          </a:p>
        </p:txBody>
      </p:sp>
      <p:sp>
        <p:nvSpPr>
          <p:cNvPr id="4" name="Content Placeholder 3"/>
          <p:cNvSpPr>
            <a:spLocks noGrp="1"/>
          </p:cNvSpPr>
          <p:nvPr>
            <p:ph idx="1"/>
          </p:nvPr>
        </p:nvSpPr>
        <p:spPr/>
        <p:txBody>
          <a:bodyPr/>
          <a:lstStyle/>
          <a:p>
            <a:pPr marL="0" indent="0">
              <a:buNone/>
            </a:pPr>
            <a:r>
              <a:rPr lang="en-US" dirty="0" err="1" smtClean="0"/>
              <a:t>Capaian</a:t>
            </a:r>
            <a:r>
              <a:rPr lang="en-US" dirty="0" smtClean="0"/>
              <a:t> : </a:t>
            </a:r>
          </a:p>
          <a:p>
            <a:r>
              <a:rPr lang="en-US" dirty="0"/>
              <a:t> </a:t>
            </a:r>
            <a:r>
              <a:rPr lang="en-US" dirty="0" err="1" smtClean="0"/>
              <a:t>Memahami</a:t>
            </a:r>
            <a:r>
              <a:rPr lang="en-US" dirty="0" smtClean="0"/>
              <a:t> </a:t>
            </a:r>
            <a:r>
              <a:rPr lang="en-US" dirty="0" err="1"/>
              <a:t>multivibrator</a:t>
            </a:r>
            <a:r>
              <a:rPr lang="en-US" dirty="0"/>
              <a:t> </a:t>
            </a:r>
            <a:r>
              <a:rPr lang="en-US" dirty="0" err="1"/>
              <a:t>sebagai</a:t>
            </a:r>
            <a:r>
              <a:rPr lang="en-US" dirty="0"/>
              <a:t> </a:t>
            </a:r>
            <a:r>
              <a:rPr lang="en-US" dirty="0" err="1"/>
              <a:t>osilator</a:t>
            </a:r>
            <a:r>
              <a:rPr lang="en-US" dirty="0"/>
              <a:t>, </a:t>
            </a:r>
            <a:r>
              <a:rPr lang="en-US" dirty="0" err="1"/>
              <a:t>yaitu</a:t>
            </a:r>
            <a:r>
              <a:rPr lang="en-US" dirty="0"/>
              <a:t> </a:t>
            </a:r>
            <a:r>
              <a:rPr lang="en-US" dirty="0" err="1"/>
              <a:t>sebagai</a:t>
            </a:r>
            <a:r>
              <a:rPr lang="en-US" dirty="0"/>
              <a:t> </a:t>
            </a:r>
            <a:r>
              <a:rPr lang="en-US" dirty="0" err="1"/>
              <a:t>sebuah</a:t>
            </a:r>
            <a:r>
              <a:rPr lang="en-US" dirty="0"/>
              <a:t> </a:t>
            </a:r>
            <a:r>
              <a:rPr lang="en-US" dirty="0" err="1"/>
              <a:t>rangkaian</a:t>
            </a:r>
            <a:r>
              <a:rPr lang="en-US" dirty="0"/>
              <a:t> </a:t>
            </a:r>
            <a:r>
              <a:rPr lang="en-US" dirty="0" err="1"/>
              <a:t>pembangkit</a:t>
            </a:r>
            <a:r>
              <a:rPr lang="en-US" dirty="0"/>
              <a:t> </a:t>
            </a:r>
            <a:r>
              <a:rPr lang="en-US" dirty="0" err="1"/>
              <a:t>sinyal</a:t>
            </a:r>
            <a:r>
              <a:rPr lang="en-US" dirty="0"/>
              <a:t> </a:t>
            </a:r>
            <a:r>
              <a:rPr lang="en-US" dirty="0" err="1"/>
              <a:t>berbentuk</a:t>
            </a:r>
            <a:r>
              <a:rPr lang="en-US" dirty="0"/>
              <a:t> </a:t>
            </a:r>
            <a:r>
              <a:rPr lang="en-US" dirty="0" err="1"/>
              <a:t>gelombang</a:t>
            </a:r>
            <a:r>
              <a:rPr lang="en-US" dirty="0"/>
              <a:t> </a:t>
            </a:r>
            <a:r>
              <a:rPr lang="en-US" dirty="0" err="1"/>
              <a:t>persegi</a:t>
            </a:r>
            <a:endParaRPr lang="en-US" dirty="0"/>
          </a:p>
          <a:p>
            <a:r>
              <a:rPr lang="en-US" dirty="0" err="1"/>
              <a:t>Mengenal</a:t>
            </a:r>
            <a:r>
              <a:rPr lang="en-US" dirty="0"/>
              <a:t> </a:t>
            </a:r>
            <a:r>
              <a:rPr lang="en-US" dirty="0" err="1"/>
              <a:t>berbagai</a:t>
            </a:r>
            <a:r>
              <a:rPr lang="en-US" dirty="0"/>
              <a:t> </a:t>
            </a:r>
            <a:r>
              <a:rPr lang="en-US" dirty="0" err="1"/>
              <a:t>jenis</a:t>
            </a:r>
            <a:r>
              <a:rPr lang="en-US" dirty="0"/>
              <a:t> </a:t>
            </a:r>
            <a:r>
              <a:rPr lang="en-US" dirty="0" err="1"/>
              <a:t>multivibrator</a:t>
            </a:r>
            <a:endParaRPr lang="en-US" dirty="0"/>
          </a:p>
          <a:p>
            <a:pPr>
              <a:buFont typeface="Wingdings" panose="05000000000000000000" pitchFamily="2" charset="2"/>
              <a:buChar char="q"/>
            </a:pPr>
            <a:endParaRPr lang="en-US" dirty="0"/>
          </a:p>
        </p:txBody>
      </p:sp>
      <p:sp>
        <p:nvSpPr>
          <p:cNvPr id="6" name="Rectangle 5"/>
          <p:cNvSpPr/>
          <p:nvPr/>
        </p:nvSpPr>
        <p:spPr>
          <a:xfrm>
            <a:off x="87086" y="5850235"/>
            <a:ext cx="11266714" cy="646331"/>
          </a:xfrm>
          <a:prstGeom prst="rect">
            <a:avLst/>
          </a:prstGeom>
        </p:spPr>
        <p:txBody>
          <a:bodyPr wrap="square">
            <a:spAutoFit/>
          </a:bodyPr>
          <a:lstStyle/>
          <a:p>
            <a:r>
              <a:rPr lang="en-US" dirty="0"/>
              <a:t>https://ocw.mit.edu/courses/6-01sc-introduction-to-electrical-engineering-and-computer-science-i-spring-2011/resources/op-amps/</a:t>
            </a:r>
          </a:p>
        </p:txBody>
      </p:sp>
      <p:sp>
        <p:nvSpPr>
          <p:cNvPr id="3" name="Rectangle 2"/>
          <p:cNvSpPr/>
          <p:nvPr/>
        </p:nvSpPr>
        <p:spPr>
          <a:xfrm>
            <a:off x="1823357" y="3817008"/>
            <a:ext cx="6096000" cy="1477328"/>
          </a:xfrm>
          <a:prstGeom prst="rect">
            <a:avLst/>
          </a:prstGeom>
        </p:spPr>
        <p:txBody>
          <a:bodyPr>
            <a:spAutoFit/>
          </a:bodyPr>
          <a:lstStyle/>
          <a:p>
            <a:r>
              <a:rPr lang="en-US" dirty="0" err="1"/>
              <a:t>Rangkaian</a:t>
            </a:r>
            <a:r>
              <a:rPr lang="en-US" dirty="0"/>
              <a:t> </a:t>
            </a:r>
            <a:r>
              <a:rPr lang="en-US" dirty="0" err="1"/>
              <a:t>dasar</a:t>
            </a:r>
            <a:r>
              <a:rPr lang="en-US" dirty="0"/>
              <a:t> </a:t>
            </a:r>
            <a:r>
              <a:rPr lang="en-US" dirty="0" err="1"/>
              <a:t>multivibrator</a:t>
            </a:r>
            <a:endParaRPr lang="en-US" dirty="0"/>
          </a:p>
          <a:p>
            <a:r>
              <a:rPr lang="en-US" dirty="0"/>
              <a:t>Schmitt Trigger</a:t>
            </a:r>
          </a:p>
          <a:p>
            <a:r>
              <a:rPr lang="en-US" dirty="0" err="1"/>
              <a:t>Multivibrator</a:t>
            </a:r>
            <a:r>
              <a:rPr lang="en-US" dirty="0"/>
              <a:t> </a:t>
            </a:r>
            <a:r>
              <a:rPr lang="en-US" dirty="0" err="1"/>
              <a:t>astabil</a:t>
            </a:r>
            <a:endParaRPr lang="en-US" dirty="0"/>
          </a:p>
          <a:p>
            <a:r>
              <a:rPr lang="en-US" dirty="0" err="1"/>
              <a:t>Multivibrator</a:t>
            </a:r>
            <a:r>
              <a:rPr lang="en-US" dirty="0"/>
              <a:t> </a:t>
            </a:r>
            <a:r>
              <a:rPr lang="en-US" dirty="0" err="1"/>
              <a:t>monostabil</a:t>
            </a:r>
            <a:endParaRPr lang="en-US" dirty="0"/>
          </a:p>
          <a:p>
            <a:r>
              <a:rPr lang="en-US" dirty="0" err="1"/>
              <a:t>Multivibrator</a:t>
            </a:r>
            <a:r>
              <a:rPr lang="en-US" dirty="0"/>
              <a:t> </a:t>
            </a:r>
            <a:r>
              <a:rPr lang="en-US" dirty="0" err="1"/>
              <a:t>bistabil</a:t>
            </a:r>
            <a:endParaRPr lang="en-US" dirty="0"/>
          </a:p>
        </p:txBody>
      </p:sp>
      <p:graphicFrame>
        <p:nvGraphicFramePr>
          <p:cNvPr id="8" name="Diagram 7"/>
          <p:cNvGraphicFramePr/>
          <p:nvPr>
            <p:extLst>
              <p:ext uri="{D42A27DB-BD31-4B8C-83A1-F6EECF244321}">
                <p14:modId xmlns:p14="http://schemas.microsoft.com/office/powerpoint/2010/main" val="3787416233"/>
              </p:ext>
            </p:extLst>
          </p:nvPr>
        </p:nvGraphicFramePr>
        <p:xfrm>
          <a:off x="414290" y="564204"/>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Pie 8"/>
          <p:cNvSpPr/>
          <p:nvPr/>
        </p:nvSpPr>
        <p:spPr>
          <a:xfrm rot="10600249">
            <a:off x="8708360" y="545481"/>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27783686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err="1" smtClean="0"/>
              <a:t>Konsep</a:t>
            </a:r>
            <a:r>
              <a:rPr lang="en-US" smtClean="0"/>
              <a:t> </a:t>
            </a:r>
            <a:r>
              <a:rPr lang="en-US" err="1" smtClean="0"/>
              <a:t>Dasar</a:t>
            </a:r>
            <a:r>
              <a:rPr lang="en-US" smtClean="0"/>
              <a:t> </a:t>
            </a:r>
            <a:r>
              <a:rPr lang="en-US" err="1" smtClean="0"/>
              <a:t>Multivibrator</a:t>
            </a:r>
            <a:endParaRPr lang="en-US"/>
          </a:p>
        </p:txBody>
      </p:sp>
      <p:sp>
        <p:nvSpPr>
          <p:cNvPr id="3" name="Content Placeholder 2"/>
          <p:cNvSpPr>
            <a:spLocks noGrp="1"/>
          </p:cNvSpPr>
          <p:nvPr>
            <p:ph idx="1"/>
          </p:nvPr>
        </p:nvSpPr>
        <p:spPr>
          <a:xfrm>
            <a:off x="2152650" y="2201862"/>
            <a:ext cx="7886700" cy="4351338"/>
          </a:xfrm>
        </p:spPr>
        <p:txBody>
          <a:bodyPr>
            <a:normAutofit fontScale="85000" lnSpcReduction="10000"/>
          </a:bodyPr>
          <a:lstStyle/>
          <a:p>
            <a:r>
              <a:rPr lang="en-US" dirty="0" err="1"/>
              <a:t>Multivibrator</a:t>
            </a:r>
            <a:r>
              <a:rPr lang="en-US" dirty="0"/>
              <a:t> </a:t>
            </a:r>
            <a:r>
              <a:rPr lang="en-US" dirty="0" err="1"/>
              <a:t>beroperasi</a:t>
            </a:r>
            <a:r>
              <a:rPr lang="en-US" dirty="0"/>
              <a:t> </a:t>
            </a:r>
            <a:r>
              <a:rPr lang="en-US" dirty="0" err="1"/>
              <a:t>sebagai</a:t>
            </a:r>
            <a:r>
              <a:rPr lang="en-US" dirty="0"/>
              <a:t> </a:t>
            </a:r>
            <a:r>
              <a:rPr lang="en-US" dirty="0" err="1"/>
              <a:t>osilator</a:t>
            </a:r>
            <a:r>
              <a:rPr lang="en-US" dirty="0"/>
              <a:t>, </a:t>
            </a:r>
            <a:r>
              <a:rPr lang="en-US" dirty="0" err="1"/>
              <a:t>yaitu</a:t>
            </a:r>
            <a:r>
              <a:rPr lang="en-US" dirty="0"/>
              <a:t> </a:t>
            </a:r>
            <a:r>
              <a:rPr lang="en-US" dirty="0" err="1"/>
              <a:t>sebagai</a:t>
            </a:r>
            <a:r>
              <a:rPr lang="en-US" dirty="0"/>
              <a:t> </a:t>
            </a:r>
            <a:r>
              <a:rPr lang="en-US" dirty="0" err="1"/>
              <a:t>sebuah</a:t>
            </a:r>
            <a:r>
              <a:rPr lang="en-US" dirty="0"/>
              <a:t> </a:t>
            </a:r>
            <a:r>
              <a:rPr lang="en-US" dirty="0" err="1"/>
              <a:t>rangkaian</a:t>
            </a:r>
            <a:r>
              <a:rPr lang="en-US" dirty="0"/>
              <a:t> </a:t>
            </a:r>
            <a:r>
              <a:rPr lang="en-US" dirty="0" err="1"/>
              <a:t>pembangkit</a:t>
            </a:r>
            <a:r>
              <a:rPr lang="en-US" dirty="0"/>
              <a:t> </a:t>
            </a:r>
            <a:r>
              <a:rPr lang="en-US" dirty="0" err="1"/>
              <a:t>sinyal</a:t>
            </a:r>
            <a:r>
              <a:rPr lang="en-US" dirty="0"/>
              <a:t>, di mana </a:t>
            </a:r>
            <a:r>
              <a:rPr lang="en-US" dirty="0" err="1"/>
              <a:t>sinyal</a:t>
            </a:r>
            <a:r>
              <a:rPr lang="en-US" dirty="0"/>
              <a:t> yang </a:t>
            </a:r>
            <a:r>
              <a:rPr lang="en-US" dirty="0" err="1"/>
              <a:t>dihasilkan</a:t>
            </a:r>
            <a:r>
              <a:rPr lang="en-US" dirty="0"/>
              <a:t> </a:t>
            </a:r>
            <a:r>
              <a:rPr lang="en-US" dirty="0" err="1"/>
              <a:t>pada</a:t>
            </a:r>
            <a:r>
              <a:rPr lang="en-US" dirty="0"/>
              <a:t> </a:t>
            </a:r>
            <a:r>
              <a:rPr lang="en-US" dirty="0" err="1"/>
              <a:t>keluaran</a:t>
            </a:r>
            <a:r>
              <a:rPr lang="en-US" dirty="0"/>
              <a:t> </a:t>
            </a:r>
            <a:r>
              <a:rPr lang="en-US" dirty="0" err="1"/>
              <a:t>akan</a:t>
            </a:r>
            <a:r>
              <a:rPr lang="en-US" dirty="0"/>
              <a:t> </a:t>
            </a:r>
            <a:r>
              <a:rPr lang="en-US" dirty="0" err="1"/>
              <a:t>berbentuk</a:t>
            </a:r>
            <a:r>
              <a:rPr lang="en-US" dirty="0"/>
              <a:t> </a:t>
            </a:r>
            <a:r>
              <a:rPr lang="en-US" dirty="0" err="1"/>
              <a:t>gelombang</a:t>
            </a:r>
            <a:r>
              <a:rPr lang="en-US" dirty="0"/>
              <a:t> </a:t>
            </a:r>
            <a:r>
              <a:rPr lang="en-US" dirty="0" err="1" smtClean="0"/>
              <a:t>persegi</a:t>
            </a:r>
            <a:endParaRPr lang="en-US" dirty="0" smtClean="0"/>
          </a:p>
          <a:p>
            <a:r>
              <a:rPr lang="en-US" dirty="0" err="1" smtClean="0"/>
              <a:t>Multivibrator</a:t>
            </a:r>
            <a:r>
              <a:rPr lang="en-US" dirty="0" smtClean="0"/>
              <a:t> </a:t>
            </a:r>
            <a:r>
              <a:rPr lang="en-US" dirty="0" err="1" smtClean="0"/>
              <a:t>adalah</a:t>
            </a:r>
            <a:r>
              <a:rPr lang="en-US" dirty="0" smtClean="0"/>
              <a:t> </a:t>
            </a:r>
            <a:r>
              <a:rPr lang="en-US" dirty="0" err="1" smtClean="0"/>
              <a:t>rangkaian</a:t>
            </a:r>
            <a:r>
              <a:rPr lang="en-US" dirty="0" smtClean="0"/>
              <a:t> </a:t>
            </a:r>
            <a:r>
              <a:rPr lang="en-US" dirty="0" err="1" smtClean="0"/>
              <a:t>elektronik</a:t>
            </a:r>
            <a:r>
              <a:rPr lang="en-US" dirty="0" smtClean="0"/>
              <a:t> </a:t>
            </a:r>
            <a:r>
              <a:rPr lang="en-US" dirty="0" err="1" smtClean="0"/>
              <a:t>terpadu</a:t>
            </a:r>
            <a:r>
              <a:rPr lang="en-US" dirty="0" smtClean="0"/>
              <a:t> (Integrated Circuit) yang </a:t>
            </a:r>
            <a:r>
              <a:rPr lang="en-US" dirty="0" err="1" smtClean="0"/>
              <a:t>digunakan</a:t>
            </a:r>
            <a:r>
              <a:rPr lang="en-US" dirty="0" smtClean="0"/>
              <a:t> </a:t>
            </a:r>
            <a:r>
              <a:rPr lang="en-US" dirty="0" err="1" smtClean="0"/>
              <a:t>untuk</a:t>
            </a:r>
            <a:r>
              <a:rPr lang="en-US" dirty="0" smtClean="0"/>
              <a:t> </a:t>
            </a:r>
            <a:r>
              <a:rPr lang="en-US" dirty="0" err="1" smtClean="0"/>
              <a:t>menerapkan</a:t>
            </a:r>
            <a:r>
              <a:rPr lang="en-US" dirty="0" smtClean="0"/>
              <a:t> </a:t>
            </a:r>
            <a:r>
              <a:rPr lang="en-US" dirty="0" err="1" smtClean="0"/>
              <a:t>variasi</a:t>
            </a:r>
            <a:r>
              <a:rPr lang="en-US" dirty="0" smtClean="0"/>
              <a:t> </a:t>
            </a:r>
            <a:r>
              <a:rPr lang="en-US" dirty="0" err="1" smtClean="0"/>
              <a:t>dari</a:t>
            </a:r>
            <a:r>
              <a:rPr lang="en-US" dirty="0" smtClean="0"/>
              <a:t> </a:t>
            </a:r>
            <a:r>
              <a:rPr lang="en-US" dirty="0" err="1" smtClean="0"/>
              <a:t>sistem</a:t>
            </a:r>
            <a:r>
              <a:rPr lang="en-US" dirty="0" smtClean="0"/>
              <a:t> </a:t>
            </a:r>
            <a:r>
              <a:rPr lang="en-US" dirty="0" err="1" smtClean="0"/>
              <a:t>dua</a:t>
            </a:r>
            <a:r>
              <a:rPr lang="en-US" dirty="0" smtClean="0"/>
              <a:t> </a:t>
            </a:r>
            <a:r>
              <a:rPr lang="en-US" dirty="0" err="1" smtClean="0"/>
              <a:t>keadaan</a:t>
            </a:r>
            <a:r>
              <a:rPr lang="en-US" dirty="0" smtClean="0"/>
              <a:t> (two state system) yang </a:t>
            </a:r>
            <a:r>
              <a:rPr lang="en-US" dirty="0" err="1" smtClean="0"/>
              <a:t>dapat</a:t>
            </a:r>
            <a:r>
              <a:rPr lang="en-US" dirty="0" smtClean="0"/>
              <a:t> </a:t>
            </a:r>
            <a:r>
              <a:rPr lang="en-US" dirty="0" err="1" smtClean="0"/>
              <a:t>menghasilkan</a:t>
            </a:r>
            <a:r>
              <a:rPr lang="en-US" dirty="0" smtClean="0"/>
              <a:t> </a:t>
            </a:r>
            <a:r>
              <a:rPr lang="en-US" dirty="0" err="1" smtClean="0"/>
              <a:t>suatu</a:t>
            </a:r>
            <a:r>
              <a:rPr lang="en-US" dirty="0" smtClean="0"/>
              <a:t> </a:t>
            </a:r>
            <a:r>
              <a:rPr lang="en-US" dirty="0" err="1" smtClean="0"/>
              <a:t>sinyal</a:t>
            </a:r>
            <a:r>
              <a:rPr lang="en-US" dirty="0" smtClean="0"/>
              <a:t> </a:t>
            </a:r>
            <a:r>
              <a:rPr lang="en-US" dirty="0" err="1" smtClean="0"/>
              <a:t>kontinu</a:t>
            </a:r>
            <a:r>
              <a:rPr lang="en-US" dirty="0" smtClean="0"/>
              <a:t>.</a:t>
            </a:r>
          </a:p>
          <a:p>
            <a:r>
              <a:rPr lang="en-US" dirty="0" err="1" smtClean="0"/>
              <a:t>Dapat</a:t>
            </a:r>
            <a:r>
              <a:rPr lang="en-US" dirty="0" smtClean="0"/>
              <a:t> </a:t>
            </a:r>
            <a:r>
              <a:rPr lang="en-US" dirty="0" err="1" smtClean="0"/>
              <a:t>digunakan</a:t>
            </a:r>
            <a:r>
              <a:rPr lang="en-US" dirty="0" smtClean="0"/>
              <a:t> </a:t>
            </a:r>
            <a:r>
              <a:rPr lang="en-US" dirty="0" err="1" smtClean="0"/>
              <a:t>sebagai</a:t>
            </a:r>
            <a:r>
              <a:rPr lang="en-US" dirty="0" smtClean="0"/>
              <a:t> </a:t>
            </a:r>
            <a:r>
              <a:rPr lang="en-US" dirty="0" err="1" smtClean="0"/>
              <a:t>pewaktu</a:t>
            </a:r>
            <a:r>
              <a:rPr lang="en-US" dirty="0" smtClean="0"/>
              <a:t> (timer) </a:t>
            </a:r>
            <a:r>
              <a:rPr lang="en-US" dirty="0" err="1" smtClean="0"/>
              <a:t>dari</a:t>
            </a:r>
            <a:r>
              <a:rPr lang="en-US" dirty="0" smtClean="0"/>
              <a:t> </a:t>
            </a:r>
            <a:r>
              <a:rPr lang="en-US" dirty="0" err="1" smtClean="0"/>
              <a:t>rangkaian-rangkaian</a:t>
            </a:r>
            <a:r>
              <a:rPr lang="en-US" dirty="0" smtClean="0"/>
              <a:t> </a:t>
            </a:r>
            <a:r>
              <a:rPr lang="en-US" dirty="0" err="1" smtClean="0"/>
              <a:t>sekuensial</a:t>
            </a:r>
            <a:r>
              <a:rPr lang="en-US" dirty="0"/>
              <a:t> </a:t>
            </a:r>
            <a:r>
              <a:rPr lang="en-US" dirty="0" smtClean="0"/>
              <a:t>(</a:t>
            </a:r>
            <a:r>
              <a:rPr lang="en-US" dirty="0" err="1" smtClean="0"/>
              <a:t>rangkaian</a:t>
            </a:r>
            <a:r>
              <a:rPr lang="en-US" dirty="0" smtClean="0"/>
              <a:t> </a:t>
            </a:r>
            <a:r>
              <a:rPr lang="en-US" dirty="0" err="1"/>
              <a:t>logika</a:t>
            </a:r>
            <a:r>
              <a:rPr lang="en-US" dirty="0"/>
              <a:t> yang </a:t>
            </a:r>
            <a:r>
              <a:rPr lang="en-US" dirty="0" err="1"/>
              <a:t>kondisi</a:t>
            </a:r>
            <a:r>
              <a:rPr lang="en-US" dirty="0"/>
              <a:t> </a:t>
            </a:r>
            <a:r>
              <a:rPr lang="en-US" dirty="0" err="1"/>
              <a:t>keluarannya</a:t>
            </a:r>
            <a:r>
              <a:rPr lang="en-US" dirty="0"/>
              <a:t> </a:t>
            </a:r>
            <a:r>
              <a:rPr lang="en-US" dirty="0" err="1"/>
              <a:t>dipengaruhi</a:t>
            </a:r>
            <a:r>
              <a:rPr lang="en-US" dirty="0"/>
              <a:t> </a:t>
            </a:r>
            <a:r>
              <a:rPr lang="en-US" dirty="0" err="1"/>
              <a:t>oleh</a:t>
            </a:r>
            <a:r>
              <a:rPr lang="en-US" dirty="0"/>
              <a:t> </a:t>
            </a:r>
            <a:r>
              <a:rPr lang="en-US" dirty="0" err="1"/>
              <a:t>masukan</a:t>
            </a:r>
            <a:r>
              <a:rPr lang="en-US" dirty="0"/>
              <a:t> </a:t>
            </a:r>
            <a:r>
              <a:rPr lang="en-US" dirty="0" err="1"/>
              <a:t>dan</a:t>
            </a:r>
            <a:r>
              <a:rPr lang="en-US" dirty="0"/>
              <a:t> </a:t>
            </a:r>
            <a:r>
              <a:rPr lang="en-US" dirty="0" err="1"/>
              <a:t>keadaan</a:t>
            </a:r>
            <a:r>
              <a:rPr lang="en-US" dirty="0"/>
              <a:t> </a:t>
            </a:r>
            <a:r>
              <a:rPr lang="en-US" dirty="0" err="1"/>
              <a:t>keluaran</a:t>
            </a:r>
            <a:r>
              <a:rPr lang="en-US" dirty="0"/>
              <a:t> </a:t>
            </a:r>
            <a:r>
              <a:rPr lang="en-US" dirty="0" err="1" smtClean="0"/>
              <a:t>sebelumnya</a:t>
            </a:r>
            <a:r>
              <a:rPr lang="en-US" dirty="0" smtClean="0"/>
              <a:t>)</a:t>
            </a:r>
          </a:p>
          <a:p>
            <a:r>
              <a:rPr lang="en-US" dirty="0" err="1" smtClean="0"/>
              <a:t>Multivibrator</a:t>
            </a:r>
            <a:r>
              <a:rPr lang="en-US" dirty="0" smtClean="0"/>
              <a:t> </a:t>
            </a:r>
            <a:r>
              <a:rPr lang="en-US" dirty="0" err="1"/>
              <a:t>dalam</a:t>
            </a:r>
            <a:r>
              <a:rPr lang="en-US" dirty="0"/>
              <a:t> </a:t>
            </a:r>
            <a:r>
              <a:rPr lang="en-US" dirty="0" err="1"/>
              <a:t>pengoperasiannya</a:t>
            </a:r>
            <a:r>
              <a:rPr lang="en-US" dirty="0"/>
              <a:t> </a:t>
            </a:r>
            <a:r>
              <a:rPr lang="en-US" dirty="0" err="1"/>
              <a:t>memiliki</a:t>
            </a:r>
            <a:r>
              <a:rPr lang="en-US" dirty="0"/>
              <a:t> </a:t>
            </a:r>
            <a:r>
              <a:rPr lang="en-US" dirty="0" err="1"/>
              <a:t>dua</a:t>
            </a:r>
            <a:r>
              <a:rPr lang="en-US" dirty="0"/>
              <a:t> </a:t>
            </a:r>
            <a:r>
              <a:rPr lang="en-US" dirty="0" err="1"/>
              <a:t>keadaan</a:t>
            </a:r>
            <a:r>
              <a:rPr lang="en-US" dirty="0"/>
              <a:t> </a:t>
            </a:r>
            <a:r>
              <a:rPr lang="en-US" dirty="0" err="1"/>
              <a:t>utama</a:t>
            </a:r>
            <a:r>
              <a:rPr lang="en-US" dirty="0"/>
              <a:t>, </a:t>
            </a:r>
            <a:r>
              <a:rPr lang="en-US" dirty="0" err="1"/>
              <a:t>yaitu</a:t>
            </a:r>
            <a:r>
              <a:rPr lang="en-US" dirty="0"/>
              <a:t> </a:t>
            </a:r>
            <a:r>
              <a:rPr lang="en-US" dirty="0" err="1"/>
              <a:t>keadaan</a:t>
            </a:r>
            <a:r>
              <a:rPr lang="en-US" dirty="0"/>
              <a:t> </a:t>
            </a:r>
            <a:r>
              <a:rPr lang="en-US" dirty="0" err="1"/>
              <a:t>stabil</a:t>
            </a:r>
            <a:r>
              <a:rPr lang="en-US" dirty="0"/>
              <a:t> </a:t>
            </a:r>
            <a:r>
              <a:rPr lang="en-US" dirty="0" err="1"/>
              <a:t>dan</a:t>
            </a:r>
            <a:r>
              <a:rPr lang="en-US" dirty="0"/>
              <a:t> </a:t>
            </a:r>
            <a:r>
              <a:rPr lang="en-US" dirty="0" err="1"/>
              <a:t>keadaan</a:t>
            </a:r>
            <a:r>
              <a:rPr lang="en-US" dirty="0"/>
              <a:t> </a:t>
            </a:r>
            <a:r>
              <a:rPr lang="en-US" dirty="0" err="1"/>
              <a:t>tak</a:t>
            </a:r>
            <a:r>
              <a:rPr lang="en-US" dirty="0"/>
              <a:t> </a:t>
            </a:r>
            <a:r>
              <a:rPr lang="en-US" dirty="0" err="1"/>
              <a:t>stabil</a:t>
            </a:r>
            <a:r>
              <a:rPr lang="en-US" dirty="0"/>
              <a:t>.</a:t>
            </a:r>
          </a:p>
          <a:p>
            <a:endParaRPr lang="en-US" dirty="0"/>
          </a:p>
          <a:p>
            <a:endParaRPr lang="en-US" dirty="0" smtClean="0"/>
          </a:p>
          <a:p>
            <a:endParaRPr lang="en-US" dirty="0" smtClean="0"/>
          </a:p>
        </p:txBody>
      </p:sp>
      <p:sp>
        <p:nvSpPr>
          <p:cNvPr id="4" name="Rounded Rectangle 3">
            <a:hlinkClick r:id="rId2" action="ppaction://hlinksldjump"/>
          </p:cNvPr>
          <p:cNvSpPr/>
          <p:nvPr/>
        </p:nvSpPr>
        <p:spPr>
          <a:xfrm>
            <a:off x="2381224" y="365125"/>
            <a:ext cx="7429552" cy="851297"/>
          </a:xfrm>
          <a:prstGeom prst="roundRect">
            <a:avLst/>
          </a:prstGeom>
        </p:spPr>
        <p:style>
          <a:lnRef idx="3">
            <a:schemeClr val="lt1"/>
          </a:lnRef>
          <a:fillRef idx="1">
            <a:schemeClr val="accent2"/>
          </a:fillRef>
          <a:effectRef idx="1">
            <a:schemeClr val="accent2"/>
          </a:effectRef>
          <a:fontRef idx="minor">
            <a:schemeClr val="lt1"/>
          </a:fontRef>
        </p:style>
        <p:txBody>
          <a:bodyPr wrap="square" rtlCol="0" anchor="ctr" anchorCtr="1">
            <a:spAutoFit/>
          </a:bodyPr>
          <a:lstStyle/>
          <a:p>
            <a:pPr marL="514350" indent="-514350" algn="ctr"/>
            <a:r>
              <a:rPr lang="en-US" sz="4400" dirty="0" err="1"/>
              <a:t>Konsep</a:t>
            </a:r>
            <a:r>
              <a:rPr lang="en-US" sz="4400" dirty="0"/>
              <a:t> </a:t>
            </a:r>
            <a:r>
              <a:rPr lang="en-US" sz="4400" dirty="0" err="1"/>
              <a:t>Dasar</a:t>
            </a:r>
            <a:r>
              <a:rPr lang="en-US" sz="4400" dirty="0"/>
              <a:t> </a:t>
            </a:r>
            <a:r>
              <a:rPr lang="en-US" sz="4400" dirty="0" err="1"/>
              <a:t>Multivibrator</a:t>
            </a:r>
            <a:endParaRPr lang="en-US" sz="4400" dirty="0"/>
          </a:p>
        </p:txBody>
      </p:sp>
    </p:spTree>
    <p:extLst>
      <p:ext uri="{BB962C8B-B14F-4D97-AF65-F5344CB8AC3E}">
        <p14:creationId xmlns:p14="http://schemas.microsoft.com/office/powerpoint/2010/main" val="14056251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2201862"/>
            <a:ext cx="7886700" cy="4351338"/>
          </a:xfrm>
        </p:spPr>
        <p:txBody>
          <a:bodyPr>
            <a:normAutofit/>
          </a:bodyPr>
          <a:lstStyle/>
          <a:p>
            <a:r>
              <a:rPr lang="en-US" dirty="0" err="1" smtClean="0"/>
              <a:t>Keadaan</a:t>
            </a:r>
            <a:r>
              <a:rPr lang="en-US" dirty="0" smtClean="0"/>
              <a:t> </a:t>
            </a:r>
            <a:r>
              <a:rPr lang="en-US" dirty="0" err="1" smtClean="0"/>
              <a:t>stabil</a:t>
            </a:r>
            <a:r>
              <a:rPr lang="en-US" dirty="0" smtClean="0"/>
              <a:t> </a:t>
            </a:r>
            <a:r>
              <a:rPr lang="en-US" dirty="0" err="1" smtClean="0"/>
              <a:t>adalah</a:t>
            </a:r>
            <a:r>
              <a:rPr lang="en-US" dirty="0" smtClean="0"/>
              <a:t> </a:t>
            </a:r>
            <a:r>
              <a:rPr lang="en-US" dirty="0" err="1" smtClean="0"/>
              <a:t>keadaan</a:t>
            </a:r>
            <a:r>
              <a:rPr lang="en-US" dirty="0" smtClean="0"/>
              <a:t> di mana </a:t>
            </a:r>
            <a:r>
              <a:rPr lang="en-US" dirty="0" err="1" smtClean="0"/>
              <a:t>taraf</a:t>
            </a:r>
            <a:r>
              <a:rPr lang="en-US" dirty="0" smtClean="0"/>
              <a:t> </a:t>
            </a:r>
            <a:r>
              <a:rPr lang="en-US" dirty="0" err="1" smtClean="0"/>
              <a:t>amplituda</a:t>
            </a:r>
            <a:r>
              <a:rPr lang="en-US" dirty="0" smtClean="0"/>
              <a:t> </a:t>
            </a:r>
            <a:r>
              <a:rPr lang="en-US" dirty="0" err="1" smtClean="0"/>
              <a:t>sinyal</a:t>
            </a:r>
            <a:r>
              <a:rPr lang="en-US" dirty="0" smtClean="0"/>
              <a:t> </a:t>
            </a:r>
            <a:r>
              <a:rPr lang="en-US" dirty="0" err="1" smtClean="0"/>
              <a:t>keluaran</a:t>
            </a:r>
            <a:r>
              <a:rPr lang="en-US" dirty="0" smtClean="0"/>
              <a:t> </a:t>
            </a:r>
            <a:r>
              <a:rPr lang="en-US" dirty="0" err="1" smtClean="0"/>
              <a:t>adalah</a:t>
            </a:r>
            <a:r>
              <a:rPr lang="en-US" dirty="0" smtClean="0"/>
              <a:t> </a:t>
            </a:r>
            <a:r>
              <a:rPr lang="en-US" dirty="0" err="1" smtClean="0"/>
              <a:t>tetap</a:t>
            </a:r>
            <a:r>
              <a:rPr lang="en-US" dirty="0" smtClean="0"/>
              <a:t> </a:t>
            </a:r>
            <a:r>
              <a:rPr lang="en-US" dirty="0" err="1" smtClean="0"/>
              <a:t>pada</a:t>
            </a:r>
            <a:r>
              <a:rPr lang="en-US" dirty="0" smtClean="0"/>
              <a:t> </a:t>
            </a:r>
            <a:r>
              <a:rPr lang="en-US" dirty="0" err="1" smtClean="0"/>
              <a:t>suatu</a:t>
            </a:r>
            <a:r>
              <a:rPr lang="en-US" dirty="0" smtClean="0"/>
              <a:t> </a:t>
            </a:r>
            <a:r>
              <a:rPr lang="en-US" dirty="0" err="1" smtClean="0"/>
              <a:t>nilai</a:t>
            </a:r>
            <a:r>
              <a:rPr lang="en-US" dirty="0" smtClean="0"/>
              <a:t> </a:t>
            </a:r>
            <a:r>
              <a:rPr lang="en-US" dirty="0" err="1" smtClean="0"/>
              <a:t>tertentu</a:t>
            </a:r>
            <a:r>
              <a:rPr lang="en-US" dirty="0" smtClean="0"/>
              <a:t>.</a:t>
            </a:r>
          </a:p>
          <a:p>
            <a:r>
              <a:rPr lang="en-US" dirty="0" err="1" smtClean="0"/>
              <a:t>Keadaan</a:t>
            </a:r>
            <a:r>
              <a:rPr lang="en-US" dirty="0" smtClean="0"/>
              <a:t> </a:t>
            </a:r>
            <a:r>
              <a:rPr lang="en-US" dirty="0" err="1" smtClean="0"/>
              <a:t>tak</a:t>
            </a:r>
            <a:r>
              <a:rPr lang="en-US" dirty="0" smtClean="0"/>
              <a:t> </a:t>
            </a:r>
            <a:r>
              <a:rPr lang="en-US" dirty="0" err="1" smtClean="0"/>
              <a:t>stabil</a:t>
            </a:r>
            <a:r>
              <a:rPr lang="en-US" dirty="0" smtClean="0"/>
              <a:t> </a:t>
            </a:r>
            <a:r>
              <a:rPr lang="en-US" dirty="0" err="1" smtClean="0"/>
              <a:t>adalah</a:t>
            </a:r>
            <a:r>
              <a:rPr lang="en-US" dirty="0" smtClean="0"/>
              <a:t> </a:t>
            </a:r>
            <a:r>
              <a:rPr lang="en-US" dirty="0" err="1" smtClean="0"/>
              <a:t>keadaan</a:t>
            </a:r>
            <a:r>
              <a:rPr lang="en-US" dirty="0" smtClean="0"/>
              <a:t> di mana </a:t>
            </a:r>
            <a:r>
              <a:rPr lang="en-US" dirty="0" err="1" smtClean="0"/>
              <a:t>taraf</a:t>
            </a:r>
            <a:r>
              <a:rPr lang="en-US" dirty="0" smtClean="0"/>
              <a:t> </a:t>
            </a:r>
            <a:r>
              <a:rPr lang="en-US" dirty="0" err="1" smtClean="0"/>
              <a:t>ampiltuda</a:t>
            </a:r>
            <a:r>
              <a:rPr lang="en-US" dirty="0" smtClean="0"/>
              <a:t> </a:t>
            </a:r>
            <a:r>
              <a:rPr lang="en-US" dirty="0" err="1" smtClean="0"/>
              <a:t>sinyal</a:t>
            </a:r>
            <a:r>
              <a:rPr lang="en-US" dirty="0" smtClean="0"/>
              <a:t> </a:t>
            </a:r>
            <a:r>
              <a:rPr lang="en-US" dirty="0" err="1" smtClean="0"/>
              <a:t>selalu</a:t>
            </a:r>
            <a:r>
              <a:rPr lang="en-US" dirty="0" smtClean="0"/>
              <a:t> </a:t>
            </a:r>
            <a:r>
              <a:rPr lang="en-US" dirty="0" err="1" smtClean="0"/>
              <a:t>berubah-ubah</a:t>
            </a:r>
            <a:r>
              <a:rPr lang="en-US" dirty="0" smtClean="0"/>
              <a:t> </a:t>
            </a:r>
            <a:r>
              <a:rPr lang="en-US" dirty="0" err="1" smtClean="0"/>
              <a:t>mengikuti</a:t>
            </a:r>
            <a:r>
              <a:rPr lang="en-US" dirty="0" smtClean="0"/>
              <a:t> </a:t>
            </a:r>
            <a:r>
              <a:rPr lang="en-US" dirty="0" err="1" smtClean="0"/>
              <a:t>denyut</a:t>
            </a:r>
            <a:r>
              <a:rPr lang="en-US" dirty="0" smtClean="0"/>
              <a:t> </a:t>
            </a:r>
            <a:r>
              <a:rPr lang="en-US" dirty="0" err="1" smtClean="0"/>
              <a:t>tegangan</a:t>
            </a:r>
            <a:r>
              <a:rPr lang="en-US" dirty="0" smtClean="0"/>
              <a:t> </a:t>
            </a:r>
            <a:r>
              <a:rPr lang="en-US" dirty="0" err="1" smtClean="0"/>
              <a:t>pada</a:t>
            </a:r>
            <a:r>
              <a:rPr lang="en-US" dirty="0" smtClean="0"/>
              <a:t> </a:t>
            </a:r>
            <a:r>
              <a:rPr lang="en-US" dirty="0" err="1" smtClean="0"/>
              <a:t>komponen</a:t>
            </a:r>
            <a:r>
              <a:rPr lang="en-US" dirty="0" smtClean="0"/>
              <a:t> </a:t>
            </a:r>
            <a:r>
              <a:rPr lang="en-US" dirty="0" err="1" smtClean="0"/>
              <a:t>aktif</a:t>
            </a:r>
            <a:r>
              <a:rPr lang="en-US" dirty="0" smtClean="0"/>
              <a:t>.</a:t>
            </a:r>
          </a:p>
          <a:p>
            <a:r>
              <a:rPr lang="en-US" dirty="0" err="1" smtClean="0"/>
              <a:t>Keadaan</a:t>
            </a:r>
            <a:r>
              <a:rPr lang="en-US" dirty="0" smtClean="0"/>
              <a:t> </a:t>
            </a:r>
            <a:r>
              <a:rPr lang="en-US" dirty="0" err="1" smtClean="0"/>
              <a:t>tak</a:t>
            </a:r>
            <a:r>
              <a:rPr lang="en-US" dirty="0" smtClean="0"/>
              <a:t> </a:t>
            </a:r>
            <a:r>
              <a:rPr lang="en-US" dirty="0" err="1" smtClean="0"/>
              <a:t>stabil</a:t>
            </a:r>
            <a:r>
              <a:rPr lang="en-US" dirty="0" smtClean="0"/>
              <a:t> </a:t>
            </a:r>
            <a:r>
              <a:rPr lang="en-US" dirty="0" err="1" smtClean="0"/>
              <a:t>dipengaruhi</a:t>
            </a:r>
            <a:r>
              <a:rPr lang="en-US" dirty="0" smtClean="0"/>
              <a:t> </a:t>
            </a:r>
            <a:r>
              <a:rPr lang="en-US" dirty="0" err="1" smtClean="0"/>
              <a:t>oleh</a:t>
            </a:r>
            <a:r>
              <a:rPr lang="en-US" dirty="0" smtClean="0"/>
              <a:t> </a:t>
            </a:r>
            <a:r>
              <a:rPr lang="en-US" dirty="0" err="1" smtClean="0"/>
              <a:t>waktu</a:t>
            </a:r>
            <a:r>
              <a:rPr lang="en-US" dirty="0" smtClean="0"/>
              <a:t> </a:t>
            </a:r>
            <a:r>
              <a:rPr lang="en-US" dirty="0" err="1" smtClean="0"/>
              <a:t>laju</a:t>
            </a:r>
            <a:r>
              <a:rPr lang="en-US" dirty="0" smtClean="0"/>
              <a:t> </a:t>
            </a:r>
            <a:r>
              <a:rPr lang="en-US" dirty="0" err="1" smtClean="0"/>
              <a:t>pengisian</a:t>
            </a:r>
            <a:r>
              <a:rPr lang="en-US" dirty="0" smtClean="0"/>
              <a:t> / </a:t>
            </a:r>
            <a:r>
              <a:rPr lang="en-US" dirty="0" err="1" smtClean="0"/>
              <a:t>pengosongan</a:t>
            </a:r>
            <a:r>
              <a:rPr lang="en-US" dirty="0" smtClean="0"/>
              <a:t> </a:t>
            </a:r>
            <a:r>
              <a:rPr lang="en-US" dirty="0" err="1" smtClean="0"/>
              <a:t>kapasitor</a:t>
            </a:r>
            <a:r>
              <a:rPr lang="en-US" dirty="0" smtClean="0"/>
              <a:t>.</a:t>
            </a:r>
            <a:endParaRPr lang="en-US" dirty="0"/>
          </a:p>
        </p:txBody>
      </p:sp>
      <p:sp>
        <p:nvSpPr>
          <p:cNvPr id="4" name="Rounded Rectangle 3">
            <a:hlinkClick r:id="rId2" action="ppaction://hlinksldjump"/>
          </p:cNvPr>
          <p:cNvSpPr/>
          <p:nvPr/>
        </p:nvSpPr>
        <p:spPr>
          <a:xfrm>
            <a:off x="2452662" y="901304"/>
            <a:ext cx="7429552" cy="851297"/>
          </a:xfrm>
          <a:prstGeom prst="roundRect">
            <a:avLst/>
          </a:prstGeom>
        </p:spPr>
        <p:style>
          <a:lnRef idx="3">
            <a:schemeClr val="lt1"/>
          </a:lnRef>
          <a:fillRef idx="1">
            <a:schemeClr val="accent2"/>
          </a:fillRef>
          <a:effectRef idx="1">
            <a:schemeClr val="accent2"/>
          </a:effectRef>
          <a:fontRef idx="minor">
            <a:schemeClr val="lt1"/>
          </a:fontRef>
        </p:style>
        <p:txBody>
          <a:bodyPr wrap="square" rtlCol="0" anchor="ctr" anchorCtr="1">
            <a:spAutoFit/>
          </a:bodyPr>
          <a:lstStyle/>
          <a:p>
            <a:pPr marL="514350" indent="-514350" algn="ctr"/>
            <a:r>
              <a:rPr lang="en-US" sz="4400"/>
              <a:t>Konsep Dasar Multivibrator</a:t>
            </a:r>
            <a:endParaRPr lang="en-US" sz="4400"/>
          </a:p>
        </p:txBody>
      </p:sp>
    </p:spTree>
    <p:extLst>
      <p:ext uri="{BB962C8B-B14F-4D97-AF65-F5344CB8AC3E}">
        <p14:creationId xmlns:p14="http://schemas.microsoft.com/office/powerpoint/2010/main" val="38909015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2049462"/>
            <a:ext cx="7886700" cy="4351338"/>
          </a:xfrm>
        </p:spPr>
        <p:txBody>
          <a:bodyPr>
            <a:normAutofit fontScale="92500"/>
          </a:bodyPr>
          <a:lstStyle/>
          <a:p>
            <a:r>
              <a:rPr lang="en-US" dirty="0" err="1" smtClean="0"/>
              <a:t>Rangkaian</a:t>
            </a:r>
            <a:r>
              <a:rPr lang="en-US" dirty="0" smtClean="0"/>
              <a:t> </a:t>
            </a:r>
            <a:r>
              <a:rPr lang="en-US" dirty="0" err="1" smtClean="0"/>
              <a:t>multivibrator</a:t>
            </a:r>
            <a:r>
              <a:rPr lang="en-US" dirty="0" smtClean="0"/>
              <a:t> </a:t>
            </a:r>
            <a:r>
              <a:rPr lang="en-US" dirty="0" err="1" smtClean="0"/>
              <a:t>terdiri</a:t>
            </a:r>
            <a:r>
              <a:rPr lang="en-US" dirty="0" smtClean="0"/>
              <a:t> </a:t>
            </a:r>
            <a:r>
              <a:rPr lang="en-US" dirty="0" err="1" smtClean="0"/>
              <a:t>dari</a:t>
            </a:r>
            <a:r>
              <a:rPr lang="en-US" dirty="0" smtClean="0"/>
              <a:t> </a:t>
            </a:r>
            <a:r>
              <a:rPr lang="en-US" dirty="0" err="1" smtClean="0"/>
              <a:t>komponen</a:t>
            </a:r>
            <a:r>
              <a:rPr lang="en-US" dirty="0" smtClean="0"/>
              <a:t> </a:t>
            </a:r>
            <a:r>
              <a:rPr lang="en-US" dirty="0" err="1" smtClean="0"/>
              <a:t>penguat</a:t>
            </a:r>
            <a:r>
              <a:rPr lang="en-US" dirty="0" smtClean="0"/>
              <a:t> </a:t>
            </a:r>
            <a:r>
              <a:rPr lang="en-US" dirty="0" err="1" smtClean="0"/>
              <a:t>aktif</a:t>
            </a:r>
            <a:r>
              <a:rPr lang="en-US" dirty="0" smtClean="0"/>
              <a:t> yang </a:t>
            </a:r>
            <a:r>
              <a:rPr lang="en-US" dirty="0" err="1" smtClean="0"/>
              <a:t>dikopel</a:t>
            </a:r>
            <a:r>
              <a:rPr lang="en-US" dirty="0" smtClean="0"/>
              <a:t> </a:t>
            </a:r>
            <a:r>
              <a:rPr lang="en-US" dirty="0" err="1" smtClean="0"/>
              <a:t>silang</a:t>
            </a:r>
            <a:r>
              <a:rPr lang="en-US" dirty="0" smtClean="0"/>
              <a:t> </a:t>
            </a:r>
            <a:r>
              <a:rPr lang="en-US" dirty="0" err="1" smtClean="0"/>
              <a:t>dengan</a:t>
            </a:r>
            <a:r>
              <a:rPr lang="en-US" dirty="0" smtClean="0"/>
              <a:t> </a:t>
            </a:r>
            <a:r>
              <a:rPr lang="en-US" dirty="0" err="1" smtClean="0"/>
              <a:t>komponen</a:t>
            </a:r>
            <a:r>
              <a:rPr lang="en-US" dirty="0" smtClean="0"/>
              <a:t> </a:t>
            </a:r>
            <a:r>
              <a:rPr lang="en-US" dirty="0" err="1" smtClean="0"/>
              <a:t>pasif</a:t>
            </a:r>
            <a:r>
              <a:rPr lang="en-US" dirty="0" smtClean="0"/>
              <a:t> (resistor </a:t>
            </a:r>
            <a:r>
              <a:rPr lang="en-US" dirty="0" err="1" smtClean="0"/>
              <a:t>dan</a:t>
            </a:r>
            <a:r>
              <a:rPr lang="en-US" dirty="0" smtClean="0"/>
              <a:t> </a:t>
            </a:r>
            <a:r>
              <a:rPr lang="en-US" dirty="0" err="1" smtClean="0"/>
              <a:t>kapasitor</a:t>
            </a:r>
            <a:r>
              <a:rPr lang="en-US" dirty="0" smtClean="0"/>
              <a:t>).</a:t>
            </a:r>
          </a:p>
          <a:p>
            <a:r>
              <a:rPr lang="en-US" dirty="0" err="1" smtClean="0"/>
              <a:t>Fungsi</a:t>
            </a:r>
            <a:r>
              <a:rPr lang="en-US" dirty="0" smtClean="0"/>
              <a:t> resistor </a:t>
            </a:r>
            <a:r>
              <a:rPr lang="en-US" dirty="0" err="1" smtClean="0"/>
              <a:t>adalah</a:t>
            </a:r>
            <a:r>
              <a:rPr lang="en-US" dirty="0" smtClean="0"/>
              <a:t> </a:t>
            </a:r>
            <a:r>
              <a:rPr lang="en-US" dirty="0" err="1" smtClean="0"/>
              <a:t>sebagai</a:t>
            </a:r>
            <a:r>
              <a:rPr lang="en-US" dirty="0" smtClean="0"/>
              <a:t> </a:t>
            </a:r>
            <a:r>
              <a:rPr lang="en-US" dirty="0" err="1" smtClean="0"/>
              <a:t>sumber</a:t>
            </a:r>
            <a:r>
              <a:rPr lang="en-US" dirty="0" smtClean="0"/>
              <a:t> </a:t>
            </a:r>
            <a:r>
              <a:rPr lang="en-US" dirty="0" err="1" smtClean="0"/>
              <a:t>arus</a:t>
            </a:r>
            <a:r>
              <a:rPr lang="en-US" dirty="0" smtClean="0"/>
              <a:t> </a:t>
            </a:r>
            <a:r>
              <a:rPr lang="en-US" dirty="0" err="1" smtClean="0"/>
              <a:t>bagi</a:t>
            </a:r>
            <a:r>
              <a:rPr lang="en-US" dirty="0" smtClean="0"/>
              <a:t> </a:t>
            </a:r>
            <a:r>
              <a:rPr lang="en-US" dirty="0" err="1" smtClean="0"/>
              <a:t>pengisian</a:t>
            </a:r>
            <a:r>
              <a:rPr lang="en-US" dirty="0" smtClean="0"/>
              <a:t> </a:t>
            </a:r>
            <a:r>
              <a:rPr lang="en-US" dirty="0" err="1" smtClean="0"/>
              <a:t>muatan</a:t>
            </a:r>
            <a:r>
              <a:rPr lang="en-US" dirty="0" smtClean="0"/>
              <a:t> </a:t>
            </a:r>
            <a:r>
              <a:rPr lang="en-US" dirty="0" err="1" smtClean="0"/>
              <a:t>kapasitor</a:t>
            </a:r>
            <a:r>
              <a:rPr lang="en-US" dirty="0" smtClean="0"/>
              <a:t>, </a:t>
            </a:r>
            <a:r>
              <a:rPr lang="en-US" dirty="0" err="1" smtClean="0"/>
              <a:t>sedangkan</a:t>
            </a:r>
            <a:r>
              <a:rPr lang="en-US" dirty="0" smtClean="0"/>
              <a:t> </a:t>
            </a:r>
            <a:r>
              <a:rPr lang="en-US" dirty="0" err="1" smtClean="0"/>
              <a:t>kapasitor</a:t>
            </a:r>
            <a:r>
              <a:rPr lang="en-US" dirty="0" smtClean="0"/>
              <a:t> </a:t>
            </a:r>
            <a:r>
              <a:rPr lang="en-US" dirty="0" err="1" smtClean="0"/>
              <a:t>berfungsi</a:t>
            </a:r>
            <a:r>
              <a:rPr lang="en-US" dirty="0" smtClean="0"/>
              <a:t> </a:t>
            </a:r>
            <a:r>
              <a:rPr lang="en-US" dirty="0" err="1" smtClean="0"/>
              <a:t>sebagai</a:t>
            </a:r>
            <a:r>
              <a:rPr lang="en-US" dirty="0" smtClean="0"/>
              <a:t> </a:t>
            </a:r>
            <a:r>
              <a:rPr lang="en-US" dirty="0" err="1" smtClean="0"/>
              <a:t>kopel</a:t>
            </a:r>
            <a:r>
              <a:rPr lang="en-US" dirty="0" smtClean="0"/>
              <a:t> yang </a:t>
            </a:r>
            <a:r>
              <a:rPr lang="en-US" dirty="0" err="1" smtClean="0"/>
              <a:t>akan</a:t>
            </a:r>
            <a:r>
              <a:rPr lang="en-US" dirty="0" smtClean="0"/>
              <a:t> </a:t>
            </a:r>
            <a:r>
              <a:rPr lang="en-US" dirty="0" err="1" smtClean="0"/>
              <a:t>menentukan</a:t>
            </a:r>
            <a:r>
              <a:rPr lang="en-US" dirty="0" smtClean="0"/>
              <a:t> </a:t>
            </a:r>
            <a:r>
              <a:rPr lang="en-US" dirty="0" err="1" smtClean="0"/>
              <a:t>besar</a:t>
            </a:r>
            <a:r>
              <a:rPr lang="en-US" dirty="0" smtClean="0"/>
              <a:t> </a:t>
            </a:r>
            <a:r>
              <a:rPr lang="en-US" dirty="0" err="1" smtClean="0"/>
              <a:t>tegangan</a:t>
            </a:r>
            <a:r>
              <a:rPr lang="en-US" dirty="0" smtClean="0"/>
              <a:t> </a:t>
            </a:r>
            <a:r>
              <a:rPr lang="en-US" dirty="0" err="1" smtClean="0"/>
              <a:t>dari</a:t>
            </a:r>
            <a:r>
              <a:rPr lang="en-US" dirty="0" smtClean="0"/>
              <a:t> </a:t>
            </a:r>
            <a:r>
              <a:rPr lang="en-US" dirty="0" err="1" smtClean="0"/>
              <a:t>komponen</a:t>
            </a:r>
            <a:r>
              <a:rPr lang="en-US" dirty="0" smtClean="0"/>
              <a:t> </a:t>
            </a:r>
            <a:r>
              <a:rPr lang="en-US" dirty="0" err="1" smtClean="0"/>
              <a:t>penguat</a:t>
            </a:r>
            <a:r>
              <a:rPr lang="en-US" dirty="0" smtClean="0"/>
              <a:t> yang </a:t>
            </a:r>
            <a:r>
              <a:rPr lang="en-US" dirty="0" err="1" smtClean="0"/>
              <a:t>aktif</a:t>
            </a:r>
            <a:r>
              <a:rPr lang="en-US" dirty="0" smtClean="0"/>
              <a:t>.</a:t>
            </a:r>
          </a:p>
          <a:p>
            <a:r>
              <a:rPr lang="en-US" dirty="0" err="1"/>
              <a:t>Rangkaian</a:t>
            </a:r>
            <a:r>
              <a:rPr lang="en-US" dirty="0"/>
              <a:t> </a:t>
            </a:r>
            <a:r>
              <a:rPr lang="en-US" dirty="0" err="1"/>
              <a:t>multivibrator</a:t>
            </a:r>
            <a:r>
              <a:rPr lang="en-US" dirty="0"/>
              <a:t> </a:t>
            </a:r>
            <a:r>
              <a:rPr lang="en-US" dirty="0" err="1"/>
              <a:t>dapat</a:t>
            </a:r>
            <a:r>
              <a:rPr lang="en-US" dirty="0"/>
              <a:t> </a:t>
            </a:r>
            <a:r>
              <a:rPr lang="en-US" dirty="0" err="1"/>
              <a:t>dibuat</a:t>
            </a:r>
            <a:r>
              <a:rPr lang="en-US" dirty="0"/>
              <a:t> </a:t>
            </a:r>
            <a:r>
              <a:rPr lang="en-US" dirty="0" err="1"/>
              <a:t>dengan</a:t>
            </a:r>
            <a:r>
              <a:rPr lang="en-US" dirty="0"/>
              <a:t> transistor </a:t>
            </a:r>
            <a:r>
              <a:rPr lang="en-US" dirty="0" smtClean="0"/>
              <a:t>BJT, </a:t>
            </a:r>
            <a:r>
              <a:rPr lang="en-US" dirty="0"/>
              <a:t>FET </a:t>
            </a:r>
            <a:r>
              <a:rPr lang="en-US" dirty="0" err="1"/>
              <a:t>dan</a:t>
            </a:r>
            <a:r>
              <a:rPr lang="en-US" dirty="0"/>
              <a:t> </a:t>
            </a:r>
            <a:r>
              <a:rPr lang="en-US" dirty="0" smtClean="0"/>
              <a:t>op-amp, </a:t>
            </a:r>
            <a:r>
              <a:rPr lang="en-US" dirty="0" err="1" smtClean="0"/>
              <a:t>karena</a:t>
            </a:r>
            <a:r>
              <a:rPr lang="en-US" dirty="0" smtClean="0"/>
              <a:t> </a:t>
            </a:r>
            <a:r>
              <a:rPr lang="en-US" dirty="0" err="1"/>
              <a:t>cara</a:t>
            </a:r>
            <a:r>
              <a:rPr lang="en-US" dirty="0"/>
              <a:t> </a:t>
            </a:r>
            <a:r>
              <a:rPr lang="en-US" dirty="0" err="1"/>
              <a:t>kerja</a:t>
            </a:r>
            <a:r>
              <a:rPr lang="en-US" dirty="0"/>
              <a:t> FET </a:t>
            </a:r>
            <a:r>
              <a:rPr lang="en-US" dirty="0" err="1"/>
              <a:t>lebih</a:t>
            </a:r>
            <a:r>
              <a:rPr lang="en-US" dirty="0"/>
              <a:t> </a:t>
            </a:r>
            <a:r>
              <a:rPr lang="en-US" dirty="0" err="1"/>
              <a:t>rumit</a:t>
            </a:r>
            <a:r>
              <a:rPr lang="en-US" dirty="0"/>
              <a:t> </a:t>
            </a:r>
            <a:r>
              <a:rPr lang="en-US" dirty="0" err="1"/>
              <a:t>dari</a:t>
            </a:r>
            <a:r>
              <a:rPr lang="en-US" dirty="0"/>
              <a:t> </a:t>
            </a:r>
            <a:r>
              <a:rPr lang="en-US" dirty="0" err="1"/>
              <a:t>cara</a:t>
            </a:r>
            <a:r>
              <a:rPr lang="en-US" dirty="0"/>
              <a:t> </a:t>
            </a:r>
            <a:r>
              <a:rPr lang="en-US" dirty="0" err="1"/>
              <a:t>kerja</a:t>
            </a:r>
            <a:r>
              <a:rPr lang="en-US" dirty="0"/>
              <a:t> BJT, </a:t>
            </a:r>
            <a:r>
              <a:rPr lang="en-US" dirty="0" err="1"/>
              <a:t>rangkaian</a:t>
            </a:r>
            <a:r>
              <a:rPr lang="en-US" dirty="0"/>
              <a:t> </a:t>
            </a:r>
            <a:r>
              <a:rPr lang="en-US" dirty="0" err="1"/>
              <a:t>multivibrator</a:t>
            </a:r>
            <a:r>
              <a:rPr lang="en-US" dirty="0"/>
              <a:t> </a:t>
            </a:r>
            <a:r>
              <a:rPr lang="en-US" dirty="0" err="1"/>
              <a:t>pada</a:t>
            </a:r>
            <a:r>
              <a:rPr lang="en-US" dirty="0"/>
              <a:t> </a:t>
            </a:r>
            <a:r>
              <a:rPr lang="en-US" dirty="0" err="1"/>
              <a:t>umumnya</a:t>
            </a:r>
            <a:r>
              <a:rPr lang="en-US" dirty="0"/>
              <a:t> </a:t>
            </a:r>
            <a:r>
              <a:rPr lang="en-US" dirty="0" err="1"/>
              <a:t>dibuat</a:t>
            </a:r>
            <a:r>
              <a:rPr lang="en-US" dirty="0"/>
              <a:t> </a:t>
            </a:r>
            <a:r>
              <a:rPr lang="en-US" dirty="0" err="1"/>
              <a:t>dengan</a:t>
            </a:r>
            <a:r>
              <a:rPr lang="en-US" dirty="0"/>
              <a:t> </a:t>
            </a:r>
            <a:r>
              <a:rPr lang="en-US" dirty="0" err="1"/>
              <a:t>rangkaian</a:t>
            </a:r>
            <a:r>
              <a:rPr lang="en-US" dirty="0"/>
              <a:t> BJT. </a:t>
            </a:r>
          </a:p>
          <a:p>
            <a:endParaRPr lang="en-US" dirty="0"/>
          </a:p>
        </p:txBody>
      </p:sp>
      <p:sp>
        <p:nvSpPr>
          <p:cNvPr id="4" name="Rounded Rectangle 3">
            <a:hlinkClick r:id="rId2" action="ppaction://hlinksldjump"/>
          </p:cNvPr>
          <p:cNvSpPr/>
          <p:nvPr/>
        </p:nvSpPr>
        <p:spPr>
          <a:xfrm>
            <a:off x="2452662" y="901304"/>
            <a:ext cx="7429552" cy="851297"/>
          </a:xfrm>
          <a:prstGeom prst="roundRect">
            <a:avLst/>
          </a:prstGeom>
        </p:spPr>
        <p:style>
          <a:lnRef idx="3">
            <a:schemeClr val="lt1"/>
          </a:lnRef>
          <a:fillRef idx="1">
            <a:schemeClr val="accent2"/>
          </a:fillRef>
          <a:effectRef idx="1">
            <a:schemeClr val="accent2"/>
          </a:effectRef>
          <a:fontRef idx="minor">
            <a:schemeClr val="lt1"/>
          </a:fontRef>
        </p:style>
        <p:txBody>
          <a:bodyPr wrap="square" rtlCol="0" anchor="ctr" anchorCtr="1">
            <a:spAutoFit/>
          </a:bodyPr>
          <a:lstStyle/>
          <a:p>
            <a:pPr marL="514350" indent="-514350" algn="ctr"/>
            <a:r>
              <a:rPr lang="en-US" sz="4400"/>
              <a:t>Konsep Dasar Multivibrator</a:t>
            </a:r>
            <a:endParaRPr lang="en-US" sz="4400"/>
          </a:p>
        </p:txBody>
      </p:sp>
    </p:spTree>
    <p:extLst>
      <p:ext uri="{BB962C8B-B14F-4D97-AF65-F5344CB8AC3E}">
        <p14:creationId xmlns:p14="http://schemas.microsoft.com/office/powerpoint/2010/main" val="16565780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dirty="0"/>
          </a:p>
        </p:txBody>
      </p:sp>
      <p:sp>
        <p:nvSpPr>
          <p:cNvPr id="3" name="Content Placeholder 2"/>
          <p:cNvSpPr>
            <a:spLocks noGrp="1"/>
          </p:cNvSpPr>
          <p:nvPr>
            <p:ph idx="1"/>
          </p:nvPr>
        </p:nvSpPr>
        <p:spPr>
          <a:xfrm>
            <a:off x="2152650" y="2362200"/>
            <a:ext cx="7886700" cy="4351338"/>
          </a:xfrm>
        </p:spPr>
        <p:txBody>
          <a:bodyPr/>
          <a:lstStyle/>
          <a:p>
            <a:r>
              <a:rPr lang="en-US" dirty="0" err="1" smtClean="0"/>
              <a:t>Berdasarkan</a:t>
            </a:r>
            <a:r>
              <a:rPr lang="en-US" dirty="0" smtClean="0"/>
              <a:t> </a:t>
            </a:r>
            <a:r>
              <a:rPr lang="en-US" dirty="0" err="1" smtClean="0"/>
              <a:t>bentuk</a:t>
            </a:r>
            <a:r>
              <a:rPr lang="en-US" dirty="0" smtClean="0"/>
              <a:t> </a:t>
            </a:r>
            <a:r>
              <a:rPr lang="en-US" dirty="0" err="1" smtClean="0"/>
              <a:t>sinyal</a:t>
            </a:r>
            <a:r>
              <a:rPr lang="en-US" dirty="0" smtClean="0"/>
              <a:t> </a:t>
            </a:r>
            <a:r>
              <a:rPr lang="en-US" dirty="0" err="1" smtClean="0"/>
              <a:t>keluaran</a:t>
            </a:r>
            <a:r>
              <a:rPr lang="en-US" dirty="0" smtClean="0"/>
              <a:t> (output), </a:t>
            </a:r>
            <a:r>
              <a:rPr lang="en-US" dirty="0" err="1" smtClean="0"/>
              <a:t>multivibrator</a:t>
            </a:r>
            <a:r>
              <a:rPr lang="en-US" dirty="0" smtClean="0"/>
              <a:t> </a:t>
            </a:r>
            <a:r>
              <a:rPr lang="en-US" dirty="0" err="1" smtClean="0"/>
              <a:t>dapat</a:t>
            </a:r>
            <a:r>
              <a:rPr lang="en-US" dirty="0" smtClean="0"/>
              <a:t> </a:t>
            </a:r>
            <a:r>
              <a:rPr lang="en-US" dirty="0" err="1" smtClean="0"/>
              <a:t>dibagi</a:t>
            </a:r>
            <a:r>
              <a:rPr lang="en-US" dirty="0" smtClean="0"/>
              <a:t> </a:t>
            </a:r>
            <a:r>
              <a:rPr lang="en-US" dirty="0" err="1" smtClean="0"/>
              <a:t>ke</a:t>
            </a:r>
            <a:r>
              <a:rPr lang="en-US" dirty="0" smtClean="0"/>
              <a:t> </a:t>
            </a:r>
            <a:r>
              <a:rPr lang="en-US" dirty="0" err="1" smtClean="0"/>
              <a:t>dalam</a:t>
            </a:r>
            <a:r>
              <a:rPr lang="en-US" dirty="0" smtClean="0"/>
              <a:t> 3 </a:t>
            </a:r>
            <a:r>
              <a:rPr lang="en-US" dirty="0" err="1" smtClean="0"/>
              <a:t>jenis</a:t>
            </a:r>
            <a:r>
              <a:rPr lang="en-US" dirty="0" smtClean="0"/>
              <a:t>, </a:t>
            </a:r>
            <a:r>
              <a:rPr lang="en-US" dirty="0" err="1" smtClean="0"/>
              <a:t>yaitu</a:t>
            </a:r>
            <a:r>
              <a:rPr lang="en-US" dirty="0" smtClean="0"/>
              <a:t>:</a:t>
            </a:r>
          </a:p>
        </p:txBody>
      </p:sp>
      <p:sp>
        <p:nvSpPr>
          <p:cNvPr id="4" name="Rounded Rectangle 3">
            <a:hlinkClick r:id="rId2" action="ppaction://hlinksldjump"/>
          </p:cNvPr>
          <p:cNvSpPr/>
          <p:nvPr/>
        </p:nvSpPr>
        <p:spPr>
          <a:xfrm>
            <a:off x="2438400" y="3200400"/>
            <a:ext cx="6643734" cy="442674"/>
          </a:xfrm>
          <a:prstGeom prst="roundRect">
            <a:avLst/>
          </a:prstGeom>
        </p:spPr>
        <p:style>
          <a:lnRef idx="1">
            <a:schemeClr val="accent2"/>
          </a:lnRef>
          <a:fillRef idx="2">
            <a:schemeClr val="accent2"/>
          </a:fillRef>
          <a:effectRef idx="1">
            <a:schemeClr val="accent2"/>
          </a:effectRef>
          <a:fontRef idx="minor">
            <a:schemeClr val="dk1"/>
          </a:fontRef>
        </p:style>
        <p:txBody>
          <a:bodyPr wrap="square" rtlCol="0" anchor="ctr" anchorCtr="1">
            <a:spAutoFit/>
          </a:bodyPr>
          <a:lstStyle/>
          <a:p>
            <a:pPr marL="514350" indent="-514350"/>
            <a:r>
              <a:rPr lang="en-US" sz="2000"/>
              <a:t>1. Multivibrator astabil (astable multivibrator)</a:t>
            </a:r>
          </a:p>
        </p:txBody>
      </p:sp>
      <p:sp>
        <p:nvSpPr>
          <p:cNvPr id="5" name="Rounded Rectangle 4">
            <a:hlinkClick r:id="rId3" action="ppaction://hlinksldjump"/>
          </p:cNvPr>
          <p:cNvSpPr/>
          <p:nvPr/>
        </p:nvSpPr>
        <p:spPr>
          <a:xfrm>
            <a:off x="3186066" y="3810000"/>
            <a:ext cx="6643734" cy="442674"/>
          </a:xfrm>
          <a:prstGeom prst="roundRect">
            <a:avLst/>
          </a:prstGeom>
        </p:spPr>
        <p:style>
          <a:lnRef idx="1">
            <a:schemeClr val="accent6"/>
          </a:lnRef>
          <a:fillRef idx="2">
            <a:schemeClr val="accent6"/>
          </a:fillRef>
          <a:effectRef idx="1">
            <a:schemeClr val="accent6"/>
          </a:effectRef>
          <a:fontRef idx="minor">
            <a:schemeClr val="dk1"/>
          </a:fontRef>
        </p:style>
        <p:txBody>
          <a:bodyPr wrap="square" rtlCol="0" anchor="ctr" anchorCtr="1">
            <a:spAutoFit/>
          </a:bodyPr>
          <a:lstStyle/>
          <a:p>
            <a:pPr marL="514350" indent="-514350"/>
            <a:r>
              <a:rPr lang="en-US" sz="2000">
                <a:solidFill>
                  <a:schemeClr val="tx1"/>
                </a:solidFill>
              </a:rPr>
              <a:t>2. Multivibrator monostabil (monostable multivibrator)</a:t>
            </a:r>
          </a:p>
        </p:txBody>
      </p:sp>
      <p:sp>
        <p:nvSpPr>
          <p:cNvPr id="6" name="Rounded Rectangle 5">
            <a:hlinkClick r:id="rId3" action="ppaction://hlinksldjump"/>
          </p:cNvPr>
          <p:cNvSpPr/>
          <p:nvPr/>
        </p:nvSpPr>
        <p:spPr>
          <a:xfrm>
            <a:off x="3643266" y="4495800"/>
            <a:ext cx="6643734" cy="442674"/>
          </a:xfrm>
          <a:prstGeom prst="roundRect">
            <a:avLst/>
          </a:prstGeom>
        </p:spPr>
        <p:style>
          <a:lnRef idx="1">
            <a:schemeClr val="accent3"/>
          </a:lnRef>
          <a:fillRef idx="2">
            <a:schemeClr val="accent3"/>
          </a:fillRef>
          <a:effectRef idx="1">
            <a:schemeClr val="accent3"/>
          </a:effectRef>
          <a:fontRef idx="minor">
            <a:schemeClr val="dk1"/>
          </a:fontRef>
        </p:style>
        <p:txBody>
          <a:bodyPr wrap="square" rtlCol="0" anchor="ctr" anchorCtr="1">
            <a:spAutoFit/>
          </a:bodyPr>
          <a:lstStyle/>
          <a:p>
            <a:pPr marL="514350" indent="-514350"/>
            <a:r>
              <a:rPr lang="en-US" sz="2000"/>
              <a:t>3</a:t>
            </a:r>
            <a:r>
              <a:rPr lang="en-US" sz="2000"/>
              <a:t>. Multivibrator bistabil (bistable multivibrator)</a:t>
            </a:r>
            <a:endParaRPr lang="en-US" sz="2000"/>
          </a:p>
        </p:txBody>
      </p:sp>
      <p:sp>
        <p:nvSpPr>
          <p:cNvPr id="7" name="Rounded Rectangle 6">
            <a:hlinkClick r:id="rId2" action="ppaction://hlinksldjump"/>
          </p:cNvPr>
          <p:cNvSpPr/>
          <p:nvPr/>
        </p:nvSpPr>
        <p:spPr>
          <a:xfrm>
            <a:off x="2381224" y="1053704"/>
            <a:ext cx="7429552" cy="851297"/>
          </a:xfrm>
          <a:prstGeom prst="roundRect">
            <a:avLst/>
          </a:prstGeom>
        </p:spPr>
        <p:style>
          <a:lnRef idx="3">
            <a:schemeClr val="lt1"/>
          </a:lnRef>
          <a:fillRef idx="1">
            <a:schemeClr val="accent6"/>
          </a:fillRef>
          <a:effectRef idx="1">
            <a:schemeClr val="accent6"/>
          </a:effectRef>
          <a:fontRef idx="minor">
            <a:schemeClr val="lt1"/>
          </a:fontRef>
        </p:style>
        <p:txBody>
          <a:bodyPr wrap="square" rtlCol="0" anchor="ctr" anchorCtr="1">
            <a:spAutoFit/>
          </a:bodyPr>
          <a:lstStyle/>
          <a:p>
            <a:pPr marL="514350" indent="-514350" algn="ctr"/>
            <a:r>
              <a:rPr lang="en-US" sz="4400">
                <a:solidFill>
                  <a:schemeClr val="tx1"/>
                </a:solidFill>
              </a:rPr>
              <a:t>Jenis-jenis Multivibrator</a:t>
            </a:r>
            <a:endParaRPr lang="en-US" sz="4400">
              <a:solidFill>
                <a:schemeClr val="tx1"/>
              </a:solidFill>
            </a:endParaRPr>
          </a:p>
        </p:txBody>
      </p:sp>
    </p:spTree>
    <p:extLst>
      <p:ext uri="{BB962C8B-B14F-4D97-AF65-F5344CB8AC3E}">
        <p14:creationId xmlns:p14="http://schemas.microsoft.com/office/powerpoint/2010/main" val="30895811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a:xfrm>
            <a:off x="2152650" y="2582862"/>
            <a:ext cx="7886700" cy="4351338"/>
          </a:xfrm>
        </p:spPr>
        <p:txBody>
          <a:bodyPr>
            <a:normAutofit/>
          </a:bodyPr>
          <a:lstStyle/>
          <a:p>
            <a:r>
              <a:rPr lang="en-US" i="1" dirty="0" err="1"/>
              <a:t>Multivibrator</a:t>
            </a:r>
            <a:r>
              <a:rPr lang="en-US" i="1" dirty="0"/>
              <a:t> </a:t>
            </a:r>
            <a:r>
              <a:rPr lang="en-US" i="1" dirty="0" err="1" smtClean="0"/>
              <a:t>astabil</a:t>
            </a:r>
            <a:r>
              <a:rPr lang="en-US" i="1" dirty="0" smtClean="0"/>
              <a:t> </a:t>
            </a:r>
            <a:r>
              <a:rPr lang="en-US" dirty="0" err="1" smtClean="0"/>
              <a:t>adalah</a:t>
            </a:r>
            <a:r>
              <a:rPr lang="en-US" dirty="0" smtClean="0"/>
              <a:t> </a:t>
            </a:r>
            <a:r>
              <a:rPr lang="en-US" dirty="0" err="1" smtClean="0"/>
              <a:t>suatu</a:t>
            </a:r>
            <a:r>
              <a:rPr lang="en-US" dirty="0" smtClean="0"/>
              <a:t> </a:t>
            </a:r>
            <a:r>
              <a:rPr lang="en-US" dirty="0" err="1" smtClean="0"/>
              <a:t>rangkaian</a:t>
            </a:r>
            <a:r>
              <a:rPr lang="en-US" dirty="0" smtClean="0"/>
              <a:t> yang </a:t>
            </a:r>
            <a:r>
              <a:rPr lang="en-US" dirty="0" err="1" smtClean="0"/>
              <a:t>mempunyai</a:t>
            </a:r>
            <a:r>
              <a:rPr lang="en-US" dirty="0" smtClean="0"/>
              <a:t> </a:t>
            </a:r>
            <a:r>
              <a:rPr lang="en-US" dirty="0" err="1" smtClean="0"/>
              <a:t>dua</a:t>
            </a:r>
            <a:r>
              <a:rPr lang="en-US" dirty="0" smtClean="0"/>
              <a:t> state </a:t>
            </a:r>
            <a:r>
              <a:rPr lang="en-US" dirty="0" err="1" smtClean="0"/>
              <a:t>dan</a:t>
            </a:r>
            <a:r>
              <a:rPr lang="en-US" dirty="0" smtClean="0"/>
              <a:t> yang </a:t>
            </a:r>
            <a:r>
              <a:rPr lang="en-US" dirty="0" err="1" smtClean="0"/>
              <a:t>berosilasi</a:t>
            </a:r>
            <a:r>
              <a:rPr lang="en-US" dirty="0" smtClean="0"/>
              <a:t> </a:t>
            </a:r>
            <a:r>
              <a:rPr lang="en-US" dirty="0" err="1" smtClean="0"/>
              <a:t>secara</a:t>
            </a:r>
            <a:r>
              <a:rPr lang="en-US" dirty="0" smtClean="0"/>
              <a:t> </a:t>
            </a:r>
            <a:r>
              <a:rPr lang="en-US" dirty="0" err="1" smtClean="0"/>
              <a:t>kontinu</a:t>
            </a:r>
            <a:r>
              <a:rPr lang="en-US" dirty="0" smtClean="0"/>
              <a:t> </a:t>
            </a:r>
            <a:r>
              <a:rPr lang="en-US" dirty="0" err="1" smtClean="0"/>
              <a:t>guna</a:t>
            </a:r>
            <a:r>
              <a:rPr lang="en-US" dirty="0" smtClean="0"/>
              <a:t> </a:t>
            </a:r>
            <a:r>
              <a:rPr lang="en-US" dirty="0" err="1" smtClean="0"/>
              <a:t>menghasilkan</a:t>
            </a:r>
            <a:r>
              <a:rPr lang="en-US" dirty="0" smtClean="0"/>
              <a:t> </a:t>
            </a:r>
            <a:r>
              <a:rPr lang="en-US" dirty="0" err="1" smtClean="0"/>
              <a:t>bentuk</a:t>
            </a:r>
            <a:r>
              <a:rPr lang="en-US" dirty="0" smtClean="0"/>
              <a:t> </a:t>
            </a:r>
            <a:r>
              <a:rPr lang="en-US" dirty="0" err="1" smtClean="0"/>
              <a:t>gelombang</a:t>
            </a:r>
            <a:r>
              <a:rPr lang="en-US" dirty="0" smtClean="0"/>
              <a:t> </a:t>
            </a:r>
            <a:r>
              <a:rPr lang="en-US" dirty="0" err="1" smtClean="0"/>
              <a:t>persegi</a:t>
            </a:r>
            <a:r>
              <a:rPr lang="en-US" dirty="0" smtClean="0"/>
              <a:t> </a:t>
            </a:r>
            <a:r>
              <a:rPr lang="en-US" dirty="0" err="1" smtClean="0"/>
              <a:t>atau</a:t>
            </a:r>
            <a:r>
              <a:rPr lang="en-US" dirty="0" smtClean="0"/>
              <a:t> </a:t>
            </a:r>
            <a:r>
              <a:rPr lang="en-US" dirty="0" err="1" smtClean="0"/>
              <a:t>pulsa</a:t>
            </a:r>
            <a:r>
              <a:rPr lang="en-US" dirty="0" smtClean="0"/>
              <a:t> </a:t>
            </a:r>
            <a:r>
              <a:rPr lang="en-US" dirty="0" err="1" smtClean="0"/>
              <a:t>dioutputnya</a:t>
            </a:r>
            <a:r>
              <a:rPr lang="en-US" dirty="0" smtClean="0"/>
              <a:t> </a:t>
            </a:r>
            <a:endParaRPr lang="en-US" dirty="0"/>
          </a:p>
          <a:p>
            <a:r>
              <a:rPr lang="en-US" dirty="0" err="1" smtClean="0"/>
              <a:t>Pada</a:t>
            </a:r>
            <a:r>
              <a:rPr lang="en-US" dirty="0" smtClean="0"/>
              <a:t> </a:t>
            </a:r>
            <a:r>
              <a:rPr lang="en-US" dirty="0" err="1" smtClean="0"/>
              <a:t>multivibrator</a:t>
            </a:r>
            <a:r>
              <a:rPr lang="en-US" dirty="0" smtClean="0"/>
              <a:t> </a:t>
            </a:r>
            <a:r>
              <a:rPr lang="en-US" dirty="0" err="1"/>
              <a:t>astabil</a:t>
            </a:r>
            <a:r>
              <a:rPr lang="en-US" dirty="0"/>
              <a:t>, </a:t>
            </a:r>
            <a:r>
              <a:rPr lang="en-US" dirty="0" err="1" smtClean="0"/>
              <a:t>outputnya</a:t>
            </a:r>
            <a:r>
              <a:rPr lang="en-US" dirty="0" smtClean="0"/>
              <a:t> </a:t>
            </a:r>
            <a:r>
              <a:rPr lang="en-US" dirty="0" err="1" smtClean="0"/>
              <a:t>tidak</a:t>
            </a:r>
            <a:r>
              <a:rPr lang="en-US" dirty="0" smtClean="0"/>
              <a:t> </a:t>
            </a:r>
            <a:r>
              <a:rPr lang="en-US" dirty="0" err="1" smtClean="0"/>
              <a:t>stabil</a:t>
            </a:r>
            <a:r>
              <a:rPr lang="en-US" dirty="0" smtClean="0"/>
              <a:t> </a:t>
            </a:r>
            <a:r>
              <a:rPr lang="en-US" dirty="0" err="1" smtClean="0"/>
              <a:t>pada</a:t>
            </a:r>
            <a:r>
              <a:rPr lang="en-US" dirty="0" smtClean="0"/>
              <a:t> </a:t>
            </a:r>
            <a:r>
              <a:rPr lang="en-US" dirty="0" err="1" smtClean="0"/>
              <a:t>setiap</a:t>
            </a:r>
            <a:r>
              <a:rPr lang="en-US" dirty="0" smtClean="0"/>
              <a:t> state</a:t>
            </a:r>
            <a:r>
              <a:rPr lang="en-US" dirty="0"/>
              <a:t>, </a:t>
            </a:r>
            <a:r>
              <a:rPr lang="en-US" dirty="0" err="1" smtClean="0"/>
              <a:t>tapi</a:t>
            </a:r>
            <a:r>
              <a:rPr lang="en-US" dirty="0" smtClean="0"/>
              <a:t> </a:t>
            </a:r>
            <a:r>
              <a:rPr lang="en-US" dirty="0" err="1" smtClean="0"/>
              <a:t>akan</a:t>
            </a:r>
            <a:r>
              <a:rPr lang="en-US" dirty="0" smtClean="0"/>
              <a:t> </a:t>
            </a:r>
            <a:r>
              <a:rPr lang="en-US" dirty="0" err="1" smtClean="0"/>
              <a:t>berubah</a:t>
            </a:r>
            <a:r>
              <a:rPr lang="en-US" dirty="0" smtClean="0"/>
              <a:t> </a:t>
            </a:r>
            <a:r>
              <a:rPr lang="en-US" dirty="0" err="1" smtClean="0"/>
              <a:t>secara</a:t>
            </a:r>
            <a:r>
              <a:rPr lang="en-US" dirty="0" smtClean="0"/>
              <a:t> </a:t>
            </a:r>
            <a:r>
              <a:rPr lang="en-US" dirty="0" err="1" smtClean="0"/>
              <a:t>kontinu</a:t>
            </a:r>
            <a:r>
              <a:rPr lang="en-US" dirty="0" smtClean="0"/>
              <a:t> </a:t>
            </a:r>
            <a:r>
              <a:rPr lang="en-US" dirty="0" err="1" smtClean="0"/>
              <a:t>dari</a:t>
            </a:r>
            <a:r>
              <a:rPr lang="en-US" dirty="0" smtClean="0"/>
              <a:t> 0 </a:t>
            </a:r>
            <a:r>
              <a:rPr lang="en-US" dirty="0"/>
              <a:t>ke1 </a:t>
            </a:r>
            <a:r>
              <a:rPr lang="en-US" dirty="0" err="1" smtClean="0"/>
              <a:t>dan</a:t>
            </a:r>
            <a:r>
              <a:rPr lang="en-US" dirty="0" smtClean="0"/>
              <a:t> </a:t>
            </a:r>
            <a:r>
              <a:rPr lang="en-US" dirty="0" err="1" smtClean="0"/>
              <a:t>dari</a:t>
            </a:r>
            <a:r>
              <a:rPr lang="en-US" dirty="0" smtClean="0"/>
              <a:t> 1 </a:t>
            </a:r>
            <a:r>
              <a:rPr lang="en-US" dirty="0" err="1" smtClean="0"/>
              <a:t>ke</a:t>
            </a:r>
            <a:r>
              <a:rPr lang="en-US" dirty="0" smtClean="0"/>
              <a:t> 0 </a:t>
            </a:r>
          </a:p>
          <a:p>
            <a:r>
              <a:rPr lang="en-US" dirty="0" err="1" smtClean="0"/>
              <a:t>Prinsip</a:t>
            </a:r>
            <a:r>
              <a:rPr lang="en-US" dirty="0" smtClean="0"/>
              <a:t> </a:t>
            </a:r>
            <a:r>
              <a:rPr lang="en-US" dirty="0" err="1" smtClean="0"/>
              <a:t>ini</a:t>
            </a:r>
            <a:r>
              <a:rPr lang="en-US" dirty="0" smtClean="0"/>
              <a:t> </a:t>
            </a:r>
            <a:r>
              <a:rPr lang="en-US" dirty="0" err="1" smtClean="0"/>
              <a:t>sama</a:t>
            </a:r>
            <a:r>
              <a:rPr lang="en-US" dirty="0" smtClean="0"/>
              <a:t> </a:t>
            </a:r>
            <a:r>
              <a:rPr lang="en-US" dirty="0" err="1" smtClean="0"/>
              <a:t>dengan</a:t>
            </a:r>
            <a:r>
              <a:rPr lang="en-US" dirty="0" smtClean="0"/>
              <a:t> </a:t>
            </a:r>
            <a:r>
              <a:rPr lang="en-US" dirty="0" err="1" smtClean="0"/>
              <a:t>rangkaian</a:t>
            </a:r>
            <a:r>
              <a:rPr lang="en-US" dirty="0" smtClean="0"/>
              <a:t> </a:t>
            </a:r>
            <a:r>
              <a:rPr lang="en-US" dirty="0" err="1" smtClean="0"/>
              <a:t>osilator</a:t>
            </a:r>
            <a:r>
              <a:rPr lang="en-US" dirty="0" smtClean="0"/>
              <a:t> </a:t>
            </a:r>
            <a:r>
              <a:rPr lang="en-US" dirty="0" err="1" smtClean="0"/>
              <a:t>dan</a:t>
            </a:r>
            <a:r>
              <a:rPr lang="en-US" dirty="0" smtClean="0"/>
              <a:t> </a:t>
            </a:r>
            <a:r>
              <a:rPr lang="en-US" dirty="0" err="1" smtClean="0"/>
              <a:t>kondisi</a:t>
            </a:r>
            <a:r>
              <a:rPr lang="en-US" dirty="0" smtClean="0"/>
              <a:t> </a:t>
            </a:r>
            <a:r>
              <a:rPr lang="en-US" dirty="0" err="1" smtClean="0"/>
              <a:t>ini</a:t>
            </a:r>
            <a:r>
              <a:rPr lang="en-US" dirty="0" smtClean="0"/>
              <a:t> </a:t>
            </a:r>
            <a:r>
              <a:rPr lang="en-US" dirty="0" err="1" smtClean="0"/>
              <a:t>sering</a:t>
            </a:r>
            <a:r>
              <a:rPr lang="en-US" dirty="0" smtClean="0"/>
              <a:t> </a:t>
            </a:r>
            <a:r>
              <a:rPr lang="en-US" dirty="0" err="1" smtClean="0"/>
              <a:t>disebut</a:t>
            </a:r>
            <a:r>
              <a:rPr lang="en-US" dirty="0" smtClean="0"/>
              <a:t> </a:t>
            </a:r>
            <a:r>
              <a:rPr lang="en-US" dirty="0" err="1" smtClean="0"/>
              <a:t>dengan</a:t>
            </a:r>
            <a:r>
              <a:rPr lang="en-US" dirty="0" smtClean="0"/>
              <a:t> </a:t>
            </a:r>
            <a:r>
              <a:rPr lang="en-US" i="1" dirty="0" smtClean="0"/>
              <a:t>free running</a:t>
            </a:r>
            <a:endParaRPr lang="en-US" dirty="0" smtClean="0"/>
          </a:p>
          <a:p>
            <a:endParaRPr lang="en-US" dirty="0"/>
          </a:p>
        </p:txBody>
      </p:sp>
      <p:sp>
        <p:nvSpPr>
          <p:cNvPr id="5" name="Rounded Rectangle 4"/>
          <p:cNvSpPr/>
          <p:nvPr/>
        </p:nvSpPr>
        <p:spPr>
          <a:xfrm>
            <a:off x="1952596" y="1081078"/>
            <a:ext cx="8429684" cy="135732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400"/>
              <a:t>Multivibrator Astabil</a:t>
            </a:r>
            <a:endParaRPr lang="en-US" sz="4400"/>
          </a:p>
        </p:txBody>
      </p:sp>
    </p:spTree>
    <p:extLst>
      <p:ext uri="{BB962C8B-B14F-4D97-AF65-F5344CB8AC3E}">
        <p14:creationId xmlns:p14="http://schemas.microsoft.com/office/powerpoint/2010/main" val="3675331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Astable</a:t>
            </a:r>
            <a:r>
              <a:rPr lang="en-US" dirty="0" smtClean="0"/>
              <a:t> </a:t>
            </a:r>
            <a:r>
              <a:rPr lang="en-US" dirty="0" err="1" smtClean="0"/>
              <a:t>Multivibrator</a:t>
            </a:r>
            <a:r>
              <a:rPr lang="en-US" dirty="0" smtClean="0"/>
              <a:t> </a:t>
            </a:r>
            <a:r>
              <a:rPr lang="en-US" dirty="0" err="1" smtClean="0"/>
              <a:t>menggunakan</a:t>
            </a:r>
            <a:r>
              <a:rPr lang="en-US" dirty="0" smtClean="0"/>
              <a:t> 2 BJT</a:t>
            </a:r>
            <a:endParaRPr lang="en-US" dirty="0"/>
          </a:p>
        </p:txBody>
      </p:sp>
      <p:sp>
        <p:nvSpPr>
          <p:cNvPr id="3" name="Content Placeholder 2"/>
          <p:cNvSpPr>
            <a:spLocks noGrp="1"/>
          </p:cNvSpPr>
          <p:nvPr>
            <p:ph idx="1"/>
          </p:nvPr>
        </p:nvSpPr>
        <p:spPr>
          <a:xfrm>
            <a:off x="6072187" y="1295401"/>
            <a:ext cx="3967163" cy="4881563"/>
          </a:xfrm>
        </p:spPr>
        <p:txBody>
          <a:bodyPr>
            <a:normAutofit fontScale="70000" lnSpcReduction="20000"/>
          </a:bodyPr>
          <a:lstStyle/>
          <a:p>
            <a:pPr>
              <a:buFontTx/>
              <a:buChar char="-"/>
            </a:pPr>
            <a:r>
              <a:rPr lang="en-US" sz="2400" dirty="0" err="1"/>
              <a:t>Asumsi</a:t>
            </a:r>
            <a:r>
              <a:rPr lang="en-US" sz="2400" dirty="0"/>
              <a:t> TR1 cut-off (OFF) </a:t>
            </a:r>
            <a:r>
              <a:rPr lang="en-US" sz="2400" dirty="0" err="1"/>
              <a:t>dan</a:t>
            </a:r>
            <a:r>
              <a:rPr lang="en-US" sz="2400" dirty="0"/>
              <a:t> TR2 </a:t>
            </a:r>
            <a:r>
              <a:rPr lang="en-US" sz="2400" dirty="0" err="1"/>
              <a:t>saturasi</a:t>
            </a:r>
            <a:r>
              <a:rPr lang="en-US" sz="2400" dirty="0"/>
              <a:t> (ON) </a:t>
            </a:r>
            <a:r>
              <a:rPr lang="en-US" sz="2400" dirty="0">
                <a:sym typeface="Wingdings" panose="05000000000000000000" pitchFamily="2" charset="2"/>
              </a:rPr>
              <a:t></a:t>
            </a:r>
            <a:r>
              <a:rPr lang="en-US" sz="2400" dirty="0"/>
              <a:t> C2 </a:t>
            </a:r>
            <a:r>
              <a:rPr lang="en-US" sz="2400" dirty="0" err="1"/>
              <a:t>pengisian</a:t>
            </a:r>
            <a:r>
              <a:rPr lang="en-US" sz="2400" dirty="0"/>
              <a:t> </a:t>
            </a:r>
            <a:r>
              <a:rPr lang="en-US" sz="2400" dirty="0" err="1"/>
              <a:t>muatan</a:t>
            </a:r>
            <a:r>
              <a:rPr lang="en-US" sz="2400" dirty="0"/>
              <a:t> </a:t>
            </a:r>
            <a:r>
              <a:rPr lang="en-US" sz="2400" dirty="0" err="1"/>
              <a:t>melalui</a:t>
            </a:r>
            <a:r>
              <a:rPr lang="en-US" sz="2400" dirty="0"/>
              <a:t> R2 </a:t>
            </a:r>
            <a:r>
              <a:rPr lang="en-US" sz="2400" dirty="0" err="1"/>
              <a:t>ke</a:t>
            </a:r>
            <a:r>
              <a:rPr lang="en-US" sz="2400" dirty="0"/>
              <a:t> ground </a:t>
            </a:r>
            <a:r>
              <a:rPr lang="en-US" sz="2400" dirty="0" err="1"/>
              <a:t>melalui</a:t>
            </a:r>
            <a:r>
              <a:rPr lang="en-US" sz="2400" dirty="0"/>
              <a:t> </a:t>
            </a:r>
            <a:r>
              <a:rPr lang="en-US" sz="2400" dirty="0" err="1"/>
              <a:t>kolektor</a:t>
            </a:r>
            <a:r>
              <a:rPr lang="en-US" sz="2400" dirty="0"/>
              <a:t> </a:t>
            </a:r>
            <a:r>
              <a:rPr lang="en-US" sz="2400" dirty="0" err="1"/>
              <a:t>emitor</a:t>
            </a:r>
            <a:r>
              <a:rPr lang="en-US" sz="2400" dirty="0"/>
              <a:t> TR2</a:t>
            </a:r>
          </a:p>
          <a:p>
            <a:pPr>
              <a:buFontTx/>
              <a:buChar char="-"/>
            </a:pPr>
            <a:r>
              <a:rPr lang="en-US" sz="2400" dirty="0" err="1"/>
              <a:t>Saat</a:t>
            </a:r>
            <a:r>
              <a:rPr lang="en-US" sz="2400" dirty="0"/>
              <a:t> </a:t>
            </a:r>
            <a:r>
              <a:rPr lang="en-US" sz="2400" dirty="0" err="1"/>
              <a:t>muatan</a:t>
            </a:r>
            <a:r>
              <a:rPr lang="en-US" sz="2400" dirty="0"/>
              <a:t> </a:t>
            </a:r>
            <a:r>
              <a:rPr lang="en-US" sz="2400" dirty="0" err="1"/>
              <a:t>penuh</a:t>
            </a:r>
            <a:r>
              <a:rPr lang="en-US" sz="2400" dirty="0"/>
              <a:t> C2 </a:t>
            </a:r>
            <a:r>
              <a:rPr lang="en-US" sz="2400" dirty="0">
                <a:sym typeface="Wingdings" panose="05000000000000000000" pitchFamily="2" charset="2"/>
              </a:rPr>
              <a:t></a:t>
            </a:r>
            <a:r>
              <a:rPr lang="en-US" sz="2400" dirty="0"/>
              <a:t> TR1 </a:t>
            </a:r>
            <a:r>
              <a:rPr lang="en-US" sz="2400" dirty="0" err="1"/>
              <a:t>mendapat</a:t>
            </a:r>
            <a:r>
              <a:rPr lang="en-US" sz="2400" dirty="0"/>
              <a:t> bias </a:t>
            </a:r>
            <a:r>
              <a:rPr lang="en-US" sz="2400" dirty="0" err="1"/>
              <a:t>maju</a:t>
            </a:r>
            <a:r>
              <a:rPr lang="en-US" sz="2400" dirty="0"/>
              <a:t> </a:t>
            </a:r>
            <a:r>
              <a:rPr lang="en-US" sz="2400" dirty="0">
                <a:sym typeface="Wingdings" panose="05000000000000000000" pitchFamily="2" charset="2"/>
              </a:rPr>
              <a:t></a:t>
            </a:r>
            <a:r>
              <a:rPr lang="en-US" sz="2400" dirty="0"/>
              <a:t> </a:t>
            </a:r>
            <a:r>
              <a:rPr lang="en-US" sz="2400" dirty="0" err="1"/>
              <a:t>saturasi</a:t>
            </a:r>
            <a:r>
              <a:rPr lang="en-US" sz="2400" dirty="0"/>
              <a:t> (ON) </a:t>
            </a:r>
            <a:r>
              <a:rPr lang="en-US" sz="2400" dirty="0" err="1"/>
              <a:t>kondisi</a:t>
            </a:r>
            <a:r>
              <a:rPr lang="en-US" sz="2400" dirty="0"/>
              <a:t> </a:t>
            </a:r>
            <a:r>
              <a:rPr lang="en-US" sz="2400" dirty="0" err="1"/>
              <a:t>ini</a:t>
            </a:r>
            <a:r>
              <a:rPr lang="en-US" sz="2400" dirty="0"/>
              <a:t> </a:t>
            </a:r>
            <a:r>
              <a:rPr lang="en-US" sz="2400" dirty="0" err="1"/>
              <a:t>akan</a:t>
            </a:r>
            <a:r>
              <a:rPr lang="en-US" sz="2400" dirty="0"/>
              <a:t> </a:t>
            </a:r>
            <a:r>
              <a:rPr lang="en-US" sz="2400" dirty="0" err="1"/>
              <a:t>memaksa</a:t>
            </a:r>
            <a:r>
              <a:rPr lang="en-US" sz="2400" dirty="0"/>
              <a:t> TR2 </a:t>
            </a:r>
            <a:r>
              <a:rPr lang="en-US" sz="2400" dirty="0" err="1"/>
              <a:t>menjadi</a:t>
            </a:r>
            <a:r>
              <a:rPr lang="en-US" sz="2400" dirty="0"/>
              <a:t> cut-off (OFF) </a:t>
            </a:r>
            <a:r>
              <a:rPr lang="en-US" sz="2400" dirty="0" err="1"/>
              <a:t>dengan</a:t>
            </a:r>
            <a:r>
              <a:rPr lang="en-US" sz="2400" dirty="0"/>
              <a:t> </a:t>
            </a:r>
            <a:r>
              <a:rPr lang="en-US" sz="2400" dirty="0" err="1"/>
              <a:t>cepat</a:t>
            </a:r>
            <a:r>
              <a:rPr lang="en-US" sz="2400" dirty="0"/>
              <a:t> </a:t>
            </a:r>
            <a:r>
              <a:rPr lang="en-US" sz="2400" dirty="0" err="1"/>
              <a:t>sehingga</a:t>
            </a:r>
            <a:r>
              <a:rPr lang="en-US" sz="2400" dirty="0"/>
              <a:t> </a:t>
            </a:r>
            <a:r>
              <a:rPr lang="en-US" sz="2400" dirty="0" err="1"/>
              <a:t>muatan</a:t>
            </a:r>
            <a:r>
              <a:rPr lang="en-US" sz="2400" dirty="0"/>
              <a:t> C2 </a:t>
            </a:r>
            <a:r>
              <a:rPr lang="en-US" sz="2400" dirty="0" err="1"/>
              <a:t>akan</a:t>
            </a:r>
            <a:r>
              <a:rPr lang="en-US" sz="2400" dirty="0"/>
              <a:t> </a:t>
            </a:r>
            <a:r>
              <a:rPr lang="en-US" sz="2400" dirty="0" err="1"/>
              <a:t>dilepas</a:t>
            </a:r>
            <a:r>
              <a:rPr lang="en-US" sz="2400" dirty="0"/>
              <a:t> </a:t>
            </a:r>
            <a:r>
              <a:rPr lang="en-US" sz="2400" dirty="0" err="1"/>
              <a:t>melalui</a:t>
            </a:r>
            <a:r>
              <a:rPr lang="en-US" sz="2400" dirty="0"/>
              <a:t> basis TR1</a:t>
            </a:r>
          </a:p>
          <a:p>
            <a:pPr>
              <a:buFontTx/>
              <a:buChar char="-"/>
            </a:pPr>
            <a:r>
              <a:rPr lang="en-US" sz="2400" dirty="0" err="1"/>
              <a:t>Saat</a:t>
            </a:r>
            <a:r>
              <a:rPr lang="en-US" sz="2400" dirty="0"/>
              <a:t> </a:t>
            </a:r>
            <a:r>
              <a:rPr lang="en-US" sz="2400" dirty="0"/>
              <a:t>yang </a:t>
            </a:r>
            <a:r>
              <a:rPr lang="en-US" sz="2400" dirty="0" err="1"/>
              <a:t>sama</a:t>
            </a:r>
            <a:r>
              <a:rPr lang="en-US" sz="2400" dirty="0"/>
              <a:t> C1 </a:t>
            </a:r>
            <a:r>
              <a:rPr lang="en-US" sz="2400" dirty="0" err="1"/>
              <a:t>mengisi</a:t>
            </a:r>
            <a:r>
              <a:rPr lang="en-US" sz="2400" dirty="0"/>
              <a:t> </a:t>
            </a:r>
            <a:r>
              <a:rPr lang="en-US" sz="2400" dirty="0" err="1"/>
              <a:t>muatan</a:t>
            </a:r>
            <a:r>
              <a:rPr lang="en-US" sz="2400" dirty="0"/>
              <a:t> </a:t>
            </a:r>
            <a:r>
              <a:rPr lang="en-US" sz="2400" dirty="0" err="1"/>
              <a:t>sampai</a:t>
            </a:r>
            <a:r>
              <a:rPr lang="en-US" sz="2400" dirty="0"/>
              <a:t> </a:t>
            </a:r>
            <a:r>
              <a:rPr lang="en-US" sz="2400" dirty="0" err="1"/>
              <a:t>penuh</a:t>
            </a:r>
            <a:r>
              <a:rPr lang="en-US" sz="2400" dirty="0"/>
              <a:t> </a:t>
            </a:r>
            <a:r>
              <a:rPr lang="en-US" sz="2400" dirty="0" err="1"/>
              <a:t>melalui</a:t>
            </a:r>
            <a:r>
              <a:rPr lang="en-US" sz="2400" dirty="0"/>
              <a:t> R3 </a:t>
            </a:r>
            <a:r>
              <a:rPr lang="en-US" sz="2400" dirty="0" err="1"/>
              <a:t>ke</a:t>
            </a:r>
            <a:r>
              <a:rPr lang="en-US" sz="2400" dirty="0"/>
              <a:t> ground </a:t>
            </a:r>
            <a:r>
              <a:rPr lang="en-US" sz="2400" dirty="0" err="1"/>
              <a:t>melalui</a:t>
            </a:r>
            <a:r>
              <a:rPr lang="en-US" sz="2400" dirty="0"/>
              <a:t> </a:t>
            </a:r>
            <a:r>
              <a:rPr lang="en-US" sz="2400" dirty="0" err="1"/>
              <a:t>kolektor</a:t>
            </a:r>
            <a:r>
              <a:rPr lang="en-US" sz="2400" dirty="0"/>
              <a:t> </a:t>
            </a:r>
            <a:r>
              <a:rPr lang="en-US" sz="2400" dirty="0" err="1"/>
              <a:t>emitor</a:t>
            </a:r>
            <a:r>
              <a:rPr lang="en-US" sz="2400" dirty="0"/>
              <a:t> TR1. </a:t>
            </a:r>
          </a:p>
          <a:p>
            <a:pPr>
              <a:buFontTx/>
              <a:buChar char="-"/>
            </a:pPr>
            <a:r>
              <a:rPr lang="en-US" sz="2400" dirty="0" err="1"/>
              <a:t>Kemudian</a:t>
            </a:r>
            <a:r>
              <a:rPr lang="en-US" sz="2400" dirty="0"/>
              <a:t> </a:t>
            </a:r>
            <a:r>
              <a:rPr lang="en-US" sz="2400" dirty="0" err="1"/>
              <a:t>pada</a:t>
            </a:r>
            <a:r>
              <a:rPr lang="en-US" sz="2400" dirty="0"/>
              <a:t> </a:t>
            </a:r>
            <a:r>
              <a:rPr lang="en-US" sz="2400" dirty="0" err="1"/>
              <a:t>saat</a:t>
            </a:r>
            <a:r>
              <a:rPr lang="en-US" sz="2400" dirty="0"/>
              <a:t> C1 </a:t>
            </a:r>
            <a:r>
              <a:rPr lang="en-US" sz="2400" dirty="0" err="1"/>
              <a:t>penuh</a:t>
            </a:r>
            <a:r>
              <a:rPr lang="en-US" sz="2400" dirty="0"/>
              <a:t> </a:t>
            </a:r>
            <a:r>
              <a:rPr lang="en-US" sz="2400" dirty="0">
                <a:sym typeface="Wingdings" panose="05000000000000000000" pitchFamily="2" charset="2"/>
              </a:rPr>
              <a:t></a:t>
            </a:r>
            <a:r>
              <a:rPr lang="en-US" sz="2400" dirty="0"/>
              <a:t> TR2 </a:t>
            </a:r>
            <a:r>
              <a:rPr lang="en-US" sz="2400" dirty="0" err="1"/>
              <a:t>mendapat</a:t>
            </a:r>
            <a:r>
              <a:rPr lang="en-US" sz="2400" dirty="0"/>
              <a:t> bias </a:t>
            </a:r>
            <a:r>
              <a:rPr lang="en-US" sz="2400" dirty="0" err="1"/>
              <a:t>maju</a:t>
            </a:r>
            <a:r>
              <a:rPr lang="en-US" sz="2400" dirty="0"/>
              <a:t> </a:t>
            </a:r>
            <a:r>
              <a:rPr lang="en-US" sz="2400" dirty="0">
                <a:sym typeface="Wingdings" panose="05000000000000000000" pitchFamily="2" charset="2"/>
              </a:rPr>
              <a:t></a:t>
            </a:r>
            <a:r>
              <a:rPr lang="en-US" sz="2400" dirty="0"/>
              <a:t> </a:t>
            </a:r>
            <a:r>
              <a:rPr lang="en-US" sz="2400" dirty="0" err="1"/>
              <a:t>saturasi</a:t>
            </a:r>
            <a:r>
              <a:rPr lang="en-US" sz="2400" dirty="0"/>
              <a:t> (ON) </a:t>
            </a:r>
            <a:r>
              <a:rPr lang="en-US" sz="2400" dirty="0" err="1"/>
              <a:t>dan</a:t>
            </a:r>
            <a:r>
              <a:rPr lang="en-US" sz="2400" dirty="0"/>
              <a:t> </a:t>
            </a:r>
            <a:r>
              <a:rPr lang="en-US" sz="2400" dirty="0" err="1"/>
              <a:t>memaksa</a:t>
            </a:r>
            <a:r>
              <a:rPr lang="en-US" sz="2400" dirty="0"/>
              <a:t> TR1 </a:t>
            </a:r>
            <a:r>
              <a:rPr lang="en-US" sz="2400" dirty="0" err="1"/>
              <a:t>berubah</a:t>
            </a:r>
            <a:r>
              <a:rPr lang="en-US" sz="2400" dirty="0"/>
              <a:t> </a:t>
            </a:r>
            <a:r>
              <a:rPr lang="en-US" sz="2400" dirty="0" err="1"/>
              <a:t>jadi</a:t>
            </a:r>
            <a:r>
              <a:rPr lang="en-US" sz="2400" dirty="0"/>
              <a:t> cut-off (OFF) </a:t>
            </a:r>
            <a:r>
              <a:rPr lang="en-US" sz="2400" dirty="0" err="1"/>
              <a:t>dan</a:t>
            </a:r>
            <a:r>
              <a:rPr lang="en-US" sz="2400" dirty="0"/>
              <a:t> C1 </a:t>
            </a:r>
            <a:r>
              <a:rPr lang="en-US" sz="2400" dirty="0" err="1"/>
              <a:t>mengosongkan</a:t>
            </a:r>
            <a:r>
              <a:rPr lang="en-US" sz="2400" dirty="0"/>
              <a:t> </a:t>
            </a:r>
            <a:r>
              <a:rPr lang="en-US" sz="2400" dirty="0" err="1"/>
              <a:t>muatan</a:t>
            </a:r>
            <a:r>
              <a:rPr lang="en-US" sz="2400" dirty="0"/>
              <a:t> </a:t>
            </a:r>
            <a:r>
              <a:rPr lang="en-US" sz="2400" dirty="0" err="1"/>
              <a:t>lagi</a:t>
            </a:r>
            <a:r>
              <a:rPr lang="en-US" sz="2400" dirty="0"/>
              <a:t> </a:t>
            </a:r>
            <a:r>
              <a:rPr lang="en-US" sz="2400" dirty="0" err="1"/>
              <a:t>sampai</a:t>
            </a:r>
            <a:r>
              <a:rPr lang="en-US" sz="2400" dirty="0"/>
              <a:t> C2 </a:t>
            </a:r>
            <a:r>
              <a:rPr lang="en-US" sz="2400" dirty="0" err="1"/>
              <a:t>penuh</a:t>
            </a:r>
            <a:r>
              <a:rPr lang="en-US" sz="2400" dirty="0"/>
              <a:t> </a:t>
            </a:r>
            <a:r>
              <a:rPr lang="en-US" sz="2400" dirty="0" err="1"/>
              <a:t>dan</a:t>
            </a:r>
            <a:r>
              <a:rPr lang="en-US" sz="2400" dirty="0"/>
              <a:t> </a:t>
            </a:r>
            <a:r>
              <a:rPr lang="en-US" sz="2400" dirty="0" err="1"/>
              <a:t>membuat</a:t>
            </a:r>
            <a:r>
              <a:rPr lang="en-US" sz="2400" dirty="0"/>
              <a:t> TR1 </a:t>
            </a:r>
            <a:r>
              <a:rPr lang="en-US" sz="2400" dirty="0" err="1"/>
              <a:t>menjadi</a:t>
            </a:r>
            <a:r>
              <a:rPr lang="en-US" sz="2400" dirty="0"/>
              <a:t> ON </a:t>
            </a:r>
            <a:r>
              <a:rPr lang="en-US" sz="2400" dirty="0" err="1"/>
              <a:t>dan</a:t>
            </a:r>
            <a:r>
              <a:rPr lang="en-US" sz="2400" dirty="0"/>
              <a:t> TR2 </a:t>
            </a:r>
            <a:r>
              <a:rPr lang="en-US" sz="2400" dirty="0" err="1"/>
              <a:t>menjadi</a:t>
            </a:r>
            <a:r>
              <a:rPr lang="en-US" sz="2400" dirty="0"/>
              <a:t> OFF </a:t>
            </a:r>
            <a:r>
              <a:rPr lang="en-US" sz="2400" dirty="0" err="1"/>
              <a:t>lagi</a:t>
            </a:r>
            <a:r>
              <a:rPr lang="en-US" sz="2400" dirty="0"/>
              <a:t> </a:t>
            </a:r>
            <a:r>
              <a:rPr lang="en-US" sz="2400" dirty="0" err="1"/>
              <a:t>dan</a:t>
            </a:r>
            <a:r>
              <a:rPr lang="en-US" sz="2400" dirty="0"/>
              <a:t> </a:t>
            </a:r>
            <a:r>
              <a:rPr lang="en-US" sz="2400" dirty="0" err="1"/>
              <a:t>seterusnya</a:t>
            </a:r>
            <a:r>
              <a:rPr lang="en-US" sz="2400" dirty="0"/>
              <a:t> </a:t>
            </a:r>
            <a:r>
              <a:rPr lang="en-US" sz="2400" dirty="0" err="1"/>
              <a:t>akan</a:t>
            </a:r>
            <a:r>
              <a:rPr lang="en-US" sz="2400" dirty="0"/>
              <a:t> </a:t>
            </a:r>
            <a:r>
              <a:rPr lang="en-US" sz="2400" dirty="0" err="1"/>
              <a:t>berjalan</a:t>
            </a:r>
            <a:r>
              <a:rPr lang="en-US" sz="2400" dirty="0"/>
              <a:t> </a:t>
            </a:r>
            <a:r>
              <a:rPr lang="en-US" sz="2400" dirty="0" err="1"/>
              <a:t>seperti</a:t>
            </a:r>
            <a:r>
              <a:rPr lang="en-US" sz="2400" dirty="0"/>
              <a:t> </a:t>
            </a:r>
            <a:r>
              <a:rPr lang="en-US" sz="2400" dirty="0" err="1"/>
              <a:t>itu</a:t>
            </a:r>
            <a:r>
              <a:rPr lang="en-US" sz="2400" dirty="0"/>
              <a:t>.</a:t>
            </a:r>
          </a:p>
          <a:p>
            <a:endParaRPr lang="en-US" dirty="0"/>
          </a:p>
        </p:txBody>
      </p:sp>
      <p:pic>
        <p:nvPicPr>
          <p:cNvPr id="7" name="Picture 6"/>
          <p:cNvPicPr>
            <a:picLocks noChangeAspect="1"/>
          </p:cNvPicPr>
          <p:nvPr/>
        </p:nvPicPr>
        <p:blipFill>
          <a:blip r:embed="rId3"/>
          <a:stretch>
            <a:fillRect/>
          </a:stretch>
        </p:blipFill>
        <p:spPr>
          <a:xfrm>
            <a:off x="1524000" y="1341603"/>
            <a:ext cx="4572000" cy="2592223"/>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8610600" y="5791200"/>
                <a:ext cx="2286000" cy="5497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𝑇</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1,38</m:t>
                          </m:r>
                          <m:r>
                            <a:rPr lang="en-US" i="1">
                              <a:latin typeface="Cambria Math" panose="02040503050406030204" pitchFamily="18" charset="0"/>
                            </a:rPr>
                            <m:t>𝑅𝐶</m:t>
                          </m:r>
                        </m:den>
                      </m:f>
                    </m:oMath>
                  </m:oMathPara>
                </a14:m>
                <a:endParaRPr lang="en-US" dirty="0"/>
              </a:p>
            </p:txBody>
          </p:sp>
        </mc:Choice>
        <mc:Fallback>
          <p:sp>
            <p:nvSpPr>
              <p:cNvPr id="5" name="TextBox 4"/>
              <p:cNvSpPr txBox="1">
                <a:spLocks noRot="1" noChangeAspect="1" noMove="1" noResize="1" noEditPoints="1" noAdjustHandles="1" noChangeArrowheads="1" noChangeShapeType="1" noTextEdit="1"/>
              </p:cNvSpPr>
              <p:nvPr/>
            </p:nvSpPr>
            <p:spPr>
              <a:xfrm>
                <a:off x="8610600" y="5791200"/>
                <a:ext cx="2286000" cy="549702"/>
              </a:xfrm>
              <a:prstGeom prst="rect">
                <a:avLst/>
              </a:prstGeom>
              <a:blipFill>
                <a:blip r:embed="rId4"/>
                <a:stretch>
                  <a:fillRect/>
                </a:stretch>
              </a:blipFill>
            </p:spPr>
            <p:txBody>
              <a:bodyPr/>
              <a:lstStyle/>
              <a:p>
                <a:r>
                  <a:rPr lang="en-US">
                    <a:noFill/>
                  </a:rPr>
                  <a:t> </a:t>
                </a:r>
              </a:p>
            </p:txBody>
          </p:sp>
        </mc:Fallback>
      </mc:AlternateContent>
      <p:graphicFrame>
        <p:nvGraphicFramePr>
          <p:cNvPr id="4" name="Object 3">
            <a:hlinkClick r:id="rId5" action="ppaction://hlinkfile"/>
          </p:cNvPr>
          <p:cNvGraphicFramePr>
            <a:graphicFrameLocks noChangeAspect="1"/>
          </p:cNvGraphicFramePr>
          <p:nvPr>
            <p:extLst/>
          </p:nvPr>
        </p:nvGraphicFramePr>
        <p:xfrm>
          <a:off x="2819400" y="4674394"/>
          <a:ext cx="2235200" cy="685800"/>
        </p:xfrm>
        <a:graphic>
          <a:graphicData uri="http://schemas.openxmlformats.org/presentationml/2006/ole">
            <mc:AlternateContent xmlns:mc="http://schemas.openxmlformats.org/markup-compatibility/2006">
              <mc:Choice xmlns:v="urn:schemas-microsoft-com:vml" Requires="v">
                <p:oleObj spid="_x0000_s31747" name="Packager Shell Object" showAsIcon="1" r:id="rId6" imgW="2235600" imgH="685800" progId="Package">
                  <p:embed/>
                </p:oleObj>
              </mc:Choice>
              <mc:Fallback>
                <p:oleObj name="Packager Shell Object" showAsIcon="1" r:id="rId6" imgW="2235600" imgH="685800" progId="Package">
                  <p:embed/>
                  <p:pic>
                    <p:nvPicPr>
                      <p:cNvPr id="4" name="Object 3">
                        <a:hlinkClick r:id="" action="ppaction://hlinkfile"/>
                      </p:cNvPr>
                      <p:cNvPicPr/>
                      <p:nvPr/>
                    </p:nvPicPr>
                    <p:blipFill>
                      <a:blip r:embed="rId7"/>
                      <a:stretch>
                        <a:fillRect/>
                      </a:stretch>
                    </p:blipFill>
                    <p:spPr>
                      <a:xfrm>
                        <a:off x="2819400" y="4674394"/>
                        <a:ext cx="2235200" cy="685800"/>
                      </a:xfrm>
                      <a:prstGeom prst="rect">
                        <a:avLst/>
                      </a:prstGeom>
                    </p:spPr>
                  </p:pic>
                </p:oleObj>
              </mc:Fallback>
            </mc:AlternateContent>
          </a:graphicData>
        </a:graphic>
      </p:graphicFrame>
    </p:spTree>
    <p:extLst>
      <p:ext uri="{BB962C8B-B14F-4D97-AF65-F5344CB8AC3E}">
        <p14:creationId xmlns:p14="http://schemas.microsoft.com/office/powerpoint/2010/main" val="7339776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Astable</a:t>
            </a:r>
            <a:r>
              <a:rPr lang="en-US" dirty="0" smtClean="0"/>
              <a:t> </a:t>
            </a:r>
            <a:r>
              <a:rPr lang="en-US" dirty="0" err="1" smtClean="0"/>
              <a:t>Multivibrator</a:t>
            </a:r>
            <a:r>
              <a:rPr lang="en-US" dirty="0" smtClean="0"/>
              <a:t> </a:t>
            </a:r>
            <a:r>
              <a:rPr lang="en-US" dirty="0" err="1" smtClean="0"/>
              <a:t>dibuat</a:t>
            </a:r>
            <a:r>
              <a:rPr lang="en-US" dirty="0" smtClean="0"/>
              <a:t> </a:t>
            </a:r>
            <a:r>
              <a:rPr lang="en-US" dirty="0" err="1" smtClean="0"/>
              <a:t>dari</a:t>
            </a:r>
            <a:r>
              <a:rPr lang="en-US" dirty="0" smtClean="0"/>
              <a:t> IC 74HC14</a:t>
            </a:r>
            <a:endParaRPr lang="en-US" dirty="0"/>
          </a:p>
        </p:txBody>
      </p:sp>
      <p:sp>
        <p:nvSpPr>
          <p:cNvPr id="3" name="Content Placeholder 2"/>
          <p:cNvSpPr>
            <a:spLocks noGrp="1"/>
          </p:cNvSpPr>
          <p:nvPr>
            <p:ph idx="1"/>
          </p:nvPr>
        </p:nvSpPr>
        <p:spPr/>
        <p:txBody>
          <a:bodyPr/>
          <a:lstStyle/>
          <a:p>
            <a:endParaRPr lang="en-US"/>
          </a:p>
        </p:txBody>
      </p:sp>
      <p:pic>
        <p:nvPicPr>
          <p:cNvPr id="4" name="Content Placeholder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1" y="1681164"/>
            <a:ext cx="5102013" cy="3826510"/>
          </a:xfrm>
          <a:prstGeom prst="rect">
            <a:avLst/>
          </a:prstGeom>
        </p:spPr>
      </p:pic>
      <p:sp>
        <p:nvSpPr>
          <p:cNvPr id="5" name="Content Placeholder 3"/>
          <p:cNvSpPr txBox="1">
            <a:spLocks/>
          </p:cNvSpPr>
          <p:nvPr/>
        </p:nvSpPr>
        <p:spPr>
          <a:xfrm>
            <a:off x="5562600" y="1295400"/>
            <a:ext cx="4800600" cy="518160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800" dirty="0" err="1"/>
              <a:t>Tegangan</a:t>
            </a:r>
            <a:r>
              <a:rPr lang="en-US" sz="1800" dirty="0"/>
              <a:t> supply IC </a:t>
            </a:r>
            <a:r>
              <a:rPr lang="en-US" sz="1800" dirty="0" err="1"/>
              <a:t>dalam</a:t>
            </a:r>
            <a:r>
              <a:rPr lang="en-US" sz="1800" dirty="0"/>
              <a:t> </a:t>
            </a:r>
            <a:r>
              <a:rPr lang="en-US" sz="1800" dirty="0" err="1"/>
              <a:t>keadaan</a:t>
            </a:r>
            <a:r>
              <a:rPr lang="en-US" sz="1800" dirty="0"/>
              <a:t> </a:t>
            </a:r>
            <a:r>
              <a:rPr lang="en-US" sz="1800" dirty="0" err="1"/>
              <a:t>hidup</a:t>
            </a:r>
            <a:r>
              <a:rPr lang="en-US" sz="1800" dirty="0"/>
              <a:t>/ ON, </a:t>
            </a:r>
            <a:r>
              <a:rPr lang="en-US" sz="1800" dirty="0" err="1"/>
              <a:t>sehingga</a:t>
            </a:r>
            <a:r>
              <a:rPr lang="en-US" sz="1800" dirty="0"/>
              <a:t> </a:t>
            </a:r>
            <a:r>
              <a:rPr lang="en-US" sz="1800" dirty="0" err="1"/>
              <a:t>Vkap</a:t>
            </a:r>
            <a:r>
              <a:rPr lang="en-US" sz="1800" dirty="0"/>
              <a:t> </a:t>
            </a:r>
            <a:r>
              <a:rPr lang="en-US" sz="1800" dirty="0" err="1"/>
              <a:t>adalah</a:t>
            </a:r>
            <a:r>
              <a:rPr lang="en-US" sz="1800" dirty="0"/>
              <a:t> 0 V </a:t>
            </a:r>
            <a:r>
              <a:rPr lang="en-US" sz="1800" dirty="0" err="1"/>
              <a:t>dan</a:t>
            </a:r>
            <a:r>
              <a:rPr lang="en-US" sz="1800" dirty="0"/>
              <a:t> </a:t>
            </a:r>
            <a:r>
              <a:rPr lang="en-US" sz="1800" dirty="0" err="1"/>
              <a:t>Vout</a:t>
            </a:r>
            <a:r>
              <a:rPr lang="en-US" sz="1800" dirty="0"/>
              <a:t> </a:t>
            </a:r>
            <a:r>
              <a:rPr lang="en-US" sz="1800" dirty="0" err="1"/>
              <a:t>akan</a:t>
            </a:r>
            <a:r>
              <a:rPr lang="en-US" sz="1800" dirty="0"/>
              <a:t> </a:t>
            </a:r>
            <a:r>
              <a:rPr lang="en-US" sz="1800" dirty="0" err="1"/>
              <a:t>tinggi</a:t>
            </a:r>
            <a:r>
              <a:rPr lang="en-US" sz="1800" dirty="0"/>
              <a:t>/ </a:t>
            </a:r>
            <a:r>
              <a:rPr lang="en-US" sz="1800" dirty="0" err="1"/>
              <a:t>sama</a:t>
            </a:r>
            <a:r>
              <a:rPr lang="en-US" sz="1800" dirty="0"/>
              <a:t> </a:t>
            </a:r>
            <a:r>
              <a:rPr lang="en-US" sz="1800" dirty="0" err="1"/>
              <a:t>dengan</a:t>
            </a:r>
            <a:r>
              <a:rPr lang="en-US" sz="1800" dirty="0"/>
              <a:t> </a:t>
            </a:r>
            <a:r>
              <a:rPr lang="en-US" sz="1800" dirty="0" err="1"/>
              <a:t>tegangan</a:t>
            </a:r>
            <a:r>
              <a:rPr lang="en-US" sz="1800" dirty="0"/>
              <a:t> IC ≈5 V.</a:t>
            </a:r>
          </a:p>
          <a:p>
            <a:r>
              <a:rPr lang="en-US" sz="1800" dirty="0" err="1"/>
              <a:t>Kapasitor</a:t>
            </a:r>
            <a:r>
              <a:rPr lang="en-US" sz="1800" dirty="0"/>
              <a:t> </a:t>
            </a:r>
            <a:r>
              <a:rPr lang="en-US" sz="1800" dirty="0" err="1"/>
              <a:t>akan</a:t>
            </a:r>
            <a:r>
              <a:rPr lang="en-US" sz="1800" dirty="0"/>
              <a:t> </a:t>
            </a:r>
            <a:r>
              <a:rPr lang="en-US" sz="1800" dirty="0" err="1"/>
              <a:t>mulai</a:t>
            </a:r>
            <a:r>
              <a:rPr lang="en-US" sz="1800" dirty="0"/>
              <a:t> </a:t>
            </a:r>
            <a:r>
              <a:rPr lang="en-US" sz="1800" dirty="0" err="1"/>
              <a:t>mengisi</a:t>
            </a:r>
            <a:r>
              <a:rPr lang="en-US" sz="1800" dirty="0"/>
              <a:t> yang </a:t>
            </a:r>
            <a:r>
              <a:rPr lang="en-US" sz="1800" dirty="0" err="1"/>
              <a:t>sama</a:t>
            </a:r>
            <a:r>
              <a:rPr lang="en-US" sz="1800" dirty="0"/>
              <a:t> </a:t>
            </a:r>
            <a:r>
              <a:rPr lang="en-US" sz="1800" dirty="0" err="1"/>
              <a:t>dengan</a:t>
            </a:r>
            <a:r>
              <a:rPr lang="en-US" sz="1800" dirty="0"/>
              <a:t> </a:t>
            </a:r>
            <a:r>
              <a:rPr lang="en-US" sz="1800" dirty="0" err="1"/>
              <a:t>tegangan</a:t>
            </a:r>
            <a:r>
              <a:rPr lang="en-US" sz="1800" dirty="0"/>
              <a:t> </a:t>
            </a:r>
            <a:r>
              <a:rPr lang="en-US" sz="1800" dirty="0" err="1"/>
              <a:t>Vout</a:t>
            </a:r>
            <a:r>
              <a:rPr lang="en-US" sz="1800" dirty="0"/>
              <a:t>.</a:t>
            </a:r>
          </a:p>
          <a:p>
            <a:r>
              <a:rPr lang="en-US" sz="1800" dirty="0" err="1"/>
              <a:t>Ketika</a:t>
            </a:r>
            <a:r>
              <a:rPr lang="en-US" sz="1800" dirty="0"/>
              <a:t> </a:t>
            </a:r>
            <a:r>
              <a:rPr lang="en-US" sz="1800" dirty="0" err="1"/>
              <a:t>Vkap</a:t>
            </a:r>
            <a:r>
              <a:rPr lang="en-US" sz="1800" dirty="0"/>
              <a:t> </a:t>
            </a:r>
            <a:r>
              <a:rPr lang="en-US" sz="1800" dirty="0" err="1"/>
              <a:t>menuju</a:t>
            </a:r>
            <a:r>
              <a:rPr lang="en-US" sz="1800" dirty="0"/>
              <a:t> </a:t>
            </a:r>
            <a:r>
              <a:rPr lang="en-US" sz="1800" dirty="0" err="1"/>
              <a:t>tegangan</a:t>
            </a:r>
            <a:r>
              <a:rPr lang="en-US" sz="1800" dirty="0"/>
              <a:t> </a:t>
            </a:r>
            <a:r>
              <a:rPr lang="en-US" sz="1800" dirty="0" err="1"/>
              <a:t>positif</a:t>
            </a:r>
            <a:r>
              <a:rPr lang="en-US" sz="1800" dirty="0"/>
              <a:t> (VT+) </a:t>
            </a:r>
            <a:r>
              <a:rPr lang="en-US" sz="1800" dirty="0" err="1"/>
              <a:t>dari</a:t>
            </a:r>
            <a:r>
              <a:rPr lang="en-US" sz="1800" dirty="0"/>
              <a:t> </a:t>
            </a:r>
            <a:r>
              <a:rPr lang="en-US" sz="1800" dirty="0" err="1"/>
              <a:t>schmitt</a:t>
            </a:r>
            <a:r>
              <a:rPr lang="en-US" sz="1800" dirty="0"/>
              <a:t> trigger </a:t>
            </a:r>
            <a:r>
              <a:rPr lang="en-US" sz="1800" dirty="0" err="1"/>
              <a:t>yaitu</a:t>
            </a:r>
            <a:r>
              <a:rPr lang="en-US" sz="1800" dirty="0"/>
              <a:t> </a:t>
            </a:r>
            <a:r>
              <a:rPr lang="en-US" sz="1800" dirty="0" err="1"/>
              <a:t>sebesar</a:t>
            </a:r>
            <a:r>
              <a:rPr lang="en-US" sz="1800" dirty="0"/>
              <a:t> 5 V, </a:t>
            </a:r>
            <a:r>
              <a:rPr lang="en-US" sz="1800" dirty="0" err="1"/>
              <a:t>maka</a:t>
            </a:r>
            <a:r>
              <a:rPr lang="en-US" sz="1800" dirty="0"/>
              <a:t> output </a:t>
            </a:r>
            <a:r>
              <a:rPr lang="en-US" sz="1800" dirty="0" err="1"/>
              <a:t>dari</a:t>
            </a:r>
            <a:r>
              <a:rPr lang="en-US" sz="1800" dirty="0"/>
              <a:t> Schmitt </a:t>
            </a:r>
            <a:r>
              <a:rPr lang="en-US" sz="1800" dirty="0" err="1"/>
              <a:t>akan</a:t>
            </a:r>
            <a:r>
              <a:rPr lang="en-US" sz="1800" dirty="0"/>
              <a:t> </a:t>
            </a:r>
            <a:r>
              <a:rPr lang="en-US" sz="1800" dirty="0" err="1"/>
              <a:t>berubah</a:t>
            </a:r>
            <a:r>
              <a:rPr lang="en-US" sz="1800" dirty="0"/>
              <a:t> </a:t>
            </a:r>
            <a:r>
              <a:rPr lang="en-US" sz="1800" dirty="0" err="1"/>
              <a:t>menjadi</a:t>
            </a:r>
            <a:r>
              <a:rPr lang="en-US" sz="1800" dirty="0"/>
              <a:t> </a:t>
            </a:r>
            <a:r>
              <a:rPr lang="en-US" sz="1800" dirty="0" err="1"/>
              <a:t>rendah</a:t>
            </a:r>
            <a:r>
              <a:rPr lang="en-US" sz="1800" dirty="0"/>
              <a:t> (≈0 V).</a:t>
            </a:r>
          </a:p>
          <a:p>
            <a:r>
              <a:rPr lang="en-US" sz="1800" dirty="0" err="1"/>
              <a:t>Karena</a:t>
            </a:r>
            <a:r>
              <a:rPr lang="en-US" sz="1800" dirty="0"/>
              <a:t> </a:t>
            </a:r>
            <a:r>
              <a:rPr lang="en-US" sz="1800" dirty="0" err="1"/>
              <a:t>Vout</a:t>
            </a:r>
            <a:r>
              <a:rPr lang="en-US" sz="1800" dirty="0"/>
              <a:t> ≈ 0 V, </a:t>
            </a:r>
            <a:r>
              <a:rPr lang="en-US" sz="1800" dirty="0" err="1"/>
              <a:t>maka</a:t>
            </a:r>
            <a:r>
              <a:rPr lang="en-US" sz="1800" dirty="0"/>
              <a:t> </a:t>
            </a:r>
            <a:r>
              <a:rPr lang="en-US" sz="1800" dirty="0" err="1"/>
              <a:t>akan</a:t>
            </a:r>
            <a:r>
              <a:rPr lang="en-US" sz="1800" dirty="0"/>
              <a:t> </a:t>
            </a:r>
            <a:r>
              <a:rPr lang="en-US" sz="1800" dirty="0" err="1"/>
              <a:t>terjadi</a:t>
            </a:r>
            <a:r>
              <a:rPr lang="en-US" sz="1800" dirty="0"/>
              <a:t> </a:t>
            </a:r>
            <a:r>
              <a:rPr lang="en-US" sz="1800" dirty="0" err="1"/>
              <a:t>pengosongan</a:t>
            </a:r>
            <a:r>
              <a:rPr lang="en-US" sz="1800" dirty="0"/>
              <a:t> </a:t>
            </a:r>
            <a:r>
              <a:rPr lang="en-US" sz="1800" dirty="0" err="1"/>
              <a:t>kapasitor</a:t>
            </a:r>
            <a:r>
              <a:rPr lang="en-US" sz="1800" dirty="0"/>
              <a:t> </a:t>
            </a:r>
            <a:r>
              <a:rPr lang="en-US" sz="1800" dirty="0" err="1"/>
              <a:t>terhadap</a:t>
            </a:r>
            <a:r>
              <a:rPr lang="en-US" sz="1800" dirty="0"/>
              <a:t> 0 V.</a:t>
            </a:r>
          </a:p>
          <a:p>
            <a:r>
              <a:rPr lang="en-US" sz="1800" dirty="0" err="1"/>
              <a:t>Ketika</a:t>
            </a:r>
            <a:r>
              <a:rPr lang="en-US" sz="1800" dirty="0"/>
              <a:t> </a:t>
            </a:r>
            <a:r>
              <a:rPr lang="en-US" sz="1800" dirty="0" err="1"/>
              <a:t>Vkap</a:t>
            </a:r>
            <a:r>
              <a:rPr lang="en-US" sz="1800" dirty="0"/>
              <a:t> drop </a:t>
            </a:r>
            <a:r>
              <a:rPr lang="en-US" sz="1800" dirty="0" err="1"/>
              <a:t>menuju</a:t>
            </a:r>
            <a:r>
              <a:rPr lang="en-US" sz="1800" dirty="0"/>
              <a:t> </a:t>
            </a:r>
            <a:r>
              <a:rPr lang="en-US" sz="1800" dirty="0" err="1"/>
              <a:t>tegangan</a:t>
            </a:r>
            <a:r>
              <a:rPr lang="en-US" sz="1800" dirty="0"/>
              <a:t> </a:t>
            </a:r>
            <a:r>
              <a:rPr lang="en-US" sz="1800" dirty="0" err="1"/>
              <a:t>negatif</a:t>
            </a:r>
            <a:r>
              <a:rPr lang="en-US" sz="1800" dirty="0"/>
              <a:t> (VT-), </a:t>
            </a:r>
            <a:r>
              <a:rPr lang="en-US" sz="1800" dirty="0" err="1"/>
              <a:t>maka</a:t>
            </a:r>
            <a:r>
              <a:rPr lang="en-US" sz="1800" dirty="0"/>
              <a:t> output Schmitt </a:t>
            </a:r>
            <a:r>
              <a:rPr lang="en-US" sz="1800" dirty="0" err="1"/>
              <a:t>akan</a:t>
            </a:r>
            <a:r>
              <a:rPr lang="en-US" sz="1800" dirty="0"/>
              <a:t> </a:t>
            </a:r>
            <a:r>
              <a:rPr lang="en-US" sz="1800" dirty="0" err="1"/>
              <a:t>kembali</a:t>
            </a:r>
            <a:r>
              <a:rPr lang="en-US" sz="1800" dirty="0"/>
              <a:t> </a:t>
            </a:r>
            <a:r>
              <a:rPr lang="en-US" sz="1800" dirty="0" err="1"/>
              <a:t>menjadi</a:t>
            </a:r>
            <a:r>
              <a:rPr lang="en-US" sz="1800" dirty="0"/>
              <a:t> </a:t>
            </a:r>
            <a:r>
              <a:rPr lang="en-US" sz="1800" dirty="0" err="1"/>
              <a:t>tinggi</a:t>
            </a:r>
            <a:r>
              <a:rPr lang="en-US" sz="1800" dirty="0"/>
              <a:t>.</a:t>
            </a:r>
          </a:p>
          <a:p>
            <a:r>
              <a:rPr lang="en-US" sz="1800" dirty="0" err="1"/>
              <a:t>Kejadian</a:t>
            </a:r>
            <a:r>
              <a:rPr lang="en-US" sz="1800" dirty="0"/>
              <a:t> </a:t>
            </a:r>
            <a:r>
              <a:rPr lang="en-US" sz="1800" dirty="0" err="1"/>
              <a:t>seperti</a:t>
            </a:r>
            <a:r>
              <a:rPr lang="en-US" sz="1800" dirty="0"/>
              <a:t> </a:t>
            </a:r>
            <a:r>
              <a:rPr lang="en-US" sz="1800" dirty="0" err="1"/>
              <a:t>ini</a:t>
            </a:r>
            <a:r>
              <a:rPr lang="en-US" sz="1800" dirty="0"/>
              <a:t> </a:t>
            </a:r>
            <a:r>
              <a:rPr lang="en-US" sz="1800" dirty="0" err="1"/>
              <a:t>akan</a:t>
            </a:r>
            <a:r>
              <a:rPr lang="en-US" sz="1800" dirty="0"/>
              <a:t> </a:t>
            </a:r>
            <a:r>
              <a:rPr lang="en-US" sz="1800" dirty="0" err="1"/>
              <a:t>terus</a:t>
            </a:r>
            <a:r>
              <a:rPr lang="en-US" sz="1800" dirty="0"/>
              <a:t> </a:t>
            </a:r>
            <a:r>
              <a:rPr lang="en-US" sz="1800" dirty="0" err="1"/>
              <a:t>berulang</a:t>
            </a:r>
            <a:r>
              <a:rPr lang="en-US" sz="1800" dirty="0"/>
              <a:t>, </a:t>
            </a:r>
            <a:r>
              <a:rPr lang="en-US" sz="1800" dirty="0" err="1"/>
              <a:t>dimana</a:t>
            </a:r>
            <a:r>
              <a:rPr lang="en-US" sz="1800" dirty="0"/>
              <a:t> </a:t>
            </a:r>
            <a:r>
              <a:rPr lang="en-US" sz="1800" dirty="0" err="1"/>
              <a:t>saat</a:t>
            </a:r>
            <a:r>
              <a:rPr lang="en-US" sz="1800" dirty="0"/>
              <a:t> </a:t>
            </a:r>
            <a:r>
              <a:rPr lang="en-US" sz="1800" dirty="0" err="1"/>
              <a:t>pengisian</a:t>
            </a:r>
            <a:r>
              <a:rPr lang="en-US" sz="1800" dirty="0"/>
              <a:t> </a:t>
            </a:r>
            <a:r>
              <a:rPr lang="en-US" sz="1800" dirty="0" err="1"/>
              <a:t>tegangan</a:t>
            </a:r>
            <a:r>
              <a:rPr lang="en-US" sz="1800" dirty="0"/>
              <a:t> </a:t>
            </a:r>
            <a:r>
              <a:rPr lang="en-US" sz="1800" dirty="0" err="1"/>
              <a:t>kapasitor</a:t>
            </a:r>
            <a:r>
              <a:rPr lang="en-US" sz="1800" dirty="0"/>
              <a:t> </a:t>
            </a:r>
            <a:r>
              <a:rPr lang="en-US" sz="1800" dirty="0" err="1"/>
              <a:t>menjadi</a:t>
            </a:r>
            <a:r>
              <a:rPr lang="en-US" sz="1800" dirty="0"/>
              <a:t> VT+ </a:t>
            </a:r>
            <a:r>
              <a:rPr lang="en-US" sz="1800" dirty="0" err="1"/>
              <a:t>dan</a:t>
            </a:r>
            <a:r>
              <a:rPr lang="en-US" sz="1800" dirty="0"/>
              <a:t> </a:t>
            </a:r>
            <a:r>
              <a:rPr lang="en-US" sz="1800" dirty="0" err="1"/>
              <a:t>saat</a:t>
            </a:r>
            <a:r>
              <a:rPr lang="en-US" sz="1800" dirty="0"/>
              <a:t> </a:t>
            </a:r>
            <a:r>
              <a:rPr lang="en-US" sz="1800" dirty="0" err="1"/>
              <a:t>pengosongan</a:t>
            </a:r>
            <a:r>
              <a:rPr lang="en-US" sz="1800" dirty="0"/>
              <a:t> </a:t>
            </a:r>
            <a:r>
              <a:rPr lang="en-US" sz="1800" dirty="0" err="1"/>
              <a:t>tegangan</a:t>
            </a:r>
            <a:r>
              <a:rPr lang="en-US" sz="1800" dirty="0"/>
              <a:t> </a:t>
            </a:r>
            <a:r>
              <a:rPr lang="en-US" sz="1800" dirty="0" err="1"/>
              <a:t>kapasitor</a:t>
            </a:r>
            <a:r>
              <a:rPr lang="en-US" sz="1800" dirty="0"/>
              <a:t> </a:t>
            </a:r>
            <a:r>
              <a:rPr lang="en-US" sz="1800" dirty="0" err="1"/>
              <a:t>turun</a:t>
            </a:r>
            <a:r>
              <a:rPr lang="en-US" sz="1800" dirty="0"/>
              <a:t> </a:t>
            </a:r>
            <a:r>
              <a:rPr lang="en-US" sz="1800" dirty="0" err="1"/>
              <a:t>menjadi</a:t>
            </a:r>
            <a:r>
              <a:rPr lang="en-US" sz="1800" dirty="0"/>
              <a:t> VT-. </a:t>
            </a:r>
          </a:p>
          <a:p>
            <a:pPr marL="0" indent="0">
              <a:buNone/>
            </a:pPr>
            <a:endParaRPr lang="en-US" sz="1800" dirty="0"/>
          </a:p>
        </p:txBody>
      </p:sp>
    </p:spTree>
    <p:extLst>
      <p:ext uri="{BB962C8B-B14F-4D97-AF65-F5344CB8AC3E}">
        <p14:creationId xmlns:p14="http://schemas.microsoft.com/office/powerpoint/2010/main" val="1915050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579438"/>
            <a:ext cx="7886700" cy="1325563"/>
          </a:xfrm>
        </p:spPr>
        <p:txBody>
          <a:bodyPr>
            <a:normAutofit fontScale="90000"/>
          </a:bodyPr>
          <a:lstStyle/>
          <a:p>
            <a:r>
              <a:rPr lang="en-US" dirty="0" err="1"/>
              <a:t>Bentuk</a:t>
            </a:r>
            <a:r>
              <a:rPr lang="en-US" dirty="0"/>
              <a:t> </a:t>
            </a:r>
            <a:r>
              <a:rPr lang="en-US" dirty="0" err="1"/>
              <a:t>gelombang</a:t>
            </a:r>
            <a:r>
              <a:rPr lang="en-US" dirty="0"/>
              <a:t> </a:t>
            </a:r>
            <a:r>
              <a:rPr lang="en-US" dirty="0" err="1"/>
              <a:t>dari</a:t>
            </a:r>
            <a:r>
              <a:rPr lang="en-US" dirty="0"/>
              <a:t> </a:t>
            </a:r>
            <a:r>
              <a:rPr lang="en-US" dirty="0" err="1"/>
              <a:t>rangkaian</a:t>
            </a:r>
            <a:r>
              <a:rPr lang="en-US" dirty="0"/>
              <a:t> </a:t>
            </a:r>
            <a:r>
              <a:rPr lang="en-US" dirty="0" err="1"/>
              <a:t>multivibrator</a:t>
            </a:r>
            <a:r>
              <a:rPr lang="en-US" dirty="0"/>
              <a:t> </a:t>
            </a:r>
            <a:r>
              <a:rPr lang="en-US" dirty="0" err="1"/>
              <a:t>astabil</a:t>
            </a:r>
            <a:r>
              <a:rPr lang="en-US" dirty="0"/>
              <a:t> </a:t>
            </a:r>
            <a:r>
              <a:rPr lang="en-US" dirty="0" err="1"/>
              <a:t>schmitt</a:t>
            </a:r>
            <a:r>
              <a:rPr lang="en-US" dirty="0"/>
              <a:t> trigger</a:t>
            </a:r>
          </a:p>
        </p:txBody>
      </p:sp>
      <p:graphicFrame>
        <p:nvGraphicFramePr>
          <p:cNvPr id="5" name="Content Placeholder 4">
            <a:hlinkClick r:id="rId3" action="ppaction://hlinkfile"/>
          </p:cNvPr>
          <p:cNvGraphicFramePr>
            <a:graphicFrameLocks noGrp="1" noChangeAspect="1"/>
          </p:cNvGraphicFramePr>
          <p:nvPr>
            <p:ph idx="1"/>
            <p:extLst/>
          </p:nvPr>
        </p:nvGraphicFramePr>
        <p:xfrm>
          <a:off x="8445500" y="1627188"/>
          <a:ext cx="1854200" cy="685800"/>
        </p:xfrm>
        <a:graphic>
          <a:graphicData uri="http://schemas.openxmlformats.org/presentationml/2006/ole">
            <mc:AlternateContent xmlns:mc="http://schemas.openxmlformats.org/markup-compatibility/2006">
              <mc:Choice xmlns:v="urn:schemas-microsoft-com:vml" Requires="v">
                <p:oleObj spid="_x0000_s32771" name="Packager Shell Object" showAsIcon="1" r:id="rId4" imgW="1854720" imgH="685800" progId="Package">
                  <p:embed/>
                </p:oleObj>
              </mc:Choice>
              <mc:Fallback>
                <p:oleObj name="Packager Shell Object" showAsIcon="1" r:id="rId4" imgW="1854720" imgH="685800" progId="Package">
                  <p:embed/>
                  <p:pic>
                    <p:nvPicPr>
                      <p:cNvPr id="5" name="Content Placeholder 4">
                        <a:hlinkClick r:id="" action="ppaction://hlinkfile"/>
                      </p:cNvPr>
                      <p:cNvPicPr/>
                      <p:nvPr/>
                    </p:nvPicPr>
                    <p:blipFill>
                      <a:blip r:embed="rId5"/>
                      <a:stretch>
                        <a:fillRect/>
                      </a:stretch>
                    </p:blipFill>
                    <p:spPr>
                      <a:xfrm>
                        <a:off x="8445500" y="1627188"/>
                        <a:ext cx="1854200" cy="685800"/>
                      </a:xfrm>
                      <a:prstGeom prst="rect">
                        <a:avLst/>
                      </a:prstGeom>
                    </p:spPr>
                  </p:pic>
                </p:oleObj>
              </mc:Fallback>
            </mc:AlternateContent>
          </a:graphicData>
        </a:graphic>
      </p:graphicFrame>
      <p:pic>
        <p:nvPicPr>
          <p:cNvPr id="7" name="Picture 6"/>
          <p:cNvPicPr>
            <a:picLocks noChangeAspect="1"/>
          </p:cNvPicPr>
          <p:nvPr/>
        </p:nvPicPr>
        <p:blipFill>
          <a:blip r:embed="rId6"/>
          <a:stretch>
            <a:fillRect/>
          </a:stretch>
        </p:blipFill>
        <p:spPr>
          <a:xfrm>
            <a:off x="2686476" y="2209800"/>
            <a:ext cx="6819048" cy="3800000"/>
          </a:xfrm>
          <a:prstGeom prst="rect">
            <a:avLst/>
          </a:prstGeom>
        </p:spPr>
      </p:pic>
      <p:pic>
        <p:nvPicPr>
          <p:cNvPr id="8" name="Picture 7"/>
          <p:cNvPicPr>
            <a:picLocks noChangeAspect="1"/>
          </p:cNvPicPr>
          <p:nvPr/>
        </p:nvPicPr>
        <p:blipFill>
          <a:blip r:embed="rId7"/>
          <a:stretch>
            <a:fillRect/>
          </a:stretch>
        </p:blipFill>
        <p:spPr>
          <a:xfrm>
            <a:off x="4953001" y="5961183"/>
            <a:ext cx="1333333" cy="571429"/>
          </a:xfrm>
          <a:prstGeom prst="rect">
            <a:avLst/>
          </a:prstGeom>
        </p:spPr>
      </p:pic>
    </p:spTree>
    <p:extLst>
      <p:ext uri="{BB962C8B-B14F-4D97-AF65-F5344CB8AC3E}">
        <p14:creationId xmlns:p14="http://schemas.microsoft.com/office/powerpoint/2010/main" val="707376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Multivibrator Monostabil</a:t>
            </a:r>
            <a:endParaRPr lang="en-US"/>
          </a:p>
        </p:txBody>
      </p:sp>
      <p:sp>
        <p:nvSpPr>
          <p:cNvPr id="3" name="Content Placeholder 2"/>
          <p:cNvSpPr>
            <a:spLocks noGrp="1"/>
          </p:cNvSpPr>
          <p:nvPr>
            <p:ph idx="1"/>
          </p:nvPr>
        </p:nvSpPr>
        <p:spPr/>
        <p:txBody>
          <a:bodyPr>
            <a:normAutofit lnSpcReduction="10000"/>
          </a:bodyPr>
          <a:lstStyle/>
          <a:p>
            <a:r>
              <a:rPr lang="en-US" dirty="0" err="1" smtClean="0"/>
              <a:t>Multivibrator</a:t>
            </a:r>
            <a:r>
              <a:rPr lang="en-US" dirty="0" smtClean="0"/>
              <a:t> </a:t>
            </a:r>
            <a:r>
              <a:rPr lang="en-US" dirty="0" err="1" smtClean="0"/>
              <a:t>monostabil</a:t>
            </a:r>
            <a:r>
              <a:rPr lang="en-US" dirty="0" smtClean="0"/>
              <a:t> </a:t>
            </a:r>
            <a:r>
              <a:rPr lang="en-US" dirty="0" err="1" smtClean="0"/>
              <a:t>adalah</a:t>
            </a:r>
            <a:r>
              <a:rPr lang="en-US" dirty="0" smtClean="0"/>
              <a:t> </a:t>
            </a:r>
            <a:r>
              <a:rPr lang="en-US" dirty="0" err="1" smtClean="0"/>
              <a:t>multivibrator</a:t>
            </a:r>
            <a:r>
              <a:rPr lang="en-US" dirty="0" smtClean="0"/>
              <a:t> yang </a:t>
            </a:r>
            <a:r>
              <a:rPr lang="en-US" dirty="0" err="1" smtClean="0"/>
              <a:t>memiliki</a:t>
            </a:r>
            <a:r>
              <a:rPr lang="en-US" dirty="0" smtClean="0"/>
              <a:t> </a:t>
            </a:r>
            <a:r>
              <a:rPr lang="en-US" dirty="0" err="1" smtClean="0"/>
              <a:t>satu</a:t>
            </a:r>
            <a:r>
              <a:rPr lang="en-US" dirty="0" smtClean="0"/>
              <a:t> </a:t>
            </a:r>
            <a:r>
              <a:rPr lang="en-US" dirty="0" err="1" smtClean="0"/>
              <a:t>kondisi</a:t>
            </a:r>
            <a:r>
              <a:rPr lang="en-US" dirty="0" smtClean="0"/>
              <a:t> </a:t>
            </a:r>
            <a:r>
              <a:rPr lang="en-US" dirty="0" err="1" smtClean="0"/>
              <a:t>stabil</a:t>
            </a:r>
            <a:r>
              <a:rPr lang="en-US" dirty="0" smtClean="0"/>
              <a:t> </a:t>
            </a:r>
            <a:r>
              <a:rPr lang="en-US" dirty="0" err="1" smtClean="0"/>
              <a:t>dan</a:t>
            </a:r>
            <a:r>
              <a:rPr lang="en-US" dirty="0" smtClean="0"/>
              <a:t> </a:t>
            </a:r>
            <a:r>
              <a:rPr lang="en-US" dirty="0" err="1" smtClean="0"/>
              <a:t>satu</a:t>
            </a:r>
            <a:r>
              <a:rPr lang="en-US" dirty="0" smtClean="0"/>
              <a:t> </a:t>
            </a:r>
            <a:r>
              <a:rPr lang="en-US" dirty="0" err="1" smtClean="0"/>
              <a:t>kondisi</a:t>
            </a:r>
            <a:r>
              <a:rPr lang="en-US" dirty="0" smtClean="0"/>
              <a:t> </a:t>
            </a:r>
            <a:r>
              <a:rPr lang="en-US" dirty="0" err="1" smtClean="0"/>
              <a:t>tak</a:t>
            </a:r>
            <a:r>
              <a:rPr lang="en-US" dirty="0" smtClean="0"/>
              <a:t> </a:t>
            </a:r>
            <a:r>
              <a:rPr lang="en-US" dirty="0" err="1" smtClean="0"/>
              <a:t>stabil</a:t>
            </a:r>
            <a:r>
              <a:rPr lang="en-US" dirty="0" smtClean="0"/>
              <a:t>, </a:t>
            </a:r>
            <a:r>
              <a:rPr lang="en-US" dirty="0" err="1">
                <a:ea typeface="Batang" pitchFamily="18" charset="-127"/>
              </a:rPr>
              <a:t>sehingga</a:t>
            </a:r>
            <a:r>
              <a:rPr lang="en-US" dirty="0">
                <a:ea typeface="Batang" pitchFamily="18" charset="-127"/>
              </a:rPr>
              <a:t> </a:t>
            </a:r>
            <a:r>
              <a:rPr lang="en-US" dirty="0" err="1">
                <a:ea typeface="Batang" pitchFamily="18" charset="-127"/>
              </a:rPr>
              <a:t>sering</a:t>
            </a:r>
            <a:r>
              <a:rPr lang="en-US" dirty="0">
                <a:ea typeface="Batang" pitchFamily="18" charset="-127"/>
              </a:rPr>
              <a:t> juga </a:t>
            </a:r>
            <a:r>
              <a:rPr lang="en-US" dirty="0" err="1">
                <a:ea typeface="Batang" pitchFamily="18" charset="-127"/>
              </a:rPr>
              <a:t>disebut</a:t>
            </a:r>
            <a:r>
              <a:rPr lang="en-US" dirty="0">
                <a:ea typeface="Batang" pitchFamily="18" charset="-127"/>
              </a:rPr>
              <a:t> </a:t>
            </a:r>
            <a:r>
              <a:rPr lang="en-US" dirty="0" err="1">
                <a:ea typeface="Batang" pitchFamily="18" charset="-127"/>
              </a:rPr>
              <a:t>sebagai</a:t>
            </a:r>
            <a:r>
              <a:rPr lang="en-US" dirty="0">
                <a:ea typeface="Batang" pitchFamily="18" charset="-127"/>
              </a:rPr>
              <a:t> </a:t>
            </a:r>
            <a:r>
              <a:rPr lang="en-US" dirty="0" err="1">
                <a:ea typeface="Batang" pitchFamily="18" charset="-127"/>
              </a:rPr>
              <a:t>multivibrator</a:t>
            </a:r>
            <a:r>
              <a:rPr lang="en-US" dirty="0">
                <a:ea typeface="Batang" pitchFamily="18" charset="-127"/>
              </a:rPr>
              <a:t> one-shot (timer)</a:t>
            </a:r>
            <a:endParaRPr lang="en-US" dirty="0" smtClean="0"/>
          </a:p>
          <a:p>
            <a:r>
              <a:rPr lang="en-US" dirty="0" err="1" smtClean="0"/>
              <a:t>Mempunyai</a:t>
            </a:r>
            <a:r>
              <a:rPr lang="en-US" dirty="0" smtClean="0"/>
              <a:t> </a:t>
            </a:r>
            <a:r>
              <a:rPr lang="en-US" dirty="0" err="1" smtClean="0"/>
              <a:t>satu</a:t>
            </a:r>
            <a:r>
              <a:rPr lang="en-US" dirty="0" smtClean="0"/>
              <a:t> </a:t>
            </a:r>
            <a:r>
              <a:rPr lang="en-US" dirty="0" err="1" smtClean="0"/>
              <a:t>buah</a:t>
            </a:r>
            <a:r>
              <a:rPr lang="en-US" dirty="0" smtClean="0"/>
              <a:t> </a:t>
            </a:r>
            <a:r>
              <a:rPr lang="en-US" dirty="0" err="1" smtClean="0"/>
              <a:t>masukan</a:t>
            </a:r>
            <a:r>
              <a:rPr lang="en-US" dirty="0" smtClean="0"/>
              <a:t> </a:t>
            </a:r>
            <a:r>
              <a:rPr lang="en-US" dirty="0" err="1" smtClean="0"/>
              <a:t>denyut</a:t>
            </a:r>
            <a:r>
              <a:rPr lang="en-US" dirty="0" smtClean="0"/>
              <a:t> </a:t>
            </a:r>
            <a:r>
              <a:rPr lang="en-US" dirty="0" err="1" smtClean="0"/>
              <a:t>pemicu</a:t>
            </a:r>
            <a:r>
              <a:rPr lang="en-US" dirty="0" smtClean="0"/>
              <a:t> (input trigger pulse) </a:t>
            </a:r>
            <a:r>
              <a:rPr lang="en-US" dirty="0" err="1" smtClean="0"/>
              <a:t>untuk</a:t>
            </a:r>
            <a:r>
              <a:rPr lang="en-US" dirty="0" smtClean="0"/>
              <a:t> </a:t>
            </a:r>
            <a:r>
              <a:rPr lang="en-US" dirty="0" err="1" smtClean="0"/>
              <a:t>mengubah</a:t>
            </a:r>
            <a:r>
              <a:rPr lang="en-US" dirty="0" smtClean="0"/>
              <a:t> </a:t>
            </a:r>
            <a:r>
              <a:rPr lang="en-US" dirty="0" err="1" smtClean="0"/>
              <a:t>keadaan</a:t>
            </a:r>
            <a:r>
              <a:rPr lang="en-US" dirty="0" smtClean="0"/>
              <a:t> </a:t>
            </a:r>
            <a:r>
              <a:rPr lang="en-US" dirty="0" err="1" smtClean="0"/>
              <a:t>stabil</a:t>
            </a:r>
            <a:r>
              <a:rPr lang="en-US" dirty="0" smtClean="0"/>
              <a:t> </a:t>
            </a:r>
            <a:r>
              <a:rPr lang="en-US" dirty="0" err="1" smtClean="0"/>
              <a:t>dan</a:t>
            </a:r>
            <a:r>
              <a:rPr lang="en-US" dirty="0" smtClean="0"/>
              <a:t> </a:t>
            </a:r>
            <a:r>
              <a:rPr lang="en-US" dirty="0" err="1" smtClean="0"/>
              <a:t>tak</a:t>
            </a:r>
            <a:r>
              <a:rPr lang="en-US" dirty="0" smtClean="0"/>
              <a:t> </a:t>
            </a:r>
            <a:r>
              <a:rPr lang="en-US" dirty="0" err="1" smtClean="0"/>
              <a:t>stabil</a:t>
            </a:r>
            <a:r>
              <a:rPr lang="en-US" dirty="0" smtClean="0"/>
              <a:t>.</a:t>
            </a:r>
          </a:p>
          <a:p>
            <a:r>
              <a:rPr lang="en-US" dirty="0" err="1"/>
              <a:t>Multivibrator</a:t>
            </a:r>
            <a:r>
              <a:rPr lang="en-US" dirty="0"/>
              <a:t> </a:t>
            </a:r>
            <a:r>
              <a:rPr lang="en-US" dirty="0" err="1"/>
              <a:t>monostabil</a:t>
            </a:r>
            <a:r>
              <a:rPr lang="en-US" dirty="0"/>
              <a:t> </a:t>
            </a:r>
            <a:r>
              <a:rPr lang="en-US" dirty="0" err="1"/>
              <a:t>adalah</a:t>
            </a:r>
            <a:r>
              <a:rPr lang="en-US" dirty="0"/>
              <a:t> </a:t>
            </a:r>
            <a:r>
              <a:rPr lang="en-US" dirty="0" err="1"/>
              <a:t>suatu</a:t>
            </a:r>
            <a:r>
              <a:rPr lang="en-US" dirty="0"/>
              <a:t> </a:t>
            </a:r>
            <a:r>
              <a:rPr lang="en-US" dirty="0" err="1"/>
              <a:t>rangkaian</a:t>
            </a:r>
            <a:r>
              <a:rPr lang="en-US" dirty="0"/>
              <a:t> yang </a:t>
            </a:r>
            <a:r>
              <a:rPr lang="en-US" dirty="0" err="1"/>
              <a:t>banyak</a:t>
            </a:r>
            <a:r>
              <a:rPr lang="en-US" dirty="0"/>
              <a:t> </a:t>
            </a:r>
            <a:r>
              <a:rPr lang="en-US" dirty="0" err="1"/>
              <a:t>dipakai</a:t>
            </a:r>
            <a:r>
              <a:rPr lang="en-US" dirty="0"/>
              <a:t> </a:t>
            </a:r>
            <a:r>
              <a:rPr lang="en-US" dirty="0" err="1"/>
              <a:t>untuk</a:t>
            </a:r>
            <a:r>
              <a:rPr lang="en-US" dirty="0"/>
              <a:t> </a:t>
            </a:r>
            <a:r>
              <a:rPr lang="en-US" dirty="0" err="1"/>
              <a:t>membangkitkan</a:t>
            </a:r>
            <a:r>
              <a:rPr lang="en-US" dirty="0"/>
              <a:t> </a:t>
            </a:r>
            <a:r>
              <a:rPr lang="en-US" dirty="0" err="1"/>
              <a:t>pulsa</a:t>
            </a:r>
            <a:r>
              <a:rPr lang="en-US" dirty="0"/>
              <a:t> output yang </a:t>
            </a:r>
            <a:r>
              <a:rPr lang="en-US" dirty="0" err="1"/>
              <a:t>lebarnya</a:t>
            </a:r>
            <a:r>
              <a:rPr lang="en-US" dirty="0"/>
              <a:t> </a:t>
            </a:r>
            <a:r>
              <a:rPr lang="en-US" dirty="0" err="1"/>
              <a:t>dan</a:t>
            </a:r>
            <a:r>
              <a:rPr lang="en-US" dirty="0"/>
              <a:t> </a:t>
            </a:r>
            <a:r>
              <a:rPr lang="en-US" dirty="0" err="1"/>
              <a:t>amplitudanya</a:t>
            </a:r>
            <a:r>
              <a:rPr lang="en-US" dirty="0"/>
              <a:t> </a:t>
            </a:r>
            <a:r>
              <a:rPr lang="en-US" dirty="0" err="1"/>
              <a:t>tetap</a:t>
            </a:r>
            <a:r>
              <a:rPr lang="en-US" dirty="0" smtClean="0"/>
              <a:t>. </a:t>
            </a:r>
          </a:p>
          <a:p>
            <a:r>
              <a:rPr lang="en-US" dirty="0" err="1" smtClean="0"/>
              <a:t>Keadaan</a:t>
            </a:r>
            <a:r>
              <a:rPr lang="en-US" dirty="0" smtClean="0"/>
              <a:t> </a:t>
            </a:r>
            <a:r>
              <a:rPr lang="en-US" dirty="0" err="1" smtClean="0"/>
              <a:t>stabil</a:t>
            </a:r>
            <a:r>
              <a:rPr lang="en-US" dirty="0" smtClean="0"/>
              <a:t> </a:t>
            </a:r>
            <a:r>
              <a:rPr lang="en-US" dirty="0" err="1" smtClean="0"/>
              <a:t>akan</a:t>
            </a:r>
            <a:r>
              <a:rPr lang="en-US" dirty="0" smtClean="0"/>
              <a:t> </a:t>
            </a:r>
            <a:r>
              <a:rPr lang="en-US" dirty="0" err="1" smtClean="0"/>
              <a:t>menjadi</a:t>
            </a:r>
            <a:r>
              <a:rPr lang="en-US" dirty="0" smtClean="0"/>
              <a:t> </a:t>
            </a:r>
            <a:r>
              <a:rPr lang="en-US" dirty="0" err="1" smtClean="0"/>
              <a:t>tak</a:t>
            </a:r>
            <a:r>
              <a:rPr lang="en-US" dirty="0" smtClean="0"/>
              <a:t> </a:t>
            </a:r>
            <a:r>
              <a:rPr lang="en-US" dirty="0" err="1" smtClean="0"/>
              <a:t>stabil</a:t>
            </a:r>
            <a:r>
              <a:rPr lang="en-US" dirty="0" smtClean="0"/>
              <a:t> </a:t>
            </a:r>
            <a:r>
              <a:rPr lang="en-US" dirty="0" err="1" smtClean="0"/>
              <a:t>apabila</a:t>
            </a:r>
            <a:r>
              <a:rPr lang="en-US" dirty="0" smtClean="0"/>
              <a:t> </a:t>
            </a:r>
            <a:r>
              <a:rPr lang="en-US" dirty="0" err="1" smtClean="0"/>
              <a:t>diberikan</a:t>
            </a:r>
            <a:r>
              <a:rPr lang="en-US" dirty="0" smtClean="0"/>
              <a:t> </a:t>
            </a:r>
            <a:r>
              <a:rPr lang="en-US" dirty="0" err="1" smtClean="0"/>
              <a:t>suatu</a:t>
            </a:r>
            <a:r>
              <a:rPr lang="en-US" dirty="0" smtClean="0"/>
              <a:t> </a:t>
            </a:r>
            <a:r>
              <a:rPr lang="en-US" dirty="0" err="1" smtClean="0"/>
              <a:t>denyut</a:t>
            </a:r>
            <a:r>
              <a:rPr lang="en-US" dirty="0" smtClean="0"/>
              <a:t> </a:t>
            </a:r>
            <a:r>
              <a:rPr lang="en-US" dirty="0" err="1" smtClean="0"/>
              <a:t>pemicu</a:t>
            </a:r>
            <a:r>
              <a:rPr lang="en-US" dirty="0" smtClean="0"/>
              <a:t> </a:t>
            </a:r>
            <a:r>
              <a:rPr lang="en-US" dirty="0" err="1" smtClean="0"/>
              <a:t>negatif</a:t>
            </a:r>
            <a:r>
              <a:rPr lang="en-US" dirty="0" smtClean="0"/>
              <a:t> (negative trigger pulse) </a:t>
            </a:r>
            <a:r>
              <a:rPr lang="en-US" dirty="0" err="1" smtClean="0"/>
              <a:t>pada</a:t>
            </a:r>
            <a:r>
              <a:rPr lang="en-US" dirty="0" smtClean="0"/>
              <a:t> </a:t>
            </a:r>
            <a:r>
              <a:rPr lang="en-US" dirty="0" err="1" smtClean="0"/>
              <a:t>komponen</a:t>
            </a:r>
            <a:r>
              <a:rPr lang="en-US" dirty="0" smtClean="0"/>
              <a:t> </a:t>
            </a:r>
            <a:r>
              <a:rPr lang="en-US" dirty="0" err="1" smtClean="0"/>
              <a:t>penguat</a:t>
            </a:r>
            <a:r>
              <a:rPr lang="en-US" dirty="0" smtClean="0"/>
              <a:t> yang </a:t>
            </a:r>
            <a:r>
              <a:rPr lang="en-US" dirty="0" err="1" smtClean="0"/>
              <a:t>sedang</a:t>
            </a:r>
            <a:r>
              <a:rPr lang="en-US" dirty="0" smtClean="0"/>
              <a:t> </a:t>
            </a:r>
            <a:r>
              <a:rPr lang="en-US" dirty="0" err="1" smtClean="0"/>
              <a:t>aktif</a:t>
            </a:r>
            <a:r>
              <a:rPr lang="en-US" dirty="0" smtClean="0"/>
              <a:t>. </a:t>
            </a:r>
            <a:endParaRPr lang="en-US" dirty="0"/>
          </a:p>
        </p:txBody>
      </p:sp>
      <p:sp>
        <p:nvSpPr>
          <p:cNvPr id="4" name="Rounded Rectangle 3"/>
          <p:cNvSpPr/>
          <p:nvPr/>
        </p:nvSpPr>
        <p:spPr>
          <a:xfrm>
            <a:off x="1952596" y="214290"/>
            <a:ext cx="8358246" cy="135732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4400">
                <a:solidFill>
                  <a:schemeClr val="tx1"/>
                </a:solidFill>
              </a:rPr>
              <a:t>Multivibrator Monostabil</a:t>
            </a:r>
            <a:endParaRPr lang="en-US" sz="4400">
              <a:solidFill>
                <a:schemeClr val="tx1"/>
              </a:solidFill>
            </a:endParaRPr>
          </a:p>
        </p:txBody>
      </p:sp>
    </p:spTree>
    <p:extLst>
      <p:ext uri="{BB962C8B-B14F-4D97-AF65-F5344CB8AC3E}">
        <p14:creationId xmlns:p14="http://schemas.microsoft.com/office/powerpoint/2010/main" val="10228680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mtClean="0"/>
              <a:t>Jika suatu denyut masukan berulang-ulang yang diterapkan pada rangkaian dapat mempertahankan kondisi tak stabil, maka rangkaian  tersebut disebut retriggerable monostable.</a:t>
            </a:r>
          </a:p>
          <a:p>
            <a:r>
              <a:rPr lang="en-US" smtClean="0"/>
              <a:t>Sebaliknya jika suatu denyut masukan berulang-ulang yang diterapkan pada rangkaian tidak mempengaruhi periode kondisi tak stabil, maka rangkaian tersebut disebut nonretriggerable monostable.</a:t>
            </a:r>
            <a:endParaRPr lang="en-US"/>
          </a:p>
        </p:txBody>
      </p:sp>
    </p:spTree>
    <p:extLst>
      <p:ext uri="{BB962C8B-B14F-4D97-AF65-F5344CB8AC3E}">
        <p14:creationId xmlns:p14="http://schemas.microsoft.com/office/powerpoint/2010/main" val="42530272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solidFill>
                  <a:srgbClr val="FF0000"/>
                </a:solidFill>
                <a:latin typeface="Algerian" pitchFamily="82" charset="0"/>
              </a:rPr>
              <a:t>MULTIVIBRATOR DGN IC 555</a:t>
            </a:r>
            <a:endParaRPr lang="en-US" dirty="0">
              <a:solidFill>
                <a:srgbClr val="FF0000"/>
              </a:solidFill>
              <a:latin typeface="Algerian" pitchFamily="82" charset="0"/>
            </a:endParaRPr>
          </a:p>
        </p:txBody>
      </p:sp>
      <p:pic>
        <p:nvPicPr>
          <p:cNvPr id="4" name="Content Placeholder 3"/>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2152650" y="2543969"/>
            <a:ext cx="3886200" cy="2914650"/>
          </a:xfrm>
        </p:spPr>
      </p:pic>
      <p:sp>
        <p:nvSpPr>
          <p:cNvPr id="10" name="Text Placeholder 9"/>
          <p:cNvSpPr>
            <a:spLocks noGrp="1"/>
          </p:cNvSpPr>
          <p:nvPr>
            <p:ph sz="half" idx="2"/>
          </p:nvPr>
        </p:nvSpPr>
        <p:spPr>
          <a:xfrm>
            <a:off x="7010400" y="1219200"/>
            <a:ext cx="3822192" cy="3535680"/>
          </a:xfrm>
        </p:spPr>
        <p:txBody>
          <a:bodyPr>
            <a:normAutofit fontScale="92500" lnSpcReduction="10000"/>
          </a:bodyPr>
          <a:lstStyle/>
          <a:p>
            <a:pPr marL="0" indent="0">
              <a:buNone/>
            </a:pPr>
            <a:r>
              <a:rPr lang="en-US" dirty="0" smtClean="0"/>
              <a:t>Lama </a:t>
            </a:r>
            <a:r>
              <a:rPr lang="en-US" dirty="0" err="1" smtClean="0"/>
              <a:t>pulsa</a:t>
            </a:r>
            <a:r>
              <a:rPr lang="en-US" dirty="0" smtClean="0"/>
              <a:t> yang </a:t>
            </a:r>
            <a:r>
              <a:rPr lang="en-US" dirty="0" err="1" smtClean="0"/>
              <a:t>dihasilkan</a:t>
            </a:r>
            <a:r>
              <a:rPr lang="en-US" dirty="0" smtClean="0"/>
              <a:t>  </a:t>
            </a:r>
            <a:r>
              <a:rPr lang="en-US" dirty="0" err="1" smtClean="0"/>
              <a:t>tergantung</a:t>
            </a:r>
            <a:r>
              <a:rPr lang="en-US" dirty="0" smtClean="0"/>
              <a:t> </a:t>
            </a:r>
            <a:r>
              <a:rPr lang="en-US" dirty="0" err="1" smtClean="0"/>
              <a:t>dari</a:t>
            </a:r>
            <a:r>
              <a:rPr lang="en-US" dirty="0" smtClean="0"/>
              <a:t> </a:t>
            </a:r>
            <a:r>
              <a:rPr lang="en-US" dirty="0" err="1" smtClean="0"/>
              <a:t>nilai</a:t>
            </a:r>
            <a:r>
              <a:rPr lang="en-US" dirty="0" smtClean="0"/>
              <a:t> resistor </a:t>
            </a:r>
            <a:r>
              <a:rPr lang="en-US" dirty="0" err="1" smtClean="0"/>
              <a:t>dan</a:t>
            </a:r>
            <a:r>
              <a:rPr lang="en-US" dirty="0" smtClean="0"/>
              <a:t> </a:t>
            </a:r>
            <a:r>
              <a:rPr lang="en-US" dirty="0" err="1" smtClean="0"/>
              <a:t>kapasitor</a:t>
            </a:r>
            <a:r>
              <a:rPr lang="en-US" dirty="0" smtClean="0"/>
              <a:t> </a:t>
            </a:r>
            <a:r>
              <a:rPr lang="en-US" dirty="0" err="1" smtClean="0"/>
              <a:t>eksternal</a:t>
            </a:r>
            <a:r>
              <a:rPr lang="en-US" dirty="0" smtClean="0"/>
              <a:t> yang </a:t>
            </a:r>
            <a:r>
              <a:rPr lang="en-US" dirty="0" err="1" smtClean="0"/>
              <a:t>pasangkan</a:t>
            </a:r>
            <a:r>
              <a:rPr lang="en-US" dirty="0" smtClean="0"/>
              <a:t>. </a:t>
            </a:r>
          </a:p>
          <a:p>
            <a:pPr marL="0" indent="0">
              <a:buNone/>
            </a:pPr>
            <a:endParaRPr lang="en-US" dirty="0" smtClean="0"/>
          </a:p>
          <a:p>
            <a:pPr marL="0" indent="0">
              <a:buNone/>
            </a:pPr>
            <a:r>
              <a:rPr lang="en-US" dirty="0" err="1" smtClean="0"/>
              <a:t>Rumus</a:t>
            </a:r>
            <a:r>
              <a:rPr lang="en-US" dirty="0" smtClean="0"/>
              <a:t>:                    R=ohm</a:t>
            </a:r>
          </a:p>
          <a:p>
            <a:pPr marL="0" indent="0">
              <a:buNone/>
            </a:pPr>
            <a:r>
              <a:rPr lang="en-US" dirty="0" smtClean="0"/>
              <a:t>T=1,1 x(</a:t>
            </a:r>
            <a:r>
              <a:rPr lang="en-US" dirty="0" err="1" smtClean="0"/>
              <a:t>Ra+Rb</a:t>
            </a:r>
            <a:r>
              <a:rPr lang="en-US" dirty="0" smtClean="0"/>
              <a:t>).C     C=pF</a:t>
            </a:r>
          </a:p>
          <a:p>
            <a:pPr marL="0" indent="0">
              <a:buNone/>
            </a:pPr>
            <a:r>
              <a:rPr lang="en-US" dirty="0"/>
              <a:t> </a:t>
            </a:r>
            <a:r>
              <a:rPr lang="en-US" dirty="0" smtClean="0"/>
              <a:t> =1,1 x RC                T=</a:t>
            </a:r>
            <a:r>
              <a:rPr lang="en-US" dirty="0" err="1" smtClean="0"/>
              <a:t>sekon</a:t>
            </a:r>
            <a:endParaRPr lang="en-US" dirty="0"/>
          </a:p>
        </p:txBody>
      </p:sp>
      <p:pic>
        <p:nvPicPr>
          <p:cNvPr id="3" name="Picture 2"/>
          <p:cNvPicPr>
            <a:picLocks noChangeAspect="1"/>
          </p:cNvPicPr>
          <p:nvPr/>
        </p:nvPicPr>
        <p:blipFill>
          <a:blip r:embed="rId4"/>
          <a:stretch>
            <a:fillRect/>
          </a:stretch>
        </p:blipFill>
        <p:spPr>
          <a:xfrm>
            <a:off x="6712788" y="4538261"/>
            <a:ext cx="2914286" cy="1866667"/>
          </a:xfrm>
          <a:prstGeom prst="rect">
            <a:avLst/>
          </a:prstGeom>
        </p:spPr>
      </p:pic>
      <p:graphicFrame>
        <p:nvGraphicFramePr>
          <p:cNvPr id="8" name="Object 7">
            <a:hlinkClick r:id="rId5" action="ppaction://hlinkfile"/>
          </p:cNvPr>
          <p:cNvGraphicFramePr>
            <a:graphicFrameLocks noChangeAspect="1"/>
          </p:cNvGraphicFramePr>
          <p:nvPr>
            <p:extLst/>
          </p:nvPr>
        </p:nvGraphicFramePr>
        <p:xfrm>
          <a:off x="2152650" y="5471594"/>
          <a:ext cx="2451100" cy="685800"/>
        </p:xfrm>
        <a:graphic>
          <a:graphicData uri="http://schemas.openxmlformats.org/presentationml/2006/ole">
            <mc:AlternateContent xmlns:mc="http://schemas.openxmlformats.org/markup-compatibility/2006">
              <mc:Choice xmlns:v="urn:schemas-microsoft-com:vml" Requires="v">
                <p:oleObj spid="_x0000_s33796" name="Packager Shell Object" showAsIcon="1" r:id="rId6" imgW="2451600" imgH="685800" progId="Package">
                  <p:embed/>
                </p:oleObj>
              </mc:Choice>
              <mc:Fallback>
                <p:oleObj name="Packager Shell Object" showAsIcon="1" r:id="rId6" imgW="2451600" imgH="685800" progId="Package">
                  <p:embed/>
                  <p:pic>
                    <p:nvPicPr>
                      <p:cNvPr id="8" name="Object 7">
                        <a:hlinkClick r:id="" action="ppaction://hlinkfile"/>
                      </p:cNvPr>
                      <p:cNvPicPr/>
                      <p:nvPr/>
                    </p:nvPicPr>
                    <p:blipFill>
                      <a:blip r:embed="rId7"/>
                      <a:stretch>
                        <a:fillRect/>
                      </a:stretch>
                    </p:blipFill>
                    <p:spPr>
                      <a:xfrm>
                        <a:off x="2152650" y="5471594"/>
                        <a:ext cx="2451100" cy="685800"/>
                      </a:xfrm>
                      <a:prstGeom prst="rect">
                        <a:avLst/>
                      </a:prstGeom>
                    </p:spPr>
                  </p:pic>
                </p:oleObj>
              </mc:Fallback>
            </mc:AlternateContent>
          </a:graphicData>
        </a:graphic>
      </p:graphicFrame>
      <p:graphicFrame>
        <p:nvGraphicFramePr>
          <p:cNvPr id="2" name="Object 1">
            <a:hlinkClick r:id="rId8" action="ppaction://hlinkfile"/>
          </p:cNvPr>
          <p:cNvGraphicFramePr>
            <a:graphicFrameLocks noChangeAspect="1"/>
          </p:cNvGraphicFramePr>
          <p:nvPr>
            <p:extLst/>
          </p:nvPr>
        </p:nvGraphicFramePr>
        <p:xfrm>
          <a:off x="4779875" y="5943600"/>
          <a:ext cx="1663700" cy="685800"/>
        </p:xfrm>
        <a:graphic>
          <a:graphicData uri="http://schemas.openxmlformats.org/presentationml/2006/ole">
            <mc:AlternateContent xmlns:mc="http://schemas.openxmlformats.org/markup-compatibility/2006">
              <mc:Choice xmlns:v="urn:schemas-microsoft-com:vml" Requires="v">
                <p:oleObj spid="_x0000_s33797" name="Packager Shell Object" showAsIcon="1" r:id="rId9" imgW="1663920" imgH="685800" progId="Package">
                  <p:embed/>
                </p:oleObj>
              </mc:Choice>
              <mc:Fallback>
                <p:oleObj name="Packager Shell Object" showAsIcon="1" r:id="rId9" imgW="1663920" imgH="685800" progId="Package">
                  <p:embed/>
                  <p:pic>
                    <p:nvPicPr>
                      <p:cNvPr id="2" name="Object 1">
                        <a:hlinkClick r:id="" action="ppaction://hlinkfile"/>
                      </p:cNvPr>
                      <p:cNvPicPr/>
                      <p:nvPr/>
                    </p:nvPicPr>
                    <p:blipFill>
                      <a:blip r:embed="rId10"/>
                      <a:stretch>
                        <a:fillRect/>
                      </a:stretch>
                    </p:blipFill>
                    <p:spPr>
                      <a:xfrm>
                        <a:off x="4779875" y="5943600"/>
                        <a:ext cx="1663700" cy="685800"/>
                      </a:xfrm>
                      <a:prstGeom prst="rect">
                        <a:avLst/>
                      </a:prstGeom>
                    </p:spPr>
                  </p:pic>
                </p:oleObj>
              </mc:Fallback>
            </mc:AlternateContent>
          </a:graphicData>
        </a:graphic>
      </p:graphicFrame>
    </p:spTree>
    <p:extLst>
      <p:ext uri="{BB962C8B-B14F-4D97-AF65-F5344CB8AC3E}">
        <p14:creationId xmlns:p14="http://schemas.microsoft.com/office/powerpoint/2010/main" val="137034644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 calcmode="lin" valueType="num">
                                      <p:cBhvr>
                                        <p:cTn id="7"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10">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 calcmode="lin" valueType="num">
                                      <p:cBhvr>
                                        <p:cTn id="14" dur="10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15" dur="1000" fill="hold"/>
                                        <p:tgtEl>
                                          <p:spTgt spid="10">
                                            <p:txEl>
                                              <p:pRg st="3" end="3"/>
                                            </p:txEl>
                                          </p:spTgt>
                                        </p:tgtEl>
                                        <p:attrNameLst>
                                          <p:attrName>ppt_h</p:attrName>
                                        </p:attrNameLst>
                                      </p:cBhvr>
                                      <p:tavLst>
                                        <p:tav tm="0">
                                          <p:val>
                                            <p:fltVal val="0"/>
                                          </p:val>
                                        </p:tav>
                                        <p:tav tm="100000">
                                          <p:val>
                                            <p:strVal val="#ppt_h"/>
                                          </p:val>
                                        </p:tav>
                                      </p:tavLst>
                                    </p:anim>
                                    <p:anim calcmode="lin" valueType="num">
                                      <p:cBhvr>
                                        <p:cTn id="16" dur="1000" fill="hold"/>
                                        <p:tgtEl>
                                          <p:spTgt spid="10">
                                            <p:txEl>
                                              <p:pRg st="3" end="3"/>
                                            </p:txEl>
                                          </p:spTgt>
                                        </p:tgtEl>
                                        <p:attrNameLst>
                                          <p:attrName>style.rotation</p:attrName>
                                        </p:attrNameLst>
                                      </p:cBhvr>
                                      <p:tavLst>
                                        <p:tav tm="0">
                                          <p:val>
                                            <p:fltVal val="90"/>
                                          </p:val>
                                        </p:tav>
                                        <p:tav tm="100000">
                                          <p:val>
                                            <p:fltVal val="0"/>
                                          </p:val>
                                        </p:tav>
                                      </p:tavLst>
                                    </p:anim>
                                    <p:animEffect transition="in" filter="fade">
                                      <p:cBhvr>
                                        <p:cTn id="17" dur="10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 calcmode="lin" valueType="num">
                                      <p:cBhvr>
                                        <p:cTn id="22" dur="10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23" dur="1000" fill="hold"/>
                                        <p:tgtEl>
                                          <p:spTgt spid="10">
                                            <p:txEl>
                                              <p:pRg st="4" end="4"/>
                                            </p:txEl>
                                          </p:spTgt>
                                        </p:tgtEl>
                                        <p:attrNameLst>
                                          <p:attrName>ppt_h</p:attrName>
                                        </p:attrNameLst>
                                      </p:cBhvr>
                                      <p:tavLst>
                                        <p:tav tm="0">
                                          <p:val>
                                            <p:fltVal val="0"/>
                                          </p:val>
                                        </p:tav>
                                        <p:tav tm="100000">
                                          <p:val>
                                            <p:strVal val="#ppt_h"/>
                                          </p:val>
                                        </p:tav>
                                      </p:tavLst>
                                    </p:anim>
                                    <p:anim calcmode="lin" valueType="num">
                                      <p:cBhvr>
                                        <p:cTn id="24" dur="1000" fill="hold"/>
                                        <p:tgtEl>
                                          <p:spTgt spid="10">
                                            <p:txEl>
                                              <p:pRg st="4" end="4"/>
                                            </p:txEl>
                                          </p:spTgt>
                                        </p:tgtEl>
                                        <p:attrNameLst>
                                          <p:attrName>style.rotation</p:attrName>
                                        </p:attrNameLst>
                                      </p:cBhvr>
                                      <p:tavLst>
                                        <p:tav tm="0">
                                          <p:val>
                                            <p:fltVal val="90"/>
                                          </p:val>
                                        </p:tav>
                                        <p:tav tm="100000">
                                          <p:val>
                                            <p:fltVal val="0"/>
                                          </p:val>
                                        </p:tav>
                                      </p:tavLst>
                                    </p:anim>
                                    <p:animEffect transition="in" filter="fade">
                                      <p:cBhvr>
                                        <p:cTn id="25" dur="10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p:txBody>
          <a:bodyPr/>
          <a:lstStyle/>
          <a:p>
            <a:endParaRPr lang="en-US"/>
          </a:p>
        </p:txBody>
      </p:sp>
      <p:pic>
        <p:nvPicPr>
          <p:cNvPr id="5" name="Picture 4"/>
          <p:cNvPicPr>
            <a:picLocks noChangeAspect="1"/>
          </p:cNvPicPr>
          <p:nvPr/>
        </p:nvPicPr>
        <p:blipFill>
          <a:blip r:embed="rId3"/>
          <a:stretch>
            <a:fillRect/>
          </a:stretch>
        </p:blipFill>
        <p:spPr>
          <a:xfrm>
            <a:off x="2152650" y="1371600"/>
            <a:ext cx="7753350" cy="5091056"/>
          </a:xfrm>
          <a:prstGeom prst="rect">
            <a:avLst/>
          </a:prstGeom>
        </p:spPr>
      </p:pic>
    </p:spTree>
    <p:extLst>
      <p:ext uri="{BB962C8B-B14F-4D97-AF65-F5344CB8AC3E}">
        <p14:creationId xmlns:p14="http://schemas.microsoft.com/office/powerpoint/2010/main" val="29768440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2400" dirty="0" err="1">
                <a:latin typeface="Algerian" pitchFamily="82" charset="0"/>
              </a:rPr>
              <a:t>multivibrator</a:t>
            </a:r>
            <a:r>
              <a:rPr lang="en-US" sz="2400" dirty="0">
                <a:latin typeface="Algerian" pitchFamily="82" charset="0"/>
              </a:rPr>
              <a:t> </a:t>
            </a:r>
            <a:r>
              <a:rPr lang="en-US" sz="2400" dirty="0" err="1">
                <a:latin typeface="Algerian" pitchFamily="82" charset="0"/>
              </a:rPr>
              <a:t>monostable</a:t>
            </a:r>
            <a:r>
              <a:rPr lang="en-US" sz="2400" dirty="0">
                <a:latin typeface="Algerian" pitchFamily="82" charset="0"/>
              </a:rPr>
              <a:t> DGN </a:t>
            </a:r>
            <a:br>
              <a:rPr lang="en-US" sz="2400" dirty="0">
                <a:latin typeface="Algerian" pitchFamily="82" charset="0"/>
              </a:rPr>
            </a:br>
            <a:r>
              <a:rPr lang="en-US" sz="2400" dirty="0">
                <a:latin typeface="Algerian" pitchFamily="82" charset="0"/>
              </a:rPr>
              <a:t>IC 74HC00</a:t>
            </a:r>
            <a:endParaRPr lang="en-US" sz="2400" dirty="0">
              <a:latin typeface="Algerian" pitchFamily="82" charset="0"/>
            </a:endParaRPr>
          </a:p>
        </p:txBody>
      </p:sp>
      <p:pic>
        <p:nvPicPr>
          <p:cNvPr id="7" name="Content Placeholder 6"/>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522413" y="990601"/>
            <a:ext cx="3430588" cy="3183177"/>
          </a:xfrm>
        </p:spPr>
      </p:pic>
      <p:pic>
        <p:nvPicPr>
          <p:cNvPr id="3" name="Picture 2"/>
          <p:cNvPicPr>
            <a:picLocks noChangeAspect="1"/>
          </p:cNvPicPr>
          <p:nvPr/>
        </p:nvPicPr>
        <p:blipFill>
          <a:blip r:embed="rId3"/>
          <a:stretch>
            <a:fillRect/>
          </a:stretch>
        </p:blipFill>
        <p:spPr>
          <a:xfrm>
            <a:off x="3996924" y="3962400"/>
            <a:ext cx="6638095" cy="2514286"/>
          </a:xfrm>
          <a:prstGeom prst="rect">
            <a:avLst/>
          </a:prstGeom>
        </p:spPr>
      </p:pic>
    </p:spTree>
    <p:extLst>
      <p:ext uri="{BB962C8B-B14F-4D97-AF65-F5344CB8AC3E}">
        <p14:creationId xmlns:p14="http://schemas.microsoft.com/office/powerpoint/2010/main" val="31706819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solidFill>
                  <a:srgbClr val="FF0000"/>
                </a:solidFill>
                <a:latin typeface="Algerian" pitchFamily="82" charset="0"/>
              </a:rPr>
              <a:t>IN/OUT MONOSTABIL NAND GATE</a:t>
            </a:r>
            <a:endParaRPr lang="en-US" dirty="0">
              <a:solidFill>
                <a:srgbClr val="FF0000"/>
              </a:solidFill>
              <a:latin typeface="Algerian" pitchFamily="82" charset="0"/>
            </a:endParaRPr>
          </a:p>
        </p:txBody>
      </p:sp>
      <p:sp>
        <p:nvSpPr>
          <p:cNvPr id="3" name="Content Placeholder 2"/>
          <p:cNvSpPr>
            <a:spLocks noGrp="1"/>
          </p:cNvSpPr>
          <p:nvPr>
            <p:ph sz="half" idx="2"/>
          </p:nvPr>
        </p:nvSpPr>
        <p:spPr/>
        <p:txBody>
          <a:bodyPr/>
          <a:lstStyle/>
          <a:p>
            <a:endParaRPr lang="en-US" dirty="0"/>
          </a:p>
        </p:txBody>
      </p:sp>
      <p:pic>
        <p:nvPicPr>
          <p:cNvPr id="7" name="Picture 3" descr="D:\KULIAH\New folder\Slide6.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38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77330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Multivibrator Bistabil</a:t>
            </a:r>
            <a:endParaRPr lang="en-US"/>
          </a:p>
        </p:txBody>
      </p:sp>
      <p:sp>
        <p:nvSpPr>
          <p:cNvPr id="3" name="Content Placeholder 2"/>
          <p:cNvSpPr>
            <a:spLocks noGrp="1"/>
          </p:cNvSpPr>
          <p:nvPr>
            <p:ph idx="1"/>
          </p:nvPr>
        </p:nvSpPr>
        <p:spPr/>
        <p:txBody>
          <a:bodyPr>
            <a:normAutofit/>
          </a:bodyPr>
          <a:lstStyle/>
          <a:p>
            <a:r>
              <a:rPr lang="en-US" smtClean="0"/>
              <a:t>Multivibrator bistabil adalah multivibrator yang memiliki dua keadaan stabil.</a:t>
            </a:r>
          </a:p>
          <a:p>
            <a:r>
              <a:rPr lang="en-US" smtClean="0"/>
              <a:t>Tidak adanya waktu pengisian/pengosongan karena tidak memiliki kapasitor, sehingga waktu aktif dari komponen penguat diatur oleh pemicu (trigger) eksternal.</a:t>
            </a:r>
          </a:p>
          <a:p>
            <a:r>
              <a:rPr lang="en-US" smtClean="0"/>
              <a:t>Memiliki dua keadaan ‘set’ dan ‘reset’ yang menyebabkan pada keadaan awal komponen-komponen aktif menghantar.</a:t>
            </a:r>
            <a:endParaRPr lang="en-US"/>
          </a:p>
        </p:txBody>
      </p:sp>
      <p:sp>
        <p:nvSpPr>
          <p:cNvPr id="4" name="Rounded Rectangle 3"/>
          <p:cNvSpPr/>
          <p:nvPr/>
        </p:nvSpPr>
        <p:spPr>
          <a:xfrm>
            <a:off x="838200" y="230188"/>
            <a:ext cx="8429684" cy="1357322"/>
          </a:xfrm>
          <a:prstGeom prst="roundRect">
            <a:avLst/>
          </a:prstGeom>
          <a:solidFill>
            <a:schemeClr val="accent2"/>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4400"/>
              <a:t>Multivibrator Bistabil</a:t>
            </a:r>
            <a:endParaRPr lang="en-US" sz="4400"/>
          </a:p>
        </p:txBody>
      </p:sp>
    </p:spTree>
    <p:extLst>
      <p:ext uri="{BB962C8B-B14F-4D97-AF65-F5344CB8AC3E}">
        <p14:creationId xmlns:p14="http://schemas.microsoft.com/office/powerpoint/2010/main" val="22416372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Bistable</a:t>
            </a:r>
            <a:r>
              <a:rPr lang="en-US" dirty="0" smtClean="0"/>
              <a:t> </a:t>
            </a:r>
            <a:r>
              <a:rPr lang="en-US" dirty="0" err="1" smtClean="0"/>
              <a:t>Multivibrator</a:t>
            </a:r>
            <a:endParaRPr lang="en-US" dirty="0"/>
          </a:p>
        </p:txBody>
      </p:sp>
      <p:sp>
        <p:nvSpPr>
          <p:cNvPr id="3" name="Content Placeholder 2"/>
          <p:cNvSpPr>
            <a:spLocks noGrp="1"/>
          </p:cNvSpPr>
          <p:nvPr>
            <p:ph idx="1"/>
          </p:nvPr>
        </p:nvSpPr>
        <p:spPr/>
        <p:txBody>
          <a:bodyPr/>
          <a:lstStyle/>
          <a:p>
            <a:r>
              <a:rPr lang="en-US" dirty="0" err="1" smtClean="0"/>
              <a:t>Bistable</a:t>
            </a:r>
            <a:r>
              <a:rPr lang="en-US" dirty="0" smtClean="0"/>
              <a:t> </a:t>
            </a:r>
            <a:r>
              <a:rPr lang="en-US" dirty="0" err="1"/>
              <a:t>Multivibrator</a:t>
            </a:r>
            <a:r>
              <a:rPr lang="en-US" dirty="0"/>
              <a:t> : </a:t>
            </a:r>
            <a:r>
              <a:rPr lang="en-US" dirty="0" err="1"/>
              <a:t>ditrigger</a:t>
            </a:r>
            <a:r>
              <a:rPr lang="en-US" dirty="0"/>
              <a:t> </a:t>
            </a:r>
            <a:r>
              <a:rPr lang="en-US" dirty="0" err="1"/>
              <a:t>oleh</a:t>
            </a:r>
            <a:r>
              <a:rPr lang="en-US" dirty="0"/>
              <a:t> </a:t>
            </a:r>
            <a:r>
              <a:rPr lang="en-US" dirty="0" err="1"/>
              <a:t>sebuah</a:t>
            </a:r>
            <a:r>
              <a:rPr lang="en-US" dirty="0"/>
              <a:t> </a:t>
            </a:r>
            <a:r>
              <a:rPr lang="en-US" dirty="0" err="1"/>
              <a:t>sumber</a:t>
            </a:r>
            <a:r>
              <a:rPr lang="en-US" dirty="0"/>
              <a:t> </a:t>
            </a:r>
            <a:r>
              <a:rPr lang="en-US" dirty="0" err="1"/>
              <a:t>dari</a:t>
            </a:r>
            <a:r>
              <a:rPr lang="en-US" dirty="0"/>
              <a:t> </a:t>
            </a:r>
            <a:r>
              <a:rPr lang="en-US" dirty="0" err="1"/>
              <a:t>luar</a:t>
            </a:r>
            <a:r>
              <a:rPr lang="en-US" dirty="0"/>
              <a:t> (external source) </a:t>
            </a:r>
            <a:r>
              <a:rPr lang="en-US" dirty="0" err="1"/>
              <a:t>pada</a:t>
            </a:r>
            <a:r>
              <a:rPr lang="en-US" dirty="0"/>
              <a:t> </a:t>
            </a:r>
            <a:r>
              <a:rPr lang="en-US" dirty="0" err="1"/>
              <a:t>salah</a:t>
            </a:r>
            <a:r>
              <a:rPr lang="en-US" dirty="0"/>
              <a:t> </a:t>
            </a:r>
            <a:r>
              <a:rPr lang="en-US" dirty="0" err="1"/>
              <a:t>satu</a:t>
            </a:r>
            <a:r>
              <a:rPr lang="en-US" dirty="0"/>
              <a:t> </a:t>
            </a:r>
            <a:r>
              <a:rPr lang="en-US" dirty="0" err="1"/>
              <a:t>dari</a:t>
            </a:r>
            <a:r>
              <a:rPr lang="en-US" dirty="0"/>
              <a:t> </a:t>
            </a:r>
            <a:r>
              <a:rPr lang="en-US" dirty="0" err="1"/>
              <a:t>dua</a:t>
            </a:r>
            <a:r>
              <a:rPr lang="en-US" dirty="0"/>
              <a:t> state </a:t>
            </a:r>
            <a:r>
              <a:rPr lang="en-US" dirty="0" smtClean="0"/>
              <a:t>digital</a:t>
            </a:r>
          </a:p>
          <a:p>
            <a:r>
              <a:rPr lang="en-US" dirty="0" smtClean="0"/>
              <a:t>Di </a:t>
            </a:r>
            <a:r>
              <a:rPr lang="en-US" dirty="0"/>
              <a:t>mana </a:t>
            </a:r>
            <a:r>
              <a:rPr lang="en-US" dirty="0" err="1"/>
              <a:t>rangkaian</a:t>
            </a:r>
            <a:r>
              <a:rPr lang="en-US" dirty="0"/>
              <a:t> </a:t>
            </a:r>
            <a:r>
              <a:rPr lang="en-US" dirty="0" err="1"/>
              <a:t>akan</a:t>
            </a:r>
            <a:r>
              <a:rPr lang="en-US" dirty="0"/>
              <a:t> </a:t>
            </a:r>
            <a:r>
              <a:rPr lang="en-US" dirty="0" err="1"/>
              <a:t>tetap</a:t>
            </a:r>
            <a:r>
              <a:rPr lang="en-US" dirty="0"/>
              <a:t> </a:t>
            </a:r>
            <a:r>
              <a:rPr lang="en-US" dirty="0" err="1"/>
              <a:t>berada</a:t>
            </a:r>
            <a:r>
              <a:rPr lang="en-US" dirty="0"/>
              <a:t> </a:t>
            </a:r>
            <a:r>
              <a:rPr lang="en-US" dirty="0" err="1"/>
              <a:t>pada</a:t>
            </a:r>
            <a:r>
              <a:rPr lang="en-US" dirty="0"/>
              <a:t> </a:t>
            </a:r>
            <a:r>
              <a:rPr lang="en-US" dirty="0" err="1"/>
              <a:t>salah</a:t>
            </a:r>
            <a:r>
              <a:rPr lang="en-US" dirty="0"/>
              <a:t> </a:t>
            </a:r>
            <a:r>
              <a:rPr lang="en-US" dirty="0" err="1"/>
              <a:t>satu</a:t>
            </a:r>
            <a:r>
              <a:rPr lang="en-US" dirty="0"/>
              <a:t> </a:t>
            </a:r>
            <a:r>
              <a:rPr lang="en-US" dirty="0" err="1"/>
              <a:t>keadaan</a:t>
            </a:r>
            <a:r>
              <a:rPr lang="en-US" dirty="0"/>
              <a:t>. </a:t>
            </a:r>
            <a:r>
              <a:rPr lang="en-US" dirty="0" err="1"/>
              <a:t>Rangkaian</a:t>
            </a:r>
            <a:r>
              <a:rPr lang="en-US" dirty="0"/>
              <a:t> </a:t>
            </a:r>
            <a:r>
              <a:rPr lang="en-US" dirty="0" err="1"/>
              <a:t>dapat</a:t>
            </a:r>
            <a:r>
              <a:rPr lang="en-US" dirty="0"/>
              <a:t> </a:t>
            </a:r>
            <a:r>
              <a:rPr lang="en-US" dirty="0" err="1"/>
              <a:t>diubah</a:t>
            </a:r>
            <a:r>
              <a:rPr lang="en-US" dirty="0"/>
              <a:t> </a:t>
            </a:r>
            <a:r>
              <a:rPr lang="en-US" dirty="0" err="1"/>
              <a:t>dari</a:t>
            </a:r>
            <a:r>
              <a:rPr lang="en-US" dirty="0"/>
              <a:t> </a:t>
            </a:r>
            <a:r>
              <a:rPr lang="en-US" dirty="0" err="1"/>
              <a:t>satu</a:t>
            </a:r>
            <a:r>
              <a:rPr lang="en-US" dirty="0"/>
              <a:t> </a:t>
            </a:r>
            <a:r>
              <a:rPr lang="en-US" dirty="0" err="1"/>
              <a:t>keadaan</a:t>
            </a:r>
            <a:r>
              <a:rPr lang="en-US" dirty="0"/>
              <a:t> </a:t>
            </a:r>
            <a:r>
              <a:rPr lang="en-US" dirty="0" err="1"/>
              <a:t>ke</a:t>
            </a:r>
            <a:r>
              <a:rPr lang="en-US" dirty="0"/>
              <a:t> </a:t>
            </a:r>
            <a:r>
              <a:rPr lang="en-US" dirty="0" err="1"/>
              <a:t>keadaan</a:t>
            </a:r>
            <a:r>
              <a:rPr lang="en-US" dirty="0"/>
              <a:t> </a:t>
            </a:r>
            <a:r>
              <a:rPr lang="en-US" dirty="0" err="1"/>
              <a:t>lainnya</a:t>
            </a:r>
            <a:r>
              <a:rPr lang="en-US" dirty="0"/>
              <a:t> </a:t>
            </a:r>
            <a:r>
              <a:rPr lang="en-US" dirty="0" err="1"/>
              <a:t>dengan</a:t>
            </a:r>
            <a:r>
              <a:rPr lang="en-US" dirty="0"/>
              <a:t> </a:t>
            </a:r>
            <a:r>
              <a:rPr lang="en-US" dirty="0" err="1"/>
              <a:t>pentrigger</a:t>
            </a:r>
            <a:r>
              <a:rPr lang="en-US" dirty="0"/>
              <a:t> </a:t>
            </a:r>
            <a:r>
              <a:rPr lang="en-US" dirty="0" err="1"/>
              <a:t>eksternal</a:t>
            </a:r>
            <a:endParaRPr lang="en-US" dirty="0" smtClean="0"/>
          </a:p>
          <a:p>
            <a:r>
              <a:rPr lang="en-US" dirty="0" err="1" smtClean="0"/>
              <a:t>Multivibrator</a:t>
            </a:r>
            <a:r>
              <a:rPr lang="en-US" dirty="0" smtClean="0"/>
              <a:t> </a:t>
            </a:r>
            <a:r>
              <a:rPr lang="en-US" dirty="0" err="1" smtClean="0"/>
              <a:t>ini</a:t>
            </a:r>
            <a:r>
              <a:rPr lang="en-US" dirty="0" smtClean="0"/>
              <a:t> </a:t>
            </a:r>
            <a:r>
              <a:rPr lang="en-US" dirty="0" err="1" smtClean="0"/>
              <a:t>disebut</a:t>
            </a:r>
            <a:r>
              <a:rPr lang="en-US" dirty="0" smtClean="0"/>
              <a:t> juga </a:t>
            </a:r>
            <a:r>
              <a:rPr lang="en-US" dirty="0" err="1" smtClean="0"/>
              <a:t>dengan</a:t>
            </a:r>
            <a:r>
              <a:rPr lang="en-US" dirty="0" smtClean="0"/>
              <a:t> flip </a:t>
            </a:r>
            <a:r>
              <a:rPr lang="en-US" dirty="0"/>
              <a:t>flop </a:t>
            </a:r>
            <a:r>
              <a:rPr lang="en-US" dirty="0" err="1" smtClean="0"/>
              <a:t>atau</a:t>
            </a:r>
            <a:r>
              <a:rPr lang="en-US" dirty="0" smtClean="0"/>
              <a:t> </a:t>
            </a:r>
            <a:r>
              <a:rPr lang="en-US" i="1" dirty="0" smtClean="0"/>
              <a:t>latch </a:t>
            </a:r>
            <a:r>
              <a:rPr lang="en-US" i="1" dirty="0"/>
              <a:t>(</a:t>
            </a:r>
            <a:r>
              <a:rPr lang="en-US" i="1" dirty="0" err="1"/>
              <a:t>penahan</a:t>
            </a:r>
            <a:r>
              <a:rPr lang="en-US" i="1" dirty="0"/>
              <a:t>) yang </a:t>
            </a:r>
            <a:r>
              <a:rPr lang="en-US" i="1" dirty="0" err="1" smtClean="0"/>
              <a:t>mempunyai</a:t>
            </a:r>
            <a:r>
              <a:rPr lang="en-US" i="1" dirty="0" smtClean="0"/>
              <a:t> </a:t>
            </a:r>
            <a:r>
              <a:rPr lang="en-US" i="1" dirty="0" err="1" smtClean="0"/>
              <a:t>dua</a:t>
            </a:r>
            <a:r>
              <a:rPr lang="en-US" i="1" dirty="0" smtClean="0"/>
              <a:t> state</a:t>
            </a:r>
            <a:r>
              <a:rPr lang="en-US" i="1" dirty="0"/>
              <a:t>. </a:t>
            </a:r>
            <a:endParaRPr lang="en-US" i="1" dirty="0" smtClean="0"/>
          </a:p>
          <a:p>
            <a:r>
              <a:rPr lang="en-US" dirty="0"/>
              <a:t>Flip flop </a:t>
            </a:r>
            <a:r>
              <a:rPr lang="en-US" dirty="0" err="1" smtClean="0"/>
              <a:t>merupakan</a:t>
            </a:r>
            <a:r>
              <a:rPr lang="en-US" dirty="0" smtClean="0"/>
              <a:t> </a:t>
            </a:r>
            <a:r>
              <a:rPr lang="en-US" dirty="0" err="1" smtClean="0"/>
              <a:t>elemen</a:t>
            </a:r>
            <a:r>
              <a:rPr lang="en-US" dirty="0" smtClean="0"/>
              <a:t> </a:t>
            </a:r>
            <a:r>
              <a:rPr lang="en-US" dirty="0" err="1" smtClean="0"/>
              <a:t>dasar</a:t>
            </a:r>
            <a:r>
              <a:rPr lang="en-US" dirty="0" smtClean="0"/>
              <a:t> </a:t>
            </a:r>
            <a:r>
              <a:rPr lang="en-US" dirty="0" err="1" smtClean="0"/>
              <a:t>dari</a:t>
            </a:r>
            <a:r>
              <a:rPr lang="en-US" dirty="0" smtClean="0"/>
              <a:t> </a:t>
            </a:r>
            <a:r>
              <a:rPr lang="en-US" dirty="0" err="1" smtClean="0"/>
              <a:t>rangkaian</a:t>
            </a:r>
            <a:r>
              <a:rPr lang="en-US" dirty="0" smtClean="0"/>
              <a:t> </a:t>
            </a:r>
            <a:r>
              <a:rPr lang="en-US" dirty="0" err="1" smtClean="0"/>
              <a:t>logika</a:t>
            </a:r>
            <a:r>
              <a:rPr lang="en-US" dirty="0" smtClean="0"/>
              <a:t> </a:t>
            </a:r>
            <a:r>
              <a:rPr lang="en-US" dirty="0" err="1" smtClean="0"/>
              <a:t>sekuensial</a:t>
            </a:r>
            <a:endParaRPr lang="en-US" dirty="0" smtClean="0"/>
          </a:p>
          <a:p>
            <a:r>
              <a:rPr lang="en-US" dirty="0"/>
              <a:t>Output </a:t>
            </a:r>
            <a:r>
              <a:rPr lang="en-US" dirty="0" err="1" smtClean="0"/>
              <a:t>dari</a:t>
            </a:r>
            <a:r>
              <a:rPr lang="en-US" dirty="0" smtClean="0"/>
              <a:t> flip </a:t>
            </a:r>
            <a:r>
              <a:rPr lang="en-US" dirty="0"/>
              <a:t>flop </a:t>
            </a:r>
            <a:r>
              <a:rPr lang="en-US" dirty="0" err="1" smtClean="0"/>
              <a:t>tergantung</a:t>
            </a:r>
            <a:r>
              <a:rPr lang="en-US" dirty="0" smtClean="0"/>
              <a:t> </a:t>
            </a:r>
            <a:r>
              <a:rPr lang="en-US" dirty="0" err="1" smtClean="0"/>
              <a:t>dari</a:t>
            </a:r>
            <a:r>
              <a:rPr lang="en-US" dirty="0" smtClean="0"/>
              <a:t> </a:t>
            </a:r>
            <a:r>
              <a:rPr lang="en-US" dirty="0" err="1" smtClean="0"/>
              <a:t>keadaan</a:t>
            </a:r>
            <a:r>
              <a:rPr lang="en-US" dirty="0" smtClean="0"/>
              <a:t> </a:t>
            </a:r>
            <a:r>
              <a:rPr lang="en-US" dirty="0" err="1" smtClean="0"/>
              <a:t>rangkaian</a:t>
            </a:r>
            <a:r>
              <a:rPr lang="en-US" dirty="0" smtClean="0"/>
              <a:t> </a:t>
            </a:r>
            <a:r>
              <a:rPr lang="en-US" dirty="0" err="1" smtClean="0"/>
              <a:t>sebelumnya</a:t>
            </a:r>
            <a:r>
              <a:rPr lang="en-US" dirty="0"/>
              <a:t>. </a:t>
            </a:r>
          </a:p>
        </p:txBody>
      </p:sp>
      <p:pic>
        <p:nvPicPr>
          <p:cNvPr id="4" name="Picture 3"/>
          <p:cNvPicPr>
            <a:picLocks noChangeAspect="1"/>
          </p:cNvPicPr>
          <p:nvPr/>
        </p:nvPicPr>
        <p:blipFill>
          <a:blip r:embed="rId3"/>
          <a:stretch>
            <a:fillRect/>
          </a:stretch>
        </p:blipFill>
        <p:spPr>
          <a:xfrm>
            <a:off x="3962401" y="4876801"/>
            <a:ext cx="3614253" cy="1596773"/>
          </a:xfrm>
          <a:prstGeom prst="rect">
            <a:avLst/>
          </a:prstGeom>
        </p:spPr>
      </p:pic>
      <p:graphicFrame>
        <p:nvGraphicFramePr>
          <p:cNvPr id="5" name="Content Placeholder 3">
            <a:hlinkClick r:id="rId4" action="ppaction://hlinkfile"/>
          </p:cNvPr>
          <p:cNvGraphicFramePr>
            <a:graphicFrameLocks noChangeAspect="1"/>
          </p:cNvGraphicFramePr>
          <p:nvPr>
            <p:extLst/>
          </p:nvPr>
        </p:nvGraphicFramePr>
        <p:xfrm>
          <a:off x="8098873" y="5279444"/>
          <a:ext cx="2114550" cy="683568"/>
        </p:xfrm>
        <a:graphic>
          <a:graphicData uri="http://schemas.openxmlformats.org/presentationml/2006/ole">
            <mc:AlternateContent xmlns:mc="http://schemas.openxmlformats.org/markup-compatibility/2006">
              <mc:Choice xmlns:v="urn:schemas-microsoft-com:vml" Requires="v">
                <p:oleObj spid="_x0000_s34819" name="Packager Shell Object" showAsIcon="1" r:id="rId5" imgW="2121480" imgH="685800" progId="Package">
                  <p:embed/>
                </p:oleObj>
              </mc:Choice>
              <mc:Fallback>
                <p:oleObj name="Packager Shell Object" showAsIcon="1" r:id="rId5" imgW="2121480" imgH="685800" progId="Package">
                  <p:embed/>
                  <p:pic>
                    <p:nvPicPr>
                      <p:cNvPr id="5" name="Content Placeholder 3">
                        <a:hlinkClick r:id="" action="ppaction://hlinkfile"/>
                      </p:cNvPr>
                      <p:cNvPicPr/>
                      <p:nvPr/>
                    </p:nvPicPr>
                    <p:blipFill>
                      <a:blip r:embed="rId6"/>
                      <a:stretch>
                        <a:fillRect/>
                      </a:stretch>
                    </p:blipFill>
                    <p:spPr>
                      <a:xfrm>
                        <a:off x="8098873" y="5279444"/>
                        <a:ext cx="2114550" cy="683568"/>
                      </a:xfrm>
                      <a:prstGeom prst="rect">
                        <a:avLst/>
                      </a:prstGeom>
                    </p:spPr>
                  </p:pic>
                </p:oleObj>
              </mc:Fallback>
            </mc:AlternateContent>
          </a:graphicData>
        </a:graphic>
      </p:graphicFrame>
    </p:spTree>
    <p:extLst>
      <p:ext uri="{BB962C8B-B14F-4D97-AF65-F5344CB8AC3E}">
        <p14:creationId xmlns:p14="http://schemas.microsoft.com/office/powerpoint/2010/main" val="2343598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Karakteristik Multivibrator</a:t>
            </a:r>
            <a:endParaRPr lang="en-US"/>
          </a:p>
        </p:txBody>
      </p:sp>
      <p:sp>
        <p:nvSpPr>
          <p:cNvPr id="3" name="Content Placeholder 2"/>
          <p:cNvSpPr>
            <a:spLocks noGrp="1"/>
          </p:cNvSpPr>
          <p:nvPr>
            <p:ph idx="1"/>
          </p:nvPr>
        </p:nvSpPr>
        <p:spPr/>
        <p:txBody>
          <a:bodyPr>
            <a:normAutofit/>
          </a:bodyPr>
          <a:lstStyle/>
          <a:p>
            <a:r>
              <a:rPr lang="en-US" smtClean="0"/>
              <a:t>Multivibrator astabil</a:t>
            </a:r>
          </a:p>
          <a:p>
            <a:pPr marL="514350" indent="-514350">
              <a:buAutoNum type="arabicPeriod"/>
            </a:pPr>
            <a:r>
              <a:rPr lang="en-US" smtClean="0"/>
              <a:t>Memiliki waktu tunda pengisian dan pengosongan kapasitor.</a:t>
            </a:r>
          </a:p>
          <a:p>
            <a:pPr marL="514350" indent="-514350">
              <a:buAutoNum type="arabicPeriod"/>
            </a:pPr>
            <a:r>
              <a:rPr lang="en-US" smtClean="0"/>
              <a:t>Tidak memiliki masukan (input) karena keadaan ditentukan oleh besarnya tegangan pada komponen penguat aktif.</a:t>
            </a:r>
          </a:p>
          <a:p>
            <a:pPr marL="514350" indent="-514350">
              <a:buAutoNum type="arabicPeriod"/>
            </a:pPr>
            <a:endParaRPr lang="en-US"/>
          </a:p>
        </p:txBody>
      </p:sp>
      <p:sp>
        <p:nvSpPr>
          <p:cNvPr id="4" name="Rounded Rectangle 3">
            <a:hlinkClick r:id="rId2" action="ppaction://hlinksldjump"/>
          </p:cNvPr>
          <p:cNvSpPr/>
          <p:nvPr/>
        </p:nvSpPr>
        <p:spPr>
          <a:xfrm>
            <a:off x="838200" y="481211"/>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spTree>
    <p:extLst>
      <p:ext uri="{BB962C8B-B14F-4D97-AF65-F5344CB8AC3E}">
        <p14:creationId xmlns:p14="http://schemas.microsoft.com/office/powerpoint/2010/main" val="16776702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smtClean="0"/>
              <a:t>Periode</a:t>
            </a:r>
            <a:r>
              <a:rPr lang="en-US" dirty="0" smtClean="0"/>
              <a:t> </a:t>
            </a:r>
            <a:r>
              <a:rPr lang="en-US" dirty="0" err="1" smtClean="0"/>
              <a:t>waktu</a:t>
            </a:r>
            <a:r>
              <a:rPr lang="en-US" dirty="0" smtClean="0"/>
              <a:t> </a:t>
            </a:r>
            <a:r>
              <a:rPr lang="en-US" dirty="0" err="1" smtClean="0"/>
              <a:t>osilasi</a:t>
            </a:r>
            <a:endParaRPr lang="en-US" dirty="0" smtClean="0"/>
          </a:p>
          <a:p>
            <a:endParaRPr lang="en-US" dirty="0" smtClean="0"/>
          </a:p>
          <a:p>
            <a:endParaRPr lang="en-US" dirty="0" smtClean="0"/>
          </a:p>
          <a:p>
            <a:endParaRPr lang="en-US" dirty="0" smtClean="0"/>
          </a:p>
          <a:p>
            <a:endParaRPr lang="en-US" dirty="0" smtClean="0"/>
          </a:p>
          <a:p>
            <a:r>
              <a:rPr lang="en-US" dirty="0" err="1" smtClean="0"/>
              <a:t>Frekuensi</a:t>
            </a:r>
            <a:r>
              <a:rPr lang="en-US" dirty="0" smtClean="0"/>
              <a:t> </a:t>
            </a:r>
            <a:r>
              <a:rPr lang="en-US" dirty="0" err="1" smtClean="0"/>
              <a:t>osilasi</a:t>
            </a:r>
            <a:endParaRPr lang="en-US" dirty="0" smtClean="0"/>
          </a:p>
          <a:p>
            <a:endParaRPr lang="en-US" dirty="0"/>
          </a:p>
        </p:txBody>
      </p:sp>
      <p:sp>
        <p:nvSpPr>
          <p:cNvPr id="4" name="Rounded Rectangle 3">
            <a:hlinkClick r:id="rId3"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sp>
        <p:nvSpPr>
          <p:cNvPr id="102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25" name="Object 1"/>
          <p:cNvGraphicFramePr>
            <a:graphicFrameLocks noChangeAspect="1"/>
          </p:cNvGraphicFramePr>
          <p:nvPr/>
        </p:nvGraphicFramePr>
        <p:xfrm>
          <a:off x="2452662" y="2214554"/>
          <a:ext cx="1746262" cy="1428760"/>
        </p:xfrm>
        <a:graphic>
          <a:graphicData uri="http://schemas.openxmlformats.org/presentationml/2006/ole">
            <mc:AlternateContent xmlns:mc="http://schemas.openxmlformats.org/markup-compatibility/2006">
              <mc:Choice xmlns:v="urn:schemas-microsoft-com:vml" Requires="v">
                <p:oleObj spid="_x0000_s35844" name="Equation" r:id="rId4" imgW="838200" imgH="685800" progId="Equation.3">
                  <p:embed/>
                </p:oleObj>
              </mc:Choice>
              <mc:Fallback>
                <p:oleObj name="Equation" r:id="rId4" imgW="838200" imgH="685800" progId="Equation.3">
                  <p:embed/>
                  <p:pic>
                    <p:nvPicPr>
                      <p:cNvPr id="1025"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2662" y="2214554"/>
                        <a:ext cx="1746262" cy="1428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8"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27" name="Object 3"/>
          <p:cNvGraphicFramePr>
            <a:graphicFrameLocks noChangeAspect="1"/>
          </p:cNvGraphicFramePr>
          <p:nvPr/>
        </p:nvGraphicFramePr>
        <p:xfrm>
          <a:off x="2452662" y="4500570"/>
          <a:ext cx="2714644" cy="1044094"/>
        </p:xfrm>
        <a:graphic>
          <a:graphicData uri="http://schemas.openxmlformats.org/presentationml/2006/ole">
            <mc:AlternateContent xmlns:mc="http://schemas.openxmlformats.org/markup-compatibility/2006">
              <mc:Choice xmlns:v="urn:schemas-microsoft-com:vml" Requires="v">
                <p:oleObj spid="_x0000_s35845" name="Equation" r:id="rId6" imgW="1117600" imgH="431800" progId="Equation.3">
                  <p:embed/>
                </p:oleObj>
              </mc:Choice>
              <mc:Fallback>
                <p:oleObj name="Equation" r:id="rId6" imgW="1117600" imgH="431800" progId="Equation.3">
                  <p:embed/>
                  <p:pic>
                    <p:nvPicPr>
                      <p:cNvPr id="102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2662" y="4500570"/>
                        <a:ext cx="2714644" cy="10440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951170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Bentuk gelombang multivibrator astabil</a:t>
            </a:r>
            <a:endParaRPr lang="en-US"/>
          </a:p>
        </p:txBody>
      </p:sp>
      <p:sp>
        <p:nvSpPr>
          <p:cNvPr id="4" name="Rounded Rectangle 3">
            <a:hlinkClick r:id="rId2"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pic>
        <p:nvPicPr>
          <p:cNvPr id="5" name="Picture 4" descr="tim23.gif"/>
          <p:cNvPicPr>
            <a:picLocks noChangeAspect="1"/>
          </p:cNvPicPr>
          <p:nvPr/>
        </p:nvPicPr>
        <p:blipFill>
          <a:blip r:embed="rId3"/>
          <a:stretch>
            <a:fillRect/>
          </a:stretch>
        </p:blipFill>
        <p:spPr>
          <a:xfrm>
            <a:off x="2881290" y="2143116"/>
            <a:ext cx="6286544" cy="4501476"/>
          </a:xfrm>
          <a:prstGeom prst="rect">
            <a:avLst/>
          </a:prstGeom>
        </p:spPr>
      </p:pic>
    </p:spTree>
    <p:extLst>
      <p:ext uri="{BB962C8B-B14F-4D97-AF65-F5344CB8AC3E}">
        <p14:creationId xmlns:p14="http://schemas.microsoft.com/office/powerpoint/2010/main" val="36041847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Multivibrator monostabil</a:t>
            </a:r>
          </a:p>
          <a:p>
            <a:pPr marL="514350" indent="-514350">
              <a:buAutoNum type="arabicPeriod"/>
            </a:pPr>
            <a:r>
              <a:rPr lang="en-US" smtClean="0"/>
              <a:t>Keadaan tak stabil dicapai dengan menerapkan sinyal pemicu ujung negatif (negative edge triggering).</a:t>
            </a:r>
          </a:p>
          <a:p>
            <a:pPr marL="514350" indent="-514350">
              <a:buAutoNum type="arabicPeriod"/>
            </a:pPr>
            <a:r>
              <a:rPr lang="en-US" smtClean="0"/>
              <a:t>Memiliki 1 buah masukan pada salah satu komponen kopel yang mengatur keadaan stabil dan tak stabil. </a:t>
            </a:r>
            <a:endParaRPr lang="en-US"/>
          </a:p>
        </p:txBody>
      </p:sp>
      <p:sp>
        <p:nvSpPr>
          <p:cNvPr id="4" name="Rounded Rectangle 3">
            <a:hlinkClick r:id="rId2"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spTree>
    <p:extLst>
      <p:ext uri="{BB962C8B-B14F-4D97-AF65-F5344CB8AC3E}">
        <p14:creationId xmlns:p14="http://schemas.microsoft.com/office/powerpoint/2010/main" val="5354883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Multivibrator monostabil</a:t>
            </a:r>
          </a:p>
          <a:p>
            <a:pPr marL="514350" indent="-514350">
              <a:buAutoNum type="arabicPeriod"/>
            </a:pPr>
            <a:r>
              <a:rPr lang="en-US" smtClean="0"/>
              <a:t>Keadaan tak stabil dicapai dengan menerapkan sinyal pemicu ujung negatif (negative edge triggering).</a:t>
            </a:r>
          </a:p>
          <a:p>
            <a:pPr marL="514350" indent="-514350">
              <a:buAutoNum type="arabicPeriod"/>
            </a:pPr>
            <a:r>
              <a:rPr lang="en-US" smtClean="0"/>
              <a:t>Memiliki 1 buah masukan pada salah satu komponen kopel yang mengatur keadaan stabil dan tak stabil. </a:t>
            </a:r>
            <a:endParaRPr lang="en-US"/>
          </a:p>
        </p:txBody>
      </p:sp>
      <p:sp>
        <p:nvSpPr>
          <p:cNvPr id="4" name="Rounded Rectangle 3">
            <a:hlinkClick r:id="rId2"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dirty="0" err="1">
                <a:solidFill>
                  <a:schemeClr val="tx1"/>
                </a:solidFill>
              </a:rPr>
              <a:t>Karakteristik</a:t>
            </a:r>
            <a:r>
              <a:rPr lang="en-US" sz="4400" dirty="0">
                <a:solidFill>
                  <a:schemeClr val="tx1"/>
                </a:solidFill>
              </a:rPr>
              <a:t> </a:t>
            </a:r>
            <a:r>
              <a:rPr lang="en-US" sz="4400" dirty="0" err="1">
                <a:solidFill>
                  <a:schemeClr val="tx1"/>
                </a:solidFill>
              </a:rPr>
              <a:t>Multivibrator</a:t>
            </a:r>
            <a:endParaRPr lang="en-US" sz="4400" dirty="0">
              <a:solidFill>
                <a:schemeClr val="tx1"/>
              </a:solidFill>
            </a:endParaRPr>
          </a:p>
        </p:txBody>
      </p:sp>
    </p:spTree>
    <p:extLst>
      <p:ext uri="{BB962C8B-B14F-4D97-AF65-F5344CB8AC3E}">
        <p14:creationId xmlns:p14="http://schemas.microsoft.com/office/powerpoint/2010/main" val="15358872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Periode waktu osilasi adalah selang waktu yang dibutuhkan untuk mengubah keadaan rangkaian dari keadaan stabil menjadi tak stabil, yang dirumuskan dengan:</a:t>
            </a:r>
          </a:p>
          <a:p>
            <a:pPr>
              <a:buNone/>
            </a:pPr>
            <a:endParaRPr lang="en-US" smtClean="0"/>
          </a:p>
          <a:p>
            <a:pPr>
              <a:buNone/>
            </a:pPr>
            <a:endParaRPr lang="en-US"/>
          </a:p>
        </p:txBody>
      </p:sp>
      <p:sp>
        <p:nvSpPr>
          <p:cNvPr id="4" name="Rounded Rectangle 3">
            <a:hlinkClick r:id="rId3"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sp>
        <p:nvSpPr>
          <p:cNvPr id="102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41" name="Rectangle 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9940" name="Object 4"/>
          <p:cNvGraphicFramePr>
            <a:graphicFrameLocks noChangeAspect="1"/>
          </p:cNvGraphicFramePr>
          <p:nvPr/>
        </p:nvGraphicFramePr>
        <p:xfrm>
          <a:off x="3095604" y="3714753"/>
          <a:ext cx="2428892" cy="765267"/>
        </p:xfrm>
        <a:graphic>
          <a:graphicData uri="http://schemas.openxmlformats.org/presentationml/2006/ole">
            <mc:AlternateContent xmlns:mc="http://schemas.openxmlformats.org/markup-compatibility/2006">
              <mc:Choice xmlns:v="urn:schemas-microsoft-com:vml" Requires="v">
                <p:oleObj spid="_x0000_s36867" name="Equation" r:id="rId4" imgW="698197" imgH="215806" progId="Equation.3">
                  <p:embed/>
                </p:oleObj>
              </mc:Choice>
              <mc:Fallback>
                <p:oleObj name="Equation" r:id="rId4" imgW="698197" imgH="215806" progId="Equation.3">
                  <p:embed/>
                  <p:pic>
                    <p:nvPicPr>
                      <p:cNvPr id="3994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04" y="3714753"/>
                        <a:ext cx="2428892" cy="765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639429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Bentuk gelombang multivibrator monostabil</a:t>
            </a:r>
            <a:endParaRPr lang="en-US"/>
          </a:p>
        </p:txBody>
      </p:sp>
      <p:sp>
        <p:nvSpPr>
          <p:cNvPr id="4" name="Rounded Rectangle 3">
            <a:hlinkClick r:id="rId2"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pic>
        <p:nvPicPr>
          <p:cNvPr id="5" name="Picture 4" descr="tim13.gif"/>
          <p:cNvPicPr>
            <a:picLocks noChangeAspect="1"/>
          </p:cNvPicPr>
          <p:nvPr/>
        </p:nvPicPr>
        <p:blipFill>
          <a:blip r:embed="rId3"/>
          <a:stretch>
            <a:fillRect/>
          </a:stretch>
        </p:blipFill>
        <p:spPr>
          <a:xfrm>
            <a:off x="2738414" y="2242674"/>
            <a:ext cx="6643734" cy="4115285"/>
          </a:xfrm>
          <a:prstGeom prst="rect">
            <a:avLst/>
          </a:prstGeom>
        </p:spPr>
      </p:pic>
    </p:spTree>
    <p:extLst>
      <p:ext uri="{BB962C8B-B14F-4D97-AF65-F5344CB8AC3E}">
        <p14:creationId xmlns:p14="http://schemas.microsoft.com/office/powerpoint/2010/main" val="25289963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mtClean="0"/>
              <a:t>Multivibrator bistabil</a:t>
            </a:r>
          </a:p>
          <a:p>
            <a:pPr marL="514350" indent="-514350">
              <a:buAutoNum type="arabicPeriod"/>
            </a:pPr>
            <a:r>
              <a:rPr lang="en-US" smtClean="0"/>
              <a:t>Tidak menggunakan kapasitor sehingga pada awal rangkaian diaktifkan komponen penguat berada pada daerah aktif.</a:t>
            </a:r>
          </a:p>
          <a:p>
            <a:pPr marL="514350" indent="-514350">
              <a:buAutoNum type="arabicPeriod"/>
            </a:pPr>
            <a:r>
              <a:rPr lang="en-US" smtClean="0"/>
              <a:t>Pengubahan keadaan dari sinyal keluaran dilakukan dengan menerapkan masukan “set” dan “reset” pada komponen penguat yang aktif. Jika diberikan masukan pada salah satu terminal tersebut, maka keadaan keluaran akan berubah ke taraf kebalikan dari keadaan awal.</a:t>
            </a:r>
            <a:endParaRPr lang="en-US"/>
          </a:p>
        </p:txBody>
      </p:sp>
      <p:sp>
        <p:nvSpPr>
          <p:cNvPr id="4" name="Rounded Rectangle 3">
            <a:hlinkClick r:id="rId2" action="ppaction://hlinksldjump"/>
          </p:cNvPr>
          <p:cNvSpPr/>
          <p:nvPr/>
        </p:nvSpPr>
        <p:spPr>
          <a:xfrm>
            <a:off x="2381224" y="428605"/>
            <a:ext cx="7429552" cy="851297"/>
          </a:xfrm>
          <a:prstGeom prst="roundRect">
            <a:avLst/>
          </a:prstGeom>
          <a:solidFill>
            <a:schemeClr val="accent2"/>
          </a:solidFill>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spTree>
    <p:extLst>
      <p:ext uri="{BB962C8B-B14F-4D97-AF65-F5344CB8AC3E}">
        <p14:creationId xmlns:p14="http://schemas.microsoft.com/office/powerpoint/2010/main" val="216414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mtClean="0"/>
              <a:t>Bentuk gelombang multivibrator bistabil</a:t>
            </a:r>
            <a:endParaRPr lang="en-US"/>
          </a:p>
        </p:txBody>
      </p:sp>
      <p:pic>
        <p:nvPicPr>
          <p:cNvPr id="5" name="Picture 4" descr="tim18.gif"/>
          <p:cNvPicPr>
            <a:picLocks noChangeAspect="1"/>
          </p:cNvPicPr>
          <p:nvPr/>
        </p:nvPicPr>
        <p:blipFill>
          <a:blip r:embed="rId2"/>
          <a:stretch>
            <a:fillRect/>
          </a:stretch>
        </p:blipFill>
        <p:spPr>
          <a:xfrm>
            <a:off x="3381356" y="2143116"/>
            <a:ext cx="5643602" cy="4323461"/>
          </a:xfrm>
          <a:prstGeom prst="rect">
            <a:avLst/>
          </a:prstGeom>
        </p:spPr>
      </p:pic>
      <p:sp>
        <p:nvSpPr>
          <p:cNvPr id="4" name="Rounded Rectangle 3">
            <a:hlinkClick r:id="rId3" action="ppaction://hlinksldjump"/>
          </p:cNvPr>
          <p:cNvSpPr/>
          <p:nvPr/>
        </p:nvSpPr>
        <p:spPr>
          <a:xfrm>
            <a:off x="2381224" y="428605"/>
            <a:ext cx="7429552" cy="851297"/>
          </a:xfrm>
          <a:prstGeom prst="roundRect">
            <a:avLst/>
          </a:prstGeom>
          <a:solidFill>
            <a:schemeClr val="accent2"/>
          </a:solidFill>
          <a:ln>
            <a:solidFill>
              <a:schemeClr val="accent2">
                <a:lumMod val="40000"/>
                <a:lumOff val="60000"/>
              </a:schemeClr>
            </a:solidFill>
          </a:ln>
        </p:spPr>
        <p:style>
          <a:lnRef idx="3">
            <a:schemeClr val="lt1"/>
          </a:lnRef>
          <a:fillRef idx="1">
            <a:schemeClr val="accent3"/>
          </a:fillRef>
          <a:effectRef idx="1">
            <a:schemeClr val="accent3"/>
          </a:effectRef>
          <a:fontRef idx="minor">
            <a:schemeClr val="lt1"/>
          </a:fontRef>
        </p:style>
        <p:txBody>
          <a:bodyPr wrap="square" rtlCol="0" anchor="ctr" anchorCtr="1">
            <a:spAutoFit/>
          </a:bodyPr>
          <a:lstStyle/>
          <a:p>
            <a:pPr marL="514350" indent="-514350" algn="ctr"/>
            <a:r>
              <a:rPr lang="en-US" sz="4400">
                <a:solidFill>
                  <a:schemeClr val="tx1"/>
                </a:solidFill>
              </a:rPr>
              <a:t>Karakteristik Multivibrator</a:t>
            </a:r>
            <a:endParaRPr lang="en-US" sz="4400">
              <a:solidFill>
                <a:schemeClr val="tx1"/>
              </a:solidFill>
            </a:endParaRPr>
          </a:p>
        </p:txBody>
      </p:sp>
    </p:spTree>
    <p:extLst>
      <p:ext uri="{BB962C8B-B14F-4D97-AF65-F5344CB8AC3E}">
        <p14:creationId xmlns:p14="http://schemas.microsoft.com/office/powerpoint/2010/main" val="22753921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Aplikasi Multivibrator</a:t>
            </a:r>
            <a:endParaRPr lang="en-US"/>
          </a:p>
        </p:txBody>
      </p:sp>
      <p:sp>
        <p:nvSpPr>
          <p:cNvPr id="3" name="Content Placeholder 2"/>
          <p:cNvSpPr>
            <a:spLocks noGrp="1"/>
          </p:cNvSpPr>
          <p:nvPr>
            <p:ph idx="1"/>
          </p:nvPr>
        </p:nvSpPr>
        <p:spPr/>
        <p:txBody>
          <a:bodyPr>
            <a:normAutofit/>
          </a:bodyPr>
          <a:lstStyle/>
          <a:p>
            <a:r>
              <a:rPr lang="en-US" smtClean="0"/>
              <a:t>Multivibrator astabil</a:t>
            </a:r>
          </a:p>
          <a:p>
            <a:pPr lvl="0">
              <a:buNone/>
            </a:pPr>
            <a:r>
              <a:rPr lang="en-US" smtClean="0"/>
              <a:t>Kegunaan dari multivibrator bistabil antara lain:</a:t>
            </a:r>
          </a:p>
          <a:p>
            <a:pPr marL="514350" indent="-514350">
              <a:buAutoNum type="arabicPeriod"/>
            </a:pPr>
            <a:r>
              <a:rPr lang="en-US" smtClean="0"/>
              <a:t>Sebagai pembangkit sinyal yang menghasilkan gelombang keluaran dengan periode tetap.</a:t>
            </a:r>
          </a:p>
          <a:p>
            <a:pPr marL="514350" indent="-514350">
              <a:buAutoNum type="arabicPeriod"/>
            </a:pPr>
            <a:r>
              <a:rPr lang="en-US" smtClean="0"/>
              <a:t>Sebagai rangkaian pembangkit denyut lonceng (clock pulse) untuk rangkaian pencacah (counter), penghitung waktu (timer), modulator dan rangkaian logika digital lainnya.</a:t>
            </a:r>
          </a:p>
          <a:p>
            <a:pPr marL="514350" indent="-514350">
              <a:buAutoNum type="arabicPeriod"/>
            </a:pPr>
            <a:endParaRPr lang="en-US"/>
          </a:p>
        </p:txBody>
      </p:sp>
      <p:sp>
        <p:nvSpPr>
          <p:cNvPr id="4" name="Rounded Rectangle 3">
            <a:hlinkClick r:id="rId2" action="ppaction://hlinksldjump"/>
          </p:cNvPr>
          <p:cNvSpPr/>
          <p:nvPr/>
        </p:nvSpPr>
        <p:spPr>
          <a:xfrm>
            <a:off x="838200" y="481211"/>
            <a:ext cx="7429552" cy="851297"/>
          </a:xfrm>
          <a:prstGeom prst="roundRect">
            <a:avLst/>
          </a:prstGeom>
          <a:solidFill>
            <a:schemeClr val="accent2"/>
          </a:solidFill>
          <a:ln>
            <a:solidFill>
              <a:schemeClr val="accent2">
                <a:lumMod val="40000"/>
                <a:lumOff val="60000"/>
              </a:schemeClr>
            </a:solidFill>
          </a:ln>
        </p:spPr>
        <p:style>
          <a:lnRef idx="3">
            <a:schemeClr val="lt1"/>
          </a:lnRef>
          <a:fillRef idx="1">
            <a:schemeClr val="accent5"/>
          </a:fillRef>
          <a:effectRef idx="1">
            <a:schemeClr val="accent5"/>
          </a:effectRef>
          <a:fontRef idx="minor">
            <a:schemeClr val="lt1"/>
          </a:fontRef>
        </p:style>
        <p:txBody>
          <a:bodyPr wrap="square" rtlCol="0" anchor="ctr" anchorCtr="1">
            <a:spAutoFit/>
          </a:bodyPr>
          <a:lstStyle/>
          <a:p>
            <a:pPr marL="514350" indent="-514350" algn="ctr"/>
            <a:r>
              <a:rPr lang="en-US" sz="4400">
                <a:solidFill>
                  <a:schemeClr val="tx1"/>
                </a:solidFill>
              </a:rPr>
              <a:t>Aplikasi Multivibrator</a:t>
            </a:r>
            <a:endParaRPr lang="en-US" sz="4400">
              <a:solidFill>
                <a:schemeClr val="tx1"/>
              </a:solidFill>
            </a:endParaRPr>
          </a:p>
        </p:txBody>
      </p:sp>
    </p:spTree>
    <p:extLst>
      <p:ext uri="{BB962C8B-B14F-4D97-AF65-F5344CB8AC3E}">
        <p14:creationId xmlns:p14="http://schemas.microsoft.com/office/powerpoint/2010/main" val="25057419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2009804" y="1689120"/>
            <a:ext cx="8229600" cy="4525963"/>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3200"/>
              <a:t>Multivibrator monostabil</a:t>
            </a:r>
          </a:p>
          <a:p>
            <a:pPr marL="342900" indent="-342900">
              <a:spcBef>
                <a:spcPct val="20000"/>
              </a:spcBef>
            </a:pPr>
            <a:r>
              <a:rPr lang="en-US" sz="3200"/>
              <a:t>Kegunaan dari multivibrator monostabil antara lain:</a:t>
            </a:r>
          </a:p>
          <a:p>
            <a:pPr marL="514350" indent="-514350">
              <a:spcBef>
                <a:spcPct val="20000"/>
              </a:spcBef>
              <a:buFont typeface="Arial" pitchFamily="34" charset="0"/>
              <a:buAutoNum type="arabicPeriod"/>
              <a:defRPr/>
            </a:pPr>
            <a:r>
              <a:rPr lang="en-US" sz="3200"/>
              <a:t>Peregangan periode waktu terhadap denyut sinyal keluaran (pulse stretching).</a:t>
            </a:r>
          </a:p>
          <a:p>
            <a:pPr marL="514350" indent="-514350">
              <a:spcBef>
                <a:spcPct val="20000"/>
              </a:spcBef>
              <a:buFont typeface="Arial" pitchFamily="34" charset="0"/>
              <a:buAutoNum type="arabicPeriod"/>
              <a:defRPr/>
            </a:pPr>
            <a:r>
              <a:rPr lang="en-US" sz="3200"/>
              <a:t>Sebagai rangkaian pendeteksi ujung jatuh pada denyut rangkaian flip-flop.</a:t>
            </a:r>
          </a:p>
          <a:p>
            <a:pPr marL="514350" indent="-514350">
              <a:spcBef>
                <a:spcPct val="20000"/>
              </a:spcBef>
              <a:buFont typeface="Arial" pitchFamily="34" charset="0"/>
              <a:buAutoNum type="arabicPeriod"/>
              <a:defRPr/>
            </a:pPr>
            <a:endParaRPr lang="en-US" sz="3200"/>
          </a:p>
        </p:txBody>
      </p:sp>
      <p:sp>
        <p:nvSpPr>
          <p:cNvPr id="5" name="Rounded Rectangle 4">
            <a:hlinkClick r:id="rId2" action="ppaction://hlinksldjump"/>
          </p:cNvPr>
          <p:cNvSpPr/>
          <p:nvPr/>
        </p:nvSpPr>
        <p:spPr>
          <a:xfrm>
            <a:off x="2381224" y="428605"/>
            <a:ext cx="7429552" cy="851297"/>
          </a:xfrm>
          <a:prstGeom prst="roundRect">
            <a:avLst/>
          </a:prstGeom>
          <a:solidFill>
            <a:schemeClr val="accent2"/>
          </a:solidFill>
          <a:ln>
            <a:solidFill>
              <a:schemeClr val="accent2">
                <a:lumMod val="40000"/>
                <a:lumOff val="60000"/>
              </a:schemeClr>
            </a:solidFill>
          </a:ln>
        </p:spPr>
        <p:style>
          <a:lnRef idx="3">
            <a:schemeClr val="lt1"/>
          </a:lnRef>
          <a:fillRef idx="1">
            <a:schemeClr val="accent5"/>
          </a:fillRef>
          <a:effectRef idx="1">
            <a:schemeClr val="accent5"/>
          </a:effectRef>
          <a:fontRef idx="minor">
            <a:schemeClr val="lt1"/>
          </a:fontRef>
        </p:style>
        <p:txBody>
          <a:bodyPr wrap="square" rtlCol="0" anchor="ctr" anchorCtr="1">
            <a:spAutoFit/>
          </a:bodyPr>
          <a:lstStyle/>
          <a:p>
            <a:pPr marL="514350" indent="-514350" algn="ctr"/>
            <a:r>
              <a:rPr lang="en-US" sz="4400">
                <a:solidFill>
                  <a:schemeClr val="tx1"/>
                </a:solidFill>
              </a:rPr>
              <a:t>Aplikasi Multivibrator</a:t>
            </a:r>
            <a:endParaRPr lang="en-US" sz="4400">
              <a:solidFill>
                <a:schemeClr val="tx1"/>
              </a:solidFill>
            </a:endParaRPr>
          </a:p>
        </p:txBody>
      </p:sp>
    </p:spTree>
    <p:extLst>
      <p:ext uri="{BB962C8B-B14F-4D97-AF65-F5344CB8AC3E}">
        <p14:creationId xmlns:p14="http://schemas.microsoft.com/office/powerpoint/2010/main" val="2293913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2009804" y="1689120"/>
            <a:ext cx="8229600" cy="4525963"/>
          </a:xfrm>
          <a:prstGeom prst="rect">
            <a:avLst/>
          </a:prstGeom>
        </p:spPr>
        <p:txBody>
          <a:bodyPr vert="horz" lIns="91440" tIns="45720" rIns="91440" bIns="45720" rtlCol="0">
            <a:normAutofit/>
          </a:bodyPr>
          <a:lstStyle/>
          <a:p>
            <a:pPr marL="342900" indent="-342900">
              <a:spcBef>
                <a:spcPct val="20000"/>
              </a:spcBef>
              <a:buFont typeface="Arial" pitchFamily="34" charset="0"/>
              <a:buChar char="•"/>
              <a:defRPr/>
            </a:pPr>
            <a:r>
              <a:rPr lang="en-US" sz="3200" dirty="0" err="1"/>
              <a:t>Multivibrator</a:t>
            </a:r>
            <a:r>
              <a:rPr lang="en-US" sz="3200" dirty="0"/>
              <a:t> </a:t>
            </a:r>
            <a:r>
              <a:rPr lang="en-US" sz="3200" dirty="0" err="1"/>
              <a:t>bistabil</a:t>
            </a:r>
            <a:endParaRPr lang="en-US" sz="3200" dirty="0"/>
          </a:p>
          <a:p>
            <a:pPr marL="342900" indent="-342900">
              <a:spcBef>
                <a:spcPct val="20000"/>
              </a:spcBef>
              <a:defRPr/>
            </a:pPr>
            <a:r>
              <a:rPr lang="en-US" sz="3200" dirty="0" err="1"/>
              <a:t>Kegunaan</a:t>
            </a:r>
            <a:r>
              <a:rPr lang="en-US" sz="3200" dirty="0"/>
              <a:t> </a:t>
            </a:r>
            <a:r>
              <a:rPr lang="en-US" sz="3200" dirty="0" err="1"/>
              <a:t>dari</a:t>
            </a:r>
            <a:r>
              <a:rPr lang="en-US" sz="3200" dirty="0"/>
              <a:t> </a:t>
            </a:r>
            <a:r>
              <a:rPr lang="en-US" sz="3200" dirty="0" err="1"/>
              <a:t>multivibrator</a:t>
            </a:r>
            <a:r>
              <a:rPr lang="en-US" sz="3200" dirty="0"/>
              <a:t> </a:t>
            </a:r>
            <a:r>
              <a:rPr lang="en-US" sz="3200" dirty="0" err="1"/>
              <a:t>bistabil</a:t>
            </a:r>
            <a:r>
              <a:rPr lang="en-US" sz="3200" dirty="0"/>
              <a:t> </a:t>
            </a:r>
            <a:r>
              <a:rPr lang="en-US" sz="3200" dirty="0" err="1"/>
              <a:t>antara</a:t>
            </a:r>
            <a:r>
              <a:rPr lang="en-US" sz="3200" dirty="0"/>
              <a:t> lain:</a:t>
            </a:r>
          </a:p>
          <a:p>
            <a:pPr marL="514350" indent="-514350">
              <a:spcBef>
                <a:spcPct val="20000"/>
              </a:spcBef>
              <a:buFont typeface="Arial" pitchFamily="34" charset="0"/>
              <a:buAutoNum type="arabicPeriod"/>
              <a:defRPr/>
            </a:pPr>
            <a:r>
              <a:rPr lang="en-US" sz="3200" dirty="0" err="1"/>
              <a:t>Membangkitkan</a:t>
            </a:r>
            <a:r>
              <a:rPr lang="en-US" sz="3200" dirty="0"/>
              <a:t> </a:t>
            </a:r>
            <a:r>
              <a:rPr lang="en-US" sz="3200" dirty="0" err="1"/>
              <a:t>dan</a:t>
            </a:r>
            <a:r>
              <a:rPr lang="en-US" sz="3200" dirty="0"/>
              <a:t> </a:t>
            </a:r>
            <a:r>
              <a:rPr lang="en-US" sz="3200" dirty="0" err="1"/>
              <a:t>memproses</a:t>
            </a:r>
            <a:r>
              <a:rPr lang="en-US" sz="3200" dirty="0"/>
              <a:t> </a:t>
            </a:r>
            <a:r>
              <a:rPr lang="en-US" sz="3200" dirty="0" err="1"/>
              <a:t>sinyal-sinyal</a:t>
            </a:r>
            <a:r>
              <a:rPr lang="en-US" sz="3200" dirty="0"/>
              <a:t> </a:t>
            </a:r>
            <a:r>
              <a:rPr lang="en-US" sz="3200" dirty="0" err="1"/>
              <a:t>denyut</a:t>
            </a:r>
            <a:r>
              <a:rPr lang="en-US" sz="3200" dirty="0"/>
              <a:t>.</a:t>
            </a:r>
          </a:p>
          <a:p>
            <a:pPr marL="514350" indent="-514350">
              <a:spcBef>
                <a:spcPct val="20000"/>
              </a:spcBef>
              <a:buFont typeface="Arial" pitchFamily="34" charset="0"/>
              <a:buAutoNum type="arabicPeriod"/>
              <a:defRPr/>
            </a:pPr>
            <a:r>
              <a:rPr lang="en-US" sz="3200" dirty="0" err="1"/>
              <a:t>Melakukan</a:t>
            </a:r>
            <a:r>
              <a:rPr lang="en-US" sz="3200" dirty="0"/>
              <a:t> </a:t>
            </a:r>
            <a:r>
              <a:rPr lang="en-US" sz="3200" dirty="0" err="1"/>
              <a:t>operasi-operasi</a:t>
            </a:r>
            <a:r>
              <a:rPr lang="en-US" sz="3200" dirty="0"/>
              <a:t> </a:t>
            </a:r>
            <a:r>
              <a:rPr lang="en-US" sz="3200" dirty="0" err="1"/>
              <a:t>seperti</a:t>
            </a:r>
            <a:r>
              <a:rPr lang="en-US" sz="3200" dirty="0"/>
              <a:t> </a:t>
            </a:r>
            <a:r>
              <a:rPr lang="en-US" sz="3200" dirty="0" err="1"/>
              <a:t>penyimpanan</a:t>
            </a:r>
            <a:r>
              <a:rPr lang="en-US" sz="3200" dirty="0"/>
              <a:t> bit data </a:t>
            </a:r>
            <a:r>
              <a:rPr lang="en-US" sz="3200" dirty="0" err="1"/>
              <a:t>dan</a:t>
            </a:r>
            <a:r>
              <a:rPr lang="en-US" sz="3200" dirty="0"/>
              <a:t> </a:t>
            </a:r>
            <a:r>
              <a:rPr lang="en-US" sz="3200" dirty="0" err="1"/>
              <a:t>operasi</a:t>
            </a:r>
            <a:r>
              <a:rPr lang="en-US" sz="3200" dirty="0"/>
              <a:t> </a:t>
            </a:r>
            <a:r>
              <a:rPr lang="en-US" sz="3200" dirty="0" err="1"/>
              <a:t>logika</a:t>
            </a:r>
            <a:r>
              <a:rPr lang="en-US" sz="3200" dirty="0"/>
              <a:t> (</a:t>
            </a:r>
            <a:r>
              <a:rPr lang="en-US" sz="3200" dirty="0" err="1"/>
              <a:t>aljabar</a:t>
            </a:r>
            <a:r>
              <a:rPr lang="en-US" sz="3200" dirty="0"/>
              <a:t> Boole)</a:t>
            </a:r>
          </a:p>
        </p:txBody>
      </p:sp>
      <p:sp>
        <p:nvSpPr>
          <p:cNvPr id="5" name="Rounded Rectangle 4">
            <a:hlinkClick r:id="rId2" action="ppaction://hlinksldjump"/>
          </p:cNvPr>
          <p:cNvSpPr/>
          <p:nvPr/>
        </p:nvSpPr>
        <p:spPr>
          <a:xfrm>
            <a:off x="2381224" y="428605"/>
            <a:ext cx="7429552" cy="851297"/>
          </a:xfrm>
          <a:prstGeom prst="roundRect">
            <a:avLst/>
          </a:prstGeom>
          <a:solidFill>
            <a:schemeClr val="accent2"/>
          </a:solidFill>
          <a:ln>
            <a:solidFill>
              <a:schemeClr val="accent2">
                <a:lumMod val="40000"/>
                <a:lumOff val="60000"/>
              </a:schemeClr>
            </a:solidFill>
          </a:ln>
        </p:spPr>
        <p:style>
          <a:lnRef idx="3">
            <a:schemeClr val="lt1"/>
          </a:lnRef>
          <a:fillRef idx="1">
            <a:schemeClr val="accent5"/>
          </a:fillRef>
          <a:effectRef idx="1">
            <a:schemeClr val="accent5"/>
          </a:effectRef>
          <a:fontRef idx="minor">
            <a:schemeClr val="lt1"/>
          </a:fontRef>
        </p:style>
        <p:txBody>
          <a:bodyPr wrap="square" rtlCol="0" anchor="ctr" anchorCtr="1">
            <a:spAutoFit/>
          </a:bodyPr>
          <a:lstStyle/>
          <a:p>
            <a:pPr marL="514350" indent="-514350" algn="ctr"/>
            <a:r>
              <a:rPr lang="en-US" sz="4400">
                <a:solidFill>
                  <a:schemeClr val="tx1"/>
                </a:solidFill>
              </a:rPr>
              <a:t>Aplikasi Multivibrator</a:t>
            </a:r>
            <a:endParaRPr lang="en-US" sz="4400">
              <a:solidFill>
                <a:schemeClr val="tx1"/>
              </a:solidFill>
            </a:endParaRPr>
          </a:p>
        </p:txBody>
      </p:sp>
    </p:spTree>
    <p:extLst>
      <p:ext uri="{BB962C8B-B14F-4D97-AF65-F5344CB8AC3E}">
        <p14:creationId xmlns:p14="http://schemas.microsoft.com/office/powerpoint/2010/main" val="34107666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graphicFrame>
        <p:nvGraphicFramePr>
          <p:cNvPr id="27" name="Diagram 26"/>
          <p:cNvGraphicFramePr/>
          <p:nvPr>
            <p:extLst>
              <p:ext uri="{D42A27DB-BD31-4B8C-83A1-F6EECF244321}">
                <p14:modId xmlns:p14="http://schemas.microsoft.com/office/powerpoint/2010/main" val="1474028532"/>
              </p:ext>
            </p:extLst>
          </p:nvPr>
        </p:nvGraphicFramePr>
        <p:xfrm>
          <a:off x="1981200" y="5655129"/>
          <a:ext cx="8229600"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8" name="Pie 27"/>
          <p:cNvSpPr/>
          <p:nvPr/>
        </p:nvSpPr>
        <p:spPr>
          <a:xfrm rot="10600249">
            <a:off x="9753600" y="5655127"/>
            <a:ext cx="914399" cy="914399"/>
          </a:xfrm>
          <a:prstGeom prst="pie">
            <a:avLst>
              <a:gd name="adj1" fmla="val 5400000"/>
              <a:gd name="adj2" fmla="val 1620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a:t>
            </a:r>
            <a:endParaRPr lang="en-US" dirty="0"/>
          </a:p>
        </p:txBody>
      </p:sp>
      <p:sp>
        <p:nvSpPr>
          <p:cNvPr id="4" name="Content Placeholder 3"/>
          <p:cNvSpPr>
            <a:spLocks noGrp="1"/>
          </p:cNvSpPr>
          <p:nvPr>
            <p:ph idx="1"/>
          </p:nvPr>
        </p:nvSpPr>
        <p:spPr/>
        <p:txBody>
          <a:bodyPr/>
          <a:lstStyle/>
          <a:p>
            <a:r>
              <a:rPr lang="en-US" dirty="0" err="1" smtClean="0"/>
              <a:t>Lakukan</a:t>
            </a:r>
            <a:r>
              <a:rPr lang="en-US" dirty="0" smtClean="0"/>
              <a:t> </a:t>
            </a:r>
            <a:r>
              <a:rPr lang="en-US" dirty="0" err="1" smtClean="0"/>
              <a:t>analisis</a:t>
            </a:r>
            <a:r>
              <a:rPr lang="en-US" dirty="0" smtClean="0"/>
              <a:t> </a:t>
            </a:r>
            <a:r>
              <a:rPr lang="en-US" dirty="0" err="1" smtClean="0"/>
              <a:t>untuk</a:t>
            </a:r>
            <a:r>
              <a:rPr lang="en-US" dirty="0" smtClean="0"/>
              <a:t> </a:t>
            </a:r>
            <a:r>
              <a:rPr lang="fi-FI" dirty="0" smtClean="0"/>
              <a:t>umpan </a:t>
            </a:r>
            <a:r>
              <a:rPr lang="fi-FI" dirty="0"/>
              <a:t>balik negatif </a:t>
            </a:r>
            <a:r>
              <a:rPr lang="fi-FI" dirty="0" smtClean="0"/>
              <a:t>bertikut:</a:t>
            </a:r>
            <a:endParaRPr lang="en-US" dirty="0"/>
          </a:p>
        </p:txBody>
      </p:sp>
    </p:spTree>
    <p:extLst>
      <p:ext uri="{BB962C8B-B14F-4D97-AF65-F5344CB8AC3E}">
        <p14:creationId xmlns:p14="http://schemas.microsoft.com/office/powerpoint/2010/main" val="20943327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23879</TotalTime>
  <Words>1352</Words>
  <Application>Microsoft Office PowerPoint</Application>
  <PresentationFormat>Widescreen</PresentationFormat>
  <Paragraphs>161</Paragraphs>
  <Slides>32</Slides>
  <Notes>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45" baseType="lpstr">
      <vt:lpstr>맑은 고딕</vt:lpstr>
      <vt:lpstr>Algerian</vt:lpstr>
      <vt:lpstr>Arial</vt:lpstr>
      <vt:lpstr>Batang</vt:lpstr>
      <vt:lpstr>Calibri</vt:lpstr>
      <vt:lpstr>Calibri Light</vt:lpstr>
      <vt:lpstr>Cambria Math</vt:lpstr>
      <vt:lpstr>Edwardian Script ITC</vt:lpstr>
      <vt:lpstr>Times New Roman</vt:lpstr>
      <vt:lpstr>Wingdings</vt:lpstr>
      <vt:lpstr>Office Theme</vt:lpstr>
      <vt:lpstr>Packager Shell Object</vt:lpstr>
      <vt:lpstr>Equation</vt:lpstr>
      <vt:lpstr>PowerPoint Presentation</vt:lpstr>
      <vt:lpstr>Multivibrator</vt:lpstr>
      <vt:lpstr>Konsep Dasar Multivibrator</vt:lpstr>
      <vt:lpstr>PowerPoint Presentation</vt:lpstr>
      <vt:lpstr>PowerPoint Presentation</vt:lpstr>
      <vt:lpstr>PowerPoint Presentation</vt:lpstr>
      <vt:lpstr>PowerPoint Presentation</vt:lpstr>
      <vt:lpstr>Astable Multivibrator menggunakan 2 BJT</vt:lpstr>
      <vt:lpstr>Astable Multivibrator dibuat dari IC 74HC14</vt:lpstr>
      <vt:lpstr>Bentuk gelombang dari rangkaian multivibrator astabil schmitt trigger</vt:lpstr>
      <vt:lpstr>Multivibrator Monostabil</vt:lpstr>
      <vt:lpstr>PowerPoint Presentation</vt:lpstr>
      <vt:lpstr>MULTIVIBRATOR DGN IC 555</vt:lpstr>
      <vt:lpstr>PowerPoint Presentation</vt:lpstr>
      <vt:lpstr>multivibrator monostable DGN  IC 74HC00</vt:lpstr>
      <vt:lpstr>IN/OUT MONOSTABIL NAND GATE</vt:lpstr>
      <vt:lpstr>Multivibrator Bistabil</vt:lpstr>
      <vt:lpstr>Bistable Multivibrator</vt:lpstr>
      <vt:lpstr>Karakteristik Multivibrator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Aplikasi Multivibrator</vt:lpstr>
      <vt:lpstr>PowerPoint Presentation</vt:lpstr>
      <vt:lpstr>PowerPoint Presentation</vt:lpstr>
      <vt:lpstr>PowerPoint Presentation</vt:lpstr>
      <vt:lpstr>HW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126</cp:revision>
  <dcterms:created xsi:type="dcterms:W3CDTF">2024-10-22T07:52:57Z</dcterms:created>
  <dcterms:modified xsi:type="dcterms:W3CDTF">2026-03-25T03:28:54Z</dcterms:modified>
</cp:coreProperties>
</file>