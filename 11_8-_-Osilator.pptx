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emf" ContentType="image/x-emf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4"/>
  </p:notesMasterIdLst>
  <p:sldIdLst>
    <p:sldId id="264" r:id="rId2"/>
    <p:sldId id="279" r:id="rId3"/>
    <p:sldId id="291" r:id="rId4"/>
    <p:sldId id="292" r:id="rId5"/>
    <p:sldId id="293" r:id="rId6"/>
    <p:sldId id="294" r:id="rId7"/>
    <p:sldId id="295" r:id="rId8"/>
    <p:sldId id="296" r:id="rId9"/>
    <p:sldId id="297" r:id="rId10"/>
    <p:sldId id="298" r:id="rId11"/>
    <p:sldId id="299" r:id="rId12"/>
    <p:sldId id="300" r:id="rId13"/>
    <p:sldId id="301" r:id="rId14"/>
    <p:sldId id="302" r:id="rId15"/>
    <p:sldId id="303" r:id="rId16"/>
    <p:sldId id="304" r:id="rId17"/>
    <p:sldId id="305" r:id="rId18"/>
    <p:sldId id="306" r:id="rId19"/>
    <p:sldId id="307" r:id="rId20"/>
    <p:sldId id="308" r:id="rId21"/>
    <p:sldId id="309" r:id="rId22"/>
    <p:sldId id="310" r:id="rId23"/>
    <p:sldId id="311" r:id="rId24"/>
    <p:sldId id="312" r:id="rId25"/>
    <p:sldId id="313" r:id="rId26"/>
    <p:sldId id="314" r:id="rId27"/>
    <p:sldId id="315" r:id="rId28"/>
    <p:sldId id="316" r:id="rId29"/>
    <p:sldId id="317" r:id="rId30"/>
    <p:sldId id="318" r:id="rId31"/>
    <p:sldId id="278" r:id="rId32"/>
    <p:sldId id="290" r:id="rId3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159" autoAdjust="0"/>
    <p:restoredTop sz="94926" autoAdjust="0"/>
  </p:normalViewPr>
  <p:slideViewPr>
    <p:cSldViewPr snapToGrid="0">
      <p:cViewPr varScale="1">
        <p:scale>
          <a:sx n="59" d="100"/>
          <a:sy n="59" d="100"/>
        </p:scale>
        <p:origin x="102" y="5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275E80C-3B53-450A-868F-CD36AA0AB034}" type="doc">
      <dgm:prSet loTypeId="urn:microsoft.com/office/officeart/2005/8/layout/target3" loCatId="relationship" qsTypeId="urn:microsoft.com/office/officeart/2005/8/quickstyle/3d1" qsCatId="3D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D8FDBA16-E463-462A-B396-7080D4852B10}">
      <dgm:prSet custT="1"/>
      <dgm:spPr/>
      <dgm:t>
        <a:bodyPr/>
        <a:lstStyle/>
        <a:p>
          <a:pPr algn="l" rtl="0"/>
          <a:r>
            <a:rPr lang="en-US" sz="2600" b="1" dirty="0" smtClean="0"/>
            <a:t>11_8. </a:t>
          </a:r>
          <a:r>
            <a:rPr lang="en-US" sz="4400" dirty="0" err="1" smtClean="0"/>
            <a:t>Osilator</a:t>
          </a:r>
          <a:endParaRPr lang="en-US" sz="4400" dirty="0"/>
        </a:p>
      </dgm:t>
    </dgm:pt>
    <dgm:pt modelId="{CB0A1544-BCC3-498B-A1CB-3A83F46C4FEA}" type="parTrans" cxnId="{D2CA0264-F12F-4F95-A54F-23E59145D055}">
      <dgm:prSet/>
      <dgm:spPr/>
      <dgm:t>
        <a:bodyPr/>
        <a:lstStyle/>
        <a:p>
          <a:endParaRPr lang="en-US"/>
        </a:p>
      </dgm:t>
    </dgm:pt>
    <dgm:pt modelId="{ECAAE9D0-60C2-4B06-AAA6-E3E3F3BC91BD}" type="sibTrans" cxnId="{D2CA0264-F12F-4F95-A54F-23E59145D055}">
      <dgm:prSet/>
      <dgm:spPr/>
      <dgm:t>
        <a:bodyPr/>
        <a:lstStyle/>
        <a:p>
          <a:endParaRPr lang="en-US"/>
        </a:p>
      </dgm:t>
    </dgm:pt>
    <dgm:pt modelId="{30CCE222-7FD2-4854-87A2-4A9A310BBB7A}" type="pres">
      <dgm:prSet presAssocID="{2275E80C-3B53-450A-868F-CD36AA0AB034}" presName="Name0" presStyleCnt="0">
        <dgm:presLayoutVars>
          <dgm:chMax val="7"/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2C47B31C-951C-425E-A4D2-593F9963D3E6}" type="pres">
      <dgm:prSet presAssocID="{D8FDBA16-E463-462A-B396-7080D4852B10}" presName="circle1" presStyleLbl="node1" presStyleIdx="0" presStyleCnt="1"/>
      <dgm:spPr/>
      <dgm:t>
        <a:bodyPr/>
        <a:lstStyle/>
        <a:p>
          <a:endParaRPr lang="en-US"/>
        </a:p>
      </dgm:t>
    </dgm:pt>
    <dgm:pt modelId="{3ED554F4-7685-4CC8-8DB5-90AC62C5D699}" type="pres">
      <dgm:prSet presAssocID="{D8FDBA16-E463-462A-B396-7080D4852B10}" presName="space" presStyleCnt="0"/>
      <dgm:spPr/>
      <dgm:t>
        <a:bodyPr/>
        <a:lstStyle/>
        <a:p>
          <a:endParaRPr lang="en-US"/>
        </a:p>
      </dgm:t>
    </dgm:pt>
    <dgm:pt modelId="{10DAA3CF-D6D9-4A12-B5E8-9D3BDC3303B6}" type="pres">
      <dgm:prSet presAssocID="{D8FDBA16-E463-462A-B396-7080D4852B10}" presName="rect1" presStyleLbl="alignAcc1" presStyleIdx="0" presStyleCnt="1"/>
      <dgm:spPr/>
      <dgm:t>
        <a:bodyPr/>
        <a:lstStyle/>
        <a:p>
          <a:endParaRPr lang="en-US"/>
        </a:p>
      </dgm:t>
    </dgm:pt>
    <dgm:pt modelId="{AF10313C-3C27-4E63-B292-64E86E0D7026}" type="pres">
      <dgm:prSet presAssocID="{D8FDBA16-E463-462A-B396-7080D4852B10}" presName="rect1ParTxNoCh" presStyleLbl="alignAcc1" presStyleIdx="0" presStyleCnt="1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3A0822C4-AD35-4CD4-8371-1FDD78E220F6}" type="presOf" srcId="{2275E80C-3B53-450A-868F-CD36AA0AB034}" destId="{30CCE222-7FD2-4854-87A2-4A9A310BBB7A}" srcOrd="0" destOrd="0" presId="urn:microsoft.com/office/officeart/2005/8/layout/target3"/>
    <dgm:cxn modelId="{D2CA0264-F12F-4F95-A54F-23E59145D055}" srcId="{2275E80C-3B53-450A-868F-CD36AA0AB034}" destId="{D8FDBA16-E463-462A-B396-7080D4852B10}" srcOrd="0" destOrd="0" parTransId="{CB0A1544-BCC3-498B-A1CB-3A83F46C4FEA}" sibTransId="{ECAAE9D0-60C2-4B06-AAA6-E3E3F3BC91BD}"/>
    <dgm:cxn modelId="{D1D1E284-33B1-4B28-ADF3-E3233F134477}" type="presOf" srcId="{D8FDBA16-E463-462A-B396-7080D4852B10}" destId="{10DAA3CF-D6D9-4A12-B5E8-9D3BDC3303B6}" srcOrd="0" destOrd="0" presId="urn:microsoft.com/office/officeart/2005/8/layout/target3"/>
    <dgm:cxn modelId="{BAA7B625-929A-4239-9D2C-391664917524}" type="presOf" srcId="{D8FDBA16-E463-462A-B396-7080D4852B10}" destId="{AF10313C-3C27-4E63-B292-64E86E0D7026}" srcOrd="1" destOrd="0" presId="urn:microsoft.com/office/officeart/2005/8/layout/target3"/>
    <dgm:cxn modelId="{9849BA3A-F583-41D5-AB22-508EA3420B96}" type="presParOf" srcId="{30CCE222-7FD2-4854-87A2-4A9A310BBB7A}" destId="{2C47B31C-951C-425E-A4D2-593F9963D3E6}" srcOrd="0" destOrd="0" presId="urn:microsoft.com/office/officeart/2005/8/layout/target3"/>
    <dgm:cxn modelId="{B9C41106-E541-4783-9592-0321A5277098}" type="presParOf" srcId="{30CCE222-7FD2-4854-87A2-4A9A310BBB7A}" destId="{3ED554F4-7685-4CC8-8DB5-90AC62C5D699}" srcOrd="1" destOrd="0" presId="urn:microsoft.com/office/officeart/2005/8/layout/target3"/>
    <dgm:cxn modelId="{947D0443-88B7-433F-AB8D-FC4B10D6F79A}" type="presParOf" srcId="{30CCE222-7FD2-4854-87A2-4A9A310BBB7A}" destId="{10DAA3CF-D6D9-4A12-B5E8-9D3BDC3303B6}" srcOrd="2" destOrd="0" presId="urn:microsoft.com/office/officeart/2005/8/layout/target3"/>
    <dgm:cxn modelId="{E6BFF8DE-8F07-4B46-8A10-D72F23999A50}" type="presParOf" srcId="{30CCE222-7FD2-4854-87A2-4A9A310BBB7A}" destId="{AF10313C-3C27-4E63-B292-64E86E0D7026}" srcOrd="3" destOrd="0" presId="urn:microsoft.com/office/officeart/2005/8/layout/target3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275E80C-3B53-450A-868F-CD36AA0AB034}" type="doc">
      <dgm:prSet loTypeId="urn:microsoft.com/office/officeart/2005/8/layout/target3" loCatId="relationship" qsTypeId="urn:microsoft.com/office/officeart/2005/8/quickstyle/simple5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D8FDBA16-E463-462A-B396-7080D4852B10}">
      <dgm:prSet/>
      <dgm:spPr/>
      <dgm:t>
        <a:bodyPr/>
        <a:lstStyle/>
        <a:p>
          <a:pPr rtl="0"/>
          <a:r>
            <a:rPr lang="en-US" b="1" dirty="0" smtClean="0"/>
            <a:t>See the next</a:t>
          </a:r>
          <a:endParaRPr lang="en-US" dirty="0"/>
        </a:p>
      </dgm:t>
    </dgm:pt>
    <dgm:pt modelId="{CB0A1544-BCC3-498B-A1CB-3A83F46C4FEA}" type="parTrans" cxnId="{D2CA0264-F12F-4F95-A54F-23E59145D055}">
      <dgm:prSet/>
      <dgm:spPr/>
      <dgm:t>
        <a:bodyPr/>
        <a:lstStyle/>
        <a:p>
          <a:endParaRPr lang="en-US"/>
        </a:p>
      </dgm:t>
    </dgm:pt>
    <dgm:pt modelId="{ECAAE9D0-60C2-4B06-AAA6-E3E3F3BC91BD}" type="sibTrans" cxnId="{D2CA0264-F12F-4F95-A54F-23E59145D055}">
      <dgm:prSet/>
      <dgm:spPr/>
      <dgm:t>
        <a:bodyPr/>
        <a:lstStyle/>
        <a:p>
          <a:endParaRPr lang="en-US"/>
        </a:p>
      </dgm:t>
    </dgm:pt>
    <dgm:pt modelId="{30CCE222-7FD2-4854-87A2-4A9A310BBB7A}" type="pres">
      <dgm:prSet presAssocID="{2275E80C-3B53-450A-868F-CD36AA0AB034}" presName="Name0" presStyleCnt="0">
        <dgm:presLayoutVars>
          <dgm:chMax val="7"/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2C47B31C-951C-425E-A4D2-593F9963D3E6}" type="pres">
      <dgm:prSet presAssocID="{D8FDBA16-E463-462A-B396-7080D4852B10}" presName="circle1" presStyleLbl="node1" presStyleIdx="0" presStyleCnt="1"/>
      <dgm:spPr/>
      <dgm:t>
        <a:bodyPr/>
        <a:lstStyle/>
        <a:p>
          <a:endParaRPr lang="en-US"/>
        </a:p>
      </dgm:t>
    </dgm:pt>
    <dgm:pt modelId="{3ED554F4-7685-4CC8-8DB5-90AC62C5D699}" type="pres">
      <dgm:prSet presAssocID="{D8FDBA16-E463-462A-B396-7080D4852B10}" presName="space" presStyleCnt="0"/>
      <dgm:spPr/>
    </dgm:pt>
    <dgm:pt modelId="{10DAA3CF-D6D9-4A12-B5E8-9D3BDC3303B6}" type="pres">
      <dgm:prSet presAssocID="{D8FDBA16-E463-462A-B396-7080D4852B10}" presName="rect1" presStyleLbl="alignAcc1" presStyleIdx="0" presStyleCnt="1"/>
      <dgm:spPr/>
      <dgm:t>
        <a:bodyPr/>
        <a:lstStyle/>
        <a:p>
          <a:endParaRPr lang="en-US"/>
        </a:p>
      </dgm:t>
    </dgm:pt>
    <dgm:pt modelId="{AF10313C-3C27-4E63-B292-64E86E0D7026}" type="pres">
      <dgm:prSet presAssocID="{D8FDBA16-E463-462A-B396-7080D4852B10}" presName="rect1ParTxNoCh" presStyleLbl="alignAcc1" presStyleIdx="0" presStyleCnt="1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3A0822C4-AD35-4CD4-8371-1FDD78E220F6}" type="presOf" srcId="{2275E80C-3B53-450A-868F-CD36AA0AB034}" destId="{30CCE222-7FD2-4854-87A2-4A9A310BBB7A}" srcOrd="0" destOrd="0" presId="urn:microsoft.com/office/officeart/2005/8/layout/target3"/>
    <dgm:cxn modelId="{D2CA0264-F12F-4F95-A54F-23E59145D055}" srcId="{2275E80C-3B53-450A-868F-CD36AA0AB034}" destId="{D8FDBA16-E463-462A-B396-7080D4852B10}" srcOrd="0" destOrd="0" parTransId="{CB0A1544-BCC3-498B-A1CB-3A83F46C4FEA}" sibTransId="{ECAAE9D0-60C2-4B06-AAA6-E3E3F3BC91BD}"/>
    <dgm:cxn modelId="{D1D1E284-33B1-4B28-ADF3-E3233F134477}" type="presOf" srcId="{D8FDBA16-E463-462A-B396-7080D4852B10}" destId="{10DAA3CF-D6D9-4A12-B5E8-9D3BDC3303B6}" srcOrd="0" destOrd="0" presId="urn:microsoft.com/office/officeart/2005/8/layout/target3"/>
    <dgm:cxn modelId="{BAA7B625-929A-4239-9D2C-391664917524}" type="presOf" srcId="{D8FDBA16-E463-462A-B396-7080D4852B10}" destId="{AF10313C-3C27-4E63-B292-64E86E0D7026}" srcOrd="1" destOrd="0" presId="urn:microsoft.com/office/officeart/2005/8/layout/target3"/>
    <dgm:cxn modelId="{9849BA3A-F583-41D5-AB22-508EA3420B96}" type="presParOf" srcId="{30CCE222-7FD2-4854-87A2-4A9A310BBB7A}" destId="{2C47B31C-951C-425E-A4D2-593F9963D3E6}" srcOrd="0" destOrd="0" presId="urn:microsoft.com/office/officeart/2005/8/layout/target3"/>
    <dgm:cxn modelId="{B9C41106-E541-4783-9592-0321A5277098}" type="presParOf" srcId="{30CCE222-7FD2-4854-87A2-4A9A310BBB7A}" destId="{3ED554F4-7685-4CC8-8DB5-90AC62C5D699}" srcOrd="1" destOrd="0" presId="urn:microsoft.com/office/officeart/2005/8/layout/target3"/>
    <dgm:cxn modelId="{947D0443-88B7-433F-AB8D-FC4B10D6F79A}" type="presParOf" srcId="{30CCE222-7FD2-4854-87A2-4A9A310BBB7A}" destId="{10DAA3CF-D6D9-4A12-B5E8-9D3BDC3303B6}" srcOrd="2" destOrd="0" presId="urn:microsoft.com/office/officeart/2005/8/layout/target3"/>
    <dgm:cxn modelId="{E6BFF8DE-8F07-4B46-8A10-D72F23999A50}" type="presParOf" srcId="{30CCE222-7FD2-4854-87A2-4A9A310BBB7A}" destId="{AF10313C-3C27-4E63-B292-64E86E0D7026}" srcOrd="3" destOrd="0" presId="urn:microsoft.com/office/officeart/2005/8/layout/target3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C47B31C-951C-425E-A4D2-593F9963D3E6}">
      <dsp:nvSpPr>
        <dsp:cNvPr id="0" name=""/>
        <dsp:cNvSpPr/>
      </dsp:nvSpPr>
      <dsp:spPr>
        <a:xfrm>
          <a:off x="0" y="0"/>
          <a:ext cx="914399" cy="914399"/>
        </a:xfrm>
        <a:prstGeom prst="pie">
          <a:avLst>
            <a:gd name="adj1" fmla="val 5400000"/>
            <a:gd name="adj2" fmla="val 1620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10DAA3CF-D6D9-4A12-B5E8-9D3BDC3303B6}">
      <dsp:nvSpPr>
        <dsp:cNvPr id="0" name=""/>
        <dsp:cNvSpPr/>
      </dsp:nvSpPr>
      <dsp:spPr>
        <a:xfrm>
          <a:off x="457199" y="0"/>
          <a:ext cx="8255379" cy="91439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lvl="0" algn="l" defTabSz="11557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600" b="1" kern="1200" dirty="0" smtClean="0"/>
            <a:t>11_8. </a:t>
          </a:r>
          <a:r>
            <a:rPr lang="en-US" sz="4400" kern="1200" dirty="0" err="1" smtClean="0"/>
            <a:t>Osilator</a:t>
          </a:r>
          <a:endParaRPr lang="en-US" sz="4400" kern="1200" dirty="0"/>
        </a:p>
      </dsp:txBody>
      <dsp:txXfrm>
        <a:off x="457199" y="0"/>
        <a:ext cx="8255379" cy="91439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C47B31C-951C-425E-A4D2-593F9963D3E6}">
      <dsp:nvSpPr>
        <dsp:cNvPr id="0" name=""/>
        <dsp:cNvSpPr/>
      </dsp:nvSpPr>
      <dsp:spPr>
        <a:xfrm>
          <a:off x="0" y="0"/>
          <a:ext cx="914399" cy="914399"/>
        </a:xfrm>
        <a:prstGeom prst="pie">
          <a:avLst>
            <a:gd name="adj1" fmla="val 5400000"/>
            <a:gd name="adj2" fmla="val 1620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10DAA3CF-D6D9-4A12-B5E8-9D3BDC3303B6}">
      <dsp:nvSpPr>
        <dsp:cNvPr id="0" name=""/>
        <dsp:cNvSpPr/>
      </dsp:nvSpPr>
      <dsp:spPr>
        <a:xfrm>
          <a:off x="457199" y="0"/>
          <a:ext cx="7772400" cy="91439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60020" tIns="160020" rIns="160020" bIns="160020" numCol="1" spcCol="1270" anchor="ctr" anchorCtr="0">
          <a:noAutofit/>
        </a:bodyPr>
        <a:lstStyle/>
        <a:p>
          <a:pPr lvl="0" algn="ctr" defTabSz="18669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4200" b="1" kern="1200" dirty="0" smtClean="0"/>
            <a:t>See the next</a:t>
          </a:r>
          <a:endParaRPr lang="en-US" sz="4200" kern="1200" dirty="0"/>
        </a:p>
      </dsp:txBody>
      <dsp:txXfrm>
        <a:off x="457199" y="0"/>
        <a:ext cx="7772400" cy="91439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target3">
  <dgm:title val=""/>
  <dgm:desc val=""/>
  <dgm:catLst>
    <dgm:cat type="relationship" pri="11000"/>
    <dgm:cat type="list" pri="22000"/>
    <dgm:cat type="convert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clrData>
  <dgm:layoutNode name="Name0">
    <dgm:varLst>
      <dgm:chMax val="7"/>
      <dgm:dir/>
      <dgm:animLvl val="lvl"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hoose name="Name3">
          <dgm:if name="Name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1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l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l" for="ch" forName="rect7" refType="r" refFor="ch" refForName="space"/>
              <dgm:constr type="r" for="ch" forName="rect7" refType="w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l" for="ch" forName="rect7ParTx" refType="r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l" for="ch" forName="rect7ChTx" refType="r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l" for="ch" forName="rect7ParTxNoCh" refType="r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11">
            <dgm:constrLst/>
          </dgm:else>
        </dgm:choose>
      </dgm:if>
      <dgm:else name="Name12">
        <dgm:choose name="Name13">
          <dgm:if name="Name1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1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1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1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1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1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2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r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r" for="ch" forName="rect7" refType="l" refFor="ch" refForName="space"/>
              <dgm:constr type="l" for="ch" forName="rect7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r" for="ch" forName="rect7ParTx" refType="l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r" for="ch" forName="rect7ChTx" refType="l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r" for="ch" forName="rect7ParTxNoCh" refType="l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21">
            <dgm:constrLst/>
          </dgm:else>
        </dgm:choose>
      </dgm:else>
    </dgm:choose>
    <dgm:ruleLst/>
    <dgm:forEach name="Name22" axis="ch" ptType="node" cnt="1">
      <dgm:layoutNode name="circle1" styleLbl="node1">
        <dgm:alg type="sp"/>
        <dgm:choose name="Name23">
          <dgm:if name="Name2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rect1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26" axis="ch" ptType="node" st="2" cnt="1">
      <dgm:layoutNode name="vertSpace2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2" styleLbl="node1">
        <dgm:alg type="sp"/>
        <dgm:choose name="Name27">
          <dgm:if name="Name2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2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0" axis="ch" ptType="node" st="3" cnt="1">
      <dgm:layoutNode name="vertSpace3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3" styleLbl="node1">
        <dgm:alg type="sp"/>
        <dgm:choose name="Name31">
          <dgm:if name="Name32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3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3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4" axis="ch" ptType="node" st="4" cnt="1">
      <dgm:layoutNode name="vertSpace4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4" styleLbl="node1">
        <dgm:alg type="sp"/>
        <dgm:choose name="Name35">
          <dgm:if name="Name36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7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4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8" axis="ch" ptType="node" st="5" cnt="1">
      <dgm:layoutNode name="vertSpace5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5" styleLbl="node1">
        <dgm:alg type="sp"/>
        <dgm:choose name="Name39">
          <dgm:if name="Name40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1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5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2" axis="ch" ptType="node" st="6" cnt="1">
      <dgm:layoutNode name="vertSpace6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6" styleLbl="node1">
        <dgm:alg type="sp"/>
        <dgm:choose name="Name43">
          <dgm:if name="Name4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6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6" axis="ch" ptType="node" st="7" cnt="1">
      <dgm:layoutNode name="vertSpace7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7" styleLbl="node1">
        <dgm:alg type="sp"/>
        <dgm:choose name="Name47">
          <dgm:if name="Name4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7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50" axis="ch" ptType="node" cnt="1">
      <dgm:choose name="Name51">
        <dgm:if name="Name52" axis="root des" ptType="all node" func="maxDepth" op="gte" val="2">
          <dgm:layoutNode name="rect1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1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3">
          <dgm:layoutNode name="rect1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4" axis="ch" ptType="node" st="2" cnt="1">
      <dgm:choose name="Name55">
        <dgm:if name="Name56" axis="root des" ptType="all node" func="maxDepth" op="gte" val="2">
          <dgm:layoutNode name="rect2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2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7">
          <dgm:layoutNode name="rect2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8" axis="ch" ptType="node" st="3" cnt="1">
      <dgm:choose name="Name59">
        <dgm:if name="Name60" axis="root des" ptType="all node" func="maxDepth" op="gte" val="2">
          <dgm:layoutNode name="rect3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3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1">
          <dgm:layoutNode name="rect3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2" axis="ch" ptType="node" st="4" cnt="1">
      <dgm:choose name="Name63">
        <dgm:if name="Name64" axis="root des" ptType="all node" func="maxDepth" op="gte" val="2">
          <dgm:layoutNode name="rect4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4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5">
          <dgm:layoutNode name="rect4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6" axis="ch" ptType="node" st="5" cnt="1">
      <dgm:choose name="Name67">
        <dgm:if name="Name68" axis="root des" ptType="all node" func="maxDepth" op="gte" val="2">
          <dgm:layoutNode name="rect5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5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9">
          <dgm:layoutNode name="rect5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0" axis="ch" ptType="node" st="6" cnt="1">
      <dgm:choose name="Name71">
        <dgm:if name="Name72" axis="root des" ptType="all node" func="maxDepth" op="gte" val="2">
          <dgm:layoutNode name="rect6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6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3">
          <dgm:layoutNode name="rect6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4" axis="ch" ptType="node" st="7" cnt="1">
      <dgm:choose name="Name75">
        <dgm:if name="Name76" axis="root des" ptType="all node" func="maxDepth" op="gte" val="2">
          <dgm:layoutNode name="rect7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7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7">
          <dgm:layoutNode name="rect7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target3">
  <dgm:title val=""/>
  <dgm:desc val=""/>
  <dgm:catLst>
    <dgm:cat type="relationship" pri="11000"/>
    <dgm:cat type="list" pri="22000"/>
    <dgm:cat type="convert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clrData>
  <dgm:layoutNode name="Name0">
    <dgm:varLst>
      <dgm:chMax val="7"/>
      <dgm:dir/>
      <dgm:animLvl val="lvl"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hoose name="Name3">
          <dgm:if name="Name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1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l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l" for="ch" forName="rect7" refType="r" refFor="ch" refForName="space"/>
              <dgm:constr type="r" for="ch" forName="rect7" refType="w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l" for="ch" forName="rect7ParTx" refType="r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l" for="ch" forName="rect7ChTx" refType="r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l" for="ch" forName="rect7ParTxNoCh" refType="r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11">
            <dgm:constrLst/>
          </dgm:else>
        </dgm:choose>
      </dgm:if>
      <dgm:else name="Name12">
        <dgm:choose name="Name13">
          <dgm:if name="Name1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1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1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1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1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1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2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r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r" for="ch" forName="rect7" refType="l" refFor="ch" refForName="space"/>
              <dgm:constr type="l" for="ch" forName="rect7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r" for="ch" forName="rect7ParTx" refType="l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r" for="ch" forName="rect7ChTx" refType="l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r" for="ch" forName="rect7ParTxNoCh" refType="l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21">
            <dgm:constrLst/>
          </dgm:else>
        </dgm:choose>
      </dgm:else>
    </dgm:choose>
    <dgm:ruleLst/>
    <dgm:forEach name="Name22" axis="ch" ptType="node" cnt="1">
      <dgm:layoutNode name="circle1" styleLbl="node1">
        <dgm:alg type="sp"/>
        <dgm:choose name="Name23">
          <dgm:if name="Name2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rect1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26" axis="ch" ptType="node" st="2" cnt="1">
      <dgm:layoutNode name="vertSpace2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2" styleLbl="node1">
        <dgm:alg type="sp"/>
        <dgm:choose name="Name27">
          <dgm:if name="Name2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2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0" axis="ch" ptType="node" st="3" cnt="1">
      <dgm:layoutNode name="vertSpace3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3" styleLbl="node1">
        <dgm:alg type="sp"/>
        <dgm:choose name="Name31">
          <dgm:if name="Name32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3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3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4" axis="ch" ptType="node" st="4" cnt="1">
      <dgm:layoutNode name="vertSpace4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4" styleLbl="node1">
        <dgm:alg type="sp"/>
        <dgm:choose name="Name35">
          <dgm:if name="Name36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7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4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8" axis="ch" ptType="node" st="5" cnt="1">
      <dgm:layoutNode name="vertSpace5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5" styleLbl="node1">
        <dgm:alg type="sp"/>
        <dgm:choose name="Name39">
          <dgm:if name="Name40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1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5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2" axis="ch" ptType="node" st="6" cnt="1">
      <dgm:layoutNode name="vertSpace6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6" styleLbl="node1">
        <dgm:alg type="sp"/>
        <dgm:choose name="Name43">
          <dgm:if name="Name4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6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6" axis="ch" ptType="node" st="7" cnt="1">
      <dgm:layoutNode name="vertSpace7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7" styleLbl="node1">
        <dgm:alg type="sp"/>
        <dgm:choose name="Name47">
          <dgm:if name="Name4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7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50" axis="ch" ptType="node" cnt="1">
      <dgm:choose name="Name51">
        <dgm:if name="Name52" axis="root des" ptType="all node" func="maxDepth" op="gte" val="2">
          <dgm:layoutNode name="rect1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1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3">
          <dgm:layoutNode name="rect1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4" axis="ch" ptType="node" st="2" cnt="1">
      <dgm:choose name="Name55">
        <dgm:if name="Name56" axis="root des" ptType="all node" func="maxDepth" op="gte" val="2">
          <dgm:layoutNode name="rect2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2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7">
          <dgm:layoutNode name="rect2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8" axis="ch" ptType="node" st="3" cnt="1">
      <dgm:choose name="Name59">
        <dgm:if name="Name60" axis="root des" ptType="all node" func="maxDepth" op="gte" val="2">
          <dgm:layoutNode name="rect3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3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1">
          <dgm:layoutNode name="rect3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2" axis="ch" ptType="node" st="4" cnt="1">
      <dgm:choose name="Name63">
        <dgm:if name="Name64" axis="root des" ptType="all node" func="maxDepth" op="gte" val="2">
          <dgm:layoutNode name="rect4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4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5">
          <dgm:layoutNode name="rect4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6" axis="ch" ptType="node" st="5" cnt="1">
      <dgm:choose name="Name67">
        <dgm:if name="Name68" axis="root des" ptType="all node" func="maxDepth" op="gte" val="2">
          <dgm:layoutNode name="rect5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5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9">
          <dgm:layoutNode name="rect5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0" axis="ch" ptType="node" st="6" cnt="1">
      <dgm:choose name="Name71">
        <dgm:if name="Name72" axis="root des" ptType="all node" func="maxDepth" op="gte" val="2">
          <dgm:layoutNode name="rect6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6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3">
          <dgm:layoutNode name="rect6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4" axis="ch" ptType="node" st="7" cnt="1">
      <dgm:choose name="Name75">
        <dgm:if name="Name76" axis="root des" ptType="all node" func="maxDepth" op="gte" val="2">
          <dgm:layoutNode name="rect7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7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7">
          <dgm:layoutNode name="rect7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3.wmf"/><Relationship Id="rId1" Type="http://schemas.openxmlformats.org/officeDocument/2006/relationships/image" Target="../media/image2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6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22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23.w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25.e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26.w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28.w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9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15D0C7D-798A-44DC-AC41-FEC01C38F0EB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71A1DE6-A801-4746-9FC0-8352D20A31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95932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http://www.sophphx.caltech.edu/Physics_5/Experiment_6.pdf</a:t>
            </a:r>
          </a:p>
          <a:p>
            <a:endParaRPr lang="en-US" dirty="0" smtClean="0"/>
          </a:p>
          <a:p>
            <a:r>
              <a:rPr lang="en-US" dirty="0" smtClean="0"/>
              <a:t>https://ocw.mit.edu/ans7870/RES/RES.6-010/MITRES_6-010S13_comchaptrs.pdf</a:t>
            </a:r>
          </a:p>
          <a:p>
            <a:endParaRPr lang="en-US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C773BF-E5C9-44BF-B19B-39EF1F90376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4784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https://unacademy.com/lesson/low-frequency-analysis-of-bjt-amplifier/5TUKWO6Z</a:t>
            </a:r>
          </a:p>
          <a:p>
            <a:r>
              <a:rPr lang="en-US" dirty="0" smtClean="0"/>
              <a:t>https://ocw.mit.edu/courses/6-01sc-introduction-to-electrical-engineering-and-computer-science-i-spring-2011/resources/op-amps/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1A1DE6-A801-4746-9FC0-8352D20A3103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234120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355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id-ID" altLang="en-US" smtClean="0"/>
          </a:p>
        </p:txBody>
      </p:sp>
      <p:sp>
        <p:nvSpPr>
          <p:cNvPr id="2355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24ED3B62-B509-422F-A24D-DA0955B089E1}" type="slidenum">
              <a:rPr lang="id-ID" altLang="en-US"/>
              <a:pPr eaLnBrk="1" hangingPunct="1"/>
              <a:t>3</a:t>
            </a:fld>
            <a:endParaRPr lang="id-ID" altLang="en-US"/>
          </a:p>
        </p:txBody>
      </p:sp>
    </p:spTree>
    <p:extLst>
      <p:ext uri="{BB962C8B-B14F-4D97-AF65-F5344CB8AC3E}">
        <p14:creationId xmlns:p14="http://schemas.microsoft.com/office/powerpoint/2010/main" val="366207004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457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id-ID" altLang="en-US" smtClean="0"/>
          </a:p>
        </p:txBody>
      </p:sp>
      <p:sp>
        <p:nvSpPr>
          <p:cNvPr id="2458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F19B8D14-3213-4884-B68C-106D77B21C37}" type="slidenum">
              <a:rPr lang="id-ID" altLang="en-US"/>
              <a:pPr eaLnBrk="1" hangingPunct="1"/>
              <a:t>4</a:t>
            </a:fld>
            <a:endParaRPr lang="id-ID" altLang="en-US"/>
          </a:p>
        </p:txBody>
      </p:sp>
    </p:spTree>
    <p:extLst>
      <p:ext uri="{BB962C8B-B14F-4D97-AF65-F5344CB8AC3E}">
        <p14:creationId xmlns:p14="http://schemas.microsoft.com/office/powerpoint/2010/main" val="266121207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560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id-ID" altLang="en-US" smtClean="0"/>
          </a:p>
        </p:txBody>
      </p:sp>
      <p:sp>
        <p:nvSpPr>
          <p:cNvPr id="2560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5C6C6BD7-CB14-405B-820B-FCD6F0AA9A3D}" type="slidenum">
              <a:rPr lang="id-ID" altLang="en-US"/>
              <a:pPr eaLnBrk="1" hangingPunct="1"/>
              <a:t>5</a:t>
            </a:fld>
            <a:endParaRPr lang="id-ID" altLang="en-US"/>
          </a:p>
        </p:txBody>
      </p:sp>
    </p:spTree>
    <p:extLst>
      <p:ext uri="{BB962C8B-B14F-4D97-AF65-F5344CB8AC3E}">
        <p14:creationId xmlns:p14="http://schemas.microsoft.com/office/powerpoint/2010/main" val="2707690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662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id-ID" altLang="en-US" smtClean="0"/>
          </a:p>
        </p:txBody>
      </p:sp>
      <p:sp>
        <p:nvSpPr>
          <p:cNvPr id="2662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99309786-18E7-4D98-B971-515AC62A0918}" type="slidenum">
              <a:rPr lang="id-ID" altLang="en-US"/>
              <a:pPr eaLnBrk="1" hangingPunct="1"/>
              <a:t>6</a:t>
            </a:fld>
            <a:endParaRPr lang="id-ID" altLang="en-US"/>
          </a:p>
        </p:txBody>
      </p:sp>
    </p:spTree>
    <p:extLst>
      <p:ext uri="{BB962C8B-B14F-4D97-AF65-F5344CB8AC3E}">
        <p14:creationId xmlns:p14="http://schemas.microsoft.com/office/powerpoint/2010/main" val="27492477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765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id-ID" altLang="en-US" smtClean="0"/>
          </a:p>
        </p:txBody>
      </p:sp>
      <p:sp>
        <p:nvSpPr>
          <p:cNvPr id="2765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3CED7991-60C1-48FF-A35D-0CD204E5C8F7}" type="slidenum">
              <a:rPr lang="id-ID" altLang="en-US"/>
              <a:pPr eaLnBrk="1" hangingPunct="1"/>
              <a:t>8</a:t>
            </a:fld>
            <a:endParaRPr lang="id-ID" altLang="en-US"/>
          </a:p>
        </p:txBody>
      </p:sp>
    </p:spTree>
    <p:extLst>
      <p:ext uri="{BB962C8B-B14F-4D97-AF65-F5344CB8AC3E}">
        <p14:creationId xmlns:p14="http://schemas.microsoft.com/office/powerpoint/2010/main" val="418693981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867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id-ID" altLang="en-US" smtClean="0"/>
          </a:p>
        </p:txBody>
      </p:sp>
      <p:sp>
        <p:nvSpPr>
          <p:cNvPr id="2867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32C8FC74-ABC5-44AB-9AC9-79DCE61AFAB0}" type="slidenum">
              <a:rPr lang="id-ID" altLang="en-US"/>
              <a:pPr eaLnBrk="1" hangingPunct="1"/>
              <a:t>9</a:t>
            </a:fld>
            <a:endParaRPr lang="id-ID" altLang="en-US"/>
          </a:p>
        </p:txBody>
      </p:sp>
    </p:spTree>
    <p:extLst>
      <p:ext uri="{BB962C8B-B14F-4D97-AF65-F5344CB8AC3E}">
        <p14:creationId xmlns:p14="http://schemas.microsoft.com/office/powerpoint/2010/main" val="163430572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969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id-ID" altLang="en-US" smtClean="0"/>
          </a:p>
        </p:txBody>
      </p:sp>
      <p:sp>
        <p:nvSpPr>
          <p:cNvPr id="2970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1629DD4F-1905-4F39-AFEA-C00F0CCB057A}" type="slidenum">
              <a:rPr lang="id-ID" altLang="en-US"/>
              <a:pPr eaLnBrk="1" hangingPunct="1"/>
              <a:t>10</a:t>
            </a:fld>
            <a:endParaRPr lang="id-ID" altLang="en-US"/>
          </a:p>
        </p:txBody>
      </p:sp>
    </p:spTree>
    <p:extLst>
      <p:ext uri="{BB962C8B-B14F-4D97-AF65-F5344CB8AC3E}">
        <p14:creationId xmlns:p14="http://schemas.microsoft.com/office/powerpoint/2010/main" val="107978072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2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id-ID" altLang="en-US" smtClean="0"/>
          </a:p>
        </p:txBody>
      </p:sp>
      <p:sp>
        <p:nvSpPr>
          <p:cNvPr id="3072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6D08670C-4885-43E7-B8A8-0F9C78D29146}" type="slidenum">
              <a:rPr lang="id-ID" altLang="en-US"/>
              <a:pPr eaLnBrk="1" hangingPunct="1"/>
              <a:t>11</a:t>
            </a:fld>
            <a:endParaRPr lang="id-ID" altLang="en-US"/>
          </a:p>
        </p:txBody>
      </p:sp>
    </p:spTree>
    <p:extLst>
      <p:ext uri="{BB962C8B-B14F-4D97-AF65-F5344CB8AC3E}">
        <p14:creationId xmlns:p14="http://schemas.microsoft.com/office/powerpoint/2010/main" val="36381864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174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id-ID" altLang="en-US" smtClean="0"/>
          </a:p>
        </p:txBody>
      </p:sp>
      <p:sp>
        <p:nvSpPr>
          <p:cNvPr id="3174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A6663679-6CFF-49F0-80EE-B758BAC50E9C}" type="slidenum">
              <a:rPr lang="id-ID" altLang="en-US"/>
              <a:pPr eaLnBrk="1" hangingPunct="1"/>
              <a:t>12</a:t>
            </a:fld>
            <a:endParaRPr lang="id-ID" altLang="en-US"/>
          </a:p>
        </p:txBody>
      </p:sp>
    </p:spTree>
    <p:extLst>
      <p:ext uri="{BB962C8B-B14F-4D97-AF65-F5344CB8AC3E}">
        <p14:creationId xmlns:p14="http://schemas.microsoft.com/office/powerpoint/2010/main" val="20089294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277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id-ID" altLang="en-US" smtClean="0"/>
          </a:p>
        </p:txBody>
      </p:sp>
      <p:sp>
        <p:nvSpPr>
          <p:cNvPr id="3277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23416C12-7E52-40E3-8512-FFE93C675D1F}" type="slidenum">
              <a:rPr lang="id-ID" altLang="en-US"/>
              <a:pPr eaLnBrk="1" hangingPunct="1"/>
              <a:t>17</a:t>
            </a:fld>
            <a:endParaRPr lang="id-ID" altLang="en-US"/>
          </a:p>
        </p:txBody>
      </p:sp>
    </p:spTree>
    <p:extLst>
      <p:ext uri="{BB962C8B-B14F-4D97-AF65-F5344CB8AC3E}">
        <p14:creationId xmlns:p14="http://schemas.microsoft.com/office/powerpoint/2010/main" val="372674489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1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id-ID" altLang="en-US" smtClean="0"/>
          </a:p>
        </p:txBody>
      </p:sp>
      <p:sp>
        <p:nvSpPr>
          <p:cNvPr id="3482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F504975E-C3C6-4128-B08B-C95775D776CF}" type="slidenum">
              <a:rPr lang="id-ID" altLang="en-US"/>
              <a:pPr eaLnBrk="1" hangingPunct="1"/>
              <a:t>21</a:t>
            </a:fld>
            <a:endParaRPr lang="id-ID" altLang="en-US"/>
          </a:p>
        </p:txBody>
      </p:sp>
    </p:spTree>
    <p:extLst>
      <p:ext uri="{BB962C8B-B14F-4D97-AF65-F5344CB8AC3E}">
        <p14:creationId xmlns:p14="http://schemas.microsoft.com/office/powerpoint/2010/main" val="324691408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584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id-ID" altLang="en-US" smtClean="0"/>
          </a:p>
        </p:txBody>
      </p:sp>
      <p:sp>
        <p:nvSpPr>
          <p:cNvPr id="3584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2C5E28B8-C398-4C97-82B7-3D39713BBED6}" type="slidenum">
              <a:rPr lang="id-ID" altLang="en-US"/>
              <a:pPr eaLnBrk="1" hangingPunct="1"/>
              <a:t>22</a:t>
            </a:fld>
            <a:endParaRPr lang="id-ID" altLang="en-US"/>
          </a:p>
        </p:txBody>
      </p:sp>
    </p:spTree>
    <p:extLst>
      <p:ext uri="{BB962C8B-B14F-4D97-AF65-F5344CB8AC3E}">
        <p14:creationId xmlns:p14="http://schemas.microsoft.com/office/powerpoint/2010/main" val="346708280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686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id-ID" altLang="en-US" smtClean="0"/>
          </a:p>
        </p:txBody>
      </p:sp>
      <p:sp>
        <p:nvSpPr>
          <p:cNvPr id="3686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81601D62-1295-4A41-A391-73CBB935D37E}" type="slidenum">
              <a:rPr lang="id-ID" altLang="en-US"/>
              <a:pPr eaLnBrk="1" hangingPunct="1"/>
              <a:t>23</a:t>
            </a:fld>
            <a:endParaRPr lang="id-ID" altLang="en-US"/>
          </a:p>
        </p:txBody>
      </p:sp>
    </p:spTree>
    <p:extLst>
      <p:ext uri="{BB962C8B-B14F-4D97-AF65-F5344CB8AC3E}">
        <p14:creationId xmlns:p14="http://schemas.microsoft.com/office/powerpoint/2010/main" val="154676752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789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id-ID" altLang="en-US" smtClean="0"/>
          </a:p>
        </p:txBody>
      </p:sp>
      <p:sp>
        <p:nvSpPr>
          <p:cNvPr id="3789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69D905A1-0BE0-4814-A521-B70E02F4B4C8}" type="slidenum">
              <a:rPr lang="id-ID" altLang="en-US"/>
              <a:pPr eaLnBrk="1" hangingPunct="1"/>
              <a:t>24</a:t>
            </a:fld>
            <a:endParaRPr lang="id-ID" altLang="en-US"/>
          </a:p>
        </p:txBody>
      </p:sp>
    </p:spTree>
    <p:extLst>
      <p:ext uri="{BB962C8B-B14F-4D97-AF65-F5344CB8AC3E}">
        <p14:creationId xmlns:p14="http://schemas.microsoft.com/office/powerpoint/2010/main" val="9978414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891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id-ID" altLang="en-US" smtClean="0"/>
          </a:p>
        </p:txBody>
      </p:sp>
      <p:sp>
        <p:nvSpPr>
          <p:cNvPr id="3891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A1FC7764-B60C-46D7-965A-241F532E2FF0}" type="slidenum">
              <a:rPr lang="id-ID" altLang="en-US"/>
              <a:pPr eaLnBrk="1" hangingPunct="1"/>
              <a:t>27</a:t>
            </a:fld>
            <a:endParaRPr lang="id-ID" altLang="en-US"/>
          </a:p>
        </p:txBody>
      </p:sp>
    </p:spTree>
    <p:extLst>
      <p:ext uri="{BB962C8B-B14F-4D97-AF65-F5344CB8AC3E}">
        <p14:creationId xmlns:p14="http://schemas.microsoft.com/office/powerpoint/2010/main" val="413675753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7EA2CC-FABD-466D-82E8-AC953C7EC0CC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732888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https://ocw.mit.edu/courses/6-720j-integrated-microelectronic-devices-spring-2007/pages/lecture-notes/</a:t>
            </a:r>
          </a:p>
          <a:p>
            <a:endParaRPr lang="en-US" dirty="0" smtClean="0"/>
          </a:p>
          <a:p>
            <a:r>
              <a:rPr lang="en-US" dirty="0" smtClean="0"/>
              <a:t>https://ocw.mit.edu/courses/6-01sc-introduction-to-electrical-engineering-and-computer-science-i-spring-2011/resources/op-amps/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1A1DE6-A801-4746-9FC0-8352D20A3103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08627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BB5D1-B60B-4B38-B17E-7765EA145201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42857-403A-4A86-BF79-9A4C4603A1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4090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BB5D1-B60B-4B38-B17E-7765EA145201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42857-403A-4A86-BF79-9A4C4603A1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20346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BB5D1-B60B-4B38-B17E-7765EA145201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42857-403A-4A86-BF79-9A4C4603A1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8882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BB5D1-B60B-4B38-B17E-7765EA145201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42857-403A-4A86-BF79-9A4C4603A1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43962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BB5D1-B60B-4B38-B17E-7765EA145201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42857-403A-4A86-BF79-9A4C4603A1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23424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BB5D1-B60B-4B38-B17E-7765EA145201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42857-403A-4A86-BF79-9A4C4603A1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20848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BB5D1-B60B-4B38-B17E-7765EA145201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42857-403A-4A86-BF79-9A4C4603A1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29242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BB5D1-B60B-4B38-B17E-7765EA145201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42857-403A-4A86-BF79-9A4C4603A1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58417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BB5D1-B60B-4B38-B17E-7765EA145201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42857-403A-4A86-BF79-9A4C4603A1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1925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BB5D1-B60B-4B38-B17E-7765EA145201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42857-403A-4A86-BF79-9A4C4603A1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6697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BB5D1-B60B-4B38-B17E-7765EA145201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42857-403A-4A86-BF79-9A4C4603A1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95665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BBB5D1-B60B-4B38-B17E-7765EA145201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F42857-403A-4A86-BF79-9A4C4603A1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58989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1.png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7" Type="http://schemas.openxmlformats.org/officeDocument/2006/relationships/image" Target="../media/image3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2.emf"/><Relationship Id="rId4" Type="http://schemas.openxmlformats.org/officeDocument/2006/relationships/oleObject" Target="../embeddings/oleObject1.bin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5.emf"/><Relationship Id="rId4" Type="http://schemas.openxmlformats.org/officeDocument/2006/relationships/oleObject" Target="../embeddings/oleObject3.bin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7" Type="http://schemas.openxmlformats.org/officeDocument/2006/relationships/image" Target="../media/image9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8.wmf"/><Relationship Id="rId5" Type="http://schemas.openxmlformats.org/officeDocument/2006/relationships/oleObject" Target="../embeddings/oleObject4.bin"/><Relationship Id="rId4" Type="http://schemas.openxmlformats.org/officeDocument/2006/relationships/hyperlink" Target="../simulasi/Osilator%20Jembatan%20Wien.asc" TargetMode="Externa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4" Type="http://schemas.openxmlformats.org/officeDocument/2006/relationships/image" Target="../media/image12.emf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7" Type="http://schemas.openxmlformats.org/officeDocument/2006/relationships/image" Target="../media/image18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17.png"/><Relationship Id="rId5" Type="http://schemas.openxmlformats.org/officeDocument/2006/relationships/image" Target="../media/image16.emf"/><Relationship Id="rId4" Type="http://schemas.openxmlformats.org/officeDocument/2006/relationships/oleObject" Target="../embeddings/oleObject6.bin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5" Type="http://schemas.openxmlformats.org/officeDocument/2006/relationships/image" Target="../media/image22.emf"/><Relationship Id="rId4" Type="http://schemas.openxmlformats.org/officeDocument/2006/relationships/oleObject" Target="../embeddings/oleObject7.bin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7" Type="http://schemas.openxmlformats.org/officeDocument/2006/relationships/image" Target="../media/image24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6" Type="http://schemas.openxmlformats.org/officeDocument/2006/relationships/hyperlink" Target="../WJ/Osilator%20Collpits%20AB%20lebih%20besar%20dari%201.jnt" TargetMode="External"/><Relationship Id="rId5" Type="http://schemas.openxmlformats.org/officeDocument/2006/relationships/image" Target="../media/image23.wmf"/><Relationship Id="rId4" Type="http://schemas.openxmlformats.org/officeDocument/2006/relationships/oleObject" Target="../embeddings/oleObject8.bin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5" Type="http://schemas.openxmlformats.org/officeDocument/2006/relationships/image" Target="../media/image25.emf"/><Relationship Id="rId4" Type="http://schemas.openxmlformats.org/officeDocument/2006/relationships/oleObject" Target="../embeddings/oleObject9.bin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.vml"/><Relationship Id="rId5" Type="http://schemas.openxmlformats.org/officeDocument/2006/relationships/image" Target="../media/image26.wmf"/><Relationship Id="rId4" Type="http://schemas.openxmlformats.org/officeDocument/2006/relationships/oleObject" Target="../embeddings/oleObject10.bin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gif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0.vml"/><Relationship Id="rId4" Type="http://schemas.openxmlformats.org/officeDocument/2006/relationships/image" Target="../media/image28.wmf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1.vml"/><Relationship Id="rId6" Type="http://schemas.openxmlformats.org/officeDocument/2006/relationships/image" Target="../media/image30.png"/><Relationship Id="rId5" Type="http://schemas.openxmlformats.org/officeDocument/2006/relationships/image" Target="../media/image29.emf"/><Relationship Id="rId4" Type="http://schemas.openxmlformats.org/officeDocument/2006/relationships/oleObject" Target="../embeddings/oleObject12.bin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openxmlformats.org/officeDocument/2006/relationships/image" Target="../media/image1.png"/><Relationship Id="rId7" Type="http://schemas.openxmlformats.org/officeDocument/2006/relationships/diagramColors" Target="../diagrams/colors2.xm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diagramQuickStyle" Target="../diagrams/quickStyle2.xml"/><Relationship Id="rId5" Type="http://schemas.openxmlformats.org/officeDocument/2006/relationships/diagramLayout" Target="../diagrams/layout2.xml"/><Relationship Id="rId4" Type="http://schemas.openxmlformats.org/officeDocument/2006/relationships/diagramData" Target="../diagrams/data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ubtitle 2"/>
          <p:cNvSpPr txBox="1">
            <a:spLocks/>
          </p:cNvSpPr>
          <p:nvPr/>
        </p:nvSpPr>
        <p:spPr>
          <a:xfrm>
            <a:off x="5038473" y="1264112"/>
            <a:ext cx="5287688" cy="5210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US" dirty="0">
              <a:solidFill>
                <a:srgbClr val="00B0F0"/>
              </a:solidFill>
            </a:endParaRPr>
          </a:p>
        </p:txBody>
      </p:sp>
      <p:grpSp>
        <p:nvGrpSpPr>
          <p:cNvPr id="20" name="Group 19"/>
          <p:cNvGrpSpPr/>
          <p:nvPr/>
        </p:nvGrpSpPr>
        <p:grpSpPr>
          <a:xfrm>
            <a:off x="234110" y="395322"/>
            <a:ext cx="4804363" cy="2463094"/>
            <a:chOff x="54496" y="359621"/>
            <a:chExt cx="4804363" cy="2463094"/>
          </a:xfrm>
        </p:grpSpPr>
        <p:pic>
          <p:nvPicPr>
            <p:cNvPr id="19" name="Picture 18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35105" y="1901987"/>
              <a:ext cx="3104181" cy="263526"/>
            </a:xfrm>
            <a:prstGeom prst="rect">
              <a:avLst/>
            </a:prstGeom>
          </p:spPr>
        </p:pic>
        <p:sp>
          <p:nvSpPr>
            <p:cNvPr id="6" name="Title 4">
              <a:extLst>
                <a:ext uri="{FF2B5EF4-FFF2-40B4-BE49-F238E27FC236}">
                  <a16:creationId xmlns:a16="http://schemas.microsoft.com/office/drawing/2014/main" id="{27228BAE-048B-681E-DD8D-BD96B22560E0}"/>
                </a:ext>
              </a:extLst>
            </p:cNvPr>
            <p:cNvSpPr txBox="1">
              <a:spLocks/>
            </p:cNvSpPr>
            <p:nvPr/>
          </p:nvSpPr>
          <p:spPr>
            <a:xfrm>
              <a:off x="54496" y="1922610"/>
              <a:ext cx="4804363" cy="900105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rmAutofit fontScale="90000"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just"/>
              <a:r>
                <a:rPr lang="en-US" dirty="0" smtClean="0">
                  <a:solidFill>
                    <a:schemeClr val="accent1">
                      <a:lumMod val="75000"/>
                    </a:schemeClr>
                  </a:solidFill>
                </a:rPr>
                <a:t>Computer </a:t>
              </a:r>
              <a:r>
                <a:rPr lang="en-US" dirty="0" smtClean="0">
                  <a:solidFill>
                    <a:srgbClr val="00B0F0"/>
                  </a:solidFill>
                </a:rPr>
                <a:t>Vision</a:t>
              </a:r>
              <a:endParaRPr lang="en-US" dirty="0">
                <a:solidFill>
                  <a:srgbClr val="00B0F0"/>
                </a:solidFill>
              </a:endParaRPr>
            </a:p>
          </p:txBody>
        </p: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2AABCB87-2ECC-4C03-B5BB-6EE11C8A4485}"/>
                </a:ext>
              </a:extLst>
            </p:cNvPr>
            <p:cNvGrpSpPr/>
            <p:nvPr/>
          </p:nvGrpSpPr>
          <p:grpSpPr>
            <a:xfrm>
              <a:off x="89638" y="359621"/>
              <a:ext cx="3064025" cy="1516520"/>
              <a:chOff x="4853562" y="1589418"/>
              <a:chExt cx="2609520" cy="1291565"/>
            </a:xfrm>
          </p:grpSpPr>
          <p:sp>
            <p:nvSpPr>
              <p:cNvPr id="8" name="Freeform 7">
                <a:extLst>
                  <a:ext uri="{FF2B5EF4-FFF2-40B4-BE49-F238E27FC236}">
                    <a16:creationId xmlns:a16="http://schemas.microsoft.com/office/drawing/2014/main" id="{03546B24-FABC-4B2A-A80F-B03654D56A7D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H="1">
                <a:off x="4853562" y="1589418"/>
                <a:ext cx="2232248" cy="1202698"/>
              </a:xfrm>
              <a:custGeom>
                <a:avLst/>
                <a:gdLst/>
                <a:ahLst/>
                <a:cxnLst/>
                <a:rect l="l" t="t" r="r" b="b"/>
                <a:pathLst>
                  <a:path w="1872168" h="1008693">
                    <a:moveTo>
                      <a:pt x="699542" y="162"/>
                    </a:moveTo>
                    <a:cubicBezTo>
                      <a:pt x="683169" y="534"/>
                      <a:pt x="666273" y="1556"/>
                      <a:pt x="648845" y="3291"/>
                    </a:cubicBezTo>
                    <a:cubicBezTo>
                      <a:pt x="357120" y="49686"/>
                      <a:pt x="273885" y="284789"/>
                      <a:pt x="274981" y="413694"/>
                    </a:cubicBezTo>
                    <a:cubicBezTo>
                      <a:pt x="4451" y="471904"/>
                      <a:pt x="-11347" y="662854"/>
                      <a:pt x="4101" y="753457"/>
                    </a:cubicBezTo>
                    <a:cubicBezTo>
                      <a:pt x="42383" y="946818"/>
                      <a:pt x="296257" y="1004273"/>
                      <a:pt x="384912" y="1005378"/>
                    </a:cubicBezTo>
                    <a:lnTo>
                      <a:pt x="1507196" y="1008693"/>
                    </a:lnTo>
                    <a:cubicBezTo>
                      <a:pt x="1646895" y="1000406"/>
                      <a:pt x="1746295" y="947371"/>
                      <a:pt x="1825546" y="854557"/>
                    </a:cubicBezTo>
                    <a:cubicBezTo>
                      <a:pt x="1897410" y="760086"/>
                      <a:pt x="1873973" y="626012"/>
                      <a:pt x="1836613" y="558208"/>
                    </a:cubicBezTo>
                    <a:cubicBezTo>
                      <a:pt x="1808089" y="509360"/>
                      <a:pt x="1675919" y="402617"/>
                      <a:pt x="1507617" y="430504"/>
                    </a:cubicBezTo>
                    <a:cubicBezTo>
                      <a:pt x="1525469" y="335682"/>
                      <a:pt x="1477961" y="244522"/>
                      <a:pt x="1398003" y="206286"/>
                    </a:cubicBezTo>
                    <a:cubicBezTo>
                      <a:pt x="1299806" y="153261"/>
                      <a:pt x="1182195" y="177294"/>
                      <a:pt x="1108176" y="215068"/>
                    </a:cubicBezTo>
                    <a:cubicBezTo>
                      <a:pt x="1072916" y="135306"/>
                      <a:pt x="945134" y="-5422"/>
                      <a:pt x="699542" y="162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3601">
                  <a:solidFill>
                    <a:schemeClr val="tx1"/>
                  </a:solidFill>
                </a:endParaRPr>
              </a:p>
            </p:txBody>
          </p:sp>
          <p:sp>
            <p:nvSpPr>
              <p:cNvPr id="9" name="Freeform 8">
                <a:extLst>
                  <a:ext uri="{FF2B5EF4-FFF2-40B4-BE49-F238E27FC236}">
                    <a16:creationId xmlns:a16="http://schemas.microsoft.com/office/drawing/2014/main" id="{02E1A011-CDEA-4BBC-B725-C88AF5464891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H="1">
                <a:off x="5230834" y="1678285"/>
                <a:ext cx="2232248" cy="1202698"/>
              </a:xfrm>
              <a:custGeom>
                <a:avLst/>
                <a:gdLst/>
                <a:ahLst/>
                <a:cxnLst/>
                <a:rect l="l" t="t" r="r" b="b"/>
                <a:pathLst>
                  <a:path w="1872168" h="1008693">
                    <a:moveTo>
                      <a:pt x="699542" y="162"/>
                    </a:moveTo>
                    <a:cubicBezTo>
                      <a:pt x="683169" y="534"/>
                      <a:pt x="666273" y="1556"/>
                      <a:pt x="648845" y="3291"/>
                    </a:cubicBezTo>
                    <a:cubicBezTo>
                      <a:pt x="357120" y="49686"/>
                      <a:pt x="273885" y="284789"/>
                      <a:pt x="274981" y="413694"/>
                    </a:cubicBezTo>
                    <a:cubicBezTo>
                      <a:pt x="4451" y="471904"/>
                      <a:pt x="-11347" y="662854"/>
                      <a:pt x="4101" y="753457"/>
                    </a:cubicBezTo>
                    <a:cubicBezTo>
                      <a:pt x="42383" y="946818"/>
                      <a:pt x="296257" y="1004273"/>
                      <a:pt x="384912" y="1005378"/>
                    </a:cubicBezTo>
                    <a:lnTo>
                      <a:pt x="1507196" y="1008693"/>
                    </a:lnTo>
                    <a:cubicBezTo>
                      <a:pt x="1646895" y="1000406"/>
                      <a:pt x="1746295" y="947371"/>
                      <a:pt x="1825546" y="854557"/>
                    </a:cubicBezTo>
                    <a:cubicBezTo>
                      <a:pt x="1897410" y="760086"/>
                      <a:pt x="1873973" y="626012"/>
                      <a:pt x="1836613" y="558208"/>
                    </a:cubicBezTo>
                    <a:cubicBezTo>
                      <a:pt x="1808089" y="509360"/>
                      <a:pt x="1675919" y="402617"/>
                      <a:pt x="1507617" y="430504"/>
                    </a:cubicBezTo>
                    <a:cubicBezTo>
                      <a:pt x="1525469" y="335682"/>
                      <a:pt x="1477961" y="244522"/>
                      <a:pt x="1398003" y="206286"/>
                    </a:cubicBezTo>
                    <a:cubicBezTo>
                      <a:pt x="1299806" y="153261"/>
                      <a:pt x="1182195" y="177294"/>
                      <a:pt x="1108176" y="215068"/>
                    </a:cubicBezTo>
                    <a:cubicBezTo>
                      <a:pt x="1072916" y="135306"/>
                      <a:pt x="945134" y="-5422"/>
                      <a:pt x="699542" y="162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3601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AB8BC7BC-BF58-402E-9A69-AA9226DE7CAA}"/>
                </a:ext>
              </a:extLst>
            </p:cNvPr>
            <p:cNvGrpSpPr/>
            <p:nvPr/>
          </p:nvGrpSpPr>
          <p:grpSpPr>
            <a:xfrm>
              <a:off x="1356703" y="883096"/>
              <a:ext cx="1334145" cy="620384"/>
              <a:chOff x="7729280" y="2195997"/>
              <a:chExt cx="2143740" cy="996849"/>
            </a:xfrm>
            <a:solidFill>
              <a:schemeClr val="accent6"/>
            </a:solidFill>
          </p:grpSpPr>
          <p:sp>
            <p:nvSpPr>
              <p:cNvPr id="11" name="Freeform: Shape 66">
                <a:extLst>
                  <a:ext uri="{FF2B5EF4-FFF2-40B4-BE49-F238E27FC236}">
                    <a16:creationId xmlns:a16="http://schemas.microsoft.com/office/drawing/2014/main" id="{2A081543-B9FF-49B1-8EEF-ABDF5438EDCD}"/>
                  </a:ext>
                </a:extLst>
              </p:cNvPr>
              <p:cNvSpPr/>
              <p:nvPr/>
            </p:nvSpPr>
            <p:spPr>
              <a:xfrm>
                <a:off x="7729280" y="2195997"/>
                <a:ext cx="2143740" cy="996849"/>
              </a:xfrm>
              <a:custGeom>
                <a:avLst/>
                <a:gdLst/>
                <a:ahLst/>
                <a:cxnLst/>
                <a:rect l="l" t="t" r="r" b="b"/>
                <a:pathLst>
                  <a:path w="1862733" h="866179">
                    <a:moveTo>
                      <a:pt x="794147" y="204787"/>
                    </a:moveTo>
                    <a:cubicBezTo>
                      <a:pt x="745605" y="204787"/>
                      <a:pt x="701637" y="218416"/>
                      <a:pt x="662244" y="245673"/>
                    </a:cubicBezTo>
                    <a:cubicBezTo>
                      <a:pt x="622851" y="272930"/>
                      <a:pt x="594798" y="309240"/>
                      <a:pt x="578086" y="354601"/>
                    </a:cubicBezTo>
                    <a:cubicBezTo>
                      <a:pt x="568536" y="380467"/>
                      <a:pt x="563761" y="406729"/>
                      <a:pt x="563761" y="433387"/>
                    </a:cubicBezTo>
                    <a:cubicBezTo>
                      <a:pt x="563761" y="488299"/>
                      <a:pt x="582064" y="537440"/>
                      <a:pt x="618670" y="580811"/>
                    </a:cubicBezTo>
                    <a:cubicBezTo>
                      <a:pt x="664031" y="634532"/>
                      <a:pt x="722524" y="661392"/>
                      <a:pt x="794147" y="661392"/>
                    </a:cubicBezTo>
                    <a:cubicBezTo>
                      <a:pt x="865771" y="661392"/>
                      <a:pt x="924462" y="634733"/>
                      <a:pt x="970220" y="581415"/>
                    </a:cubicBezTo>
                    <a:cubicBezTo>
                      <a:pt x="1006826" y="538838"/>
                      <a:pt x="1025128" y="489496"/>
                      <a:pt x="1025128" y="433387"/>
                    </a:cubicBezTo>
                    <a:cubicBezTo>
                      <a:pt x="1025128" y="376088"/>
                      <a:pt x="1006826" y="326547"/>
                      <a:pt x="970220" y="284764"/>
                    </a:cubicBezTo>
                    <a:cubicBezTo>
                      <a:pt x="923265" y="231446"/>
                      <a:pt x="864574" y="204787"/>
                      <a:pt x="794147" y="204787"/>
                    </a:cubicBezTo>
                    <a:close/>
                    <a:moveTo>
                      <a:pt x="1304330" y="24408"/>
                    </a:moveTo>
                    <a:lnTo>
                      <a:pt x="1862733" y="24408"/>
                    </a:lnTo>
                    <a:lnTo>
                      <a:pt x="1862733" y="200620"/>
                    </a:lnTo>
                    <a:lnTo>
                      <a:pt x="1687711" y="200620"/>
                    </a:lnTo>
                    <a:lnTo>
                      <a:pt x="1687711" y="837009"/>
                    </a:lnTo>
                    <a:lnTo>
                      <a:pt x="1476375" y="837009"/>
                    </a:lnTo>
                    <a:lnTo>
                      <a:pt x="1476375" y="200620"/>
                    </a:lnTo>
                    <a:lnTo>
                      <a:pt x="1304330" y="200620"/>
                    </a:lnTo>
                    <a:close/>
                    <a:moveTo>
                      <a:pt x="0" y="24408"/>
                    </a:moveTo>
                    <a:lnTo>
                      <a:pt x="211336" y="24408"/>
                    </a:lnTo>
                    <a:lnTo>
                      <a:pt x="211336" y="837009"/>
                    </a:lnTo>
                    <a:lnTo>
                      <a:pt x="0" y="837009"/>
                    </a:lnTo>
                    <a:close/>
                    <a:moveTo>
                      <a:pt x="794147" y="0"/>
                    </a:moveTo>
                    <a:cubicBezTo>
                      <a:pt x="937022" y="0"/>
                      <a:pt x="1050330" y="47426"/>
                      <a:pt x="1134071" y="142280"/>
                    </a:cubicBezTo>
                    <a:cubicBezTo>
                      <a:pt x="1207493" y="225623"/>
                      <a:pt x="1244204" y="322659"/>
                      <a:pt x="1244204" y="433387"/>
                    </a:cubicBezTo>
                    <a:cubicBezTo>
                      <a:pt x="1244204" y="543719"/>
                      <a:pt x="1207493" y="640556"/>
                      <a:pt x="1134071" y="723900"/>
                    </a:cubicBezTo>
                    <a:cubicBezTo>
                      <a:pt x="1050330" y="818753"/>
                      <a:pt x="937022" y="866179"/>
                      <a:pt x="794147" y="866179"/>
                    </a:cubicBezTo>
                    <a:cubicBezTo>
                      <a:pt x="651669" y="866179"/>
                      <a:pt x="538560" y="818753"/>
                      <a:pt x="454819" y="723900"/>
                    </a:cubicBezTo>
                    <a:cubicBezTo>
                      <a:pt x="381397" y="640556"/>
                      <a:pt x="344686" y="543719"/>
                      <a:pt x="344686" y="433387"/>
                    </a:cubicBezTo>
                    <a:cubicBezTo>
                      <a:pt x="344686" y="382984"/>
                      <a:pt x="354608" y="331291"/>
                      <a:pt x="374452" y="278308"/>
                    </a:cubicBezTo>
                    <a:cubicBezTo>
                      <a:pt x="394296" y="225326"/>
                      <a:pt x="420886" y="179983"/>
                      <a:pt x="454224" y="142280"/>
                    </a:cubicBezTo>
                    <a:cubicBezTo>
                      <a:pt x="537964" y="47426"/>
                      <a:pt x="651272" y="0"/>
                      <a:pt x="794147" y="0"/>
                    </a:cubicBezTo>
                    <a:close/>
                  </a:path>
                </a:pathLst>
              </a:custGeom>
              <a:solidFill>
                <a:srgbClr val="00B0F0"/>
              </a:solidFill>
              <a:ln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sz="2400" dirty="0"/>
              </a:p>
            </p:txBody>
          </p:sp>
          <p:sp>
            <p:nvSpPr>
              <p:cNvPr id="12" name="Freeform: Shape 67">
                <a:extLst>
                  <a:ext uri="{FF2B5EF4-FFF2-40B4-BE49-F238E27FC236}">
                    <a16:creationId xmlns:a16="http://schemas.microsoft.com/office/drawing/2014/main" id="{275D1FAA-C13F-4A6B-BA37-7704CFB7ADCD}"/>
                  </a:ext>
                </a:extLst>
              </p:cNvPr>
              <p:cNvSpPr/>
              <p:nvPr/>
            </p:nvSpPr>
            <p:spPr>
              <a:xfrm>
                <a:off x="8421007" y="2543552"/>
                <a:ext cx="443936" cy="326800"/>
              </a:xfrm>
              <a:custGeom>
                <a:avLst/>
                <a:gdLst>
                  <a:gd name="connsiteX0" fmla="*/ 1869041 w 3738080"/>
                  <a:gd name="connsiteY0" fmla="*/ 1997576 h 2751770"/>
                  <a:gd name="connsiteX1" fmla="*/ 2246138 w 3738080"/>
                  <a:gd name="connsiteY1" fmla="*/ 2374673 h 2751770"/>
                  <a:gd name="connsiteX2" fmla="*/ 1869041 w 3738080"/>
                  <a:gd name="connsiteY2" fmla="*/ 2751770 h 2751770"/>
                  <a:gd name="connsiteX3" fmla="*/ 1491944 w 3738080"/>
                  <a:gd name="connsiteY3" fmla="*/ 2374673 h 2751770"/>
                  <a:gd name="connsiteX4" fmla="*/ 1869041 w 3738080"/>
                  <a:gd name="connsiteY4" fmla="*/ 1997576 h 2751770"/>
                  <a:gd name="connsiteX5" fmla="*/ 2788485 w 3738080"/>
                  <a:gd name="connsiteY5" fmla="*/ 1841061 h 2751770"/>
                  <a:gd name="connsiteX6" fmla="*/ 2632248 w 3738080"/>
                  <a:gd name="connsiteY6" fmla="*/ 1992174 h 2751770"/>
                  <a:gd name="connsiteX7" fmla="*/ 2624294 w 3738080"/>
                  <a:gd name="connsiteY7" fmla="*/ 1992174 h 2751770"/>
                  <a:gd name="connsiteX8" fmla="*/ 1858846 w 3738080"/>
                  <a:gd name="connsiteY8" fmla="*/ 1306247 h 2751770"/>
                  <a:gd name="connsiteX9" fmla="*/ 2645621 w 3738080"/>
                  <a:gd name="connsiteY9" fmla="*/ 1504218 h 2751770"/>
                  <a:gd name="connsiteX10" fmla="*/ 2795575 w 3738080"/>
                  <a:gd name="connsiteY10" fmla="*/ 1757331 h 2751770"/>
                  <a:gd name="connsiteX11" fmla="*/ 2539052 w 3738080"/>
                  <a:gd name="connsiteY11" fmla="*/ 1841672 h 2751770"/>
                  <a:gd name="connsiteX12" fmla="*/ 1353947 w 3738080"/>
                  <a:gd name="connsiteY12" fmla="*/ 1778974 h 2751770"/>
                  <a:gd name="connsiteX13" fmla="*/ 982333 w 3738080"/>
                  <a:gd name="connsiteY13" fmla="*/ 1780833 h 2751770"/>
                  <a:gd name="connsiteX14" fmla="*/ 966756 w 3738080"/>
                  <a:gd name="connsiteY14" fmla="*/ 1667407 h 2751770"/>
                  <a:gd name="connsiteX15" fmla="*/ 1217540 w 3738080"/>
                  <a:gd name="connsiteY15" fmla="*/ 1445700 h 2751770"/>
                  <a:gd name="connsiteX16" fmla="*/ 1858846 w 3738080"/>
                  <a:gd name="connsiteY16" fmla="*/ 1306247 h 2751770"/>
                  <a:gd name="connsiteX17" fmla="*/ 1828129 w 3738080"/>
                  <a:gd name="connsiteY17" fmla="*/ 650059 h 2751770"/>
                  <a:gd name="connsiteX18" fmla="*/ 3108200 w 3738080"/>
                  <a:gd name="connsiteY18" fmla="*/ 1008980 h 2751770"/>
                  <a:gd name="connsiteX19" fmla="*/ 3258155 w 3738080"/>
                  <a:gd name="connsiteY19" fmla="*/ 1319033 h 2751770"/>
                  <a:gd name="connsiteX20" fmla="*/ 2937692 w 3738080"/>
                  <a:gd name="connsiteY20" fmla="*/ 1304637 h 2751770"/>
                  <a:gd name="connsiteX21" fmla="*/ 763561 w 3738080"/>
                  <a:gd name="connsiteY21" fmla="*/ 1325535 h 2751770"/>
                  <a:gd name="connsiteX22" fmla="*/ 464412 w 3738080"/>
                  <a:gd name="connsiteY22" fmla="*/ 1278813 h 2751770"/>
                  <a:gd name="connsiteX23" fmla="*/ 450482 w 3738080"/>
                  <a:gd name="connsiteY23" fmla="*/ 1202928 h 2751770"/>
                  <a:gd name="connsiteX24" fmla="*/ 622892 w 3738080"/>
                  <a:gd name="connsiteY24" fmla="*/ 1008979 h 2751770"/>
                  <a:gd name="connsiteX25" fmla="*/ 1828129 w 3738080"/>
                  <a:gd name="connsiteY25" fmla="*/ 650059 h 2751770"/>
                  <a:gd name="connsiteX26" fmla="*/ 1764313 w 3738080"/>
                  <a:gd name="connsiteY26" fmla="*/ 591 h 2751770"/>
                  <a:gd name="connsiteX27" fmla="*/ 3559697 w 3738080"/>
                  <a:gd name="connsiteY27" fmla="*/ 547180 h 2751770"/>
                  <a:gd name="connsiteX28" fmla="*/ 3709650 w 3738080"/>
                  <a:gd name="connsiteY28" fmla="*/ 882310 h 2751770"/>
                  <a:gd name="connsiteX29" fmla="*/ 3367875 w 3738080"/>
                  <a:gd name="connsiteY29" fmla="*/ 834477 h 2751770"/>
                  <a:gd name="connsiteX30" fmla="*/ 318417 w 3738080"/>
                  <a:gd name="connsiteY30" fmla="*/ 884635 h 2751770"/>
                  <a:gd name="connsiteX31" fmla="*/ 19267 w 3738080"/>
                  <a:gd name="connsiteY31" fmla="*/ 846272 h 2751770"/>
                  <a:gd name="connsiteX32" fmla="*/ 275 w 3738080"/>
                  <a:gd name="connsiteY32" fmla="*/ 760137 h 2751770"/>
                  <a:gd name="connsiteX33" fmla="*/ 173484 w 3738080"/>
                  <a:gd name="connsiteY33" fmla="*/ 547180 h 2751770"/>
                  <a:gd name="connsiteX34" fmla="*/ 1764313 w 3738080"/>
                  <a:gd name="connsiteY34" fmla="*/ 591 h 2751770"/>
                  <a:gd name="connsiteX0" fmla="*/ 1869041 w 3738080"/>
                  <a:gd name="connsiteY0" fmla="*/ 1997576 h 2751770"/>
                  <a:gd name="connsiteX1" fmla="*/ 2246138 w 3738080"/>
                  <a:gd name="connsiteY1" fmla="*/ 2374673 h 2751770"/>
                  <a:gd name="connsiteX2" fmla="*/ 1869041 w 3738080"/>
                  <a:gd name="connsiteY2" fmla="*/ 2751770 h 2751770"/>
                  <a:gd name="connsiteX3" fmla="*/ 1491944 w 3738080"/>
                  <a:gd name="connsiteY3" fmla="*/ 2374673 h 2751770"/>
                  <a:gd name="connsiteX4" fmla="*/ 1869041 w 3738080"/>
                  <a:gd name="connsiteY4" fmla="*/ 1997576 h 2751770"/>
                  <a:gd name="connsiteX5" fmla="*/ 2624294 w 3738080"/>
                  <a:gd name="connsiteY5" fmla="*/ 1992174 h 2751770"/>
                  <a:gd name="connsiteX6" fmla="*/ 2632248 w 3738080"/>
                  <a:gd name="connsiteY6" fmla="*/ 1992174 h 2751770"/>
                  <a:gd name="connsiteX7" fmla="*/ 2624294 w 3738080"/>
                  <a:gd name="connsiteY7" fmla="*/ 1992174 h 2751770"/>
                  <a:gd name="connsiteX8" fmla="*/ 1858846 w 3738080"/>
                  <a:gd name="connsiteY8" fmla="*/ 1306247 h 2751770"/>
                  <a:gd name="connsiteX9" fmla="*/ 2645621 w 3738080"/>
                  <a:gd name="connsiteY9" fmla="*/ 1504218 h 2751770"/>
                  <a:gd name="connsiteX10" fmla="*/ 2795575 w 3738080"/>
                  <a:gd name="connsiteY10" fmla="*/ 1757331 h 2751770"/>
                  <a:gd name="connsiteX11" fmla="*/ 2539052 w 3738080"/>
                  <a:gd name="connsiteY11" fmla="*/ 1841672 h 2751770"/>
                  <a:gd name="connsiteX12" fmla="*/ 1353947 w 3738080"/>
                  <a:gd name="connsiteY12" fmla="*/ 1778974 h 2751770"/>
                  <a:gd name="connsiteX13" fmla="*/ 982333 w 3738080"/>
                  <a:gd name="connsiteY13" fmla="*/ 1780833 h 2751770"/>
                  <a:gd name="connsiteX14" fmla="*/ 966756 w 3738080"/>
                  <a:gd name="connsiteY14" fmla="*/ 1667407 h 2751770"/>
                  <a:gd name="connsiteX15" fmla="*/ 1217540 w 3738080"/>
                  <a:gd name="connsiteY15" fmla="*/ 1445700 h 2751770"/>
                  <a:gd name="connsiteX16" fmla="*/ 1858846 w 3738080"/>
                  <a:gd name="connsiteY16" fmla="*/ 1306247 h 2751770"/>
                  <a:gd name="connsiteX17" fmla="*/ 1828129 w 3738080"/>
                  <a:gd name="connsiteY17" fmla="*/ 650059 h 2751770"/>
                  <a:gd name="connsiteX18" fmla="*/ 3108200 w 3738080"/>
                  <a:gd name="connsiteY18" fmla="*/ 1008980 h 2751770"/>
                  <a:gd name="connsiteX19" fmla="*/ 3258155 w 3738080"/>
                  <a:gd name="connsiteY19" fmla="*/ 1319033 h 2751770"/>
                  <a:gd name="connsiteX20" fmla="*/ 2937692 w 3738080"/>
                  <a:gd name="connsiteY20" fmla="*/ 1304637 h 2751770"/>
                  <a:gd name="connsiteX21" fmla="*/ 763561 w 3738080"/>
                  <a:gd name="connsiteY21" fmla="*/ 1325535 h 2751770"/>
                  <a:gd name="connsiteX22" fmla="*/ 464412 w 3738080"/>
                  <a:gd name="connsiteY22" fmla="*/ 1278813 h 2751770"/>
                  <a:gd name="connsiteX23" fmla="*/ 450482 w 3738080"/>
                  <a:gd name="connsiteY23" fmla="*/ 1202928 h 2751770"/>
                  <a:gd name="connsiteX24" fmla="*/ 622892 w 3738080"/>
                  <a:gd name="connsiteY24" fmla="*/ 1008979 h 2751770"/>
                  <a:gd name="connsiteX25" fmla="*/ 1828129 w 3738080"/>
                  <a:gd name="connsiteY25" fmla="*/ 650059 h 2751770"/>
                  <a:gd name="connsiteX26" fmla="*/ 1764313 w 3738080"/>
                  <a:gd name="connsiteY26" fmla="*/ 591 h 2751770"/>
                  <a:gd name="connsiteX27" fmla="*/ 3559697 w 3738080"/>
                  <a:gd name="connsiteY27" fmla="*/ 547180 h 2751770"/>
                  <a:gd name="connsiteX28" fmla="*/ 3709650 w 3738080"/>
                  <a:gd name="connsiteY28" fmla="*/ 882310 h 2751770"/>
                  <a:gd name="connsiteX29" fmla="*/ 3367875 w 3738080"/>
                  <a:gd name="connsiteY29" fmla="*/ 834477 h 2751770"/>
                  <a:gd name="connsiteX30" fmla="*/ 318417 w 3738080"/>
                  <a:gd name="connsiteY30" fmla="*/ 884635 h 2751770"/>
                  <a:gd name="connsiteX31" fmla="*/ 19267 w 3738080"/>
                  <a:gd name="connsiteY31" fmla="*/ 846272 h 2751770"/>
                  <a:gd name="connsiteX32" fmla="*/ 275 w 3738080"/>
                  <a:gd name="connsiteY32" fmla="*/ 760137 h 2751770"/>
                  <a:gd name="connsiteX33" fmla="*/ 173484 w 3738080"/>
                  <a:gd name="connsiteY33" fmla="*/ 547180 h 2751770"/>
                  <a:gd name="connsiteX34" fmla="*/ 1764313 w 3738080"/>
                  <a:gd name="connsiteY34" fmla="*/ 591 h 2751770"/>
                  <a:gd name="connsiteX0" fmla="*/ 1869041 w 3738080"/>
                  <a:gd name="connsiteY0" fmla="*/ 1997576 h 2751770"/>
                  <a:gd name="connsiteX1" fmla="*/ 2246138 w 3738080"/>
                  <a:gd name="connsiteY1" fmla="*/ 2374673 h 2751770"/>
                  <a:gd name="connsiteX2" fmla="*/ 1869041 w 3738080"/>
                  <a:gd name="connsiteY2" fmla="*/ 2751770 h 2751770"/>
                  <a:gd name="connsiteX3" fmla="*/ 1491944 w 3738080"/>
                  <a:gd name="connsiteY3" fmla="*/ 2374673 h 2751770"/>
                  <a:gd name="connsiteX4" fmla="*/ 1869041 w 3738080"/>
                  <a:gd name="connsiteY4" fmla="*/ 1997576 h 2751770"/>
                  <a:gd name="connsiteX5" fmla="*/ 1858846 w 3738080"/>
                  <a:gd name="connsiteY5" fmla="*/ 1306247 h 2751770"/>
                  <a:gd name="connsiteX6" fmla="*/ 2645621 w 3738080"/>
                  <a:gd name="connsiteY6" fmla="*/ 1504218 h 2751770"/>
                  <a:gd name="connsiteX7" fmla="*/ 2795575 w 3738080"/>
                  <a:gd name="connsiteY7" fmla="*/ 1757331 h 2751770"/>
                  <a:gd name="connsiteX8" fmla="*/ 2539052 w 3738080"/>
                  <a:gd name="connsiteY8" fmla="*/ 1841672 h 2751770"/>
                  <a:gd name="connsiteX9" fmla="*/ 1353947 w 3738080"/>
                  <a:gd name="connsiteY9" fmla="*/ 1778974 h 2751770"/>
                  <a:gd name="connsiteX10" fmla="*/ 982333 w 3738080"/>
                  <a:gd name="connsiteY10" fmla="*/ 1780833 h 2751770"/>
                  <a:gd name="connsiteX11" fmla="*/ 966756 w 3738080"/>
                  <a:gd name="connsiteY11" fmla="*/ 1667407 h 2751770"/>
                  <a:gd name="connsiteX12" fmla="*/ 1217540 w 3738080"/>
                  <a:gd name="connsiteY12" fmla="*/ 1445700 h 2751770"/>
                  <a:gd name="connsiteX13" fmla="*/ 1858846 w 3738080"/>
                  <a:gd name="connsiteY13" fmla="*/ 1306247 h 2751770"/>
                  <a:gd name="connsiteX14" fmla="*/ 1828129 w 3738080"/>
                  <a:gd name="connsiteY14" fmla="*/ 650059 h 2751770"/>
                  <a:gd name="connsiteX15" fmla="*/ 3108200 w 3738080"/>
                  <a:gd name="connsiteY15" fmla="*/ 1008980 h 2751770"/>
                  <a:gd name="connsiteX16" fmla="*/ 3258155 w 3738080"/>
                  <a:gd name="connsiteY16" fmla="*/ 1319033 h 2751770"/>
                  <a:gd name="connsiteX17" fmla="*/ 2937692 w 3738080"/>
                  <a:gd name="connsiteY17" fmla="*/ 1304637 h 2751770"/>
                  <a:gd name="connsiteX18" fmla="*/ 763561 w 3738080"/>
                  <a:gd name="connsiteY18" fmla="*/ 1325535 h 2751770"/>
                  <a:gd name="connsiteX19" fmla="*/ 464412 w 3738080"/>
                  <a:gd name="connsiteY19" fmla="*/ 1278813 h 2751770"/>
                  <a:gd name="connsiteX20" fmla="*/ 450482 w 3738080"/>
                  <a:gd name="connsiteY20" fmla="*/ 1202928 h 2751770"/>
                  <a:gd name="connsiteX21" fmla="*/ 622892 w 3738080"/>
                  <a:gd name="connsiteY21" fmla="*/ 1008979 h 2751770"/>
                  <a:gd name="connsiteX22" fmla="*/ 1828129 w 3738080"/>
                  <a:gd name="connsiteY22" fmla="*/ 650059 h 2751770"/>
                  <a:gd name="connsiteX23" fmla="*/ 1764313 w 3738080"/>
                  <a:gd name="connsiteY23" fmla="*/ 591 h 2751770"/>
                  <a:gd name="connsiteX24" fmla="*/ 3559697 w 3738080"/>
                  <a:gd name="connsiteY24" fmla="*/ 547180 h 2751770"/>
                  <a:gd name="connsiteX25" fmla="*/ 3709650 w 3738080"/>
                  <a:gd name="connsiteY25" fmla="*/ 882310 h 2751770"/>
                  <a:gd name="connsiteX26" fmla="*/ 3367875 w 3738080"/>
                  <a:gd name="connsiteY26" fmla="*/ 834477 h 2751770"/>
                  <a:gd name="connsiteX27" fmla="*/ 318417 w 3738080"/>
                  <a:gd name="connsiteY27" fmla="*/ 884635 h 2751770"/>
                  <a:gd name="connsiteX28" fmla="*/ 19267 w 3738080"/>
                  <a:gd name="connsiteY28" fmla="*/ 846272 h 2751770"/>
                  <a:gd name="connsiteX29" fmla="*/ 275 w 3738080"/>
                  <a:gd name="connsiteY29" fmla="*/ 760137 h 2751770"/>
                  <a:gd name="connsiteX30" fmla="*/ 173484 w 3738080"/>
                  <a:gd name="connsiteY30" fmla="*/ 547180 h 2751770"/>
                  <a:gd name="connsiteX31" fmla="*/ 1764313 w 3738080"/>
                  <a:gd name="connsiteY31" fmla="*/ 591 h 27517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3738080" h="2751770">
                    <a:moveTo>
                      <a:pt x="1869041" y="1997576"/>
                    </a:moveTo>
                    <a:cubicBezTo>
                      <a:pt x="2077306" y="1997576"/>
                      <a:pt x="2246138" y="2166408"/>
                      <a:pt x="2246138" y="2374673"/>
                    </a:cubicBezTo>
                    <a:cubicBezTo>
                      <a:pt x="2246138" y="2582938"/>
                      <a:pt x="2077306" y="2751770"/>
                      <a:pt x="1869041" y="2751770"/>
                    </a:cubicBezTo>
                    <a:cubicBezTo>
                      <a:pt x="1660776" y="2751770"/>
                      <a:pt x="1491944" y="2582938"/>
                      <a:pt x="1491944" y="2374673"/>
                    </a:cubicBezTo>
                    <a:cubicBezTo>
                      <a:pt x="1491944" y="2166408"/>
                      <a:pt x="1660776" y="1997576"/>
                      <a:pt x="1869041" y="1997576"/>
                    </a:cubicBezTo>
                    <a:close/>
                    <a:moveTo>
                      <a:pt x="1858846" y="1306247"/>
                    </a:moveTo>
                    <a:cubicBezTo>
                      <a:pt x="2165924" y="1301758"/>
                      <a:pt x="2404940" y="1399722"/>
                      <a:pt x="2645621" y="1504218"/>
                    </a:cubicBezTo>
                    <a:cubicBezTo>
                      <a:pt x="2813424" y="1597955"/>
                      <a:pt x="2823993" y="1678797"/>
                      <a:pt x="2795575" y="1757331"/>
                    </a:cubicBezTo>
                    <a:cubicBezTo>
                      <a:pt x="2761471" y="1842158"/>
                      <a:pt x="2685239" y="1908552"/>
                      <a:pt x="2539052" y="1841672"/>
                    </a:cubicBezTo>
                    <a:cubicBezTo>
                      <a:pt x="2347207" y="1684231"/>
                      <a:pt x="1733351" y="1556050"/>
                      <a:pt x="1353947" y="1778974"/>
                    </a:cubicBezTo>
                    <a:cubicBezTo>
                      <a:pt x="1250080" y="1855218"/>
                      <a:pt x="1037749" y="1915097"/>
                      <a:pt x="982333" y="1780833"/>
                    </a:cubicBezTo>
                    <a:cubicBezTo>
                      <a:pt x="968480" y="1736637"/>
                      <a:pt x="963386" y="1699601"/>
                      <a:pt x="966756" y="1667407"/>
                    </a:cubicBezTo>
                    <a:cubicBezTo>
                      <a:pt x="976866" y="1570822"/>
                      <a:pt x="1063141" y="1517802"/>
                      <a:pt x="1217540" y="1445700"/>
                    </a:cubicBezTo>
                    <a:cubicBezTo>
                      <a:pt x="1465851" y="1348519"/>
                      <a:pt x="1674601" y="1308942"/>
                      <a:pt x="1858846" y="1306247"/>
                    </a:cubicBezTo>
                    <a:close/>
                    <a:moveTo>
                      <a:pt x="1828129" y="650059"/>
                    </a:moveTo>
                    <a:cubicBezTo>
                      <a:pt x="2445754" y="646836"/>
                      <a:pt x="2937662" y="894034"/>
                      <a:pt x="3108200" y="1008980"/>
                    </a:cubicBezTo>
                    <a:cubicBezTo>
                      <a:pt x="3228810" y="1075858"/>
                      <a:pt x="3343409" y="1171509"/>
                      <a:pt x="3258155" y="1319033"/>
                    </a:cubicBezTo>
                    <a:cubicBezTo>
                      <a:pt x="3134282" y="1435449"/>
                      <a:pt x="3057301" y="1393031"/>
                      <a:pt x="2937692" y="1304637"/>
                    </a:cubicBezTo>
                    <a:cubicBezTo>
                      <a:pt x="2647778" y="1191783"/>
                      <a:pt x="2008321" y="619142"/>
                      <a:pt x="763561" y="1325535"/>
                    </a:cubicBezTo>
                    <a:cubicBezTo>
                      <a:pt x="621636" y="1425852"/>
                      <a:pt x="511304" y="1376178"/>
                      <a:pt x="464412" y="1278813"/>
                    </a:cubicBezTo>
                    <a:cubicBezTo>
                      <a:pt x="452398" y="1252494"/>
                      <a:pt x="448110" y="1227223"/>
                      <a:pt x="450482" y="1202928"/>
                    </a:cubicBezTo>
                    <a:cubicBezTo>
                      <a:pt x="457599" y="1130049"/>
                      <a:pt x="524660" y="1065987"/>
                      <a:pt x="622892" y="1008979"/>
                    </a:cubicBezTo>
                    <a:cubicBezTo>
                      <a:pt x="1041721" y="744082"/>
                      <a:pt x="1457554" y="651995"/>
                      <a:pt x="1828129" y="650059"/>
                    </a:cubicBezTo>
                    <a:close/>
                    <a:moveTo>
                      <a:pt x="1764313" y="591"/>
                    </a:moveTo>
                    <a:cubicBezTo>
                      <a:pt x="2430887" y="-13278"/>
                      <a:pt x="3056659" y="218017"/>
                      <a:pt x="3559697" y="547180"/>
                    </a:cubicBezTo>
                    <a:cubicBezTo>
                      <a:pt x="3671781" y="597338"/>
                      <a:pt x="3794905" y="759863"/>
                      <a:pt x="3709650" y="882310"/>
                    </a:cubicBezTo>
                    <a:cubicBezTo>
                      <a:pt x="3594303" y="984791"/>
                      <a:pt x="3449118" y="907547"/>
                      <a:pt x="3367875" y="834477"/>
                    </a:cubicBezTo>
                    <a:cubicBezTo>
                      <a:pt x="3193985" y="725799"/>
                      <a:pt x="1920315" y="-235561"/>
                      <a:pt x="318417" y="884635"/>
                    </a:cubicBezTo>
                    <a:cubicBezTo>
                      <a:pt x="189280" y="993311"/>
                      <a:pt x="70419" y="922739"/>
                      <a:pt x="19267" y="846272"/>
                    </a:cubicBezTo>
                    <a:cubicBezTo>
                      <a:pt x="4410" y="817516"/>
                      <a:pt x="-1388" y="788500"/>
                      <a:pt x="275" y="760137"/>
                    </a:cubicBezTo>
                    <a:cubicBezTo>
                      <a:pt x="5260" y="675044"/>
                      <a:pt x="77384" y="595829"/>
                      <a:pt x="173484" y="547180"/>
                    </a:cubicBezTo>
                    <a:cubicBezTo>
                      <a:pt x="702741" y="170471"/>
                      <a:pt x="1245868" y="11376"/>
                      <a:pt x="1764313" y="591"/>
                    </a:cubicBezTo>
                    <a:close/>
                  </a:path>
                </a:pathLst>
              </a:cu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/>
              </a:p>
            </p:txBody>
          </p:sp>
        </p:grpSp>
        <p:sp>
          <p:nvSpPr>
            <p:cNvPr id="14" name="Subtitle 2">
              <a:extLst>
                <a:ext uri="{FF2B5EF4-FFF2-40B4-BE49-F238E27FC236}">
                  <a16:creationId xmlns:a16="http://schemas.microsoft.com/office/drawing/2014/main" id="{53858C97-DA2F-8866-47CC-CDF4077BBF9D}"/>
                </a:ext>
              </a:extLst>
            </p:cNvPr>
            <p:cNvSpPr txBox="1">
              <a:spLocks/>
            </p:cNvSpPr>
            <p:nvPr/>
          </p:nvSpPr>
          <p:spPr>
            <a:xfrm>
              <a:off x="1727403" y="1099395"/>
              <a:ext cx="729275" cy="203382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 fontScale="62500" lnSpcReduction="20000"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1600" dirty="0" smtClean="0">
                  <a:solidFill>
                    <a:srgbClr val="7030A0"/>
                  </a:solidFill>
                </a:rPr>
                <a:t>PDS</a:t>
              </a:r>
              <a:endParaRPr lang="en-US" sz="1600" dirty="0">
                <a:solidFill>
                  <a:srgbClr val="7030A0"/>
                </a:solidFill>
              </a:endParaRPr>
            </a:p>
          </p:txBody>
        </p:sp>
        <p:sp>
          <p:nvSpPr>
            <p:cNvPr id="17" name="Title 4">
              <a:extLst>
                <a:ext uri="{FF2B5EF4-FFF2-40B4-BE49-F238E27FC236}">
                  <a16:creationId xmlns:a16="http://schemas.microsoft.com/office/drawing/2014/main" id="{27228BAE-048B-681E-DD8D-BD96B22560E0}"/>
                </a:ext>
              </a:extLst>
            </p:cNvPr>
            <p:cNvSpPr txBox="1">
              <a:spLocks/>
            </p:cNvSpPr>
            <p:nvPr/>
          </p:nvSpPr>
          <p:spPr>
            <a:xfrm>
              <a:off x="788714" y="1452073"/>
              <a:ext cx="938689" cy="470538"/>
            </a:xfrm>
            <a:prstGeom prst="rect">
              <a:avLst/>
            </a:prstGeom>
            <a:solidFill>
              <a:schemeClr val="bg1"/>
            </a:solidFill>
          </p:spPr>
          <p:txBody>
            <a:bodyPr vert="horz" lIns="91440" tIns="45720" rIns="91440" bIns="45720" rtlCol="0" anchor="b">
              <a:normAutofit fontScale="97500"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just"/>
              <a:r>
                <a:rPr lang="en-US" sz="2800" dirty="0" smtClean="0">
                  <a:solidFill>
                    <a:schemeClr val="accent5">
                      <a:lumMod val="50000"/>
                    </a:schemeClr>
                  </a:solidFill>
                </a:rPr>
                <a:t>SDN</a:t>
              </a:r>
              <a:endParaRPr lang="en-US" sz="2800" dirty="0">
                <a:solidFill>
                  <a:schemeClr val="accent5">
                    <a:lumMod val="50000"/>
                  </a:schemeClr>
                </a:solidFill>
              </a:endParaRPr>
            </a:p>
          </p:txBody>
        </p:sp>
        <p:sp>
          <p:nvSpPr>
            <p:cNvPr id="18" name="Title 4">
              <a:extLst>
                <a:ext uri="{FF2B5EF4-FFF2-40B4-BE49-F238E27FC236}">
                  <a16:creationId xmlns:a16="http://schemas.microsoft.com/office/drawing/2014/main" id="{27228BAE-048B-681E-DD8D-BD96B22560E0}"/>
                </a:ext>
              </a:extLst>
            </p:cNvPr>
            <p:cNvSpPr txBox="1">
              <a:spLocks/>
            </p:cNvSpPr>
            <p:nvPr/>
          </p:nvSpPr>
          <p:spPr>
            <a:xfrm>
              <a:off x="1449719" y="1352665"/>
              <a:ext cx="928870" cy="581223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rmAutofit fontScale="97500"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just"/>
              <a:r>
                <a:rPr lang="en-US" sz="2800" dirty="0" smtClean="0">
                  <a:solidFill>
                    <a:schemeClr val="accent1">
                      <a:lumMod val="75000"/>
                    </a:schemeClr>
                  </a:solidFill>
                </a:rPr>
                <a:t>NFV</a:t>
              </a:r>
              <a:endParaRPr lang="en-US" sz="2800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</p:grpSp>
      <p:sp>
        <p:nvSpPr>
          <p:cNvPr id="22" name="Rectangle 21"/>
          <p:cNvSpPr/>
          <p:nvPr/>
        </p:nvSpPr>
        <p:spPr>
          <a:xfrm>
            <a:off x="9507866" y="6056142"/>
            <a:ext cx="2613761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900" dirty="0"/>
              <a:t>https://www.youtube.com/@AmelOline/videos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344774" y="5917643"/>
            <a:ext cx="1623448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900" dirty="0"/>
              <a:t>https://github.com/siagianp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531473" y="6194642"/>
            <a:ext cx="3667194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900" dirty="0"/>
              <a:t>https://github.com/amelcharolinesgn2/IoT_simulator-mqtt-NodeRed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977163" y="6333141"/>
            <a:ext cx="3204723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900" dirty="0"/>
              <a:t>https://github.com/amelcharolinesgn2/Cloud-Infrastructures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444566" y="6506265"/>
            <a:ext cx="3839513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900" dirty="0"/>
              <a:t>https://github.com/amelcharolinesgn2/ClouD-Infrastructure-SISKA-2025</a:t>
            </a:r>
          </a:p>
        </p:txBody>
      </p:sp>
      <p:graphicFrame>
        <p:nvGraphicFramePr>
          <p:cNvPr id="21" name="Diagram 20"/>
          <p:cNvGraphicFramePr/>
          <p:nvPr>
            <p:extLst>
              <p:ext uri="{D42A27DB-BD31-4B8C-83A1-F6EECF244321}">
                <p14:modId xmlns:p14="http://schemas.microsoft.com/office/powerpoint/2010/main" val="3269045921"/>
              </p:ext>
            </p:extLst>
          </p:nvPr>
        </p:nvGraphicFramePr>
        <p:xfrm>
          <a:off x="2063476" y="3434555"/>
          <a:ext cx="8712579" cy="9143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27" name="Pie 26"/>
          <p:cNvSpPr/>
          <p:nvPr/>
        </p:nvSpPr>
        <p:spPr>
          <a:xfrm rot="10600249">
            <a:off x="10357546" y="3415832"/>
            <a:ext cx="914399" cy="914399"/>
          </a:xfrm>
          <a:prstGeom prst="pie">
            <a:avLst>
              <a:gd name="adj1" fmla="val 5400000"/>
              <a:gd name="adj2" fmla="val 16200000"/>
            </a:avLst>
          </a:prstGeom>
          <a:solidFill>
            <a:schemeClr val="accent2"/>
          </a:solidFill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sp>
    </p:spTree>
    <p:extLst>
      <p:ext uri="{BB962C8B-B14F-4D97-AF65-F5344CB8AC3E}">
        <p14:creationId xmlns:p14="http://schemas.microsoft.com/office/powerpoint/2010/main" val="38640026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dirty="0" err="1"/>
              <a:t>Osilator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err="1" smtClean="0"/>
              <a:t>Capaian</a:t>
            </a:r>
            <a:r>
              <a:rPr lang="en-US" dirty="0" smtClean="0"/>
              <a:t> :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 err="1" smtClean="0"/>
              <a:t>Mengerti</a:t>
            </a:r>
            <a:r>
              <a:rPr lang="en-US" dirty="0" smtClean="0"/>
              <a:t> </a:t>
            </a:r>
            <a:r>
              <a:rPr lang="sv-SE" dirty="0"/>
              <a:t>umpan balik positif dan prinsip kerja osilator gelombang sinusoidal sebagai salah satu aplikasi umpan balik </a:t>
            </a:r>
            <a:r>
              <a:rPr lang="sv-SE" dirty="0" smtClean="0"/>
              <a:t>positif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 smtClean="0"/>
              <a:t> </a:t>
            </a:r>
            <a:r>
              <a:rPr lang="en-US" dirty="0" err="1" smtClean="0"/>
              <a:t>Frekwensi</a:t>
            </a:r>
            <a:r>
              <a:rPr lang="en-US" dirty="0" smtClean="0"/>
              <a:t> </a:t>
            </a:r>
            <a:r>
              <a:rPr lang="en-US" dirty="0" err="1" smtClean="0"/>
              <a:t>osilasi</a:t>
            </a:r>
            <a:r>
              <a:rPr lang="en-US" dirty="0" smtClean="0"/>
              <a:t> </a:t>
            </a:r>
            <a:r>
              <a:rPr lang="en-US" dirty="0" err="1" smtClean="0"/>
              <a:t>dari</a:t>
            </a:r>
            <a:r>
              <a:rPr lang="en-US" dirty="0" smtClean="0"/>
              <a:t> </a:t>
            </a:r>
            <a:r>
              <a:rPr lang="en-US" dirty="0" err="1" smtClean="0"/>
              <a:t>osilator</a:t>
            </a:r>
            <a:endParaRPr lang="en-US" dirty="0" smtClean="0"/>
          </a:p>
          <a:p>
            <a:pPr>
              <a:buFont typeface="Wingdings" panose="05000000000000000000" pitchFamily="2" charset="2"/>
              <a:buChar char="q"/>
            </a:pPr>
            <a:r>
              <a:rPr lang="en-US" dirty="0" err="1"/>
              <a:t>Jenis</a:t>
            </a:r>
            <a:r>
              <a:rPr lang="en-US" dirty="0"/>
              <a:t>- </a:t>
            </a:r>
            <a:r>
              <a:rPr lang="en-US" dirty="0" err="1"/>
              <a:t>Jenis</a:t>
            </a:r>
            <a:r>
              <a:rPr lang="en-US" dirty="0"/>
              <a:t> </a:t>
            </a:r>
            <a:r>
              <a:rPr lang="en-US" dirty="0" err="1"/>
              <a:t>Osilator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87086" y="5850235"/>
            <a:ext cx="1126671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https://ocw.mit.edu/courses/6-01sc-introduction-to-electrical-engineering-and-computer-science-i-spring-2011/resources/op-amps/</a:t>
            </a:r>
          </a:p>
        </p:txBody>
      </p:sp>
    </p:spTree>
    <p:extLst>
      <p:ext uri="{BB962C8B-B14F-4D97-AF65-F5344CB8AC3E}">
        <p14:creationId xmlns:p14="http://schemas.microsoft.com/office/powerpoint/2010/main" val="27783686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id-ID" dirty="0" err="1" smtClean="0"/>
              <a:t>FeedBack</a:t>
            </a:r>
            <a:r>
              <a:rPr lang="en-US" altLang="id-ID" dirty="0" smtClean="0"/>
              <a:t> Negative/</a:t>
            </a:r>
            <a:r>
              <a:rPr lang="en-US" altLang="id-ID" dirty="0" err="1" smtClean="0"/>
              <a:t>Umpan</a:t>
            </a:r>
            <a:r>
              <a:rPr lang="en-US" altLang="id-ID" dirty="0" smtClean="0"/>
              <a:t> </a:t>
            </a:r>
            <a:r>
              <a:rPr lang="en-US" altLang="id-ID" dirty="0" err="1" smtClean="0"/>
              <a:t>Balik</a:t>
            </a:r>
            <a:r>
              <a:rPr lang="en-US" altLang="id-ID" dirty="0" smtClean="0"/>
              <a:t> </a:t>
            </a:r>
            <a:r>
              <a:rPr lang="en-US" altLang="id-ID" dirty="0" err="1" smtClean="0"/>
              <a:t>Positif</a:t>
            </a:r>
            <a:endParaRPr lang="en-US" altLang="id-ID" dirty="0" smtClean="0"/>
          </a:p>
        </p:txBody>
      </p:sp>
      <p:sp>
        <p:nvSpPr>
          <p:cNvPr id="409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id-ID" dirty="0" err="1" smtClean="0"/>
              <a:t>Perbedaan</a:t>
            </a:r>
            <a:r>
              <a:rPr lang="en-US" altLang="id-ID" dirty="0" smtClean="0"/>
              <a:t> </a:t>
            </a:r>
            <a:r>
              <a:rPr lang="en-US" altLang="id-ID" dirty="0" err="1" smtClean="0"/>
              <a:t>umpan</a:t>
            </a:r>
            <a:r>
              <a:rPr lang="en-US" altLang="id-ID" dirty="0" smtClean="0"/>
              <a:t> </a:t>
            </a:r>
            <a:r>
              <a:rPr lang="en-US" altLang="id-ID" dirty="0" err="1" smtClean="0"/>
              <a:t>balik</a:t>
            </a:r>
            <a:r>
              <a:rPr lang="en-US" altLang="id-ID" dirty="0" smtClean="0"/>
              <a:t> </a:t>
            </a:r>
            <a:r>
              <a:rPr lang="en-US" altLang="id-ID" dirty="0" err="1" smtClean="0"/>
              <a:t>negatif</a:t>
            </a:r>
            <a:r>
              <a:rPr lang="en-US" altLang="id-ID" dirty="0" smtClean="0"/>
              <a:t> </a:t>
            </a:r>
            <a:r>
              <a:rPr lang="en-US" altLang="id-ID" dirty="0" err="1" smtClean="0"/>
              <a:t>dan</a:t>
            </a:r>
            <a:r>
              <a:rPr lang="en-US" altLang="id-ID" dirty="0" smtClean="0"/>
              <a:t> </a:t>
            </a:r>
            <a:r>
              <a:rPr lang="en-US" altLang="id-ID" dirty="0" err="1" smtClean="0"/>
              <a:t>positif</a:t>
            </a:r>
            <a:r>
              <a:rPr lang="en-US" altLang="id-ID" dirty="0" smtClean="0"/>
              <a:t>, </a:t>
            </a:r>
            <a:r>
              <a:rPr lang="en-US" altLang="id-ID" dirty="0" err="1" smtClean="0"/>
              <a:t>umpan</a:t>
            </a:r>
            <a:r>
              <a:rPr lang="en-US" altLang="id-ID" dirty="0" smtClean="0"/>
              <a:t> </a:t>
            </a:r>
            <a:r>
              <a:rPr lang="en-US" altLang="id-ID" dirty="0" err="1" smtClean="0"/>
              <a:t>balik</a:t>
            </a:r>
            <a:r>
              <a:rPr lang="en-US" altLang="id-ID" dirty="0" smtClean="0"/>
              <a:t> </a:t>
            </a:r>
            <a:r>
              <a:rPr lang="en-US" altLang="id-ID" dirty="0" err="1" smtClean="0"/>
              <a:t>negatif</a:t>
            </a:r>
            <a:r>
              <a:rPr lang="en-US" altLang="id-ID" dirty="0" smtClean="0"/>
              <a:t> </a:t>
            </a:r>
            <a:r>
              <a:rPr lang="en-US" altLang="id-ID" dirty="0" err="1" smtClean="0"/>
              <a:t>memperlemah</a:t>
            </a:r>
            <a:r>
              <a:rPr lang="en-US" altLang="id-ID" dirty="0" smtClean="0"/>
              <a:t> </a:t>
            </a:r>
            <a:r>
              <a:rPr lang="en-US" altLang="id-ID" dirty="0" err="1" smtClean="0"/>
              <a:t>sinyal</a:t>
            </a:r>
            <a:r>
              <a:rPr lang="en-US" altLang="id-ID" dirty="0" smtClean="0"/>
              <a:t> </a:t>
            </a:r>
            <a:r>
              <a:rPr lang="en-US" altLang="id-ID" dirty="0" err="1" smtClean="0"/>
              <a:t>masukan</a:t>
            </a:r>
            <a:r>
              <a:rPr lang="en-US" altLang="id-ID" dirty="0" smtClean="0"/>
              <a:t> </a:t>
            </a:r>
            <a:r>
              <a:rPr lang="en-US" altLang="id-ID" dirty="0" err="1" smtClean="0"/>
              <a:t>sedangkan</a:t>
            </a:r>
            <a:r>
              <a:rPr lang="en-US" altLang="id-ID" dirty="0" smtClean="0"/>
              <a:t> </a:t>
            </a:r>
            <a:r>
              <a:rPr lang="en-US" altLang="id-ID" dirty="0" err="1" smtClean="0"/>
              <a:t>umpan</a:t>
            </a:r>
            <a:r>
              <a:rPr lang="en-US" altLang="id-ID" dirty="0" smtClean="0"/>
              <a:t> </a:t>
            </a:r>
            <a:r>
              <a:rPr lang="en-US" altLang="id-ID" dirty="0" err="1" smtClean="0"/>
              <a:t>balik</a:t>
            </a:r>
            <a:r>
              <a:rPr lang="en-US" altLang="id-ID" dirty="0" smtClean="0"/>
              <a:t> </a:t>
            </a:r>
            <a:r>
              <a:rPr lang="en-US" altLang="id-ID" dirty="0" err="1" smtClean="0"/>
              <a:t>positif</a:t>
            </a:r>
            <a:r>
              <a:rPr lang="en-US" altLang="id-ID" dirty="0" smtClean="0"/>
              <a:t> </a:t>
            </a:r>
            <a:r>
              <a:rPr lang="en-US" altLang="id-ID" dirty="0" err="1" smtClean="0"/>
              <a:t>memperkuat</a:t>
            </a:r>
            <a:r>
              <a:rPr lang="en-US" altLang="id-ID" dirty="0" smtClean="0"/>
              <a:t> </a:t>
            </a:r>
            <a:r>
              <a:rPr lang="en-US" altLang="id-ID" dirty="0" err="1" smtClean="0"/>
              <a:t>sinyal</a:t>
            </a:r>
            <a:r>
              <a:rPr lang="en-US" altLang="id-ID" dirty="0" smtClean="0"/>
              <a:t> </a:t>
            </a:r>
            <a:r>
              <a:rPr lang="en-US" altLang="id-ID" dirty="0" err="1" smtClean="0"/>
              <a:t>masukan</a:t>
            </a:r>
            <a:endParaRPr lang="en-US" altLang="id-ID" dirty="0" smtClean="0"/>
          </a:p>
          <a:p>
            <a:pPr>
              <a:lnSpc>
                <a:spcPct val="90000"/>
              </a:lnSpc>
            </a:pPr>
            <a:r>
              <a:rPr lang="en-US" altLang="id-ID" dirty="0" err="1" smtClean="0"/>
              <a:t>Karena</a:t>
            </a:r>
            <a:r>
              <a:rPr lang="en-US" altLang="id-ID" dirty="0" smtClean="0"/>
              <a:t> </a:t>
            </a:r>
            <a:r>
              <a:rPr lang="en-US" altLang="id-ID" dirty="0" err="1" smtClean="0"/>
              <a:t>memperkuat</a:t>
            </a:r>
            <a:r>
              <a:rPr lang="en-US" altLang="id-ID" dirty="0" smtClean="0"/>
              <a:t> </a:t>
            </a:r>
            <a:r>
              <a:rPr lang="en-US" altLang="id-ID" dirty="0" err="1" smtClean="0"/>
              <a:t>sinyal</a:t>
            </a:r>
            <a:r>
              <a:rPr lang="en-US" altLang="id-ID" dirty="0" smtClean="0"/>
              <a:t>, </a:t>
            </a:r>
            <a:r>
              <a:rPr lang="en-US" altLang="id-ID" dirty="0" err="1" smtClean="0"/>
              <a:t>maka</a:t>
            </a:r>
            <a:r>
              <a:rPr lang="en-US" altLang="id-ID" dirty="0" smtClean="0"/>
              <a:t> </a:t>
            </a:r>
            <a:r>
              <a:rPr lang="en-US" altLang="id-ID" dirty="0" err="1" smtClean="0"/>
              <a:t>cenderung</a:t>
            </a:r>
            <a:r>
              <a:rPr lang="en-US" altLang="id-ID" dirty="0" smtClean="0"/>
              <a:t> </a:t>
            </a:r>
            <a:r>
              <a:rPr lang="en-US" altLang="id-ID" dirty="0" err="1" smtClean="0"/>
              <a:t>tidak</a:t>
            </a:r>
            <a:r>
              <a:rPr lang="en-US" altLang="id-ID" dirty="0" smtClean="0"/>
              <a:t> </a:t>
            </a:r>
            <a:r>
              <a:rPr lang="en-US" altLang="id-ID" dirty="0" err="1" smtClean="0"/>
              <a:t>stabil</a:t>
            </a:r>
            <a:r>
              <a:rPr lang="en-US" altLang="id-ID" dirty="0" smtClean="0"/>
              <a:t>, </a:t>
            </a:r>
            <a:r>
              <a:rPr lang="en-US" altLang="id-ID" dirty="0" err="1" smtClean="0"/>
              <a:t>karena</a:t>
            </a:r>
            <a:r>
              <a:rPr lang="en-US" altLang="id-ID" dirty="0" smtClean="0"/>
              <a:t> </a:t>
            </a:r>
            <a:r>
              <a:rPr lang="en-US" altLang="id-ID" dirty="0" err="1" smtClean="0"/>
              <a:t>tidak</a:t>
            </a:r>
            <a:r>
              <a:rPr lang="en-US" altLang="id-ID" dirty="0" smtClean="0"/>
              <a:t> </a:t>
            </a:r>
            <a:r>
              <a:rPr lang="en-US" altLang="id-ID" dirty="0" err="1" smtClean="0"/>
              <a:t>stabil</a:t>
            </a:r>
            <a:r>
              <a:rPr lang="en-US" altLang="id-ID" dirty="0" smtClean="0"/>
              <a:t> </a:t>
            </a:r>
            <a:r>
              <a:rPr lang="en-US" altLang="id-ID" dirty="0" err="1" smtClean="0"/>
              <a:t>biasanya</a:t>
            </a:r>
            <a:r>
              <a:rPr lang="en-US" altLang="id-ID" dirty="0" smtClean="0"/>
              <a:t> </a:t>
            </a:r>
            <a:r>
              <a:rPr lang="en-US" altLang="id-ID" dirty="0" err="1" smtClean="0"/>
              <a:t>dipakai</a:t>
            </a:r>
            <a:r>
              <a:rPr lang="en-US" altLang="id-ID" dirty="0" smtClean="0"/>
              <a:t> </a:t>
            </a:r>
            <a:r>
              <a:rPr lang="en-US" altLang="id-ID" dirty="0" err="1" smtClean="0"/>
              <a:t>sebagai</a:t>
            </a:r>
            <a:r>
              <a:rPr lang="en-US" altLang="id-ID" dirty="0" smtClean="0"/>
              <a:t> </a:t>
            </a:r>
            <a:r>
              <a:rPr lang="en-US" altLang="id-ID" dirty="0" err="1" smtClean="0"/>
              <a:t>pembangkit</a:t>
            </a:r>
            <a:r>
              <a:rPr lang="en-US" altLang="id-ID" dirty="0" smtClean="0"/>
              <a:t> </a:t>
            </a:r>
            <a:r>
              <a:rPr lang="en-US" altLang="id-ID" dirty="0" err="1" smtClean="0"/>
              <a:t>sinyal</a:t>
            </a:r>
            <a:r>
              <a:rPr lang="en-US" altLang="id-ID" dirty="0" smtClean="0"/>
              <a:t> </a:t>
            </a:r>
            <a:r>
              <a:rPr lang="en-US" altLang="id-ID" dirty="0" err="1" smtClean="0"/>
              <a:t>atau</a:t>
            </a:r>
            <a:r>
              <a:rPr lang="en-US" altLang="id-ID" dirty="0" smtClean="0"/>
              <a:t> linier </a:t>
            </a:r>
            <a:r>
              <a:rPr lang="en-US" altLang="id-ID" dirty="0" err="1" smtClean="0"/>
              <a:t>osilator</a:t>
            </a:r>
            <a:endParaRPr lang="en-US" altLang="id-ID" dirty="0" smtClean="0"/>
          </a:p>
        </p:txBody>
      </p:sp>
    </p:spTree>
    <p:extLst>
      <p:ext uri="{BB962C8B-B14F-4D97-AF65-F5344CB8AC3E}">
        <p14:creationId xmlns:p14="http://schemas.microsoft.com/office/powerpoint/2010/main" val="15862281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id-ID" smtClean="0"/>
              <a:t>Pengertian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id-ID" sz="2400" dirty="0" err="1"/>
              <a:t>Osilator</a:t>
            </a:r>
            <a:r>
              <a:rPr lang="en-US" altLang="id-ID" sz="2400" dirty="0"/>
              <a:t> </a:t>
            </a:r>
            <a:r>
              <a:rPr lang="en-US" altLang="id-ID" sz="2400" dirty="0" err="1"/>
              <a:t>merupakan</a:t>
            </a:r>
            <a:r>
              <a:rPr lang="en-US" altLang="id-ID" sz="2400" dirty="0"/>
              <a:t> </a:t>
            </a:r>
            <a:r>
              <a:rPr lang="en-US" altLang="id-ID" sz="2400" dirty="0" err="1"/>
              <a:t>rangkaian</a:t>
            </a:r>
            <a:r>
              <a:rPr lang="en-US" altLang="id-ID" sz="2400" dirty="0"/>
              <a:t> </a:t>
            </a:r>
            <a:r>
              <a:rPr lang="en-US" altLang="id-ID" sz="2400" dirty="0" err="1"/>
              <a:t>penguat</a:t>
            </a:r>
            <a:r>
              <a:rPr lang="en-US" altLang="id-ID" sz="2400" dirty="0"/>
              <a:t> </a:t>
            </a:r>
            <a:r>
              <a:rPr lang="en-US" altLang="id-ID" sz="2400" dirty="0" err="1"/>
              <a:t>dengan</a:t>
            </a:r>
            <a:r>
              <a:rPr lang="en-US" altLang="id-ID" sz="2400" dirty="0"/>
              <a:t> </a:t>
            </a:r>
            <a:r>
              <a:rPr lang="en-US" altLang="id-ID" sz="2400" dirty="0" err="1"/>
              <a:t>umpan</a:t>
            </a:r>
            <a:r>
              <a:rPr lang="en-US" altLang="id-ID" sz="2400" dirty="0"/>
              <a:t> </a:t>
            </a:r>
            <a:r>
              <a:rPr lang="en-US" altLang="id-ID" sz="2400" dirty="0" err="1"/>
              <a:t>balik</a:t>
            </a:r>
            <a:r>
              <a:rPr lang="en-US" altLang="id-ID" sz="2400" dirty="0"/>
              <a:t> </a:t>
            </a:r>
            <a:r>
              <a:rPr lang="en-US" altLang="id-ID" sz="2400" dirty="0" err="1"/>
              <a:t>positif</a:t>
            </a:r>
            <a:r>
              <a:rPr lang="en-US" altLang="id-ID" sz="2400" dirty="0"/>
              <a:t>, </a:t>
            </a:r>
            <a:r>
              <a:rPr lang="en-US" altLang="id-ID" sz="2400" dirty="0" err="1"/>
              <a:t>fenomena</a:t>
            </a:r>
            <a:r>
              <a:rPr lang="en-US" altLang="id-ID" sz="2400" dirty="0"/>
              <a:t> </a:t>
            </a:r>
            <a:r>
              <a:rPr lang="en-US" altLang="id-ID" sz="2400" dirty="0" err="1"/>
              <a:t>osilasi</a:t>
            </a:r>
            <a:r>
              <a:rPr lang="en-US" altLang="id-ID" sz="2400" dirty="0"/>
              <a:t> </a:t>
            </a:r>
            <a:r>
              <a:rPr lang="en-US" altLang="id-ID" sz="2400" dirty="0" err="1"/>
              <a:t>tercipta</a:t>
            </a:r>
            <a:r>
              <a:rPr lang="en-US" altLang="id-ID" sz="2400" dirty="0"/>
              <a:t> </a:t>
            </a:r>
            <a:r>
              <a:rPr lang="en-US" altLang="id-ID" sz="2400" dirty="0" err="1"/>
              <a:t>karena</a:t>
            </a:r>
            <a:r>
              <a:rPr lang="en-US" altLang="id-ID" sz="2400" dirty="0"/>
              <a:t> </a:t>
            </a:r>
            <a:r>
              <a:rPr lang="en-US" altLang="id-ID" sz="2400" dirty="0" err="1"/>
              <a:t>ada</a:t>
            </a:r>
            <a:r>
              <a:rPr lang="en-US" altLang="id-ID" sz="2400" dirty="0"/>
              <a:t> </a:t>
            </a:r>
            <a:r>
              <a:rPr lang="en-US" altLang="id-ID" sz="2400" dirty="0" err="1"/>
              <a:t>ketidak-stabilan</a:t>
            </a:r>
            <a:r>
              <a:rPr lang="en-US" altLang="id-ID" sz="2400" dirty="0"/>
              <a:t> </a:t>
            </a:r>
            <a:r>
              <a:rPr lang="en-US" altLang="id-ID" sz="2400" dirty="0" err="1"/>
              <a:t>pada</a:t>
            </a:r>
            <a:r>
              <a:rPr lang="en-US" altLang="id-ID" sz="2400" dirty="0"/>
              <a:t> </a:t>
            </a:r>
            <a:r>
              <a:rPr lang="en-US" altLang="id-ID" sz="2400" dirty="0" err="1"/>
              <a:t>sistem</a:t>
            </a:r>
            <a:r>
              <a:rPr lang="en-US" altLang="id-ID" sz="2400" dirty="0"/>
              <a:t> </a:t>
            </a:r>
            <a:r>
              <a:rPr lang="en-US" altLang="id-ID" sz="2400" dirty="0" err="1"/>
              <a:t>penguat</a:t>
            </a:r>
            <a:r>
              <a:rPr lang="en-US" altLang="id-ID" sz="2400" dirty="0"/>
              <a:t> </a:t>
            </a:r>
            <a:r>
              <a:rPr lang="en-US" altLang="id-ID" sz="2400" dirty="0" err="1"/>
              <a:t>dengan</a:t>
            </a:r>
            <a:r>
              <a:rPr lang="en-US" altLang="id-ID" sz="2400" dirty="0"/>
              <a:t> </a:t>
            </a:r>
            <a:r>
              <a:rPr lang="en-US" altLang="id-ID" sz="2400" dirty="0" err="1"/>
              <a:t>umpan</a:t>
            </a:r>
            <a:r>
              <a:rPr lang="en-US" altLang="id-ID" sz="2400" dirty="0"/>
              <a:t> </a:t>
            </a:r>
            <a:r>
              <a:rPr lang="en-US" altLang="id-ID" sz="2400" dirty="0" err="1"/>
              <a:t>balik</a:t>
            </a:r>
            <a:r>
              <a:rPr lang="en-US" altLang="id-ID" dirty="0"/>
              <a:t> </a:t>
            </a:r>
            <a:endParaRPr lang="en-US" altLang="id-ID" sz="2400" dirty="0"/>
          </a:p>
          <a:p>
            <a:pPr>
              <a:lnSpc>
                <a:spcPct val="90000"/>
              </a:lnSpc>
            </a:pPr>
            <a:r>
              <a:rPr lang="en-US" altLang="id-ID" sz="2400" dirty="0" err="1"/>
              <a:t>Osilator</a:t>
            </a:r>
            <a:r>
              <a:rPr lang="en-US" altLang="id-ID" sz="2400" dirty="0"/>
              <a:t> </a:t>
            </a:r>
            <a:r>
              <a:rPr lang="en-US" altLang="id-ID" sz="2400" dirty="0" err="1"/>
              <a:t>adalah</a:t>
            </a:r>
            <a:r>
              <a:rPr lang="en-US" altLang="id-ID" sz="2400" dirty="0"/>
              <a:t> </a:t>
            </a:r>
            <a:r>
              <a:rPr lang="en-US" altLang="id-ID" sz="2400" dirty="0" err="1"/>
              <a:t>suatu</a:t>
            </a:r>
            <a:r>
              <a:rPr lang="en-US" altLang="id-ID" sz="2400" dirty="0"/>
              <a:t> </a:t>
            </a:r>
            <a:r>
              <a:rPr lang="en-US" altLang="id-ID" sz="2400" dirty="0" err="1"/>
              <a:t>rangkaian</a:t>
            </a:r>
            <a:r>
              <a:rPr lang="en-US" altLang="id-ID" sz="2400" dirty="0"/>
              <a:t> yang </a:t>
            </a:r>
            <a:r>
              <a:rPr lang="en-US" altLang="id-ID" sz="2400" dirty="0" err="1"/>
              <a:t>menghasilkan</a:t>
            </a:r>
            <a:r>
              <a:rPr lang="en-US" altLang="id-ID" sz="2400" dirty="0"/>
              <a:t> </a:t>
            </a:r>
            <a:r>
              <a:rPr lang="en-US" altLang="id-ID" sz="2400" dirty="0" err="1"/>
              <a:t>keluaran</a:t>
            </a:r>
            <a:r>
              <a:rPr lang="en-US" altLang="id-ID" sz="2400" dirty="0"/>
              <a:t> yang </a:t>
            </a:r>
            <a:r>
              <a:rPr lang="en-US" altLang="id-ID" sz="2400" dirty="0" err="1"/>
              <a:t>amplitudonya</a:t>
            </a:r>
            <a:r>
              <a:rPr lang="en-US" altLang="id-ID" sz="2400" dirty="0"/>
              <a:t> </a:t>
            </a:r>
            <a:r>
              <a:rPr lang="en-US" altLang="id-ID" sz="2400" dirty="0" err="1"/>
              <a:t>berubah-ubah</a:t>
            </a:r>
            <a:r>
              <a:rPr lang="en-US" altLang="id-ID" sz="2400" dirty="0"/>
              <a:t> </a:t>
            </a:r>
            <a:r>
              <a:rPr lang="en-US" altLang="id-ID" sz="2400" dirty="0" err="1"/>
              <a:t>secara</a:t>
            </a:r>
            <a:r>
              <a:rPr lang="en-US" altLang="id-ID" sz="2400" dirty="0"/>
              <a:t> </a:t>
            </a:r>
            <a:r>
              <a:rPr lang="en-US" altLang="id-ID" sz="2400" dirty="0" err="1"/>
              <a:t>periodik</a:t>
            </a:r>
            <a:r>
              <a:rPr lang="en-US" altLang="id-ID" sz="2400" dirty="0"/>
              <a:t> </a:t>
            </a:r>
            <a:r>
              <a:rPr lang="en-US" altLang="id-ID" sz="2400" dirty="0" err="1"/>
              <a:t>dengan</a:t>
            </a:r>
            <a:r>
              <a:rPr lang="en-US" altLang="id-ID" sz="2400" dirty="0"/>
              <a:t> </a:t>
            </a:r>
            <a:r>
              <a:rPr lang="en-US" altLang="id-ID" sz="2400" dirty="0" err="1"/>
              <a:t>waktu</a:t>
            </a:r>
            <a:r>
              <a:rPr lang="en-US" altLang="id-ID" sz="2400" dirty="0"/>
              <a:t>. </a:t>
            </a:r>
            <a:r>
              <a:rPr lang="en-US" altLang="id-ID" sz="2400" dirty="0" err="1"/>
              <a:t>Keluarannya</a:t>
            </a:r>
            <a:r>
              <a:rPr lang="en-US" altLang="id-ID" sz="2400" dirty="0"/>
              <a:t> </a:t>
            </a:r>
            <a:r>
              <a:rPr lang="en-US" altLang="id-ID" sz="2400" dirty="0" err="1"/>
              <a:t>bisa</a:t>
            </a:r>
            <a:r>
              <a:rPr lang="en-US" altLang="id-ID" sz="2400" dirty="0"/>
              <a:t> </a:t>
            </a:r>
            <a:r>
              <a:rPr lang="en-US" altLang="id-ID" sz="2400" dirty="0" err="1"/>
              <a:t>berupa</a:t>
            </a:r>
            <a:r>
              <a:rPr lang="en-US" altLang="id-ID" sz="2400" dirty="0"/>
              <a:t> </a:t>
            </a:r>
            <a:r>
              <a:rPr lang="en-US" altLang="id-ID" sz="2400" dirty="0" err="1"/>
              <a:t>gelombang</a:t>
            </a:r>
            <a:r>
              <a:rPr lang="en-US" altLang="id-ID" sz="2400" dirty="0"/>
              <a:t> </a:t>
            </a:r>
            <a:r>
              <a:rPr lang="en-US" altLang="id-ID" sz="2400" dirty="0" err="1"/>
              <a:t>sinusoida</a:t>
            </a:r>
            <a:r>
              <a:rPr lang="en-US" altLang="id-ID" sz="2400" dirty="0"/>
              <a:t>, </a:t>
            </a:r>
            <a:r>
              <a:rPr lang="en-US" altLang="id-ID" sz="2400" dirty="0" err="1"/>
              <a:t>gelombang</a:t>
            </a:r>
            <a:r>
              <a:rPr lang="en-US" altLang="id-ID" sz="2400" dirty="0"/>
              <a:t> </a:t>
            </a:r>
            <a:r>
              <a:rPr lang="en-US" altLang="id-ID" sz="2400" dirty="0" err="1"/>
              <a:t>persegi</a:t>
            </a:r>
            <a:r>
              <a:rPr lang="en-US" altLang="id-ID" sz="2400" dirty="0"/>
              <a:t>, </a:t>
            </a:r>
            <a:r>
              <a:rPr lang="en-US" altLang="id-ID" sz="2400" dirty="0" err="1"/>
              <a:t>gelombang</a:t>
            </a:r>
            <a:r>
              <a:rPr lang="en-US" altLang="id-ID" sz="2400" dirty="0"/>
              <a:t> </a:t>
            </a:r>
            <a:r>
              <a:rPr lang="en-US" altLang="id-ID" sz="2400" dirty="0" err="1"/>
              <a:t>pulsa</a:t>
            </a:r>
            <a:r>
              <a:rPr lang="en-US" altLang="id-ID" sz="2400" dirty="0"/>
              <a:t>, </a:t>
            </a:r>
            <a:r>
              <a:rPr lang="en-US" altLang="id-ID" sz="2400" dirty="0" err="1"/>
              <a:t>gelombang</a:t>
            </a:r>
            <a:r>
              <a:rPr lang="en-US" altLang="id-ID" sz="2400" dirty="0"/>
              <a:t> </a:t>
            </a:r>
            <a:r>
              <a:rPr lang="en-US" altLang="id-ID" sz="2400" dirty="0" err="1"/>
              <a:t>segitiga</a:t>
            </a:r>
            <a:r>
              <a:rPr lang="en-US" altLang="id-ID" sz="2400" dirty="0"/>
              <a:t> </a:t>
            </a:r>
            <a:r>
              <a:rPr lang="en-US" altLang="id-ID" sz="2400" dirty="0" err="1"/>
              <a:t>atau</a:t>
            </a:r>
            <a:r>
              <a:rPr lang="en-US" altLang="id-ID" sz="2400" dirty="0"/>
              <a:t> </a:t>
            </a:r>
            <a:r>
              <a:rPr lang="en-US" altLang="id-ID" sz="2400" dirty="0" err="1"/>
              <a:t>gelombang</a:t>
            </a:r>
            <a:r>
              <a:rPr lang="en-US" altLang="id-ID" sz="2400" dirty="0"/>
              <a:t> </a:t>
            </a:r>
            <a:r>
              <a:rPr lang="en-US" altLang="id-ID" sz="2400" dirty="0" err="1"/>
              <a:t>gigi</a:t>
            </a:r>
            <a:r>
              <a:rPr lang="en-US" altLang="id-ID" sz="2400" dirty="0"/>
              <a:t> </a:t>
            </a:r>
            <a:r>
              <a:rPr lang="en-US" altLang="id-ID" sz="2400" dirty="0" err="1"/>
              <a:t>gergaji</a:t>
            </a:r>
            <a:r>
              <a:rPr lang="en-US" altLang="id-ID" sz="2400" dirty="0"/>
              <a:t>, </a:t>
            </a:r>
          </a:p>
          <a:p>
            <a:pPr>
              <a:lnSpc>
                <a:spcPct val="90000"/>
              </a:lnSpc>
            </a:pPr>
            <a:r>
              <a:rPr lang="id-ID" altLang="id-ID" sz="2400" dirty="0"/>
              <a:t>Osilator merupakan rangkaian yang mengubah sinyal DC menjadi sinyal ac</a:t>
            </a:r>
          </a:p>
          <a:p>
            <a:pPr>
              <a:lnSpc>
                <a:spcPct val="90000"/>
              </a:lnSpc>
            </a:pPr>
            <a:endParaRPr lang="en-US" altLang="id-ID" sz="2400" dirty="0"/>
          </a:p>
          <a:p>
            <a:pPr>
              <a:lnSpc>
                <a:spcPct val="90000"/>
              </a:lnSpc>
            </a:pPr>
            <a:endParaRPr lang="en-US" altLang="id-ID" sz="2400" dirty="0"/>
          </a:p>
        </p:txBody>
      </p:sp>
    </p:spTree>
    <p:extLst>
      <p:ext uri="{BB962C8B-B14F-4D97-AF65-F5344CB8AC3E}">
        <p14:creationId xmlns:p14="http://schemas.microsoft.com/office/powerpoint/2010/main" val="21841271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id-ID" smtClean="0"/>
              <a:t>Rangkaian Dasar Osilator</a:t>
            </a:r>
          </a:p>
        </p:txBody>
      </p:sp>
      <p:sp>
        <p:nvSpPr>
          <p:cNvPr id="6148" name="Rectangle 5"/>
          <p:cNvSpPr>
            <a:spLocks noChangeArrowheads="1"/>
          </p:cNvSpPr>
          <p:nvPr/>
        </p:nvSpPr>
        <p:spPr bwMode="auto">
          <a:xfrm>
            <a:off x="1524001" y="2587109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id-ID" altLang="en-US"/>
          </a:p>
        </p:txBody>
      </p:sp>
      <p:graphicFrame>
        <p:nvGraphicFramePr>
          <p:cNvPr id="6149" name="Object 4"/>
          <p:cNvGraphicFramePr>
            <a:graphicFrameLocks noChangeAspect="1"/>
          </p:cNvGraphicFramePr>
          <p:nvPr/>
        </p:nvGraphicFramePr>
        <p:xfrm>
          <a:off x="2819400" y="1447801"/>
          <a:ext cx="3962400" cy="2003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56" name="Visio" r:id="rId4" imgW="2600249" imgH="1315822" progId="Visio.Drawing.11">
                  <p:embed/>
                </p:oleObj>
              </mc:Choice>
              <mc:Fallback>
                <p:oleObj name="Visio" r:id="rId4" imgW="2600249" imgH="1315822" progId="Visio.Drawing.11">
                  <p:embed/>
                  <p:pic>
                    <p:nvPicPr>
                      <p:cNvPr id="6149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9400" y="1447801"/>
                        <a:ext cx="3962400" cy="2003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50" name="Rectangle 7"/>
          <p:cNvSpPr>
            <a:spLocks noChangeArrowheads="1"/>
          </p:cNvSpPr>
          <p:nvPr/>
        </p:nvSpPr>
        <p:spPr bwMode="auto">
          <a:xfrm>
            <a:off x="1524001" y="242994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id-ID" altLang="en-US"/>
          </a:p>
        </p:txBody>
      </p:sp>
      <p:graphicFrame>
        <p:nvGraphicFramePr>
          <p:cNvPr id="6151" name="Object 6"/>
          <p:cNvGraphicFramePr>
            <a:graphicFrameLocks noChangeAspect="1"/>
          </p:cNvGraphicFramePr>
          <p:nvPr/>
        </p:nvGraphicFramePr>
        <p:xfrm>
          <a:off x="2667000" y="3429001"/>
          <a:ext cx="5791200" cy="3273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57" name="Equation" r:id="rId6" imgW="3289300" imgH="1854200" progId="Equation.3">
                  <p:embed/>
                </p:oleObj>
              </mc:Choice>
              <mc:Fallback>
                <p:oleObj name="Equation" r:id="rId6" imgW="3289300" imgH="1854200" progId="Equation.3">
                  <p:embed/>
                  <p:pic>
                    <p:nvPicPr>
                      <p:cNvPr id="6151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7000" y="3429001"/>
                        <a:ext cx="5791200" cy="3273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7291126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>
              <a:defRPr/>
            </a:pPr>
            <a:r>
              <a:rPr lang="id-ID" altLang="id-ID" sz="3800"/>
              <a:t>Syarat terjadinya osilasi </a:t>
            </a:r>
            <a:r>
              <a:rPr lang="en-US" altLang="id-ID" sz="3800"/>
              <a:t/>
            </a:r>
            <a:br>
              <a:rPr lang="en-US" altLang="id-ID" sz="3800"/>
            </a:br>
            <a:r>
              <a:rPr lang="id-ID" altLang="id-ID" sz="3800"/>
              <a:t>(kriteria Bark</a:t>
            </a:r>
            <a:r>
              <a:rPr lang="en-US" altLang="id-ID" sz="3800"/>
              <a:t>ha</a:t>
            </a:r>
            <a:r>
              <a:rPr lang="id-ID" altLang="id-ID" sz="3800"/>
              <a:t>usen) :</a:t>
            </a:r>
            <a:endParaRPr lang="en-US" altLang="id-ID" sz="3800"/>
          </a:p>
        </p:txBody>
      </p:sp>
      <p:sp>
        <p:nvSpPr>
          <p:cNvPr id="717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endParaRPr lang="en-US" altLang="id-ID" dirty="0" smtClean="0"/>
          </a:p>
          <a:p>
            <a:endParaRPr lang="en-US" altLang="id-ID" dirty="0" smtClean="0"/>
          </a:p>
          <a:p>
            <a:pPr marL="0" indent="0">
              <a:buNone/>
            </a:pPr>
            <a:r>
              <a:rPr lang="en-GB" altLang="id-ID" i="1" dirty="0" err="1" smtClean="0"/>
              <a:t>Kriteria</a:t>
            </a:r>
            <a:r>
              <a:rPr lang="en-GB" altLang="id-ID" i="1" dirty="0" smtClean="0"/>
              <a:t> </a:t>
            </a:r>
            <a:r>
              <a:rPr lang="en-GB" altLang="id-ID" i="1" dirty="0" err="1" smtClean="0"/>
              <a:t>Barkhausen</a:t>
            </a:r>
            <a:r>
              <a:rPr lang="en-GB" altLang="id-ID" dirty="0" smtClean="0"/>
              <a:t> </a:t>
            </a:r>
            <a:r>
              <a:rPr lang="en-GB" altLang="id-ID" dirty="0" err="1" smtClean="0"/>
              <a:t>digunakan</a:t>
            </a:r>
            <a:r>
              <a:rPr lang="en-GB" altLang="id-ID" dirty="0" smtClean="0"/>
              <a:t> </a:t>
            </a:r>
            <a:r>
              <a:rPr lang="en-GB" altLang="id-ID" dirty="0" err="1" smtClean="0"/>
              <a:t>untuk</a:t>
            </a:r>
            <a:r>
              <a:rPr lang="en-GB" altLang="id-ID" dirty="0" smtClean="0"/>
              <a:t> </a:t>
            </a:r>
            <a:r>
              <a:rPr lang="en-GB" altLang="id-ID" dirty="0" err="1" smtClean="0"/>
              <a:t>menentukan</a:t>
            </a:r>
            <a:r>
              <a:rPr lang="en-GB" altLang="id-ID" dirty="0" smtClean="0"/>
              <a:t> </a:t>
            </a:r>
            <a:r>
              <a:rPr lang="en-GB" altLang="id-ID" dirty="0" err="1" smtClean="0"/>
              <a:t>bagaimana</a:t>
            </a:r>
            <a:r>
              <a:rPr lang="en-GB" altLang="id-ID" dirty="0" smtClean="0"/>
              <a:t> </a:t>
            </a:r>
            <a:r>
              <a:rPr lang="en-GB" altLang="id-ID" dirty="0" err="1" smtClean="0"/>
              <a:t>membuat</a:t>
            </a:r>
            <a:r>
              <a:rPr lang="en-GB" altLang="id-ID" dirty="0" smtClean="0"/>
              <a:t> </a:t>
            </a:r>
            <a:r>
              <a:rPr lang="en-GB" altLang="id-ID" dirty="0" err="1" smtClean="0"/>
              <a:t>sistem</a:t>
            </a:r>
            <a:r>
              <a:rPr lang="en-GB" altLang="id-ID" dirty="0" smtClean="0"/>
              <a:t> </a:t>
            </a:r>
            <a:r>
              <a:rPr lang="en-GB" altLang="id-ID" dirty="0" err="1" smtClean="0"/>
              <a:t>berosilasi</a:t>
            </a:r>
            <a:r>
              <a:rPr lang="en-GB" altLang="id-ID" dirty="0" smtClean="0"/>
              <a:t> </a:t>
            </a:r>
            <a:r>
              <a:rPr lang="en-GB" altLang="id-ID" dirty="0" err="1" smtClean="0"/>
              <a:t>dan</a:t>
            </a:r>
            <a:r>
              <a:rPr lang="en-GB" altLang="id-ID" dirty="0" smtClean="0"/>
              <a:t> </a:t>
            </a:r>
            <a:r>
              <a:rPr lang="en-GB" altLang="id-ID" dirty="0" err="1" smtClean="0"/>
              <a:t>untuk</a:t>
            </a:r>
            <a:r>
              <a:rPr lang="en-GB" altLang="id-ID" dirty="0" smtClean="0"/>
              <a:t> </a:t>
            </a:r>
            <a:r>
              <a:rPr lang="en-GB" altLang="id-ID" dirty="0" err="1" smtClean="0"/>
              <a:t>mencari</a:t>
            </a:r>
            <a:r>
              <a:rPr lang="en-GB" altLang="id-ID" dirty="0" smtClean="0"/>
              <a:t> </a:t>
            </a:r>
            <a:r>
              <a:rPr lang="en-GB" altLang="id-ID" dirty="0" err="1" smtClean="0"/>
              <a:t>frekuensi</a:t>
            </a:r>
            <a:r>
              <a:rPr lang="en-GB" altLang="id-ID" dirty="0" smtClean="0"/>
              <a:t> </a:t>
            </a:r>
            <a:r>
              <a:rPr lang="en-GB" altLang="id-ID" dirty="0" err="1" smtClean="0"/>
              <a:t>sinusoida</a:t>
            </a:r>
            <a:r>
              <a:rPr lang="en-GB" altLang="id-ID" dirty="0" smtClean="0"/>
              <a:t> yang </a:t>
            </a:r>
            <a:r>
              <a:rPr lang="en-GB" altLang="id-ID" dirty="0" err="1" smtClean="0"/>
              <a:t>dibangkitkan</a:t>
            </a:r>
            <a:r>
              <a:rPr lang="en-US" altLang="id-ID" dirty="0" smtClean="0"/>
              <a:t> </a:t>
            </a:r>
          </a:p>
        </p:txBody>
      </p:sp>
      <p:pic>
        <p:nvPicPr>
          <p:cNvPr id="7172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200" y="1752600"/>
            <a:ext cx="8153400" cy="788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2809450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dirty="0" err="1" smtClean="0"/>
              <a:t>Jenis</a:t>
            </a:r>
            <a:r>
              <a:rPr lang="en-US" dirty="0" smtClean="0"/>
              <a:t>- </a:t>
            </a:r>
            <a:r>
              <a:rPr lang="en-US" dirty="0" err="1" smtClean="0"/>
              <a:t>Jenis</a:t>
            </a:r>
            <a:r>
              <a:rPr lang="en-US" dirty="0" smtClean="0"/>
              <a:t> </a:t>
            </a:r>
            <a:r>
              <a:rPr lang="en-US" dirty="0" err="1" smtClean="0"/>
              <a:t>Osilator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10464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id-ID" altLang="id-ID" smtClean="0"/>
              <a:t>Rangkaian Osilator Op-Amp RC</a:t>
            </a:r>
            <a:r>
              <a:rPr lang="en-US" altLang="id-ID" smtClean="0"/>
              <a:t> 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id-ID" altLang="id-ID" dirty="0" smtClean="0"/>
              <a:t>Osilator Jembatan Wien</a:t>
            </a:r>
            <a:r>
              <a:rPr lang="en-US" altLang="id-ID" dirty="0" smtClean="0"/>
              <a:t> </a:t>
            </a:r>
          </a:p>
        </p:txBody>
      </p:sp>
      <p:sp>
        <p:nvSpPr>
          <p:cNvPr id="8196" name="Rectangle 5"/>
          <p:cNvSpPr>
            <a:spLocks noChangeArrowheads="1"/>
          </p:cNvSpPr>
          <p:nvPr/>
        </p:nvSpPr>
        <p:spPr bwMode="auto">
          <a:xfrm>
            <a:off x="1524001" y="202989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id-ID" altLang="en-US"/>
          </a:p>
        </p:txBody>
      </p:sp>
      <p:graphicFrame>
        <p:nvGraphicFramePr>
          <p:cNvPr id="8197" name="Object 4"/>
          <p:cNvGraphicFramePr>
            <a:graphicFrameLocks noChangeAspect="1"/>
          </p:cNvGraphicFramePr>
          <p:nvPr/>
        </p:nvGraphicFramePr>
        <p:xfrm>
          <a:off x="2057400" y="2209800"/>
          <a:ext cx="4114800" cy="405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74" name="Visio" r:id="rId4" imgW="2914904" imgH="2873362" progId="Visio.Drawing.11">
                  <p:embed/>
                </p:oleObj>
              </mc:Choice>
              <mc:Fallback>
                <p:oleObj name="Visio" r:id="rId4" imgW="2914904" imgH="2873362" progId="Visio.Drawing.11">
                  <p:embed/>
                  <p:pic>
                    <p:nvPicPr>
                      <p:cNvPr id="8197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7400" y="2209800"/>
                        <a:ext cx="4114800" cy="4051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/>
          <p:cNvSpPr/>
          <p:nvPr/>
        </p:nvSpPr>
        <p:spPr>
          <a:xfrm>
            <a:off x="6267450" y="1600638"/>
            <a:ext cx="5227864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dirty="0" err="1">
                <a:solidFill>
                  <a:srgbClr val="555555"/>
                </a:solidFill>
              </a:rPr>
              <a:t>Osilator</a:t>
            </a:r>
            <a:r>
              <a:rPr lang="en-US" dirty="0">
                <a:solidFill>
                  <a:srgbClr val="555555"/>
                </a:solidFill>
              </a:rPr>
              <a:t> </a:t>
            </a:r>
            <a:r>
              <a:rPr lang="en-US" dirty="0" err="1">
                <a:solidFill>
                  <a:srgbClr val="555555"/>
                </a:solidFill>
              </a:rPr>
              <a:t>ini</a:t>
            </a:r>
            <a:r>
              <a:rPr lang="en-US" dirty="0">
                <a:solidFill>
                  <a:srgbClr val="555555"/>
                </a:solidFill>
              </a:rPr>
              <a:t> </a:t>
            </a:r>
            <a:r>
              <a:rPr lang="en-US" dirty="0" err="1">
                <a:solidFill>
                  <a:srgbClr val="555555"/>
                </a:solidFill>
              </a:rPr>
              <a:t>termasuk</a:t>
            </a:r>
            <a:r>
              <a:rPr lang="en-US" dirty="0">
                <a:solidFill>
                  <a:srgbClr val="555555"/>
                </a:solidFill>
              </a:rPr>
              <a:t> </a:t>
            </a:r>
            <a:r>
              <a:rPr lang="en-US" dirty="0" err="1">
                <a:solidFill>
                  <a:srgbClr val="555555"/>
                </a:solidFill>
              </a:rPr>
              <a:t>jenis</a:t>
            </a:r>
            <a:r>
              <a:rPr lang="en-US" dirty="0">
                <a:solidFill>
                  <a:srgbClr val="555555"/>
                </a:solidFill>
              </a:rPr>
              <a:t> </a:t>
            </a:r>
            <a:r>
              <a:rPr lang="en-US" dirty="0" err="1">
                <a:solidFill>
                  <a:srgbClr val="555555"/>
                </a:solidFill>
              </a:rPr>
              <a:t>osilator</a:t>
            </a:r>
            <a:r>
              <a:rPr lang="en-US" dirty="0">
                <a:solidFill>
                  <a:srgbClr val="555555"/>
                </a:solidFill>
              </a:rPr>
              <a:t> RC.  </a:t>
            </a:r>
            <a:r>
              <a:rPr lang="en-US" dirty="0" err="1">
                <a:solidFill>
                  <a:srgbClr val="555555"/>
                </a:solidFill>
              </a:rPr>
              <a:t>Osilator</a:t>
            </a:r>
            <a:r>
              <a:rPr lang="en-US" dirty="0">
                <a:solidFill>
                  <a:srgbClr val="555555"/>
                </a:solidFill>
              </a:rPr>
              <a:t> </a:t>
            </a:r>
            <a:r>
              <a:rPr lang="en-US" dirty="0" err="1">
                <a:solidFill>
                  <a:srgbClr val="555555"/>
                </a:solidFill>
              </a:rPr>
              <a:t>jembatan</a:t>
            </a:r>
            <a:r>
              <a:rPr lang="en-US" dirty="0">
                <a:solidFill>
                  <a:srgbClr val="555555"/>
                </a:solidFill>
              </a:rPr>
              <a:t> Wien </a:t>
            </a:r>
            <a:r>
              <a:rPr lang="en-US" dirty="0" err="1">
                <a:solidFill>
                  <a:srgbClr val="555555"/>
                </a:solidFill>
              </a:rPr>
              <a:t>disebut</a:t>
            </a:r>
            <a:r>
              <a:rPr lang="en-US" dirty="0">
                <a:solidFill>
                  <a:srgbClr val="555555"/>
                </a:solidFill>
              </a:rPr>
              <a:t> juga </a:t>
            </a:r>
            <a:r>
              <a:rPr lang="en-US" dirty="0" err="1">
                <a:solidFill>
                  <a:srgbClr val="555555"/>
                </a:solidFill>
              </a:rPr>
              <a:t>osilator</a:t>
            </a:r>
            <a:r>
              <a:rPr lang="en-US" dirty="0">
                <a:solidFill>
                  <a:srgbClr val="555555"/>
                </a:solidFill>
              </a:rPr>
              <a:t>  “Twin-T” </a:t>
            </a:r>
            <a:r>
              <a:rPr lang="en-US" dirty="0" err="1">
                <a:solidFill>
                  <a:srgbClr val="555555"/>
                </a:solidFill>
              </a:rPr>
              <a:t>karena</a:t>
            </a:r>
            <a:r>
              <a:rPr lang="en-US" dirty="0">
                <a:solidFill>
                  <a:srgbClr val="555555"/>
                </a:solidFill>
              </a:rPr>
              <a:t> </a:t>
            </a:r>
            <a:r>
              <a:rPr lang="en-US" dirty="0" err="1">
                <a:solidFill>
                  <a:srgbClr val="555555"/>
                </a:solidFill>
              </a:rPr>
              <a:t>menggunakan</a:t>
            </a:r>
            <a:r>
              <a:rPr lang="en-US" dirty="0">
                <a:solidFill>
                  <a:srgbClr val="555555"/>
                </a:solidFill>
              </a:rPr>
              <a:t> </a:t>
            </a:r>
            <a:r>
              <a:rPr lang="en-US" dirty="0" err="1">
                <a:solidFill>
                  <a:srgbClr val="555555"/>
                </a:solidFill>
              </a:rPr>
              <a:t>dua</a:t>
            </a:r>
            <a:r>
              <a:rPr lang="en-US" dirty="0">
                <a:solidFill>
                  <a:srgbClr val="555555"/>
                </a:solidFill>
              </a:rPr>
              <a:t> “T” </a:t>
            </a:r>
            <a:r>
              <a:rPr lang="en-US" dirty="0" err="1">
                <a:solidFill>
                  <a:srgbClr val="555555"/>
                </a:solidFill>
              </a:rPr>
              <a:t>sirkuit</a:t>
            </a:r>
            <a:r>
              <a:rPr lang="en-US" dirty="0">
                <a:solidFill>
                  <a:srgbClr val="555555"/>
                </a:solidFill>
              </a:rPr>
              <a:t> RC </a:t>
            </a:r>
            <a:r>
              <a:rPr lang="en-US" dirty="0" err="1">
                <a:solidFill>
                  <a:srgbClr val="555555"/>
                </a:solidFill>
              </a:rPr>
              <a:t>beroperasi</a:t>
            </a:r>
            <a:r>
              <a:rPr lang="en-US" dirty="0">
                <a:solidFill>
                  <a:srgbClr val="555555"/>
                </a:solidFill>
              </a:rPr>
              <a:t> </a:t>
            </a:r>
            <a:r>
              <a:rPr lang="en-US" dirty="0" err="1">
                <a:solidFill>
                  <a:srgbClr val="555555"/>
                </a:solidFill>
              </a:rPr>
              <a:t>secara</a:t>
            </a:r>
            <a:r>
              <a:rPr lang="en-US" dirty="0">
                <a:solidFill>
                  <a:srgbClr val="555555"/>
                </a:solidFill>
              </a:rPr>
              <a:t> </a:t>
            </a:r>
            <a:r>
              <a:rPr lang="en-US" dirty="0" err="1">
                <a:solidFill>
                  <a:srgbClr val="555555"/>
                </a:solidFill>
              </a:rPr>
              <a:t>paralel</a:t>
            </a:r>
            <a:r>
              <a:rPr lang="en-US" dirty="0">
                <a:solidFill>
                  <a:srgbClr val="555555"/>
                </a:solidFill>
              </a:rPr>
              <a:t>. </a:t>
            </a:r>
            <a:r>
              <a:rPr lang="en-US" dirty="0" err="1">
                <a:solidFill>
                  <a:srgbClr val="555555"/>
                </a:solidFill>
              </a:rPr>
              <a:t>Satu</a:t>
            </a:r>
            <a:r>
              <a:rPr lang="en-US" dirty="0">
                <a:solidFill>
                  <a:srgbClr val="555555"/>
                </a:solidFill>
              </a:rPr>
              <a:t> </a:t>
            </a:r>
            <a:r>
              <a:rPr lang="en-US" dirty="0" err="1">
                <a:solidFill>
                  <a:srgbClr val="555555"/>
                </a:solidFill>
              </a:rPr>
              <a:t>rangkaian</a:t>
            </a:r>
            <a:r>
              <a:rPr lang="en-US" dirty="0">
                <a:solidFill>
                  <a:srgbClr val="555555"/>
                </a:solidFill>
              </a:rPr>
              <a:t> </a:t>
            </a:r>
            <a:r>
              <a:rPr lang="en-US" dirty="0" err="1">
                <a:solidFill>
                  <a:srgbClr val="555555"/>
                </a:solidFill>
              </a:rPr>
              <a:t>adalah</a:t>
            </a:r>
            <a:r>
              <a:rPr lang="en-US" dirty="0">
                <a:solidFill>
                  <a:srgbClr val="555555"/>
                </a:solidFill>
              </a:rPr>
              <a:t> </a:t>
            </a:r>
            <a:r>
              <a:rPr lang="en-US" dirty="0" err="1">
                <a:solidFill>
                  <a:srgbClr val="555555"/>
                </a:solidFill>
              </a:rPr>
              <a:t>sebuah</a:t>
            </a:r>
            <a:r>
              <a:rPr lang="en-US" dirty="0">
                <a:solidFill>
                  <a:srgbClr val="555555"/>
                </a:solidFill>
              </a:rPr>
              <a:t> RCR “T” yang </a:t>
            </a:r>
            <a:r>
              <a:rPr lang="en-US" dirty="0" err="1">
                <a:solidFill>
                  <a:srgbClr val="555555"/>
                </a:solidFill>
              </a:rPr>
              <a:t>bertindak</a:t>
            </a:r>
            <a:r>
              <a:rPr lang="en-US" dirty="0">
                <a:solidFill>
                  <a:srgbClr val="555555"/>
                </a:solidFill>
              </a:rPr>
              <a:t> </a:t>
            </a:r>
            <a:r>
              <a:rPr lang="en-US" dirty="0" err="1">
                <a:solidFill>
                  <a:srgbClr val="555555"/>
                </a:solidFill>
              </a:rPr>
              <a:t>sebagai</a:t>
            </a:r>
            <a:r>
              <a:rPr lang="en-US" dirty="0">
                <a:solidFill>
                  <a:srgbClr val="555555"/>
                </a:solidFill>
              </a:rPr>
              <a:t> filter low-pass. </a:t>
            </a:r>
            <a:r>
              <a:rPr lang="en-US" dirty="0" err="1">
                <a:solidFill>
                  <a:srgbClr val="555555"/>
                </a:solidFill>
              </a:rPr>
              <a:t>Rangkaian</a:t>
            </a:r>
            <a:r>
              <a:rPr lang="en-US" dirty="0">
                <a:solidFill>
                  <a:srgbClr val="555555"/>
                </a:solidFill>
              </a:rPr>
              <a:t> </a:t>
            </a:r>
            <a:r>
              <a:rPr lang="en-US" dirty="0" err="1">
                <a:solidFill>
                  <a:srgbClr val="555555"/>
                </a:solidFill>
              </a:rPr>
              <a:t>kedua</a:t>
            </a:r>
            <a:r>
              <a:rPr lang="en-US" dirty="0">
                <a:solidFill>
                  <a:srgbClr val="555555"/>
                </a:solidFill>
              </a:rPr>
              <a:t> </a:t>
            </a:r>
            <a:r>
              <a:rPr lang="en-US" dirty="0" err="1">
                <a:solidFill>
                  <a:srgbClr val="555555"/>
                </a:solidFill>
              </a:rPr>
              <a:t>adalah</a:t>
            </a:r>
            <a:r>
              <a:rPr lang="en-US" dirty="0">
                <a:solidFill>
                  <a:srgbClr val="555555"/>
                </a:solidFill>
              </a:rPr>
              <a:t> CRC “T” yang </a:t>
            </a:r>
            <a:r>
              <a:rPr lang="en-US" dirty="0" err="1">
                <a:solidFill>
                  <a:srgbClr val="555555"/>
                </a:solidFill>
              </a:rPr>
              <a:t>beroperasi</a:t>
            </a:r>
            <a:r>
              <a:rPr lang="en-US" dirty="0">
                <a:solidFill>
                  <a:srgbClr val="555555"/>
                </a:solidFill>
              </a:rPr>
              <a:t> </a:t>
            </a:r>
            <a:r>
              <a:rPr lang="en-US" dirty="0" err="1">
                <a:solidFill>
                  <a:srgbClr val="555555"/>
                </a:solidFill>
              </a:rPr>
              <a:t>sebagai</a:t>
            </a:r>
            <a:r>
              <a:rPr lang="en-US" dirty="0">
                <a:solidFill>
                  <a:srgbClr val="555555"/>
                </a:solidFill>
              </a:rPr>
              <a:t> </a:t>
            </a:r>
            <a:r>
              <a:rPr lang="en-US" dirty="0" err="1">
                <a:solidFill>
                  <a:srgbClr val="555555"/>
                </a:solidFill>
              </a:rPr>
              <a:t>penyaring</a:t>
            </a:r>
            <a:r>
              <a:rPr lang="en-US" dirty="0">
                <a:solidFill>
                  <a:srgbClr val="555555"/>
                </a:solidFill>
              </a:rPr>
              <a:t> </a:t>
            </a:r>
            <a:r>
              <a:rPr lang="en-US" dirty="0" err="1">
                <a:solidFill>
                  <a:srgbClr val="555555"/>
                </a:solidFill>
              </a:rPr>
              <a:t>bernilai</a:t>
            </a:r>
            <a:r>
              <a:rPr lang="en-US" dirty="0">
                <a:solidFill>
                  <a:srgbClr val="555555"/>
                </a:solidFill>
              </a:rPr>
              <a:t> </a:t>
            </a:r>
            <a:r>
              <a:rPr lang="en-US" dirty="0" err="1">
                <a:solidFill>
                  <a:srgbClr val="555555"/>
                </a:solidFill>
              </a:rPr>
              <a:t>tinggi</a:t>
            </a:r>
            <a:r>
              <a:rPr lang="en-US" dirty="0">
                <a:solidFill>
                  <a:srgbClr val="555555"/>
                </a:solidFill>
              </a:rPr>
              <a:t>. </a:t>
            </a:r>
            <a:r>
              <a:rPr lang="en-US" dirty="0" err="1">
                <a:solidFill>
                  <a:srgbClr val="555555"/>
                </a:solidFill>
              </a:rPr>
              <a:t>Bersama-sama</a:t>
            </a:r>
            <a:r>
              <a:rPr lang="en-US" dirty="0">
                <a:solidFill>
                  <a:srgbClr val="555555"/>
                </a:solidFill>
              </a:rPr>
              <a:t>, </a:t>
            </a:r>
            <a:r>
              <a:rPr lang="en-US" dirty="0" err="1">
                <a:solidFill>
                  <a:srgbClr val="555555"/>
                </a:solidFill>
              </a:rPr>
              <a:t>sirkuit</a:t>
            </a:r>
            <a:r>
              <a:rPr lang="en-US" dirty="0">
                <a:solidFill>
                  <a:srgbClr val="555555"/>
                </a:solidFill>
              </a:rPr>
              <a:t> </a:t>
            </a:r>
            <a:r>
              <a:rPr lang="en-US" dirty="0" err="1">
                <a:solidFill>
                  <a:srgbClr val="555555"/>
                </a:solidFill>
              </a:rPr>
              <a:t>ini</a:t>
            </a:r>
            <a:r>
              <a:rPr lang="en-US" dirty="0">
                <a:solidFill>
                  <a:srgbClr val="555555"/>
                </a:solidFill>
              </a:rPr>
              <a:t> </a:t>
            </a:r>
            <a:r>
              <a:rPr lang="en-US" dirty="0" err="1">
                <a:solidFill>
                  <a:srgbClr val="555555"/>
                </a:solidFill>
              </a:rPr>
              <a:t>membentuk</a:t>
            </a:r>
            <a:r>
              <a:rPr lang="en-US" dirty="0">
                <a:solidFill>
                  <a:srgbClr val="555555"/>
                </a:solidFill>
              </a:rPr>
              <a:t> </a:t>
            </a:r>
            <a:r>
              <a:rPr lang="en-US" dirty="0" err="1">
                <a:solidFill>
                  <a:srgbClr val="555555"/>
                </a:solidFill>
              </a:rPr>
              <a:t>sebuah</a:t>
            </a:r>
            <a:r>
              <a:rPr lang="en-US" dirty="0">
                <a:solidFill>
                  <a:srgbClr val="555555"/>
                </a:solidFill>
              </a:rPr>
              <a:t> </a:t>
            </a:r>
            <a:r>
              <a:rPr lang="en-US" dirty="0" err="1">
                <a:solidFill>
                  <a:srgbClr val="555555"/>
                </a:solidFill>
              </a:rPr>
              <a:t>jembatan</a:t>
            </a:r>
            <a:r>
              <a:rPr lang="en-US" dirty="0">
                <a:solidFill>
                  <a:srgbClr val="555555"/>
                </a:solidFill>
              </a:rPr>
              <a:t> yang </a:t>
            </a:r>
            <a:r>
              <a:rPr lang="en-US" dirty="0" err="1">
                <a:solidFill>
                  <a:srgbClr val="555555"/>
                </a:solidFill>
              </a:rPr>
              <a:t>disetel</a:t>
            </a:r>
            <a:r>
              <a:rPr lang="en-US" dirty="0">
                <a:solidFill>
                  <a:srgbClr val="555555"/>
                </a:solidFill>
              </a:rPr>
              <a:t> </a:t>
            </a:r>
            <a:r>
              <a:rPr lang="en-US" dirty="0" err="1">
                <a:solidFill>
                  <a:srgbClr val="555555"/>
                </a:solidFill>
              </a:rPr>
              <a:t>pada</a:t>
            </a:r>
            <a:r>
              <a:rPr lang="en-US" dirty="0">
                <a:solidFill>
                  <a:srgbClr val="555555"/>
                </a:solidFill>
              </a:rPr>
              <a:t> </a:t>
            </a:r>
            <a:r>
              <a:rPr lang="en-US" dirty="0" err="1">
                <a:solidFill>
                  <a:srgbClr val="555555"/>
                </a:solidFill>
              </a:rPr>
              <a:t>frekuensi</a:t>
            </a:r>
            <a:r>
              <a:rPr lang="en-US" dirty="0">
                <a:solidFill>
                  <a:srgbClr val="555555"/>
                </a:solidFill>
              </a:rPr>
              <a:t> </a:t>
            </a:r>
            <a:r>
              <a:rPr lang="en-US" dirty="0" err="1">
                <a:solidFill>
                  <a:srgbClr val="555555"/>
                </a:solidFill>
              </a:rPr>
              <a:t>osilasi</a:t>
            </a:r>
            <a:r>
              <a:rPr lang="en-US" dirty="0">
                <a:solidFill>
                  <a:srgbClr val="555555"/>
                </a:solidFill>
              </a:rPr>
              <a:t> yang </a:t>
            </a:r>
            <a:r>
              <a:rPr lang="en-US" dirty="0" err="1">
                <a:solidFill>
                  <a:srgbClr val="555555"/>
                </a:solidFill>
              </a:rPr>
              <a:t>diinginkan</a:t>
            </a:r>
            <a:r>
              <a:rPr lang="en-US" dirty="0">
                <a:solidFill>
                  <a:srgbClr val="555555"/>
                </a:solidFill>
              </a:rPr>
              <a:t>. </a:t>
            </a:r>
            <a:r>
              <a:rPr lang="en-US" dirty="0" err="1">
                <a:solidFill>
                  <a:srgbClr val="555555"/>
                </a:solidFill>
              </a:rPr>
              <a:t>Sinyal</a:t>
            </a:r>
            <a:r>
              <a:rPr lang="en-US" dirty="0">
                <a:solidFill>
                  <a:srgbClr val="555555"/>
                </a:solidFill>
              </a:rPr>
              <a:t> di </a:t>
            </a:r>
            <a:r>
              <a:rPr lang="en-US" dirty="0" err="1">
                <a:solidFill>
                  <a:srgbClr val="555555"/>
                </a:solidFill>
              </a:rPr>
              <a:t>cabang</a:t>
            </a:r>
            <a:r>
              <a:rPr lang="en-US" dirty="0">
                <a:solidFill>
                  <a:srgbClr val="555555"/>
                </a:solidFill>
              </a:rPr>
              <a:t> CRC </a:t>
            </a:r>
            <a:r>
              <a:rPr lang="en-US" dirty="0" err="1">
                <a:solidFill>
                  <a:srgbClr val="555555"/>
                </a:solidFill>
              </a:rPr>
              <a:t>dari</a:t>
            </a:r>
            <a:r>
              <a:rPr lang="en-US" dirty="0">
                <a:solidFill>
                  <a:srgbClr val="555555"/>
                </a:solidFill>
              </a:rPr>
              <a:t> filter Twin-T yang </a:t>
            </a:r>
            <a:r>
              <a:rPr lang="en-US" dirty="0" err="1">
                <a:solidFill>
                  <a:srgbClr val="555555"/>
                </a:solidFill>
              </a:rPr>
              <a:t>maju</a:t>
            </a:r>
            <a:r>
              <a:rPr lang="en-US" dirty="0">
                <a:solidFill>
                  <a:srgbClr val="555555"/>
                </a:solidFill>
              </a:rPr>
              <a:t>, di RCR </a:t>
            </a:r>
            <a:r>
              <a:rPr lang="en-US" dirty="0" err="1">
                <a:solidFill>
                  <a:srgbClr val="555555"/>
                </a:solidFill>
              </a:rPr>
              <a:t>itu</a:t>
            </a:r>
            <a:r>
              <a:rPr lang="en-US" dirty="0">
                <a:solidFill>
                  <a:srgbClr val="555555"/>
                </a:solidFill>
              </a:rPr>
              <a:t> – </a:t>
            </a:r>
            <a:r>
              <a:rPr lang="en-US" dirty="0" err="1">
                <a:solidFill>
                  <a:srgbClr val="555555"/>
                </a:solidFill>
              </a:rPr>
              <a:t>tertunda</a:t>
            </a:r>
            <a:r>
              <a:rPr lang="en-US" dirty="0">
                <a:solidFill>
                  <a:srgbClr val="555555"/>
                </a:solidFill>
              </a:rPr>
              <a:t>, </a:t>
            </a:r>
            <a:r>
              <a:rPr lang="en-US" dirty="0" err="1">
                <a:solidFill>
                  <a:srgbClr val="555555"/>
                </a:solidFill>
              </a:rPr>
              <a:t>sehingga</a:t>
            </a:r>
            <a:r>
              <a:rPr lang="en-US" dirty="0">
                <a:solidFill>
                  <a:srgbClr val="555555"/>
                </a:solidFill>
              </a:rPr>
              <a:t> </a:t>
            </a:r>
            <a:r>
              <a:rPr lang="en-US" dirty="0" err="1">
                <a:solidFill>
                  <a:srgbClr val="555555"/>
                </a:solidFill>
              </a:rPr>
              <a:t>mereka</a:t>
            </a:r>
            <a:r>
              <a:rPr lang="en-US" dirty="0">
                <a:solidFill>
                  <a:srgbClr val="555555"/>
                </a:solidFill>
              </a:rPr>
              <a:t> </a:t>
            </a:r>
            <a:r>
              <a:rPr lang="en-US" dirty="0" err="1">
                <a:solidFill>
                  <a:srgbClr val="555555"/>
                </a:solidFill>
              </a:rPr>
              <a:t>dapat</a:t>
            </a:r>
            <a:r>
              <a:rPr lang="en-US" dirty="0">
                <a:solidFill>
                  <a:srgbClr val="555555"/>
                </a:solidFill>
              </a:rPr>
              <a:t> </a:t>
            </a:r>
            <a:r>
              <a:rPr lang="en-US" dirty="0" err="1">
                <a:solidFill>
                  <a:srgbClr val="555555"/>
                </a:solidFill>
              </a:rPr>
              <a:t>melemahkan</a:t>
            </a:r>
            <a:r>
              <a:rPr lang="en-US" dirty="0">
                <a:solidFill>
                  <a:srgbClr val="555555"/>
                </a:solidFill>
              </a:rPr>
              <a:t> </a:t>
            </a:r>
            <a:r>
              <a:rPr lang="en-US" dirty="0" err="1">
                <a:solidFill>
                  <a:srgbClr val="555555"/>
                </a:solidFill>
              </a:rPr>
              <a:t>satu</a:t>
            </a:r>
            <a:r>
              <a:rPr lang="en-US" dirty="0">
                <a:solidFill>
                  <a:srgbClr val="555555"/>
                </a:solidFill>
              </a:rPr>
              <a:t> </a:t>
            </a:r>
            <a:r>
              <a:rPr lang="en-US" dirty="0" err="1">
                <a:solidFill>
                  <a:srgbClr val="555555"/>
                </a:solidFill>
              </a:rPr>
              <a:t>sama</a:t>
            </a:r>
            <a:r>
              <a:rPr lang="en-US" dirty="0">
                <a:solidFill>
                  <a:srgbClr val="555555"/>
                </a:solidFill>
              </a:rPr>
              <a:t> lain </a:t>
            </a:r>
            <a:r>
              <a:rPr lang="en-US" dirty="0" err="1">
                <a:solidFill>
                  <a:srgbClr val="555555"/>
                </a:solidFill>
              </a:rPr>
              <a:t>pada</a:t>
            </a:r>
            <a:r>
              <a:rPr lang="en-US" dirty="0">
                <a:solidFill>
                  <a:srgbClr val="555555"/>
                </a:solidFill>
              </a:rPr>
              <a:t> </a:t>
            </a:r>
            <a:r>
              <a:rPr lang="en-US" dirty="0" err="1">
                <a:solidFill>
                  <a:srgbClr val="555555"/>
                </a:solidFill>
              </a:rPr>
              <a:t>frekuensi</a:t>
            </a:r>
            <a:r>
              <a:rPr lang="en-US" dirty="0">
                <a:solidFill>
                  <a:srgbClr val="555555"/>
                </a:solidFill>
              </a:rPr>
              <a:t> </a:t>
            </a:r>
            <a:r>
              <a:rPr lang="en-US" dirty="0" err="1">
                <a:solidFill>
                  <a:srgbClr val="555555"/>
                </a:solidFill>
              </a:rPr>
              <a:t>tertentu</a:t>
            </a:r>
            <a:r>
              <a:rPr lang="en-US" dirty="0">
                <a:solidFill>
                  <a:srgbClr val="555555"/>
                </a:solidFill>
              </a:rPr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05420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20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3601" y="1600200"/>
            <a:ext cx="3656013" cy="441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0113062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4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7400" y="1524000"/>
            <a:ext cx="7924800" cy="396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811565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ontent Placeholder 1">
            <a:hlinkClick r:id="rId4" action="ppaction://hlinkfile"/>
          </p:cNvPr>
          <p:cNvGraphicFramePr>
            <a:graphicFrameLocks noGrp="1" noChangeAspect="1"/>
          </p:cNvGraphicFramePr>
          <p:nvPr>
            <p:ph idx="1"/>
            <p:extLst/>
          </p:nvPr>
        </p:nvGraphicFramePr>
        <p:xfrm>
          <a:off x="4940300" y="3659188"/>
          <a:ext cx="2311400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798" name="Packager Shell Object" showAsIcon="1" r:id="rId5" imgW="2311920" imgH="685800" progId="Package">
                  <p:embed/>
                </p:oleObj>
              </mc:Choice>
              <mc:Fallback>
                <p:oleObj name="Packager Shell Object" showAsIcon="1" r:id="rId5" imgW="2311920" imgH="685800" progId="Package">
                  <p:embed/>
                  <p:pic>
                    <p:nvPicPr>
                      <p:cNvPr id="2" name="Content Placeholder 1">
                        <a:hlinkClick r:id="" action="ppaction://hlinkfile"/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940300" y="3659188"/>
                        <a:ext cx="2311400" cy="685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1268" name="Picture 4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3600" y="1524000"/>
            <a:ext cx="6400800" cy="3143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970701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>
          <a:xfrm>
            <a:off x="723900" y="220026"/>
            <a:ext cx="10515600" cy="1325563"/>
          </a:xfrm>
        </p:spPr>
        <p:txBody>
          <a:bodyPr/>
          <a:lstStyle/>
          <a:p>
            <a:r>
              <a:rPr lang="en-US" altLang="id-ID" dirty="0" err="1" smtClean="0"/>
              <a:t>Jembatan</a:t>
            </a:r>
            <a:r>
              <a:rPr lang="en-US" altLang="id-ID" dirty="0" smtClean="0"/>
              <a:t> </a:t>
            </a:r>
            <a:r>
              <a:rPr lang="en-US" altLang="id-ID" dirty="0" smtClean="0"/>
              <a:t>???</a:t>
            </a:r>
          </a:p>
        </p:txBody>
      </p:sp>
      <p:pic>
        <p:nvPicPr>
          <p:cNvPr id="12292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8400" y="1545589"/>
            <a:ext cx="7086600" cy="41862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2078099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8857" y="1614715"/>
            <a:ext cx="3514286" cy="3628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33942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 startAt="2"/>
            </a:pPr>
            <a:r>
              <a:rPr lang="id-ID" dirty="0"/>
              <a:t>Osilator Penggeser Phasa</a:t>
            </a:r>
            <a:endParaRPr lang="en-US" dirty="0"/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>
            <p:extLst/>
          </p:nvPr>
        </p:nvGraphicFramePr>
        <p:xfrm>
          <a:off x="2152651" y="2774629"/>
          <a:ext cx="4479511" cy="25695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22" name="Visio" r:id="rId3" imgW="3668496" imgH="2105482" progId="Visio.Drawing.11">
                  <p:embed/>
                </p:oleObj>
              </mc:Choice>
              <mc:Fallback>
                <p:oleObj name="Visio" r:id="rId3" imgW="3668496" imgH="2105482" progId="Visio.Drawing.11">
                  <p:embed/>
                  <p:pic>
                    <p:nvPicPr>
                      <p:cNvPr id="5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52651" y="2774629"/>
                        <a:ext cx="4479511" cy="256953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5"/>
          <p:cNvSpPr/>
          <p:nvPr/>
        </p:nvSpPr>
        <p:spPr>
          <a:xfrm>
            <a:off x="7086600" y="2231082"/>
            <a:ext cx="3200400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dirty="0" err="1">
                <a:solidFill>
                  <a:srgbClr val="555555"/>
                </a:solidFill>
              </a:rPr>
              <a:t>Osilator</a:t>
            </a:r>
            <a:r>
              <a:rPr lang="en-US" dirty="0">
                <a:solidFill>
                  <a:srgbClr val="555555"/>
                </a:solidFill>
              </a:rPr>
              <a:t> </a:t>
            </a:r>
            <a:r>
              <a:rPr lang="en-US" dirty="0" err="1">
                <a:solidFill>
                  <a:srgbClr val="555555"/>
                </a:solidFill>
              </a:rPr>
              <a:t>pergeseran</a:t>
            </a:r>
            <a:r>
              <a:rPr lang="en-US" dirty="0">
                <a:solidFill>
                  <a:srgbClr val="555555"/>
                </a:solidFill>
              </a:rPr>
              <a:t> </a:t>
            </a:r>
            <a:r>
              <a:rPr lang="en-US" dirty="0" err="1">
                <a:solidFill>
                  <a:srgbClr val="555555"/>
                </a:solidFill>
              </a:rPr>
              <a:t>fasa</a:t>
            </a:r>
            <a:r>
              <a:rPr lang="en-US" dirty="0">
                <a:solidFill>
                  <a:srgbClr val="555555"/>
                </a:solidFill>
              </a:rPr>
              <a:t> </a:t>
            </a:r>
            <a:r>
              <a:rPr lang="en-US" dirty="0" err="1">
                <a:solidFill>
                  <a:srgbClr val="555555"/>
                </a:solidFill>
              </a:rPr>
              <a:t>termasuk</a:t>
            </a:r>
            <a:r>
              <a:rPr lang="en-US" dirty="0">
                <a:solidFill>
                  <a:srgbClr val="555555"/>
                </a:solidFill>
              </a:rPr>
              <a:t> </a:t>
            </a:r>
            <a:r>
              <a:rPr lang="en-US" dirty="0" err="1">
                <a:solidFill>
                  <a:srgbClr val="555555"/>
                </a:solidFill>
              </a:rPr>
              <a:t>jenis</a:t>
            </a:r>
            <a:r>
              <a:rPr lang="en-US" dirty="0">
                <a:solidFill>
                  <a:srgbClr val="555555"/>
                </a:solidFill>
              </a:rPr>
              <a:t> </a:t>
            </a:r>
            <a:r>
              <a:rPr lang="en-US" dirty="0" err="1">
                <a:solidFill>
                  <a:srgbClr val="555555"/>
                </a:solidFill>
              </a:rPr>
              <a:t>osilator</a:t>
            </a:r>
            <a:r>
              <a:rPr lang="en-US" dirty="0">
                <a:solidFill>
                  <a:srgbClr val="555555"/>
                </a:solidFill>
              </a:rPr>
              <a:t> RC. </a:t>
            </a:r>
            <a:r>
              <a:rPr lang="en-US" dirty="0" err="1">
                <a:solidFill>
                  <a:srgbClr val="555555"/>
                </a:solidFill>
              </a:rPr>
              <a:t>Pada</a:t>
            </a:r>
            <a:r>
              <a:rPr lang="en-US" dirty="0">
                <a:solidFill>
                  <a:srgbClr val="555555"/>
                </a:solidFill>
              </a:rPr>
              <a:t> </a:t>
            </a:r>
            <a:r>
              <a:rPr lang="en-US" dirty="0" err="1">
                <a:solidFill>
                  <a:srgbClr val="555555"/>
                </a:solidFill>
              </a:rPr>
              <a:t>osilator</a:t>
            </a:r>
            <a:r>
              <a:rPr lang="en-US" dirty="0">
                <a:solidFill>
                  <a:srgbClr val="555555"/>
                </a:solidFill>
              </a:rPr>
              <a:t> </a:t>
            </a:r>
            <a:r>
              <a:rPr lang="en-US" dirty="0" err="1">
                <a:solidFill>
                  <a:srgbClr val="555555"/>
                </a:solidFill>
              </a:rPr>
              <a:t>pergeseran</a:t>
            </a:r>
            <a:r>
              <a:rPr lang="en-US" dirty="0">
                <a:solidFill>
                  <a:srgbClr val="555555"/>
                </a:solidFill>
              </a:rPr>
              <a:t> </a:t>
            </a:r>
            <a:r>
              <a:rPr lang="en-US" dirty="0" err="1">
                <a:solidFill>
                  <a:srgbClr val="555555"/>
                </a:solidFill>
              </a:rPr>
              <a:t>fasa</a:t>
            </a:r>
            <a:r>
              <a:rPr lang="en-US" dirty="0">
                <a:solidFill>
                  <a:srgbClr val="555555"/>
                </a:solidFill>
              </a:rPr>
              <a:t> </a:t>
            </a:r>
            <a:r>
              <a:rPr lang="en-US" dirty="0" err="1">
                <a:solidFill>
                  <a:srgbClr val="555555"/>
                </a:solidFill>
              </a:rPr>
              <a:t>terdapat</a:t>
            </a:r>
            <a:r>
              <a:rPr lang="en-US" dirty="0">
                <a:solidFill>
                  <a:srgbClr val="555555"/>
                </a:solidFill>
              </a:rPr>
              <a:t> </a:t>
            </a:r>
            <a:r>
              <a:rPr lang="en-US" dirty="0" err="1">
                <a:solidFill>
                  <a:srgbClr val="555555"/>
                </a:solidFill>
              </a:rPr>
              <a:t>sebuah</a:t>
            </a:r>
            <a:r>
              <a:rPr lang="en-US" dirty="0">
                <a:solidFill>
                  <a:srgbClr val="555555"/>
                </a:solidFill>
              </a:rPr>
              <a:t> </a:t>
            </a:r>
            <a:r>
              <a:rPr lang="en-US" dirty="0" err="1">
                <a:solidFill>
                  <a:srgbClr val="555555"/>
                </a:solidFill>
              </a:rPr>
              <a:t>pembalik</a:t>
            </a:r>
            <a:r>
              <a:rPr lang="en-US" dirty="0">
                <a:solidFill>
                  <a:srgbClr val="555555"/>
                </a:solidFill>
              </a:rPr>
              <a:t> </a:t>
            </a:r>
            <a:r>
              <a:rPr lang="en-US" dirty="0" err="1">
                <a:solidFill>
                  <a:srgbClr val="555555"/>
                </a:solidFill>
              </a:rPr>
              <a:t>fasa</a:t>
            </a:r>
            <a:r>
              <a:rPr lang="en-US" dirty="0">
                <a:solidFill>
                  <a:srgbClr val="555555"/>
                </a:solidFill>
              </a:rPr>
              <a:t> total 180 </a:t>
            </a:r>
            <a:r>
              <a:rPr lang="en-US" dirty="0" err="1">
                <a:solidFill>
                  <a:srgbClr val="555555"/>
                </a:solidFill>
              </a:rPr>
              <a:t>derajat</a:t>
            </a:r>
            <a:r>
              <a:rPr lang="en-US" dirty="0">
                <a:solidFill>
                  <a:srgbClr val="555555"/>
                </a:solidFill>
              </a:rPr>
              <a:t>. </a:t>
            </a:r>
            <a:r>
              <a:rPr lang="en-US" dirty="0" err="1">
                <a:solidFill>
                  <a:srgbClr val="555555"/>
                </a:solidFill>
              </a:rPr>
              <a:t>Pembalik</a:t>
            </a:r>
            <a:r>
              <a:rPr lang="en-US" dirty="0">
                <a:solidFill>
                  <a:srgbClr val="555555"/>
                </a:solidFill>
              </a:rPr>
              <a:t> </a:t>
            </a:r>
            <a:r>
              <a:rPr lang="en-US" dirty="0" err="1">
                <a:solidFill>
                  <a:srgbClr val="555555"/>
                </a:solidFill>
              </a:rPr>
              <a:t>fasa</a:t>
            </a:r>
            <a:r>
              <a:rPr lang="en-US" dirty="0">
                <a:solidFill>
                  <a:srgbClr val="555555"/>
                </a:solidFill>
              </a:rPr>
              <a:t> </a:t>
            </a:r>
            <a:r>
              <a:rPr lang="en-US" dirty="0" err="1">
                <a:solidFill>
                  <a:srgbClr val="555555"/>
                </a:solidFill>
              </a:rPr>
              <a:t>ini</a:t>
            </a:r>
            <a:r>
              <a:rPr lang="en-US" dirty="0">
                <a:solidFill>
                  <a:srgbClr val="555555"/>
                </a:solidFill>
              </a:rPr>
              <a:t> di </a:t>
            </a:r>
            <a:r>
              <a:rPr lang="en-US" dirty="0" err="1">
                <a:solidFill>
                  <a:srgbClr val="555555"/>
                </a:solidFill>
              </a:rPr>
              <a:t>menggeser</a:t>
            </a:r>
            <a:r>
              <a:rPr lang="en-US" dirty="0">
                <a:solidFill>
                  <a:srgbClr val="555555"/>
                </a:solidFill>
              </a:rPr>
              <a:t> </a:t>
            </a:r>
            <a:r>
              <a:rPr lang="en-US" dirty="0" err="1">
                <a:solidFill>
                  <a:srgbClr val="555555"/>
                </a:solidFill>
              </a:rPr>
              <a:t>fasa</a:t>
            </a:r>
            <a:r>
              <a:rPr lang="en-US" dirty="0">
                <a:solidFill>
                  <a:srgbClr val="555555"/>
                </a:solidFill>
              </a:rPr>
              <a:t> </a:t>
            </a:r>
            <a:r>
              <a:rPr lang="en-US" dirty="0" err="1">
                <a:solidFill>
                  <a:srgbClr val="555555"/>
                </a:solidFill>
              </a:rPr>
              <a:t>sinyal</a:t>
            </a:r>
            <a:r>
              <a:rPr lang="en-US" dirty="0">
                <a:solidFill>
                  <a:srgbClr val="555555"/>
                </a:solidFill>
              </a:rPr>
              <a:t> output </a:t>
            </a:r>
            <a:r>
              <a:rPr lang="en-US" dirty="0" err="1">
                <a:solidFill>
                  <a:srgbClr val="555555"/>
                </a:solidFill>
              </a:rPr>
              <a:t>sebesar</a:t>
            </a:r>
            <a:r>
              <a:rPr lang="en-US" dirty="0">
                <a:solidFill>
                  <a:srgbClr val="555555"/>
                </a:solidFill>
              </a:rPr>
              <a:t> 180 </a:t>
            </a:r>
            <a:r>
              <a:rPr lang="en-US" dirty="0" err="1">
                <a:solidFill>
                  <a:srgbClr val="555555"/>
                </a:solidFill>
              </a:rPr>
              <a:t>derajat</a:t>
            </a:r>
            <a:r>
              <a:rPr lang="en-US" dirty="0">
                <a:solidFill>
                  <a:srgbClr val="555555"/>
                </a:solidFill>
              </a:rPr>
              <a:t> </a:t>
            </a:r>
            <a:r>
              <a:rPr lang="en-US" dirty="0" err="1">
                <a:solidFill>
                  <a:srgbClr val="555555"/>
                </a:solidFill>
              </a:rPr>
              <a:t>dan</a:t>
            </a:r>
            <a:r>
              <a:rPr lang="en-US" dirty="0">
                <a:solidFill>
                  <a:srgbClr val="555555"/>
                </a:solidFill>
              </a:rPr>
              <a:t> </a:t>
            </a:r>
            <a:r>
              <a:rPr lang="en-US" dirty="0" err="1">
                <a:solidFill>
                  <a:srgbClr val="555555"/>
                </a:solidFill>
              </a:rPr>
              <a:t>memasukkan</a:t>
            </a:r>
            <a:r>
              <a:rPr lang="en-US" dirty="0">
                <a:solidFill>
                  <a:srgbClr val="555555"/>
                </a:solidFill>
              </a:rPr>
              <a:t> </a:t>
            </a:r>
            <a:r>
              <a:rPr lang="en-US" dirty="0" err="1">
                <a:solidFill>
                  <a:srgbClr val="555555"/>
                </a:solidFill>
              </a:rPr>
              <a:t>kembali</a:t>
            </a:r>
            <a:r>
              <a:rPr lang="en-US" dirty="0">
                <a:solidFill>
                  <a:srgbClr val="555555"/>
                </a:solidFill>
              </a:rPr>
              <a:t> </a:t>
            </a:r>
            <a:r>
              <a:rPr lang="en-US" dirty="0" err="1">
                <a:solidFill>
                  <a:srgbClr val="555555"/>
                </a:solidFill>
              </a:rPr>
              <a:t>ke</a:t>
            </a:r>
            <a:r>
              <a:rPr lang="en-US" dirty="0">
                <a:solidFill>
                  <a:srgbClr val="555555"/>
                </a:solidFill>
              </a:rPr>
              <a:t> input </a:t>
            </a:r>
            <a:r>
              <a:rPr lang="en-US" dirty="0" err="1">
                <a:solidFill>
                  <a:srgbClr val="555555"/>
                </a:solidFill>
              </a:rPr>
              <a:t>sehingga</a:t>
            </a:r>
            <a:r>
              <a:rPr lang="en-US" dirty="0">
                <a:solidFill>
                  <a:srgbClr val="555555"/>
                </a:solidFill>
              </a:rPr>
              <a:t> </a:t>
            </a:r>
            <a:r>
              <a:rPr lang="en-US" dirty="0" err="1">
                <a:solidFill>
                  <a:srgbClr val="555555"/>
                </a:solidFill>
              </a:rPr>
              <a:t>terjadi</a:t>
            </a:r>
            <a:r>
              <a:rPr lang="en-US" dirty="0">
                <a:solidFill>
                  <a:srgbClr val="555555"/>
                </a:solidFill>
              </a:rPr>
              <a:t> </a:t>
            </a:r>
            <a:r>
              <a:rPr lang="en-US" dirty="0" err="1">
                <a:solidFill>
                  <a:srgbClr val="555555"/>
                </a:solidFill>
              </a:rPr>
              <a:t>umpan</a:t>
            </a:r>
            <a:r>
              <a:rPr lang="en-US" dirty="0">
                <a:solidFill>
                  <a:srgbClr val="555555"/>
                </a:solidFill>
              </a:rPr>
              <a:t> </a:t>
            </a:r>
            <a:r>
              <a:rPr lang="en-US" dirty="0" err="1">
                <a:solidFill>
                  <a:srgbClr val="555555"/>
                </a:solidFill>
              </a:rPr>
              <a:t>balik</a:t>
            </a:r>
            <a:r>
              <a:rPr lang="en-US" dirty="0">
                <a:solidFill>
                  <a:srgbClr val="555555"/>
                </a:solidFill>
              </a:rPr>
              <a:t> </a:t>
            </a:r>
            <a:r>
              <a:rPr lang="en-US" dirty="0" err="1">
                <a:solidFill>
                  <a:srgbClr val="555555"/>
                </a:solidFill>
              </a:rPr>
              <a:t>positif</a:t>
            </a:r>
            <a:r>
              <a:rPr lang="en-US" dirty="0">
                <a:solidFill>
                  <a:srgbClr val="555555"/>
                </a:solidFill>
              </a:rPr>
              <a:t>. </a:t>
            </a:r>
            <a:r>
              <a:rPr lang="en-US" dirty="0" err="1">
                <a:solidFill>
                  <a:srgbClr val="555555"/>
                </a:solidFill>
              </a:rPr>
              <a:t>Rangkaian</a:t>
            </a:r>
            <a:r>
              <a:rPr lang="en-US" dirty="0">
                <a:solidFill>
                  <a:srgbClr val="555555"/>
                </a:solidFill>
              </a:rPr>
              <a:t> </a:t>
            </a:r>
            <a:r>
              <a:rPr lang="en-US" dirty="0" err="1">
                <a:solidFill>
                  <a:srgbClr val="555555"/>
                </a:solidFill>
              </a:rPr>
              <a:t>pembalik</a:t>
            </a:r>
            <a:r>
              <a:rPr lang="en-US" dirty="0">
                <a:solidFill>
                  <a:srgbClr val="555555"/>
                </a:solidFill>
              </a:rPr>
              <a:t> </a:t>
            </a:r>
            <a:r>
              <a:rPr lang="en-US" dirty="0" err="1">
                <a:solidFill>
                  <a:srgbClr val="555555"/>
                </a:solidFill>
              </a:rPr>
              <a:t>fasa</a:t>
            </a:r>
            <a:r>
              <a:rPr lang="en-US" dirty="0">
                <a:solidFill>
                  <a:srgbClr val="555555"/>
                </a:solidFill>
              </a:rPr>
              <a:t> </a:t>
            </a:r>
            <a:r>
              <a:rPr lang="en-US" dirty="0" err="1">
                <a:solidFill>
                  <a:srgbClr val="555555"/>
                </a:solidFill>
              </a:rPr>
              <a:t>ini</a:t>
            </a:r>
            <a:r>
              <a:rPr lang="en-US" dirty="0">
                <a:solidFill>
                  <a:srgbClr val="555555"/>
                </a:solidFill>
              </a:rPr>
              <a:t> </a:t>
            </a:r>
            <a:r>
              <a:rPr lang="en-US" dirty="0" err="1">
                <a:solidFill>
                  <a:srgbClr val="555555"/>
                </a:solidFill>
              </a:rPr>
              <a:t>biasanya</a:t>
            </a:r>
            <a:r>
              <a:rPr lang="en-US" dirty="0">
                <a:solidFill>
                  <a:srgbClr val="555555"/>
                </a:solidFill>
              </a:rPr>
              <a:t> </a:t>
            </a:r>
            <a:r>
              <a:rPr lang="en-US" dirty="0" err="1">
                <a:solidFill>
                  <a:srgbClr val="555555"/>
                </a:solidFill>
              </a:rPr>
              <a:t>dibentuk</a:t>
            </a:r>
            <a:r>
              <a:rPr lang="en-US" dirty="0">
                <a:solidFill>
                  <a:srgbClr val="555555"/>
                </a:solidFill>
              </a:rPr>
              <a:t> </a:t>
            </a:r>
            <a:r>
              <a:rPr lang="en-US" dirty="0" err="1">
                <a:solidFill>
                  <a:srgbClr val="555555"/>
                </a:solidFill>
              </a:rPr>
              <a:t>oleh</a:t>
            </a:r>
            <a:r>
              <a:rPr lang="en-US" dirty="0">
                <a:solidFill>
                  <a:srgbClr val="555555"/>
                </a:solidFill>
              </a:rPr>
              <a:t> </a:t>
            </a:r>
            <a:r>
              <a:rPr lang="en-US" dirty="0" err="1">
                <a:solidFill>
                  <a:srgbClr val="555555"/>
                </a:solidFill>
              </a:rPr>
              <a:t>tiga</a:t>
            </a:r>
            <a:r>
              <a:rPr lang="en-US" dirty="0">
                <a:solidFill>
                  <a:srgbClr val="555555"/>
                </a:solidFill>
              </a:rPr>
              <a:t> </a:t>
            </a:r>
            <a:r>
              <a:rPr lang="en-US" dirty="0" err="1">
                <a:solidFill>
                  <a:srgbClr val="555555"/>
                </a:solidFill>
              </a:rPr>
              <a:t>buah</a:t>
            </a:r>
            <a:r>
              <a:rPr lang="en-US" dirty="0">
                <a:solidFill>
                  <a:srgbClr val="555555"/>
                </a:solidFill>
              </a:rPr>
              <a:t> </a:t>
            </a:r>
            <a:r>
              <a:rPr lang="en-US" dirty="0" err="1">
                <a:solidFill>
                  <a:srgbClr val="555555"/>
                </a:solidFill>
              </a:rPr>
              <a:t>rangkaian</a:t>
            </a:r>
            <a:r>
              <a:rPr lang="en-US" dirty="0">
                <a:solidFill>
                  <a:srgbClr val="555555"/>
                </a:solidFill>
              </a:rPr>
              <a:t> RC.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83417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1715" y="919476"/>
            <a:ext cx="6628571" cy="5019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9206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1" y="762000"/>
            <a:ext cx="7247619" cy="26000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7846" y="3429000"/>
            <a:ext cx="6866667" cy="3380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10639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id-ID" altLang="id-ID" smtClean="0"/>
              <a:t>Bentuk Umum Osilator LC</a:t>
            </a:r>
            <a:r>
              <a:rPr lang="en-US" altLang="id-ID" smtClean="0"/>
              <a:t> </a:t>
            </a:r>
          </a:p>
        </p:txBody>
      </p:sp>
      <p:sp>
        <p:nvSpPr>
          <p:cNvPr id="13316" name="Rectangle 5"/>
          <p:cNvSpPr>
            <a:spLocks noChangeArrowheads="1"/>
          </p:cNvSpPr>
          <p:nvPr/>
        </p:nvSpPr>
        <p:spPr bwMode="auto">
          <a:xfrm>
            <a:off x="1524001" y="2129909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id-ID" altLang="en-US"/>
          </a:p>
        </p:txBody>
      </p:sp>
      <p:graphicFrame>
        <p:nvGraphicFramePr>
          <p:cNvPr id="13317" name="Object 4"/>
          <p:cNvGraphicFramePr>
            <a:graphicFrameLocks noChangeAspect="1"/>
          </p:cNvGraphicFramePr>
          <p:nvPr>
            <p:extLst/>
          </p:nvPr>
        </p:nvGraphicFramePr>
        <p:xfrm>
          <a:off x="1676400" y="1676401"/>
          <a:ext cx="4419600" cy="4221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846" name="Visio" r:id="rId4" imgW="2759606" imgH="2630503" progId="Visio.Drawing.11">
                  <p:embed/>
                </p:oleObj>
              </mc:Choice>
              <mc:Fallback>
                <p:oleObj name="Visio" r:id="rId4" imgW="2759606" imgH="2630503" progId="Visio.Drawing.11">
                  <p:embed/>
                  <p:pic>
                    <p:nvPicPr>
                      <p:cNvPr id="13317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6400" y="1676401"/>
                        <a:ext cx="4419600" cy="4221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Picture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86675" y="756440"/>
            <a:ext cx="2667000" cy="317182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6001" y="4148132"/>
            <a:ext cx="4452783" cy="1338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61161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8400" y="1201685"/>
            <a:ext cx="7467600" cy="4547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57810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6672" y="1219201"/>
            <a:ext cx="7139669" cy="4495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04445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7001" y="633470"/>
            <a:ext cx="6629399" cy="5404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08875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id-ID" dirty="0" smtClean="0"/>
              <a:t>1. </a:t>
            </a:r>
            <a:r>
              <a:rPr lang="id-ID" altLang="id-ID" dirty="0" smtClean="0"/>
              <a:t>Osilator Collpits</a:t>
            </a:r>
            <a:r>
              <a:rPr lang="en-US" altLang="id-ID" dirty="0" smtClean="0"/>
              <a:t> </a:t>
            </a:r>
          </a:p>
        </p:txBody>
      </p:sp>
      <p:sp>
        <p:nvSpPr>
          <p:cNvPr id="15364" name="Rectangle 5"/>
          <p:cNvSpPr>
            <a:spLocks noChangeArrowheads="1"/>
          </p:cNvSpPr>
          <p:nvPr/>
        </p:nvSpPr>
        <p:spPr bwMode="auto">
          <a:xfrm>
            <a:off x="1524001" y="2129909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id-ID" altLang="en-US"/>
          </a:p>
        </p:txBody>
      </p:sp>
      <p:graphicFrame>
        <p:nvGraphicFramePr>
          <p:cNvPr id="15365" name="Object 4"/>
          <p:cNvGraphicFramePr>
            <a:graphicFrameLocks noChangeAspect="1"/>
          </p:cNvGraphicFramePr>
          <p:nvPr>
            <p:extLst/>
          </p:nvPr>
        </p:nvGraphicFramePr>
        <p:xfrm>
          <a:off x="2362200" y="1600201"/>
          <a:ext cx="4648200" cy="4403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870" name="Visio" r:id="rId4" imgW="2783360" imgH="2630503" progId="Visio.Drawing.11">
                  <p:embed/>
                </p:oleObj>
              </mc:Choice>
              <mc:Fallback>
                <p:oleObj name="Visio" r:id="rId4" imgW="2783360" imgH="2630503" progId="Visio.Drawing.11">
                  <p:embed/>
                  <p:pic>
                    <p:nvPicPr>
                      <p:cNvPr id="15365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2200" y="1600201"/>
                        <a:ext cx="4648200" cy="4403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152941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8" name="Rectangle 5"/>
          <p:cNvSpPr>
            <a:spLocks noChangeArrowheads="1"/>
          </p:cNvSpPr>
          <p:nvPr/>
        </p:nvSpPr>
        <p:spPr bwMode="auto">
          <a:xfrm>
            <a:off x="1524001" y="265854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id-ID" altLang="en-US"/>
          </a:p>
        </p:txBody>
      </p:sp>
      <p:graphicFrame>
        <p:nvGraphicFramePr>
          <p:cNvPr id="16389" name="Object 4"/>
          <p:cNvGraphicFramePr>
            <a:graphicFrameLocks noChangeAspect="1"/>
          </p:cNvGraphicFramePr>
          <p:nvPr/>
        </p:nvGraphicFramePr>
        <p:xfrm>
          <a:off x="2057400" y="1676401"/>
          <a:ext cx="8305800" cy="1979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894" name="Equation" r:id="rId4" imgW="4914900" imgH="1168400" progId="Equation.3">
                  <p:embed/>
                </p:oleObj>
              </mc:Choice>
              <mc:Fallback>
                <p:oleObj name="Equation" r:id="rId4" imgW="4914900" imgH="1168400" progId="Equation.3">
                  <p:embed/>
                  <p:pic>
                    <p:nvPicPr>
                      <p:cNvPr id="16389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7400" y="1676401"/>
                        <a:ext cx="8305800" cy="1979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extBox 1"/>
          <p:cNvSpPr txBox="1"/>
          <p:nvPr/>
        </p:nvSpPr>
        <p:spPr>
          <a:xfrm>
            <a:off x="2057400" y="3656013"/>
            <a:ext cx="2819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Link </a:t>
            </a:r>
            <a:r>
              <a:rPr lang="en-US" dirty="0">
                <a:sym typeface="Wingdings" panose="05000000000000000000" pitchFamily="2" charset="2"/>
              </a:rPr>
              <a:t></a:t>
            </a:r>
            <a:endParaRPr lang="en-US" dirty="0"/>
          </a:p>
        </p:txBody>
      </p:sp>
      <p:pic>
        <p:nvPicPr>
          <p:cNvPr id="3" name="Picture 2">
            <a:hlinkClick r:id="rId6" action="ppaction://hlinkfile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00401" y="3318599"/>
            <a:ext cx="2051781" cy="9271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13297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id-ID" dirty="0" smtClean="0"/>
              <a:t>2. </a:t>
            </a:r>
            <a:r>
              <a:rPr lang="id-ID" altLang="id-ID" dirty="0" smtClean="0"/>
              <a:t>Osilator Hartley</a:t>
            </a:r>
            <a:r>
              <a:rPr lang="en-US" altLang="id-ID" dirty="0" smtClean="0"/>
              <a:t> </a:t>
            </a:r>
          </a:p>
        </p:txBody>
      </p:sp>
      <p:sp>
        <p:nvSpPr>
          <p:cNvPr id="17412" name="Rectangle 5"/>
          <p:cNvSpPr>
            <a:spLocks noChangeArrowheads="1"/>
          </p:cNvSpPr>
          <p:nvPr/>
        </p:nvSpPr>
        <p:spPr bwMode="auto">
          <a:xfrm>
            <a:off x="1524001" y="2129909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id-ID" altLang="en-US"/>
          </a:p>
        </p:txBody>
      </p:sp>
      <p:graphicFrame>
        <p:nvGraphicFramePr>
          <p:cNvPr id="17413" name="Object 4"/>
          <p:cNvGraphicFramePr>
            <a:graphicFrameLocks noChangeAspect="1"/>
          </p:cNvGraphicFramePr>
          <p:nvPr>
            <p:extLst/>
          </p:nvPr>
        </p:nvGraphicFramePr>
        <p:xfrm>
          <a:off x="2133600" y="1606550"/>
          <a:ext cx="4800600" cy="4565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918" name="Visio" r:id="rId4" imgW="2769593" imgH="2630503" progId="Visio.Drawing.11">
                  <p:embed/>
                </p:oleObj>
              </mc:Choice>
              <mc:Fallback>
                <p:oleObj name="Visio" r:id="rId4" imgW="2769593" imgH="2630503" progId="Visio.Drawing.11">
                  <p:embed/>
                  <p:pic>
                    <p:nvPicPr>
                      <p:cNvPr id="17413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3600" y="1606550"/>
                        <a:ext cx="4800600" cy="4565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7607667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6" name="Rectangle 5"/>
          <p:cNvSpPr>
            <a:spLocks noChangeArrowheads="1"/>
          </p:cNvSpPr>
          <p:nvPr/>
        </p:nvSpPr>
        <p:spPr bwMode="auto">
          <a:xfrm>
            <a:off x="1524001" y="2763322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id-ID" altLang="en-US"/>
          </a:p>
        </p:txBody>
      </p:sp>
      <p:graphicFrame>
        <p:nvGraphicFramePr>
          <p:cNvPr id="18437" name="Object 4"/>
          <p:cNvGraphicFramePr>
            <a:graphicFrameLocks noChangeAspect="1"/>
          </p:cNvGraphicFramePr>
          <p:nvPr/>
        </p:nvGraphicFramePr>
        <p:xfrm>
          <a:off x="1981200" y="1600201"/>
          <a:ext cx="8382000" cy="1666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942" name="Equation" r:id="rId4" imgW="4838700" imgH="965200" progId="Equation.3">
                  <p:embed/>
                </p:oleObj>
              </mc:Choice>
              <mc:Fallback>
                <p:oleObj name="Equation" r:id="rId4" imgW="4838700" imgH="965200" progId="Equation.3">
                  <p:embed/>
                  <p:pic>
                    <p:nvPicPr>
                      <p:cNvPr id="18437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1200" y="1600201"/>
                        <a:ext cx="8382000" cy="1666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486374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3. </a:t>
            </a:r>
            <a:r>
              <a:rPr lang="en-US" dirty="0" err="1" smtClean="0"/>
              <a:t>Osilator</a:t>
            </a:r>
            <a:r>
              <a:rPr lang="en-US" dirty="0" smtClean="0"/>
              <a:t> Clapp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5791200" cy="4351338"/>
          </a:xfrm>
        </p:spPr>
        <p:txBody>
          <a:bodyPr/>
          <a:lstStyle/>
          <a:p>
            <a:r>
              <a:rPr lang="sv-SE" sz="2000" b="1" dirty="0"/>
              <a:t>Osilator Clapp</a:t>
            </a:r>
            <a:r>
              <a:rPr lang="sv-SE" sz="2000" dirty="0"/>
              <a:t> adalah versi modifikasi osilator Colpitt dengan kemantapan frekuensi lebih baik</a:t>
            </a:r>
            <a:r>
              <a:rPr lang="sv-SE" sz="2000" dirty="0"/>
              <a:t>.</a:t>
            </a:r>
          </a:p>
          <a:p>
            <a:r>
              <a:rPr lang="en-US" sz="2000" dirty="0" err="1"/>
              <a:t>Osilator</a:t>
            </a:r>
            <a:r>
              <a:rPr lang="en-US" sz="2000" dirty="0"/>
              <a:t> Clapp </a:t>
            </a:r>
            <a:r>
              <a:rPr lang="en-US" sz="2000" dirty="0" err="1"/>
              <a:t>termasuk</a:t>
            </a:r>
            <a:r>
              <a:rPr lang="en-US" sz="2000" dirty="0"/>
              <a:t> </a:t>
            </a:r>
            <a:r>
              <a:rPr lang="en-US" sz="2000" dirty="0" err="1"/>
              <a:t>jenis</a:t>
            </a:r>
            <a:r>
              <a:rPr lang="en-US" sz="2000" dirty="0"/>
              <a:t> </a:t>
            </a:r>
            <a:r>
              <a:rPr lang="en-US" sz="2000" dirty="0" err="1"/>
              <a:t>osilator</a:t>
            </a:r>
            <a:r>
              <a:rPr lang="en-US" sz="2000" dirty="0"/>
              <a:t> LC. </a:t>
            </a:r>
            <a:r>
              <a:rPr lang="en-US" sz="2000" dirty="0" err="1"/>
              <a:t>Osilator</a:t>
            </a:r>
            <a:r>
              <a:rPr lang="en-US" sz="2000" dirty="0"/>
              <a:t> Clapp </a:t>
            </a:r>
            <a:r>
              <a:rPr lang="en-US" sz="2000" dirty="0" err="1"/>
              <a:t>tersusun</a:t>
            </a:r>
            <a:r>
              <a:rPr lang="en-US" sz="2000" dirty="0"/>
              <a:t> </a:t>
            </a:r>
            <a:r>
              <a:rPr lang="en-US" sz="2000" dirty="0" err="1"/>
              <a:t>dari</a:t>
            </a:r>
            <a:r>
              <a:rPr lang="en-US" sz="2000" dirty="0"/>
              <a:t> </a:t>
            </a:r>
            <a:r>
              <a:rPr lang="en-US" sz="2000" dirty="0" err="1"/>
              <a:t>tiga</a:t>
            </a:r>
            <a:r>
              <a:rPr lang="en-US" sz="2000" dirty="0"/>
              <a:t> </a:t>
            </a:r>
            <a:r>
              <a:rPr lang="en-US" sz="2000" dirty="0" err="1"/>
              <a:t>buah</a:t>
            </a:r>
            <a:r>
              <a:rPr lang="en-US" sz="2000" dirty="0"/>
              <a:t> </a:t>
            </a:r>
            <a:r>
              <a:rPr lang="en-US" sz="2000" dirty="0" err="1"/>
              <a:t>kapasitor</a:t>
            </a:r>
            <a:r>
              <a:rPr lang="en-US" sz="2000" dirty="0"/>
              <a:t> </a:t>
            </a:r>
            <a:r>
              <a:rPr lang="en-US" sz="2000" dirty="0" err="1"/>
              <a:t>dan</a:t>
            </a:r>
            <a:r>
              <a:rPr lang="en-US" sz="2000" dirty="0"/>
              <a:t> </a:t>
            </a:r>
            <a:r>
              <a:rPr lang="en-US" sz="2000" dirty="0" err="1"/>
              <a:t>satu</a:t>
            </a:r>
            <a:r>
              <a:rPr lang="en-US" sz="2000" dirty="0"/>
              <a:t> </a:t>
            </a:r>
            <a:r>
              <a:rPr lang="en-US" sz="2000" dirty="0" err="1"/>
              <a:t>buah</a:t>
            </a:r>
            <a:r>
              <a:rPr lang="en-US" sz="2000" dirty="0"/>
              <a:t> </a:t>
            </a:r>
            <a:r>
              <a:rPr lang="en-US" sz="2000" dirty="0" err="1"/>
              <a:t>induktor</a:t>
            </a:r>
            <a:r>
              <a:rPr lang="en-US" sz="2000" dirty="0"/>
              <a:t>. </a:t>
            </a:r>
            <a:r>
              <a:rPr lang="en-US" sz="2000" dirty="0" err="1"/>
              <a:t>Konfigurasi</a:t>
            </a:r>
            <a:r>
              <a:rPr lang="en-US" sz="2000" dirty="0"/>
              <a:t> </a:t>
            </a:r>
            <a:r>
              <a:rPr lang="en-US" sz="2000" dirty="0" err="1"/>
              <a:t>osilator</a:t>
            </a:r>
            <a:r>
              <a:rPr lang="en-US" sz="2000" dirty="0"/>
              <a:t> </a:t>
            </a:r>
            <a:r>
              <a:rPr lang="en-US" sz="2000" dirty="0" err="1"/>
              <a:t>clapp</a:t>
            </a:r>
            <a:r>
              <a:rPr lang="en-US" sz="2000" dirty="0"/>
              <a:t> </a:t>
            </a:r>
            <a:r>
              <a:rPr lang="en-US" sz="2000" dirty="0" err="1"/>
              <a:t>sama</a:t>
            </a:r>
            <a:r>
              <a:rPr lang="en-US" sz="2000" dirty="0"/>
              <a:t> </a:t>
            </a:r>
            <a:r>
              <a:rPr lang="en-US" sz="2000" dirty="0" err="1"/>
              <a:t>dengan</a:t>
            </a:r>
            <a:r>
              <a:rPr lang="en-US" sz="2000" dirty="0"/>
              <a:t> </a:t>
            </a:r>
            <a:r>
              <a:rPr lang="en-US" sz="2000" dirty="0" err="1"/>
              <a:t>osilator</a:t>
            </a:r>
            <a:r>
              <a:rPr lang="en-US" sz="2000" dirty="0"/>
              <a:t> </a:t>
            </a:r>
            <a:r>
              <a:rPr lang="en-US" sz="2000" dirty="0" err="1"/>
              <a:t>colpits</a:t>
            </a:r>
            <a:r>
              <a:rPr lang="en-US" sz="2000" dirty="0"/>
              <a:t> </a:t>
            </a:r>
            <a:r>
              <a:rPr lang="en-US" sz="2000" dirty="0" err="1"/>
              <a:t>namun</a:t>
            </a:r>
            <a:r>
              <a:rPr lang="en-US" sz="2000" dirty="0"/>
              <a:t> </a:t>
            </a:r>
            <a:r>
              <a:rPr lang="en-US" sz="2000" dirty="0" err="1"/>
              <a:t>ada</a:t>
            </a:r>
            <a:r>
              <a:rPr lang="en-US" sz="2000" dirty="0"/>
              <a:t> </a:t>
            </a:r>
            <a:r>
              <a:rPr lang="en-US" sz="2000" dirty="0" err="1"/>
              <a:t>penambahan</a:t>
            </a:r>
            <a:r>
              <a:rPr lang="en-US" sz="2000" dirty="0"/>
              <a:t> </a:t>
            </a:r>
            <a:r>
              <a:rPr lang="en-US" sz="2000" dirty="0" err="1"/>
              <a:t>kapasitor</a:t>
            </a:r>
            <a:r>
              <a:rPr lang="en-US" sz="2000" dirty="0"/>
              <a:t> yang </a:t>
            </a:r>
            <a:r>
              <a:rPr lang="en-US" sz="2000" dirty="0" err="1"/>
              <a:t>disusun</a:t>
            </a:r>
            <a:r>
              <a:rPr lang="en-US" sz="2000" dirty="0"/>
              <a:t> </a:t>
            </a:r>
            <a:r>
              <a:rPr lang="en-US" sz="2000" dirty="0" err="1"/>
              <a:t>seri</a:t>
            </a:r>
            <a:r>
              <a:rPr lang="en-US" sz="2000" dirty="0"/>
              <a:t> </a:t>
            </a:r>
            <a:r>
              <a:rPr lang="en-US" sz="2000" dirty="0" err="1"/>
              <a:t>dengan</a:t>
            </a:r>
            <a:r>
              <a:rPr lang="en-US" sz="2000" dirty="0"/>
              <a:t> </a:t>
            </a:r>
            <a:r>
              <a:rPr lang="en-US" sz="2000" dirty="0" err="1"/>
              <a:t>induktor</a:t>
            </a:r>
            <a:r>
              <a:rPr lang="en-US" sz="2000" dirty="0"/>
              <a:t> (L). </a:t>
            </a:r>
            <a:r>
              <a:rPr lang="en-US" sz="2000" dirty="0" err="1"/>
              <a:t>Osilator</a:t>
            </a:r>
            <a:r>
              <a:rPr lang="en-US" sz="2000" dirty="0"/>
              <a:t> Clapp </a:t>
            </a:r>
            <a:r>
              <a:rPr lang="en-US" sz="2000" dirty="0" err="1"/>
              <a:t>diperkenalkan</a:t>
            </a:r>
            <a:r>
              <a:rPr lang="en-US" sz="2000" dirty="0"/>
              <a:t> </a:t>
            </a:r>
            <a:r>
              <a:rPr lang="en-US" sz="2000" dirty="0" err="1"/>
              <a:t>oleh</a:t>
            </a:r>
            <a:r>
              <a:rPr lang="en-US" sz="2000" dirty="0"/>
              <a:t> James K. Clapp </a:t>
            </a:r>
            <a:r>
              <a:rPr lang="en-US" sz="2000" dirty="0" err="1"/>
              <a:t>pada</a:t>
            </a:r>
            <a:r>
              <a:rPr lang="en-US" sz="2000" dirty="0"/>
              <a:t> </a:t>
            </a:r>
            <a:r>
              <a:rPr lang="en-US" sz="2000" dirty="0" err="1"/>
              <a:t>tahun</a:t>
            </a:r>
            <a:r>
              <a:rPr lang="en-US" sz="2000" dirty="0"/>
              <a:t> 1948.</a:t>
            </a:r>
          </a:p>
        </p:txBody>
      </p:sp>
      <p:pic>
        <p:nvPicPr>
          <p:cNvPr id="20482" name="Picture 2" descr="Hasil gambar untuk osilator clapp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24625" y="2220911"/>
            <a:ext cx="4114800" cy="411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181428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4"/>
          <p:cNvGraphicFramePr>
            <a:graphicFrameLocks noChangeAspect="1"/>
          </p:cNvGraphicFramePr>
          <p:nvPr>
            <p:extLst/>
          </p:nvPr>
        </p:nvGraphicFramePr>
        <p:xfrm>
          <a:off x="2414589" y="1371600"/>
          <a:ext cx="6421437" cy="2457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66" name="Equation" r:id="rId3" imgW="3708360" imgH="1422360" progId="Equation.3">
                  <p:embed/>
                </p:oleObj>
              </mc:Choice>
              <mc:Fallback>
                <p:oleObj name="Equation" r:id="rId3" imgW="3708360" imgH="1422360" progId="Equation.3">
                  <p:embed/>
                  <p:pic>
                    <p:nvPicPr>
                      <p:cNvPr id="4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14589" y="1371600"/>
                        <a:ext cx="6421437" cy="2457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6720179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id-ID" dirty="0" smtClean="0"/>
              <a:t>4. </a:t>
            </a:r>
            <a:r>
              <a:rPr lang="id-ID" altLang="id-ID" dirty="0" smtClean="0"/>
              <a:t>Osilator Kristal</a:t>
            </a:r>
            <a:r>
              <a:rPr lang="en-US" altLang="id-ID" dirty="0" smtClean="0"/>
              <a:t> 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idx="1"/>
          </p:nvPr>
        </p:nvSpPr>
        <p:spPr>
          <a:xfrm>
            <a:off x="5848349" y="1139909"/>
            <a:ext cx="5663294" cy="4351338"/>
          </a:xfrm>
        </p:spPr>
        <p:txBody>
          <a:bodyPr/>
          <a:lstStyle/>
          <a:p>
            <a:pPr marL="0" indent="0">
              <a:buNone/>
            </a:pPr>
            <a:r>
              <a:rPr lang="en-US" sz="2000" dirty="0" err="1"/>
              <a:t>Berfungsi</a:t>
            </a:r>
            <a:r>
              <a:rPr lang="en-US" sz="2000" dirty="0"/>
              <a:t> </a:t>
            </a:r>
            <a:r>
              <a:rPr lang="en-US" sz="2000" dirty="0" err="1"/>
              <a:t>untuk</a:t>
            </a:r>
            <a:r>
              <a:rPr lang="en-US" sz="2000" dirty="0"/>
              <a:t> </a:t>
            </a:r>
            <a:r>
              <a:rPr lang="en-US" sz="2000" dirty="0" err="1"/>
              <a:t>menghasilkan</a:t>
            </a:r>
            <a:r>
              <a:rPr lang="en-US" sz="2000" dirty="0"/>
              <a:t> </a:t>
            </a:r>
            <a:r>
              <a:rPr lang="en-US" sz="2000" dirty="0" err="1"/>
              <a:t>sinyal</a:t>
            </a:r>
            <a:r>
              <a:rPr lang="en-US" sz="2000" dirty="0"/>
              <a:t> </a:t>
            </a:r>
            <a:r>
              <a:rPr lang="en-US" sz="2000" dirty="0" err="1"/>
              <a:t>dengan</a:t>
            </a:r>
            <a:r>
              <a:rPr lang="en-US" sz="2000" dirty="0"/>
              <a:t> </a:t>
            </a:r>
            <a:r>
              <a:rPr lang="en-US" sz="2000" dirty="0" err="1"/>
              <a:t>tingkat</a:t>
            </a:r>
            <a:r>
              <a:rPr lang="en-US" sz="2000" dirty="0"/>
              <a:t> </a:t>
            </a:r>
            <a:r>
              <a:rPr lang="en-US" sz="2000" dirty="0" err="1"/>
              <a:t>kestabilan</a:t>
            </a:r>
            <a:r>
              <a:rPr lang="en-US" sz="2000" dirty="0"/>
              <a:t> </a:t>
            </a:r>
            <a:r>
              <a:rPr lang="en-US" sz="2000" dirty="0" err="1"/>
              <a:t>frekuensi</a:t>
            </a:r>
            <a:r>
              <a:rPr lang="en-US" sz="2000" dirty="0"/>
              <a:t> yang </a:t>
            </a:r>
            <a:r>
              <a:rPr lang="en-US" sz="2000" dirty="0" err="1"/>
              <a:t>sangat</a:t>
            </a:r>
            <a:r>
              <a:rPr lang="en-US" sz="2000" dirty="0"/>
              <a:t> </a:t>
            </a:r>
            <a:r>
              <a:rPr lang="en-US" sz="2000" dirty="0" err="1"/>
              <a:t>tinggi</a:t>
            </a:r>
            <a:r>
              <a:rPr lang="en-US" sz="2000" dirty="0"/>
              <a:t>. Kristal </a:t>
            </a:r>
            <a:r>
              <a:rPr lang="en-US" sz="2000" dirty="0" err="1"/>
              <a:t>pada</a:t>
            </a:r>
            <a:r>
              <a:rPr lang="en-US" sz="2000" dirty="0"/>
              <a:t> </a:t>
            </a:r>
            <a:r>
              <a:rPr lang="en-US" sz="2000" dirty="0" err="1"/>
              <a:t>oscilator</a:t>
            </a:r>
            <a:r>
              <a:rPr lang="en-US" sz="2000" dirty="0"/>
              <a:t> </a:t>
            </a:r>
            <a:r>
              <a:rPr lang="en-US" sz="2000" dirty="0" err="1"/>
              <a:t>ini</a:t>
            </a:r>
            <a:r>
              <a:rPr lang="en-US" sz="2000" dirty="0"/>
              <a:t> </a:t>
            </a:r>
            <a:r>
              <a:rPr lang="en-US" sz="2000" dirty="0" err="1"/>
              <a:t>terbuat</a:t>
            </a:r>
            <a:r>
              <a:rPr lang="en-US" sz="2000" dirty="0"/>
              <a:t> </a:t>
            </a:r>
            <a:r>
              <a:rPr lang="en-US" sz="2000" dirty="0" err="1"/>
              <a:t>dari</a:t>
            </a:r>
            <a:r>
              <a:rPr lang="en-US" sz="2000" dirty="0"/>
              <a:t> quartz </a:t>
            </a:r>
            <a:r>
              <a:rPr lang="en-US" sz="2000" dirty="0" err="1"/>
              <a:t>atau</a:t>
            </a:r>
            <a:r>
              <a:rPr lang="en-US" sz="2000" dirty="0"/>
              <a:t> </a:t>
            </a:r>
            <a:r>
              <a:rPr lang="en-US" sz="2000" dirty="0" err="1"/>
              <a:t>dengan</a:t>
            </a:r>
            <a:r>
              <a:rPr lang="en-US" sz="2000" dirty="0"/>
              <a:t> </a:t>
            </a:r>
            <a:r>
              <a:rPr lang="en-US" sz="2000" dirty="0" err="1"/>
              <a:t>kualitas</a:t>
            </a:r>
            <a:r>
              <a:rPr lang="en-US" sz="2000" dirty="0"/>
              <a:t> yang </a:t>
            </a:r>
            <a:r>
              <a:rPr lang="en-US" sz="2000" dirty="0" err="1"/>
              <a:t>baik</a:t>
            </a:r>
            <a:r>
              <a:rPr lang="en-US" sz="2000" dirty="0"/>
              <a:t>. Material </a:t>
            </a:r>
            <a:r>
              <a:rPr lang="en-US" sz="2000" dirty="0" err="1"/>
              <a:t>ini</a:t>
            </a:r>
            <a:r>
              <a:rPr lang="en-US" sz="2000" dirty="0"/>
              <a:t> </a:t>
            </a:r>
            <a:r>
              <a:rPr lang="en-US" sz="2000" dirty="0" err="1"/>
              <a:t>memiliki</a:t>
            </a:r>
            <a:r>
              <a:rPr lang="en-US" sz="2000" dirty="0"/>
              <a:t> </a:t>
            </a:r>
            <a:r>
              <a:rPr lang="en-US" sz="2000" dirty="0" err="1"/>
              <a:t>kemampuan</a:t>
            </a:r>
            <a:r>
              <a:rPr lang="en-US" sz="2000" dirty="0"/>
              <a:t> </a:t>
            </a:r>
            <a:r>
              <a:rPr lang="en-US" sz="2000" dirty="0" err="1"/>
              <a:t>mengubah</a:t>
            </a:r>
            <a:r>
              <a:rPr lang="en-US" sz="2000" dirty="0"/>
              <a:t> </a:t>
            </a:r>
            <a:r>
              <a:rPr lang="en-US" sz="2000" dirty="0" err="1"/>
              <a:t>energi</a:t>
            </a:r>
            <a:r>
              <a:rPr lang="en-US" sz="2000" dirty="0"/>
              <a:t> </a:t>
            </a:r>
            <a:r>
              <a:rPr lang="en-US" sz="2000" dirty="0" err="1"/>
              <a:t>listrik</a:t>
            </a:r>
            <a:r>
              <a:rPr lang="en-US" sz="2000" dirty="0"/>
              <a:t> </a:t>
            </a:r>
            <a:r>
              <a:rPr lang="en-US" sz="2000" dirty="0" err="1"/>
              <a:t>menjadi</a:t>
            </a:r>
            <a:r>
              <a:rPr lang="en-US" sz="2000" dirty="0"/>
              <a:t> </a:t>
            </a:r>
            <a:r>
              <a:rPr lang="en-US" sz="2000" dirty="0" err="1"/>
              <a:t>energi</a:t>
            </a:r>
            <a:r>
              <a:rPr lang="en-US" sz="2000" dirty="0"/>
              <a:t> </a:t>
            </a:r>
            <a:r>
              <a:rPr lang="en-US" sz="2000" dirty="0" err="1"/>
              <a:t>mekanik</a:t>
            </a:r>
            <a:r>
              <a:rPr lang="en-US" sz="2000" dirty="0"/>
              <a:t> </a:t>
            </a:r>
            <a:r>
              <a:rPr lang="en-US" sz="2000" dirty="0" err="1"/>
              <a:t>berupa</a:t>
            </a:r>
            <a:r>
              <a:rPr lang="en-US" sz="2000" dirty="0"/>
              <a:t> </a:t>
            </a:r>
            <a:r>
              <a:rPr lang="en-US" sz="2000" dirty="0" err="1"/>
              <a:t>getaran</a:t>
            </a:r>
            <a:r>
              <a:rPr lang="en-US" sz="2000" dirty="0"/>
              <a:t> </a:t>
            </a:r>
            <a:r>
              <a:rPr lang="en-US" sz="2000" dirty="0" err="1"/>
              <a:t>atau</a:t>
            </a:r>
            <a:r>
              <a:rPr lang="en-US" sz="2000" dirty="0"/>
              <a:t> </a:t>
            </a:r>
            <a:r>
              <a:rPr lang="en-US" sz="2000" dirty="0" err="1"/>
              <a:t>sebaliknya</a:t>
            </a:r>
            <a:r>
              <a:rPr lang="en-US" sz="2000" dirty="0"/>
              <a:t>. </a:t>
            </a:r>
            <a:r>
              <a:rPr lang="en-US" sz="2000" dirty="0" err="1"/>
              <a:t>Kemampuan</a:t>
            </a:r>
            <a:r>
              <a:rPr lang="en-US" sz="2000" dirty="0"/>
              <a:t> </a:t>
            </a:r>
            <a:r>
              <a:rPr lang="en-US" sz="2000" dirty="0" err="1"/>
              <a:t>ini</a:t>
            </a:r>
            <a:r>
              <a:rPr lang="en-US" sz="2000" dirty="0"/>
              <a:t> </a:t>
            </a:r>
            <a:r>
              <a:rPr lang="en-US" sz="2000" dirty="0" err="1"/>
              <a:t>lebih</a:t>
            </a:r>
            <a:r>
              <a:rPr lang="en-US" sz="2000" dirty="0"/>
              <a:t> </a:t>
            </a:r>
            <a:r>
              <a:rPr lang="en-US" sz="2000" dirty="0" err="1"/>
              <a:t>dikenal</a:t>
            </a:r>
            <a:r>
              <a:rPr lang="en-US" sz="2000" dirty="0"/>
              <a:t> </a:t>
            </a:r>
            <a:r>
              <a:rPr lang="en-US" sz="2000" dirty="0" err="1"/>
              <a:t>dengan</a:t>
            </a:r>
            <a:r>
              <a:rPr lang="en-US" sz="2000" dirty="0"/>
              <a:t> piezoelectric effect.</a:t>
            </a:r>
            <a:br>
              <a:rPr lang="en-US" sz="2000" dirty="0"/>
            </a:br>
            <a:endParaRPr lang="id-ID" altLang="id-ID" sz="2000" dirty="0"/>
          </a:p>
        </p:txBody>
      </p:sp>
      <p:sp>
        <p:nvSpPr>
          <p:cNvPr id="19460" name="Rectangle 5"/>
          <p:cNvSpPr>
            <a:spLocks noChangeArrowheads="1"/>
          </p:cNvSpPr>
          <p:nvPr/>
        </p:nvSpPr>
        <p:spPr bwMode="auto">
          <a:xfrm>
            <a:off x="1524001" y="2339459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id-ID" altLang="en-US"/>
          </a:p>
        </p:txBody>
      </p:sp>
      <p:graphicFrame>
        <p:nvGraphicFramePr>
          <p:cNvPr id="19461" name="Object 4"/>
          <p:cNvGraphicFramePr>
            <a:graphicFrameLocks noChangeAspect="1"/>
          </p:cNvGraphicFramePr>
          <p:nvPr/>
        </p:nvGraphicFramePr>
        <p:xfrm>
          <a:off x="2057401" y="1600200"/>
          <a:ext cx="3560763" cy="3657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990" name="Visio" r:id="rId4" imgW="1766621" imgH="1808074" progId="Visio.Drawing.11">
                  <p:embed/>
                </p:oleObj>
              </mc:Choice>
              <mc:Fallback>
                <p:oleObj name="Visio" r:id="rId4" imgW="1766621" imgH="1808074" progId="Visio.Drawing.11">
                  <p:embed/>
                  <p:pic>
                    <p:nvPicPr>
                      <p:cNvPr id="19461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7401" y="1600200"/>
                        <a:ext cx="3560763" cy="3657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" name="Picture 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0" y="3907715"/>
            <a:ext cx="2354488" cy="1947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08951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6429" y="1825625"/>
            <a:ext cx="4669971" cy="4351338"/>
          </a:xfrm>
        </p:spPr>
        <p:txBody>
          <a:bodyPr/>
          <a:lstStyle/>
          <a:p>
            <a:pPr marL="0" indent="0">
              <a:buNone/>
            </a:pPr>
            <a:r>
              <a:rPr lang="en-US" sz="2400" dirty="0" err="1"/>
              <a:t>Osilator</a:t>
            </a:r>
            <a:r>
              <a:rPr lang="en-US" sz="2400" dirty="0"/>
              <a:t> Kristal </a:t>
            </a:r>
            <a:r>
              <a:rPr lang="en-US" sz="2400" dirty="0" err="1"/>
              <a:t>adalah</a:t>
            </a:r>
            <a:r>
              <a:rPr lang="en-US" sz="2400" dirty="0"/>
              <a:t> </a:t>
            </a:r>
            <a:r>
              <a:rPr lang="en-US" sz="2400" dirty="0" err="1"/>
              <a:t>osilator</a:t>
            </a:r>
            <a:r>
              <a:rPr lang="en-US" sz="2400" dirty="0"/>
              <a:t> yang </a:t>
            </a:r>
            <a:r>
              <a:rPr lang="en-US" sz="2400" dirty="0" err="1"/>
              <a:t>rangkaian</a:t>
            </a:r>
            <a:r>
              <a:rPr lang="en-US" sz="2400" dirty="0"/>
              <a:t> </a:t>
            </a:r>
            <a:r>
              <a:rPr lang="en-US" sz="2400" dirty="0" err="1"/>
              <a:t>resonansinya</a:t>
            </a:r>
            <a:r>
              <a:rPr lang="en-US" sz="2400" dirty="0"/>
              <a:t> </a:t>
            </a:r>
            <a:r>
              <a:rPr lang="en-US" sz="2400" dirty="0" err="1"/>
              <a:t>tidak</a:t>
            </a:r>
            <a:r>
              <a:rPr lang="en-US" sz="2400" dirty="0"/>
              <a:t> </a:t>
            </a:r>
            <a:r>
              <a:rPr lang="en-US" sz="2400" dirty="0" err="1"/>
              <a:t>menggunakanan</a:t>
            </a:r>
            <a:r>
              <a:rPr lang="en-US" sz="2400" dirty="0"/>
              <a:t> LC </a:t>
            </a:r>
            <a:r>
              <a:rPr lang="en-US" sz="2400" dirty="0" err="1"/>
              <a:t>atau</a:t>
            </a:r>
            <a:r>
              <a:rPr lang="en-US" sz="2400" dirty="0"/>
              <a:t> RC </a:t>
            </a:r>
            <a:r>
              <a:rPr lang="en-US" sz="2400" dirty="0" err="1"/>
              <a:t>melainkan</a:t>
            </a:r>
            <a:r>
              <a:rPr lang="en-US" sz="2400" dirty="0"/>
              <a:t> </a:t>
            </a:r>
            <a:r>
              <a:rPr lang="en-US" sz="2400" dirty="0" err="1"/>
              <a:t>sebuah</a:t>
            </a:r>
            <a:r>
              <a:rPr lang="en-US" sz="2400" dirty="0"/>
              <a:t> </a:t>
            </a:r>
            <a:r>
              <a:rPr lang="en-US" sz="2400" dirty="0" err="1"/>
              <a:t>kristal</a:t>
            </a:r>
            <a:r>
              <a:rPr lang="en-US" sz="2400" dirty="0"/>
              <a:t> </a:t>
            </a:r>
            <a:r>
              <a:rPr lang="en-US" sz="2400" dirty="0" err="1"/>
              <a:t>kwarsa</a:t>
            </a:r>
            <a:r>
              <a:rPr lang="en-US" sz="2400" dirty="0"/>
              <a:t>. </a:t>
            </a:r>
            <a:r>
              <a:rPr lang="en-US" sz="2400" dirty="0" err="1"/>
              <a:t>Rangkaian</a:t>
            </a:r>
            <a:r>
              <a:rPr lang="en-US" sz="2400" dirty="0"/>
              <a:t> </a:t>
            </a:r>
            <a:r>
              <a:rPr lang="en-US" sz="2400" dirty="0" err="1"/>
              <a:t>dalam</a:t>
            </a:r>
            <a:r>
              <a:rPr lang="en-US" sz="2400" dirty="0"/>
              <a:t> </a:t>
            </a:r>
            <a:r>
              <a:rPr lang="en-US" sz="2400" dirty="0" err="1"/>
              <a:t>kristal</a:t>
            </a:r>
            <a:r>
              <a:rPr lang="en-US" sz="2400" dirty="0"/>
              <a:t> </a:t>
            </a:r>
            <a:r>
              <a:rPr lang="en-US" sz="2400" dirty="0" err="1"/>
              <a:t>mewakili</a:t>
            </a:r>
            <a:r>
              <a:rPr lang="en-US" sz="2400" dirty="0"/>
              <a:t> </a:t>
            </a:r>
            <a:r>
              <a:rPr lang="en-US" sz="2400" dirty="0" err="1"/>
              <a:t>rangkaian</a:t>
            </a:r>
            <a:r>
              <a:rPr lang="en-US" sz="2400" dirty="0"/>
              <a:t> R, L </a:t>
            </a:r>
            <a:r>
              <a:rPr lang="en-US" sz="2400" dirty="0" err="1"/>
              <a:t>dan</a:t>
            </a:r>
            <a:r>
              <a:rPr lang="en-US" sz="2400" dirty="0"/>
              <a:t> C yang </a:t>
            </a:r>
            <a:r>
              <a:rPr lang="en-US" sz="2400" dirty="0" err="1"/>
              <a:t>disusun</a:t>
            </a:r>
            <a:r>
              <a:rPr lang="en-US" sz="2400" dirty="0"/>
              <a:t> </a:t>
            </a:r>
            <a:r>
              <a:rPr lang="en-US" sz="2400" dirty="0" err="1"/>
              <a:t>seri</a:t>
            </a:r>
            <a:r>
              <a:rPr lang="en-US" sz="2400" dirty="0"/>
              <a:t>. </a:t>
            </a:r>
          </a:p>
        </p:txBody>
      </p:sp>
      <p:pic>
        <p:nvPicPr>
          <p:cNvPr id="31746" name="Picture 2" descr="http://4.bp.blogspot.com/-SqSmb1t5csA/UkLuEUsW-0I/AAAAAAAAAU0/ub_ljWoRB5A/s320/R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6401" y="1792288"/>
            <a:ext cx="4661121" cy="41513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991529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4600" y="623477"/>
            <a:ext cx="7162800" cy="5611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56447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VCO (Voltage Controlled Oscillator)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err="1" smtClean="0"/>
              <a:t>Suatu</a:t>
            </a:r>
            <a:r>
              <a:rPr lang="en-US" dirty="0" smtClean="0"/>
              <a:t> </a:t>
            </a:r>
            <a:r>
              <a:rPr lang="en-US" dirty="0" err="1"/>
              <a:t>osilator</a:t>
            </a:r>
            <a:r>
              <a:rPr lang="en-US" dirty="0"/>
              <a:t> </a:t>
            </a:r>
            <a:r>
              <a:rPr lang="en-US" dirty="0" err="1"/>
              <a:t>elektronik</a:t>
            </a:r>
            <a:r>
              <a:rPr lang="en-US" dirty="0"/>
              <a:t> </a:t>
            </a:r>
            <a:r>
              <a:rPr lang="en-US" dirty="0" err="1"/>
              <a:t>dimana</a:t>
            </a:r>
            <a:r>
              <a:rPr lang="en-US" dirty="0"/>
              <a:t> </a:t>
            </a:r>
            <a:r>
              <a:rPr lang="en-US" dirty="0" err="1"/>
              <a:t>frekuensi</a:t>
            </a:r>
            <a:r>
              <a:rPr lang="en-US" dirty="0"/>
              <a:t> </a:t>
            </a:r>
            <a:r>
              <a:rPr lang="en-US" dirty="0" err="1"/>
              <a:t>keluarannya</a:t>
            </a:r>
            <a:r>
              <a:rPr lang="en-US" dirty="0"/>
              <a:t> </a:t>
            </a:r>
            <a:r>
              <a:rPr lang="en-US" dirty="0" err="1"/>
              <a:t>diatur</a:t>
            </a:r>
            <a:r>
              <a:rPr lang="en-US" dirty="0"/>
              <a:t> </a:t>
            </a:r>
            <a:r>
              <a:rPr lang="en-US" dirty="0" err="1"/>
              <a:t>oleh</a:t>
            </a:r>
            <a:r>
              <a:rPr lang="en-US" dirty="0"/>
              <a:t> </a:t>
            </a:r>
            <a:r>
              <a:rPr lang="en-US" dirty="0" err="1"/>
              <a:t>suatu</a:t>
            </a:r>
            <a:r>
              <a:rPr lang="en-US" dirty="0"/>
              <a:t> </a:t>
            </a:r>
            <a:r>
              <a:rPr lang="en-US" dirty="0" err="1"/>
              <a:t>tegangan</a:t>
            </a:r>
            <a:r>
              <a:rPr lang="en-US" dirty="0"/>
              <a:t> input DC yang </a:t>
            </a:r>
            <a:r>
              <a:rPr lang="en-US" dirty="0" err="1"/>
              <a:t>diberikan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7871" y="3050081"/>
            <a:ext cx="3581400" cy="2806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88013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Subtitle 2"/>
          <p:cNvSpPr txBox="1">
            <a:spLocks/>
          </p:cNvSpPr>
          <p:nvPr/>
        </p:nvSpPr>
        <p:spPr>
          <a:xfrm>
            <a:off x="1104646" y="3817180"/>
            <a:ext cx="5178582" cy="165576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just">
              <a:buFontTx/>
              <a:buChar char="-"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592048" y="4424926"/>
            <a:ext cx="4376174" cy="17235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00" dirty="0">
                <a:latin typeface="Edwardian Script ITC" panose="030303020407070D0804" pitchFamily="66" charset="0"/>
              </a:rPr>
              <a:t>Thank You !!</a:t>
            </a:r>
          </a:p>
          <a:p>
            <a:pPr algn="ctr"/>
            <a:r>
              <a:rPr lang="en-US" sz="4000" dirty="0">
                <a:latin typeface="Edwardian Script ITC" panose="030303020407070D0804" pitchFamily="66" charset="0"/>
              </a:rPr>
              <a:t> </a:t>
            </a:r>
          </a:p>
        </p:txBody>
      </p:sp>
      <p:sp>
        <p:nvSpPr>
          <p:cNvPr id="8" name="Rectangle 7"/>
          <p:cNvSpPr/>
          <p:nvPr/>
        </p:nvSpPr>
        <p:spPr>
          <a:xfrm>
            <a:off x="9507866" y="6056142"/>
            <a:ext cx="2613761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900" dirty="0"/>
              <a:t>https://www.youtube.com/@AmelOline/videos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344774" y="5917643"/>
            <a:ext cx="1623448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900" dirty="0"/>
              <a:t>https://github.com/siagianp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531473" y="6194642"/>
            <a:ext cx="3667194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900" dirty="0"/>
              <a:t>https://github.com/amelcharolinesgn2/IoT_simulator-mqtt-NodeRed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977163" y="6333141"/>
            <a:ext cx="3204723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900" dirty="0"/>
              <a:t>https://github.com/amelcharolinesgn2/Cloud-Infrastructures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444566" y="6506265"/>
            <a:ext cx="3839513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900" dirty="0"/>
              <a:t>https://github.com/amelcharolinesgn2/ClouD-Infrastructure-SISKA-2025</a:t>
            </a:r>
          </a:p>
        </p:txBody>
      </p:sp>
      <p:grpSp>
        <p:nvGrpSpPr>
          <p:cNvPr id="15" name="Group 14"/>
          <p:cNvGrpSpPr/>
          <p:nvPr/>
        </p:nvGrpSpPr>
        <p:grpSpPr>
          <a:xfrm>
            <a:off x="54496" y="359621"/>
            <a:ext cx="4804363" cy="2463094"/>
            <a:chOff x="54496" y="359621"/>
            <a:chExt cx="4804363" cy="2463094"/>
          </a:xfrm>
        </p:grpSpPr>
        <p:pic>
          <p:nvPicPr>
            <p:cNvPr id="16" name="Picture 1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35105" y="1901987"/>
              <a:ext cx="3104181" cy="263526"/>
            </a:xfrm>
            <a:prstGeom prst="rect">
              <a:avLst/>
            </a:prstGeom>
          </p:spPr>
        </p:pic>
        <p:sp>
          <p:nvSpPr>
            <p:cNvPr id="17" name="Title 4">
              <a:extLst>
                <a:ext uri="{FF2B5EF4-FFF2-40B4-BE49-F238E27FC236}">
                  <a16:creationId xmlns:a16="http://schemas.microsoft.com/office/drawing/2014/main" id="{27228BAE-048B-681E-DD8D-BD96B22560E0}"/>
                </a:ext>
              </a:extLst>
            </p:cNvPr>
            <p:cNvSpPr txBox="1">
              <a:spLocks/>
            </p:cNvSpPr>
            <p:nvPr/>
          </p:nvSpPr>
          <p:spPr>
            <a:xfrm>
              <a:off x="54496" y="1922610"/>
              <a:ext cx="4804363" cy="900105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rmAutofit fontScale="90000"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just"/>
              <a:r>
                <a:rPr lang="en-US" dirty="0" smtClean="0">
                  <a:solidFill>
                    <a:schemeClr val="accent1">
                      <a:lumMod val="75000"/>
                    </a:schemeClr>
                  </a:solidFill>
                </a:rPr>
                <a:t>Computer </a:t>
              </a:r>
              <a:r>
                <a:rPr lang="en-US" dirty="0" smtClean="0">
                  <a:solidFill>
                    <a:srgbClr val="00B0F0"/>
                  </a:solidFill>
                </a:rPr>
                <a:t>Vision</a:t>
              </a:r>
              <a:endParaRPr lang="en-US" dirty="0">
                <a:solidFill>
                  <a:srgbClr val="00B0F0"/>
                </a:solidFill>
              </a:endParaRPr>
            </a:p>
          </p:txBody>
        </p: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2AABCB87-2ECC-4C03-B5BB-6EE11C8A4485}"/>
                </a:ext>
              </a:extLst>
            </p:cNvPr>
            <p:cNvGrpSpPr/>
            <p:nvPr/>
          </p:nvGrpSpPr>
          <p:grpSpPr>
            <a:xfrm>
              <a:off x="89638" y="359621"/>
              <a:ext cx="3064025" cy="1516520"/>
              <a:chOff x="4853562" y="1589418"/>
              <a:chExt cx="2609520" cy="1291565"/>
            </a:xfrm>
          </p:grpSpPr>
          <p:sp>
            <p:nvSpPr>
              <p:cNvPr id="25" name="Freeform 24">
                <a:extLst>
                  <a:ext uri="{FF2B5EF4-FFF2-40B4-BE49-F238E27FC236}">
                    <a16:creationId xmlns:a16="http://schemas.microsoft.com/office/drawing/2014/main" id="{03546B24-FABC-4B2A-A80F-B03654D56A7D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H="1">
                <a:off x="4853562" y="1589418"/>
                <a:ext cx="2232248" cy="1202698"/>
              </a:xfrm>
              <a:custGeom>
                <a:avLst/>
                <a:gdLst/>
                <a:ahLst/>
                <a:cxnLst/>
                <a:rect l="l" t="t" r="r" b="b"/>
                <a:pathLst>
                  <a:path w="1872168" h="1008693">
                    <a:moveTo>
                      <a:pt x="699542" y="162"/>
                    </a:moveTo>
                    <a:cubicBezTo>
                      <a:pt x="683169" y="534"/>
                      <a:pt x="666273" y="1556"/>
                      <a:pt x="648845" y="3291"/>
                    </a:cubicBezTo>
                    <a:cubicBezTo>
                      <a:pt x="357120" y="49686"/>
                      <a:pt x="273885" y="284789"/>
                      <a:pt x="274981" y="413694"/>
                    </a:cubicBezTo>
                    <a:cubicBezTo>
                      <a:pt x="4451" y="471904"/>
                      <a:pt x="-11347" y="662854"/>
                      <a:pt x="4101" y="753457"/>
                    </a:cubicBezTo>
                    <a:cubicBezTo>
                      <a:pt x="42383" y="946818"/>
                      <a:pt x="296257" y="1004273"/>
                      <a:pt x="384912" y="1005378"/>
                    </a:cubicBezTo>
                    <a:lnTo>
                      <a:pt x="1507196" y="1008693"/>
                    </a:lnTo>
                    <a:cubicBezTo>
                      <a:pt x="1646895" y="1000406"/>
                      <a:pt x="1746295" y="947371"/>
                      <a:pt x="1825546" y="854557"/>
                    </a:cubicBezTo>
                    <a:cubicBezTo>
                      <a:pt x="1897410" y="760086"/>
                      <a:pt x="1873973" y="626012"/>
                      <a:pt x="1836613" y="558208"/>
                    </a:cubicBezTo>
                    <a:cubicBezTo>
                      <a:pt x="1808089" y="509360"/>
                      <a:pt x="1675919" y="402617"/>
                      <a:pt x="1507617" y="430504"/>
                    </a:cubicBezTo>
                    <a:cubicBezTo>
                      <a:pt x="1525469" y="335682"/>
                      <a:pt x="1477961" y="244522"/>
                      <a:pt x="1398003" y="206286"/>
                    </a:cubicBezTo>
                    <a:cubicBezTo>
                      <a:pt x="1299806" y="153261"/>
                      <a:pt x="1182195" y="177294"/>
                      <a:pt x="1108176" y="215068"/>
                    </a:cubicBezTo>
                    <a:cubicBezTo>
                      <a:pt x="1072916" y="135306"/>
                      <a:pt x="945134" y="-5422"/>
                      <a:pt x="699542" y="162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3601">
                  <a:solidFill>
                    <a:schemeClr val="tx1"/>
                  </a:solidFill>
                </a:endParaRPr>
              </a:p>
            </p:txBody>
          </p:sp>
          <p:sp>
            <p:nvSpPr>
              <p:cNvPr id="26" name="Freeform 25">
                <a:extLst>
                  <a:ext uri="{FF2B5EF4-FFF2-40B4-BE49-F238E27FC236}">
                    <a16:creationId xmlns:a16="http://schemas.microsoft.com/office/drawing/2014/main" id="{02E1A011-CDEA-4BBC-B725-C88AF5464891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H="1">
                <a:off x="5230834" y="1678285"/>
                <a:ext cx="2232248" cy="1202698"/>
              </a:xfrm>
              <a:custGeom>
                <a:avLst/>
                <a:gdLst/>
                <a:ahLst/>
                <a:cxnLst/>
                <a:rect l="l" t="t" r="r" b="b"/>
                <a:pathLst>
                  <a:path w="1872168" h="1008693">
                    <a:moveTo>
                      <a:pt x="699542" y="162"/>
                    </a:moveTo>
                    <a:cubicBezTo>
                      <a:pt x="683169" y="534"/>
                      <a:pt x="666273" y="1556"/>
                      <a:pt x="648845" y="3291"/>
                    </a:cubicBezTo>
                    <a:cubicBezTo>
                      <a:pt x="357120" y="49686"/>
                      <a:pt x="273885" y="284789"/>
                      <a:pt x="274981" y="413694"/>
                    </a:cubicBezTo>
                    <a:cubicBezTo>
                      <a:pt x="4451" y="471904"/>
                      <a:pt x="-11347" y="662854"/>
                      <a:pt x="4101" y="753457"/>
                    </a:cubicBezTo>
                    <a:cubicBezTo>
                      <a:pt x="42383" y="946818"/>
                      <a:pt x="296257" y="1004273"/>
                      <a:pt x="384912" y="1005378"/>
                    </a:cubicBezTo>
                    <a:lnTo>
                      <a:pt x="1507196" y="1008693"/>
                    </a:lnTo>
                    <a:cubicBezTo>
                      <a:pt x="1646895" y="1000406"/>
                      <a:pt x="1746295" y="947371"/>
                      <a:pt x="1825546" y="854557"/>
                    </a:cubicBezTo>
                    <a:cubicBezTo>
                      <a:pt x="1897410" y="760086"/>
                      <a:pt x="1873973" y="626012"/>
                      <a:pt x="1836613" y="558208"/>
                    </a:cubicBezTo>
                    <a:cubicBezTo>
                      <a:pt x="1808089" y="509360"/>
                      <a:pt x="1675919" y="402617"/>
                      <a:pt x="1507617" y="430504"/>
                    </a:cubicBezTo>
                    <a:cubicBezTo>
                      <a:pt x="1525469" y="335682"/>
                      <a:pt x="1477961" y="244522"/>
                      <a:pt x="1398003" y="206286"/>
                    </a:cubicBezTo>
                    <a:cubicBezTo>
                      <a:pt x="1299806" y="153261"/>
                      <a:pt x="1182195" y="177294"/>
                      <a:pt x="1108176" y="215068"/>
                    </a:cubicBezTo>
                    <a:cubicBezTo>
                      <a:pt x="1072916" y="135306"/>
                      <a:pt x="945134" y="-5422"/>
                      <a:pt x="699542" y="162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3601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AB8BC7BC-BF58-402E-9A69-AA9226DE7CAA}"/>
                </a:ext>
              </a:extLst>
            </p:cNvPr>
            <p:cNvGrpSpPr/>
            <p:nvPr/>
          </p:nvGrpSpPr>
          <p:grpSpPr>
            <a:xfrm>
              <a:off x="1356703" y="883096"/>
              <a:ext cx="1334145" cy="620384"/>
              <a:chOff x="7729280" y="2195997"/>
              <a:chExt cx="2143740" cy="996849"/>
            </a:xfrm>
            <a:solidFill>
              <a:schemeClr val="accent6"/>
            </a:solidFill>
          </p:grpSpPr>
          <p:sp>
            <p:nvSpPr>
              <p:cNvPr id="23" name="Freeform: Shape 66">
                <a:extLst>
                  <a:ext uri="{FF2B5EF4-FFF2-40B4-BE49-F238E27FC236}">
                    <a16:creationId xmlns:a16="http://schemas.microsoft.com/office/drawing/2014/main" id="{2A081543-B9FF-49B1-8EEF-ABDF5438EDCD}"/>
                  </a:ext>
                </a:extLst>
              </p:cNvPr>
              <p:cNvSpPr/>
              <p:nvPr/>
            </p:nvSpPr>
            <p:spPr>
              <a:xfrm>
                <a:off x="7729280" y="2195997"/>
                <a:ext cx="2143740" cy="996849"/>
              </a:xfrm>
              <a:custGeom>
                <a:avLst/>
                <a:gdLst/>
                <a:ahLst/>
                <a:cxnLst/>
                <a:rect l="l" t="t" r="r" b="b"/>
                <a:pathLst>
                  <a:path w="1862733" h="866179">
                    <a:moveTo>
                      <a:pt x="794147" y="204787"/>
                    </a:moveTo>
                    <a:cubicBezTo>
                      <a:pt x="745605" y="204787"/>
                      <a:pt x="701637" y="218416"/>
                      <a:pt x="662244" y="245673"/>
                    </a:cubicBezTo>
                    <a:cubicBezTo>
                      <a:pt x="622851" y="272930"/>
                      <a:pt x="594798" y="309240"/>
                      <a:pt x="578086" y="354601"/>
                    </a:cubicBezTo>
                    <a:cubicBezTo>
                      <a:pt x="568536" y="380467"/>
                      <a:pt x="563761" y="406729"/>
                      <a:pt x="563761" y="433387"/>
                    </a:cubicBezTo>
                    <a:cubicBezTo>
                      <a:pt x="563761" y="488299"/>
                      <a:pt x="582064" y="537440"/>
                      <a:pt x="618670" y="580811"/>
                    </a:cubicBezTo>
                    <a:cubicBezTo>
                      <a:pt x="664031" y="634532"/>
                      <a:pt x="722524" y="661392"/>
                      <a:pt x="794147" y="661392"/>
                    </a:cubicBezTo>
                    <a:cubicBezTo>
                      <a:pt x="865771" y="661392"/>
                      <a:pt x="924462" y="634733"/>
                      <a:pt x="970220" y="581415"/>
                    </a:cubicBezTo>
                    <a:cubicBezTo>
                      <a:pt x="1006826" y="538838"/>
                      <a:pt x="1025128" y="489496"/>
                      <a:pt x="1025128" y="433387"/>
                    </a:cubicBezTo>
                    <a:cubicBezTo>
                      <a:pt x="1025128" y="376088"/>
                      <a:pt x="1006826" y="326547"/>
                      <a:pt x="970220" y="284764"/>
                    </a:cubicBezTo>
                    <a:cubicBezTo>
                      <a:pt x="923265" y="231446"/>
                      <a:pt x="864574" y="204787"/>
                      <a:pt x="794147" y="204787"/>
                    </a:cubicBezTo>
                    <a:close/>
                    <a:moveTo>
                      <a:pt x="1304330" y="24408"/>
                    </a:moveTo>
                    <a:lnTo>
                      <a:pt x="1862733" y="24408"/>
                    </a:lnTo>
                    <a:lnTo>
                      <a:pt x="1862733" y="200620"/>
                    </a:lnTo>
                    <a:lnTo>
                      <a:pt x="1687711" y="200620"/>
                    </a:lnTo>
                    <a:lnTo>
                      <a:pt x="1687711" y="837009"/>
                    </a:lnTo>
                    <a:lnTo>
                      <a:pt x="1476375" y="837009"/>
                    </a:lnTo>
                    <a:lnTo>
                      <a:pt x="1476375" y="200620"/>
                    </a:lnTo>
                    <a:lnTo>
                      <a:pt x="1304330" y="200620"/>
                    </a:lnTo>
                    <a:close/>
                    <a:moveTo>
                      <a:pt x="0" y="24408"/>
                    </a:moveTo>
                    <a:lnTo>
                      <a:pt x="211336" y="24408"/>
                    </a:lnTo>
                    <a:lnTo>
                      <a:pt x="211336" y="837009"/>
                    </a:lnTo>
                    <a:lnTo>
                      <a:pt x="0" y="837009"/>
                    </a:lnTo>
                    <a:close/>
                    <a:moveTo>
                      <a:pt x="794147" y="0"/>
                    </a:moveTo>
                    <a:cubicBezTo>
                      <a:pt x="937022" y="0"/>
                      <a:pt x="1050330" y="47426"/>
                      <a:pt x="1134071" y="142280"/>
                    </a:cubicBezTo>
                    <a:cubicBezTo>
                      <a:pt x="1207493" y="225623"/>
                      <a:pt x="1244204" y="322659"/>
                      <a:pt x="1244204" y="433387"/>
                    </a:cubicBezTo>
                    <a:cubicBezTo>
                      <a:pt x="1244204" y="543719"/>
                      <a:pt x="1207493" y="640556"/>
                      <a:pt x="1134071" y="723900"/>
                    </a:cubicBezTo>
                    <a:cubicBezTo>
                      <a:pt x="1050330" y="818753"/>
                      <a:pt x="937022" y="866179"/>
                      <a:pt x="794147" y="866179"/>
                    </a:cubicBezTo>
                    <a:cubicBezTo>
                      <a:pt x="651669" y="866179"/>
                      <a:pt x="538560" y="818753"/>
                      <a:pt x="454819" y="723900"/>
                    </a:cubicBezTo>
                    <a:cubicBezTo>
                      <a:pt x="381397" y="640556"/>
                      <a:pt x="344686" y="543719"/>
                      <a:pt x="344686" y="433387"/>
                    </a:cubicBezTo>
                    <a:cubicBezTo>
                      <a:pt x="344686" y="382984"/>
                      <a:pt x="354608" y="331291"/>
                      <a:pt x="374452" y="278308"/>
                    </a:cubicBezTo>
                    <a:cubicBezTo>
                      <a:pt x="394296" y="225326"/>
                      <a:pt x="420886" y="179983"/>
                      <a:pt x="454224" y="142280"/>
                    </a:cubicBezTo>
                    <a:cubicBezTo>
                      <a:pt x="537964" y="47426"/>
                      <a:pt x="651272" y="0"/>
                      <a:pt x="794147" y="0"/>
                    </a:cubicBezTo>
                    <a:close/>
                  </a:path>
                </a:pathLst>
              </a:custGeom>
              <a:solidFill>
                <a:srgbClr val="00B0F0"/>
              </a:solidFill>
              <a:ln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sz="2400" dirty="0"/>
              </a:p>
            </p:txBody>
          </p:sp>
          <p:sp>
            <p:nvSpPr>
              <p:cNvPr id="24" name="Freeform: Shape 67">
                <a:extLst>
                  <a:ext uri="{FF2B5EF4-FFF2-40B4-BE49-F238E27FC236}">
                    <a16:creationId xmlns:a16="http://schemas.microsoft.com/office/drawing/2014/main" id="{275D1FAA-C13F-4A6B-BA37-7704CFB7ADCD}"/>
                  </a:ext>
                </a:extLst>
              </p:cNvPr>
              <p:cNvSpPr/>
              <p:nvPr/>
            </p:nvSpPr>
            <p:spPr>
              <a:xfrm>
                <a:off x="8421007" y="2543552"/>
                <a:ext cx="443936" cy="326800"/>
              </a:xfrm>
              <a:custGeom>
                <a:avLst/>
                <a:gdLst>
                  <a:gd name="connsiteX0" fmla="*/ 1869041 w 3738080"/>
                  <a:gd name="connsiteY0" fmla="*/ 1997576 h 2751770"/>
                  <a:gd name="connsiteX1" fmla="*/ 2246138 w 3738080"/>
                  <a:gd name="connsiteY1" fmla="*/ 2374673 h 2751770"/>
                  <a:gd name="connsiteX2" fmla="*/ 1869041 w 3738080"/>
                  <a:gd name="connsiteY2" fmla="*/ 2751770 h 2751770"/>
                  <a:gd name="connsiteX3" fmla="*/ 1491944 w 3738080"/>
                  <a:gd name="connsiteY3" fmla="*/ 2374673 h 2751770"/>
                  <a:gd name="connsiteX4" fmla="*/ 1869041 w 3738080"/>
                  <a:gd name="connsiteY4" fmla="*/ 1997576 h 2751770"/>
                  <a:gd name="connsiteX5" fmla="*/ 2788485 w 3738080"/>
                  <a:gd name="connsiteY5" fmla="*/ 1841061 h 2751770"/>
                  <a:gd name="connsiteX6" fmla="*/ 2632248 w 3738080"/>
                  <a:gd name="connsiteY6" fmla="*/ 1992174 h 2751770"/>
                  <a:gd name="connsiteX7" fmla="*/ 2624294 w 3738080"/>
                  <a:gd name="connsiteY7" fmla="*/ 1992174 h 2751770"/>
                  <a:gd name="connsiteX8" fmla="*/ 1858846 w 3738080"/>
                  <a:gd name="connsiteY8" fmla="*/ 1306247 h 2751770"/>
                  <a:gd name="connsiteX9" fmla="*/ 2645621 w 3738080"/>
                  <a:gd name="connsiteY9" fmla="*/ 1504218 h 2751770"/>
                  <a:gd name="connsiteX10" fmla="*/ 2795575 w 3738080"/>
                  <a:gd name="connsiteY10" fmla="*/ 1757331 h 2751770"/>
                  <a:gd name="connsiteX11" fmla="*/ 2539052 w 3738080"/>
                  <a:gd name="connsiteY11" fmla="*/ 1841672 h 2751770"/>
                  <a:gd name="connsiteX12" fmla="*/ 1353947 w 3738080"/>
                  <a:gd name="connsiteY12" fmla="*/ 1778974 h 2751770"/>
                  <a:gd name="connsiteX13" fmla="*/ 982333 w 3738080"/>
                  <a:gd name="connsiteY13" fmla="*/ 1780833 h 2751770"/>
                  <a:gd name="connsiteX14" fmla="*/ 966756 w 3738080"/>
                  <a:gd name="connsiteY14" fmla="*/ 1667407 h 2751770"/>
                  <a:gd name="connsiteX15" fmla="*/ 1217540 w 3738080"/>
                  <a:gd name="connsiteY15" fmla="*/ 1445700 h 2751770"/>
                  <a:gd name="connsiteX16" fmla="*/ 1858846 w 3738080"/>
                  <a:gd name="connsiteY16" fmla="*/ 1306247 h 2751770"/>
                  <a:gd name="connsiteX17" fmla="*/ 1828129 w 3738080"/>
                  <a:gd name="connsiteY17" fmla="*/ 650059 h 2751770"/>
                  <a:gd name="connsiteX18" fmla="*/ 3108200 w 3738080"/>
                  <a:gd name="connsiteY18" fmla="*/ 1008980 h 2751770"/>
                  <a:gd name="connsiteX19" fmla="*/ 3258155 w 3738080"/>
                  <a:gd name="connsiteY19" fmla="*/ 1319033 h 2751770"/>
                  <a:gd name="connsiteX20" fmla="*/ 2937692 w 3738080"/>
                  <a:gd name="connsiteY20" fmla="*/ 1304637 h 2751770"/>
                  <a:gd name="connsiteX21" fmla="*/ 763561 w 3738080"/>
                  <a:gd name="connsiteY21" fmla="*/ 1325535 h 2751770"/>
                  <a:gd name="connsiteX22" fmla="*/ 464412 w 3738080"/>
                  <a:gd name="connsiteY22" fmla="*/ 1278813 h 2751770"/>
                  <a:gd name="connsiteX23" fmla="*/ 450482 w 3738080"/>
                  <a:gd name="connsiteY23" fmla="*/ 1202928 h 2751770"/>
                  <a:gd name="connsiteX24" fmla="*/ 622892 w 3738080"/>
                  <a:gd name="connsiteY24" fmla="*/ 1008979 h 2751770"/>
                  <a:gd name="connsiteX25" fmla="*/ 1828129 w 3738080"/>
                  <a:gd name="connsiteY25" fmla="*/ 650059 h 2751770"/>
                  <a:gd name="connsiteX26" fmla="*/ 1764313 w 3738080"/>
                  <a:gd name="connsiteY26" fmla="*/ 591 h 2751770"/>
                  <a:gd name="connsiteX27" fmla="*/ 3559697 w 3738080"/>
                  <a:gd name="connsiteY27" fmla="*/ 547180 h 2751770"/>
                  <a:gd name="connsiteX28" fmla="*/ 3709650 w 3738080"/>
                  <a:gd name="connsiteY28" fmla="*/ 882310 h 2751770"/>
                  <a:gd name="connsiteX29" fmla="*/ 3367875 w 3738080"/>
                  <a:gd name="connsiteY29" fmla="*/ 834477 h 2751770"/>
                  <a:gd name="connsiteX30" fmla="*/ 318417 w 3738080"/>
                  <a:gd name="connsiteY30" fmla="*/ 884635 h 2751770"/>
                  <a:gd name="connsiteX31" fmla="*/ 19267 w 3738080"/>
                  <a:gd name="connsiteY31" fmla="*/ 846272 h 2751770"/>
                  <a:gd name="connsiteX32" fmla="*/ 275 w 3738080"/>
                  <a:gd name="connsiteY32" fmla="*/ 760137 h 2751770"/>
                  <a:gd name="connsiteX33" fmla="*/ 173484 w 3738080"/>
                  <a:gd name="connsiteY33" fmla="*/ 547180 h 2751770"/>
                  <a:gd name="connsiteX34" fmla="*/ 1764313 w 3738080"/>
                  <a:gd name="connsiteY34" fmla="*/ 591 h 2751770"/>
                  <a:gd name="connsiteX0" fmla="*/ 1869041 w 3738080"/>
                  <a:gd name="connsiteY0" fmla="*/ 1997576 h 2751770"/>
                  <a:gd name="connsiteX1" fmla="*/ 2246138 w 3738080"/>
                  <a:gd name="connsiteY1" fmla="*/ 2374673 h 2751770"/>
                  <a:gd name="connsiteX2" fmla="*/ 1869041 w 3738080"/>
                  <a:gd name="connsiteY2" fmla="*/ 2751770 h 2751770"/>
                  <a:gd name="connsiteX3" fmla="*/ 1491944 w 3738080"/>
                  <a:gd name="connsiteY3" fmla="*/ 2374673 h 2751770"/>
                  <a:gd name="connsiteX4" fmla="*/ 1869041 w 3738080"/>
                  <a:gd name="connsiteY4" fmla="*/ 1997576 h 2751770"/>
                  <a:gd name="connsiteX5" fmla="*/ 2624294 w 3738080"/>
                  <a:gd name="connsiteY5" fmla="*/ 1992174 h 2751770"/>
                  <a:gd name="connsiteX6" fmla="*/ 2632248 w 3738080"/>
                  <a:gd name="connsiteY6" fmla="*/ 1992174 h 2751770"/>
                  <a:gd name="connsiteX7" fmla="*/ 2624294 w 3738080"/>
                  <a:gd name="connsiteY7" fmla="*/ 1992174 h 2751770"/>
                  <a:gd name="connsiteX8" fmla="*/ 1858846 w 3738080"/>
                  <a:gd name="connsiteY8" fmla="*/ 1306247 h 2751770"/>
                  <a:gd name="connsiteX9" fmla="*/ 2645621 w 3738080"/>
                  <a:gd name="connsiteY9" fmla="*/ 1504218 h 2751770"/>
                  <a:gd name="connsiteX10" fmla="*/ 2795575 w 3738080"/>
                  <a:gd name="connsiteY10" fmla="*/ 1757331 h 2751770"/>
                  <a:gd name="connsiteX11" fmla="*/ 2539052 w 3738080"/>
                  <a:gd name="connsiteY11" fmla="*/ 1841672 h 2751770"/>
                  <a:gd name="connsiteX12" fmla="*/ 1353947 w 3738080"/>
                  <a:gd name="connsiteY12" fmla="*/ 1778974 h 2751770"/>
                  <a:gd name="connsiteX13" fmla="*/ 982333 w 3738080"/>
                  <a:gd name="connsiteY13" fmla="*/ 1780833 h 2751770"/>
                  <a:gd name="connsiteX14" fmla="*/ 966756 w 3738080"/>
                  <a:gd name="connsiteY14" fmla="*/ 1667407 h 2751770"/>
                  <a:gd name="connsiteX15" fmla="*/ 1217540 w 3738080"/>
                  <a:gd name="connsiteY15" fmla="*/ 1445700 h 2751770"/>
                  <a:gd name="connsiteX16" fmla="*/ 1858846 w 3738080"/>
                  <a:gd name="connsiteY16" fmla="*/ 1306247 h 2751770"/>
                  <a:gd name="connsiteX17" fmla="*/ 1828129 w 3738080"/>
                  <a:gd name="connsiteY17" fmla="*/ 650059 h 2751770"/>
                  <a:gd name="connsiteX18" fmla="*/ 3108200 w 3738080"/>
                  <a:gd name="connsiteY18" fmla="*/ 1008980 h 2751770"/>
                  <a:gd name="connsiteX19" fmla="*/ 3258155 w 3738080"/>
                  <a:gd name="connsiteY19" fmla="*/ 1319033 h 2751770"/>
                  <a:gd name="connsiteX20" fmla="*/ 2937692 w 3738080"/>
                  <a:gd name="connsiteY20" fmla="*/ 1304637 h 2751770"/>
                  <a:gd name="connsiteX21" fmla="*/ 763561 w 3738080"/>
                  <a:gd name="connsiteY21" fmla="*/ 1325535 h 2751770"/>
                  <a:gd name="connsiteX22" fmla="*/ 464412 w 3738080"/>
                  <a:gd name="connsiteY22" fmla="*/ 1278813 h 2751770"/>
                  <a:gd name="connsiteX23" fmla="*/ 450482 w 3738080"/>
                  <a:gd name="connsiteY23" fmla="*/ 1202928 h 2751770"/>
                  <a:gd name="connsiteX24" fmla="*/ 622892 w 3738080"/>
                  <a:gd name="connsiteY24" fmla="*/ 1008979 h 2751770"/>
                  <a:gd name="connsiteX25" fmla="*/ 1828129 w 3738080"/>
                  <a:gd name="connsiteY25" fmla="*/ 650059 h 2751770"/>
                  <a:gd name="connsiteX26" fmla="*/ 1764313 w 3738080"/>
                  <a:gd name="connsiteY26" fmla="*/ 591 h 2751770"/>
                  <a:gd name="connsiteX27" fmla="*/ 3559697 w 3738080"/>
                  <a:gd name="connsiteY27" fmla="*/ 547180 h 2751770"/>
                  <a:gd name="connsiteX28" fmla="*/ 3709650 w 3738080"/>
                  <a:gd name="connsiteY28" fmla="*/ 882310 h 2751770"/>
                  <a:gd name="connsiteX29" fmla="*/ 3367875 w 3738080"/>
                  <a:gd name="connsiteY29" fmla="*/ 834477 h 2751770"/>
                  <a:gd name="connsiteX30" fmla="*/ 318417 w 3738080"/>
                  <a:gd name="connsiteY30" fmla="*/ 884635 h 2751770"/>
                  <a:gd name="connsiteX31" fmla="*/ 19267 w 3738080"/>
                  <a:gd name="connsiteY31" fmla="*/ 846272 h 2751770"/>
                  <a:gd name="connsiteX32" fmla="*/ 275 w 3738080"/>
                  <a:gd name="connsiteY32" fmla="*/ 760137 h 2751770"/>
                  <a:gd name="connsiteX33" fmla="*/ 173484 w 3738080"/>
                  <a:gd name="connsiteY33" fmla="*/ 547180 h 2751770"/>
                  <a:gd name="connsiteX34" fmla="*/ 1764313 w 3738080"/>
                  <a:gd name="connsiteY34" fmla="*/ 591 h 2751770"/>
                  <a:gd name="connsiteX0" fmla="*/ 1869041 w 3738080"/>
                  <a:gd name="connsiteY0" fmla="*/ 1997576 h 2751770"/>
                  <a:gd name="connsiteX1" fmla="*/ 2246138 w 3738080"/>
                  <a:gd name="connsiteY1" fmla="*/ 2374673 h 2751770"/>
                  <a:gd name="connsiteX2" fmla="*/ 1869041 w 3738080"/>
                  <a:gd name="connsiteY2" fmla="*/ 2751770 h 2751770"/>
                  <a:gd name="connsiteX3" fmla="*/ 1491944 w 3738080"/>
                  <a:gd name="connsiteY3" fmla="*/ 2374673 h 2751770"/>
                  <a:gd name="connsiteX4" fmla="*/ 1869041 w 3738080"/>
                  <a:gd name="connsiteY4" fmla="*/ 1997576 h 2751770"/>
                  <a:gd name="connsiteX5" fmla="*/ 1858846 w 3738080"/>
                  <a:gd name="connsiteY5" fmla="*/ 1306247 h 2751770"/>
                  <a:gd name="connsiteX6" fmla="*/ 2645621 w 3738080"/>
                  <a:gd name="connsiteY6" fmla="*/ 1504218 h 2751770"/>
                  <a:gd name="connsiteX7" fmla="*/ 2795575 w 3738080"/>
                  <a:gd name="connsiteY7" fmla="*/ 1757331 h 2751770"/>
                  <a:gd name="connsiteX8" fmla="*/ 2539052 w 3738080"/>
                  <a:gd name="connsiteY8" fmla="*/ 1841672 h 2751770"/>
                  <a:gd name="connsiteX9" fmla="*/ 1353947 w 3738080"/>
                  <a:gd name="connsiteY9" fmla="*/ 1778974 h 2751770"/>
                  <a:gd name="connsiteX10" fmla="*/ 982333 w 3738080"/>
                  <a:gd name="connsiteY10" fmla="*/ 1780833 h 2751770"/>
                  <a:gd name="connsiteX11" fmla="*/ 966756 w 3738080"/>
                  <a:gd name="connsiteY11" fmla="*/ 1667407 h 2751770"/>
                  <a:gd name="connsiteX12" fmla="*/ 1217540 w 3738080"/>
                  <a:gd name="connsiteY12" fmla="*/ 1445700 h 2751770"/>
                  <a:gd name="connsiteX13" fmla="*/ 1858846 w 3738080"/>
                  <a:gd name="connsiteY13" fmla="*/ 1306247 h 2751770"/>
                  <a:gd name="connsiteX14" fmla="*/ 1828129 w 3738080"/>
                  <a:gd name="connsiteY14" fmla="*/ 650059 h 2751770"/>
                  <a:gd name="connsiteX15" fmla="*/ 3108200 w 3738080"/>
                  <a:gd name="connsiteY15" fmla="*/ 1008980 h 2751770"/>
                  <a:gd name="connsiteX16" fmla="*/ 3258155 w 3738080"/>
                  <a:gd name="connsiteY16" fmla="*/ 1319033 h 2751770"/>
                  <a:gd name="connsiteX17" fmla="*/ 2937692 w 3738080"/>
                  <a:gd name="connsiteY17" fmla="*/ 1304637 h 2751770"/>
                  <a:gd name="connsiteX18" fmla="*/ 763561 w 3738080"/>
                  <a:gd name="connsiteY18" fmla="*/ 1325535 h 2751770"/>
                  <a:gd name="connsiteX19" fmla="*/ 464412 w 3738080"/>
                  <a:gd name="connsiteY19" fmla="*/ 1278813 h 2751770"/>
                  <a:gd name="connsiteX20" fmla="*/ 450482 w 3738080"/>
                  <a:gd name="connsiteY20" fmla="*/ 1202928 h 2751770"/>
                  <a:gd name="connsiteX21" fmla="*/ 622892 w 3738080"/>
                  <a:gd name="connsiteY21" fmla="*/ 1008979 h 2751770"/>
                  <a:gd name="connsiteX22" fmla="*/ 1828129 w 3738080"/>
                  <a:gd name="connsiteY22" fmla="*/ 650059 h 2751770"/>
                  <a:gd name="connsiteX23" fmla="*/ 1764313 w 3738080"/>
                  <a:gd name="connsiteY23" fmla="*/ 591 h 2751770"/>
                  <a:gd name="connsiteX24" fmla="*/ 3559697 w 3738080"/>
                  <a:gd name="connsiteY24" fmla="*/ 547180 h 2751770"/>
                  <a:gd name="connsiteX25" fmla="*/ 3709650 w 3738080"/>
                  <a:gd name="connsiteY25" fmla="*/ 882310 h 2751770"/>
                  <a:gd name="connsiteX26" fmla="*/ 3367875 w 3738080"/>
                  <a:gd name="connsiteY26" fmla="*/ 834477 h 2751770"/>
                  <a:gd name="connsiteX27" fmla="*/ 318417 w 3738080"/>
                  <a:gd name="connsiteY27" fmla="*/ 884635 h 2751770"/>
                  <a:gd name="connsiteX28" fmla="*/ 19267 w 3738080"/>
                  <a:gd name="connsiteY28" fmla="*/ 846272 h 2751770"/>
                  <a:gd name="connsiteX29" fmla="*/ 275 w 3738080"/>
                  <a:gd name="connsiteY29" fmla="*/ 760137 h 2751770"/>
                  <a:gd name="connsiteX30" fmla="*/ 173484 w 3738080"/>
                  <a:gd name="connsiteY30" fmla="*/ 547180 h 2751770"/>
                  <a:gd name="connsiteX31" fmla="*/ 1764313 w 3738080"/>
                  <a:gd name="connsiteY31" fmla="*/ 591 h 27517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3738080" h="2751770">
                    <a:moveTo>
                      <a:pt x="1869041" y="1997576"/>
                    </a:moveTo>
                    <a:cubicBezTo>
                      <a:pt x="2077306" y="1997576"/>
                      <a:pt x="2246138" y="2166408"/>
                      <a:pt x="2246138" y="2374673"/>
                    </a:cubicBezTo>
                    <a:cubicBezTo>
                      <a:pt x="2246138" y="2582938"/>
                      <a:pt x="2077306" y="2751770"/>
                      <a:pt x="1869041" y="2751770"/>
                    </a:cubicBezTo>
                    <a:cubicBezTo>
                      <a:pt x="1660776" y="2751770"/>
                      <a:pt x="1491944" y="2582938"/>
                      <a:pt x="1491944" y="2374673"/>
                    </a:cubicBezTo>
                    <a:cubicBezTo>
                      <a:pt x="1491944" y="2166408"/>
                      <a:pt x="1660776" y="1997576"/>
                      <a:pt x="1869041" y="1997576"/>
                    </a:cubicBezTo>
                    <a:close/>
                    <a:moveTo>
                      <a:pt x="1858846" y="1306247"/>
                    </a:moveTo>
                    <a:cubicBezTo>
                      <a:pt x="2165924" y="1301758"/>
                      <a:pt x="2404940" y="1399722"/>
                      <a:pt x="2645621" y="1504218"/>
                    </a:cubicBezTo>
                    <a:cubicBezTo>
                      <a:pt x="2813424" y="1597955"/>
                      <a:pt x="2823993" y="1678797"/>
                      <a:pt x="2795575" y="1757331"/>
                    </a:cubicBezTo>
                    <a:cubicBezTo>
                      <a:pt x="2761471" y="1842158"/>
                      <a:pt x="2685239" y="1908552"/>
                      <a:pt x="2539052" y="1841672"/>
                    </a:cubicBezTo>
                    <a:cubicBezTo>
                      <a:pt x="2347207" y="1684231"/>
                      <a:pt x="1733351" y="1556050"/>
                      <a:pt x="1353947" y="1778974"/>
                    </a:cubicBezTo>
                    <a:cubicBezTo>
                      <a:pt x="1250080" y="1855218"/>
                      <a:pt x="1037749" y="1915097"/>
                      <a:pt x="982333" y="1780833"/>
                    </a:cubicBezTo>
                    <a:cubicBezTo>
                      <a:pt x="968480" y="1736637"/>
                      <a:pt x="963386" y="1699601"/>
                      <a:pt x="966756" y="1667407"/>
                    </a:cubicBezTo>
                    <a:cubicBezTo>
                      <a:pt x="976866" y="1570822"/>
                      <a:pt x="1063141" y="1517802"/>
                      <a:pt x="1217540" y="1445700"/>
                    </a:cubicBezTo>
                    <a:cubicBezTo>
                      <a:pt x="1465851" y="1348519"/>
                      <a:pt x="1674601" y="1308942"/>
                      <a:pt x="1858846" y="1306247"/>
                    </a:cubicBezTo>
                    <a:close/>
                    <a:moveTo>
                      <a:pt x="1828129" y="650059"/>
                    </a:moveTo>
                    <a:cubicBezTo>
                      <a:pt x="2445754" y="646836"/>
                      <a:pt x="2937662" y="894034"/>
                      <a:pt x="3108200" y="1008980"/>
                    </a:cubicBezTo>
                    <a:cubicBezTo>
                      <a:pt x="3228810" y="1075858"/>
                      <a:pt x="3343409" y="1171509"/>
                      <a:pt x="3258155" y="1319033"/>
                    </a:cubicBezTo>
                    <a:cubicBezTo>
                      <a:pt x="3134282" y="1435449"/>
                      <a:pt x="3057301" y="1393031"/>
                      <a:pt x="2937692" y="1304637"/>
                    </a:cubicBezTo>
                    <a:cubicBezTo>
                      <a:pt x="2647778" y="1191783"/>
                      <a:pt x="2008321" y="619142"/>
                      <a:pt x="763561" y="1325535"/>
                    </a:cubicBezTo>
                    <a:cubicBezTo>
                      <a:pt x="621636" y="1425852"/>
                      <a:pt x="511304" y="1376178"/>
                      <a:pt x="464412" y="1278813"/>
                    </a:cubicBezTo>
                    <a:cubicBezTo>
                      <a:pt x="452398" y="1252494"/>
                      <a:pt x="448110" y="1227223"/>
                      <a:pt x="450482" y="1202928"/>
                    </a:cubicBezTo>
                    <a:cubicBezTo>
                      <a:pt x="457599" y="1130049"/>
                      <a:pt x="524660" y="1065987"/>
                      <a:pt x="622892" y="1008979"/>
                    </a:cubicBezTo>
                    <a:cubicBezTo>
                      <a:pt x="1041721" y="744082"/>
                      <a:pt x="1457554" y="651995"/>
                      <a:pt x="1828129" y="650059"/>
                    </a:cubicBezTo>
                    <a:close/>
                    <a:moveTo>
                      <a:pt x="1764313" y="591"/>
                    </a:moveTo>
                    <a:cubicBezTo>
                      <a:pt x="2430887" y="-13278"/>
                      <a:pt x="3056659" y="218017"/>
                      <a:pt x="3559697" y="547180"/>
                    </a:cubicBezTo>
                    <a:cubicBezTo>
                      <a:pt x="3671781" y="597338"/>
                      <a:pt x="3794905" y="759863"/>
                      <a:pt x="3709650" y="882310"/>
                    </a:cubicBezTo>
                    <a:cubicBezTo>
                      <a:pt x="3594303" y="984791"/>
                      <a:pt x="3449118" y="907547"/>
                      <a:pt x="3367875" y="834477"/>
                    </a:cubicBezTo>
                    <a:cubicBezTo>
                      <a:pt x="3193985" y="725799"/>
                      <a:pt x="1920315" y="-235561"/>
                      <a:pt x="318417" y="884635"/>
                    </a:cubicBezTo>
                    <a:cubicBezTo>
                      <a:pt x="189280" y="993311"/>
                      <a:pt x="70419" y="922739"/>
                      <a:pt x="19267" y="846272"/>
                    </a:cubicBezTo>
                    <a:cubicBezTo>
                      <a:pt x="4410" y="817516"/>
                      <a:pt x="-1388" y="788500"/>
                      <a:pt x="275" y="760137"/>
                    </a:cubicBezTo>
                    <a:cubicBezTo>
                      <a:pt x="5260" y="675044"/>
                      <a:pt x="77384" y="595829"/>
                      <a:pt x="173484" y="547180"/>
                    </a:cubicBezTo>
                    <a:cubicBezTo>
                      <a:pt x="702741" y="170471"/>
                      <a:pt x="1245868" y="11376"/>
                      <a:pt x="1764313" y="591"/>
                    </a:cubicBezTo>
                    <a:close/>
                  </a:path>
                </a:pathLst>
              </a:cu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/>
              </a:p>
            </p:txBody>
          </p:sp>
        </p:grpSp>
        <p:sp>
          <p:nvSpPr>
            <p:cNvPr id="20" name="Subtitle 2">
              <a:extLst>
                <a:ext uri="{FF2B5EF4-FFF2-40B4-BE49-F238E27FC236}">
                  <a16:creationId xmlns:a16="http://schemas.microsoft.com/office/drawing/2014/main" id="{53858C97-DA2F-8866-47CC-CDF4077BBF9D}"/>
                </a:ext>
              </a:extLst>
            </p:cNvPr>
            <p:cNvSpPr txBox="1">
              <a:spLocks/>
            </p:cNvSpPr>
            <p:nvPr/>
          </p:nvSpPr>
          <p:spPr>
            <a:xfrm>
              <a:off x="1727403" y="1099395"/>
              <a:ext cx="729275" cy="203382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 fontScale="62500" lnSpcReduction="20000"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1600" dirty="0" smtClean="0">
                  <a:solidFill>
                    <a:srgbClr val="7030A0"/>
                  </a:solidFill>
                </a:rPr>
                <a:t>PDS</a:t>
              </a:r>
              <a:endParaRPr lang="en-US" sz="1600" dirty="0">
                <a:solidFill>
                  <a:srgbClr val="7030A0"/>
                </a:solidFill>
              </a:endParaRPr>
            </a:p>
          </p:txBody>
        </p:sp>
        <p:sp>
          <p:nvSpPr>
            <p:cNvPr id="21" name="Title 4">
              <a:extLst>
                <a:ext uri="{FF2B5EF4-FFF2-40B4-BE49-F238E27FC236}">
                  <a16:creationId xmlns:a16="http://schemas.microsoft.com/office/drawing/2014/main" id="{27228BAE-048B-681E-DD8D-BD96B22560E0}"/>
                </a:ext>
              </a:extLst>
            </p:cNvPr>
            <p:cNvSpPr txBox="1">
              <a:spLocks/>
            </p:cNvSpPr>
            <p:nvPr/>
          </p:nvSpPr>
          <p:spPr>
            <a:xfrm>
              <a:off x="788714" y="1452073"/>
              <a:ext cx="938689" cy="470538"/>
            </a:xfrm>
            <a:prstGeom prst="rect">
              <a:avLst/>
            </a:prstGeom>
            <a:solidFill>
              <a:schemeClr val="bg1"/>
            </a:solidFill>
          </p:spPr>
          <p:txBody>
            <a:bodyPr vert="horz" lIns="91440" tIns="45720" rIns="91440" bIns="45720" rtlCol="0" anchor="b">
              <a:normAutofit fontScale="97500"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just"/>
              <a:r>
                <a:rPr lang="en-US" sz="2800" dirty="0" smtClean="0">
                  <a:solidFill>
                    <a:schemeClr val="accent5">
                      <a:lumMod val="50000"/>
                    </a:schemeClr>
                  </a:solidFill>
                </a:rPr>
                <a:t>SDN</a:t>
              </a:r>
              <a:endParaRPr lang="en-US" sz="2800" dirty="0">
                <a:solidFill>
                  <a:schemeClr val="accent5">
                    <a:lumMod val="50000"/>
                  </a:schemeClr>
                </a:solidFill>
              </a:endParaRPr>
            </a:p>
          </p:txBody>
        </p:sp>
        <p:sp>
          <p:nvSpPr>
            <p:cNvPr id="22" name="Title 4">
              <a:extLst>
                <a:ext uri="{FF2B5EF4-FFF2-40B4-BE49-F238E27FC236}">
                  <a16:creationId xmlns:a16="http://schemas.microsoft.com/office/drawing/2014/main" id="{27228BAE-048B-681E-DD8D-BD96B22560E0}"/>
                </a:ext>
              </a:extLst>
            </p:cNvPr>
            <p:cNvSpPr txBox="1">
              <a:spLocks/>
            </p:cNvSpPr>
            <p:nvPr/>
          </p:nvSpPr>
          <p:spPr>
            <a:xfrm>
              <a:off x="1449719" y="1352665"/>
              <a:ext cx="928870" cy="581223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rmAutofit fontScale="97500"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just"/>
              <a:r>
                <a:rPr lang="en-US" sz="2800" dirty="0" smtClean="0">
                  <a:solidFill>
                    <a:schemeClr val="accent1">
                      <a:lumMod val="75000"/>
                    </a:schemeClr>
                  </a:solidFill>
                </a:rPr>
                <a:t>NFV</a:t>
              </a:r>
              <a:endParaRPr lang="en-US" sz="2800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</p:grpSp>
      <p:graphicFrame>
        <p:nvGraphicFramePr>
          <p:cNvPr id="27" name="Diagram 26"/>
          <p:cNvGraphicFramePr/>
          <p:nvPr>
            <p:extLst>
              <p:ext uri="{D42A27DB-BD31-4B8C-83A1-F6EECF244321}">
                <p14:modId xmlns:p14="http://schemas.microsoft.com/office/powerpoint/2010/main" val="1474028532"/>
              </p:ext>
            </p:extLst>
          </p:nvPr>
        </p:nvGraphicFramePr>
        <p:xfrm>
          <a:off x="1981200" y="5655129"/>
          <a:ext cx="8229600" cy="9143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28" name="Pie 27"/>
          <p:cNvSpPr/>
          <p:nvPr/>
        </p:nvSpPr>
        <p:spPr>
          <a:xfrm rot="10600249">
            <a:off x="9753600" y="5655127"/>
            <a:ext cx="914399" cy="914399"/>
          </a:xfrm>
          <a:prstGeom prst="pie">
            <a:avLst>
              <a:gd name="adj1" fmla="val 5400000"/>
              <a:gd name="adj2" fmla="val 16200000"/>
            </a:avLst>
          </a:prstGeom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2">
              <a:hueOff val="0"/>
              <a:satOff val="0"/>
              <a:lumOff val="0"/>
              <a:alphaOff val="0"/>
            </a:schemeClr>
          </a:fillRef>
          <a:effectRef idx="3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8001309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HW</a:t>
            </a:r>
            <a:endParaRPr lang="en-US" dirty="0"/>
          </a:p>
        </p:txBody>
      </p:sp>
      <p:sp>
        <p:nvSpPr>
          <p:cNvPr id="12" name="Content Placeholder 11"/>
          <p:cNvSpPr>
            <a:spLocks noGrp="1"/>
          </p:cNvSpPr>
          <p:nvPr>
            <p:ph idx="1"/>
          </p:nvPr>
        </p:nvSpPr>
        <p:spPr>
          <a:xfrm>
            <a:off x="658586" y="1352096"/>
            <a:ext cx="10515600" cy="4351338"/>
          </a:xfrm>
        </p:spPr>
        <p:txBody>
          <a:bodyPr/>
          <a:lstStyle/>
          <a:p>
            <a:r>
              <a:rPr lang="en-US" dirty="0" err="1" smtClean="0"/>
              <a:t>Rangkaian</a:t>
            </a:r>
            <a:r>
              <a:rPr lang="en-US" dirty="0" smtClean="0"/>
              <a:t> </a:t>
            </a:r>
            <a:r>
              <a:rPr lang="en-US" dirty="0"/>
              <a:t>oscillator </a:t>
            </a:r>
            <a:r>
              <a:rPr lang="en-US" dirty="0" err="1"/>
              <a:t>sebagai</a:t>
            </a:r>
            <a:r>
              <a:rPr lang="en-US" dirty="0"/>
              <a:t> </a:t>
            </a:r>
            <a:r>
              <a:rPr lang="en-US" dirty="0" err="1"/>
              <a:t>berikut</a:t>
            </a:r>
            <a:r>
              <a:rPr lang="en-US" dirty="0"/>
              <a:t>:</a:t>
            </a:r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721179" y="4692054"/>
            <a:ext cx="10749642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err="1">
                <a:solidFill>
                  <a:srgbClr val="526069"/>
                </a:solidFill>
                <a:latin typeface="Karla"/>
              </a:rPr>
              <a:t>Tentukan</a:t>
            </a:r>
            <a:r>
              <a:rPr lang="en-US" dirty="0">
                <a:solidFill>
                  <a:srgbClr val="526069"/>
                </a:solidFill>
                <a:latin typeface="Karla"/>
              </a:rPr>
              <a:t> </a:t>
            </a:r>
            <a:r>
              <a:rPr lang="en-US" dirty="0" err="1">
                <a:solidFill>
                  <a:srgbClr val="526069"/>
                </a:solidFill>
                <a:latin typeface="Karla"/>
              </a:rPr>
              <a:t>frekuensi</a:t>
            </a:r>
            <a:r>
              <a:rPr lang="en-US" dirty="0">
                <a:solidFill>
                  <a:srgbClr val="526069"/>
                </a:solidFill>
                <a:latin typeface="Karla"/>
              </a:rPr>
              <a:t> </a:t>
            </a:r>
            <a:r>
              <a:rPr lang="en-US" dirty="0" err="1">
                <a:solidFill>
                  <a:srgbClr val="526069"/>
                </a:solidFill>
                <a:latin typeface="Karla"/>
              </a:rPr>
              <a:t>osilasi</a:t>
            </a:r>
            <a:r>
              <a:rPr lang="en-US" dirty="0">
                <a:solidFill>
                  <a:srgbClr val="526069"/>
                </a:solidFill>
                <a:latin typeface="Karla"/>
              </a:rPr>
              <a:t> </a:t>
            </a:r>
            <a:r>
              <a:rPr lang="en-US" dirty="0" err="1">
                <a:solidFill>
                  <a:srgbClr val="526069"/>
                </a:solidFill>
                <a:latin typeface="Karla"/>
              </a:rPr>
              <a:t>rangkaian</a:t>
            </a:r>
            <a:r>
              <a:rPr lang="en-US" dirty="0">
                <a:solidFill>
                  <a:srgbClr val="526069"/>
                </a:solidFill>
                <a:latin typeface="Karla"/>
              </a:rPr>
              <a:t> oscillator di </a:t>
            </a:r>
            <a:r>
              <a:rPr lang="en-US" dirty="0" err="1">
                <a:solidFill>
                  <a:srgbClr val="526069"/>
                </a:solidFill>
                <a:latin typeface="Karla"/>
              </a:rPr>
              <a:t>atas</a:t>
            </a:r>
            <a:r>
              <a:rPr lang="en-US" dirty="0">
                <a:solidFill>
                  <a:srgbClr val="526069"/>
                </a:solidFill>
                <a:latin typeface="Karla"/>
              </a:rPr>
              <a:t>!</a:t>
            </a:r>
            <a:br>
              <a:rPr lang="en-US" dirty="0">
                <a:solidFill>
                  <a:srgbClr val="526069"/>
                </a:solidFill>
                <a:latin typeface="Karla"/>
              </a:rPr>
            </a:br>
            <a:r>
              <a:rPr lang="en-US" dirty="0" err="1" smtClean="0">
                <a:solidFill>
                  <a:srgbClr val="526069"/>
                </a:solidFill>
                <a:latin typeface="Karla"/>
              </a:rPr>
              <a:t>Tentukan</a:t>
            </a:r>
            <a:r>
              <a:rPr lang="en-US" dirty="0" smtClean="0">
                <a:solidFill>
                  <a:srgbClr val="526069"/>
                </a:solidFill>
                <a:latin typeface="Karla"/>
              </a:rPr>
              <a:t> </a:t>
            </a:r>
            <a:r>
              <a:rPr lang="en-US" dirty="0" err="1">
                <a:solidFill>
                  <a:srgbClr val="526069"/>
                </a:solidFill>
                <a:latin typeface="Karla"/>
              </a:rPr>
              <a:t>besarnya</a:t>
            </a:r>
            <a:r>
              <a:rPr lang="en-US" dirty="0">
                <a:solidFill>
                  <a:srgbClr val="526069"/>
                </a:solidFill>
                <a:latin typeface="Karla"/>
              </a:rPr>
              <a:t> </a:t>
            </a:r>
            <a:r>
              <a:rPr lang="en-US" i="1" dirty="0">
                <a:solidFill>
                  <a:srgbClr val="526069"/>
                </a:solidFill>
                <a:latin typeface="Karla"/>
              </a:rPr>
              <a:t>feedback fraction</a:t>
            </a:r>
            <a:r>
              <a:rPr lang="en-US" dirty="0">
                <a:solidFill>
                  <a:srgbClr val="526069"/>
                </a:solidFill>
                <a:latin typeface="Karla"/>
              </a:rPr>
              <a:t> (</a:t>
            </a:r>
            <a:r>
              <a:rPr lang="el-GR" dirty="0">
                <a:solidFill>
                  <a:srgbClr val="526069"/>
                </a:solidFill>
                <a:latin typeface="Karla"/>
              </a:rPr>
              <a:t>β)!</a:t>
            </a:r>
            <a:br>
              <a:rPr lang="el-GR" dirty="0">
                <a:solidFill>
                  <a:srgbClr val="526069"/>
                </a:solidFill>
                <a:latin typeface="Karla"/>
              </a:rPr>
            </a:br>
            <a:r>
              <a:rPr lang="en-US" dirty="0" err="1" smtClean="0">
                <a:solidFill>
                  <a:srgbClr val="526069"/>
                </a:solidFill>
                <a:latin typeface="Karla"/>
              </a:rPr>
              <a:t>Tentukan</a:t>
            </a:r>
            <a:r>
              <a:rPr lang="en-US" dirty="0" smtClean="0">
                <a:solidFill>
                  <a:srgbClr val="526069"/>
                </a:solidFill>
                <a:latin typeface="Karla"/>
              </a:rPr>
              <a:t> </a:t>
            </a:r>
            <a:r>
              <a:rPr lang="en-US" dirty="0" err="1">
                <a:solidFill>
                  <a:srgbClr val="526069"/>
                </a:solidFill>
                <a:latin typeface="Karla"/>
              </a:rPr>
              <a:t>besarnya</a:t>
            </a:r>
            <a:r>
              <a:rPr lang="en-US" dirty="0">
                <a:solidFill>
                  <a:srgbClr val="526069"/>
                </a:solidFill>
                <a:latin typeface="Karla"/>
              </a:rPr>
              <a:t> </a:t>
            </a:r>
            <a:r>
              <a:rPr lang="en-US" dirty="0" err="1">
                <a:solidFill>
                  <a:srgbClr val="526069"/>
                </a:solidFill>
                <a:latin typeface="Karla"/>
              </a:rPr>
              <a:t>penguatan</a:t>
            </a:r>
            <a:r>
              <a:rPr lang="en-US" dirty="0">
                <a:solidFill>
                  <a:srgbClr val="526069"/>
                </a:solidFill>
                <a:latin typeface="Karla"/>
              </a:rPr>
              <a:t> </a:t>
            </a:r>
            <a:r>
              <a:rPr lang="en-US" dirty="0" err="1">
                <a:solidFill>
                  <a:srgbClr val="526069"/>
                </a:solidFill>
                <a:latin typeface="Karla"/>
              </a:rPr>
              <a:t>tegangan</a:t>
            </a:r>
            <a:r>
              <a:rPr lang="en-US" dirty="0">
                <a:solidFill>
                  <a:srgbClr val="526069"/>
                </a:solidFill>
                <a:latin typeface="Karla"/>
              </a:rPr>
              <a:t> (A) yang </a:t>
            </a:r>
            <a:r>
              <a:rPr lang="en-US" dirty="0" err="1">
                <a:solidFill>
                  <a:srgbClr val="526069"/>
                </a:solidFill>
                <a:latin typeface="Karla"/>
              </a:rPr>
              <a:t>diperlukan</a:t>
            </a:r>
            <a:r>
              <a:rPr lang="en-US" dirty="0">
                <a:solidFill>
                  <a:srgbClr val="526069"/>
                </a:solidFill>
                <a:latin typeface="Karla"/>
              </a:rPr>
              <a:t> </a:t>
            </a:r>
            <a:r>
              <a:rPr lang="en-US" dirty="0" err="1">
                <a:solidFill>
                  <a:srgbClr val="526069"/>
                </a:solidFill>
                <a:latin typeface="Karla"/>
              </a:rPr>
              <a:t>untuk</a:t>
            </a:r>
            <a:r>
              <a:rPr lang="en-US" dirty="0">
                <a:solidFill>
                  <a:srgbClr val="526069"/>
                </a:solidFill>
                <a:latin typeface="Karla"/>
              </a:rPr>
              <a:t> </a:t>
            </a:r>
            <a:r>
              <a:rPr lang="en-US" dirty="0" err="1">
                <a:solidFill>
                  <a:srgbClr val="526069"/>
                </a:solidFill>
                <a:latin typeface="Karla"/>
              </a:rPr>
              <a:t>memulai</a:t>
            </a:r>
            <a:r>
              <a:rPr lang="en-US" dirty="0">
                <a:solidFill>
                  <a:srgbClr val="526069"/>
                </a:solidFill>
                <a:latin typeface="Karla"/>
              </a:rPr>
              <a:t> </a:t>
            </a:r>
            <a:r>
              <a:rPr lang="en-US" dirty="0" err="1">
                <a:solidFill>
                  <a:srgbClr val="526069"/>
                </a:solidFill>
                <a:latin typeface="Karla"/>
              </a:rPr>
              <a:t>osilasi</a:t>
            </a:r>
            <a:r>
              <a:rPr lang="en-US" dirty="0">
                <a:solidFill>
                  <a:srgbClr val="526069"/>
                </a:solidFill>
                <a:latin typeface="Karla"/>
              </a:rPr>
              <a:t>!</a:t>
            </a:r>
            <a:br>
              <a:rPr lang="en-US" dirty="0">
                <a:solidFill>
                  <a:srgbClr val="526069"/>
                </a:solidFill>
                <a:latin typeface="Karla"/>
              </a:rPr>
            </a:br>
            <a:r>
              <a:rPr lang="en-US" dirty="0" err="1" smtClean="0">
                <a:solidFill>
                  <a:srgbClr val="526069"/>
                </a:solidFill>
                <a:latin typeface="Karla"/>
              </a:rPr>
              <a:t>Tentukan</a:t>
            </a:r>
            <a:r>
              <a:rPr lang="en-US" dirty="0" smtClean="0">
                <a:solidFill>
                  <a:srgbClr val="526069"/>
                </a:solidFill>
                <a:latin typeface="Karla"/>
              </a:rPr>
              <a:t> </a:t>
            </a:r>
            <a:r>
              <a:rPr lang="en-US" dirty="0" err="1">
                <a:solidFill>
                  <a:srgbClr val="526069"/>
                </a:solidFill>
                <a:latin typeface="Karla"/>
              </a:rPr>
              <a:t>nilai</a:t>
            </a:r>
            <a:r>
              <a:rPr lang="en-US" dirty="0">
                <a:solidFill>
                  <a:srgbClr val="526069"/>
                </a:solidFill>
                <a:latin typeface="Karla"/>
              </a:rPr>
              <a:t> </a:t>
            </a:r>
            <a:r>
              <a:rPr lang="en-US" dirty="0" err="1">
                <a:solidFill>
                  <a:srgbClr val="526069"/>
                </a:solidFill>
                <a:latin typeface="Karla"/>
              </a:rPr>
              <a:t>perbandingan</a:t>
            </a:r>
            <a:r>
              <a:rPr lang="en-US" dirty="0">
                <a:solidFill>
                  <a:srgbClr val="526069"/>
                </a:solidFill>
                <a:latin typeface="Karla"/>
              </a:rPr>
              <a:t> </a:t>
            </a:r>
            <a:r>
              <a:rPr lang="en-US" dirty="0" err="1">
                <a:solidFill>
                  <a:srgbClr val="526069"/>
                </a:solidFill>
                <a:latin typeface="Karla"/>
              </a:rPr>
              <a:t>antara</a:t>
            </a:r>
            <a:r>
              <a:rPr lang="en-US" dirty="0">
                <a:solidFill>
                  <a:srgbClr val="526069"/>
                </a:solidFill>
                <a:latin typeface="Karla"/>
              </a:rPr>
              <a:t> R1 </a:t>
            </a:r>
            <a:r>
              <a:rPr lang="en-US" dirty="0" err="1">
                <a:solidFill>
                  <a:srgbClr val="526069"/>
                </a:solidFill>
                <a:latin typeface="Karla"/>
              </a:rPr>
              <a:t>dan</a:t>
            </a:r>
            <a:r>
              <a:rPr lang="en-US" dirty="0">
                <a:solidFill>
                  <a:srgbClr val="526069"/>
                </a:solidFill>
                <a:latin typeface="Karla"/>
              </a:rPr>
              <a:t> R2 </a:t>
            </a:r>
            <a:r>
              <a:rPr lang="en-US" dirty="0" err="1">
                <a:solidFill>
                  <a:srgbClr val="526069"/>
                </a:solidFill>
                <a:latin typeface="Karla"/>
              </a:rPr>
              <a:t>untuk</a:t>
            </a:r>
            <a:r>
              <a:rPr lang="en-US" dirty="0">
                <a:solidFill>
                  <a:srgbClr val="526069"/>
                </a:solidFill>
                <a:latin typeface="Karla"/>
              </a:rPr>
              <a:t> </a:t>
            </a:r>
            <a:r>
              <a:rPr lang="en-US" dirty="0" err="1">
                <a:solidFill>
                  <a:srgbClr val="526069"/>
                </a:solidFill>
                <a:latin typeface="Karla"/>
              </a:rPr>
              <a:t>mendapatkan</a:t>
            </a:r>
            <a:r>
              <a:rPr lang="en-US" dirty="0">
                <a:solidFill>
                  <a:srgbClr val="526069"/>
                </a:solidFill>
                <a:latin typeface="Karla"/>
              </a:rPr>
              <a:t> minimal </a:t>
            </a:r>
            <a:r>
              <a:rPr lang="en-US" dirty="0" err="1">
                <a:solidFill>
                  <a:srgbClr val="526069"/>
                </a:solidFill>
                <a:latin typeface="Karla"/>
              </a:rPr>
              <a:t>penguatan</a:t>
            </a:r>
            <a:r>
              <a:rPr lang="en-US" dirty="0">
                <a:solidFill>
                  <a:srgbClr val="526069"/>
                </a:solidFill>
                <a:latin typeface="Karla"/>
              </a:rPr>
              <a:t> </a:t>
            </a:r>
            <a:r>
              <a:rPr lang="en-US" dirty="0" err="1">
                <a:solidFill>
                  <a:srgbClr val="526069"/>
                </a:solidFill>
                <a:latin typeface="Karla"/>
              </a:rPr>
              <a:t>tegangan</a:t>
            </a:r>
            <a:r>
              <a:rPr lang="en-US" dirty="0">
                <a:solidFill>
                  <a:srgbClr val="526069"/>
                </a:solidFill>
                <a:latin typeface="Karla"/>
              </a:rPr>
              <a:t> yang </a:t>
            </a:r>
            <a:r>
              <a:rPr lang="en-US" dirty="0" err="1">
                <a:solidFill>
                  <a:srgbClr val="526069"/>
                </a:solidFill>
                <a:latin typeface="Karla"/>
              </a:rPr>
              <a:t>diperlukan</a:t>
            </a:r>
            <a:r>
              <a:rPr lang="en-US" dirty="0">
                <a:solidFill>
                  <a:srgbClr val="526069"/>
                </a:solidFill>
                <a:latin typeface="Karla"/>
              </a:rPr>
              <a:t>!</a:t>
            </a:r>
            <a:endParaRPr lang="en-US" b="0" i="0" dirty="0">
              <a:solidFill>
                <a:srgbClr val="526069"/>
              </a:solidFill>
              <a:effectLst/>
              <a:latin typeface="Karla"/>
            </a:endParaRP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0084" y="1951944"/>
            <a:ext cx="2695575" cy="2105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43327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23997</TotalTime>
  <Words>468</Words>
  <Application>Microsoft Office PowerPoint</Application>
  <PresentationFormat>Widescreen</PresentationFormat>
  <Paragraphs>89</Paragraphs>
  <Slides>32</Slides>
  <Notes>19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3</vt:i4>
      </vt:variant>
      <vt:variant>
        <vt:lpstr>Slide Titles</vt:lpstr>
      </vt:variant>
      <vt:variant>
        <vt:i4>32</vt:i4>
      </vt:variant>
    </vt:vector>
  </HeadingPairs>
  <TitlesOfParts>
    <vt:vector size="44" baseType="lpstr">
      <vt:lpstr>맑은 고딕</vt:lpstr>
      <vt:lpstr>Arial</vt:lpstr>
      <vt:lpstr>Calibri</vt:lpstr>
      <vt:lpstr>Calibri Light</vt:lpstr>
      <vt:lpstr>Edwardian Script ITC</vt:lpstr>
      <vt:lpstr>Karla</vt:lpstr>
      <vt:lpstr>Times New Roman</vt:lpstr>
      <vt:lpstr>Wingdings</vt:lpstr>
      <vt:lpstr>Office Theme</vt:lpstr>
      <vt:lpstr>Visio</vt:lpstr>
      <vt:lpstr>Equation</vt:lpstr>
      <vt:lpstr>Packager Shell Object</vt:lpstr>
      <vt:lpstr>PowerPoint Presentation</vt:lpstr>
      <vt:lpstr>Osilator</vt:lpstr>
      <vt:lpstr>FeedBack Negative/Umpan Balik Positif</vt:lpstr>
      <vt:lpstr>Pengertian</vt:lpstr>
      <vt:lpstr>Rangkaian Dasar Osilator</vt:lpstr>
      <vt:lpstr>Syarat terjadinya osilasi  (kriteria Barkhausen) :</vt:lpstr>
      <vt:lpstr> Jenis- Jenis Osilator</vt:lpstr>
      <vt:lpstr>Rangkaian Osilator Op-Amp RC </vt:lpstr>
      <vt:lpstr>PowerPoint Presentation</vt:lpstr>
      <vt:lpstr>PowerPoint Presentation</vt:lpstr>
      <vt:lpstr>PowerPoint Presentation</vt:lpstr>
      <vt:lpstr>Jembatan ???</vt:lpstr>
      <vt:lpstr>PowerPoint Presentation</vt:lpstr>
      <vt:lpstr>PowerPoint Presentation</vt:lpstr>
      <vt:lpstr>PowerPoint Presentation</vt:lpstr>
      <vt:lpstr>PowerPoint Presentation</vt:lpstr>
      <vt:lpstr>Bentuk Umum Osilator LC </vt:lpstr>
      <vt:lpstr>PowerPoint Presentation</vt:lpstr>
      <vt:lpstr>PowerPoint Presentation</vt:lpstr>
      <vt:lpstr>PowerPoint Presentation</vt:lpstr>
      <vt:lpstr>1. Osilator Collpits </vt:lpstr>
      <vt:lpstr>PowerPoint Presentation</vt:lpstr>
      <vt:lpstr>2. Osilator Hartley </vt:lpstr>
      <vt:lpstr>PowerPoint Presentation</vt:lpstr>
      <vt:lpstr>3. Osilator Clapp</vt:lpstr>
      <vt:lpstr>PowerPoint Presentation</vt:lpstr>
      <vt:lpstr>4. Osilator Kristal </vt:lpstr>
      <vt:lpstr>PowerPoint Presentation</vt:lpstr>
      <vt:lpstr>PowerPoint Presentation</vt:lpstr>
      <vt:lpstr>VCO (Voltage Controlled Oscillator)</vt:lpstr>
      <vt:lpstr>PowerPoint Presentation</vt:lpstr>
      <vt:lpstr>HW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Fish Tracking, Counting, and Behaviour Analysis in Digital Aquaculture</dc:title>
  <dc:creator>pds</dc:creator>
  <cp:lastModifiedBy>Gde</cp:lastModifiedBy>
  <cp:revision>131</cp:revision>
  <dcterms:created xsi:type="dcterms:W3CDTF">2024-10-22T07:52:57Z</dcterms:created>
  <dcterms:modified xsi:type="dcterms:W3CDTF">2026-03-25T05:10:12Z</dcterms:modified>
</cp:coreProperties>
</file>