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264" r:id="rId2"/>
    <p:sldId id="354" r:id="rId3"/>
    <p:sldId id="368" r:id="rId4"/>
    <p:sldId id="367" r:id="rId5"/>
    <p:sldId id="355" r:id="rId6"/>
    <p:sldId id="356" r:id="rId7"/>
    <p:sldId id="357" r:id="rId8"/>
    <p:sldId id="358" r:id="rId9"/>
    <p:sldId id="359" r:id="rId10"/>
    <p:sldId id="360" r:id="rId11"/>
    <p:sldId id="361" r:id="rId12"/>
    <p:sldId id="362" r:id="rId13"/>
    <p:sldId id="363" r:id="rId14"/>
    <p:sldId id="364" r:id="rId15"/>
    <p:sldId id="365" r:id="rId16"/>
    <p:sldId id="366" r:id="rId17"/>
    <p:sldId id="314" r:id="rId18"/>
    <p:sldId id="315" r:id="rId19"/>
    <p:sldId id="316" r:id="rId20"/>
    <p:sldId id="317" r:id="rId21"/>
    <p:sldId id="318" r:id="rId22"/>
    <p:sldId id="319" r:id="rId23"/>
    <p:sldId id="320" r:id="rId24"/>
    <p:sldId id="321" r:id="rId25"/>
    <p:sldId id="322" r:id="rId26"/>
    <p:sldId id="323" r:id="rId27"/>
    <p:sldId id="324" r:id="rId28"/>
    <p:sldId id="325" r:id="rId29"/>
    <p:sldId id="326" r:id="rId30"/>
    <p:sldId id="327" r:id="rId31"/>
    <p:sldId id="328" r:id="rId32"/>
    <p:sldId id="329" r:id="rId33"/>
    <p:sldId id="330" r:id="rId34"/>
    <p:sldId id="331" r:id="rId35"/>
    <p:sldId id="332" r:id="rId36"/>
    <p:sldId id="333" r:id="rId37"/>
    <p:sldId id="334" r:id="rId38"/>
    <p:sldId id="335" r:id="rId39"/>
    <p:sldId id="336" r:id="rId40"/>
    <p:sldId id="337" r:id="rId41"/>
    <p:sldId id="338" r:id="rId42"/>
    <p:sldId id="339" r:id="rId43"/>
    <p:sldId id="340" r:id="rId44"/>
    <p:sldId id="341" r:id="rId45"/>
    <p:sldId id="342" r:id="rId46"/>
    <p:sldId id="343" r:id="rId47"/>
    <p:sldId id="344" r:id="rId48"/>
    <p:sldId id="345" r:id="rId49"/>
    <p:sldId id="346" r:id="rId50"/>
    <p:sldId id="347" r:id="rId51"/>
    <p:sldId id="348" r:id="rId52"/>
    <p:sldId id="349" r:id="rId53"/>
    <p:sldId id="350" r:id="rId54"/>
    <p:sldId id="351" r:id="rId55"/>
    <p:sldId id="352" r:id="rId56"/>
    <p:sldId id="353" r:id="rId57"/>
    <p:sldId id="291" r:id="rId58"/>
    <p:sldId id="292" r:id="rId59"/>
    <p:sldId id="293" r:id="rId60"/>
    <p:sldId id="294" r:id="rId61"/>
    <p:sldId id="295" r:id="rId62"/>
    <p:sldId id="296" r:id="rId63"/>
    <p:sldId id="297" r:id="rId64"/>
    <p:sldId id="298" r:id="rId65"/>
    <p:sldId id="299" r:id="rId66"/>
    <p:sldId id="300" r:id="rId67"/>
    <p:sldId id="301" r:id="rId68"/>
    <p:sldId id="302" r:id="rId69"/>
    <p:sldId id="303" r:id="rId70"/>
    <p:sldId id="304" r:id="rId71"/>
    <p:sldId id="305" r:id="rId72"/>
    <p:sldId id="306" r:id="rId73"/>
    <p:sldId id="307" r:id="rId74"/>
    <p:sldId id="308" r:id="rId75"/>
    <p:sldId id="309" r:id="rId76"/>
    <p:sldId id="310" r:id="rId77"/>
    <p:sldId id="311" r:id="rId78"/>
    <p:sldId id="312" r:id="rId79"/>
    <p:sldId id="313" r:id="rId80"/>
    <p:sldId id="278" r:id="rId81"/>
    <p:sldId id="290"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72042" autoAdjust="0"/>
  </p:normalViewPr>
  <p:slideViewPr>
    <p:cSldViewPr snapToGrid="0">
      <p:cViewPr varScale="1">
        <p:scale>
          <a:sx n="59" d="100"/>
          <a:sy n="59" d="100"/>
        </p:scale>
        <p:origin x="10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custT="1"/>
      <dgm:spPr/>
      <dgm:t>
        <a:bodyPr/>
        <a:lstStyle/>
        <a:p>
          <a:pPr algn="l" rtl="0"/>
          <a:r>
            <a:rPr lang="en-US" sz="2600" b="1" dirty="0" smtClean="0"/>
            <a:t>11_4. </a:t>
          </a:r>
          <a:r>
            <a:rPr lang="en-US" sz="4000" b="1" dirty="0" smtClean="0"/>
            <a:t>Op </a:t>
          </a:r>
          <a:r>
            <a:rPr lang="en-US" sz="4000" b="1" dirty="0" err="1" smtClean="0"/>
            <a:t>Amp_Operation</a:t>
          </a:r>
          <a:r>
            <a:rPr lang="en-US" sz="4000" b="1" dirty="0" smtClean="0"/>
            <a:t> Amplifier.</a:t>
          </a:r>
          <a:endParaRPr lang="en-US" sz="4000"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simple5" qsCatId="simple" csTypeId="urn:microsoft.com/office/officeart/2005/8/colors/accent2_2" csCatId="accent2" phldr="1"/>
      <dgm:spPr/>
      <dgm:t>
        <a:bodyPr/>
        <a:lstStyle/>
        <a:p>
          <a:endParaRPr lang="en-US"/>
        </a:p>
      </dgm:t>
    </dgm:pt>
    <dgm:pt modelId="{D8FDBA16-E463-462A-B396-7080D4852B10}">
      <dgm:prSet/>
      <dgm:spPr/>
      <dgm:t>
        <a:bodyPr/>
        <a:lstStyle/>
        <a:p>
          <a:pPr rtl="0"/>
          <a:r>
            <a:rPr lang="en-US" b="1" dirty="0" smtClean="0"/>
            <a:t>See the next</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lvl="0" algn="l" defTabSz="1155700" rtl="0">
            <a:lnSpc>
              <a:spcPct val="90000"/>
            </a:lnSpc>
            <a:spcBef>
              <a:spcPct val="0"/>
            </a:spcBef>
            <a:spcAft>
              <a:spcPct val="35000"/>
            </a:spcAft>
          </a:pPr>
          <a:r>
            <a:rPr lang="en-US" sz="2600" b="1" kern="1200" dirty="0" smtClean="0"/>
            <a:t>11_4. </a:t>
          </a:r>
          <a:r>
            <a:rPr lang="en-US" sz="4000" b="1" kern="1200" dirty="0" smtClean="0"/>
            <a:t>Op </a:t>
          </a:r>
          <a:r>
            <a:rPr lang="en-US" sz="4000" b="1" kern="1200" dirty="0" err="1" smtClean="0"/>
            <a:t>Amp_Operation</a:t>
          </a:r>
          <a:r>
            <a:rPr lang="en-US" sz="4000" b="1" kern="1200" dirty="0" smtClean="0"/>
            <a:t> Amplifier.</a:t>
          </a:r>
          <a:endParaRPr lang="en-US" sz="4000" kern="1200" dirty="0"/>
        </a:p>
      </dsp:txBody>
      <dsp:txXfrm>
        <a:off x="457199" y="0"/>
        <a:ext cx="8255379" cy="9143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0DAA3CF-D6D9-4A12-B5E8-9D3BDC3303B6}">
      <dsp:nvSpPr>
        <dsp:cNvPr id="0" name=""/>
        <dsp:cNvSpPr/>
      </dsp:nvSpPr>
      <dsp:spPr>
        <a:xfrm>
          <a:off x="457199" y="0"/>
          <a:ext cx="7772400"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lvl="0" algn="ctr" defTabSz="1866900" rtl="0">
            <a:lnSpc>
              <a:spcPct val="90000"/>
            </a:lnSpc>
            <a:spcBef>
              <a:spcPct val="0"/>
            </a:spcBef>
            <a:spcAft>
              <a:spcPct val="35000"/>
            </a:spcAft>
          </a:pPr>
          <a:r>
            <a:rPr lang="en-US" sz="4200" b="1" kern="1200" dirty="0" smtClean="0"/>
            <a:t>See the next</a:t>
          </a:r>
          <a:endParaRPr lang="en-US" sz="4200" kern="1200" dirty="0"/>
        </a:p>
      </dsp:txBody>
      <dsp:txXfrm>
        <a:off x="457199" y="0"/>
        <a:ext cx="7772400" cy="914399"/>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4.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image" Target="../media/image89.png"/></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png"/></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92.png"/></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4.png"/></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3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5D0C7D-798A-44DC-AC41-FEC01C38F0EB}" type="datetimeFigureOut">
              <a:rPr lang="en-US" smtClean="0"/>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1A1DE6-A801-4746-9FC0-8352D20A3103}" type="slidenum">
              <a:rPr lang="en-US" smtClean="0"/>
              <a:t>‹#›</a:t>
            </a:fld>
            <a:endParaRPr lang="en-US"/>
          </a:p>
        </p:txBody>
      </p:sp>
    </p:spTree>
    <p:extLst>
      <p:ext uri="{BB962C8B-B14F-4D97-AF65-F5344CB8AC3E}">
        <p14:creationId xmlns:p14="http://schemas.microsoft.com/office/powerpoint/2010/main" val="285959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http://www.sophphx.caltech.edu/Physics_5/Experiment_6.pdf</a:t>
            </a:r>
          </a:p>
          <a:p>
            <a:endParaRPr lang="en-US" dirty="0" smtClean="0"/>
          </a:p>
          <a:p>
            <a:r>
              <a:rPr lang="en-US" dirty="0" smtClean="0"/>
              <a:t>https://ocw.mit.edu/ans7870/RES/RES.6-010/MITRES_6-010S13_comchaptrs.pdf</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884784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https://electronics.stackexchange.com/questions/529824/dual-supply-to-single-supply-op-amp-conversion</a:t>
            </a:r>
            <a:endParaRPr lang="en-US" dirty="0"/>
          </a:p>
        </p:txBody>
      </p:sp>
      <p:sp>
        <p:nvSpPr>
          <p:cNvPr id="4" name="Slide Number Placeholder 3"/>
          <p:cNvSpPr>
            <a:spLocks noGrp="1"/>
          </p:cNvSpPr>
          <p:nvPr>
            <p:ph type="sldNum" sz="quarter" idx="10"/>
          </p:nvPr>
        </p:nvSpPr>
        <p:spPr/>
        <p:txBody>
          <a:bodyPr/>
          <a:lstStyle/>
          <a:p>
            <a:fld id="{F71A1DE6-A801-4746-9FC0-8352D20A3103}" type="slidenum">
              <a:rPr lang="en-US" smtClean="0"/>
              <a:t>4</a:t>
            </a:fld>
            <a:endParaRPr lang="en-US"/>
          </a:p>
        </p:txBody>
      </p:sp>
    </p:spTree>
    <p:extLst>
      <p:ext uri="{BB962C8B-B14F-4D97-AF65-F5344CB8AC3E}">
        <p14:creationId xmlns:p14="http://schemas.microsoft.com/office/powerpoint/2010/main" val="3378147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C77EA2CC-FABD-466D-82E8-AC953C7EC0CC}" type="slidenum">
              <a:rPr lang="en-US" smtClean="0"/>
              <a:t>80</a:t>
            </a:fld>
            <a:endParaRPr lang="en-US"/>
          </a:p>
        </p:txBody>
      </p:sp>
    </p:spTree>
    <p:extLst>
      <p:ext uri="{BB962C8B-B14F-4D97-AF65-F5344CB8AC3E}">
        <p14:creationId xmlns:p14="http://schemas.microsoft.com/office/powerpoint/2010/main" val="4087328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https://ocw.mit.edu/courses/6-720j-integrated-microelectronic-devices-spring-2007/pages/lecture-notes/</a:t>
            </a:r>
          </a:p>
          <a:p>
            <a:endParaRPr lang="en-US" dirty="0" smtClean="0"/>
          </a:p>
          <a:p>
            <a:r>
              <a:rPr lang="en-US" dirty="0" smtClean="0"/>
              <a:t>https://ocw.mit.edu/courses/6-01sc-introduction-to-electrical-engineering-and-computer-science-i-spring-2011/resources/op-amps/</a:t>
            </a:r>
            <a:endParaRPr lang="en-US" dirty="0"/>
          </a:p>
        </p:txBody>
      </p:sp>
      <p:sp>
        <p:nvSpPr>
          <p:cNvPr id="4" name="Slide Number Placeholder 3"/>
          <p:cNvSpPr>
            <a:spLocks noGrp="1"/>
          </p:cNvSpPr>
          <p:nvPr>
            <p:ph type="sldNum" sz="quarter" idx="10"/>
          </p:nvPr>
        </p:nvSpPr>
        <p:spPr/>
        <p:txBody>
          <a:bodyPr/>
          <a:lstStyle/>
          <a:p>
            <a:fld id="{F71A1DE6-A801-4746-9FC0-8352D20A3103}" type="slidenum">
              <a:rPr lang="en-US" smtClean="0"/>
              <a:t>81</a:t>
            </a:fld>
            <a:endParaRPr lang="en-US"/>
          </a:p>
        </p:txBody>
      </p:sp>
    </p:spTree>
    <p:extLst>
      <p:ext uri="{BB962C8B-B14F-4D97-AF65-F5344CB8AC3E}">
        <p14:creationId xmlns:p14="http://schemas.microsoft.com/office/powerpoint/2010/main" val="1450862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88409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622034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4688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7BBB5D1-B60B-4B38-B17E-7765EA145201}"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94439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7BBB5D1-B60B-4B38-B17E-7765EA145201}"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022342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7BBB5D1-B60B-4B38-B17E-7765EA145201}"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362084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BBB5D1-B60B-4B38-B17E-7765EA145201}" type="datetimeFigureOut">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56292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77584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201192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07366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979566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600" y="6251575"/>
            <a:ext cx="2844800" cy="476250"/>
          </a:xfrm>
        </p:spPr>
        <p:txBody>
          <a:bodyPr/>
          <a:lstStyle>
            <a:lvl1pPr>
              <a:defRPr/>
            </a:lvl1pPr>
          </a:lstStyle>
          <a:p>
            <a:fld id="{9718C166-540B-4C7E-A327-2635B9032EFD}" type="datetime1">
              <a:rPr lang="en-US" smtClean="0"/>
              <a:t>3/25/2026</a:t>
            </a:fld>
            <a:endParaRPr lang="en-US"/>
          </a:p>
        </p:txBody>
      </p:sp>
      <p:sp>
        <p:nvSpPr>
          <p:cNvPr id="6" name="Slide Number Placeholder 5"/>
          <p:cNvSpPr>
            <a:spLocks noGrp="1"/>
          </p:cNvSpPr>
          <p:nvPr>
            <p:ph type="sldNum" sz="quarter" idx="11"/>
          </p:nvPr>
        </p:nvSpPr>
        <p:spPr>
          <a:xfrm>
            <a:off x="8737600" y="6248400"/>
            <a:ext cx="2844800" cy="476250"/>
          </a:xfrm>
        </p:spPr>
        <p:txBody>
          <a:bodyPr/>
          <a:lstStyle>
            <a:lvl1pPr>
              <a:defRPr/>
            </a:lvl1pPr>
          </a:lstStyle>
          <a:p>
            <a:fld id="{63672217-76C2-4848-958E-84381210B462}" type="slidenum">
              <a:rPr lang="en-US"/>
              <a:pPr/>
              <a:t>‹#›</a:t>
            </a:fld>
            <a:endParaRPr lang="en-US"/>
          </a:p>
        </p:txBody>
      </p:sp>
      <p:sp>
        <p:nvSpPr>
          <p:cNvPr id="7" name="Footer Placeholder 6"/>
          <p:cNvSpPr>
            <a:spLocks noGrp="1"/>
          </p:cNvSpPr>
          <p:nvPr>
            <p:ph type="ftr" sz="quarter" idx="12"/>
          </p:nvPr>
        </p:nvSpPr>
        <p:spPr>
          <a:xfrm>
            <a:off x="4165600" y="6248400"/>
            <a:ext cx="3860800" cy="476250"/>
          </a:xfrm>
        </p:spPr>
        <p:txBody>
          <a:bodyPr/>
          <a:lstStyle>
            <a:lvl1pPr>
              <a:defRPr/>
            </a:lvl1pPr>
          </a:lstStyle>
          <a:p>
            <a:r>
              <a:rPr lang="en-US" smtClean="0"/>
              <a:t>http://www.electronics-tutorials.ws/opamp/opamp_1.html; Buku Praktikum Eljut ; Malvino Edisi 1 dan 2; Bahan Ajar Operasional Amplifier oleh Dr. Risanuri Hidayat</a:t>
            </a:r>
            <a:endParaRPr lang="en-US"/>
          </a:p>
        </p:txBody>
      </p:sp>
    </p:spTree>
    <p:extLst>
      <p:ext uri="{BB962C8B-B14F-4D97-AF65-F5344CB8AC3E}">
        <p14:creationId xmlns:p14="http://schemas.microsoft.com/office/powerpoint/2010/main" val="1172519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609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609600" y="3938589"/>
            <a:ext cx="10972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609600" y="6251575"/>
            <a:ext cx="2844800" cy="476250"/>
          </a:xfrm>
        </p:spPr>
        <p:txBody>
          <a:bodyPr/>
          <a:lstStyle>
            <a:lvl1pPr>
              <a:defRPr/>
            </a:lvl1pPr>
          </a:lstStyle>
          <a:p>
            <a:endParaRPr lang="en-US"/>
          </a:p>
        </p:txBody>
      </p:sp>
      <p:sp>
        <p:nvSpPr>
          <p:cNvPr id="7" name="Slide Number Placeholder 6"/>
          <p:cNvSpPr>
            <a:spLocks noGrp="1"/>
          </p:cNvSpPr>
          <p:nvPr>
            <p:ph type="sldNum" sz="quarter" idx="11"/>
          </p:nvPr>
        </p:nvSpPr>
        <p:spPr>
          <a:xfrm>
            <a:off x="8737600" y="6248400"/>
            <a:ext cx="2844800" cy="476250"/>
          </a:xfrm>
        </p:spPr>
        <p:txBody>
          <a:bodyPr/>
          <a:lstStyle>
            <a:lvl1pPr>
              <a:defRPr/>
            </a:lvl1pPr>
          </a:lstStyle>
          <a:p>
            <a:fld id="{03C54592-212B-4FA3-B840-EC95D5B568CD}" type="slidenum">
              <a:rPr lang="en-US"/>
              <a:pPr/>
              <a:t>‹#›</a:t>
            </a:fld>
            <a:endParaRPr lang="en-US"/>
          </a:p>
        </p:txBody>
      </p:sp>
      <p:sp>
        <p:nvSpPr>
          <p:cNvPr id="8" name="Footer Placeholder 7"/>
          <p:cNvSpPr>
            <a:spLocks noGrp="1"/>
          </p:cNvSpPr>
          <p:nvPr>
            <p:ph type="ftr" sz="quarter" idx="12"/>
          </p:nvPr>
        </p:nvSpPr>
        <p:spPr>
          <a:xfrm>
            <a:off x="4165600" y="6248400"/>
            <a:ext cx="3860800" cy="476250"/>
          </a:xfrm>
        </p:spPr>
        <p:txBody>
          <a:bodyPr/>
          <a:lstStyle>
            <a:lvl1pPr>
              <a:defRPr/>
            </a:lvl1pPr>
          </a:lstStyle>
          <a:p>
            <a:endParaRPr lang="en-US"/>
          </a:p>
        </p:txBody>
      </p:sp>
    </p:spTree>
    <p:extLst>
      <p:ext uri="{BB962C8B-B14F-4D97-AF65-F5344CB8AC3E}">
        <p14:creationId xmlns:p14="http://schemas.microsoft.com/office/powerpoint/2010/main" val="17245309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197600" y="3938589"/>
            <a:ext cx="5384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609600" y="6251575"/>
            <a:ext cx="2844800" cy="476250"/>
          </a:xfrm>
        </p:spPr>
        <p:txBody>
          <a:bodyPr/>
          <a:lstStyle>
            <a:lvl1pPr>
              <a:defRPr/>
            </a:lvl1pPr>
          </a:lstStyle>
          <a:p>
            <a:endParaRPr lang="en-US"/>
          </a:p>
        </p:txBody>
      </p:sp>
      <p:sp>
        <p:nvSpPr>
          <p:cNvPr id="7" name="Slide Number Placeholder 6"/>
          <p:cNvSpPr>
            <a:spLocks noGrp="1"/>
          </p:cNvSpPr>
          <p:nvPr>
            <p:ph type="sldNum" sz="quarter" idx="11"/>
          </p:nvPr>
        </p:nvSpPr>
        <p:spPr>
          <a:xfrm>
            <a:off x="8737600" y="6248400"/>
            <a:ext cx="2844800" cy="476250"/>
          </a:xfrm>
        </p:spPr>
        <p:txBody>
          <a:bodyPr/>
          <a:lstStyle>
            <a:lvl1pPr>
              <a:defRPr/>
            </a:lvl1pPr>
          </a:lstStyle>
          <a:p>
            <a:fld id="{7BE6430B-D41A-4F4B-986B-D268072AE718}" type="slidenum">
              <a:rPr lang="en-US"/>
              <a:pPr/>
              <a:t>‹#›</a:t>
            </a:fld>
            <a:endParaRPr lang="en-US"/>
          </a:p>
        </p:txBody>
      </p:sp>
      <p:sp>
        <p:nvSpPr>
          <p:cNvPr id="8" name="Footer Placeholder 7"/>
          <p:cNvSpPr>
            <a:spLocks noGrp="1"/>
          </p:cNvSpPr>
          <p:nvPr>
            <p:ph type="ftr" sz="quarter" idx="12"/>
          </p:nvPr>
        </p:nvSpPr>
        <p:spPr>
          <a:xfrm>
            <a:off x="4165600" y="6248400"/>
            <a:ext cx="3860800" cy="476250"/>
          </a:xfrm>
        </p:spPr>
        <p:txBody>
          <a:bodyPr/>
          <a:lstStyle>
            <a:lvl1pPr>
              <a:defRPr/>
            </a:lvl1pPr>
          </a:lstStyle>
          <a:p>
            <a:endParaRPr lang="en-US"/>
          </a:p>
        </p:txBody>
      </p:sp>
    </p:spTree>
    <p:extLst>
      <p:ext uri="{BB962C8B-B14F-4D97-AF65-F5344CB8AC3E}">
        <p14:creationId xmlns:p14="http://schemas.microsoft.com/office/powerpoint/2010/main" val="17603864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10972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3938589"/>
            <a:ext cx="10972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600" y="6251575"/>
            <a:ext cx="2844800" cy="476250"/>
          </a:xfrm>
        </p:spPr>
        <p:txBody>
          <a:bodyPr/>
          <a:lstStyle>
            <a:lvl1pPr>
              <a:defRPr/>
            </a:lvl1pPr>
          </a:lstStyle>
          <a:p>
            <a:endParaRPr lang="en-US"/>
          </a:p>
        </p:txBody>
      </p:sp>
      <p:sp>
        <p:nvSpPr>
          <p:cNvPr id="6" name="Slide Number Placeholder 5"/>
          <p:cNvSpPr>
            <a:spLocks noGrp="1"/>
          </p:cNvSpPr>
          <p:nvPr>
            <p:ph type="sldNum" sz="quarter" idx="11"/>
          </p:nvPr>
        </p:nvSpPr>
        <p:spPr>
          <a:xfrm>
            <a:off x="8737600" y="6248400"/>
            <a:ext cx="2844800" cy="476250"/>
          </a:xfrm>
        </p:spPr>
        <p:txBody>
          <a:bodyPr/>
          <a:lstStyle>
            <a:lvl1pPr>
              <a:defRPr/>
            </a:lvl1pPr>
          </a:lstStyle>
          <a:p>
            <a:fld id="{B6D43BF7-D0E7-4944-9DE7-B9C291B847CF}" type="slidenum">
              <a:rPr lang="en-US"/>
              <a:pPr/>
              <a:t>‹#›</a:t>
            </a:fld>
            <a:endParaRPr lang="en-US"/>
          </a:p>
        </p:txBody>
      </p:sp>
      <p:sp>
        <p:nvSpPr>
          <p:cNvPr id="7" name="Footer Placeholder 6"/>
          <p:cNvSpPr>
            <a:spLocks noGrp="1"/>
          </p:cNvSpPr>
          <p:nvPr>
            <p:ph type="ftr" sz="quarter" idx="12"/>
          </p:nvPr>
        </p:nvSpPr>
        <p:spPr>
          <a:xfrm>
            <a:off x="4165600" y="6248400"/>
            <a:ext cx="3860800" cy="476250"/>
          </a:xfrm>
        </p:spPr>
        <p:txBody>
          <a:bodyPr/>
          <a:lstStyle>
            <a:lvl1pPr>
              <a:defRPr/>
            </a:lvl1pPr>
          </a:lstStyle>
          <a:p>
            <a:endParaRPr lang="en-US"/>
          </a:p>
        </p:txBody>
      </p:sp>
    </p:spTree>
    <p:extLst>
      <p:ext uri="{BB962C8B-B14F-4D97-AF65-F5344CB8AC3E}">
        <p14:creationId xmlns:p14="http://schemas.microsoft.com/office/powerpoint/2010/main" val="37903079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609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09600" y="3938589"/>
            <a:ext cx="5384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6197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609600" y="6251575"/>
            <a:ext cx="2844800" cy="476250"/>
          </a:xfrm>
        </p:spPr>
        <p:txBody>
          <a:bodyPr/>
          <a:lstStyle>
            <a:lvl1pPr>
              <a:defRPr/>
            </a:lvl1pPr>
          </a:lstStyle>
          <a:p>
            <a:endParaRPr lang="en-US"/>
          </a:p>
        </p:txBody>
      </p:sp>
      <p:sp>
        <p:nvSpPr>
          <p:cNvPr id="7" name="Slide Number Placeholder 6"/>
          <p:cNvSpPr>
            <a:spLocks noGrp="1"/>
          </p:cNvSpPr>
          <p:nvPr>
            <p:ph type="sldNum" sz="quarter" idx="11"/>
          </p:nvPr>
        </p:nvSpPr>
        <p:spPr>
          <a:xfrm>
            <a:off x="8737600" y="6248400"/>
            <a:ext cx="2844800" cy="476250"/>
          </a:xfrm>
        </p:spPr>
        <p:txBody>
          <a:bodyPr/>
          <a:lstStyle>
            <a:lvl1pPr>
              <a:defRPr/>
            </a:lvl1pPr>
          </a:lstStyle>
          <a:p>
            <a:fld id="{091A799F-0FD1-4875-87E1-BE8F197F8A05}" type="slidenum">
              <a:rPr lang="en-US"/>
              <a:pPr/>
              <a:t>‹#›</a:t>
            </a:fld>
            <a:endParaRPr lang="en-US"/>
          </a:p>
        </p:txBody>
      </p:sp>
      <p:sp>
        <p:nvSpPr>
          <p:cNvPr id="8" name="Footer Placeholder 7"/>
          <p:cNvSpPr>
            <a:spLocks noGrp="1"/>
          </p:cNvSpPr>
          <p:nvPr>
            <p:ph type="ftr" sz="quarter" idx="12"/>
          </p:nvPr>
        </p:nvSpPr>
        <p:spPr>
          <a:xfrm>
            <a:off x="4165600" y="6248400"/>
            <a:ext cx="3860800" cy="476250"/>
          </a:xfrm>
        </p:spPr>
        <p:txBody>
          <a:bodyPr/>
          <a:lstStyle>
            <a:lvl1pPr>
              <a:defRPr/>
            </a:lvl1pPr>
          </a:lstStyle>
          <a:p>
            <a:endParaRPr lang="en-US"/>
          </a:p>
        </p:txBody>
      </p:sp>
    </p:spTree>
    <p:extLst>
      <p:ext uri="{BB962C8B-B14F-4D97-AF65-F5344CB8AC3E}">
        <p14:creationId xmlns:p14="http://schemas.microsoft.com/office/powerpoint/2010/main" val="28730576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609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09600" y="3938589"/>
            <a:ext cx="5384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6197600" y="3938589"/>
            <a:ext cx="5384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09600" y="6251575"/>
            <a:ext cx="2844800" cy="476250"/>
          </a:xfrm>
        </p:spPr>
        <p:txBody>
          <a:bodyPr/>
          <a:lstStyle>
            <a:lvl1pPr>
              <a:defRPr/>
            </a:lvl1pPr>
          </a:lstStyle>
          <a:p>
            <a:endParaRPr lang="en-US"/>
          </a:p>
        </p:txBody>
      </p:sp>
      <p:sp>
        <p:nvSpPr>
          <p:cNvPr id="8" name="Slide Number Placeholder 7"/>
          <p:cNvSpPr>
            <a:spLocks noGrp="1"/>
          </p:cNvSpPr>
          <p:nvPr>
            <p:ph type="sldNum" sz="quarter" idx="11"/>
          </p:nvPr>
        </p:nvSpPr>
        <p:spPr>
          <a:xfrm>
            <a:off x="8737600" y="6248400"/>
            <a:ext cx="2844800" cy="476250"/>
          </a:xfrm>
        </p:spPr>
        <p:txBody>
          <a:bodyPr/>
          <a:lstStyle>
            <a:lvl1pPr>
              <a:defRPr/>
            </a:lvl1pPr>
          </a:lstStyle>
          <a:p>
            <a:fld id="{F7A2EDAB-DCB2-471C-8E12-878E18D4A728}" type="slidenum">
              <a:rPr lang="en-US"/>
              <a:pPr/>
              <a:t>‹#›</a:t>
            </a:fld>
            <a:endParaRPr lang="en-US"/>
          </a:p>
        </p:txBody>
      </p:sp>
      <p:sp>
        <p:nvSpPr>
          <p:cNvPr id="9" name="Footer Placeholder 8"/>
          <p:cNvSpPr>
            <a:spLocks noGrp="1"/>
          </p:cNvSpPr>
          <p:nvPr>
            <p:ph type="ftr" sz="quarter" idx="12"/>
          </p:nvPr>
        </p:nvSpPr>
        <p:spPr>
          <a:xfrm>
            <a:off x="4165600" y="6248400"/>
            <a:ext cx="3860800" cy="476250"/>
          </a:xfrm>
        </p:spPr>
        <p:txBody>
          <a:bodyPr/>
          <a:lstStyle>
            <a:lvl1pPr>
              <a:defRPr/>
            </a:lvl1pPr>
          </a:lstStyle>
          <a:p>
            <a:endParaRPr lang="en-US"/>
          </a:p>
        </p:txBody>
      </p:sp>
    </p:spTree>
    <p:extLst>
      <p:ext uri="{BB962C8B-B14F-4D97-AF65-F5344CB8AC3E}">
        <p14:creationId xmlns:p14="http://schemas.microsoft.com/office/powerpoint/2010/main" val="19784522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AndObj">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609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09600" y="3938589"/>
            <a:ext cx="5384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half" idx="3"/>
          </p:nvPr>
        </p:nvSpPr>
        <p:spPr>
          <a:xfrm>
            <a:off x="6197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609600" y="6251575"/>
            <a:ext cx="2844800" cy="476250"/>
          </a:xfrm>
        </p:spPr>
        <p:txBody>
          <a:bodyPr/>
          <a:lstStyle>
            <a:lvl1pPr>
              <a:defRPr/>
            </a:lvl1pPr>
          </a:lstStyle>
          <a:p>
            <a:endParaRPr lang="en-US"/>
          </a:p>
        </p:txBody>
      </p:sp>
      <p:sp>
        <p:nvSpPr>
          <p:cNvPr id="7" name="Slide Number Placeholder 6"/>
          <p:cNvSpPr>
            <a:spLocks noGrp="1"/>
          </p:cNvSpPr>
          <p:nvPr>
            <p:ph type="sldNum" sz="quarter" idx="11"/>
          </p:nvPr>
        </p:nvSpPr>
        <p:spPr>
          <a:xfrm>
            <a:off x="8737600" y="6248400"/>
            <a:ext cx="2844800" cy="476250"/>
          </a:xfrm>
        </p:spPr>
        <p:txBody>
          <a:bodyPr/>
          <a:lstStyle>
            <a:lvl1pPr>
              <a:defRPr/>
            </a:lvl1pPr>
          </a:lstStyle>
          <a:p>
            <a:fld id="{201AEAA9-8C65-42A5-8C90-A2F54C079198}" type="slidenum">
              <a:rPr lang="en-US"/>
              <a:pPr/>
              <a:t>‹#›</a:t>
            </a:fld>
            <a:endParaRPr lang="en-US"/>
          </a:p>
        </p:txBody>
      </p:sp>
      <p:sp>
        <p:nvSpPr>
          <p:cNvPr id="8" name="Footer Placeholder 7"/>
          <p:cNvSpPr>
            <a:spLocks noGrp="1"/>
          </p:cNvSpPr>
          <p:nvPr>
            <p:ph type="ftr" sz="quarter" idx="12"/>
          </p:nvPr>
        </p:nvSpPr>
        <p:spPr>
          <a:xfrm>
            <a:off x="4165600" y="6248400"/>
            <a:ext cx="3860800" cy="476250"/>
          </a:xfrm>
        </p:spPr>
        <p:txBody>
          <a:bodyPr/>
          <a:lstStyle>
            <a:lvl1pPr>
              <a:defRPr/>
            </a:lvl1pPr>
          </a:lstStyle>
          <a:p>
            <a:endParaRPr lang="en-US"/>
          </a:p>
        </p:txBody>
      </p:sp>
    </p:spTree>
    <p:extLst>
      <p:ext uri="{BB962C8B-B14F-4D97-AF65-F5344CB8AC3E}">
        <p14:creationId xmlns:p14="http://schemas.microsoft.com/office/powerpoint/2010/main" val="317913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BBB5D1-B60B-4B38-B17E-7765EA145201}" type="datetimeFigureOut">
              <a:rPr lang="en-US" smtClean="0"/>
              <a:t>3/25/2026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F42857-403A-4A86-BF79-9A4C4603A143}" type="slidenum">
              <a:rPr lang="en-US" smtClean="0"/>
              <a:t>‹#›</a:t>
            </a:fld>
            <a:endParaRPr lang="en-US"/>
          </a:p>
        </p:txBody>
      </p:sp>
    </p:spTree>
    <p:extLst>
      <p:ext uri="{BB962C8B-B14F-4D97-AF65-F5344CB8AC3E}">
        <p14:creationId xmlns:p14="http://schemas.microsoft.com/office/powerpoint/2010/main" val="265589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3.emf"/><Relationship Id="rId5" Type="http://schemas.openxmlformats.org/officeDocument/2006/relationships/package" Target="../embeddings/Microsoft_Visio_Drawing2.vsdx"/><Relationship Id="rId4" Type="http://schemas.openxmlformats.org/officeDocument/2006/relationships/image" Target="../media/image12.emf"/></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4.emf"/><Relationship Id="rId4" Type="http://schemas.openxmlformats.org/officeDocument/2006/relationships/package" Target="../embeddings/Microsoft_Visio_Drawing3.vsdx"/></Relationships>
</file>

<file path=ppt/slides/_rels/slide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Visio_Drawing4.vsdx"/><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16.emf"/></Relationships>
</file>

<file path=ppt/slides/_rels/slide1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Visio_Drawing5.vsdx"/><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18.emf"/></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12.xml"/><Relationship Id="rId1" Type="http://schemas.openxmlformats.org/officeDocument/2006/relationships/vmlDrawing" Target="../drawings/vmlDrawing5.vml"/><Relationship Id="rId5" Type="http://schemas.openxmlformats.org/officeDocument/2006/relationships/image" Target="../media/image24.wmf"/><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26.wmf"/></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13.xml"/><Relationship Id="rId1" Type="http://schemas.openxmlformats.org/officeDocument/2006/relationships/vmlDrawing" Target="../drawings/vmlDrawing7.vml"/><Relationship Id="rId5" Type="http://schemas.openxmlformats.org/officeDocument/2006/relationships/image" Target="../media/image27.wmf"/><Relationship Id="rId4" Type="http://schemas.openxmlformats.org/officeDocument/2006/relationships/oleObject" Target="../embeddings/oleObject3.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oleObject" Target="../embeddings/oleObject4.bin"/><Relationship Id="rId7" Type="http://schemas.openxmlformats.org/officeDocument/2006/relationships/image" Target="../media/image30.wmf"/><Relationship Id="rId2" Type="http://schemas.openxmlformats.org/officeDocument/2006/relationships/slideLayout" Target="../slideLayouts/slideLayout13.xml"/><Relationship Id="rId1" Type="http://schemas.openxmlformats.org/officeDocument/2006/relationships/vmlDrawing" Target="../drawings/vmlDrawing8.vml"/><Relationship Id="rId6" Type="http://schemas.openxmlformats.org/officeDocument/2006/relationships/oleObject" Target="../embeddings/oleObject5.bin"/><Relationship Id="rId5" Type="http://schemas.openxmlformats.org/officeDocument/2006/relationships/image" Target="../media/image32.png"/><Relationship Id="rId4" Type="http://schemas.openxmlformats.org/officeDocument/2006/relationships/image" Target="../media/image29.png"/><Relationship Id="rId9" Type="http://schemas.openxmlformats.org/officeDocument/2006/relationships/image" Target="../media/image31.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9.vml"/><Relationship Id="rId4" Type="http://schemas.openxmlformats.org/officeDocument/2006/relationships/image" Target="../media/image33.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5.xml"/><Relationship Id="rId1" Type="http://schemas.openxmlformats.org/officeDocument/2006/relationships/vmlDrawing" Target="../drawings/vmlDrawing10.v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11.vml"/><Relationship Id="rId4" Type="http://schemas.openxmlformats.org/officeDocument/2006/relationships/image" Target="../media/image33.wmf"/></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6.xml"/><Relationship Id="rId5" Type="http://schemas.openxmlformats.org/officeDocument/2006/relationships/image" Target="../media/image40.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17.xml"/><Relationship Id="rId1" Type="http://schemas.openxmlformats.org/officeDocument/2006/relationships/vmlDrawing" Target="../drawings/vmlDrawing12.vml"/><Relationship Id="rId6" Type="http://schemas.openxmlformats.org/officeDocument/2006/relationships/image" Target="../media/image41.wmf"/><Relationship Id="rId5" Type="http://schemas.openxmlformats.org/officeDocument/2006/relationships/oleObject" Target="../embeddings/oleObject10.bin"/><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7.xml"/><Relationship Id="rId1" Type="http://schemas.openxmlformats.org/officeDocument/2006/relationships/vmlDrawing" Target="../drawings/vmlDrawing13.vml"/><Relationship Id="rId6" Type="http://schemas.openxmlformats.org/officeDocument/2006/relationships/image" Target="../media/image45.wmf"/><Relationship Id="rId5" Type="http://schemas.openxmlformats.org/officeDocument/2006/relationships/oleObject" Target="../embeddings/oleObject12.bin"/><Relationship Id="rId4" Type="http://schemas.openxmlformats.org/officeDocument/2006/relationships/image" Target="../media/image44.wmf"/></Relationships>
</file>

<file path=ppt/slides/_rels/slide32.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17.xml"/><Relationship Id="rId1" Type="http://schemas.openxmlformats.org/officeDocument/2006/relationships/vmlDrawing" Target="../drawings/vmlDrawing14.vml"/><Relationship Id="rId6" Type="http://schemas.openxmlformats.org/officeDocument/2006/relationships/image" Target="../media/image47.wmf"/><Relationship Id="rId5" Type="http://schemas.openxmlformats.org/officeDocument/2006/relationships/oleObject" Target="../embeddings/oleObject14.bin"/><Relationship Id="rId4" Type="http://schemas.openxmlformats.org/officeDocument/2006/relationships/image" Target="../media/image46.wmf"/></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18.xml"/><Relationship Id="rId1" Type="http://schemas.openxmlformats.org/officeDocument/2006/relationships/vmlDrawing" Target="../drawings/vmlDrawing15.vml"/><Relationship Id="rId5" Type="http://schemas.openxmlformats.org/officeDocument/2006/relationships/image" Target="../media/image49.wmf"/><Relationship Id="rId4" Type="http://schemas.openxmlformats.org/officeDocument/2006/relationships/oleObject" Target="../embeddings/oleObject16.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image" Target="../media/image53.wmf"/><Relationship Id="rId2" Type="http://schemas.openxmlformats.org/officeDocument/2006/relationships/slideLayout" Target="../slideLayouts/slideLayout15.xml"/><Relationship Id="rId1" Type="http://schemas.openxmlformats.org/officeDocument/2006/relationships/vmlDrawing" Target="../drawings/vmlDrawing16.vml"/><Relationship Id="rId6" Type="http://schemas.openxmlformats.org/officeDocument/2006/relationships/oleObject" Target="../embeddings/oleObject18.bin"/><Relationship Id="rId5" Type="http://schemas.openxmlformats.org/officeDocument/2006/relationships/image" Target="../media/image54.png"/><Relationship Id="rId4" Type="http://schemas.openxmlformats.org/officeDocument/2006/relationships/image" Target="../media/image52.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5.xml"/><Relationship Id="rId1" Type="http://schemas.openxmlformats.org/officeDocument/2006/relationships/vmlDrawing" Target="../drawings/vmlDrawing17.vml"/><Relationship Id="rId4" Type="http://schemas.openxmlformats.org/officeDocument/2006/relationships/image" Target="../media/image55.wmf"/></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4.xml"/><Relationship Id="rId5" Type="http://schemas.openxmlformats.org/officeDocument/2006/relationships/image" Target="../media/image59.png"/><Relationship Id="rId4" Type="http://schemas.openxmlformats.org/officeDocument/2006/relationships/image" Target="../media/image58.png"/></Relationships>
</file>

<file path=ppt/slides/_rels/slide3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7.xml"/><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8.xml"/><Relationship Id="rId5" Type="http://schemas.openxmlformats.org/officeDocument/2006/relationships/image" Target="../media/image67.png"/><Relationship Id="rId4" Type="http://schemas.openxmlformats.org/officeDocument/2006/relationships/image" Target="../media/image66.png"/></Relationships>
</file>

<file path=ppt/slides/_rels/slide3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Layout" Target="../slideLayouts/slideLayout14.xml"/><Relationship Id="rId1" Type="http://schemas.openxmlformats.org/officeDocument/2006/relationships/vmlDrawing" Target="../drawings/vmlDrawing18.vml"/><Relationship Id="rId6" Type="http://schemas.openxmlformats.org/officeDocument/2006/relationships/image" Target="../media/image73.wmf"/><Relationship Id="rId5" Type="http://schemas.openxmlformats.org/officeDocument/2006/relationships/oleObject" Target="../embeddings/oleObject20.bin"/><Relationship Id="rId4" Type="http://schemas.openxmlformats.org/officeDocument/2006/relationships/image" Target="../media/image75.png"/></Relationships>
</file>

<file path=ppt/slides/_rels/slide4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hyperlink" Target="http://www.electronics-tutorials.ws/opamp/opamp_4.html" TargetMode="External"/><Relationship Id="rId2" Type="http://schemas.openxmlformats.org/officeDocument/2006/relationships/hyperlink" Target="http://id.wikipedia.org/wiki/Berkas:Op-Amp_Comparator.svg" TargetMode="Externa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12.xml"/><Relationship Id="rId1" Type="http://schemas.openxmlformats.org/officeDocument/2006/relationships/vmlDrawing" Target="../drawings/vmlDrawing19.vml"/><Relationship Id="rId5" Type="http://schemas.openxmlformats.org/officeDocument/2006/relationships/image" Target="../media/image24.wmf"/><Relationship Id="rId4" Type="http://schemas.openxmlformats.org/officeDocument/2006/relationships/oleObject" Target="../embeddings/oleObject21.bin"/></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2.xml"/><Relationship Id="rId1" Type="http://schemas.openxmlformats.org/officeDocument/2006/relationships/vmlDrawing" Target="../drawings/vmlDrawing20.vml"/><Relationship Id="rId4" Type="http://schemas.openxmlformats.org/officeDocument/2006/relationships/image" Target="../media/image26.wmf"/></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13.xml"/><Relationship Id="rId1" Type="http://schemas.openxmlformats.org/officeDocument/2006/relationships/vmlDrawing" Target="../drawings/vmlDrawing21.vml"/><Relationship Id="rId5" Type="http://schemas.openxmlformats.org/officeDocument/2006/relationships/image" Target="../media/image27.wmf"/><Relationship Id="rId4" Type="http://schemas.openxmlformats.org/officeDocument/2006/relationships/oleObject" Target="../embeddings/oleObject23.bin"/></Relationships>
</file>

<file path=ppt/slides/_rels/slide6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Layout" Target="../slideLayouts/slideLayout14.xml"/><Relationship Id="rId1" Type="http://schemas.openxmlformats.org/officeDocument/2006/relationships/vmlDrawing" Target="../drawings/vmlDrawing22.vml"/><Relationship Id="rId6" Type="http://schemas.openxmlformats.org/officeDocument/2006/relationships/image" Target="../media/image73.wmf"/><Relationship Id="rId5" Type="http://schemas.openxmlformats.org/officeDocument/2006/relationships/oleObject" Target="../embeddings/oleObject24.bin"/><Relationship Id="rId4" Type="http://schemas.openxmlformats.org/officeDocument/2006/relationships/image" Target="../media/image75.png"/></Relationships>
</file>

<file path=ppt/slides/_rels/slide6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25.bin"/><Relationship Id="rId7" Type="http://schemas.openxmlformats.org/officeDocument/2006/relationships/image" Target="../media/image91.png"/><Relationship Id="rId2" Type="http://schemas.openxmlformats.org/officeDocument/2006/relationships/slideLayout" Target="../slideLayouts/slideLayout14.xml"/><Relationship Id="rId1" Type="http://schemas.openxmlformats.org/officeDocument/2006/relationships/vmlDrawing" Target="../drawings/vmlDrawing23.vml"/><Relationship Id="rId6" Type="http://schemas.openxmlformats.org/officeDocument/2006/relationships/image" Target="../media/image90.emf"/><Relationship Id="rId5" Type="http://schemas.openxmlformats.org/officeDocument/2006/relationships/oleObject" Target="../embeddings/oleObject26.bin"/><Relationship Id="rId4" Type="http://schemas.openxmlformats.org/officeDocument/2006/relationships/image" Target="../media/image8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oleObject" Target="../embeddings/oleObject27.bin"/><Relationship Id="rId7" Type="http://schemas.openxmlformats.org/officeDocument/2006/relationships/image" Target="../media/image30.wmf"/><Relationship Id="rId2" Type="http://schemas.openxmlformats.org/officeDocument/2006/relationships/slideLayout" Target="../slideLayouts/slideLayout13.xml"/><Relationship Id="rId1" Type="http://schemas.openxmlformats.org/officeDocument/2006/relationships/vmlDrawing" Target="../drawings/vmlDrawing24.vml"/><Relationship Id="rId6" Type="http://schemas.openxmlformats.org/officeDocument/2006/relationships/oleObject" Target="../embeddings/oleObject28.bin"/><Relationship Id="rId5" Type="http://schemas.openxmlformats.org/officeDocument/2006/relationships/image" Target="../media/image32.png"/><Relationship Id="rId4" Type="http://schemas.openxmlformats.org/officeDocument/2006/relationships/image" Target="../media/image29.png"/><Relationship Id="rId9" Type="http://schemas.openxmlformats.org/officeDocument/2006/relationships/image" Target="../media/image31.w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12.xml"/><Relationship Id="rId1" Type="http://schemas.openxmlformats.org/officeDocument/2006/relationships/vmlDrawing" Target="../drawings/vmlDrawing25.vml"/><Relationship Id="rId4" Type="http://schemas.openxmlformats.org/officeDocument/2006/relationships/image" Target="../media/image33.w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2.xml"/><Relationship Id="rId1" Type="http://schemas.openxmlformats.org/officeDocument/2006/relationships/vmlDrawing" Target="../drawings/vmlDrawing26.vml"/><Relationship Id="rId4" Type="http://schemas.openxmlformats.org/officeDocument/2006/relationships/image" Target="../media/image92.png"/></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15.xml"/><Relationship Id="rId1" Type="http://schemas.openxmlformats.org/officeDocument/2006/relationships/vmlDrawing" Target="../drawings/vmlDrawing27.v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12.xml"/><Relationship Id="rId1" Type="http://schemas.openxmlformats.org/officeDocument/2006/relationships/vmlDrawing" Target="../drawings/vmlDrawing28.vml"/><Relationship Id="rId4" Type="http://schemas.openxmlformats.org/officeDocument/2006/relationships/image" Target="../media/image33.wmf"/></Relationships>
</file>

<file path=ppt/slides/_rels/slide7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6.xml"/><Relationship Id="rId5" Type="http://schemas.openxmlformats.org/officeDocument/2006/relationships/image" Target="../media/image40.png"/><Relationship Id="rId4" Type="http://schemas.openxmlformats.org/officeDocument/2006/relationships/image" Target="../media/image39.png"/></Relationships>
</file>

<file path=ppt/slides/_rels/slide7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7.xml"/><Relationship Id="rId5" Type="http://schemas.openxmlformats.org/officeDocument/2006/relationships/image" Target="../media/image94.png"/><Relationship Id="rId4" Type="http://schemas.openxmlformats.org/officeDocument/2006/relationships/image" Target="../media/image93.png"/></Relationships>
</file>

<file path=ppt/slides/_rels/slide7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51.png"/><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7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7.xml"/><Relationship Id="rId4" Type="http://schemas.openxmlformats.org/officeDocument/2006/relationships/image" Target="../media/image63.png"/></Relationships>
</file>

<file path=ppt/slides/_rels/slide7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8.xml"/><Relationship Id="rId4" Type="http://schemas.openxmlformats.org/officeDocument/2006/relationships/image" Target="../media/image66.png"/></Relationships>
</file>

<file path=ppt/slides/_rels/slide80.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8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ubtitle 2"/>
          <p:cNvSpPr txBox="1">
            <a:spLocks/>
          </p:cNvSpPr>
          <p:nvPr/>
        </p:nvSpPr>
        <p:spPr>
          <a:xfrm>
            <a:off x="5038473" y="1264112"/>
            <a:ext cx="5287688" cy="5210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solidFill>
                <a:srgbClr val="00B0F0"/>
              </a:solidFill>
            </a:endParaRPr>
          </a:p>
        </p:txBody>
      </p:sp>
      <p:grpSp>
        <p:nvGrpSpPr>
          <p:cNvPr id="20" name="Group 19"/>
          <p:cNvGrpSpPr/>
          <p:nvPr/>
        </p:nvGrpSpPr>
        <p:grpSpPr>
          <a:xfrm>
            <a:off x="234110" y="395322"/>
            <a:ext cx="4804363" cy="2463094"/>
            <a:chOff x="54496" y="359621"/>
            <a:chExt cx="4804363" cy="2463094"/>
          </a:xfrm>
        </p:grpSpPr>
        <p:pic>
          <p:nvPicPr>
            <p:cNvPr id="19" name="Picture 18"/>
            <p:cNvPicPr>
              <a:picLocks noChangeAspect="1"/>
            </p:cNvPicPr>
            <p:nvPr/>
          </p:nvPicPr>
          <p:blipFill>
            <a:blip r:embed="rId3"/>
            <a:stretch>
              <a:fillRect/>
            </a:stretch>
          </p:blipFill>
          <p:spPr>
            <a:xfrm>
              <a:off x="235105" y="1901987"/>
              <a:ext cx="3104181" cy="263526"/>
            </a:xfrm>
            <a:prstGeom prst="rect">
              <a:avLst/>
            </a:prstGeom>
          </p:spPr>
        </p:pic>
        <p:sp>
          <p:nvSpPr>
            <p:cNvPr id="6"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7" name="Group 6">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8"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9" name="Freeform 8">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0" name="Group 9">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17"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18"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
        <p:nvSpPr>
          <p:cNvPr id="22" name="Rectangle 21"/>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23" name="Rectangle 22"/>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24" name="Rectangle 23"/>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25" name="Rectangle 24"/>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26" name="Rectangle 25"/>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aphicFrame>
        <p:nvGraphicFramePr>
          <p:cNvPr id="21" name="Diagram 20"/>
          <p:cNvGraphicFramePr/>
          <p:nvPr>
            <p:extLst>
              <p:ext uri="{D42A27DB-BD31-4B8C-83A1-F6EECF244321}">
                <p14:modId xmlns:p14="http://schemas.microsoft.com/office/powerpoint/2010/main" val="3465894587"/>
              </p:ext>
            </p:extLst>
          </p:nvPr>
        </p:nvGraphicFramePr>
        <p:xfrm>
          <a:off x="2063476" y="3434555"/>
          <a:ext cx="8712579" cy="9143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7" name="Pie 26"/>
          <p:cNvSpPr/>
          <p:nvPr/>
        </p:nvSpPr>
        <p:spPr>
          <a:xfrm rot="10600249">
            <a:off x="10357546" y="3415832"/>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spTree>
    <p:extLst>
      <p:ext uri="{BB962C8B-B14F-4D97-AF65-F5344CB8AC3E}">
        <p14:creationId xmlns:p14="http://schemas.microsoft.com/office/powerpoint/2010/main" val="38640026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507952"/>
          </a:xfrm>
        </p:spPr>
        <p:txBody>
          <a:bodyPr>
            <a:normAutofit fontScale="90000"/>
          </a:bodyPr>
          <a:lstStyle/>
          <a:p>
            <a:r>
              <a:rPr lang="en-US" sz="3200" dirty="0" err="1" smtClean="0"/>
              <a:t>Tampilan</a:t>
            </a:r>
            <a:r>
              <a:rPr lang="en-US" sz="3200" dirty="0" smtClean="0"/>
              <a:t> </a:t>
            </a:r>
            <a:r>
              <a:rPr lang="en-US" sz="3200" dirty="0" err="1" smtClean="0"/>
              <a:t>fisik</a:t>
            </a:r>
            <a:r>
              <a:rPr lang="en-US" sz="3200" dirty="0" smtClean="0"/>
              <a:t> op-amp</a:t>
            </a:r>
            <a:endParaRPr lang="en-US" sz="3200" dirty="0"/>
          </a:p>
        </p:txBody>
      </p:sp>
      <p:pic>
        <p:nvPicPr>
          <p:cNvPr id="7" name="Picture 6" descr="Image result for devices operational amplifier"/>
          <p:cNvPicPr/>
          <p:nvPr/>
        </p:nvPicPr>
        <p:blipFill>
          <a:blip r:embed="rId2">
            <a:extLst>
              <a:ext uri="{28A0092B-C50C-407E-A947-70E740481C1C}">
                <a14:useLocalDpi xmlns:a14="http://schemas.microsoft.com/office/drawing/2010/main" val="0"/>
              </a:ext>
            </a:extLst>
          </a:blip>
          <a:srcRect/>
          <a:stretch>
            <a:fillRect/>
          </a:stretch>
        </p:blipFill>
        <p:spPr bwMode="auto">
          <a:xfrm>
            <a:off x="5045493" y="1655093"/>
            <a:ext cx="2053139" cy="1743075"/>
          </a:xfrm>
          <a:prstGeom prst="rect">
            <a:avLst/>
          </a:prstGeom>
          <a:noFill/>
          <a:ln>
            <a:noFill/>
          </a:ln>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3110" y="1655093"/>
            <a:ext cx="2621165" cy="1743075"/>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3110" y="4341644"/>
            <a:ext cx="3278606" cy="1917399"/>
          </a:xfrm>
          <a:prstGeom prst="rect">
            <a:avLst/>
          </a:prstGeom>
        </p:spPr>
      </p:pic>
      <p:pic>
        <p:nvPicPr>
          <p:cNvPr id="3" name="Picture 2"/>
          <p:cNvPicPr>
            <a:picLocks noChangeAspect="1"/>
          </p:cNvPicPr>
          <p:nvPr/>
        </p:nvPicPr>
        <p:blipFill>
          <a:blip r:embed="rId5"/>
          <a:stretch>
            <a:fillRect/>
          </a:stretch>
        </p:blipFill>
        <p:spPr>
          <a:xfrm>
            <a:off x="957262" y="4582643"/>
            <a:ext cx="2733675" cy="1676400"/>
          </a:xfrm>
          <a:prstGeom prst="rect">
            <a:avLst/>
          </a:prstGeom>
        </p:spPr>
      </p:pic>
      <p:pic>
        <p:nvPicPr>
          <p:cNvPr id="4" name="Picture 3"/>
          <p:cNvPicPr>
            <a:picLocks noChangeAspect="1"/>
          </p:cNvPicPr>
          <p:nvPr/>
        </p:nvPicPr>
        <p:blipFill>
          <a:blip r:embed="rId6"/>
          <a:stretch>
            <a:fillRect/>
          </a:stretch>
        </p:blipFill>
        <p:spPr>
          <a:xfrm>
            <a:off x="957262" y="1774852"/>
            <a:ext cx="2581275" cy="1771650"/>
          </a:xfrm>
          <a:prstGeom prst="rect">
            <a:avLst/>
          </a:prstGeom>
        </p:spPr>
      </p:pic>
      <p:pic>
        <p:nvPicPr>
          <p:cNvPr id="5" name="Picture 4"/>
          <p:cNvPicPr>
            <a:picLocks noChangeAspect="1"/>
          </p:cNvPicPr>
          <p:nvPr/>
        </p:nvPicPr>
        <p:blipFill>
          <a:blip r:embed="rId7"/>
          <a:stretch>
            <a:fillRect/>
          </a:stretch>
        </p:blipFill>
        <p:spPr>
          <a:xfrm>
            <a:off x="4629024" y="4582643"/>
            <a:ext cx="2886075" cy="1581150"/>
          </a:xfrm>
          <a:prstGeom prst="rect">
            <a:avLst/>
          </a:prstGeom>
        </p:spPr>
      </p:pic>
      <p:sp>
        <p:nvSpPr>
          <p:cNvPr id="9" name="Rectangle 8"/>
          <p:cNvSpPr/>
          <p:nvPr/>
        </p:nvSpPr>
        <p:spPr>
          <a:xfrm>
            <a:off x="5419478" y="4156978"/>
            <a:ext cx="1305165" cy="369332"/>
          </a:xfrm>
          <a:prstGeom prst="rect">
            <a:avLst/>
          </a:prstGeom>
        </p:spPr>
        <p:txBody>
          <a:bodyPr wrap="none">
            <a:spAutoFit/>
          </a:bodyPr>
          <a:lstStyle/>
          <a:p>
            <a:r>
              <a:rPr lang="en-US" dirty="0"/>
              <a:t>dual </a:t>
            </a:r>
            <a:r>
              <a:rPr lang="en-US" dirty="0" err="1"/>
              <a:t>opamp</a:t>
            </a:r>
            <a:endParaRPr lang="en-US" dirty="0"/>
          </a:p>
        </p:txBody>
      </p:sp>
    </p:spTree>
    <p:extLst>
      <p:ext uri="{BB962C8B-B14F-4D97-AF65-F5344CB8AC3E}">
        <p14:creationId xmlns:p14="http://schemas.microsoft.com/office/powerpoint/2010/main" val="22040879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33487" y="342900"/>
            <a:ext cx="9869942" cy="6399444"/>
          </a:xfrm>
          <a:prstGeom prst="rect">
            <a:avLst/>
          </a:prstGeom>
        </p:spPr>
      </p:pic>
    </p:spTree>
    <p:extLst>
      <p:ext uri="{BB962C8B-B14F-4D97-AF65-F5344CB8AC3E}">
        <p14:creationId xmlns:p14="http://schemas.microsoft.com/office/powerpoint/2010/main" val="22124531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Dual-supply to Single-supply op-amp conversion</a:t>
            </a:r>
          </a:p>
        </p:txBody>
      </p:sp>
      <p:pic>
        <p:nvPicPr>
          <p:cNvPr id="56322" name="Picture 2" descr="OP-Amp"/>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690688"/>
            <a:ext cx="7968301" cy="43513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stretch>
            <a:fillRect/>
          </a:stretch>
        </p:blipFill>
        <p:spPr>
          <a:xfrm>
            <a:off x="9568543" y="1027906"/>
            <a:ext cx="2258786" cy="1845494"/>
          </a:xfrm>
          <a:prstGeom prst="rect">
            <a:avLst/>
          </a:prstGeom>
        </p:spPr>
      </p:pic>
      <p:pic>
        <p:nvPicPr>
          <p:cNvPr id="5" name="Picture 4"/>
          <p:cNvPicPr>
            <a:picLocks noChangeAspect="1"/>
          </p:cNvPicPr>
          <p:nvPr/>
        </p:nvPicPr>
        <p:blipFill>
          <a:blip r:embed="rId5"/>
          <a:stretch>
            <a:fillRect/>
          </a:stretch>
        </p:blipFill>
        <p:spPr>
          <a:xfrm>
            <a:off x="9568543" y="3064218"/>
            <a:ext cx="2258786" cy="1638411"/>
          </a:xfrm>
          <a:prstGeom prst="rect">
            <a:avLst/>
          </a:prstGeom>
        </p:spPr>
      </p:pic>
    </p:spTree>
    <p:extLst>
      <p:ext uri="{BB962C8B-B14F-4D97-AF65-F5344CB8AC3E}">
        <p14:creationId xmlns:p14="http://schemas.microsoft.com/office/powerpoint/2010/main" val="11708949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Pendahuluan</a:t>
            </a: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Ø"/>
            </a:pPr>
            <a:r>
              <a:rPr lang="en-US" dirty="0" smtClean="0"/>
              <a:t> </a:t>
            </a:r>
            <a:r>
              <a:rPr lang="en-US" dirty="0" err="1">
                <a:solidFill>
                  <a:srgbClr val="C00000"/>
                </a:solidFill>
              </a:rPr>
              <a:t>Penguat</a:t>
            </a:r>
            <a:r>
              <a:rPr lang="en-US" dirty="0">
                <a:solidFill>
                  <a:srgbClr val="C00000"/>
                </a:solidFill>
              </a:rPr>
              <a:t> </a:t>
            </a:r>
            <a:r>
              <a:rPr lang="en-US" dirty="0" err="1">
                <a:solidFill>
                  <a:srgbClr val="C00000"/>
                </a:solidFill>
              </a:rPr>
              <a:t>operasional</a:t>
            </a:r>
            <a:r>
              <a:rPr lang="en-US" dirty="0">
                <a:solidFill>
                  <a:srgbClr val="C00000"/>
                </a:solidFill>
              </a:rPr>
              <a:t> (</a:t>
            </a:r>
            <a:r>
              <a:rPr lang="en-US" i="1" dirty="0">
                <a:solidFill>
                  <a:srgbClr val="C00000"/>
                </a:solidFill>
              </a:rPr>
              <a:t>Op Amp</a:t>
            </a:r>
            <a:r>
              <a:rPr lang="en-US" dirty="0">
                <a:solidFill>
                  <a:schemeClr val="tx1"/>
                </a:solidFill>
              </a:rPr>
              <a:t>) </a:t>
            </a:r>
            <a:r>
              <a:rPr lang="en-US" dirty="0" err="1">
                <a:solidFill>
                  <a:schemeClr val="tx1"/>
                </a:solidFill>
              </a:rPr>
              <a:t>adalah</a:t>
            </a:r>
            <a:r>
              <a:rPr lang="en-US" dirty="0">
                <a:solidFill>
                  <a:schemeClr val="tx1"/>
                </a:solidFill>
              </a:rPr>
              <a:t> </a:t>
            </a:r>
            <a:r>
              <a:rPr lang="en-US" dirty="0" err="1">
                <a:solidFill>
                  <a:schemeClr val="tx1"/>
                </a:solidFill>
              </a:rPr>
              <a:t>suatu</a:t>
            </a:r>
            <a:r>
              <a:rPr lang="en-US" dirty="0">
                <a:solidFill>
                  <a:schemeClr val="tx1"/>
                </a:solidFill>
              </a:rPr>
              <a:t> </a:t>
            </a:r>
            <a:r>
              <a:rPr lang="en-US" dirty="0" err="1">
                <a:solidFill>
                  <a:schemeClr val="tx1"/>
                </a:solidFill>
              </a:rPr>
              <a:t>rangkaian</a:t>
            </a:r>
            <a:r>
              <a:rPr lang="en-US" dirty="0">
                <a:solidFill>
                  <a:schemeClr val="tx1"/>
                </a:solidFill>
              </a:rPr>
              <a:t> </a:t>
            </a:r>
            <a:r>
              <a:rPr lang="en-US" dirty="0" err="1">
                <a:solidFill>
                  <a:schemeClr val="tx1"/>
                </a:solidFill>
              </a:rPr>
              <a:t>terintegrasi</a:t>
            </a:r>
            <a:r>
              <a:rPr lang="en-US" dirty="0">
                <a:solidFill>
                  <a:schemeClr val="tx1"/>
                </a:solidFill>
              </a:rPr>
              <a:t> yang </a:t>
            </a:r>
            <a:r>
              <a:rPr lang="en-US" dirty="0" err="1">
                <a:solidFill>
                  <a:schemeClr val="tx1"/>
                </a:solidFill>
              </a:rPr>
              <a:t>berisi</a:t>
            </a:r>
            <a:r>
              <a:rPr lang="en-US" dirty="0">
                <a:solidFill>
                  <a:schemeClr val="tx1"/>
                </a:solidFill>
              </a:rPr>
              <a:t> </a:t>
            </a:r>
            <a:r>
              <a:rPr lang="en-US" dirty="0" err="1">
                <a:solidFill>
                  <a:schemeClr val="tx1"/>
                </a:solidFill>
              </a:rPr>
              <a:t>beberapa</a:t>
            </a:r>
            <a:r>
              <a:rPr lang="en-US" dirty="0">
                <a:solidFill>
                  <a:schemeClr val="tx1"/>
                </a:solidFill>
              </a:rPr>
              <a:t> </a:t>
            </a:r>
            <a:r>
              <a:rPr lang="en-US" dirty="0" err="1">
                <a:solidFill>
                  <a:schemeClr val="tx1"/>
                </a:solidFill>
              </a:rPr>
              <a:t>tingkat</a:t>
            </a:r>
            <a:r>
              <a:rPr lang="en-US" dirty="0">
                <a:solidFill>
                  <a:schemeClr val="tx1"/>
                </a:solidFill>
              </a:rPr>
              <a:t> </a:t>
            </a:r>
            <a:r>
              <a:rPr lang="en-US" dirty="0" err="1">
                <a:solidFill>
                  <a:schemeClr val="tx1"/>
                </a:solidFill>
              </a:rPr>
              <a:t>dan</a:t>
            </a:r>
            <a:r>
              <a:rPr lang="en-US" dirty="0">
                <a:solidFill>
                  <a:schemeClr val="tx1"/>
                </a:solidFill>
              </a:rPr>
              <a:t> </a:t>
            </a:r>
            <a:r>
              <a:rPr lang="en-US" dirty="0" err="1">
                <a:solidFill>
                  <a:schemeClr val="tx1"/>
                </a:solidFill>
              </a:rPr>
              <a:t>konfigurasi</a:t>
            </a:r>
            <a:r>
              <a:rPr lang="en-US" dirty="0">
                <a:solidFill>
                  <a:schemeClr val="tx1"/>
                </a:solidFill>
              </a:rPr>
              <a:t> </a:t>
            </a:r>
            <a:r>
              <a:rPr lang="en-US" dirty="0" err="1">
                <a:solidFill>
                  <a:srgbClr val="0070C0"/>
                </a:solidFill>
              </a:rPr>
              <a:t>penguat</a:t>
            </a:r>
            <a:r>
              <a:rPr lang="en-US" dirty="0">
                <a:solidFill>
                  <a:srgbClr val="0070C0"/>
                </a:solidFill>
              </a:rPr>
              <a:t> </a:t>
            </a:r>
            <a:r>
              <a:rPr lang="en-US" dirty="0" err="1">
                <a:solidFill>
                  <a:srgbClr val="0070C0"/>
                </a:solidFill>
              </a:rPr>
              <a:t>diferensial</a:t>
            </a:r>
            <a:r>
              <a:rPr lang="en-US" dirty="0">
                <a:solidFill>
                  <a:schemeClr val="tx1"/>
                </a:solidFill>
              </a:rPr>
              <a:t>. </a:t>
            </a:r>
            <a:endParaRPr lang="en-US" dirty="0" smtClean="0">
              <a:solidFill>
                <a:schemeClr val="tx1"/>
              </a:solidFill>
            </a:endParaRPr>
          </a:p>
          <a:p>
            <a:pPr>
              <a:buFont typeface="Wingdings" panose="05000000000000000000" pitchFamily="2" charset="2"/>
              <a:buChar char="Ø"/>
            </a:pPr>
            <a:endParaRPr lang="en-US" dirty="0" smtClean="0">
              <a:solidFill>
                <a:schemeClr val="tx1"/>
              </a:solidFill>
            </a:endParaRPr>
          </a:p>
          <a:p>
            <a:pPr>
              <a:buFont typeface="Wingdings" panose="05000000000000000000" pitchFamily="2" charset="2"/>
              <a:buChar char="Ø"/>
            </a:pPr>
            <a:r>
              <a:rPr lang="en-US" dirty="0">
                <a:solidFill>
                  <a:schemeClr val="tx1"/>
                </a:solidFill>
              </a:rPr>
              <a:t> </a:t>
            </a:r>
            <a:r>
              <a:rPr lang="en-US" dirty="0" err="1">
                <a:solidFill>
                  <a:schemeClr val="tx1"/>
                </a:solidFill>
              </a:rPr>
              <a:t>Penguat</a:t>
            </a:r>
            <a:r>
              <a:rPr lang="en-US" dirty="0">
                <a:solidFill>
                  <a:schemeClr val="tx1"/>
                </a:solidFill>
              </a:rPr>
              <a:t> </a:t>
            </a:r>
            <a:r>
              <a:rPr lang="en-US" dirty="0" err="1">
                <a:solidFill>
                  <a:schemeClr val="tx1"/>
                </a:solidFill>
              </a:rPr>
              <a:t>operasional</a:t>
            </a:r>
            <a:r>
              <a:rPr lang="en-US" dirty="0">
                <a:solidFill>
                  <a:schemeClr val="tx1"/>
                </a:solidFill>
              </a:rPr>
              <a:t> </a:t>
            </a:r>
            <a:r>
              <a:rPr lang="en-US" dirty="0" err="1">
                <a:solidFill>
                  <a:schemeClr val="tx1"/>
                </a:solidFill>
              </a:rPr>
              <a:t>memilki</a:t>
            </a:r>
            <a:r>
              <a:rPr lang="en-US" dirty="0">
                <a:solidFill>
                  <a:schemeClr val="tx1"/>
                </a:solidFill>
              </a:rPr>
              <a:t> </a:t>
            </a:r>
            <a:r>
              <a:rPr lang="en-US" dirty="0" err="1">
                <a:solidFill>
                  <a:schemeClr val="tx1"/>
                </a:solidFill>
              </a:rPr>
              <a:t>dua</a:t>
            </a:r>
            <a:r>
              <a:rPr lang="en-US" dirty="0">
                <a:solidFill>
                  <a:schemeClr val="tx1"/>
                </a:solidFill>
              </a:rPr>
              <a:t> </a:t>
            </a:r>
            <a:r>
              <a:rPr lang="en-US" dirty="0" err="1">
                <a:solidFill>
                  <a:schemeClr val="tx1"/>
                </a:solidFill>
              </a:rPr>
              <a:t>masukan</a:t>
            </a:r>
            <a:r>
              <a:rPr lang="en-US" dirty="0">
                <a:solidFill>
                  <a:schemeClr val="tx1"/>
                </a:solidFill>
              </a:rPr>
              <a:t> </a:t>
            </a:r>
            <a:r>
              <a:rPr lang="en-US" dirty="0" err="1">
                <a:solidFill>
                  <a:schemeClr val="tx1"/>
                </a:solidFill>
              </a:rPr>
              <a:t>dan</a:t>
            </a:r>
            <a:r>
              <a:rPr lang="en-US" dirty="0">
                <a:solidFill>
                  <a:schemeClr val="tx1"/>
                </a:solidFill>
              </a:rPr>
              <a:t> </a:t>
            </a:r>
            <a:r>
              <a:rPr lang="en-US" dirty="0" err="1">
                <a:solidFill>
                  <a:schemeClr val="tx1"/>
                </a:solidFill>
              </a:rPr>
              <a:t>satu</a:t>
            </a:r>
            <a:r>
              <a:rPr lang="en-US" dirty="0">
                <a:solidFill>
                  <a:schemeClr val="tx1"/>
                </a:solidFill>
              </a:rPr>
              <a:t> </a:t>
            </a:r>
            <a:r>
              <a:rPr lang="en-US" dirty="0" err="1">
                <a:solidFill>
                  <a:schemeClr val="tx1"/>
                </a:solidFill>
              </a:rPr>
              <a:t>keluaran</a:t>
            </a:r>
            <a:r>
              <a:rPr lang="en-US" dirty="0">
                <a:solidFill>
                  <a:schemeClr val="tx1"/>
                </a:solidFill>
              </a:rPr>
              <a:t> </a:t>
            </a:r>
            <a:r>
              <a:rPr lang="en-US" dirty="0" err="1">
                <a:solidFill>
                  <a:schemeClr val="tx1"/>
                </a:solidFill>
              </a:rPr>
              <a:t>serta</a:t>
            </a:r>
            <a:r>
              <a:rPr lang="en-US" dirty="0">
                <a:solidFill>
                  <a:schemeClr val="tx1"/>
                </a:solidFill>
              </a:rPr>
              <a:t> </a:t>
            </a:r>
            <a:r>
              <a:rPr lang="en-US" dirty="0" err="1">
                <a:solidFill>
                  <a:schemeClr val="tx1"/>
                </a:solidFill>
              </a:rPr>
              <a:t>memiliki</a:t>
            </a:r>
            <a:r>
              <a:rPr lang="en-US" dirty="0">
                <a:solidFill>
                  <a:schemeClr val="tx1"/>
                </a:solidFill>
              </a:rPr>
              <a:t> </a:t>
            </a:r>
            <a:r>
              <a:rPr lang="en-US" dirty="0" err="1">
                <a:solidFill>
                  <a:schemeClr val="tx1"/>
                </a:solidFill>
              </a:rPr>
              <a:t>penguatan</a:t>
            </a:r>
            <a:r>
              <a:rPr lang="en-US" dirty="0">
                <a:solidFill>
                  <a:schemeClr val="tx1"/>
                </a:solidFill>
              </a:rPr>
              <a:t> DC yang </a:t>
            </a:r>
            <a:r>
              <a:rPr lang="en-US" dirty="0" err="1">
                <a:solidFill>
                  <a:schemeClr val="tx1"/>
                </a:solidFill>
              </a:rPr>
              <a:t>tinggi</a:t>
            </a:r>
            <a:r>
              <a:rPr lang="en-US" dirty="0">
                <a:solidFill>
                  <a:schemeClr val="tx1"/>
                </a:solidFill>
              </a:rPr>
              <a:t>. </a:t>
            </a:r>
            <a:endParaRPr lang="en-US" dirty="0" smtClean="0">
              <a:solidFill>
                <a:schemeClr val="tx1"/>
              </a:solidFill>
            </a:endParaRPr>
          </a:p>
          <a:p>
            <a:pPr>
              <a:buFont typeface="Wingdings" panose="05000000000000000000" pitchFamily="2" charset="2"/>
              <a:buChar char="Ø"/>
            </a:pPr>
            <a:endParaRPr lang="en-US" dirty="0" smtClean="0">
              <a:solidFill>
                <a:schemeClr val="tx1"/>
              </a:solidFill>
            </a:endParaRPr>
          </a:p>
          <a:p>
            <a:pPr>
              <a:buFont typeface="Wingdings" panose="05000000000000000000" pitchFamily="2" charset="2"/>
              <a:buChar char="Ø"/>
            </a:pPr>
            <a:r>
              <a:rPr lang="en-US" dirty="0" err="1" smtClean="0">
                <a:solidFill>
                  <a:schemeClr val="tx1"/>
                </a:solidFill>
              </a:rPr>
              <a:t>Komponen</a:t>
            </a:r>
            <a:r>
              <a:rPr lang="en-US" dirty="0" smtClean="0">
                <a:solidFill>
                  <a:schemeClr val="tx1"/>
                </a:solidFill>
              </a:rPr>
              <a:t> </a:t>
            </a:r>
            <a:r>
              <a:rPr lang="en-US" dirty="0" err="1">
                <a:solidFill>
                  <a:schemeClr val="tx1"/>
                </a:solidFill>
              </a:rPr>
              <a:t>ini</a:t>
            </a:r>
            <a:r>
              <a:rPr lang="en-US" dirty="0">
                <a:solidFill>
                  <a:schemeClr val="tx1"/>
                </a:solidFill>
              </a:rPr>
              <a:t> </a:t>
            </a:r>
            <a:r>
              <a:rPr lang="en-US" dirty="0" err="1">
                <a:solidFill>
                  <a:schemeClr val="tx1"/>
                </a:solidFill>
              </a:rPr>
              <a:t>memiliki</a:t>
            </a:r>
            <a:r>
              <a:rPr lang="en-US" dirty="0">
                <a:solidFill>
                  <a:schemeClr val="tx1"/>
                </a:solidFill>
              </a:rPr>
              <a:t> </a:t>
            </a:r>
            <a:r>
              <a:rPr lang="en-US" dirty="0" err="1">
                <a:solidFill>
                  <a:schemeClr val="tx1"/>
                </a:solidFill>
              </a:rPr>
              <a:t>kelebihan</a:t>
            </a:r>
            <a:r>
              <a:rPr lang="en-US" dirty="0">
                <a:solidFill>
                  <a:schemeClr val="tx1"/>
                </a:solidFill>
              </a:rPr>
              <a:t> </a:t>
            </a:r>
            <a:r>
              <a:rPr lang="en-US" dirty="0" err="1" smtClean="0">
                <a:solidFill>
                  <a:schemeClr val="tx1"/>
                </a:solidFill>
              </a:rPr>
              <a:t>yaitu</a:t>
            </a:r>
            <a:r>
              <a:rPr lang="en-US" dirty="0" smtClean="0">
                <a:solidFill>
                  <a:schemeClr val="tx1"/>
                </a:solidFill>
              </a:rPr>
              <a:t> </a:t>
            </a:r>
            <a:r>
              <a:rPr lang="en-US" dirty="0" err="1" smtClean="0">
                <a:solidFill>
                  <a:schemeClr val="tx1"/>
                </a:solidFill>
              </a:rPr>
              <a:t>selain</a:t>
            </a:r>
            <a:r>
              <a:rPr lang="en-US" dirty="0" smtClean="0">
                <a:solidFill>
                  <a:schemeClr val="tx1"/>
                </a:solidFill>
              </a:rPr>
              <a:t> </a:t>
            </a:r>
            <a:r>
              <a:rPr lang="en-US" dirty="0" err="1">
                <a:solidFill>
                  <a:schemeClr val="tx1"/>
                </a:solidFill>
              </a:rPr>
              <a:t>mampu</a:t>
            </a:r>
            <a:r>
              <a:rPr lang="en-US" dirty="0">
                <a:solidFill>
                  <a:schemeClr val="tx1"/>
                </a:solidFill>
              </a:rPr>
              <a:t> </a:t>
            </a:r>
            <a:r>
              <a:rPr lang="en-US" dirty="0" err="1">
                <a:solidFill>
                  <a:schemeClr val="tx1"/>
                </a:solidFill>
              </a:rPr>
              <a:t>menguatakan</a:t>
            </a:r>
            <a:r>
              <a:rPr lang="en-US" dirty="0">
                <a:solidFill>
                  <a:schemeClr val="tx1"/>
                </a:solidFill>
              </a:rPr>
              <a:t> </a:t>
            </a:r>
            <a:r>
              <a:rPr lang="en-US" dirty="0" err="1">
                <a:solidFill>
                  <a:schemeClr val="tx1"/>
                </a:solidFill>
              </a:rPr>
              <a:t>sinyal</a:t>
            </a:r>
            <a:r>
              <a:rPr lang="en-US" dirty="0">
                <a:solidFill>
                  <a:schemeClr val="tx1"/>
                </a:solidFill>
              </a:rPr>
              <a:t> </a:t>
            </a:r>
            <a:r>
              <a:rPr lang="en-US" dirty="0" err="1">
                <a:solidFill>
                  <a:schemeClr val="tx1"/>
                </a:solidFill>
              </a:rPr>
              <a:t>masukan</a:t>
            </a:r>
            <a:r>
              <a:rPr lang="en-US" dirty="0">
                <a:solidFill>
                  <a:schemeClr val="tx1"/>
                </a:solidFill>
              </a:rPr>
              <a:t> </a:t>
            </a:r>
            <a:r>
              <a:rPr lang="en-US" dirty="0" err="1">
                <a:solidFill>
                  <a:schemeClr val="tx1"/>
                </a:solidFill>
              </a:rPr>
              <a:t>juga</a:t>
            </a:r>
            <a:r>
              <a:rPr lang="en-US" dirty="0">
                <a:solidFill>
                  <a:schemeClr val="tx1"/>
                </a:solidFill>
              </a:rPr>
              <a:t> </a:t>
            </a:r>
            <a:r>
              <a:rPr lang="en-US" dirty="0" err="1">
                <a:solidFill>
                  <a:schemeClr val="tx1"/>
                </a:solidFill>
              </a:rPr>
              <a:t>dapat</a:t>
            </a:r>
            <a:r>
              <a:rPr lang="en-US" dirty="0">
                <a:solidFill>
                  <a:schemeClr val="tx1"/>
                </a:solidFill>
              </a:rPr>
              <a:t> </a:t>
            </a:r>
            <a:r>
              <a:rPr lang="en-US" dirty="0" err="1">
                <a:solidFill>
                  <a:schemeClr val="tx1"/>
                </a:solidFill>
              </a:rPr>
              <a:t>melakukan</a:t>
            </a:r>
            <a:r>
              <a:rPr lang="en-US" dirty="0">
                <a:solidFill>
                  <a:schemeClr val="tx1"/>
                </a:solidFill>
              </a:rPr>
              <a:t> </a:t>
            </a:r>
            <a:r>
              <a:rPr lang="en-US" dirty="0" err="1">
                <a:solidFill>
                  <a:schemeClr val="tx1"/>
                </a:solidFill>
              </a:rPr>
              <a:t>operasi</a:t>
            </a:r>
            <a:r>
              <a:rPr lang="en-US" dirty="0">
                <a:solidFill>
                  <a:schemeClr val="tx1"/>
                </a:solidFill>
              </a:rPr>
              <a:t> </a:t>
            </a:r>
            <a:r>
              <a:rPr lang="en-US" dirty="0" err="1" smtClean="0">
                <a:solidFill>
                  <a:schemeClr val="tx1"/>
                </a:solidFill>
              </a:rPr>
              <a:t>matematika</a:t>
            </a:r>
            <a:r>
              <a:rPr lang="en-US" dirty="0" smtClean="0">
                <a:solidFill>
                  <a:schemeClr val="tx1"/>
                </a:solidFill>
              </a:rPr>
              <a:t>. (</a:t>
            </a:r>
            <a:r>
              <a:rPr lang="en-US" i="1" dirty="0" err="1" smtClean="0">
                <a:solidFill>
                  <a:schemeClr val="tx1"/>
                </a:solidFill>
              </a:rPr>
              <a:t>menunjukan</a:t>
            </a:r>
            <a:r>
              <a:rPr lang="en-US" i="1" dirty="0" smtClean="0">
                <a:solidFill>
                  <a:schemeClr val="tx1"/>
                </a:solidFill>
              </a:rPr>
              <a:t> </a:t>
            </a:r>
            <a:r>
              <a:rPr lang="en-US" i="1" dirty="0" err="1" smtClean="0">
                <a:solidFill>
                  <a:schemeClr val="tx1"/>
                </a:solidFill>
              </a:rPr>
              <a:t>kenapa</a:t>
            </a:r>
            <a:r>
              <a:rPr lang="en-US" i="1" dirty="0" smtClean="0">
                <a:solidFill>
                  <a:schemeClr val="tx1"/>
                </a:solidFill>
              </a:rPr>
              <a:t> </a:t>
            </a:r>
            <a:r>
              <a:rPr lang="en-US" i="1" dirty="0" err="1" smtClean="0">
                <a:solidFill>
                  <a:schemeClr val="tx1"/>
                </a:solidFill>
              </a:rPr>
              <a:t>komponen</a:t>
            </a:r>
            <a:r>
              <a:rPr lang="en-US" i="1" dirty="0" smtClean="0">
                <a:solidFill>
                  <a:schemeClr val="tx1"/>
                </a:solidFill>
              </a:rPr>
              <a:t> </a:t>
            </a:r>
            <a:r>
              <a:rPr lang="en-US" i="1" dirty="0" err="1" smtClean="0">
                <a:solidFill>
                  <a:schemeClr val="tx1"/>
                </a:solidFill>
              </a:rPr>
              <a:t>ini</a:t>
            </a:r>
            <a:r>
              <a:rPr lang="en-US" i="1" dirty="0" smtClean="0">
                <a:solidFill>
                  <a:schemeClr val="tx1"/>
                </a:solidFill>
              </a:rPr>
              <a:t> </a:t>
            </a:r>
            <a:r>
              <a:rPr lang="en-US" i="1" dirty="0" err="1" smtClean="0">
                <a:solidFill>
                  <a:schemeClr val="tx1"/>
                </a:solidFill>
              </a:rPr>
              <a:t>disebut</a:t>
            </a:r>
            <a:r>
              <a:rPr lang="en-US" i="1" dirty="0" smtClean="0">
                <a:solidFill>
                  <a:schemeClr val="tx1"/>
                </a:solidFill>
              </a:rPr>
              <a:t> OP-AMP</a:t>
            </a:r>
            <a:r>
              <a:rPr lang="en-US" dirty="0" smtClean="0">
                <a:solidFill>
                  <a:schemeClr val="tx1"/>
                </a:solidFill>
              </a:rPr>
              <a:t>)</a:t>
            </a:r>
          </a:p>
          <a:p>
            <a:pPr marL="0" indent="0">
              <a:buNone/>
            </a:pPr>
            <a:r>
              <a:rPr lang="en-US" dirty="0">
                <a:solidFill>
                  <a:schemeClr val="tx1"/>
                </a:solidFill>
              </a:rPr>
              <a:t> </a:t>
            </a:r>
            <a:r>
              <a:rPr lang="en-US" dirty="0" smtClean="0">
                <a:solidFill>
                  <a:schemeClr val="tx1"/>
                </a:solidFill>
              </a:rPr>
              <a:t>  </a:t>
            </a:r>
            <a:r>
              <a:rPr lang="en-US" dirty="0" err="1" smtClean="0">
                <a:solidFill>
                  <a:schemeClr val="tx1"/>
                </a:solidFill>
              </a:rPr>
              <a:t>Antara</a:t>
            </a:r>
            <a:r>
              <a:rPr lang="en-US" dirty="0" smtClean="0">
                <a:solidFill>
                  <a:schemeClr val="tx1"/>
                </a:solidFill>
              </a:rPr>
              <a:t> lain: </a:t>
            </a:r>
            <a:r>
              <a:rPr lang="en-US" dirty="0" err="1">
                <a:solidFill>
                  <a:srgbClr val="C00000"/>
                </a:solidFill>
              </a:rPr>
              <a:t>penjumlahan</a:t>
            </a:r>
            <a:r>
              <a:rPr lang="en-US" dirty="0">
                <a:solidFill>
                  <a:srgbClr val="C00000"/>
                </a:solidFill>
              </a:rPr>
              <a:t>, </a:t>
            </a:r>
            <a:r>
              <a:rPr lang="en-US" dirty="0" err="1">
                <a:solidFill>
                  <a:srgbClr val="C00000"/>
                </a:solidFill>
              </a:rPr>
              <a:t>pengurangan</a:t>
            </a:r>
            <a:r>
              <a:rPr lang="en-US" dirty="0">
                <a:solidFill>
                  <a:srgbClr val="C00000"/>
                </a:solidFill>
              </a:rPr>
              <a:t>, </a:t>
            </a:r>
            <a:r>
              <a:rPr lang="en-US" dirty="0" err="1">
                <a:solidFill>
                  <a:srgbClr val="C00000"/>
                </a:solidFill>
              </a:rPr>
              <a:t>perkalian</a:t>
            </a:r>
            <a:r>
              <a:rPr lang="en-US" dirty="0">
                <a:solidFill>
                  <a:srgbClr val="C00000"/>
                </a:solidFill>
              </a:rPr>
              <a:t>, </a:t>
            </a:r>
            <a:r>
              <a:rPr lang="en-US" dirty="0" err="1">
                <a:solidFill>
                  <a:srgbClr val="C00000"/>
                </a:solidFill>
              </a:rPr>
              <a:t>pembagian</a:t>
            </a:r>
            <a:r>
              <a:rPr lang="en-US" dirty="0">
                <a:solidFill>
                  <a:srgbClr val="C00000"/>
                </a:solidFill>
              </a:rPr>
              <a:t>, integrator, </a:t>
            </a:r>
            <a:r>
              <a:rPr lang="en-US" dirty="0" err="1">
                <a:solidFill>
                  <a:srgbClr val="C00000"/>
                </a:solidFill>
              </a:rPr>
              <a:t>differensiator</a:t>
            </a:r>
            <a:r>
              <a:rPr lang="en-US" dirty="0">
                <a:solidFill>
                  <a:srgbClr val="C00000"/>
                </a:solidFill>
              </a:rPr>
              <a:t>, </a:t>
            </a:r>
            <a:r>
              <a:rPr lang="en-US" dirty="0" err="1">
                <a:solidFill>
                  <a:srgbClr val="C00000"/>
                </a:solidFill>
              </a:rPr>
              <a:t>dll</a:t>
            </a:r>
            <a:r>
              <a:rPr lang="en-US" dirty="0">
                <a:solidFill>
                  <a:srgbClr val="C00000"/>
                </a:solidFill>
              </a:rPr>
              <a:t>.</a:t>
            </a:r>
          </a:p>
        </p:txBody>
      </p:sp>
    </p:spTree>
    <p:extLst>
      <p:ext uri="{BB962C8B-B14F-4D97-AF65-F5344CB8AC3E}">
        <p14:creationId xmlns:p14="http://schemas.microsoft.com/office/powerpoint/2010/main" val="11024619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83236" y="474350"/>
            <a:ext cx="10178322" cy="3593591"/>
          </a:xfrm>
        </p:spPr>
        <p:txBody>
          <a:bodyPr>
            <a:normAutofit/>
          </a:bodyPr>
          <a:lstStyle/>
          <a:p>
            <a:pPr>
              <a:buFont typeface="Wingdings" panose="05000000000000000000" pitchFamily="2" charset="2"/>
              <a:buChar char="Ø"/>
            </a:pPr>
            <a:r>
              <a:rPr lang="en-US" dirty="0" smtClean="0"/>
              <a:t> </a:t>
            </a:r>
            <a:r>
              <a:rPr lang="en-US" b="1" dirty="0">
                <a:solidFill>
                  <a:srgbClr val="0070C0"/>
                </a:solidFill>
              </a:rPr>
              <a:t>Blok diagram </a:t>
            </a:r>
            <a:r>
              <a:rPr lang="en-US" b="1" dirty="0" err="1">
                <a:solidFill>
                  <a:srgbClr val="0070C0"/>
                </a:solidFill>
              </a:rPr>
              <a:t>tipikal</a:t>
            </a:r>
            <a:r>
              <a:rPr lang="en-US" b="1" dirty="0">
                <a:solidFill>
                  <a:srgbClr val="0070C0"/>
                </a:solidFill>
              </a:rPr>
              <a:t> </a:t>
            </a:r>
            <a:r>
              <a:rPr lang="en-US" b="1" dirty="0" err="1">
                <a:solidFill>
                  <a:srgbClr val="0070C0"/>
                </a:solidFill>
              </a:rPr>
              <a:t>sebuah</a:t>
            </a:r>
            <a:r>
              <a:rPr lang="en-US" b="1" dirty="0">
                <a:solidFill>
                  <a:srgbClr val="0070C0"/>
                </a:solidFill>
              </a:rPr>
              <a:t> </a:t>
            </a:r>
            <a:r>
              <a:rPr lang="en-US" b="1" dirty="0" err="1">
                <a:solidFill>
                  <a:srgbClr val="0070C0"/>
                </a:solidFill>
              </a:rPr>
              <a:t>penguat</a:t>
            </a:r>
            <a:r>
              <a:rPr lang="en-US" b="1" dirty="0">
                <a:solidFill>
                  <a:srgbClr val="0070C0"/>
                </a:solidFill>
              </a:rPr>
              <a:t> </a:t>
            </a:r>
            <a:r>
              <a:rPr lang="en-US" b="1" dirty="0" err="1" smtClean="0">
                <a:solidFill>
                  <a:srgbClr val="0070C0"/>
                </a:solidFill>
              </a:rPr>
              <a:t>operasional</a:t>
            </a:r>
            <a:r>
              <a:rPr lang="en-US" b="1" dirty="0" smtClean="0">
                <a:solidFill>
                  <a:srgbClr val="0070C0"/>
                </a:solidFill>
              </a:rPr>
              <a:t> (op-amp):</a:t>
            </a:r>
          </a:p>
          <a:p>
            <a:pPr>
              <a:buFont typeface="Wingdings" panose="05000000000000000000" pitchFamily="2" charset="2"/>
              <a:buChar char="Ø"/>
            </a:pPr>
            <a:endParaRPr lang="en-US" b="1" dirty="0">
              <a:solidFill>
                <a:srgbClr val="0070C0"/>
              </a:solidFill>
            </a:endParaRPr>
          </a:p>
          <a:p>
            <a:pPr>
              <a:buFont typeface="Wingdings" panose="05000000000000000000" pitchFamily="2" charset="2"/>
              <a:buChar char="Ø"/>
            </a:pPr>
            <a:endParaRPr lang="en-US" b="1" dirty="0" smtClean="0">
              <a:solidFill>
                <a:srgbClr val="0070C0"/>
              </a:solidFill>
            </a:endParaRPr>
          </a:p>
          <a:p>
            <a:pPr>
              <a:buFont typeface="Wingdings" panose="05000000000000000000" pitchFamily="2" charset="2"/>
              <a:buChar char="Ø"/>
            </a:pPr>
            <a:endParaRPr lang="en-US" b="1" dirty="0">
              <a:solidFill>
                <a:srgbClr val="0070C0"/>
              </a:solidFill>
            </a:endParaRPr>
          </a:p>
          <a:p>
            <a:pPr>
              <a:buFont typeface="Wingdings" panose="05000000000000000000" pitchFamily="2" charset="2"/>
              <a:buChar char="Ø"/>
            </a:pPr>
            <a:endParaRPr lang="en-US" b="1" dirty="0" smtClean="0">
              <a:solidFill>
                <a:srgbClr val="0070C0"/>
              </a:solidFill>
            </a:endParaRPr>
          </a:p>
          <a:p>
            <a:pPr>
              <a:buFont typeface="Wingdings" panose="05000000000000000000" pitchFamily="2" charset="2"/>
              <a:buChar char="Ø"/>
            </a:pPr>
            <a:endParaRPr lang="en-US" b="1" dirty="0">
              <a:solidFill>
                <a:srgbClr val="0070C0"/>
              </a:solidFill>
            </a:endParaRPr>
          </a:p>
          <a:p>
            <a:pPr>
              <a:buFont typeface="Wingdings" panose="05000000000000000000" pitchFamily="2" charset="2"/>
              <a:buChar char="Ø"/>
            </a:pPr>
            <a:r>
              <a:rPr lang="en-US" b="1" dirty="0" smtClean="0">
                <a:solidFill>
                  <a:srgbClr val="0070C0"/>
                </a:solidFill>
              </a:rPr>
              <a:t> </a:t>
            </a:r>
            <a:r>
              <a:rPr lang="en-US" b="1" dirty="0" err="1" smtClean="0">
                <a:solidFill>
                  <a:srgbClr val="0070C0"/>
                </a:solidFill>
              </a:rPr>
              <a:t>Konfigurasi</a:t>
            </a:r>
            <a:r>
              <a:rPr lang="en-US" b="1" dirty="0" smtClean="0">
                <a:solidFill>
                  <a:srgbClr val="0070C0"/>
                </a:solidFill>
              </a:rPr>
              <a:t> </a:t>
            </a:r>
            <a:r>
              <a:rPr lang="en-US" b="1" dirty="0" err="1">
                <a:solidFill>
                  <a:srgbClr val="0070C0"/>
                </a:solidFill>
              </a:rPr>
              <a:t>penguat</a:t>
            </a:r>
            <a:r>
              <a:rPr lang="en-US" b="1" dirty="0">
                <a:solidFill>
                  <a:srgbClr val="0070C0"/>
                </a:solidFill>
              </a:rPr>
              <a:t> </a:t>
            </a:r>
            <a:r>
              <a:rPr lang="en-US" b="1" dirty="0" err="1" smtClean="0">
                <a:solidFill>
                  <a:srgbClr val="0070C0"/>
                </a:solidFill>
              </a:rPr>
              <a:t>operasional</a:t>
            </a:r>
            <a:r>
              <a:rPr lang="en-US" b="1" dirty="0" smtClean="0">
                <a:solidFill>
                  <a:srgbClr val="0070C0"/>
                </a:solidFill>
              </a:rPr>
              <a:t> :</a:t>
            </a:r>
            <a:endParaRPr lang="en-US" b="1" dirty="0">
              <a:solidFill>
                <a:srgbClr val="0070C0"/>
              </a:solidFill>
            </a:endParaRPr>
          </a:p>
        </p:txBody>
      </p:sp>
      <p:sp>
        <p:nvSpPr>
          <p:cNvPr id="4" name="Rectangle 2"/>
          <p:cNvSpPr>
            <a:spLocks noChangeArrowheads="1"/>
          </p:cNvSpPr>
          <p:nvPr/>
        </p:nvSpPr>
        <p:spPr bwMode="auto">
          <a:xfrm>
            <a:off x="2550695" y="44276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p:cNvGraphicFramePr>
            <a:graphicFrameLocks noChangeAspect="1"/>
          </p:cNvGraphicFramePr>
          <p:nvPr>
            <p:extLst/>
          </p:nvPr>
        </p:nvGraphicFramePr>
        <p:xfrm>
          <a:off x="1405936" y="1100857"/>
          <a:ext cx="8435896" cy="1614525"/>
        </p:xfrm>
        <a:graphic>
          <a:graphicData uri="http://schemas.openxmlformats.org/presentationml/2006/ole">
            <mc:AlternateContent xmlns:mc="http://schemas.openxmlformats.org/markup-compatibility/2006">
              <mc:Choice xmlns:v="urn:schemas-microsoft-com:vml" Requires="v">
                <p:oleObj spid="_x0000_s27654" name="Visio" r:id="rId3" imgW="8201008" imgH="1324043" progId="Visio.Drawing.15">
                  <p:embed/>
                </p:oleObj>
              </mc:Choice>
              <mc:Fallback>
                <p:oleObj name="Visio" r:id="rId3" imgW="8201008" imgH="1324043" progId="Visio.Drawing.15">
                  <p:embed/>
                  <p:pic>
                    <p:nvPicPr>
                      <p:cNvPr id="5" name="Object 4"/>
                      <p:cNvPicPr>
                        <a:picLocks noChangeAspect="1" noChangeArrowheads="1"/>
                      </p:cNvPicPr>
                      <p:nvPr/>
                    </p:nvPicPr>
                    <p:blipFill>
                      <a:blip r:embed="rId4"/>
                      <a:srcRect/>
                      <a:stretch>
                        <a:fillRect/>
                      </a:stretch>
                    </p:blipFill>
                    <p:spPr bwMode="auto">
                      <a:xfrm>
                        <a:off x="1405936" y="1100857"/>
                        <a:ext cx="8435896" cy="1614525"/>
                      </a:xfrm>
                      <a:prstGeom prst="rect">
                        <a:avLst/>
                      </a:prstGeom>
                      <a:noFill/>
                    </p:spPr>
                  </p:pic>
                </p:oleObj>
              </mc:Fallback>
            </mc:AlternateContent>
          </a:graphicData>
        </a:graphic>
      </p:graphicFrame>
      <p:sp>
        <p:nvSpPr>
          <p:cNvPr id="6" name="Rectangle 4"/>
          <p:cNvSpPr>
            <a:spLocks noChangeArrowheads="1"/>
          </p:cNvSpPr>
          <p:nvPr/>
        </p:nvSpPr>
        <p:spPr bwMode="auto">
          <a:xfrm>
            <a:off x="3284621" y="43384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p:cNvGraphicFramePr>
            <a:graphicFrameLocks noChangeAspect="1"/>
          </p:cNvGraphicFramePr>
          <p:nvPr>
            <p:extLst/>
          </p:nvPr>
        </p:nvGraphicFramePr>
        <p:xfrm>
          <a:off x="3284621" y="3582522"/>
          <a:ext cx="4861887" cy="3095006"/>
        </p:xfrm>
        <a:graphic>
          <a:graphicData uri="http://schemas.openxmlformats.org/presentationml/2006/ole">
            <mc:AlternateContent xmlns:mc="http://schemas.openxmlformats.org/markup-compatibility/2006">
              <mc:Choice xmlns:v="urn:schemas-microsoft-com:vml" Requires="v">
                <p:oleObj spid="_x0000_s27655" name="Visio" r:id="rId5" imgW="3276735" imgH="2086043" progId="Visio.Drawing.15">
                  <p:embed/>
                </p:oleObj>
              </mc:Choice>
              <mc:Fallback>
                <p:oleObj name="Visio" r:id="rId5" imgW="3276735" imgH="2086043" progId="Visio.Drawing.15">
                  <p:embed/>
                  <p:pic>
                    <p:nvPicPr>
                      <p:cNvPr id="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84621" y="3582522"/>
                        <a:ext cx="4861887" cy="3095006"/>
                      </a:xfrm>
                      <a:prstGeom prst="rect">
                        <a:avLst/>
                      </a:prstGeom>
                      <a:noFill/>
                    </p:spPr>
                  </p:pic>
                </p:oleObj>
              </mc:Fallback>
            </mc:AlternateContent>
          </a:graphicData>
        </a:graphic>
      </p:graphicFrame>
    </p:spTree>
    <p:extLst>
      <p:ext uri="{BB962C8B-B14F-4D97-AF65-F5344CB8AC3E}">
        <p14:creationId xmlns:p14="http://schemas.microsoft.com/office/powerpoint/2010/main" val="34605227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097499"/>
          </a:xfrm>
        </p:spPr>
        <p:txBody>
          <a:bodyPr>
            <a:normAutofit/>
          </a:bodyPr>
          <a:lstStyle/>
          <a:p>
            <a:r>
              <a:rPr lang="en-US" sz="4800" dirty="0" err="1" smtClean="0"/>
              <a:t>Karakteristik</a:t>
            </a:r>
            <a:r>
              <a:rPr lang="en-US" sz="4800" dirty="0" smtClean="0"/>
              <a:t> op-amp</a:t>
            </a:r>
            <a:endParaRPr lang="en-US" sz="48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251678" y="1564105"/>
                <a:ext cx="10178322" cy="4315487"/>
              </a:xfrm>
            </p:spPr>
            <p:txBody>
              <a:bodyPr>
                <a:normAutofit fontScale="92500" lnSpcReduction="20000"/>
              </a:bodyPr>
              <a:lstStyle/>
              <a:p>
                <a:pPr>
                  <a:buFont typeface="Wingdings" panose="05000000000000000000" pitchFamily="2" charset="2"/>
                  <a:buChar char="§"/>
                </a:pPr>
                <a:r>
                  <a:rPr lang="en-US" dirty="0" smtClean="0"/>
                  <a:t> </a:t>
                </a:r>
                <a:r>
                  <a:rPr lang="en-US" dirty="0" err="1" smtClean="0">
                    <a:solidFill>
                      <a:srgbClr val="0070C0"/>
                    </a:solidFill>
                  </a:rPr>
                  <a:t>Rangkaian</a:t>
                </a:r>
                <a:r>
                  <a:rPr lang="en-US" dirty="0" smtClean="0">
                    <a:solidFill>
                      <a:srgbClr val="0070C0"/>
                    </a:solidFill>
                  </a:rPr>
                  <a:t> </a:t>
                </a:r>
                <a:r>
                  <a:rPr lang="en-US" dirty="0" err="1" smtClean="0">
                    <a:solidFill>
                      <a:srgbClr val="0070C0"/>
                    </a:solidFill>
                  </a:rPr>
                  <a:t>ekivalen</a:t>
                </a:r>
                <a:r>
                  <a:rPr lang="en-US" dirty="0" smtClean="0">
                    <a:solidFill>
                      <a:srgbClr val="0070C0"/>
                    </a:solidFill>
                  </a:rPr>
                  <a:t> op-amp :</a:t>
                </a:r>
              </a:p>
              <a:p>
                <a:pPr>
                  <a:buFont typeface="Wingdings" panose="05000000000000000000" pitchFamily="2" charset="2"/>
                  <a:buChar char="§"/>
                </a:pPr>
                <a:endParaRPr lang="en-US" dirty="0"/>
              </a:p>
              <a:p>
                <a:pPr>
                  <a:buFont typeface="Wingdings" panose="05000000000000000000" pitchFamily="2" charset="2"/>
                  <a:buChar char="§"/>
                </a:pPr>
                <a:endParaRPr lang="en-US" dirty="0" smtClean="0"/>
              </a:p>
              <a:p>
                <a:pPr>
                  <a:buFont typeface="Wingdings" panose="05000000000000000000" pitchFamily="2" charset="2"/>
                  <a:buChar char="§"/>
                </a:pPr>
                <a:endParaRPr lang="en-US" dirty="0"/>
              </a:p>
              <a:p>
                <a:pPr>
                  <a:buFont typeface="Wingdings" panose="05000000000000000000" pitchFamily="2" charset="2"/>
                  <a:buChar char="§"/>
                </a:pPr>
                <a:endParaRPr lang="en-US" dirty="0" smtClean="0"/>
              </a:p>
              <a:p>
                <a:pPr>
                  <a:buFont typeface="Wingdings" panose="05000000000000000000" pitchFamily="2" charset="2"/>
                  <a:buChar char="§"/>
                </a:pPr>
                <a:endParaRPr lang="en-US" dirty="0"/>
              </a:p>
              <a:p>
                <a:pPr>
                  <a:buFont typeface="Wingdings" panose="05000000000000000000" pitchFamily="2" charset="2"/>
                  <a:buChar char="§"/>
                </a:pPr>
                <a:endParaRPr lang="en-US" dirty="0" smtClean="0"/>
              </a:p>
              <a:p>
                <a:pPr>
                  <a:buFont typeface="Wingdings" panose="05000000000000000000" pitchFamily="2" charset="2"/>
                  <a:buChar char="§"/>
                </a:pPr>
                <a:endParaRPr lang="en-US" dirty="0"/>
              </a:p>
              <a:p>
                <a:pPr>
                  <a:buFont typeface="Wingdings" panose="05000000000000000000" pitchFamily="2" charset="2"/>
                  <a:buChar char="§"/>
                </a:pPr>
                <a:r>
                  <a:rPr lang="en-US" dirty="0" smtClean="0">
                    <a:solidFill>
                      <a:schemeClr val="tx1"/>
                    </a:solidFill>
                  </a:rPr>
                  <a:t>Op-amp </a:t>
                </a:r>
                <a:r>
                  <a:rPr lang="en-US" dirty="0" err="1">
                    <a:solidFill>
                      <a:schemeClr val="tx1"/>
                    </a:solidFill>
                  </a:rPr>
                  <a:t>harus</a:t>
                </a:r>
                <a:r>
                  <a:rPr lang="en-US" dirty="0">
                    <a:solidFill>
                      <a:schemeClr val="tx1"/>
                    </a:solidFill>
                  </a:rPr>
                  <a:t> </a:t>
                </a:r>
                <a:r>
                  <a:rPr lang="en-US" dirty="0" err="1">
                    <a:solidFill>
                      <a:schemeClr val="tx1"/>
                    </a:solidFill>
                  </a:rPr>
                  <a:t>mampu</a:t>
                </a:r>
                <a:r>
                  <a:rPr lang="en-US" dirty="0">
                    <a:solidFill>
                      <a:schemeClr val="tx1"/>
                    </a:solidFill>
                  </a:rPr>
                  <a:t> </a:t>
                </a:r>
                <a:r>
                  <a:rPr lang="en-US" dirty="0" err="1">
                    <a:solidFill>
                      <a:schemeClr val="tx1"/>
                    </a:solidFill>
                  </a:rPr>
                  <a:t>merasakan</a:t>
                </a:r>
                <a:r>
                  <a:rPr lang="en-US" dirty="0">
                    <a:solidFill>
                      <a:schemeClr val="tx1"/>
                    </a:solidFill>
                  </a:rPr>
                  <a:t> </a:t>
                </a:r>
                <a:r>
                  <a:rPr lang="en-US" dirty="0" err="1">
                    <a:solidFill>
                      <a:schemeClr val="tx1"/>
                    </a:solidFill>
                  </a:rPr>
                  <a:t>adanya</a:t>
                </a:r>
                <a:r>
                  <a:rPr lang="en-US" dirty="0">
                    <a:solidFill>
                      <a:schemeClr val="tx1"/>
                    </a:solidFill>
                  </a:rPr>
                  <a:t> </a:t>
                </a:r>
                <a:r>
                  <a:rPr lang="en-US" dirty="0" err="1">
                    <a:solidFill>
                      <a:schemeClr val="tx1"/>
                    </a:solidFill>
                  </a:rPr>
                  <a:t>pengaruh</a:t>
                </a:r>
                <a:r>
                  <a:rPr lang="en-US" dirty="0">
                    <a:solidFill>
                      <a:schemeClr val="tx1"/>
                    </a:solidFill>
                  </a:rPr>
                  <a:t> </a:t>
                </a:r>
                <a:r>
                  <a:rPr lang="en-US" dirty="0" err="1">
                    <a:solidFill>
                      <a:schemeClr val="tx1"/>
                    </a:solidFill>
                  </a:rPr>
                  <a:t>dari</a:t>
                </a:r>
                <a:r>
                  <a:rPr lang="en-US" dirty="0">
                    <a:solidFill>
                      <a:schemeClr val="tx1"/>
                    </a:solidFill>
                  </a:rPr>
                  <a:t> </a:t>
                </a:r>
                <a:r>
                  <a:rPr lang="en-US" dirty="0" err="1">
                    <a:solidFill>
                      <a:schemeClr val="tx1"/>
                    </a:solidFill>
                  </a:rPr>
                  <a:t>masukan-masukan</a:t>
                </a:r>
                <a:r>
                  <a:rPr lang="en-US" dirty="0">
                    <a:solidFill>
                      <a:schemeClr val="tx1"/>
                    </a:solidFill>
                  </a:rPr>
                  <a:t> yang </a:t>
                </a:r>
                <a:r>
                  <a:rPr lang="en-US" dirty="0" err="1">
                    <a:solidFill>
                      <a:schemeClr val="tx1"/>
                    </a:solidFill>
                  </a:rPr>
                  <a:t>diberikan</a:t>
                </a:r>
                <a:r>
                  <a:rPr lang="en-US" dirty="0">
                    <a:solidFill>
                      <a:schemeClr val="tx1"/>
                    </a:solidFill>
                  </a:rPr>
                  <a:t> </a:t>
                </a:r>
                <a:r>
                  <a:rPr lang="en-US" dirty="0" err="1">
                    <a:solidFill>
                      <a:schemeClr val="tx1"/>
                    </a:solidFill>
                  </a:rPr>
                  <a:t>pada</a:t>
                </a:r>
                <a:r>
                  <a:rPr lang="en-US" dirty="0">
                    <a:solidFill>
                      <a:schemeClr val="tx1"/>
                    </a:solidFill>
                  </a:rPr>
                  <a:t> </a:t>
                </a:r>
                <a:r>
                  <a:rPr lang="en-US" dirty="0" err="1">
                    <a:solidFill>
                      <a:schemeClr val="tx1"/>
                    </a:solidFill>
                  </a:rPr>
                  <a:t>masing-masing</a:t>
                </a:r>
                <a:r>
                  <a:rPr lang="en-US" dirty="0">
                    <a:solidFill>
                      <a:schemeClr val="tx1"/>
                    </a:solidFill>
                  </a:rPr>
                  <a:t> terminal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𝑣</m:t>
                        </m:r>
                      </m:e>
                      <m:sub>
                        <m:r>
                          <a:rPr lang="en-US" i="1">
                            <a:solidFill>
                              <a:schemeClr val="tx1"/>
                            </a:solidFill>
                            <a:latin typeface="Cambria Math" panose="02040503050406030204" pitchFamily="18" charset="0"/>
                          </a:rPr>
                          <m:t>1</m:t>
                        </m:r>
                      </m:sub>
                    </m:sSub>
                  </m:oMath>
                </a14:m>
                <a:r>
                  <a:rPr lang="en-US" dirty="0">
                    <a:solidFill>
                      <a:schemeClr val="tx1"/>
                    </a:solidFill>
                  </a:rPr>
                  <a:t> </a:t>
                </a:r>
                <a:r>
                  <a:rPr lang="en-US" dirty="0" err="1">
                    <a:solidFill>
                      <a:schemeClr val="tx1"/>
                    </a:solidFill>
                  </a:rPr>
                  <a:t>maupun</a:t>
                </a:r>
                <a:r>
                  <a:rPr lang="en-US" dirty="0">
                    <a:solidFill>
                      <a:schemeClr val="tx1"/>
                    </a:solidFill>
                  </a:rPr>
                  <a:t>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𝑣</m:t>
                        </m:r>
                      </m:e>
                      <m:sub>
                        <m:r>
                          <a:rPr lang="en-US" i="1">
                            <a:solidFill>
                              <a:schemeClr val="tx1"/>
                            </a:solidFill>
                            <a:latin typeface="Cambria Math" panose="02040503050406030204" pitchFamily="18" charset="0"/>
                          </a:rPr>
                          <m:t>2</m:t>
                        </m:r>
                      </m:sub>
                    </m:sSub>
                  </m:oMath>
                </a14:m>
                <a:r>
                  <a:rPr lang="en-US" dirty="0" smtClean="0">
                    <a:solidFill>
                      <a:schemeClr val="tx1"/>
                    </a:solidFill>
                  </a:rPr>
                  <a:t> (</a:t>
                </a:r>
                <a:r>
                  <a:rPr lang="en-US" i="1" dirty="0" err="1" smtClean="0">
                    <a:solidFill>
                      <a:srgbClr val="0070C0"/>
                    </a:solidFill>
                  </a:rPr>
                  <a:t>syarat</a:t>
                </a:r>
                <a:r>
                  <a:rPr lang="en-US" i="1" dirty="0" smtClean="0">
                    <a:solidFill>
                      <a:srgbClr val="0070C0"/>
                    </a:solidFill>
                  </a:rPr>
                  <a:t> op-amp </a:t>
                </a:r>
                <a:r>
                  <a:rPr lang="en-US" i="1" dirty="0" err="1" smtClean="0">
                    <a:solidFill>
                      <a:srgbClr val="0070C0"/>
                    </a:solidFill>
                  </a:rPr>
                  <a:t>bekerja</a:t>
                </a:r>
                <a:r>
                  <a:rPr lang="en-US" i="1" dirty="0" smtClean="0">
                    <a:solidFill>
                      <a:srgbClr val="0070C0"/>
                    </a:solidFill>
                  </a:rPr>
                  <a:t> </a:t>
                </a:r>
                <a:r>
                  <a:rPr lang="en-US" i="1" dirty="0" err="1" smtClean="0">
                    <a:solidFill>
                      <a:srgbClr val="0070C0"/>
                    </a:solidFill>
                  </a:rPr>
                  <a:t>dengan</a:t>
                </a:r>
                <a:r>
                  <a:rPr lang="en-US" i="1" dirty="0" smtClean="0">
                    <a:solidFill>
                      <a:srgbClr val="0070C0"/>
                    </a:solidFill>
                  </a:rPr>
                  <a:t> </a:t>
                </a:r>
                <a:r>
                  <a:rPr lang="en-US" i="1" dirty="0" err="1" smtClean="0">
                    <a:solidFill>
                      <a:srgbClr val="0070C0"/>
                    </a:solidFill>
                  </a:rPr>
                  <a:t>baik</a:t>
                </a:r>
                <a:r>
                  <a:rPr lang="en-US" dirty="0" smtClean="0">
                    <a:solidFill>
                      <a:schemeClr val="tx1"/>
                    </a:solidFill>
                  </a:rPr>
                  <a:t>). </a:t>
                </a:r>
                <a:endParaRPr lang="en-US" dirty="0">
                  <a:solidFill>
                    <a:schemeClr val="tx1"/>
                  </a:solidFill>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251678" y="1564105"/>
                <a:ext cx="10178322" cy="4315487"/>
              </a:xfrm>
              <a:blipFill>
                <a:blip r:embed="rId3"/>
                <a:stretch>
                  <a:fillRect l="-898" t="-3672" b="-424"/>
                </a:stretch>
              </a:blipFill>
            </p:spPr>
            <p:txBody>
              <a:bodyPr/>
              <a:lstStyle/>
              <a:p>
                <a:r>
                  <a:rPr lang="en-US">
                    <a:noFill/>
                  </a:rPr>
                  <a:t> </a:t>
                </a:r>
              </a:p>
            </p:txBody>
          </p:sp>
        </mc:Fallback>
      </mc:AlternateContent>
      <p:sp>
        <p:nvSpPr>
          <p:cNvPr id="4" name="Rectangle 2"/>
          <p:cNvSpPr>
            <a:spLocks noChangeArrowheads="1"/>
          </p:cNvSpPr>
          <p:nvPr/>
        </p:nvSpPr>
        <p:spPr bwMode="auto">
          <a:xfrm>
            <a:off x="2550695" y="23822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p:cNvGraphicFramePr>
            <a:graphicFrameLocks noChangeAspect="1"/>
          </p:cNvGraphicFramePr>
          <p:nvPr>
            <p:extLst/>
          </p:nvPr>
        </p:nvGraphicFramePr>
        <p:xfrm>
          <a:off x="2442411" y="2213811"/>
          <a:ext cx="6298749" cy="2411328"/>
        </p:xfrm>
        <a:graphic>
          <a:graphicData uri="http://schemas.openxmlformats.org/presentationml/2006/ole">
            <mc:AlternateContent xmlns:mc="http://schemas.openxmlformats.org/markup-compatibility/2006">
              <mc:Choice xmlns:v="urn:schemas-microsoft-com:vml" Requires="v">
                <p:oleObj spid="_x0000_s28676" name="Visio" r:id="rId4" imgW="4610033" imgH="1562100" progId="Visio.Drawing.15">
                  <p:embed/>
                </p:oleObj>
              </mc:Choice>
              <mc:Fallback>
                <p:oleObj name="Visio" r:id="rId4" imgW="4610033" imgH="1562100" progId="Visio.Drawing.15">
                  <p:embed/>
                  <p:pic>
                    <p:nvPicPr>
                      <p:cNvPr id="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2411" y="2213811"/>
                        <a:ext cx="6298749" cy="2411328"/>
                      </a:xfrm>
                      <a:prstGeom prst="rect">
                        <a:avLst/>
                      </a:prstGeom>
                      <a:noFill/>
                    </p:spPr>
                  </p:pic>
                </p:oleObj>
              </mc:Fallback>
            </mc:AlternateContent>
          </a:graphicData>
        </a:graphic>
      </p:graphicFrame>
    </p:spTree>
    <p:extLst>
      <p:ext uri="{BB962C8B-B14F-4D97-AF65-F5344CB8AC3E}">
        <p14:creationId xmlns:p14="http://schemas.microsoft.com/office/powerpoint/2010/main" val="10008184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1678" y="1660359"/>
            <a:ext cx="10178322" cy="4219234"/>
          </a:xfrm>
        </p:spPr>
        <p:txBody>
          <a:bodyPr/>
          <a:lstStyle/>
          <a:p>
            <a:pPr>
              <a:buFont typeface="Wingdings" panose="05000000000000000000" pitchFamily="2" charset="2"/>
              <a:buChar char="§"/>
            </a:pPr>
            <a:r>
              <a:rPr lang="en-US" dirty="0" smtClean="0"/>
              <a:t> </a:t>
            </a:r>
            <a:r>
              <a:rPr lang="en-US" dirty="0" err="1" smtClean="0">
                <a:solidFill>
                  <a:schemeClr val="tx1"/>
                </a:solidFill>
              </a:rPr>
              <a:t>Pada</a:t>
            </a:r>
            <a:r>
              <a:rPr lang="en-US" dirty="0" smtClean="0">
                <a:solidFill>
                  <a:schemeClr val="tx1"/>
                </a:solidFill>
              </a:rPr>
              <a:t> </a:t>
            </a:r>
            <a:r>
              <a:rPr lang="en-US" dirty="0" err="1">
                <a:solidFill>
                  <a:schemeClr val="tx1"/>
                </a:solidFill>
              </a:rPr>
              <a:t>sisi</a:t>
            </a:r>
            <a:r>
              <a:rPr lang="en-US" dirty="0">
                <a:solidFill>
                  <a:schemeClr val="tx1"/>
                </a:solidFill>
              </a:rPr>
              <a:t> </a:t>
            </a:r>
            <a:r>
              <a:rPr lang="en-US" dirty="0" err="1">
                <a:solidFill>
                  <a:schemeClr val="tx1"/>
                </a:solidFill>
              </a:rPr>
              <a:t>keluaran</a:t>
            </a:r>
            <a:r>
              <a:rPr lang="en-US" dirty="0">
                <a:solidFill>
                  <a:schemeClr val="tx1"/>
                </a:solidFill>
              </a:rPr>
              <a:t> </a:t>
            </a:r>
            <a:r>
              <a:rPr lang="en-US" dirty="0" err="1">
                <a:solidFill>
                  <a:schemeClr val="tx1"/>
                </a:solidFill>
              </a:rPr>
              <a:t>akan</a:t>
            </a:r>
            <a:r>
              <a:rPr lang="en-US" dirty="0">
                <a:solidFill>
                  <a:schemeClr val="tx1"/>
                </a:solidFill>
              </a:rPr>
              <a:t> </a:t>
            </a:r>
            <a:r>
              <a:rPr lang="en-US" dirty="0" err="1">
                <a:solidFill>
                  <a:schemeClr val="tx1"/>
                </a:solidFill>
              </a:rPr>
              <a:t>diperoleh</a:t>
            </a:r>
            <a:r>
              <a:rPr lang="en-US" dirty="0">
                <a:solidFill>
                  <a:schemeClr val="tx1"/>
                </a:solidFill>
              </a:rPr>
              <a:t> </a:t>
            </a:r>
            <a:r>
              <a:rPr lang="en-US" dirty="0" err="1">
                <a:solidFill>
                  <a:schemeClr val="tx1"/>
                </a:solidFill>
              </a:rPr>
              <a:t>tegangan</a:t>
            </a:r>
            <a:r>
              <a:rPr lang="en-US" dirty="0">
                <a:solidFill>
                  <a:schemeClr val="tx1"/>
                </a:solidFill>
              </a:rPr>
              <a:t> </a:t>
            </a:r>
            <a:r>
              <a:rPr lang="en-US" dirty="0" err="1">
                <a:solidFill>
                  <a:schemeClr val="tx1"/>
                </a:solidFill>
              </a:rPr>
              <a:t>keluaran</a:t>
            </a:r>
            <a:r>
              <a:rPr lang="en-US" dirty="0">
                <a:solidFill>
                  <a:schemeClr val="tx1"/>
                </a:solidFill>
              </a:rPr>
              <a:t> </a:t>
            </a:r>
            <a:r>
              <a:rPr lang="en-US" dirty="0" err="1" smtClean="0">
                <a:solidFill>
                  <a:schemeClr val="tx1"/>
                </a:solidFill>
              </a:rPr>
              <a:t>sebesar</a:t>
            </a:r>
            <a:r>
              <a:rPr lang="en-US" dirty="0" smtClean="0">
                <a:solidFill>
                  <a:schemeClr val="tx1"/>
                </a:solidFill>
              </a:rPr>
              <a:t> :</a:t>
            </a:r>
            <a:endParaRPr lang="en-US" dirty="0">
              <a:solidFill>
                <a:schemeClr val="tx1"/>
              </a:solidFill>
            </a:endParaRPr>
          </a:p>
          <a:p>
            <a:pPr>
              <a:buFont typeface="Wingdings" panose="05000000000000000000" pitchFamily="2" charset="2"/>
              <a:buChar char="§"/>
            </a:pPr>
            <a:endParaRPr lang="en-US" dirty="0"/>
          </a:p>
        </p:txBody>
      </p:sp>
      <p:sp>
        <p:nvSpPr>
          <p:cNvPr id="4" name="Title 1"/>
          <p:cNvSpPr>
            <a:spLocks noGrp="1"/>
          </p:cNvSpPr>
          <p:nvPr>
            <p:ph type="title"/>
          </p:nvPr>
        </p:nvSpPr>
        <p:spPr>
          <a:xfrm>
            <a:off x="1251678" y="382385"/>
            <a:ext cx="10178322" cy="820773"/>
          </a:xfrm>
        </p:spPr>
        <p:txBody>
          <a:bodyPr>
            <a:normAutofit/>
          </a:bodyPr>
          <a:lstStyle/>
          <a:p>
            <a:r>
              <a:rPr lang="en-US" sz="4800" dirty="0" err="1" smtClean="0"/>
              <a:t>Karakteristik</a:t>
            </a:r>
            <a:r>
              <a:rPr lang="en-US" sz="4800" dirty="0" smtClean="0"/>
              <a:t> op-amp (2)</a:t>
            </a:r>
            <a:endParaRPr lang="en-US" sz="4800" dirty="0"/>
          </a:p>
        </p:txBody>
      </p:sp>
      <mc:AlternateContent xmlns:mc="http://schemas.openxmlformats.org/markup-compatibility/2006" xmlns:a14="http://schemas.microsoft.com/office/drawing/2010/main">
        <mc:Choice Requires="a14">
          <p:sp>
            <p:nvSpPr>
              <p:cNvPr id="5" name="Rectangle 4"/>
              <p:cNvSpPr/>
              <p:nvPr/>
            </p:nvSpPr>
            <p:spPr>
              <a:xfrm>
                <a:off x="3520462" y="2426187"/>
                <a:ext cx="2528192" cy="369332"/>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𝐴𝑉</m:t>
                              </m:r>
                            </m:e>
                            <m:sub>
                              <m:r>
                                <a:rPr lang="en-US" i="1">
                                  <a:latin typeface="Cambria Math" panose="02040503050406030204" pitchFamily="18" charset="0"/>
                                </a:rPr>
                                <m:t>𝑑</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𝑜</m:t>
                              </m:r>
                            </m:sub>
                          </m:sSub>
                          <m:r>
                            <a:rPr lang="en-US" i="0">
                              <a:latin typeface="Cambria Math" panose="02040503050406030204" pitchFamily="18" charset="0"/>
                            </a:rPr>
                            <m:t>=</m:t>
                          </m:r>
                          <m:r>
                            <a:rPr lang="en-US" i="1">
                              <a:latin typeface="Cambria Math" panose="02040503050406030204" pitchFamily="18" charset="0"/>
                            </a:rPr>
                            <m:t>𝐴</m:t>
                          </m:r>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0">
                                  <a:latin typeface="Cambria Math" panose="02040503050406030204" pitchFamily="18" charset="0"/>
                                </a:rPr>
                                <m:t>1</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0">
                                  <a:latin typeface="Cambria Math" panose="02040503050406030204" pitchFamily="18" charset="0"/>
                                </a:rPr>
                                <m:t>2</m:t>
                              </m:r>
                            </m:sub>
                          </m:sSub>
                        </m:e>
                      </m:d>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3520462" y="2426187"/>
                <a:ext cx="2528192" cy="369332"/>
              </a:xfrm>
              <a:prstGeom prst="rect">
                <a:avLst/>
              </a:prstGeom>
              <a:blipFill rotWithShape="0">
                <a:blip r:embed="rId2"/>
                <a:stretch>
                  <a:fillRect t="-112698" r="-19471" b="-177778"/>
                </a:stretch>
              </a:blipFill>
              <a:ln>
                <a:solidFill>
                  <a:srgbClr val="C0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736558" y="2981761"/>
                <a:ext cx="6096000" cy="2169825"/>
              </a:xfrm>
              <a:prstGeom prst="rect">
                <a:avLst/>
              </a:prstGeom>
            </p:spPr>
            <p:txBody>
              <a:bodyPr>
                <a:spAutoFit/>
              </a:bodyPr>
              <a:lstStyle/>
              <a:p>
                <a:pPr algn="just">
                  <a:lnSpc>
                    <a:spcPct val="150000"/>
                  </a:lnSpc>
                  <a:spcAft>
                    <a:spcPts val="0"/>
                  </a:spcAft>
                </a:pPr>
                <a:r>
                  <a:rPr lang="en-US" dirty="0" err="1">
                    <a:latin typeface="Calibri" panose="020F0502020204030204" pitchFamily="34" charset="0"/>
                    <a:ea typeface="Calibri" panose="020F0502020204030204" pitchFamily="34" charset="0"/>
                    <a:cs typeface="Calibri" panose="020F0502020204030204" pitchFamily="34" charset="0"/>
                  </a:rPr>
                  <a:t>Dimana</a:t>
                </a:r>
                <a:r>
                  <a:rPr lang="en-US"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i="1">
                        <a:effectLst/>
                        <a:latin typeface="Cambria Math" panose="02040503050406030204" pitchFamily="18" charset="0"/>
                        <a:ea typeface="Calibri" panose="020F0502020204030204" pitchFamily="34" charset="0"/>
                        <a:cs typeface="Calibri" panose="020F0502020204030204" pitchFamily="34" charset="0"/>
                      </a:rPr>
                      <m:t>𝐴</m:t>
                    </m:r>
                    <m:r>
                      <a:rPr lang="en-US" i="1">
                        <a:effectLst/>
                        <a:latin typeface="Cambria Math" panose="02040503050406030204" pitchFamily="18" charset="0"/>
                        <a:ea typeface="Calibri" panose="020F0502020204030204" pitchFamily="34" charset="0"/>
                        <a:cs typeface="Calibri" panose="020F0502020204030204" pitchFamily="34" charset="0"/>
                      </a:rPr>
                      <m:t> :</m:t>
                    </m:r>
                  </m:oMath>
                </a14:m>
                <a:r>
                  <a:rPr lang="en-US" dirty="0">
                    <a:effectLst/>
                    <a:latin typeface="Calibri" panose="020F0502020204030204" pitchFamily="34" charset="0"/>
                    <a:ea typeface="Calibri" panose="020F0502020204030204" pitchFamily="34" charset="0"/>
                    <a:cs typeface="Calibri" panose="020F0502020204030204" pitchFamily="34" charset="0"/>
                  </a:rPr>
                  <a:t> </a:t>
                </a:r>
                <a:r>
                  <a:rPr lang="en-US" dirty="0" err="1">
                    <a:effectLst/>
                    <a:latin typeface="Calibri" panose="020F0502020204030204" pitchFamily="34" charset="0"/>
                    <a:ea typeface="Calibri" panose="020F0502020204030204" pitchFamily="34" charset="0"/>
                    <a:cs typeface="Calibri" panose="020F0502020204030204" pitchFamily="34" charset="0"/>
                  </a:rPr>
                  <a:t>penguatan</a:t>
                </a:r>
                <a:r>
                  <a:rPr lang="en-US" dirty="0">
                    <a:effectLst/>
                    <a:latin typeface="Calibri" panose="020F0502020204030204" pitchFamily="34" charset="0"/>
                    <a:ea typeface="Calibri" panose="020F0502020204030204" pitchFamily="34" charset="0"/>
                    <a:cs typeface="Calibri" panose="020F0502020204030204" pitchFamily="34" charset="0"/>
                  </a:rPr>
                  <a:t> </a:t>
                </a:r>
                <a:r>
                  <a:rPr lang="en-US" dirty="0" err="1">
                    <a:effectLst/>
                    <a:latin typeface="Calibri" panose="020F0502020204030204" pitchFamily="34" charset="0"/>
                    <a:ea typeface="Calibri" panose="020F0502020204030204" pitchFamily="34" charset="0"/>
                    <a:cs typeface="Calibri" panose="020F0502020204030204" pitchFamily="34" charset="0"/>
                  </a:rPr>
                  <a:t>tegangan</a:t>
                </a:r>
                <a:r>
                  <a:rPr lang="en-US" dirty="0">
                    <a:effectLst/>
                    <a:latin typeface="Calibri" panose="020F0502020204030204" pitchFamily="34" charset="0"/>
                    <a:ea typeface="Calibri" panose="020F0502020204030204" pitchFamily="34" charset="0"/>
                    <a:cs typeface="Calibri" panose="020F0502020204030204" pitchFamily="34"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US" dirty="0">
                    <a:effectLst/>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panose="020F0502020204030204" pitchFamily="34" charset="0"/>
                          </a:rPr>
                        </m:ctrlPr>
                      </m:sSubPr>
                      <m:e>
                        <m:r>
                          <a:rPr lang="en-US" i="1">
                            <a:effectLst/>
                            <a:latin typeface="Cambria Math" panose="02040503050406030204" pitchFamily="18" charset="0"/>
                            <a:ea typeface="Calibri" panose="020F0502020204030204" pitchFamily="34" charset="0"/>
                            <a:cs typeface="Calibri" panose="020F0502020204030204" pitchFamily="34" charset="0"/>
                          </a:rPr>
                          <m:t>𝑣</m:t>
                        </m:r>
                      </m:e>
                      <m:sub>
                        <m:r>
                          <a:rPr lang="en-US" i="1">
                            <a:effectLst/>
                            <a:latin typeface="Cambria Math" panose="02040503050406030204" pitchFamily="18" charset="0"/>
                            <a:ea typeface="Calibri" panose="020F0502020204030204" pitchFamily="34" charset="0"/>
                            <a:cs typeface="Calibri" panose="020F0502020204030204" pitchFamily="34" charset="0"/>
                          </a:rPr>
                          <m:t>𝑑</m:t>
                        </m:r>
                      </m:sub>
                    </m:sSub>
                    <m:r>
                      <a:rPr lang="en-US" i="1">
                        <a:effectLst/>
                        <a:latin typeface="Cambria Math" panose="02040503050406030204" pitchFamily="18" charset="0"/>
                        <a:ea typeface="Calibri" panose="020F0502020204030204" pitchFamily="34" charset="0"/>
                        <a:cs typeface="Calibri" panose="020F0502020204030204" pitchFamily="34" charset="0"/>
                      </a:rPr>
                      <m:t> :</m:t>
                    </m:r>
                  </m:oMath>
                </a14:m>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tegangan</a:t>
                </a:r>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masukan</a:t>
                </a:r>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diferensial</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US" dirty="0">
                    <a:effectLst/>
                    <a:latin typeface="Calibri" panose="020F0502020204030204" pitchFamily="34" charset="0"/>
                    <a:ea typeface="Times New Roman" panose="02020603050405020304" pitchFamily="18" charset="0"/>
                    <a:cs typeface="Calibri" panose="020F0502020204030204" pitchFamily="34" charset="0"/>
                  </a:rPr>
                  <a:t>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panose="020F0502020204030204" pitchFamily="34" charset="0"/>
                          </a:rPr>
                        </m:ctrlPr>
                      </m:sSubPr>
                      <m:e>
                        <m:r>
                          <a:rPr lang="en-US" i="1">
                            <a:effectLst/>
                            <a:latin typeface="Cambria Math" panose="02040503050406030204" pitchFamily="18" charset="0"/>
                            <a:ea typeface="Calibri" panose="020F0502020204030204" pitchFamily="34" charset="0"/>
                            <a:cs typeface="Calibri" panose="020F0502020204030204" pitchFamily="34" charset="0"/>
                          </a:rPr>
                          <m:t>𝑣</m:t>
                        </m:r>
                      </m:e>
                      <m:sub>
                        <m:r>
                          <a:rPr lang="en-US" i="1">
                            <a:effectLst/>
                            <a:latin typeface="Cambria Math" panose="02040503050406030204" pitchFamily="18" charset="0"/>
                            <a:ea typeface="Calibri" panose="020F0502020204030204" pitchFamily="34" charset="0"/>
                            <a:cs typeface="Calibri" panose="020F0502020204030204" pitchFamily="34" charset="0"/>
                          </a:rPr>
                          <m:t>1 </m:t>
                        </m:r>
                      </m:sub>
                    </m:sSub>
                    <m:r>
                      <a:rPr lang="en-US" i="1">
                        <a:effectLst/>
                        <a:latin typeface="Cambria Math" panose="02040503050406030204" pitchFamily="18" charset="0"/>
                        <a:ea typeface="Calibri" panose="020F0502020204030204" pitchFamily="34" charset="0"/>
                        <a:cs typeface="Calibri" panose="020F0502020204030204" pitchFamily="34" charset="0"/>
                      </a:rPr>
                      <m:t>:</m:t>
                    </m:r>
                  </m:oMath>
                </a14:m>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tegangan</a:t>
                </a:r>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masukan</a:t>
                </a:r>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pada</a:t>
                </a:r>
                <a:r>
                  <a:rPr lang="en-US" dirty="0">
                    <a:effectLst/>
                    <a:latin typeface="Calibri" panose="020F0502020204030204" pitchFamily="34" charset="0"/>
                    <a:ea typeface="Times New Roman" panose="02020603050405020304" pitchFamily="18" charset="0"/>
                    <a:cs typeface="Calibri" panose="020F0502020204030204" pitchFamily="34" charset="0"/>
                  </a:rPr>
                  <a:t> terminal non inverting</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US" dirty="0">
                    <a:effectLst/>
                    <a:latin typeface="Calibri" panose="020F0502020204030204" pitchFamily="34" charset="0"/>
                    <a:ea typeface="Times New Roman" panose="02020603050405020304" pitchFamily="18" charset="0"/>
                    <a:cs typeface="Calibri" panose="020F0502020204030204" pitchFamily="34" charset="0"/>
                  </a:rPr>
                  <a:t>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panose="020F0502020204030204" pitchFamily="34" charset="0"/>
                          </a:rPr>
                        </m:ctrlPr>
                      </m:sSubPr>
                      <m:e>
                        <m:r>
                          <a:rPr lang="en-US" i="1">
                            <a:effectLst/>
                            <a:latin typeface="Cambria Math" panose="02040503050406030204" pitchFamily="18" charset="0"/>
                            <a:ea typeface="Calibri" panose="020F0502020204030204" pitchFamily="34" charset="0"/>
                            <a:cs typeface="Calibri" panose="020F0502020204030204" pitchFamily="34" charset="0"/>
                          </a:rPr>
                          <m:t>𝑣</m:t>
                        </m:r>
                      </m:e>
                      <m:sub>
                        <m:r>
                          <a:rPr lang="en-US" i="1">
                            <a:effectLst/>
                            <a:latin typeface="Cambria Math" panose="02040503050406030204" pitchFamily="18" charset="0"/>
                            <a:ea typeface="Calibri" panose="020F0502020204030204" pitchFamily="34" charset="0"/>
                            <a:cs typeface="Calibri" panose="020F0502020204030204" pitchFamily="34" charset="0"/>
                          </a:rPr>
                          <m:t>2 </m:t>
                        </m:r>
                      </m:sub>
                    </m:sSub>
                    <m:r>
                      <a:rPr lang="en-US" i="1">
                        <a:effectLst/>
                        <a:latin typeface="Cambria Math" panose="02040503050406030204" pitchFamily="18" charset="0"/>
                        <a:ea typeface="Calibri" panose="020F0502020204030204" pitchFamily="34" charset="0"/>
                        <a:cs typeface="Calibri" panose="020F0502020204030204" pitchFamily="34" charset="0"/>
                      </a:rPr>
                      <m:t>:</m:t>
                    </m:r>
                  </m:oMath>
                </a14:m>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tegangan</a:t>
                </a:r>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masukan</a:t>
                </a:r>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pada</a:t>
                </a:r>
                <a:r>
                  <a:rPr lang="en-US" dirty="0">
                    <a:effectLst/>
                    <a:latin typeface="Calibri" panose="020F0502020204030204" pitchFamily="34" charset="0"/>
                    <a:ea typeface="Times New Roman" panose="02020603050405020304" pitchFamily="18" charset="0"/>
                    <a:cs typeface="Calibri" panose="020F0502020204030204" pitchFamily="34" charset="0"/>
                  </a:rPr>
                  <a:t> terminal inverting</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US" dirty="0">
                    <a:effectLst/>
                    <a:latin typeface="Calibri" panose="020F0502020204030204" pitchFamily="34" charset="0"/>
                    <a:ea typeface="Times New Roman" panose="02020603050405020304" pitchFamily="18" charset="0"/>
                    <a:cs typeface="Calibri" panose="020F0502020204030204" pitchFamily="34" charset="0"/>
                  </a:rPr>
                  <a:t>	   </a:t>
                </a:r>
                <a14:m>
                  <m:oMath xmlns:m="http://schemas.openxmlformats.org/officeDocument/2006/math">
                    <m:sSub>
                      <m:sSubPr>
                        <m:ctrlPr>
                          <a:rPr lang="en-US" i="1">
                            <a:effectLst/>
                            <a:latin typeface="Cambria Math" panose="02040503050406030204" pitchFamily="18" charset="0"/>
                            <a:ea typeface="Calibri" panose="020F0502020204030204" pitchFamily="34" charset="0"/>
                            <a:cs typeface="Calibri" panose="020F0502020204030204" pitchFamily="34" charset="0"/>
                          </a:rPr>
                        </m:ctrlPr>
                      </m:sSubPr>
                      <m:e>
                        <m:r>
                          <a:rPr lang="en-US" i="1">
                            <a:effectLst/>
                            <a:latin typeface="Cambria Math" panose="02040503050406030204" pitchFamily="18" charset="0"/>
                            <a:ea typeface="Calibri" panose="020F0502020204030204" pitchFamily="34" charset="0"/>
                            <a:cs typeface="Calibri" panose="020F0502020204030204" pitchFamily="34" charset="0"/>
                          </a:rPr>
                          <m:t>𝑣</m:t>
                        </m:r>
                      </m:e>
                      <m:sub>
                        <m:r>
                          <a:rPr lang="en-US" i="1">
                            <a:effectLst/>
                            <a:latin typeface="Cambria Math" panose="02040503050406030204" pitchFamily="18" charset="0"/>
                            <a:ea typeface="Calibri" panose="020F0502020204030204" pitchFamily="34" charset="0"/>
                            <a:cs typeface="Calibri" panose="020F0502020204030204" pitchFamily="34" charset="0"/>
                          </a:rPr>
                          <m:t>𝑜</m:t>
                        </m:r>
                        <m:r>
                          <a:rPr lang="en-US" i="1">
                            <a:effectLst/>
                            <a:latin typeface="Cambria Math" panose="02040503050406030204" pitchFamily="18" charset="0"/>
                            <a:ea typeface="Calibri" panose="020F0502020204030204" pitchFamily="34" charset="0"/>
                            <a:cs typeface="Calibri" panose="020F0502020204030204" pitchFamily="34" charset="0"/>
                          </a:rPr>
                          <m:t> </m:t>
                        </m:r>
                      </m:sub>
                    </m:sSub>
                    <m:r>
                      <a:rPr lang="en-US" i="1">
                        <a:effectLst/>
                        <a:latin typeface="Cambria Math" panose="02040503050406030204" pitchFamily="18" charset="0"/>
                        <a:ea typeface="Calibri" panose="020F0502020204030204" pitchFamily="34" charset="0"/>
                        <a:cs typeface="Calibri" panose="020F0502020204030204" pitchFamily="34" charset="0"/>
                      </a:rPr>
                      <m:t>:</m:t>
                    </m:r>
                  </m:oMath>
                </a14:m>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tegangan</a:t>
                </a:r>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keluaran</a:t>
                </a:r>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penguat</a:t>
                </a:r>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operasional</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1736558" y="2981761"/>
                <a:ext cx="6096000" cy="2169825"/>
              </a:xfrm>
              <a:prstGeom prst="rect">
                <a:avLst/>
              </a:prstGeom>
              <a:blipFill rotWithShape="0">
                <a:blip r:embed="rId3"/>
                <a:stretch>
                  <a:fillRect l="-900" b="-1685"/>
                </a:stretch>
              </a:blipFill>
            </p:spPr>
            <p:txBody>
              <a:bodyPr/>
              <a:lstStyle/>
              <a:p>
                <a:r>
                  <a:rPr lang="en-US">
                    <a:noFill/>
                  </a:rPr>
                  <a:t> </a:t>
                </a:r>
              </a:p>
            </p:txBody>
          </p:sp>
        </mc:Fallback>
      </mc:AlternateContent>
    </p:spTree>
    <p:extLst>
      <p:ext uri="{BB962C8B-B14F-4D97-AF65-F5344CB8AC3E}">
        <p14:creationId xmlns:p14="http://schemas.microsoft.com/office/powerpoint/2010/main" val="10947270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24520"/>
          </a:xfrm>
        </p:spPr>
        <p:txBody>
          <a:bodyPr>
            <a:normAutofit/>
          </a:bodyPr>
          <a:lstStyle/>
          <a:p>
            <a:r>
              <a:rPr lang="en-US" sz="4400" dirty="0" err="1" smtClean="0"/>
              <a:t>Karakteristik</a:t>
            </a:r>
            <a:r>
              <a:rPr lang="en-US" sz="4400" dirty="0" smtClean="0"/>
              <a:t> ideal 0p-amp</a:t>
            </a:r>
            <a:endParaRPr lang="en-US" sz="4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34715" y="2634916"/>
                <a:ext cx="11057021" cy="3593591"/>
              </a:xfrm>
            </p:spPr>
            <p:txBody>
              <a:bodyPr/>
              <a:lstStyle/>
              <a:p>
                <a:pPr lvl="0"/>
                <a:r>
                  <a:rPr lang="en-US" sz="2400" dirty="0" smtClean="0">
                    <a:solidFill>
                      <a:srgbClr val="C00000"/>
                    </a:solidFill>
                  </a:rPr>
                  <a:t>Penguatan </a:t>
                </a:r>
                <a:r>
                  <a:rPr lang="en-US" sz="2400" dirty="0" err="1">
                    <a:solidFill>
                      <a:srgbClr val="C00000"/>
                    </a:solidFill>
                  </a:rPr>
                  <a:t>rantai</a:t>
                </a:r>
                <a:r>
                  <a:rPr lang="en-US" sz="2400" dirty="0">
                    <a:solidFill>
                      <a:srgbClr val="C00000"/>
                    </a:solidFill>
                  </a:rPr>
                  <a:t> </a:t>
                </a:r>
                <a:r>
                  <a:rPr lang="en-US" sz="2400" dirty="0" err="1">
                    <a:solidFill>
                      <a:srgbClr val="C00000"/>
                    </a:solidFill>
                  </a:rPr>
                  <a:t>terbukanya</a:t>
                </a:r>
                <a:r>
                  <a:rPr lang="en-US" sz="2400" dirty="0">
                    <a:solidFill>
                      <a:srgbClr val="C00000"/>
                    </a:solidFill>
                  </a:rPr>
                  <a:t> (</a:t>
                </a:r>
                <a:r>
                  <a:rPr lang="en-US" sz="2400" i="1" dirty="0">
                    <a:solidFill>
                      <a:srgbClr val="C00000"/>
                    </a:solidFill>
                  </a:rPr>
                  <a:t>open loop</a:t>
                </a:r>
                <a:r>
                  <a:rPr lang="en-US" sz="2400" dirty="0">
                    <a:solidFill>
                      <a:srgbClr val="C00000"/>
                    </a:solidFill>
                  </a:rPr>
                  <a:t>) </a:t>
                </a:r>
                <a:r>
                  <a:rPr lang="en-US" sz="2400" dirty="0" err="1">
                    <a:solidFill>
                      <a:srgbClr val="C00000"/>
                    </a:solidFill>
                  </a:rPr>
                  <a:t>bernilai</a:t>
                </a:r>
                <a:r>
                  <a:rPr lang="en-US" sz="2400" dirty="0">
                    <a:solidFill>
                      <a:srgbClr val="C00000"/>
                    </a:solidFill>
                  </a:rPr>
                  <a:t> </a:t>
                </a:r>
                <a:r>
                  <a:rPr lang="en-US" sz="2400" dirty="0" err="1">
                    <a:solidFill>
                      <a:srgbClr val="C00000"/>
                    </a:solidFill>
                  </a:rPr>
                  <a:t>tak</a:t>
                </a:r>
                <a:r>
                  <a:rPr lang="en-US" sz="2400" dirty="0">
                    <a:solidFill>
                      <a:srgbClr val="C00000"/>
                    </a:solidFill>
                  </a:rPr>
                  <a:t> </a:t>
                </a:r>
                <a:r>
                  <a:rPr lang="en-US" sz="2400" dirty="0" err="1">
                    <a:solidFill>
                      <a:srgbClr val="C00000"/>
                    </a:solidFill>
                  </a:rPr>
                  <a:t>terhingga</a:t>
                </a:r>
                <a:r>
                  <a:rPr lang="en-US" sz="2400" dirty="0">
                    <a:solidFill>
                      <a:srgbClr val="C00000"/>
                    </a:solidFill>
                  </a:rPr>
                  <a:t> (</a:t>
                </a:r>
                <a14:m>
                  <m:oMath xmlns:m="http://schemas.openxmlformats.org/officeDocument/2006/math">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𝐴</m:t>
                        </m:r>
                      </m:e>
                      <m:sub>
                        <m:r>
                          <a:rPr lang="en-US" sz="2400" i="1">
                            <a:solidFill>
                              <a:srgbClr val="C00000"/>
                            </a:solidFill>
                            <a:latin typeface="Cambria Math" panose="02040503050406030204" pitchFamily="18" charset="0"/>
                          </a:rPr>
                          <m:t>𝑂𝐿</m:t>
                        </m:r>
                      </m:sub>
                    </m:sSub>
                    <m:r>
                      <a:rPr lang="en-US" sz="2400" i="1">
                        <a:solidFill>
                          <a:srgbClr val="C00000"/>
                        </a:solidFill>
                        <a:latin typeface="Cambria Math" panose="02040503050406030204" pitchFamily="18" charset="0"/>
                      </a:rPr>
                      <m:t>=∞ )</m:t>
                    </m:r>
                  </m:oMath>
                </a14:m>
                <a:endParaRPr lang="en-US" sz="2400" dirty="0">
                  <a:solidFill>
                    <a:srgbClr val="C00000"/>
                  </a:solidFill>
                </a:endParaRPr>
              </a:p>
              <a:p>
                <a:pPr lvl="0"/>
                <a:r>
                  <a:rPr lang="en-US" sz="2400" dirty="0" err="1">
                    <a:solidFill>
                      <a:srgbClr val="C00000"/>
                    </a:solidFill>
                  </a:rPr>
                  <a:t>Resistansi</a:t>
                </a:r>
                <a:r>
                  <a:rPr lang="en-US" sz="2400" dirty="0">
                    <a:solidFill>
                      <a:srgbClr val="C00000"/>
                    </a:solidFill>
                  </a:rPr>
                  <a:t> </a:t>
                </a:r>
                <a:r>
                  <a:rPr lang="en-US" sz="2400" dirty="0" err="1">
                    <a:solidFill>
                      <a:srgbClr val="C00000"/>
                    </a:solidFill>
                  </a:rPr>
                  <a:t>masukan</a:t>
                </a:r>
                <a:r>
                  <a:rPr lang="en-US" sz="2400" dirty="0">
                    <a:solidFill>
                      <a:srgbClr val="C00000"/>
                    </a:solidFill>
                  </a:rPr>
                  <a:t> </a:t>
                </a:r>
                <a14:m>
                  <m:oMath xmlns:m="http://schemas.openxmlformats.org/officeDocument/2006/math">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𝑅</m:t>
                        </m:r>
                      </m:e>
                      <m:sub>
                        <m:r>
                          <a:rPr lang="en-US" sz="2400" i="1">
                            <a:solidFill>
                              <a:srgbClr val="C00000"/>
                            </a:solidFill>
                            <a:latin typeface="Cambria Math" panose="02040503050406030204" pitchFamily="18" charset="0"/>
                          </a:rPr>
                          <m:t>𝑖𝑛</m:t>
                        </m:r>
                      </m:sub>
                    </m:sSub>
                  </m:oMath>
                </a14:m>
                <a:r>
                  <a:rPr lang="en-US" sz="2400" dirty="0">
                    <a:solidFill>
                      <a:srgbClr val="C00000"/>
                    </a:solidFill>
                  </a:rPr>
                  <a:t> </a:t>
                </a:r>
                <a:r>
                  <a:rPr lang="en-US" sz="2400" dirty="0" err="1">
                    <a:solidFill>
                      <a:srgbClr val="C00000"/>
                    </a:solidFill>
                  </a:rPr>
                  <a:t>dan</a:t>
                </a:r>
                <a:r>
                  <a:rPr lang="en-US" sz="2400" dirty="0">
                    <a:solidFill>
                      <a:srgbClr val="C00000"/>
                    </a:solidFill>
                  </a:rPr>
                  <a:t> </a:t>
                </a:r>
                <a:r>
                  <a:rPr lang="en-US" sz="2400" dirty="0" err="1">
                    <a:solidFill>
                      <a:srgbClr val="C00000"/>
                    </a:solidFill>
                  </a:rPr>
                  <a:t>keluaran</a:t>
                </a:r>
                <a:r>
                  <a:rPr lang="en-US" sz="2400" dirty="0">
                    <a:solidFill>
                      <a:srgbClr val="C00000"/>
                    </a:solidFill>
                  </a:rPr>
                  <a:t> </a:t>
                </a:r>
                <a14:m>
                  <m:oMath xmlns:m="http://schemas.openxmlformats.org/officeDocument/2006/math">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𝑅</m:t>
                        </m:r>
                      </m:e>
                      <m:sub>
                        <m:r>
                          <a:rPr lang="en-US" sz="2400" i="1">
                            <a:solidFill>
                              <a:srgbClr val="C00000"/>
                            </a:solidFill>
                            <a:latin typeface="Cambria Math" panose="02040503050406030204" pitchFamily="18" charset="0"/>
                          </a:rPr>
                          <m:t>𝑂</m:t>
                        </m:r>
                      </m:sub>
                    </m:sSub>
                  </m:oMath>
                </a14:m>
                <a:r>
                  <a:rPr lang="en-US" sz="2400" dirty="0">
                    <a:solidFill>
                      <a:srgbClr val="C00000"/>
                    </a:solidFill>
                  </a:rPr>
                  <a:t> </a:t>
                </a:r>
                <a:r>
                  <a:rPr lang="en-US" sz="2400" dirty="0" err="1">
                    <a:solidFill>
                      <a:srgbClr val="C00000"/>
                    </a:solidFill>
                  </a:rPr>
                  <a:t>masing-masing</a:t>
                </a:r>
                <a:r>
                  <a:rPr lang="en-US" sz="2400" dirty="0">
                    <a:solidFill>
                      <a:srgbClr val="C00000"/>
                    </a:solidFill>
                  </a:rPr>
                  <a:t> </a:t>
                </a:r>
                <a:r>
                  <a:rPr lang="en-US" sz="2400" dirty="0" err="1">
                    <a:solidFill>
                      <a:srgbClr val="C00000"/>
                    </a:solidFill>
                  </a:rPr>
                  <a:t>bernilai</a:t>
                </a:r>
                <a:r>
                  <a:rPr lang="en-US" sz="2400" dirty="0">
                    <a:solidFill>
                      <a:srgbClr val="C00000"/>
                    </a:solidFill>
                  </a:rPr>
                  <a:t> </a:t>
                </a:r>
                <a:r>
                  <a:rPr lang="en-US" sz="2400" dirty="0" err="1">
                    <a:solidFill>
                      <a:srgbClr val="C00000"/>
                    </a:solidFill>
                  </a:rPr>
                  <a:t>tak</a:t>
                </a:r>
                <a:r>
                  <a:rPr lang="en-US" sz="2400" dirty="0">
                    <a:solidFill>
                      <a:srgbClr val="C00000"/>
                    </a:solidFill>
                  </a:rPr>
                  <a:t> </a:t>
                </a:r>
                <a:r>
                  <a:rPr lang="en-US" sz="2400" dirty="0" err="1">
                    <a:solidFill>
                      <a:srgbClr val="C00000"/>
                    </a:solidFill>
                  </a:rPr>
                  <a:t>terhingga</a:t>
                </a:r>
                <a:r>
                  <a:rPr lang="en-US" sz="2400" dirty="0">
                    <a:solidFill>
                      <a:srgbClr val="C00000"/>
                    </a:solidFill>
                  </a:rPr>
                  <a:t> </a:t>
                </a:r>
                <a:r>
                  <a:rPr lang="en-US" sz="2400" dirty="0" err="1">
                    <a:solidFill>
                      <a:srgbClr val="C00000"/>
                    </a:solidFill>
                  </a:rPr>
                  <a:t>dan</a:t>
                </a:r>
                <a:r>
                  <a:rPr lang="en-US" sz="2400" dirty="0">
                    <a:solidFill>
                      <a:srgbClr val="C00000"/>
                    </a:solidFill>
                  </a:rPr>
                  <a:t> </a:t>
                </a:r>
                <a:r>
                  <a:rPr lang="en-US" sz="2400" dirty="0" err="1">
                    <a:solidFill>
                      <a:srgbClr val="C00000"/>
                    </a:solidFill>
                  </a:rPr>
                  <a:t>nol</a:t>
                </a:r>
                <a:r>
                  <a:rPr lang="en-US" sz="2400" dirty="0">
                    <a:solidFill>
                      <a:srgbClr val="C00000"/>
                    </a:solidFill>
                  </a:rPr>
                  <a:t> </a:t>
                </a:r>
              </a:p>
              <a:p>
                <a:r>
                  <a:rPr lang="en-US" sz="2400" dirty="0">
                    <a:solidFill>
                      <a:srgbClr val="C00000"/>
                    </a:solidFill>
                  </a:rPr>
                  <a:t>(</a:t>
                </a:r>
                <a14:m>
                  <m:oMath xmlns:m="http://schemas.openxmlformats.org/officeDocument/2006/math">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𝑅</m:t>
                        </m:r>
                      </m:e>
                      <m:sub>
                        <m:r>
                          <a:rPr lang="en-US" sz="2400" i="1">
                            <a:solidFill>
                              <a:srgbClr val="C00000"/>
                            </a:solidFill>
                            <a:latin typeface="Cambria Math" panose="02040503050406030204" pitchFamily="18" charset="0"/>
                          </a:rPr>
                          <m:t>𝑖𝑛</m:t>
                        </m:r>
                      </m:sub>
                    </m:sSub>
                    <m:r>
                      <a:rPr lang="en-US" sz="2400" i="1">
                        <a:solidFill>
                          <a:srgbClr val="C00000"/>
                        </a:solidFill>
                        <a:latin typeface="Cambria Math" panose="02040503050406030204" pitchFamily="18" charset="0"/>
                      </a:rPr>
                      <m:t>=∞; </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𝑅</m:t>
                        </m:r>
                      </m:e>
                      <m:sub>
                        <m:r>
                          <a:rPr lang="en-US" sz="2400" i="1">
                            <a:solidFill>
                              <a:srgbClr val="C00000"/>
                            </a:solidFill>
                            <a:latin typeface="Cambria Math" panose="02040503050406030204" pitchFamily="18" charset="0"/>
                          </a:rPr>
                          <m:t>𝑜</m:t>
                        </m:r>
                      </m:sub>
                    </m:sSub>
                    <m:r>
                      <a:rPr lang="en-US" sz="2400" i="1">
                        <a:solidFill>
                          <a:srgbClr val="C00000"/>
                        </a:solidFill>
                        <a:latin typeface="Cambria Math" panose="02040503050406030204" pitchFamily="18" charset="0"/>
                      </a:rPr>
                      <m:t>=0)</m:t>
                    </m:r>
                  </m:oMath>
                </a14:m>
                <a:endParaRPr lang="en-US" sz="2400" dirty="0">
                  <a:solidFill>
                    <a:srgbClr val="C00000"/>
                  </a:solidFill>
                </a:endParaRPr>
              </a:p>
              <a:p>
                <a:pPr lvl="0"/>
                <a:r>
                  <a:rPr lang="en-US" sz="2400" dirty="0" err="1">
                    <a:solidFill>
                      <a:srgbClr val="C00000"/>
                    </a:solidFill>
                  </a:rPr>
                  <a:t>Memiliki</a:t>
                </a:r>
                <a:r>
                  <a:rPr lang="en-US" sz="2400" dirty="0">
                    <a:solidFill>
                      <a:srgbClr val="C00000"/>
                    </a:solidFill>
                  </a:rPr>
                  <a:t> </a:t>
                </a:r>
                <a:r>
                  <a:rPr lang="en-US" sz="2400" dirty="0" err="1">
                    <a:solidFill>
                      <a:srgbClr val="C00000"/>
                    </a:solidFill>
                  </a:rPr>
                  <a:t>lebar</a:t>
                </a:r>
                <a:r>
                  <a:rPr lang="en-US" sz="2400" dirty="0">
                    <a:solidFill>
                      <a:srgbClr val="C00000"/>
                    </a:solidFill>
                  </a:rPr>
                  <a:t> pita </a:t>
                </a:r>
                <a:r>
                  <a:rPr lang="en-US" sz="2400" dirty="0" err="1">
                    <a:solidFill>
                      <a:srgbClr val="C00000"/>
                    </a:solidFill>
                  </a:rPr>
                  <a:t>kerjanya</a:t>
                </a:r>
                <a:r>
                  <a:rPr lang="en-US" sz="2400" dirty="0">
                    <a:solidFill>
                      <a:srgbClr val="C00000"/>
                    </a:solidFill>
                  </a:rPr>
                  <a:t> (</a:t>
                </a:r>
                <a:r>
                  <a:rPr lang="en-US" sz="2400" i="1" dirty="0">
                    <a:solidFill>
                      <a:srgbClr val="C00000"/>
                    </a:solidFill>
                  </a:rPr>
                  <a:t>bandwidth</a:t>
                </a:r>
                <a:r>
                  <a:rPr lang="en-US" sz="2400" dirty="0">
                    <a:solidFill>
                      <a:srgbClr val="C00000"/>
                    </a:solidFill>
                  </a:rPr>
                  <a:t>) </a:t>
                </a:r>
                <a:r>
                  <a:rPr lang="en-US" sz="2400" dirty="0" err="1">
                    <a:solidFill>
                      <a:srgbClr val="C00000"/>
                    </a:solidFill>
                  </a:rPr>
                  <a:t>bernilai</a:t>
                </a:r>
                <a:r>
                  <a:rPr lang="en-US" sz="2400" dirty="0">
                    <a:solidFill>
                      <a:srgbClr val="C00000"/>
                    </a:solidFill>
                  </a:rPr>
                  <a:t> </a:t>
                </a:r>
                <a:r>
                  <a:rPr lang="en-US" sz="2400" dirty="0" err="1">
                    <a:solidFill>
                      <a:srgbClr val="C00000"/>
                    </a:solidFill>
                  </a:rPr>
                  <a:t>tak</a:t>
                </a:r>
                <a:r>
                  <a:rPr lang="en-US" sz="2400" dirty="0">
                    <a:solidFill>
                      <a:srgbClr val="C00000"/>
                    </a:solidFill>
                  </a:rPr>
                  <a:t> </a:t>
                </a:r>
                <a:r>
                  <a:rPr lang="en-US" sz="2400" dirty="0" err="1">
                    <a:solidFill>
                      <a:srgbClr val="C00000"/>
                    </a:solidFill>
                  </a:rPr>
                  <a:t>terhingga</a:t>
                </a:r>
                <a:r>
                  <a:rPr lang="en-US" sz="2400" dirty="0">
                    <a:solidFill>
                      <a:srgbClr val="C00000"/>
                    </a:solidFill>
                  </a:rPr>
                  <a:t> (</a:t>
                </a:r>
                <a14:m>
                  <m:oMath xmlns:m="http://schemas.openxmlformats.org/officeDocument/2006/math">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𝐵</m:t>
                        </m:r>
                      </m:e>
                      <m:sub>
                        <m:r>
                          <a:rPr lang="en-US" sz="2400" i="1">
                            <a:solidFill>
                              <a:srgbClr val="C00000"/>
                            </a:solidFill>
                            <a:latin typeface="Cambria Math" panose="02040503050406030204" pitchFamily="18" charset="0"/>
                          </a:rPr>
                          <m:t>𝑤</m:t>
                        </m:r>
                      </m:sub>
                    </m:sSub>
                    <m:r>
                      <a:rPr lang="en-US" sz="2400" i="1">
                        <a:solidFill>
                          <a:srgbClr val="C00000"/>
                        </a:solidFill>
                        <a:latin typeface="Cambria Math" panose="02040503050406030204" pitchFamily="18" charset="0"/>
                      </a:rPr>
                      <m:t>=∞)</m:t>
                    </m:r>
                  </m:oMath>
                </a14:m>
                <a:endParaRPr lang="en-US" sz="2400" dirty="0">
                  <a:solidFill>
                    <a:srgbClr val="C00000"/>
                  </a:solidFill>
                </a:endParaRPr>
              </a:p>
              <a:p>
                <a:pPr lvl="0"/>
                <a:r>
                  <a:rPr lang="en-US" sz="2400" dirty="0" err="1">
                    <a:solidFill>
                      <a:srgbClr val="C00000"/>
                    </a:solidFill>
                  </a:rPr>
                  <a:t>Nilai</a:t>
                </a:r>
                <a:r>
                  <a:rPr lang="en-US" sz="2400" dirty="0">
                    <a:solidFill>
                      <a:srgbClr val="C00000"/>
                    </a:solidFill>
                  </a:rPr>
                  <a:t> </a:t>
                </a:r>
                <a:r>
                  <a:rPr lang="en-US" sz="2400" i="1" dirty="0">
                    <a:solidFill>
                      <a:srgbClr val="0070C0"/>
                    </a:solidFill>
                  </a:rPr>
                  <a:t>Common Mode Ratio Rejection</a:t>
                </a:r>
                <a:r>
                  <a:rPr lang="en-US" sz="2400" dirty="0">
                    <a:solidFill>
                      <a:srgbClr val="0070C0"/>
                    </a:solidFill>
                  </a:rPr>
                  <a:t> </a:t>
                </a:r>
                <a:r>
                  <a:rPr lang="en-US" sz="2400" dirty="0" err="1">
                    <a:solidFill>
                      <a:srgbClr val="C00000"/>
                    </a:solidFill>
                  </a:rPr>
                  <a:t>bernilai</a:t>
                </a:r>
                <a:r>
                  <a:rPr lang="en-US" sz="2400" dirty="0">
                    <a:solidFill>
                      <a:srgbClr val="C00000"/>
                    </a:solidFill>
                  </a:rPr>
                  <a:t> </a:t>
                </a:r>
                <a:r>
                  <a:rPr lang="en-US" sz="2400" dirty="0" err="1">
                    <a:solidFill>
                      <a:srgbClr val="C00000"/>
                    </a:solidFill>
                  </a:rPr>
                  <a:t>tak</a:t>
                </a:r>
                <a:r>
                  <a:rPr lang="en-US" sz="2400" dirty="0">
                    <a:solidFill>
                      <a:srgbClr val="C00000"/>
                    </a:solidFill>
                  </a:rPr>
                  <a:t> </a:t>
                </a:r>
                <a:r>
                  <a:rPr lang="en-US" sz="2400" dirty="0" err="1">
                    <a:solidFill>
                      <a:srgbClr val="C00000"/>
                    </a:solidFill>
                  </a:rPr>
                  <a:t>terhingga</a:t>
                </a:r>
                <a:r>
                  <a:rPr lang="en-US" sz="2400" dirty="0">
                    <a:solidFill>
                      <a:srgbClr val="C00000"/>
                    </a:solidFill>
                  </a:rPr>
                  <a:t> </a:t>
                </a:r>
                <a14:m>
                  <m:oMath xmlns:m="http://schemas.openxmlformats.org/officeDocument/2006/math">
                    <m:r>
                      <a:rPr lang="en-US" sz="2400" i="1">
                        <a:solidFill>
                          <a:srgbClr val="C00000"/>
                        </a:solidFill>
                        <a:latin typeface="Cambria Math" panose="02040503050406030204" pitchFamily="18" charset="0"/>
                      </a:rPr>
                      <m:t>(</m:t>
                    </m:r>
                    <m:r>
                      <a:rPr lang="en-US" sz="2400" i="1" smtClean="0">
                        <a:solidFill>
                          <a:srgbClr val="0070C0"/>
                        </a:solidFill>
                        <a:latin typeface="Cambria Math" panose="02040503050406030204" pitchFamily="18" charset="0"/>
                      </a:rPr>
                      <m:t>𝐶𝑀𝑅𝑅</m:t>
                    </m:r>
                    <m:r>
                      <a:rPr lang="en-US" sz="2400" i="1" smtClean="0">
                        <a:solidFill>
                          <a:srgbClr val="0070C0"/>
                        </a:solidFill>
                        <a:latin typeface="Cambria Math" panose="02040503050406030204" pitchFamily="18" charset="0"/>
                      </a:rPr>
                      <m:t>=∞)</m:t>
                    </m:r>
                  </m:oMath>
                </a14:m>
                <a:endParaRPr lang="en-US" sz="2400" dirty="0">
                  <a:solidFill>
                    <a:srgbClr val="C00000"/>
                  </a:solidFill>
                </a:endParaRPr>
              </a:p>
              <a:p>
                <a:pPr>
                  <a:buFont typeface="Wingdings" panose="05000000000000000000" pitchFamily="2" charset="2"/>
                  <a:buChar char="§"/>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34715" y="2634916"/>
                <a:ext cx="11057021" cy="3593591"/>
              </a:xfrm>
              <a:blipFill rotWithShape="0">
                <a:blip r:embed="rId2"/>
                <a:stretch>
                  <a:fillRect l="-772" t="-1017"/>
                </a:stretch>
              </a:blipFill>
            </p:spPr>
            <p:txBody>
              <a:bodyPr/>
              <a:lstStyle/>
              <a:p>
                <a:r>
                  <a:rPr lang="en-US">
                    <a:noFill/>
                  </a:rPr>
                  <a:t> </a:t>
                </a:r>
              </a:p>
            </p:txBody>
          </p:sp>
        </mc:Fallback>
      </mc:AlternateContent>
    </p:spTree>
    <p:extLst>
      <p:ext uri="{BB962C8B-B14F-4D97-AF65-F5344CB8AC3E}">
        <p14:creationId xmlns:p14="http://schemas.microsoft.com/office/powerpoint/2010/main" val="25901186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96710"/>
          </a:xfrm>
        </p:spPr>
        <p:txBody>
          <a:bodyPr>
            <a:normAutofit/>
          </a:bodyPr>
          <a:lstStyle/>
          <a:p>
            <a:r>
              <a:rPr lang="en-US" sz="3600" dirty="0" err="1" smtClean="0"/>
              <a:t>CmRr</a:t>
            </a:r>
            <a:r>
              <a:rPr lang="en-US" sz="3600" dirty="0" smtClean="0"/>
              <a:t> (</a:t>
            </a:r>
            <a:r>
              <a:rPr lang="en-US" sz="3600" i="1" dirty="0"/>
              <a:t>Common Mode Ratio Rejection</a:t>
            </a:r>
            <a:r>
              <a:rPr lang="en-US" sz="3600" dirty="0"/>
              <a:t> </a:t>
            </a:r>
            <a:r>
              <a:rPr lang="en-US" sz="3600" dirty="0" smtClean="0"/>
              <a:t>)</a:t>
            </a:r>
            <a:endParaRPr lang="en-US" sz="3600" dirty="0"/>
          </a:p>
        </p:txBody>
      </p:sp>
      <p:sp>
        <p:nvSpPr>
          <p:cNvPr id="3" name="Content Placeholder 2"/>
          <p:cNvSpPr>
            <a:spLocks noGrp="1"/>
          </p:cNvSpPr>
          <p:nvPr>
            <p:ph idx="1"/>
          </p:nvPr>
        </p:nvSpPr>
        <p:spPr>
          <a:xfrm>
            <a:off x="1251678" y="1612233"/>
            <a:ext cx="10178322" cy="4267360"/>
          </a:xfrm>
        </p:spPr>
        <p:txBody>
          <a:bodyPr>
            <a:normAutofit lnSpcReduction="10000"/>
          </a:bodyPr>
          <a:lstStyle/>
          <a:p>
            <a:pPr>
              <a:buFont typeface="Wingdings" panose="05000000000000000000" pitchFamily="2" charset="2"/>
              <a:buChar char="v"/>
            </a:pPr>
            <a:r>
              <a:rPr lang="en-US" dirty="0"/>
              <a:t> </a:t>
            </a:r>
            <a:r>
              <a:rPr lang="en-US" dirty="0" err="1">
                <a:solidFill>
                  <a:schemeClr val="tx1"/>
                </a:solidFill>
              </a:rPr>
              <a:t>Faktor</a:t>
            </a:r>
            <a:r>
              <a:rPr lang="en-US" dirty="0">
                <a:solidFill>
                  <a:schemeClr val="tx1"/>
                </a:solidFill>
              </a:rPr>
              <a:t> </a:t>
            </a:r>
            <a:r>
              <a:rPr lang="en-US" dirty="0" err="1">
                <a:solidFill>
                  <a:schemeClr val="tx1"/>
                </a:solidFill>
              </a:rPr>
              <a:t>penguatan</a:t>
            </a:r>
            <a:r>
              <a:rPr lang="en-US" dirty="0">
                <a:solidFill>
                  <a:schemeClr val="tx1"/>
                </a:solidFill>
              </a:rPr>
              <a:t> </a:t>
            </a:r>
            <a:r>
              <a:rPr lang="en-US" dirty="0" err="1">
                <a:solidFill>
                  <a:schemeClr val="tx1"/>
                </a:solidFill>
              </a:rPr>
              <a:t>pada</a:t>
            </a:r>
            <a:r>
              <a:rPr lang="en-US" dirty="0">
                <a:solidFill>
                  <a:schemeClr val="tx1"/>
                </a:solidFill>
              </a:rPr>
              <a:t> </a:t>
            </a:r>
            <a:r>
              <a:rPr lang="en-US" dirty="0" err="1">
                <a:solidFill>
                  <a:schemeClr val="tx1"/>
                </a:solidFill>
              </a:rPr>
              <a:t>komponen</a:t>
            </a:r>
            <a:r>
              <a:rPr lang="en-US" dirty="0">
                <a:solidFill>
                  <a:schemeClr val="tx1"/>
                </a:solidFill>
              </a:rPr>
              <a:t> </a:t>
            </a:r>
            <a:r>
              <a:rPr lang="en-US" dirty="0" err="1">
                <a:solidFill>
                  <a:schemeClr val="tx1"/>
                </a:solidFill>
              </a:rPr>
              <a:t>penguat</a:t>
            </a:r>
            <a:r>
              <a:rPr lang="en-US" dirty="0">
                <a:solidFill>
                  <a:schemeClr val="tx1"/>
                </a:solidFill>
              </a:rPr>
              <a:t> operational </a:t>
            </a:r>
            <a:r>
              <a:rPr lang="en-US" dirty="0" err="1">
                <a:solidFill>
                  <a:schemeClr val="tx1"/>
                </a:solidFill>
              </a:rPr>
              <a:t>merupakan</a:t>
            </a:r>
            <a:r>
              <a:rPr lang="en-US" dirty="0">
                <a:solidFill>
                  <a:schemeClr val="tx1"/>
                </a:solidFill>
              </a:rPr>
              <a:t> </a:t>
            </a:r>
            <a:r>
              <a:rPr lang="en-US" dirty="0" err="1">
                <a:solidFill>
                  <a:schemeClr val="tx1"/>
                </a:solidFill>
              </a:rPr>
              <a:t>faktor</a:t>
            </a:r>
            <a:r>
              <a:rPr lang="en-US" dirty="0">
                <a:solidFill>
                  <a:schemeClr val="tx1"/>
                </a:solidFill>
              </a:rPr>
              <a:t> </a:t>
            </a:r>
            <a:r>
              <a:rPr lang="en-US" dirty="0" err="1">
                <a:solidFill>
                  <a:schemeClr val="tx1"/>
                </a:solidFill>
              </a:rPr>
              <a:t>menentukan</a:t>
            </a:r>
            <a:r>
              <a:rPr lang="en-US" dirty="0">
                <a:solidFill>
                  <a:schemeClr val="tx1"/>
                </a:solidFill>
              </a:rPr>
              <a:t> </a:t>
            </a:r>
            <a:r>
              <a:rPr lang="en-US" dirty="0" err="1">
                <a:solidFill>
                  <a:schemeClr val="tx1"/>
                </a:solidFill>
              </a:rPr>
              <a:t>kualitas</a:t>
            </a:r>
            <a:r>
              <a:rPr lang="en-US" dirty="0">
                <a:solidFill>
                  <a:schemeClr val="tx1"/>
                </a:solidFill>
              </a:rPr>
              <a:t> </a:t>
            </a:r>
            <a:r>
              <a:rPr lang="en-US" dirty="0" err="1">
                <a:solidFill>
                  <a:schemeClr val="tx1"/>
                </a:solidFill>
              </a:rPr>
              <a:t>kerja</a:t>
            </a:r>
            <a:r>
              <a:rPr lang="en-US" dirty="0">
                <a:solidFill>
                  <a:schemeClr val="tx1"/>
                </a:solidFill>
              </a:rPr>
              <a:t> </a:t>
            </a:r>
            <a:r>
              <a:rPr lang="en-US" dirty="0" err="1">
                <a:solidFill>
                  <a:schemeClr val="tx1"/>
                </a:solidFill>
              </a:rPr>
              <a:t>sebuah</a:t>
            </a:r>
            <a:r>
              <a:rPr lang="en-US" dirty="0">
                <a:solidFill>
                  <a:schemeClr val="tx1"/>
                </a:solidFill>
              </a:rPr>
              <a:t> op-amp </a:t>
            </a:r>
            <a:r>
              <a:rPr lang="en-US" dirty="0" smtClean="0">
                <a:solidFill>
                  <a:schemeClr val="tx1"/>
                </a:solidFill>
              </a:rPr>
              <a:t>yang </a:t>
            </a:r>
            <a:r>
              <a:rPr lang="en-US" dirty="0" err="1" smtClean="0">
                <a:solidFill>
                  <a:schemeClr val="tx1"/>
                </a:solidFill>
              </a:rPr>
              <a:t>dinyatakan</a:t>
            </a:r>
            <a:r>
              <a:rPr lang="en-US" dirty="0" smtClean="0">
                <a:solidFill>
                  <a:schemeClr val="tx1"/>
                </a:solidFill>
              </a:rPr>
              <a:t> </a:t>
            </a:r>
            <a:r>
              <a:rPr lang="en-US" dirty="0" err="1">
                <a:solidFill>
                  <a:schemeClr val="tx1"/>
                </a:solidFill>
              </a:rPr>
              <a:t>oleh</a:t>
            </a:r>
            <a:r>
              <a:rPr lang="en-US" dirty="0">
                <a:solidFill>
                  <a:schemeClr val="tx1"/>
                </a:solidFill>
              </a:rPr>
              <a:t> </a:t>
            </a:r>
            <a:r>
              <a:rPr lang="en-US" b="1" dirty="0">
                <a:solidFill>
                  <a:srgbClr val="0070C0"/>
                </a:solidFill>
              </a:rPr>
              <a:t>parameter </a:t>
            </a:r>
            <a:r>
              <a:rPr lang="en-US" b="1" dirty="0" smtClean="0">
                <a:solidFill>
                  <a:srgbClr val="0070C0"/>
                </a:solidFill>
              </a:rPr>
              <a:t>CMRR.</a:t>
            </a:r>
          </a:p>
          <a:p>
            <a:pPr>
              <a:buFont typeface="Wingdings" panose="05000000000000000000" pitchFamily="2" charset="2"/>
              <a:buChar char="v"/>
            </a:pPr>
            <a:r>
              <a:rPr lang="en-US" dirty="0"/>
              <a:t> </a:t>
            </a:r>
            <a:r>
              <a:rPr lang="en-US" b="1" dirty="0" err="1" smtClean="0">
                <a:solidFill>
                  <a:srgbClr val="00B050"/>
                </a:solidFill>
              </a:rPr>
              <a:t>Penguatan</a:t>
            </a:r>
            <a:r>
              <a:rPr lang="en-US" b="1" dirty="0" smtClean="0">
                <a:solidFill>
                  <a:srgbClr val="00B050"/>
                </a:solidFill>
              </a:rPr>
              <a:t> </a:t>
            </a:r>
            <a:r>
              <a:rPr lang="en-US" b="1" dirty="0">
                <a:solidFill>
                  <a:srgbClr val="00B050"/>
                </a:solidFill>
              </a:rPr>
              <a:t>yang </a:t>
            </a:r>
            <a:r>
              <a:rPr lang="en-US" b="1" dirty="0" err="1">
                <a:solidFill>
                  <a:srgbClr val="00B050"/>
                </a:solidFill>
              </a:rPr>
              <a:t>baik</a:t>
            </a:r>
            <a:r>
              <a:rPr lang="en-US" b="1" dirty="0">
                <a:solidFill>
                  <a:srgbClr val="00B050"/>
                </a:solidFill>
              </a:rPr>
              <a:t> </a:t>
            </a:r>
            <a:r>
              <a:rPr lang="en-US" b="1" dirty="0" err="1">
                <a:solidFill>
                  <a:srgbClr val="00B050"/>
                </a:solidFill>
              </a:rPr>
              <a:t>harus</a:t>
            </a:r>
            <a:r>
              <a:rPr lang="en-US" b="1" dirty="0">
                <a:solidFill>
                  <a:srgbClr val="00B050"/>
                </a:solidFill>
              </a:rPr>
              <a:t> </a:t>
            </a:r>
            <a:r>
              <a:rPr lang="en-US" b="1" dirty="0" err="1" smtClean="0">
                <a:solidFill>
                  <a:srgbClr val="00B050"/>
                </a:solidFill>
              </a:rPr>
              <a:t>mempunyai</a:t>
            </a:r>
            <a:r>
              <a:rPr lang="en-US" b="1" dirty="0" smtClean="0">
                <a:solidFill>
                  <a:srgbClr val="00B050"/>
                </a:solidFill>
              </a:rPr>
              <a:t> </a:t>
            </a:r>
            <a:r>
              <a:rPr lang="en-US" b="1" dirty="0" err="1">
                <a:solidFill>
                  <a:srgbClr val="00B050"/>
                </a:solidFill>
              </a:rPr>
              <a:t>nilai</a:t>
            </a:r>
            <a:r>
              <a:rPr lang="en-US" b="1" dirty="0">
                <a:solidFill>
                  <a:srgbClr val="00B050"/>
                </a:solidFill>
              </a:rPr>
              <a:t> CMRR yang </a:t>
            </a:r>
            <a:r>
              <a:rPr lang="en-US" b="1" dirty="0" err="1" smtClean="0">
                <a:solidFill>
                  <a:srgbClr val="00B050"/>
                </a:solidFill>
              </a:rPr>
              <a:t>besar</a:t>
            </a:r>
            <a:r>
              <a:rPr lang="en-US" dirty="0" smtClean="0">
                <a:solidFill>
                  <a:schemeClr val="tx1"/>
                </a:solidFill>
              </a:rPr>
              <a:t>.</a:t>
            </a:r>
          </a:p>
          <a:p>
            <a:pPr>
              <a:buFont typeface="Wingdings" panose="05000000000000000000" pitchFamily="2" charset="2"/>
              <a:buChar char="v"/>
            </a:pPr>
            <a:r>
              <a:rPr lang="en-US" dirty="0">
                <a:solidFill>
                  <a:schemeClr val="tx1"/>
                </a:solidFill>
              </a:rPr>
              <a:t> </a:t>
            </a:r>
            <a:r>
              <a:rPr lang="en-US" dirty="0" err="1">
                <a:solidFill>
                  <a:schemeClr val="tx1"/>
                </a:solidFill>
              </a:rPr>
              <a:t>Jadi</a:t>
            </a:r>
            <a:r>
              <a:rPr lang="en-US" dirty="0">
                <a:solidFill>
                  <a:schemeClr val="tx1"/>
                </a:solidFill>
              </a:rPr>
              <a:t> CMRR </a:t>
            </a:r>
            <a:r>
              <a:rPr lang="en-US" dirty="0" err="1">
                <a:solidFill>
                  <a:schemeClr val="tx1"/>
                </a:solidFill>
              </a:rPr>
              <a:t>diperoleh</a:t>
            </a:r>
            <a:r>
              <a:rPr lang="en-US" dirty="0">
                <a:solidFill>
                  <a:schemeClr val="tx1"/>
                </a:solidFill>
              </a:rPr>
              <a:t> </a:t>
            </a:r>
            <a:r>
              <a:rPr lang="en-US" dirty="0" err="1">
                <a:solidFill>
                  <a:schemeClr val="tx1"/>
                </a:solidFill>
              </a:rPr>
              <a:t>dari</a:t>
            </a:r>
            <a:r>
              <a:rPr lang="en-US" dirty="0">
                <a:solidFill>
                  <a:schemeClr val="tx1"/>
                </a:solidFill>
              </a:rPr>
              <a:t> </a:t>
            </a:r>
            <a:r>
              <a:rPr lang="en-US" dirty="0" err="1">
                <a:solidFill>
                  <a:schemeClr val="tx1"/>
                </a:solidFill>
              </a:rPr>
              <a:t>nilai</a:t>
            </a:r>
            <a:r>
              <a:rPr lang="en-US" dirty="0">
                <a:solidFill>
                  <a:schemeClr val="tx1"/>
                </a:solidFill>
              </a:rPr>
              <a:t> </a:t>
            </a:r>
            <a:r>
              <a:rPr lang="en-US" dirty="0" err="1">
                <a:solidFill>
                  <a:schemeClr val="tx1"/>
                </a:solidFill>
              </a:rPr>
              <a:t>hasil</a:t>
            </a:r>
            <a:r>
              <a:rPr lang="en-US" dirty="0">
                <a:solidFill>
                  <a:schemeClr val="tx1"/>
                </a:solidFill>
              </a:rPr>
              <a:t> </a:t>
            </a:r>
            <a:r>
              <a:rPr lang="en-US" dirty="0" err="1">
                <a:solidFill>
                  <a:schemeClr val="tx1"/>
                </a:solidFill>
              </a:rPr>
              <a:t>perbandingan</a:t>
            </a:r>
            <a:r>
              <a:rPr lang="en-US" dirty="0">
                <a:solidFill>
                  <a:schemeClr val="tx1"/>
                </a:solidFill>
              </a:rPr>
              <a:t> </a:t>
            </a:r>
            <a:r>
              <a:rPr lang="en-US" dirty="0" err="1">
                <a:solidFill>
                  <a:schemeClr val="tx1"/>
                </a:solidFill>
              </a:rPr>
              <a:t>antara</a:t>
            </a:r>
            <a:r>
              <a:rPr lang="en-US" dirty="0">
                <a:solidFill>
                  <a:schemeClr val="tx1"/>
                </a:solidFill>
              </a:rPr>
              <a:t> </a:t>
            </a:r>
            <a:r>
              <a:rPr lang="en-US" dirty="0" err="1">
                <a:solidFill>
                  <a:schemeClr val="tx1"/>
                </a:solidFill>
              </a:rPr>
              <a:t>penguatan</a:t>
            </a:r>
            <a:r>
              <a:rPr lang="en-US" dirty="0">
                <a:solidFill>
                  <a:schemeClr val="tx1"/>
                </a:solidFill>
              </a:rPr>
              <a:t> </a:t>
            </a:r>
            <a:r>
              <a:rPr lang="en-US" dirty="0" err="1">
                <a:solidFill>
                  <a:schemeClr val="tx1"/>
                </a:solidFill>
              </a:rPr>
              <a:t>diferensial</a:t>
            </a:r>
            <a:r>
              <a:rPr lang="en-US" dirty="0">
                <a:solidFill>
                  <a:schemeClr val="tx1"/>
                </a:solidFill>
              </a:rPr>
              <a:t> </a:t>
            </a:r>
            <a:r>
              <a:rPr lang="en-US" dirty="0" err="1">
                <a:solidFill>
                  <a:schemeClr val="tx1"/>
                </a:solidFill>
              </a:rPr>
              <a:t>terhadap</a:t>
            </a:r>
            <a:r>
              <a:rPr lang="en-US" dirty="0">
                <a:solidFill>
                  <a:schemeClr val="tx1"/>
                </a:solidFill>
              </a:rPr>
              <a:t> </a:t>
            </a:r>
            <a:r>
              <a:rPr lang="en-US" dirty="0" err="1">
                <a:solidFill>
                  <a:schemeClr val="tx1"/>
                </a:solidFill>
              </a:rPr>
              <a:t>penguatan</a:t>
            </a:r>
            <a:r>
              <a:rPr lang="en-US" dirty="0">
                <a:solidFill>
                  <a:schemeClr val="tx1"/>
                </a:solidFill>
              </a:rPr>
              <a:t> mode </a:t>
            </a:r>
            <a:r>
              <a:rPr lang="en-US" dirty="0" err="1">
                <a:solidFill>
                  <a:schemeClr val="tx1"/>
                </a:solidFill>
              </a:rPr>
              <a:t>bersama</a:t>
            </a:r>
            <a:r>
              <a:rPr lang="en-US" dirty="0">
                <a:solidFill>
                  <a:schemeClr val="tx1"/>
                </a:solidFill>
              </a:rPr>
              <a:t> yang </a:t>
            </a:r>
            <a:r>
              <a:rPr lang="en-US" dirty="0" err="1">
                <a:solidFill>
                  <a:schemeClr val="tx1"/>
                </a:solidFill>
              </a:rPr>
              <a:t>secara</a:t>
            </a:r>
            <a:r>
              <a:rPr lang="en-US" dirty="0">
                <a:solidFill>
                  <a:schemeClr val="tx1"/>
                </a:solidFill>
              </a:rPr>
              <a:t> </a:t>
            </a:r>
            <a:r>
              <a:rPr lang="en-US" dirty="0" err="1">
                <a:solidFill>
                  <a:schemeClr val="tx1"/>
                </a:solidFill>
              </a:rPr>
              <a:t>matematis</a:t>
            </a:r>
            <a:r>
              <a:rPr lang="en-US" dirty="0">
                <a:solidFill>
                  <a:schemeClr val="tx1"/>
                </a:solidFill>
              </a:rPr>
              <a:t> </a:t>
            </a:r>
            <a:r>
              <a:rPr lang="en-US" dirty="0" err="1">
                <a:solidFill>
                  <a:schemeClr val="tx1"/>
                </a:solidFill>
              </a:rPr>
              <a:t>dinyatakan</a:t>
            </a:r>
            <a:r>
              <a:rPr lang="en-US" dirty="0">
                <a:solidFill>
                  <a:schemeClr val="tx1"/>
                </a:solidFill>
              </a:rPr>
              <a:t> </a:t>
            </a:r>
            <a:r>
              <a:rPr lang="en-US" dirty="0" err="1">
                <a:solidFill>
                  <a:schemeClr val="tx1"/>
                </a:solidFill>
              </a:rPr>
              <a:t>sebesar</a:t>
            </a:r>
            <a:r>
              <a:rPr lang="en-US" dirty="0" smtClean="0">
                <a:solidFill>
                  <a:schemeClr val="tx1"/>
                </a:solidFill>
              </a:rPr>
              <a:t>:</a:t>
            </a:r>
          </a:p>
          <a:p>
            <a:pPr>
              <a:buFont typeface="Wingdings" panose="05000000000000000000" pitchFamily="2" charset="2"/>
              <a:buChar char="v"/>
            </a:pPr>
            <a:endParaRPr lang="en-US" dirty="0"/>
          </a:p>
          <a:p>
            <a:pPr>
              <a:buFont typeface="Wingdings" panose="05000000000000000000" pitchFamily="2" charset="2"/>
              <a:buChar char="v"/>
            </a:pPr>
            <a:endParaRPr lang="en-US" dirty="0" smtClean="0"/>
          </a:p>
          <a:p>
            <a:pPr>
              <a:buFont typeface="Wingdings" panose="05000000000000000000" pitchFamily="2" charset="2"/>
              <a:buChar char="v"/>
            </a:pPr>
            <a:r>
              <a:rPr lang="en-US" dirty="0" smtClean="0"/>
              <a:t> </a:t>
            </a:r>
            <a:r>
              <a:rPr lang="en-US" dirty="0" err="1" smtClean="0">
                <a:solidFill>
                  <a:schemeClr val="tx1"/>
                </a:solidFill>
              </a:rPr>
              <a:t>dalam</a:t>
            </a:r>
            <a:r>
              <a:rPr lang="en-US" dirty="0" smtClean="0">
                <a:solidFill>
                  <a:schemeClr val="tx1"/>
                </a:solidFill>
              </a:rPr>
              <a:t> </a:t>
            </a:r>
            <a:r>
              <a:rPr lang="en-US" dirty="0" err="1" smtClean="0">
                <a:solidFill>
                  <a:schemeClr val="tx1"/>
                </a:solidFill>
              </a:rPr>
              <a:t>logaritmik</a:t>
            </a:r>
            <a:r>
              <a:rPr lang="en-US" dirty="0" smtClean="0">
                <a:solidFill>
                  <a:schemeClr val="tx1"/>
                </a:solidFill>
              </a:rPr>
              <a:t> :</a:t>
            </a:r>
            <a:endParaRPr lang="en-US" dirty="0">
              <a:solidFill>
                <a:schemeClr val="tx1"/>
              </a:solidFill>
            </a:endParaRPr>
          </a:p>
          <a:p>
            <a:pPr>
              <a:buFont typeface="Wingdings" panose="05000000000000000000" pitchFamily="2" charset="2"/>
              <a:buChar char="v"/>
            </a:pPr>
            <a:endParaRPr lang="en-US" dirty="0"/>
          </a:p>
          <a:p>
            <a:pPr marL="0" indent="0">
              <a:buNone/>
            </a:pPr>
            <a:endParaRPr lang="en-US" dirty="0">
              <a:solidFill>
                <a:schemeClr val="tx1"/>
              </a:solidFill>
            </a:endParaRPr>
          </a:p>
        </p:txBody>
      </p:sp>
      <mc:AlternateContent xmlns:mc="http://schemas.openxmlformats.org/markup-compatibility/2006" xmlns:a14="http://schemas.microsoft.com/office/drawing/2010/main">
        <mc:Choice Requires="a14">
          <p:sp>
            <p:nvSpPr>
              <p:cNvPr id="4" name="Rectangle 3"/>
              <p:cNvSpPr/>
              <p:nvPr/>
            </p:nvSpPr>
            <p:spPr>
              <a:xfrm>
                <a:off x="3684072" y="3742706"/>
                <a:ext cx="1455014" cy="659540"/>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𝐶𝑀𝑅𝑅</m:t>
                      </m:r>
                      <m:r>
                        <a:rPr lang="en-US" i="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𝑑</m:t>
                              </m:r>
                            </m:sub>
                          </m:sSub>
                        </m:num>
                        <m:den>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𝑐</m:t>
                              </m:r>
                            </m:sub>
                          </m:sSub>
                        </m:den>
                      </m:f>
                    </m:oMath>
                  </m:oMathPara>
                </a14:m>
                <a:endParaRPr lang="en-US" dirty="0"/>
              </a:p>
            </p:txBody>
          </p:sp>
        </mc:Choice>
        <mc:Fallback xmlns="">
          <p:sp>
            <p:nvSpPr>
              <p:cNvPr id="4" name="Rectangle 3"/>
              <p:cNvSpPr>
                <a:spLocks noRot="1" noChangeAspect="1" noMove="1" noResize="1" noEditPoints="1" noAdjustHandles="1" noChangeArrowheads="1" noChangeShapeType="1" noTextEdit="1"/>
              </p:cNvSpPr>
              <p:nvPr/>
            </p:nvSpPr>
            <p:spPr>
              <a:xfrm>
                <a:off x="3684072" y="3742706"/>
                <a:ext cx="1455014" cy="659540"/>
              </a:xfrm>
              <a:prstGeom prst="rect">
                <a:avLst/>
              </a:prstGeom>
              <a:blipFill rotWithShape="0">
                <a:blip r:embed="rId2"/>
                <a:stretch>
                  <a:fillRect/>
                </a:stretch>
              </a:blipFill>
              <a:ln>
                <a:solidFill>
                  <a:srgbClr val="C0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3684072" y="5220053"/>
                <a:ext cx="2329805" cy="659540"/>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𝐶𝑀𝑅𝑅</m:t>
                      </m:r>
                      <m:r>
                        <a:rPr lang="en-US" i="0">
                          <a:latin typeface="Cambria Math" panose="02040503050406030204" pitchFamily="18" charset="0"/>
                        </a:rPr>
                        <m:t>=20</m:t>
                      </m:r>
                      <m:sSub>
                        <m:sSubPr>
                          <m:ctrlPr>
                            <a:rPr lang="en-US" i="1">
                              <a:latin typeface="Cambria Math" panose="02040503050406030204" pitchFamily="18" charset="0"/>
                            </a:rPr>
                          </m:ctrlPr>
                        </m:sSubPr>
                        <m:e>
                          <m:r>
                            <a:rPr lang="en-US" i="0">
                              <a:latin typeface="Cambria Math" panose="02040503050406030204" pitchFamily="18" charset="0"/>
                            </a:rPr>
                            <m:t> </m:t>
                          </m:r>
                          <m:r>
                            <a:rPr lang="en-US" i="1">
                              <a:latin typeface="Cambria Math" panose="02040503050406030204" pitchFamily="18" charset="0"/>
                            </a:rPr>
                            <m:t>𝑙𝑜𝑔</m:t>
                          </m:r>
                        </m:e>
                        <m:sub>
                          <m:r>
                            <a:rPr lang="en-US" i="0">
                              <a:latin typeface="Cambria Math" panose="02040503050406030204" pitchFamily="18" charset="0"/>
                            </a:rPr>
                            <m:t>10</m:t>
                          </m:r>
                        </m:sub>
                      </m:sSub>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𝑑</m:t>
                              </m:r>
                            </m:sub>
                          </m:sSub>
                        </m:num>
                        <m:den>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𝑐</m:t>
                              </m:r>
                            </m:sub>
                          </m:sSub>
                        </m:den>
                      </m:f>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3684072" y="5220053"/>
                <a:ext cx="2329805" cy="659540"/>
              </a:xfrm>
              <a:prstGeom prst="rect">
                <a:avLst/>
              </a:prstGeom>
              <a:blipFill rotWithShape="0">
                <a:blip r:embed="rId3"/>
                <a:stretch>
                  <a:fillRect/>
                </a:stretch>
              </a:blipFill>
              <a:ln>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6293210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err="1" smtClean="0"/>
              <a:t>Analisis</a:t>
            </a:r>
            <a:r>
              <a:rPr lang="en-US" sz="4400" dirty="0" smtClean="0"/>
              <a:t> </a:t>
            </a:r>
            <a:r>
              <a:rPr lang="en-US" sz="4400" dirty="0" err="1" smtClean="0"/>
              <a:t>umpan</a:t>
            </a:r>
            <a:r>
              <a:rPr lang="en-US" sz="4400" dirty="0" smtClean="0"/>
              <a:t> </a:t>
            </a:r>
            <a:r>
              <a:rPr lang="en-US" sz="4400" dirty="0" err="1" smtClean="0"/>
              <a:t>balik</a:t>
            </a:r>
            <a:r>
              <a:rPr lang="en-US" sz="4400" dirty="0" smtClean="0"/>
              <a:t> op-amp</a:t>
            </a:r>
            <a:endParaRPr lang="en-US" sz="4400" dirty="0"/>
          </a:p>
        </p:txBody>
      </p:sp>
      <p:sp>
        <p:nvSpPr>
          <p:cNvPr id="3" name="Content Placeholder 2"/>
          <p:cNvSpPr>
            <a:spLocks noGrp="1"/>
          </p:cNvSpPr>
          <p:nvPr>
            <p:ph idx="1"/>
          </p:nvPr>
        </p:nvSpPr>
        <p:spPr>
          <a:xfrm>
            <a:off x="1251678" y="1874517"/>
            <a:ext cx="10178322" cy="4102767"/>
          </a:xfrm>
        </p:spPr>
        <p:txBody>
          <a:bodyPr>
            <a:normAutofit fontScale="92500" lnSpcReduction="20000"/>
          </a:bodyPr>
          <a:lstStyle/>
          <a:p>
            <a:pPr>
              <a:buFont typeface="Wingdings" panose="05000000000000000000" pitchFamily="2" charset="2"/>
              <a:buChar char="§"/>
            </a:pPr>
            <a:r>
              <a:rPr lang="en-US" dirty="0" err="1" smtClean="0">
                <a:solidFill>
                  <a:schemeClr val="tx1"/>
                </a:solidFill>
              </a:rPr>
              <a:t>Lahirnya</a:t>
            </a:r>
            <a:r>
              <a:rPr lang="en-US" dirty="0" smtClean="0">
                <a:solidFill>
                  <a:schemeClr val="tx1"/>
                </a:solidFill>
              </a:rPr>
              <a:t> </a:t>
            </a:r>
            <a:r>
              <a:rPr lang="en-US" dirty="0" err="1">
                <a:solidFill>
                  <a:schemeClr val="tx1"/>
                </a:solidFill>
              </a:rPr>
              <a:t>konsep</a:t>
            </a:r>
            <a:r>
              <a:rPr lang="en-US" dirty="0">
                <a:solidFill>
                  <a:schemeClr val="tx1"/>
                </a:solidFill>
              </a:rPr>
              <a:t> </a:t>
            </a:r>
            <a:r>
              <a:rPr lang="en-US" dirty="0" err="1">
                <a:solidFill>
                  <a:schemeClr val="tx1"/>
                </a:solidFill>
              </a:rPr>
              <a:t>umpan</a:t>
            </a:r>
            <a:r>
              <a:rPr lang="en-US" dirty="0">
                <a:solidFill>
                  <a:schemeClr val="tx1"/>
                </a:solidFill>
              </a:rPr>
              <a:t> </a:t>
            </a:r>
            <a:r>
              <a:rPr lang="en-US" dirty="0" err="1">
                <a:solidFill>
                  <a:schemeClr val="tx1"/>
                </a:solidFill>
              </a:rPr>
              <a:t>balik</a:t>
            </a:r>
            <a:r>
              <a:rPr lang="en-US" dirty="0">
                <a:solidFill>
                  <a:schemeClr val="tx1"/>
                </a:solidFill>
              </a:rPr>
              <a:t> (</a:t>
            </a:r>
            <a:r>
              <a:rPr lang="en-US" i="1" dirty="0">
                <a:solidFill>
                  <a:schemeClr val="tx1"/>
                </a:solidFill>
              </a:rPr>
              <a:t>feedback</a:t>
            </a:r>
            <a:r>
              <a:rPr lang="en-US" dirty="0">
                <a:solidFill>
                  <a:schemeClr val="tx1"/>
                </a:solidFill>
              </a:rPr>
              <a:t>) </a:t>
            </a:r>
            <a:r>
              <a:rPr lang="en-US" dirty="0" err="1">
                <a:solidFill>
                  <a:schemeClr val="tx1"/>
                </a:solidFill>
              </a:rPr>
              <a:t>pada</a:t>
            </a:r>
            <a:r>
              <a:rPr lang="en-US" dirty="0">
                <a:solidFill>
                  <a:schemeClr val="tx1"/>
                </a:solidFill>
              </a:rPr>
              <a:t> </a:t>
            </a:r>
            <a:r>
              <a:rPr lang="en-US" dirty="0" smtClean="0">
                <a:solidFill>
                  <a:schemeClr val="tx1"/>
                </a:solidFill>
              </a:rPr>
              <a:t>op-amp </a:t>
            </a:r>
            <a:r>
              <a:rPr lang="en-US" dirty="0" err="1" smtClean="0">
                <a:solidFill>
                  <a:schemeClr val="tx1"/>
                </a:solidFill>
              </a:rPr>
              <a:t>disebabkan</a:t>
            </a:r>
            <a:r>
              <a:rPr lang="en-US" dirty="0" smtClean="0">
                <a:solidFill>
                  <a:schemeClr val="tx1"/>
                </a:solidFill>
              </a:rPr>
              <a:t> </a:t>
            </a:r>
            <a:r>
              <a:rPr lang="en-US" dirty="0" err="1">
                <a:solidFill>
                  <a:srgbClr val="0070C0"/>
                </a:solidFill>
              </a:rPr>
              <a:t>tidak</a:t>
            </a:r>
            <a:r>
              <a:rPr lang="en-US" dirty="0">
                <a:solidFill>
                  <a:srgbClr val="0070C0"/>
                </a:solidFill>
              </a:rPr>
              <a:t> </a:t>
            </a:r>
            <a:r>
              <a:rPr lang="en-US" dirty="0" err="1">
                <a:solidFill>
                  <a:srgbClr val="0070C0"/>
                </a:solidFill>
              </a:rPr>
              <a:t>stabilnya</a:t>
            </a:r>
            <a:r>
              <a:rPr lang="en-US" dirty="0">
                <a:solidFill>
                  <a:srgbClr val="0070C0"/>
                </a:solidFill>
              </a:rPr>
              <a:t> </a:t>
            </a:r>
            <a:r>
              <a:rPr lang="en-US" dirty="0" err="1">
                <a:solidFill>
                  <a:srgbClr val="0070C0"/>
                </a:solidFill>
              </a:rPr>
              <a:t>dan</a:t>
            </a:r>
            <a:r>
              <a:rPr lang="en-US" dirty="0">
                <a:solidFill>
                  <a:srgbClr val="0070C0"/>
                </a:solidFill>
              </a:rPr>
              <a:t> </a:t>
            </a:r>
            <a:r>
              <a:rPr lang="en-US" dirty="0" err="1" smtClean="0">
                <a:solidFill>
                  <a:srgbClr val="0070C0"/>
                </a:solidFill>
              </a:rPr>
              <a:t>sulit</a:t>
            </a:r>
            <a:r>
              <a:rPr lang="en-US" dirty="0" smtClean="0">
                <a:solidFill>
                  <a:srgbClr val="0070C0"/>
                </a:solidFill>
              </a:rPr>
              <a:t> </a:t>
            </a:r>
            <a:r>
              <a:rPr lang="en-US" dirty="0" err="1">
                <a:solidFill>
                  <a:srgbClr val="0070C0"/>
                </a:solidFill>
              </a:rPr>
              <a:t>untuk</a:t>
            </a:r>
            <a:r>
              <a:rPr lang="en-US" dirty="0">
                <a:solidFill>
                  <a:srgbClr val="0070C0"/>
                </a:solidFill>
              </a:rPr>
              <a:t> </a:t>
            </a:r>
            <a:r>
              <a:rPr lang="en-US" dirty="0" err="1">
                <a:solidFill>
                  <a:srgbClr val="0070C0"/>
                </a:solidFill>
              </a:rPr>
              <a:t>mengatur</a:t>
            </a:r>
            <a:r>
              <a:rPr lang="en-US" dirty="0">
                <a:solidFill>
                  <a:srgbClr val="0070C0"/>
                </a:solidFill>
              </a:rPr>
              <a:t> </a:t>
            </a:r>
            <a:r>
              <a:rPr lang="en-US" dirty="0" err="1">
                <a:solidFill>
                  <a:srgbClr val="0070C0"/>
                </a:solidFill>
              </a:rPr>
              <a:t>penguatan</a:t>
            </a:r>
            <a:r>
              <a:rPr lang="en-US" dirty="0">
                <a:solidFill>
                  <a:srgbClr val="0070C0"/>
                </a:solidFill>
              </a:rPr>
              <a:t> </a:t>
            </a:r>
            <a:r>
              <a:rPr lang="en-US" dirty="0" err="1">
                <a:solidFill>
                  <a:srgbClr val="0070C0"/>
                </a:solidFill>
              </a:rPr>
              <a:t>penguat</a:t>
            </a:r>
            <a:r>
              <a:rPr lang="en-US" dirty="0">
                <a:solidFill>
                  <a:srgbClr val="0070C0"/>
                </a:solidFill>
              </a:rPr>
              <a:t> </a:t>
            </a:r>
            <a:r>
              <a:rPr lang="en-US" dirty="0" err="1" smtClean="0">
                <a:solidFill>
                  <a:srgbClr val="0070C0"/>
                </a:solidFill>
              </a:rPr>
              <a:t>operasional</a:t>
            </a:r>
            <a:r>
              <a:rPr lang="en-US" dirty="0" smtClean="0">
                <a:solidFill>
                  <a:srgbClr val="0070C0"/>
                </a:solidFill>
              </a:rPr>
              <a:t> yang </a:t>
            </a:r>
            <a:r>
              <a:rPr lang="en-US" dirty="0" err="1" smtClean="0">
                <a:solidFill>
                  <a:srgbClr val="0070C0"/>
                </a:solidFill>
              </a:rPr>
              <a:t>dihasilkan</a:t>
            </a:r>
            <a:r>
              <a:rPr lang="en-US" dirty="0" smtClean="0">
                <a:solidFill>
                  <a:srgbClr val="0070C0"/>
                </a:solidFill>
              </a:rPr>
              <a:t>.</a:t>
            </a:r>
          </a:p>
          <a:p>
            <a:pPr>
              <a:buFont typeface="Wingdings" panose="05000000000000000000" pitchFamily="2" charset="2"/>
              <a:buChar char="§"/>
            </a:pPr>
            <a:endParaRPr lang="en-US" dirty="0" smtClean="0">
              <a:solidFill>
                <a:srgbClr val="0070C0"/>
              </a:solidFill>
            </a:endParaRPr>
          </a:p>
          <a:p>
            <a:pPr>
              <a:buFont typeface="Wingdings" panose="05000000000000000000" pitchFamily="2" charset="2"/>
              <a:buChar char="§"/>
            </a:pPr>
            <a:r>
              <a:rPr lang="en-US" dirty="0" err="1" smtClean="0">
                <a:solidFill>
                  <a:schemeClr val="tx1"/>
                </a:solidFill>
              </a:rPr>
              <a:t>Tujuan</a:t>
            </a:r>
            <a:r>
              <a:rPr lang="en-US" dirty="0" smtClean="0">
                <a:solidFill>
                  <a:schemeClr val="tx1"/>
                </a:solidFill>
              </a:rPr>
              <a:t>: </a:t>
            </a:r>
            <a:r>
              <a:rPr lang="en-US" dirty="0">
                <a:solidFill>
                  <a:srgbClr val="C00000"/>
                </a:solidFill>
              </a:rPr>
              <a:t>agar </a:t>
            </a:r>
            <a:r>
              <a:rPr lang="en-US" dirty="0" err="1">
                <a:solidFill>
                  <a:srgbClr val="C00000"/>
                </a:solidFill>
              </a:rPr>
              <a:t>mampu</a:t>
            </a:r>
            <a:r>
              <a:rPr lang="en-US" dirty="0">
                <a:solidFill>
                  <a:srgbClr val="C00000"/>
                </a:solidFill>
              </a:rPr>
              <a:t> </a:t>
            </a:r>
            <a:r>
              <a:rPr lang="en-US" dirty="0" err="1">
                <a:solidFill>
                  <a:srgbClr val="C00000"/>
                </a:solidFill>
              </a:rPr>
              <a:t>mengendalikan</a:t>
            </a:r>
            <a:r>
              <a:rPr lang="en-US" dirty="0">
                <a:solidFill>
                  <a:srgbClr val="C00000"/>
                </a:solidFill>
              </a:rPr>
              <a:t> </a:t>
            </a:r>
            <a:r>
              <a:rPr lang="en-US" dirty="0" err="1">
                <a:solidFill>
                  <a:srgbClr val="C00000"/>
                </a:solidFill>
              </a:rPr>
              <a:t>penguatan</a:t>
            </a:r>
            <a:r>
              <a:rPr lang="en-US" dirty="0">
                <a:solidFill>
                  <a:srgbClr val="C00000"/>
                </a:solidFill>
              </a:rPr>
              <a:t> </a:t>
            </a:r>
            <a:r>
              <a:rPr lang="en-US" dirty="0" err="1">
                <a:solidFill>
                  <a:srgbClr val="C00000"/>
                </a:solidFill>
              </a:rPr>
              <a:t>dan</a:t>
            </a:r>
            <a:r>
              <a:rPr lang="en-US" dirty="0">
                <a:solidFill>
                  <a:srgbClr val="C00000"/>
                </a:solidFill>
              </a:rPr>
              <a:t> </a:t>
            </a:r>
            <a:r>
              <a:rPr lang="en-US" dirty="0" err="1">
                <a:solidFill>
                  <a:srgbClr val="C00000"/>
                </a:solidFill>
              </a:rPr>
              <a:t>mendapatkan</a:t>
            </a:r>
            <a:r>
              <a:rPr lang="en-US" dirty="0">
                <a:solidFill>
                  <a:srgbClr val="C00000"/>
                </a:solidFill>
              </a:rPr>
              <a:t> </a:t>
            </a:r>
            <a:r>
              <a:rPr lang="en-US" dirty="0" err="1">
                <a:solidFill>
                  <a:srgbClr val="C00000"/>
                </a:solidFill>
              </a:rPr>
              <a:t>nilai</a:t>
            </a:r>
            <a:r>
              <a:rPr lang="en-US" dirty="0">
                <a:solidFill>
                  <a:srgbClr val="C00000"/>
                </a:solidFill>
              </a:rPr>
              <a:t> </a:t>
            </a:r>
            <a:r>
              <a:rPr lang="en-US" dirty="0" err="1">
                <a:solidFill>
                  <a:srgbClr val="C00000"/>
                </a:solidFill>
              </a:rPr>
              <a:t>kestabilan</a:t>
            </a:r>
            <a:r>
              <a:rPr lang="en-US" dirty="0">
                <a:solidFill>
                  <a:srgbClr val="C00000"/>
                </a:solidFill>
              </a:rPr>
              <a:t> </a:t>
            </a:r>
            <a:r>
              <a:rPr lang="en-US" dirty="0" err="1">
                <a:solidFill>
                  <a:srgbClr val="C00000"/>
                </a:solidFill>
              </a:rPr>
              <a:t>sistem</a:t>
            </a:r>
            <a:r>
              <a:rPr lang="en-US" dirty="0">
                <a:solidFill>
                  <a:srgbClr val="C00000"/>
                </a:solidFill>
              </a:rPr>
              <a:t> </a:t>
            </a:r>
            <a:r>
              <a:rPr lang="en-US" dirty="0" err="1">
                <a:solidFill>
                  <a:srgbClr val="C00000"/>
                </a:solidFill>
              </a:rPr>
              <a:t>sehingga</a:t>
            </a:r>
            <a:r>
              <a:rPr lang="en-US" dirty="0">
                <a:solidFill>
                  <a:srgbClr val="C00000"/>
                </a:solidFill>
              </a:rPr>
              <a:t> </a:t>
            </a:r>
            <a:r>
              <a:rPr lang="en-US" dirty="0" err="1">
                <a:solidFill>
                  <a:srgbClr val="C00000"/>
                </a:solidFill>
              </a:rPr>
              <a:t>cukup</a:t>
            </a:r>
            <a:r>
              <a:rPr lang="en-US" dirty="0">
                <a:solidFill>
                  <a:srgbClr val="C00000"/>
                </a:solidFill>
              </a:rPr>
              <a:t> </a:t>
            </a:r>
            <a:r>
              <a:rPr lang="en-US" dirty="0" err="1">
                <a:solidFill>
                  <a:srgbClr val="C00000"/>
                </a:solidFill>
              </a:rPr>
              <a:t>mendukung</a:t>
            </a:r>
            <a:r>
              <a:rPr lang="en-US" dirty="0">
                <a:solidFill>
                  <a:srgbClr val="C00000"/>
                </a:solidFill>
              </a:rPr>
              <a:t> </a:t>
            </a:r>
            <a:r>
              <a:rPr lang="en-US" dirty="0" err="1">
                <a:solidFill>
                  <a:srgbClr val="C00000"/>
                </a:solidFill>
              </a:rPr>
              <a:t>bagi</a:t>
            </a:r>
            <a:r>
              <a:rPr lang="en-US" dirty="0">
                <a:solidFill>
                  <a:srgbClr val="C00000"/>
                </a:solidFill>
              </a:rPr>
              <a:t> </a:t>
            </a:r>
            <a:r>
              <a:rPr lang="en-US" dirty="0" err="1">
                <a:solidFill>
                  <a:srgbClr val="C00000"/>
                </a:solidFill>
              </a:rPr>
              <a:t>penerapan</a:t>
            </a:r>
            <a:r>
              <a:rPr lang="en-US" dirty="0">
                <a:solidFill>
                  <a:srgbClr val="C00000"/>
                </a:solidFill>
              </a:rPr>
              <a:t> </a:t>
            </a:r>
            <a:r>
              <a:rPr lang="en-US" dirty="0" err="1">
                <a:solidFill>
                  <a:srgbClr val="C00000"/>
                </a:solidFill>
              </a:rPr>
              <a:t>bagi</a:t>
            </a:r>
            <a:r>
              <a:rPr lang="en-US" dirty="0">
                <a:solidFill>
                  <a:srgbClr val="C00000"/>
                </a:solidFill>
              </a:rPr>
              <a:t> </a:t>
            </a:r>
            <a:r>
              <a:rPr lang="en-US" dirty="0" err="1">
                <a:solidFill>
                  <a:srgbClr val="C00000"/>
                </a:solidFill>
              </a:rPr>
              <a:t>rangkaian-rangkaian</a:t>
            </a:r>
            <a:r>
              <a:rPr lang="en-US" dirty="0">
                <a:solidFill>
                  <a:srgbClr val="C00000"/>
                </a:solidFill>
              </a:rPr>
              <a:t> linier</a:t>
            </a:r>
            <a:r>
              <a:rPr lang="en-US" dirty="0" smtClean="0">
                <a:solidFill>
                  <a:srgbClr val="C00000"/>
                </a:solidFill>
              </a:rPr>
              <a:t>.</a:t>
            </a:r>
          </a:p>
          <a:p>
            <a:pPr>
              <a:buFont typeface="Wingdings" panose="05000000000000000000" pitchFamily="2" charset="2"/>
              <a:buChar char="§"/>
            </a:pPr>
            <a:endParaRPr lang="en-US" dirty="0" smtClean="0">
              <a:solidFill>
                <a:srgbClr val="C00000"/>
              </a:solidFill>
            </a:endParaRPr>
          </a:p>
          <a:p>
            <a:pPr>
              <a:buFont typeface="Wingdings" panose="05000000000000000000" pitchFamily="2" charset="2"/>
              <a:buChar char="§"/>
            </a:pPr>
            <a:r>
              <a:rPr lang="en-US" dirty="0" err="1" smtClean="0">
                <a:solidFill>
                  <a:schemeClr val="tx1"/>
                </a:solidFill>
              </a:rPr>
              <a:t>Jenis</a:t>
            </a:r>
            <a:r>
              <a:rPr lang="en-US" dirty="0" smtClean="0">
                <a:solidFill>
                  <a:schemeClr val="tx1"/>
                </a:solidFill>
              </a:rPr>
              <a:t> </a:t>
            </a:r>
            <a:r>
              <a:rPr lang="en-US" dirty="0" err="1" smtClean="0">
                <a:solidFill>
                  <a:schemeClr val="tx1"/>
                </a:solidFill>
              </a:rPr>
              <a:t>umpan</a:t>
            </a:r>
            <a:r>
              <a:rPr lang="en-US" dirty="0" smtClean="0">
                <a:solidFill>
                  <a:schemeClr val="tx1"/>
                </a:solidFill>
              </a:rPr>
              <a:t> </a:t>
            </a:r>
            <a:r>
              <a:rPr lang="en-US" dirty="0" err="1" smtClean="0">
                <a:solidFill>
                  <a:schemeClr val="tx1"/>
                </a:solidFill>
              </a:rPr>
              <a:t>balik</a:t>
            </a:r>
            <a:r>
              <a:rPr lang="en-US" dirty="0" smtClean="0">
                <a:solidFill>
                  <a:schemeClr val="tx1"/>
                </a:solidFill>
              </a:rPr>
              <a:t> op-amp: </a:t>
            </a:r>
          </a:p>
          <a:p>
            <a:pPr marL="0" indent="0">
              <a:buNone/>
            </a:pPr>
            <a:r>
              <a:rPr lang="en-US" dirty="0">
                <a:solidFill>
                  <a:srgbClr val="0070C0"/>
                </a:solidFill>
              </a:rPr>
              <a:t>	</a:t>
            </a:r>
            <a:r>
              <a:rPr lang="en-US" dirty="0" smtClean="0">
                <a:solidFill>
                  <a:srgbClr val="00B050"/>
                </a:solidFill>
              </a:rPr>
              <a:t>1. open loop amplifier</a:t>
            </a:r>
          </a:p>
          <a:p>
            <a:pPr marL="0" indent="0">
              <a:buNone/>
            </a:pPr>
            <a:r>
              <a:rPr lang="en-US" dirty="0">
                <a:solidFill>
                  <a:srgbClr val="00B050"/>
                </a:solidFill>
              </a:rPr>
              <a:t>	</a:t>
            </a:r>
            <a:r>
              <a:rPr lang="en-US" dirty="0" smtClean="0">
                <a:solidFill>
                  <a:srgbClr val="00B050"/>
                </a:solidFill>
              </a:rPr>
              <a:t>2. close loop amplifier</a:t>
            </a:r>
            <a:endParaRPr lang="en-US" dirty="0">
              <a:solidFill>
                <a:srgbClr val="00B050"/>
              </a:solidFill>
            </a:endParaRPr>
          </a:p>
        </p:txBody>
      </p:sp>
    </p:spTree>
    <p:extLst>
      <p:ext uri="{BB962C8B-B14F-4D97-AF65-F5344CB8AC3E}">
        <p14:creationId xmlns:p14="http://schemas.microsoft.com/office/powerpoint/2010/main" val="29915012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9331" y="689506"/>
            <a:ext cx="10178322" cy="3593591"/>
          </a:xfrm>
        </p:spPr>
        <p:txBody>
          <a:bodyPr/>
          <a:lstStyle/>
          <a:p>
            <a:pPr>
              <a:buFont typeface="Wingdings" panose="05000000000000000000" pitchFamily="2" charset="2"/>
              <a:buChar char="v"/>
            </a:pPr>
            <a:r>
              <a:rPr lang="en-US" dirty="0" smtClean="0"/>
              <a:t> </a:t>
            </a:r>
            <a:r>
              <a:rPr lang="en-US" b="1" dirty="0" err="1"/>
              <a:t>Umpan</a:t>
            </a:r>
            <a:r>
              <a:rPr lang="en-US" b="1" dirty="0"/>
              <a:t> </a:t>
            </a:r>
            <a:r>
              <a:rPr lang="en-US" b="1" dirty="0" err="1"/>
              <a:t>Balik</a:t>
            </a:r>
            <a:r>
              <a:rPr lang="en-US" b="1" dirty="0"/>
              <a:t> </a:t>
            </a:r>
            <a:r>
              <a:rPr lang="en-US" b="1" dirty="0" err="1"/>
              <a:t>Tegangan</a:t>
            </a:r>
            <a:r>
              <a:rPr lang="en-US" b="1" dirty="0"/>
              <a:t>-Seri</a:t>
            </a:r>
            <a:endParaRPr lang="en-US" dirty="0"/>
          </a:p>
          <a:p>
            <a:pPr>
              <a:buFont typeface="Wingdings" panose="05000000000000000000" pitchFamily="2" charset="2"/>
              <a:buChar char="v"/>
            </a:pPr>
            <a:endParaRPr lang="en-US" dirty="0"/>
          </a:p>
        </p:txBody>
      </p:sp>
      <p:sp>
        <p:nvSpPr>
          <p:cNvPr id="4" name="Rectangle 2"/>
          <p:cNvSpPr>
            <a:spLocks noChangeArrowheads="1"/>
          </p:cNvSpPr>
          <p:nvPr/>
        </p:nvSpPr>
        <p:spPr bwMode="auto">
          <a:xfrm>
            <a:off x="3056022" y="2447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p:cNvGraphicFramePr>
            <a:graphicFrameLocks noChangeAspect="1"/>
          </p:cNvGraphicFramePr>
          <p:nvPr>
            <p:extLst/>
          </p:nvPr>
        </p:nvGraphicFramePr>
        <p:xfrm>
          <a:off x="1263317" y="1679581"/>
          <a:ext cx="5224582" cy="4987591"/>
        </p:xfrm>
        <a:graphic>
          <a:graphicData uri="http://schemas.openxmlformats.org/presentationml/2006/ole">
            <mc:AlternateContent xmlns:mc="http://schemas.openxmlformats.org/markup-compatibility/2006">
              <mc:Choice xmlns:v="urn:schemas-microsoft-com:vml" Requires="v">
                <p:oleObj spid="_x0000_s29700" name="Visio" r:id="rId3" imgW="3819441" imgH="3971857" progId="Visio.Drawing.15">
                  <p:embed/>
                </p:oleObj>
              </mc:Choice>
              <mc:Fallback>
                <p:oleObj name="Visio" r:id="rId3" imgW="3819441" imgH="3971857" progId="Visio.Drawing.15">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3317" y="1679581"/>
                        <a:ext cx="5224582" cy="4987591"/>
                      </a:xfrm>
                      <a:prstGeom prst="rect">
                        <a:avLst/>
                      </a:prstGeom>
                      <a:noFill/>
                    </p:spPr>
                  </p:pic>
                </p:oleObj>
              </mc:Fallback>
            </mc:AlternateContent>
          </a:graphicData>
        </a:graphic>
      </p:graphicFrame>
      <p:sp>
        <p:nvSpPr>
          <p:cNvPr id="6" name="Rectangle 5"/>
          <p:cNvSpPr/>
          <p:nvPr/>
        </p:nvSpPr>
        <p:spPr>
          <a:xfrm>
            <a:off x="6607822" y="1726705"/>
            <a:ext cx="5089161" cy="923330"/>
          </a:xfrm>
          <a:prstGeom prst="rect">
            <a:avLst/>
          </a:prstGeom>
        </p:spPr>
        <p:txBody>
          <a:bodyPr wrap="square">
            <a:spAutoFit/>
          </a:bodyPr>
          <a:lstStyle/>
          <a:p>
            <a:r>
              <a:rPr lang="en-US" b="1" dirty="0" err="1">
                <a:latin typeface="Calibri" panose="020F0502020204030204" pitchFamily="34" charset="0"/>
                <a:ea typeface="Calibri" panose="020F0502020204030204" pitchFamily="34" charset="0"/>
              </a:rPr>
              <a:t>blok</a:t>
            </a:r>
            <a:r>
              <a:rPr lang="en-US" b="1" dirty="0">
                <a:latin typeface="Calibri" panose="020F0502020204030204" pitchFamily="34" charset="0"/>
                <a:ea typeface="Calibri" panose="020F0502020204030204" pitchFamily="34" charset="0"/>
              </a:rPr>
              <a:t> diagram </a:t>
            </a:r>
            <a:r>
              <a:rPr lang="en-US" b="1" dirty="0" err="1">
                <a:latin typeface="Calibri" panose="020F0502020204030204" pitchFamily="34" charset="0"/>
                <a:ea typeface="Calibri" panose="020F0502020204030204" pitchFamily="34" charset="0"/>
              </a:rPr>
              <a:t>konfigurasi</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umpan</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balik</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tegangan</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seri</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dapat</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dilihat</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pada</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aplikasi</a:t>
            </a:r>
            <a:r>
              <a:rPr lang="en-US" b="1" dirty="0">
                <a:latin typeface="Calibri" panose="020F0502020204030204" pitchFamily="34" charset="0"/>
                <a:ea typeface="Calibri" panose="020F0502020204030204" pitchFamily="34" charset="0"/>
              </a:rPr>
              <a:t> </a:t>
            </a:r>
            <a:r>
              <a:rPr lang="en-US" b="1" dirty="0" err="1">
                <a:solidFill>
                  <a:srgbClr val="FF0000"/>
                </a:solidFill>
                <a:latin typeface="Calibri" panose="020F0502020204030204" pitchFamily="34" charset="0"/>
                <a:ea typeface="Calibri" panose="020F0502020204030204" pitchFamily="34" charset="0"/>
              </a:rPr>
              <a:t>rangkaian</a:t>
            </a:r>
            <a:r>
              <a:rPr lang="en-US" b="1" dirty="0">
                <a:solidFill>
                  <a:srgbClr val="FF0000"/>
                </a:solidFill>
                <a:latin typeface="Calibri" panose="020F0502020204030204" pitchFamily="34" charset="0"/>
                <a:ea typeface="Calibri" panose="020F0502020204030204" pitchFamily="34" charset="0"/>
              </a:rPr>
              <a:t> </a:t>
            </a:r>
            <a:r>
              <a:rPr lang="en-US" b="1" dirty="0" err="1">
                <a:solidFill>
                  <a:srgbClr val="FF0000"/>
                </a:solidFill>
                <a:latin typeface="Calibri" panose="020F0502020204030204" pitchFamily="34" charset="0"/>
                <a:ea typeface="Calibri" panose="020F0502020204030204" pitchFamily="34" charset="0"/>
              </a:rPr>
              <a:t>penguat</a:t>
            </a:r>
            <a:r>
              <a:rPr lang="en-US" b="1" dirty="0">
                <a:solidFill>
                  <a:srgbClr val="FF0000"/>
                </a:solidFill>
                <a:latin typeface="Calibri" panose="020F0502020204030204" pitchFamily="34" charset="0"/>
                <a:ea typeface="Calibri" panose="020F0502020204030204" pitchFamily="34" charset="0"/>
              </a:rPr>
              <a:t> </a:t>
            </a:r>
            <a:r>
              <a:rPr lang="en-US" b="1" dirty="0" err="1">
                <a:solidFill>
                  <a:srgbClr val="FF0000"/>
                </a:solidFill>
                <a:latin typeface="Calibri" panose="020F0502020204030204" pitchFamily="34" charset="0"/>
                <a:ea typeface="Calibri" panose="020F0502020204030204" pitchFamily="34" charset="0"/>
              </a:rPr>
              <a:t>tidak</a:t>
            </a:r>
            <a:r>
              <a:rPr lang="en-US" b="1" dirty="0">
                <a:solidFill>
                  <a:srgbClr val="FF0000"/>
                </a:solidFill>
                <a:latin typeface="Calibri" panose="020F0502020204030204" pitchFamily="34" charset="0"/>
                <a:ea typeface="Calibri" panose="020F0502020204030204" pitchFamily="34" charset="0"/>
              </a:rPr>
              <a:t> </a:t>
            </a:r>
            <a:r>
              <a:rPr lang="en-US" b="1" dirty="0" err="1">
                <a:solidFill>
                  <a:srgbClr val="FF0000"/>
                </a:solidFill>
                <a:latin typeface="Calibri" panose="020F0502020204030204" pitchFamily="34" charset="0"/>
                <a:ea typeface="Calibri" panose="020F0502020204030204" pitchFamily="34" charset="0"/>
              </a:rPr>
              <a:t>pembalik</a:t>
            </a:r>
            <a:r>
              <a:rPr lang="en-US" b="1" dirty="0">
                <a:solidFill>
                  <a:srgbClr val="FF0000"/>
                </a:solidFill>
                <a:latin typeface="Calibri" panose="020F0502020204030204" pitchFamily="34" charset="0"/>
                <a:ea typeface="Calibri" panose="020F0502020204030204" pitchFamily="34" charset="0"/>
              </a:rPr>
              <a:t> </a:t>
            </a:r>
            <a:r>
              <a:rPr lang="en-US" b="1" dirty="0" err="1">
                <a:solidFill>
                  <a:srgbClr val="FF0000"/>
                </a:solidFill>
                <a:latin typeface="Calibri" panose="020F0502020204030204" pitchFamily="34" charset="0"/>
                <a:ea typeface="Calibri" panose="020F0502020204030204" pitchFamily="34" charset="0"/>
              </a:rPr>
              <a:t>fase</a:t>
            </a:r>
            <a:r>
              <a:rPr lang="en-US" b="1" dirty="0">
                <a:solidFill>
                  <a:srgbClr val="FF0000"/>
                </a:solidFill>
                <a:latin typeface="Calibri" panose="020F0502020204030204" pitchFamily="34" charset="0"/>
                <a:ea typeface="Calibri" panose="020F0502020204030204" pitchFamily="34" charset="0"/>
              </a:rPr>
              <a:t> (</a:t>
            </a:r>
            <a:r>
              <a:rPr lang="en-US" b="1" i="1" dirty="0">
                <a:solidFill>
                  <a:srgbClr val="FF0000"/>
                </a:solidFill>
                <a:latin typeface="Calibri" panose="020F0502020204030204" pitchFamily="34" charset="0"/>
                <a:ea typeface="Calibri" panose="020F0502020204030204" pitchFamily="34" charset="0"/>
              </a:rPr>
              <a:t>non inverting amplifier</a:t>
            </a:r>
            <a:r>
              <a:rPr lang="en-US" b="1" dirty="0">
                <a:solidFill>
                  <a:srgbClr val="FF0000"/>
                </a:solidFill>
                <a:latin typeface="Calibri" panose="020F0502020204030204" pitchFamily="34" charset="0"/>
                <a:ea typeface="Calibri" panose="020F0502020204030204" pitchFamily="34" charset="0"/>
              </a:rPr>
              <a:t>) </a:t>
            </a:r>
            <a:endParaRPr lang="en-US" b="1" dirty="0">
              <a:solidFill>
                <a:srgbClr val="FF0000"/>
              </a:solidFill>
            </a:endParaRPr>
          </a:p>
        </p:txBody>
      </p:sp>
      <p:sp>
        <p:nvSpPr>
          <p:cNvPr id="7" name="Rectangle 6"/>
          <p:cNvSpPr/>
          <p:nvPr/>
        </p:nvSpPr>
        <p:spPr>
          <a:xfrm>
            <a:off x="6607822" y="3019443"/>
            <a:ext cx="5089161" cy="646331"/>
          </a:xfrm>
          <a:prstGeom prst="rect">
            <a:avLst/>
          </a:prstGeom>
        </p:spPr>
        <p:txBody>
          <a:bodyPr wrap="square">
            <a:spAutoFit/>
          </a:bodyPr>
          <a:lstStyle/>
          <a:p>
            <a:r>
              <a:rPr lang="en-US" dirty="0" err="1" smtClean="0">
                <a:solidFill>
                  <a:srgbClr val="0070C0"/>
                </a:solidFill>
                <a:latin typeface="Calibri" panose="020F0502020204030204" pitchFamily="34" charset="0"/>
                <a:ea typeface="Calibri" panose="020F0502020204030204" pitchFamily="34" charset="0"/>
              </a:rPr>
              <a:t>Nilai</a:t>
            </a:r>
            <a:r>
              <a:rPr lang="en-US" dirty="0" smtClean="0">
                <a:solidFill>
                  <a:srgbClr val="0070C0"/>
                </a:solidFill>
                <a:latin typeface="Calibri" panose="020F0502020204030204" pitchFamily="34" charset="0"/>
                <a:ea typeface="Calibri" panose="020F0502020204030204" pitchFamily="34" charset="0"/>
              </a:rPr>
              <a:t> </a:t>
            </a:r>
            <a:r>
              <a:rPr lang="en-US" dirty="0" err="1" smtClean="0">
                <a:solidFill>
                  <a:srgbClr val="0070C0"/>
                </a:solidFill>
                <a:latin typeface="Calibri" panose="020F0502020204030204" pitchFamily="34" charset="0"/>
                <a:ea typeface="Calibri" panose="020F0502020204030204" pitchFamily="34" charset="0"/>
              </a:rPr>
              <a:t>penguatan</a:t>
            </a:r>
            <a:r>
              <a:rPr lang="en-US" dirty="0" smtClean="0">
                <a:solidFill>
                  <a:srgbClr val="0070C0"/>
                </a:solidFill>
                <a:latin typeface="Calibri" panose="020F0502020204030204" pitchFamily="34" charset="0"/>
                <a:ea typeface="Calibri" panose="020F0502020204030204" pitchFamily="34" charset="0"/>
              </a:rPr>
              <a:t> </a:t>
            </a:r>
            <a:r>
              <a:rPr lang="en-US" dirty="0" smtClean="0">
                <a:latin typeface="Calibri" panose="020F0502020204030204" pitchFamily="34" charset="0"/>
                <a:ea typeface="Calibri" panose="020F0502020204030204" pitchFamily="34" charset="0"/>
              </a:rPr>
              <a:t>yang </a:t>
            </a:r>
            <a:r>
              <a:rPr lang="en-US" dirty="0" err="1" smtClean="0">
                <a:latin typeface="Calibri" panose="020F0502020204030204" pitchFamily="34" charset="0"/>
                <a:ea typeface="Calibri" panose="020F0502020204030204" pitchFamily="34" charset="0"/>
              </a:rPr>
              <a:t>dihasilkan</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rangkaian</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ini</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dinyatakan</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sebesar</a:t>
            </a:r>
            <a:r>
              <a:rPr lang="en-US" dirty="0" smtClean="0">
                <a:latin typeface="Calibri" panose="020F0502020204030204" pitchFamily="34" charset="0"/>
                <a:ea typeface="Calibri" panose="020F0502020204030204" pitchFamily="34" charset="0"/>
              </a:rPr>
              <a:t>:</a:t>
            </a:r>
            <a:endParaRPr lang="en-US" dirty="0">
              <a:solidFill>
                <a:srgbClr val="FF0000"/>
              </a:solidFill>
            </a:endParaRPr>
          </a:p>
        </p:txBody>
      </p:sp>
      <mc:AlternateContent xmlns:mc="http://schemas.openxmlformats.org/markup-compatibility/2006" xmlns:a14="http://schemas.microsoft.com/office/drawing/2010/main">
        <mc:Choice Requires="a14">
          <p:sp>
            <p:nvSpPr>
              <p:cNvPr id="8" name="Rectangle 7"/>
              <p:cNvSpPr/>
              <p:nvPr/>
            </p:nvSpPr>
            <p:spPr>
              <a:xfrm>
                <a:off x="7814339" y="3853123"/>
                <a:ext cx="3147528" cy="665631"/>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𝑓</m:t>
                          </m:r>
                        </m:sub>
                      </m:sSub>
                      <m:r>
                        <a:rPr lang="en-US" i="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en>
                      </m:f>
                      <m:r>
                        <a:rPr lang="en-US" i="0">
                          <a:latin typeface="Cambria Math" panose="02040503050406030204" pitchFamily="18" charset="0"/>
                        </a:rPr>
                        <m:t>=1+</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𝑓</m:t>
                              </m:r>
                            </m:sub>
                          </m:sSub>
                        </m:num>
                        <m:den>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𝐴</m:t>
                          </m:r>
                        </m:num>
                        <m:den>
                          <m:r>
                            <a:rPr lang="en-US" i="1">
                              <a:latin typeface="Cambria Math" panose="02040503050406030204" pitchFamily="18" charset="0"/>
                            </a:rPr>
                            <m:t>1+</m:t>
                          </m:r>
                          <m:r>
                            <a:rPr lang="en-US" i="1">
                              <a:latin typeface="Cambria Math" panose="02040503050406030204" pitchFamily="18" charset="0"/>
                            </a:rPr>
                            <m:t>𝐴</m:t>
                          </m:r>
                          <m:r>
                            <a:rPr lang="en-US" i="1">
                              <a:latin typeface="Cambria Math" panose="02040503050406030204" pitchFamily="18" charset="0"/>
                            </a:rPr>
                            <m:t>𝛽</m:t>
                          </m:r>
                        </m:den>
                      </m:f>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7814339" y="3853123"/>
                <a:ext cx="3147528" cy="665631"/>
              </a:xfrm>
              <a:prstGeom prst="rect">
                <a:avLst/>
              </a:prstGeom>
              <a:blipFill rotWithShape="0">
                <a:blip r:embed="rId5"/>
                <a:stretch>
                  <a:fillRect/>
                </a:stretch>
              </a:blipFill>
              <a:ln>
                <a:solidFill>
                  <a:srgbClr val="C00000"/>
                </a:solidFill>
              </a:ln>
            </p:spPr>
            <p:txBody>
              <a:bodyPr/>
              <a:lstStyle/>
              <a:p>
                <a:r>
                  <a:rPr lang="en-US">
                    <a:noFill/>
                  </a:rPr>
                  <a:t> </a:t>
                </a:r>
              </a:p>
            </p:txBody>
          </p:sp>
        </mc:Fallback>
      </mc:AlternateContent>
      <p:sp>
        <p:nvSpPr>
          <p:cNvPr id="9" name="Rectangle 8"/>
          <p:cNvSpPr/>
          <p:nvPr/>
        </p:nvSpPr>
        <p:spPr>
          <a:xfrm>
            <a:off x="6631885" y="4728275"/>
            <a:ext cx="5089161" cy="646331"/>
          </a:xfrm>
          <a:prstGeom prst="rect">
            <a:avLst/>
          </a:prstGeom>
        </p:spPr>
        <p:txBody>
          <a:bodyPr wrap="square">
            <a:spAutoFit/>
          </a:bodyPr>
          <a:lstStyle/>
          <a:p>
            <a:r>
              <a:rPr lang="en-US" dirty="0" err="1" smtClean="0">
                <a:solidFill>
                  <a:srgbClr val="0070C0"/>
                </a:solidFill>
                <a:latin typeface="Calibri" panose="020F0502020204030204" pitchFamily="34" charset="0"/>
                <a:ea typeface="Calibri" panose="020F0502020204030204" pitchFamily="34" charset="0"/>
              </a:rPr>
              <a:t>Faktor</a:t>
            </a:r>
            <a:r>
              <a:rPr lang="en-US" dirty="0" smtClean="0">
                <a:solidFill>
                  <a:srgbClr val="0070C0"/>
                </a:solidFill>
                <a:latin typeface="Calibri" panose="020F0502020204030204" pitchFamily="34" charset="0"/>
                <a:ea typeface="Calibri" panose="020F0502020204030204" pitchFamily="34" charset="0"/>
              </a:rPr>
              <a:t> </a:t>
            </a:r>
            <a:r>
              <a:rPr lang="en-US" dirty="0" err="1" smtClean="0">
                <a:solidFill>
                  <a:srgbClr val="0070C0"/>
                </a:solidFill>
                <a:latin typeface="Calibri" panose="020F0502020204030204" pitchFamily="34" charset="0"/>
                <a:ea typeface="Calibri" panose="020F0502020204030204" pitchFamily="34" charset="0"/>
              </a:rPr>
              <a:t>umpan</a:t>
            </a:r>
            <a:r>
              <a:rPr lang="en-US" dirty="0" smtClean="0">
                <a:solidFill>
                  <a:srgbClr val="0070C0"/>
                </a:solidFill>
                <a:latin typeface="Calibri" panose="020F0502020204030204" pitchFamily="34" charset="0"/>
                <a:ea typeface="Calibri" panose="020F0502020204030204" pitchFamily="34" charset="0"/>
              </a:rPr>
              <a:t> </a:t>
            </a:r>
            <a:r>
              <a:rPr lang="en-US" dirty="0" err="1" smtClean="0">
                <a:solidFill>
                  <a:srgbClr val="0070C0"/>
                </a:solidFill>
                <a:latin typeface="Calibri" panose="020F0502020204030204" pitchFamily="34" charset="0"/>
                <a:ea typeface="Calibri" panose="020F0502020204030204" pitchFamily="34" charset="0"/>
              </a:rPr>
              <a:t>balik</a:t>
            </a:r>
            <a:r>
              <a:rPr lang="en-US" dirty="0" err="1" smtClean="0">
                <a:latin typeface="Calibri" panose="020F0502020204030204" pitchFamily="34" charset="0"/>
                <a:ea typeface="Calibri" panose="020F0502020204030204" pitchFamily="34" charset="0"/>
              </a:rPr>
              <a:t>-nya</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pada</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rangkaian</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ini</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dinyatakan</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sebesar</a:t>
            </a:r>
            <a:r>
              <a:rPr lang="en-US" dirty="0" smtClean="0">
                <a:latin typeface="Calibri" panose="020F0502020204030204" pitchFamily="34" charset="0"/>
                <a:ea typeface="Calibri" panose="020F0502020204030204" pitchFamily="34" charset="0"/>
              </a:rPr>
              <a:t>:</a:t>
            </a:r>
            <a:endParaRPr lang="en-US" dirty="0">
              <a:solidFill>
                <a:srgbClr val="FF0000"/>
              </a:solidFill>
            </a:endParaRPr>
          </a:p>
        </p:txBody>
      </p:sp>
      <mc:AlternateContent xmlns:mc="http://schemas.openxmlformats.org/markup-compatibility/2006" xmlns:a14="http://schemas.microsoft.com/office/drawing/2010/main">
        <mc:Choice Requires="a14">
          <p:sp>
            <p:nvSpPr>
              <p:cNvPr id="10" name="Rectangle 9"/>
              <p:cNvSpPr/>
              <p:nvPr/>
            </p:nvSpPr>
            <p:spPr>
              <a:xfrm>
                <a:off x="7922495" y="5599100"/>
                <a:ext cx="2146229" cy="696857"/>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𝛽</m:t>
                      </m:r>
                      <m:r>
                        <a:rPr lang="en-US" i="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𝑓</m:t>
                              </m:r>
                            </m:sub>
                          </m:sSub>
                        </m:num>
                        <m:den>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𝑜𝑢𝑡</m:t>
                              </m:r>
                            </m:sub>
                          </m:sSub>
                        </m:den>
                      </m:f>
                      <m:r>
                        <a:rPr lang="en-US" i="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num>
                        <m:den>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𝑓</m:t>
                              </m:r>
                            </m:sub>
                          </m:sSub>
                        </m:den>
                      </m:f>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7922495" y="5599100"/>
                <a:ext cx="2146229" cy="696857"/>
              </a:xfrm>
              <a:prstGeom prst="rect">
                <a:avLst/>
              </a:prstGeom>
              <a:blipFill rotWithShape="0">
                <a:blip r:embed="rId6"/>
                <a:stretch>
                  <a:fillRect/>
                </a:stretch>
              </a:blipFill>
              <a:ln>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19854579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03552" y="770022"/>
            <a:ext cx="10178322" cy="3593591"/>
          </a:xfrm>
        </p:spPr>
        <p:txBody>
          <a:bodyPr/>
          <a:lstStyle/>
          <a:p>
            <a:pPr marL="0" indent="0">
              <a:buNone/>
            </a:pPr>
            <a:r>
              <a:rPr lang="en-US" dirty="0" err="1" smtClean="0">
                <a:solidFill>
                  <a:schemeClr val="tx1"/>
                </a:solidFill>
              </a:rPr>
              <a:t>Sehingga</a:t>
            </a:r>
            <a:r>
              <a:rPr lang="en-US" dirty="0" smtClean="0">
                <a:solidFill>
                  <a:schemeClr val="tx1"/>
                </a:solidFill>
              </a:rPr>
              <a:t> </a:t>
            </a:r>
            <a:r>
              <a:rPr lang="en-US" dirty="0" err="1" smtClean="0">
                <a:solidFill>
                  <a:srgbClr val="0070C0"/>
                </a:solidFill>
              </a:rPr>
              <a:t>lebar</a:t>
            </a:r>
            <a:r>
              <a:rPr lang="en-US" dirty="0" smtClean="0">
                <a:solidFill>
                  <a:srgbClr val="0070C0"/>
                </a:solidFill>
              </a:rPr>
              <a:t> </a:t>
            </a:r>
            <a:r>
              <a:rPr lang="en-US" dirty="0">
                <a:solidFill>
                  <a:srgbClr val="0070C0"/>
                </a:solidFill>
              </a:rPr>
              <a:t>pita </a:t>
            </a:r>
            <a:r>
              <a:rPr lang="en-US" dirty="0" err="1">
                <a:solidFill>
                  <a:srgbClr val="0070C0"/>
                </a:solidFill>
              </a:rPr>
              <a:t>rangkaian</a:t>
            </a:r>
            <a:r>
              <a:rPr lang="en-US" dirty="0">
                <a:solidFill>
                  <a:srgbClr val="0070C0"/>
                </a:solidFill>
              </a:rPr>
              <a:t> </a:t>
            </a:r>
            <a:r>
              <a:rPr lang="en-US" dirty="0" err="1" smtClean="0">
                <a:solidFill>
                  <a:srgbClr val="0070C0"/>
                </a:solidFill>
              </a:rPr>
              <a:t>umpan</a:t>
            </a:r>
            <a:r>
              <a:rPr lang="en-US" dirty="0" smtClean="0">
                <a:solidFill>
                  <a:srgbClr val="0070C0"/>
                </a:solidFill>
              </a:rPr>
              <a:t> </a:t>
            </a:r>
            <a:r>
              <a:rPr lang="en-US" dirty="0" err="1" smtClean="0">
                <a:solidFill>
                  <a:srgbClr val="0070C0"/>
                </a:solidFill>
              </a:rPr>
              <a:t>balik</a:t>
            </a:r>
            <a:r>
              <a:rPr lang="en-US" dirty="0" smtClean="0">
                <a:solidFill>
                  <a:srgbClr val="0070C0"/>
                </a:solidFill>
              </a:rPr>
              <a:t> </a:t>
            </a:r>
            <a:r>
              <a:rPr lang="en-US" dirty="0" err="1" smtClean="0">
                <a:solidFill>
                  <a:schemeClr val="tx1"/>
                </a:solidFill>
              </a:rPr>
              <a:t>ini</a:t>
            </a:r>
            <a:r>
              <a:rPr lang="en-US" dirty="0" smtClean="0">
                <a:solidFill>
                  <a:schemeClr val="tx1"/>
                </a:solidFill>
              </a:rPr>
              <a:t> </a:t>
            </a:r>
            <a:r>
              <a:rPr lang="en-US" dirty="0" err="1" smtClean="0">
                <a:solidFill>
                  <a:schemeClr val="tx1"/>
                </a:solidFill>
              </a:rPr>
              <a:t>diperoleh</a:t>
            </a:r>
            <a:r>
              <a:rPr lang="en-US" dirty="0" smtClean="0">
                <a:solidFill>
                  <a:schemeClr val="tx1"/>
                </a:solidFill>
              </a:rPr>
              <a:t> </a:t>
            </a:r>
            <a:r>
              <a:rPr lang="en-US" dirty="0" err="1" smtClean="0">
                <a:solidFill>
                  <a:schemeClr val="tx1"/>
                </a:solidFill>
              </a:rPr>
              <a:t>sebesar</a:t>
            </a:r>
            <a:r>
              <a:rPr lang="en-US" dirty="0">
                <a:solidFill>
                  <a:schemeClr val="tx1"/>
                </a:solidFill>
              </a:rPr>
              <a:t> </a:t>
            </a:r>
            <a:r>
              <a:rPr lang="en-US" dirty="0" smtClean="0">
                <a:solidFill>
                  <a:schemeClr val="tx1"/>
                </a:solidFill>
              </a:rPr>
              <a:t>:</a:t>
            </a:r>
            <a:endParaRPr lang="en-US" dirty="0">
              <a:solidFill>
                <a:schemeClr val="tx1"/>
              </a:solidFill>
            </a:endParaRPr>
          </a:p>
          <a:p>
            <a:endParaRPr lang="en-US" dirty="0"/>
          </a:p>
        </p:txBody>
      </p:sp>
      <mc:AlternateContent xmlns:mc="http://schemas.openxmlformats.org/markup-compatibility/2006" xmlns:a14="http://schemas.microsoft.com/office/drawing/2010/main">
        <mc:Choice Requires="a14">
          <p:sp>
            <p:nvSpPr>
              <p:cNvPr id="4" name="Rectangle 3"/>
              <p:cNvSpPr/>
              <p:nvPr/>
            </p:nvSpPr>
            <p:spPr>
              <a:xfrm>
                <a:off x="3661468" y="1645011"/>
                <a:ext cx="1837106" cy="411331"/>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𝑓</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𝑜</m:t>
                              </m:r>
                            </m:sub>
                          </m:sSub>
                          <m:r>
                            <a:rPr lang="en-US" i="0">
                              <a:latin typeface="Cambria Math" panose="02040503050406030204" pitchFamily="18" charset="0"/>
                            </a:rPr>
                            <m:t>(1+</m:t>
                          </m:r>
                          <m:r>
                            <a:rPr lang="en-US" i="1">
                              <a:latin typeface="Cambria Math" panose="02040503050406030204" pitchFamily="18" charset="0"/>
                            </a:rPr>
                            <m:t>𝐴</m:t>
                          </m:r>
                          <m:r>
                            <a:rPr lang="en-US" i="1">
                              <a:latin typeface="Cambria Math" panose="02040503050406030204" pitchFamily="18" charset="0"/>
                            </a:rPr>
                            <m:t>𝛽</m:t>
                          </m:r>
                        </m:e>
                      </m:d>
                    </m:oMath>
                  </m:oMathPara>
                </a14:m>
                <a:endParaRPr lang="en-US" dirty="0"/>
              </a:p>
            </p:txBody>
          </p:sp>
        </mc:Choice>
        <mc:Fallback xmlns="">
          <p:sp>
            <p:nvSpPr>
              <p:cNvPr id="4" name="Rectangle 3"/>
              <p:cNvSpPr>
                <a:spLocks noRot="1" noChangeAspect="1" noMove="1" noResize="1" noEditPoints="1" noAdjustHandles="1" noChangeArrowheads="1" noChangeShapeType="1" noTextEdit="1"/>
              </p:cNvSpPr>
              <p:nvPr/>
            </p:nvSpPr>
            <p:spPr>
              <a:xfrm>
                <a:off x="3661468" y="1645011"/>
                <a:ext cx="1837106" cy="411331"/>
              </a:xfrm>
              <a:prstGeom prst="rect">
                <a:avLst/>
              </a:prstGeom>
              <a:blipFill rotWithShape="0">
                <a:blip r:embed="rId2"/>
                <a:stretch>
                  <a:fillRect t="-147826" r="-33333" b="-220290"/>
                </a:stretch>
              </a:blipFill>
              <a:ln>
                <a:solidFill>
                  <a:srgbClr val="C0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203552" y="2394370"/>
                <a:ext cx="10427368" cy="2929007"/>
              </a:xfrm>
              <a:prstGeom prst="rect">
                <a:avLst/>
              </a:prstGeom>
            </p:spPr>
            <p:txBody>
              <a:bodyPr wrap="square">
                <a:spAutoFit/>
              </a:bodyPr>
              <a:lstStyle/>
              <a:p>
                <a:pPr algn="just">
                  <a:lnSpc>
                    <a:spcPct val="150000"/>
                  </a:lnSpc>
                  <a:spcAft>
                    <a:spcPts val="800"/>
                  </a:spcAft>
                </a:pPr>
                <a:r>
                  <a:rPr lang="en-US" sz="2400" b="1" dirty="0" err="1">
                    <a:latin typeface="Calibri" panose="020F0502020204030204" pitchFamily="34" charset="0"/>
                    <a:ea typeface="Calibri" panose="020F0502020204030204" pitchFamily="34" charset="0"/>
                    <a:cs typeface="Calibri" panose="020F0502020204030204" pitchFamily="34" charset="0"/>
                  </a:rPr>
                  <a:t>Contoh</a:t>
                </a:r>
                <a:r>
                  <a:rPr lang="en-US" sz="2400" b="1" dirty="0">
                    <a:latin typeface="Calibri" panose="020F0502020204030204" pitchFamily="34" charset="0"/>
                    <a:ea typeface="Calibri" panose="020F0502020204030204" pitchFamily="34" charset="0"/>
                    <a:cs typeface="Calibri" panose="020F0502020204030204" pitchFamily="34" charset="0"/>
                  </a:rPr>
                  <a:t> </a:t>
                </a:r>
                <a:r>
                  <a:rPr lang="en-US" sz="2400" b="1" dirty="0" smtClean="0">
                    <a:latin typeface="Calibri" panose="020F0502020204030204" pitchFamily="34" charset="0"/>
                    <a:ea typeface="Calibri" panose="020F0502020204030204" pitchFamily="34" charset="0"/>
                    <a:cs typeface="Calibri" panose="020F0502020204030204" pitchFamily="34" charset="0"/>
                  </a:rPr>
                  <a:t>1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dirty="0" err="1">
                    <a:effectLst/>
                    <a:latin typeface="Calibri" panose="020F0502020204030204" pitchFamily="34" charset="0"/>
                    <a:ea typeface="Calibri" panose="020F0502020204030204" pitchFamily="34" charset="0"/>
                    <a:cs typeface="Calibri" panose="020F0502020204030204" pitchFamily="34" charset="0"/>
                  </a:rPr>
                  <a:t>Sebuah</a:t>
                </a:r>
                <a:r>
                  <a:rPr lang="en-US" dirty="0">
                    <a:effectLst/>
                    <a:latin typeface="Calibri" panose="020F0502020204030204" pitchFamily="34" charset="0"/>
                    <a:ea typeface="Calibri" panose="020F0502020204030204" pitchFamily="34" charset="0"/>
                    <a:cs typeface="Calibri" panose="020F0502020204030204" pitchFamily="34" charset="0"/>
                  </a:rPr>
                  <a:t> </a:t>
                </a:r>
                <a:r>
                  <a:rPr lang="en-US" dirty="0" err="1">
                    <a:effectLst/>
                    <a:latin typeface="Calibri" panose="020F0502020204030204" pitchFamily="34" charset="0"/>
                    <a:ea typeface="Calibri" panose="020F0502020204030204" pitchFamily="34" charset="0"/>
                    <a:cs typeface="Calibri" panose="020F0502020204030204" pitchFamily="34" charset="0"/>
                  </a:rPr>
                  <a:t>rangkaian</a:t>
                </a:r>
                <a:r>
                  <a:rPr lang="en-US" dirty="0">
                    <a:effectLst/>
                    <a:latin typeface="Calibri" panose="020F0502020204030204" pitchFamily="34" charset="0"/>
                    <a:ea typeface="Calibri" panose="020F0502020204030204" pitchFamily="34" charset="0"/>
                    <a:cs typeface="Calibri" panose="020F0502020204030204" pitchFamily="34" charset="0"/>
                  </a:rPr>
                  <a:t> non inverting yang </a:t>
                </a:r>
                <a:r>
                  <a:rPr lang="en-US" dirty="0" err="1">
                    <a:effectLst/>
                    <a:latin typeface="Calibri" panose="020F0502020204030204" pitchFamily="34" charset="0"/>
                    <a:ea typeface="Calibri" panose="020F0502020204030204" pitchFamily="34" charset="0"/>
                    <a:cs typeface="Calibri" panose="020F0502020204030204" pitchFamily="34" charset="0"/>
                  </a:rPr>
                  <a:t>tersusun</a:t>
                </a:r>
                <a:r>
                  <a:rPr lang="en-US" dirty="0">
                    <a:effectLst/>
                    <a:latin typeface="Calibri" panose="020F0502020204030204" pitchFamily="34" charset="0"/>
                    <a:ea typeface="Calibri" panose="020F0502020204030204" pitchFamily="34" charset="0"/>
                    <a:cs typeface="Calibri" panose="020F0502020204030204" pitchFamily="34" charset="0"/>
                  </a:rPr>
                  <a:t> </a:t>
                </a:r>
                <a:r>
                  <a:rPr lang="en-US" dirty="0" err="1">
                    <a:effectLst/>
                    <a:latin typeface="Calibri" panose="020F0502020204030204" pitchFamily="34" charset="0"/>
                    <a:ea typeface="Calibri" panose="020F0502020204030204" pitchFamily="34" charset="0"/>
                    <a:cs typeface="Calibri" panose="020F0502020204030204" pitchFamily="34" charset="0"/>
                  </a:rPr>
                  <a:t>oleh</a:t>
                </a:r>
                <a:r>
                  <a:rPr lang="en-US" dirty="0">
                    <a:effectLst/>
                    <a:latin typeface="Calibri" panose="020F0502020204030204" pitchFamily="34" charset="0"/>
                    <a:ea typeface="Calibri" panose="020F0502020204030204" pitchFamily="34" charset="0"/>
                    <a:cs typeface="Calibri" panose="020F0502020204030204" pitchFamily="34" charset="0"/>
                  </a:rPr>
                  <a:t> </a:t>
                </a:r>
                <a:r>
                  <a:rPr lang="en-US" dirty="0" err="1">
                    <a:effectLst/>
                    <a:latin typeface="Calibri" panose="020F0502020204030204" pitchFamily="34" charset="0"/>
                    <a:ea typeface="Calibri" panose="020F0502020204030204" pitchFamily="34" charset="0"/>
                    <a:cs typeface="Calibri" panose="020F0502020204030204" pitchFamily="34" charset="0"/>
                  </a:rPr>
                  <a:t>penguat</a:t>
                </a:r>
                <a:r>
                  <a:rPr lang="en-US" dirty="0">
                    <a:effectLst/>
                    <a:latin typeface="Calibri" panose="020F0502020204030204" pitchFamily="34" charset="0"/>
                    <a:ea typeface="Calibri" panose="020F0502020204030204" pitchFamily="34" charset="0"/>
                    <a:cs typeface="Calibri" panose="020F0502020204030204" pitchFamily="34" charset="0"/>
                  </a:rPr>
                  <a:t> </a:t>
                </a:r>
                <a:r>
                  <a:rPr lang="en-US" dirty="0" err="1">
                    <a:effectLst/>
                    <a:latin typeface="Calibri" panose="020F0502020204030204" pitchFamily="34" charset="0"/>
                    <a:ea typeface="Calibri" panose="020F0502020204030204" pitchFamily="34" charset="0"/>
                    <a:cs typeface="Calibri" panose="020F0502020204030204" pitchFamily="34" charset="0"/>
                  </a:rPr>
                  <a:t>operasional</a:t>
                </a:r>
                <a:r>
                  <a:rPr lang="en-US" dirty="0">
                    <a:effectLst/>
                    <a:latin typeface="Calibri" panose="020F0502020204030204" pitchFamily="34" charset="0"/>
                    <a:ea typeface="Calibri" panose="020F0502020204030204" pitchFamily="34" charset="0"/>
                    <a:cs typeface="Calibri" panose="020F0502020204030204" pitchFamily="34" charset="0"/>
                  </a:rPr>
                  <a:t> </a:t>
                </a:r>
                <a:r>
                  <a:rPr lang="en-US" dirty="0" err="1">
                    <a:effectLst/>
                    <a:latin typeface="Calibri" panose="020F0502020204030204" pitchFamily="34" charset="0"/>
                    <a:ea typeface="Calibri" panose="020F0502020204030204" pitchFamily="34" charset="0"/>
                    <a:cs typeface="Calibri" panose="020F0502020204030204" pitchFamily="34" charset="0"/>
                  </a:rPr>
                  <a:t>tipe</a:t>
                </a:r>
                <a:r>
                  <a:rPr lang="en-US" dirty="0">
                    <a:effectLst/>
                    <a:latin typeface="Calibri" panose="020F0502020204030204" pitchFamily="34" charset="0"/>
                    <a:ea typeface="Calibri" panose="020F0502020204030204" pitchFamily="34" charset="0"/>
                    <a:cs typeface="Calibri" panose="020F0502020204030204" pitchFamily="34" charset="0"/>
                  </a:rPr>
                  <a:t> 741 </a:t>
                </a:r>
                <a:r>
                  <a:rPr lang="en-US" dirty="0" err="1">
                    <a:effectLst/>
                    <a:latin typeface="Calibri" panose="020F0502020204030204" pitchFamily="34" charset="0"/>
                    <a:ea typeface="Calibri" panose="020F0502020204030204" pitchFamily="34" charset="0"/>
                    <a:cs typeface="Calibri" panose="020F0502020204030204" pitchFamily="34" charset="0"/>
                  </a:rPr>
                  <a:t>seperti</a:t>
                </a:r>
                <a:r>
                  <a:rPr lang="en-US" dirty="0">
                    <a:effectLst/>
                    <a:latin typeface="Calibri" panose="020F0502020204030204" pitchFamily="34" charset="0"/>
                    <a:ea typeface="Calibri" panose="020F0502020204030204" pitchFamily="34" charset="0"/>
                    <a:cs typeface="Calibri" panose="020F0502020204030204" pitchFamily="34" charset="0"/>
                  </a:rPr>
                  <a:t> </a:t>
                </a:r>
                <a:r>
                  <a:rPr lang="en-US" dirty="0" err="1">
                    <a:effectLst/>
                    <a:latin typeface="Calibri" panose="020F0502020204030204" pitchFamily="34" charset="0"/>
                    <a:ea typeface="Calibri" panose="020F0502020204030204" pitchFamily="34" charset="0"/>
                    <a:cs typeface="Calibri" panose="020F0502020204030204" pitchFamily="34" charset="0"/>
                  </a:rPr>
                  <a:t>pada</a:t>
                </a:r>
                <a:r>
                  <a:rPr lang="en-US" dirty="0">
                    <a:effectLst/>
                    <a:latin typeface="Calibri" panose="020F0502020204030204" pitchFamily="34" charset="0"/>
                    <a:ea typeface="Calibri" panose="020F0502020204030204" pitchFamily="34" charset="0"/>
                    <a:cs typeface="Calibri" panose="020F0502020204030204" pitchFamily="34" charset="0"/>
                  </a:rPr>
                  <a:t> </a:t>
                </a:r>
                <a:r>
                  <a:rPr lang="en-US" dirty="0" err="1">
                    <a:effectLst/>
                    <a:latin typeface="Calibri" panose="020F0502020204030204" pitchFamily="34" charset="0"/>
                    <a:ea typeface="Calibri" panose="020F0502020204030204" pitchFamily="34" charset="0"/>
                    <a:cs typeface="Calibri" panose="020F0502020204030204" pitchFamily="34" charset="0"/>
                  </a:rPr>
                  <a:t>gambar</a:t>
                </a:r>
                <a:r>
                  <a:rPr lang="en-US" dirty="0">
                    <a:effectLst/>
                    <a:latin typeface="Calibri" panose="020F0502020204030204" pitchFamily="34" charset="0"/>
                    <a:ea typeface="Calibri" panose="020F0502020204030204" pitchFamily="34" charset="0"/>
                    <a:cs typeface="Calibri" panose="020F0502020204030204" pitchFamily="34" charset="0"/>
                  </a:rPr>
                  <a:t> 5.6 </a:t>
                </a:r>
                <a:r>
                  <a:rPr lang="en-US" dirty="0" err="1">
                    <a:effectLst/>
                    <a:latin typeface="Calibri" panose="020F0502020204030204" pitchFamily="34" charset="0"/>
                    <a:ea typeface="Calibri" panose="020F0502020204030204" pitchFamily="34" charset="0"/>
                    <a:cs typeface="Calibri" panose="020F0502020204030204" pitchFamily="34" charset="0"/>
                  </a:rPr>
                  <a:t>diketahui</a:t>
                </a:r>
                <a:r>
                  <a:rPr lang="en-US" dirty="0">
                    <a:effectLst/>
                    <a:latin typeface="Calibri" panose="020F0502020204030204" pitchFamily="34" charset="0"/>
                    <a:ea typeface="Calibri" panose="020F0502020204030204" pitchFamily="34" charset="0"/>
                    <a:cs typeface="Calibri" panose="020F0502020204030204" pitchFamily="34" charset="0"/>
                  </a:rPr>
                  <a:t> </a:t>
                </a:r>
                <a:r>
                  <a:rPr lang="en-US" dirty="0" err="1">
                    <a:effectLst/>
                    <a:latin typeface="Calibri" panose="020F0502020204030204" pitchFamily="34" charset="0"/>
                    <a:ea typeface="Calibri" panose="020F0502020204030204" pitchFamily="34" charset="0"/>
                    <a:cs typeface="Calibri" panose="020F0502020204030204" pitchFamily="34" charset="0"/>
                  </a:rPr>
                  <a:t>memiliki</a:t>
                </a:r>
                <a:r>
                  <a:rPr lang="en-US" dirty="0">
                    <a:effectLst/>
                    <a:latin typeface="Calibri" panose="020F0502020204030204" pitchFamily="34" charset="0"/>
                    <a:ea typeface="Calibri" panose="020F0502020204030204" pitchFamily="34" charset="0"/>
                    <a:cs typeface="Calibri" panose="020F0502020204030204" pitchFamily="34" charset="0"/>
                  </a:rPr>
                  <a:t> parameter </a:t>
                </a:r>
                <a:r>
                  <a:rPr lang="en-US" dirty="0" err="1">
                    <a:effectLst/>
                    <a:latin typeface="Calibri" panose="020F0502020204030204" pitchFamily="34" charset="0"/>
                    <a:ea typeface="Calibri" panose="020F0502020204030204" pitchFamily="34" charset="0"/>
                    <a:cs typeface="Calibri" panose="020F0502020204030204" pitchFamily="34" charset="0"/>
                  </a:rPr>
                  <a:t>rangkaian</a:t>
                </a:r>
                <a:r>
                  <a:rPr lang="en-US" dirty="0">
                    <a:effectLst/>
                    <a:latin typeface="Calibri" panose="020F0502020204030204" pitchFamily="34" charset="0"/>
                    <a:ea typeface="Calibri" panose="020F0502020204030204" pitchFamily="34" charset="0"/>
                    <a:cs typeface="Calibri" panose="020F0502020204030204" pitchFamily="34" charset="0"/>
                  </a:rPr>
                  <a:t>: </a:t>
                </a:r>
                <a:r>
                  <a:rPr lang="en-US" dirty="0" err="1">
                    <a:effectLst/>
                    <a:latin typeface="Calibri" panose="020F0502020204030204" pitchFamily="34" charset="0"/>
                    <a:ea typeface="Calibri" panose="020F0502020204030204" pitchFamily="34" charset="0"/>
                    <a:cs typeface="Calibri" panose="020F0502020204030204" pitchFamily="34" charset="0"/>
                  </a:rPr>
                  <a:t>R</a:t>
                </a:r>
                <a:r>
                  <a:rPr lang="en-US" sz="1400" dirty="0" err="1">
                    <a:effectLst/>
                    <a:latin typeface="Calibri" panose="020F0502020204030204" pitchFamily="34" charset="0"/>
                    <a:ea typeface="Calibri" panose="020F0502020204030204" pitchFamily="34" charset="0"/>
                    <a:cs typeface="Calibri" panose="020F0502020204030204" pitchFamily="34" charset="0"/>
                  </a:rPr>
                  <a:t>i</a:t>
                </a:r>
                <a:r>
                  <a:rPr lang="en-US" dirty="0">
                    <a:effectLst/>
                    <a:latin typeface="Calibri" panose="020F0502020204030204" pitchFamily="34" charset="0"/>
                    <a:ea typeface="Calibri" panose="020F0502020204030204" pitchFamily="34" charset="0"/>
                    <a:cs typeface="Calibri" panose="020F0502020204030204" pitchFamily="34" charset="0"/>
                  </a:rPr>
                  <a:t>=1Ω, </a:t>
                </a:r>
                <a:r>
                  <a:rPr lang="en-US" dirty="0" err="1">
                    <a:effectLst/>
                    <a:latin typeface="Calibri" panose="020F0502020204030204" pitchFamily="34" charset="0"/>
                    <a:ea typeface="Calibri" panose="020F0502020204030204" pitchFamily="34" charset="0"/>
                    <a:cs typeface="Calibri" panose="020F0502020204030204" pitchFamily="34" charset="0"/>
                  </a:rPr>
                  <a:t>R</a:t>
                </a:r>
                <a:r>
                  <a:rPr lang="en-US" sz="1400" dirty="0" err="1">
                    <a:effectLst/>
                    <a:latin typeface="Calibri" panose="020F0502020204030204" pitchFamily="34" charset="0"/>
                    <a:ea typeface="Calibri" panose="020F0502020204030204" pitchFamily="34" charset="0"/>
                    <a:cs typeface="Calibri" panose="020F0502020204030204" pitchFamily="34" charset="0"/>
                  </a:rPr>
                  <a:t>f</a:t>
                </a:r>
                <a:r>
                  <a:rPr lang="en-US" dirty="0">
                    <a:effectLst/>
                    <a:latin typeface="Calibri" panose="020F0502020204030204" pitchFamily="34" charset="0"/>
                    <a:ea typeface="Calibri" panose="020F0502020204030204" pitchFamily="34" charset="0"/>
                    <a:cs typeface="Calibri" panose="020F0502020204030204" pitchFamily="34" charset="0"/>
                  </a:rPr>
                  <a:t>=10kΩ, A=200000, </a:t>
                </a:r>
                <a:r>
                  <a:rPr lang="en-US" dirty="0" err="1">
                    <a:effectLst/>
                    <a:latin typeface="Calibri" panose="020F0502020204030204" pitchFamily="34" charset="0"/>
                    <a:ea typeface="Calibri" panose="020F0502020204030204" pitchFamily="34" charset="0"/>
                    <a:cs typeface="Calibri" panose="020F0502020204030204" pitchFamily="34" charset="0"/>
                  </a:rPr>
                  <a:t>R</a:t>
                </a:r>
                <a:r>
                  <a:rPr lang="en-US" sz="1400" dirty="0" err="1">
                    <a:effectLst/>
                    <a:latin typeface="Calibri" panose="020F0502020204030204" pitchFamily="34" charset="0"/>
                    <a:ea typeface="Calibri" panose="020F0502020204030204" pitchFamily="34" charset="0"/>
                    <a:cs typeface="Calibri" panose="020F0502020204030204" pitchFamily="34" charset="0"/>
                  </a:rPr>
                  <a:t>in</a:t>
                </a:r>
                <a:r>
                  <a:rPr lang="en-US" dirty="0">
                    <a:effectLst/>
                    <a:latin typeface="Calibri" panose="020F0502020204030204" pitchFamily="34" charset="0"/>
                    <a:ea typeface="Calibri" panose="020F0502020204030204" pitchFamily="34" charset="0"/>
                    <a:cs typeface="Calibri" panose="020F0502020204030204" pitchFamily="34" charset="0"/>
                  </a:rPr>
                  <a:t>= 2 MΩ, </a:t>
                </a:r>
                <a:r>
                  <a:rPr lang="en-US" dirty="0" smtClean="0">
                    <a:effectLst/>
                    <a:latin typeface="Calibri" panose="020F0502020204030204" pitchFamily="34" charset="0"/>
                    <a:ea typeface="Calibri" panose="020F0502020204030204" pitchFamily="34" charset="0"/>
                    <a:cs typeface="Calibri" panose="020F0502020204030204" pitchFamily="34" charset="0"/>
                  </a:rPr>
                  <a:t>R</a:t>
                </a:r>
                <a:r>
                  <a:rPr lang="en-US" sz="1400" dirty="0" smtClean="0">
                    <a:effectLst/>
                    <a:latin typeface="Calibri" panose="020F0502020204030204" pitchFamily="34" charset="0"/>
                    <a:ea typeface="Calibri" panose="020F0502020204030204" pitchFamily="34" charset="0"/>
                    <a:cs typeface="Calibri" panose="020F0502020204030204" pitchFamily="34" charset="0"/>
                  </a:rPr>
                  <a:t>o</a:t>
                </a:r>
                <a:r>
                  <a:rPr lang="en-US" dirty="0" smtClean="0">
                    <a:effectLst/>
                    <a:latin typeface="Calibri" panose="020F0502020204030204" pitchFamily="34" charset="0"/>
                    <a:ea typeface="Calibri" panose="020F0502020204030204" pitchFamily="34" charset="0"/>
                    <a:cs typeface="Calibri" panose="020F0502020204030204" pitchFamily="34" charset="0"/>
                  </a:rPr>
                  <a:t>=75Ω </a:t>
                </a:r>
                <a:r>
                  <a:rPr lang="en-US" dirty="0" err="1">
                    <a:effectLst/>
                    <a:latin typeface="Calibri" panose="020F0502020204030204" pitchFamily="34" charset="0"/>
                    <a:ea typeface="Calibri" panose="020F0502020204030204" pitchFamily="34" charset="0"/>
                    <a:cs typeface="Calibri" panose="020F0502020204030204" pitchFamily="34" charset="0"/>
                  </a:rPr>
                  <a:t>dan</a:t>
                </a:r>
                <a:r>
                  <a:rPr lang="en-US" dirty="0">
                    <a:effectLst/>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i="1">
                        <a:effectLst/>
                        <a:latin typeface="Cambria Math" panose="02040503050406030204" pitchFamily="18" charset="0"/>
                        <a:ea typeface="Calibri" panose="020F0502020204030204" pitchFamily="34" charset="0"/>
                        <a:cs typeface="Calibri" panose="020F0502020204030204" pitchFamily="34" charset="0"/>
                      </a:rPr>
                      <m:t>𝑓</m:t>
                    </m:r>
                    <m:r>
                      <a:rPr lang="en-US" i="1">
                        <a:effectLst/>
                        <a:latin typeface="Cambria Math" panose="02040503050406030204" pitchFamily="18" charset="0"/>
                        <a:ea typeface="Calibri" panose="020F0502020204030204" pitchFamily="34" charset="0"/>
                        <a:cs typeface="Calibri" panose="020F0502020204030204" pitchFamily="34" charset="0"/>
                      </a:rPr>
                      <m:t>=5 </m:t>
                    </m:r>
                    <m:r>
                      <a:rPr lang="en-US" i="1">
                        <a:effectLst/>
                        <a:latin typeface="Cambria Math" panose="02040503050406030204" pitchFamily="18" charset="0"/>
                        <a:ea typeface="Calibri" panose="020F0502020204030204" pitchFamily="34" charset="0"/>
                        <a:cs typeface="Calibri" panose="020F0502020204030204" pitchFamily="34" charset="0"/>
                      </a:rPr>
                      <m:t>𝐻𝑧</m:t>
                    </m:r>
                  </m:oMath>
                </a14:m>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Tentukan</a:t>
                </a:r>
                <a:r>
                  <a:rPr lang="en-US" dirty="0">
                    <a:effectLst/>
                    <a:latin typeface="Calibri" panose="020F0502020204030204" pitchFamily="34" charset="0"/>
                    <a:ea typeface="Times New Roman" panose="02020603050405020304" pitchFamily="18"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mj-lt"/>
                  <a:buAutoNum type="alphaLcPeriod"/>
                </a:pPr>
                <a:r>
                  <a:rPr lang="en-US" dirty="0" err="1">
                    <a:effectLst/>
                    <a:latin typeface="Calibri" panose="020F0502020204030204" pitchFamily="34" charset="0"/>
                    <a:ea typeface="Times New Roman" panose="02020603050405020304" pitchFamily="18" charset="0"/>
                    <a:cs typeface="Calibri" panose="020F0502020204030204" pitchFamily="34" charset="0"/>
                  </a:rPr>
                  <a:t>Penguatan</a:t>
                </a:r>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umpan</a:t>
                </a:r>
                <a:r>
                  <a:rPr lang="en-US" dirty="0">
                    <a:effectLst/>
                    <a:latin typeface="Calibri" panose="020F0502020204030204" pitchFamily="34" charset="0"/>
                    <a:ea typeface="Times New Roman" panose="02020603050405020304" pitchFamily="18" charset="0"/>
                    <a:cs typeface="Calibri" panose="020F0502020204030204" pitchFamily="34" charset="0"/>
                  </a:rPr>
                  <a:t> </a:t>
                </a:r>
                <a:r>
                  <a:rPr lang="en-US" dirty="0" err="1">
                    <a:effectLst/>
                    <a:latin typeface="Calibri" panose="020F0502020204030204" pitchFamily="34" charset="0"/>
                    <a:ea typeface="Times New Roman" panose="02020603050405020304" pitchFamily="18" charset="0"/>
                    <a:cs typeface="Calibri" panose="020F0502020204030204" pitchFamily="34" charset="0"/>
                  </a:rPr>
                  <a:t>balik</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50000"/>
                  </a:lnSpc>
                  <a:spcAft>
                    <a:spcPts val="0"/>
                  </a:spcAft>
                  <a:buFont typeface="+mj-lt"/>
                  <a:buAutoNum type="alphaLcPeriod"/>
                </a:pPr>
                <a:r>
                  <a:rPr lang="en-US" dirty="0" err="1" smtClean="0">
                    <a:effectLst/>
                    <a:latin typeface="Calibri" panose="020F0502020204030204" pitchFamily="34" charset="0"/>
                    <a:ea typeface="Times New Roman" panose="02020603050405020304" pitchFamily="18" charset="0"/>
                    <a:cs typeface="Calibri" panose="020F0502020204030204" pitchFamily="34" charset="0"/>
                  </a:rPr>
                  <a:t>Lebar</a:t>
                </a:r>
                <a:r>
                  <a:rPr lang="en-US" dirty="0" smtClean="0">
                    <a:effectLst/>
                    <a:latin typeface="Calibri" panose="020F0502020204030204" pitchFamily="34" charset="0"/>
                    <a:ea typeface="Times New Roman" panose="02020603050405020304" pitchFamily="18" charset="0"/>
                    <a:cs typeface="Calibri" panose="020F0502020204030204" pitchFamily="34" charset="0"/>
                  </a:rPr>
                  <a:t> pita </a:t>
                </a:r>
                <a:r>
                  <a:rPr lang="en-US" dirty="0" err="1" smtClean="0">
                    <a:effectLst/>
                    <a:latin typeface="Calibri" panose="020F0502020204030204" pitchFamily="34" charset="0"/>
                    <a:ea typeface="Times New Roman" panose="02020603050405020304" pitchFamily="18" charset="0"/>
                    <a:cs typeface="Calibri" panose="020F0502020204030204" pitchFamily="34" charset="0"/>
                  </a:rPr>
                  <a:t>frekuensi</a:t>
                </a:r>
                <a:r>
                  <a:rPr lang="en-US" dirty="0" smtClean="0">
                    <a:effectLst/>
                    <a:latin typeface="Calibri" panose="020F0502020204030204" pitchFamily="34" charset="0"/>
                    <a:ea typeface="Times New Roman" panose="02020603050405020304" pitchFamily="18" charset="0"/>
                    <a:cs typeface="Calibri" panose="020F0502020204030204" pitchFamily="34" charset="0"/>
                  </a:rPr>
                  <a:t> </a:t>
                </a:r>
                <a:r>
                  <a:rPr lang="en-US" dirty="0" err="1" smtClean="0">
                    <a:effectLst/>
                    <a:latin typeface="Calibri" panose="020F0502020204030204" pitchFamily="34" charset="0"/>
                    <a:ea typeface="Times New Roman" panose="02020603050405020304" pitchFamily="18" charset="0"/>
                    <a:cs typeface="Calibri" panose="020F0502020204030204" pitchFamily="34" charset="0"/>
                  </a:rPr>
                  <a:t>rangkaian</a:t>
                </a:r>
                <a:r>
                  <a:rPr lang="en-US" dirty="0" smtClean="0">
                    <a:effectLst/>
                    <a:latin typeface="Calibri" panose="020F0502020204030204" pitchFamily="34" charset="0"/>
                    <a:ea typeface="Times New Roman" panose="02020603050405020304" pitchFamily="18" charset="0"/>
                    <a:cs typeface="Calibri" panose="020F0502020204030204" pitchFamily="34" charset="0"/>
                  </a:rPr>
                  <a:t> op-amp</a:t>
                </a:r>
                <a:endParaRPr lang="en-US"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203552" y="2394370"/>
                <a:ext cx="10427368" cy="2929007"/>
              </a:xfrm>
              <a:prstGeom prst="rect">
                <a:avLst/>
              </a:prstGeom>
              <a:blipFill rotWithShape="0">
                <a:blip r:embed="rId3"/>
                <a:stretch>
                  <a:fillRect l="-877" r="-468" b="-1042"/>
                </a:stretch>
              </a:blipFill>
            </p:spPr>
            <p:txBody>
              <a:bodyPr/>
              <a:lstStyle/>
              <a:p>
                <a:r>
                  <a:rPr lang="en-US">
                    <a:noFill/>
                  </a:rPr>
                  <a:t> </a:t>
                </a:r>
              </a:p>
            </p:txBody>
          </p:sp>
        </mc:Fallback>
      </mc:AlternateContent>
    </p:spTree>
    <p:extLst>
      <p:ext uri="{BB962C8B-B14F-4D97-AF65-F5344CB8AC3E}">
        <p14:creationId xmlns:p14="http://schemas.microsoft.com/office/powerpoint/2010/main" val="40473517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215583" y="830180"/>
                <a:ext cx="10178322" cy="4800599"/>
              </a:xfrm>
            </p:spPr>
            <p:txBody>
              <a:bodyPr>
                <a:normAutofit fontScale="92500" lnSpcReduction="10000"/>
              </a:bodyPr>
              <a:lstStyle/>
              <a:p>
                <a:r>
                  <a:rPr lang="en-US" dirty="0" smtClean="0"/>
                  <a:t>Cari </a:t>
                </a:r>
                <a:r>
                  <a:rPr lang="en-US" dirty="0" err="1" smtClean="0"/>
                  <a:t>terlebih</a:t>
                </a:r>
                <a:r>
                  <a:rPr lang="en-US" dirty="0" smtClean="0"/>
                  <a:t> </a:t>
                </a:r>
                <a:r>
                  <a:rPr lang="en-US" dirty="0" err="1"/>
                  <a:t>dahulu</a:t>
                </a:r>
                <a:r>
                  <a:rPr lang="en-US" dirty="0"/>
                  <a:t> </a:t>
                </a:r>
                <a:r>
                  <a:rPr lang="en-US" dirty="0" err="1"/>
                  <a:t>faktor</a:t>
                </a:r>
                <a:r>
                  <a:rPr lang="en-US" dirty="0"/>
                  <a:t> </a:t>
                </a:r>
                <a:r>
                  <a:rPr lang="en-US" dirty="0" err="1"/>
                  <a:t>umpan</a:t>
                </a:r>
                <a:r>
                  <a:rPr lang="en-US" dirty="0"/>
                  <a:t> </a:t>
                </a:r>
                <a:r>
                  <a:rPr lang="en-US" dirty="0" err="1"/>
                  <a:t>baliknya</a:t>
                </a:r>
                <a:r>
                  <a:rPr lang="en-US" dirty="0"/>
                  <a:t> </a:t>
                </a:r>
                <a:r>
                  <a:rPr lang="en-US" dirty="0" err="1"/>
                  <a:t>sebesar</a:t>
                </a:r>
                <a:r>
                  <a:rPr lang="en-US" dirty="0"/>
                  <a: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𝛽</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num>
                        <m:den>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𝑓</m:t>
                              </m:r>
                            </m:sub>
                          </m:sSub>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𝑘</m:t>
                          </m:r>
                          <m:r>
                            <a:rPr lang="en-US" i="1">
                              <a:latin typeface="Cambria Math" panose="02040503050406030204" pitchFamily="18" charset="0"/>
                            </a:rPr>
                            <m:t>Ω</m:t>
                          </m:r>
                        </m:num>
                        <m:den>
                          <m:r>
                            <a:rPr lang="en-US" i="1">
                              <a:latin typeface="Cambria Math" panose="02040503050406030204" pitchFamily="18" charset="0"/>
                            </a:rPr>
                            <m:t>1</m:t>
                          </m:r>
                          <m:r>
                            <a:rPr lang="en-US" i="1">
                              <a:latin typeface="Cambria Math" panose="02040503050406030204" pitchFamily="18" charset="0"/>
                            </a:rPr>
                            <m:t>𝑘</m:t>
                          </m:r>
                          <m:r>
                            <a:rPr lang="en-US" i="1">
                              <a:latin typeface="Cambria Math" panose="02040503050406030204" pitchFamily="18" charset="0"/>
                            </a:rPr>
                            <m:t>Ω+10</m:t>
                          </m:r>
                          <m:r>
                            <a:rPr lang="en-US" i="1">
                              <a:latin typeface="Cambria Math" panose="02040503050406030204" pitchFamily="18" charset="0"/>
                            </a:rPr>
                            <m:t>𝑘</m:t>
                          </m:r>
                          <m:r>
                            <a:rPr lang="en-US" i="1">
                              <a:latin typeface="Cambria Math" panose="02040503050406030204" pitchFamily="18" charset="0"/>
                            </a:rPr>
                            <m:t>Ω</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11</m:t>
                          </m:r>
                        </m:den>
                      </m:f>
                    </m:oMath>
                  </m:oMathPara>
                </a14:m>
                <a:endParaRPr lang="en-US" dirty="0" smtClean="0"/>
              </a:p>
              <a:p>
                <a:pPr marL="0" indent="0">
                  <a:buNone/>
                </a:pPr>
                <a:endParaRPr lang="en-US" dirty="0"/>
              </a:p>
              <a:p>
                <a:r>
                  <a:rPr lang="en-US" dirty="0" err="1"/>
                  <a:t>Sehingga</a:t>
                </a:r>
                <a:r>
                  <a:rPr lang="en-US" dirty="0"/>
                  <a:t> </a:t>
                </a:r>
                <a:r>
                  <a:rPr lang="en-US" dirty="0" err="1" smtClean="0"/>
                  <a:t>diperoleh</a:t>
                </a:r>
                <a:r>
                  <a:rPr lang="en-US" dirty="0" smtClean="0"/>
                  <a:t> </a:t>
                </a:r>
                <a:r>
                  <a:rPr lang="en-US" dirty="0" err="1" smtClean="0"/>
                  <a:t>penguatan</a:t>
                </a:r>
                <a:r>
                  <a:rPr lang="en-US" dirty="0" smtClean="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𝑓</m:t>
                        </m:r>
                      </m:sub>
                    </m:sSub>
                  </m:oMath>
                </a14:m>
                <a:r>
                  <a:rPr lang="en-US" dirty="0"/>
                  <a:t> </a:t>
                </a:r>
                <a:r>
                  <a:rPr lang="en-US" dirty="0" err="1" smtClean="0"/>
                  <a:t>sebesar</a:t>
                </a:r>
                <a:r>
                  <a:rPr lang="en-US" dirty="0"/>
                  <a:t> </a:t>
                </a:r>
                <a:r>
                  <a:rPr lang="en-US" dirty="0" smtClean="0"/>
                  <a:t>:</a:t>
                </a: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𝑓</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200.000</m:t>
                          </m:r>
                        </m:num>
                        <m:den>
                          <m:r>
                            <a:rPr lang="en-US" i="1">
                              <a:latin typeface="Cambria Math" panose="02040503050406030204" pitchFamily="18" charset="0"/>
                            </a:rPr>
                            <m:t>1+(200.000)(</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11</m:t>
                              </m:r>
                            </m:den>
                          </m:f>
                          <m:r>
                            <a:rPr lang="en-US" i="1">
                              <a:latin typeface="Cambria Math" panose="02040503050406030204" pitchFamily="18" charset="0"/>
                            </a:rPr>
                            <m:t>)</m:t>
                          </m:r>
                        </m:den>
                      </m:f>
                      <m:r>
                        <a:rPr lang="en-US" i="1">
                          <a:latin typeface="Cambria Math" panose="02040503050406030204" pitchFamily="18" charset="0"/>
                        </a:rPr>
                        <m:t>=10,99</m:t>
                      </m:r>
                    </m:oMath>
                  </m:oMathPara>
                </a14:m>
                <a:endParaRPr lang="en-US" dirty="0" smtClean="0"/>
              </a:p>
              <a:p>
                <a:pPr marL="0" indent="0">
                  <a:buNone/>
                </a:pPr>
                <a:endParaRPr lang="en-US" dirty="0"/>
              </a:p>
              <a:p>
                <a:r>
                  <a:rPr lang="en-US" dirty="0" smtClean="0"/>
                  <a:t> </a:t>
                </a:r>
                <a:r>
                  <a:rPr lang="en-US" dirty="0" err="1"/>
                  <a:t>Lebar</a:t>
                </a:r>
                <a:r>
                  <a:rPr lang="en-US" dirty="0"/>
                  <a:t> pita </a:t>
                </a:r>
                <a:r>
                  <a:rPr lang="en-US" dirty="0" err="1"/>
                  <a:t>rangkaian</a:t>
                </a:r>
                <a:r>
                  <a:rPr lang="en-US" dirty="0"/>
                  <a:t> </a:t>
                </a:r>
                <a:r>
                  <a:rPr lang="en-US" dirty="0" err="1"/>
                  <a:t>dinyatakan</a:t>
                </a:r>
                <a:r>
                  <a:rPr lang="en-US" dirty="0"/>
                  <a:t> </a:t>
                </a:r>
                <a:r>
                  <a:rPr lang="en-US" dirty="0" err="1" smtClean="0"/>
                  <a:t>sebesar</a:t>
                </a:r>
                <a:r>
                  <a:rPr lang="en-US" dirty="0"/>
                  <a:t> </a:t>
                </a:r>
                <a:r>
                  <a:rPr lang="en-US" dirty="0" smtClean="0"/>
                  <a:t>:</a:t>
                </a: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𝑓</m:t>
                          </m:r>
                        </m:sub>
                      </m:sSub>
                      <m:r>
                        <a:rPr lang="en-US" i="1">
                          <a:latin typeface="Cambria Math" panose="02040503050406030204" pitchFamily="18" charset="0"/>
                        </a:rPr>
                        <m:t>=5 </m:t>
                      </m:r>
                      <m:r>
                        <a:rPr lang="en-US" i="1">
                          <a:latin typeface="Cambria Math" panose="02040503050406030204" pitchFamily="18" charset="0"/>
                        </a:rPr>
                        <m:t>𝐻𝑧</m:t>
                      </m:r>
                      <m:r>
                        <a:rPr lang="en-US" b="0" i="1" smtClean="0">
                          <a:latin typeface="Cambria Math" panose="02040503050406030204" pitchFamily="18" charset="0"/>
                        </a:rPr>
                        <m:t>[</m:t>
                      </m:r>
                      <m:r>
                        <a:rPr lang="en-US" i="1">
                          <a:latin typeface="Cambria Math" panose="02040503050406030204" pitchFamily="18" charset="0"/>
                        </a:rPr>
                        <m:t>1+</m:t>
                      </m:r>
                      <m:d>
                        <m:dPr>
                          <m:ctrlPr>
                            <a:rPr lang="en-US" i="1">
                              <a:latin typeface="Cambria Math" panose="02040503050406030204" pitchFamily="18" charset="0"/>
                            </a:rPr>
                          </m:ctrlPr>
                        </m:dPr>
                        <m:e>
                          <m:r>
                            <a:rPr lang="en-US" i="1">
                              <a:latin typeface="Cambria Math" panose="02040503050406030204" pitchFamily="18" charset="0"/>
                            </a:rPr>
                            <m:t>200.000</m:t>
                          </m:r>
                        </m:e>
                      </m:d>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11</m:t>
                              </m:r>
                            </m:den>
                          </m:f>
                        </m:e>
                      </m:d>
                      <m:r>
                        <a:rPr lang="en-US" b="0" i="1" smtClean="0">
                          <a:latin typeface="Cambria Math" panose="02040503050406030204" pitchFamily="18" charset="0"/>
                        </a:rPr>
                        <m:t>]</m:t>
                      </m:r>
                      <m:r>
                        <a:rPr lang="en-US" i="1">
                          <a:latin typeface="Cambria Math" panose="02040503050406030204" pitchFamily="18" charset="0"/>
                        </a:rPr>
                        <m:t>=90,9 </m:t>
                      </m:r>
                      <m:r>
                        <a:rPr lang="en-US" i="1">
                          <a:latin typeface="Cambria Math" panose="02040503050406030204" pitchFamily="18" charset="0"/>
                        </a:rPr>
                        <m:t>𝑘𝐻𝑧</m:t>
                      </m:r>
                    </m:oMath>
                  </m:oMathPara>
                </a14:m>
                <a:endParaRPr lang="en-US" dirty="0"/>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215583" y="830180"/>
                <a:ext cx="10178322" cy="4800599"/>
              </a:xfrm>
              <a:blipFill>
                <a:blip r:embed="rId2"/>
                <a:stretch>
                  <a:fillRect l="-898" t="-2538"/>
                </a:stretch>
              </a:blipFill>
            </p:spPr>
            <p:txBody>
              <a:bodyPr/>
              <a:lstStyle/>
              <a:p>
                <a:r>
                  <a:rPr lang="en-US">
                    <a:noFill/>
                  </a:rPr>
                  <a:t> </a:t>
                </a:r>
              </a:p>
            </p:txBody>
          </p:sp>
        </mc:Fallback>
      </mc:AlternateContent>
    </p:spTree>
    <p:extLst>
      <p:ext uri="{BB962C8B-B14F-4D97-AF65-F5344CB8AC3E}">
        <p14:creationId xmlns:p14="http://schemas.microsoft.com/office/powerpoint/2010/main" val="7559845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27615" y="637675"/>
            <a:ext cx="10178322" cy="3593591"/>
          </a:xfrm>
        </p:spPr>
        <p:txBody>
          <a:bodyPr/>
          <a:lstStyle/>
          <a:p>
            <a:pPr>
              <a:buFont typeface="Wingdings" panose="05000000000000000000" pitchFamily="2" charset="2"/>
              <a:buChar char="v"/>
            </a:pPr>
            <a:r>
              <a:rPr lang="en-US" dirty="0" smtClean="0"/>
              <a:t> </a:t>
            </a:r>
            <a:r>
              <a:rPr lang="en-US" b="1" dirty="0" err="1"/>
              <a:t>Umpan</a:t>
            </a:r>
            <a:r>
              <a:rPr lang="en-US" b="1" dirty="0"/>
              <a:t> </a:t>
            </a:r>
            <a:r>
              <a:rPr lang="en-US" b="1" dirty="0" err="1"/>
              <a:t>Balik</a:t>
            </a:r>
            <a:r>
              <a:rPr lang="en-US" b="1" dirty="0"/>
              <a:t> </a:t>
            </a:r>
            <a:r>
              <a:rPr lang="en-US" b="1" dirty="0" err="1"/>
              <a:t>Tegangan</a:t>
            </a:r>
            <a:r>
              <a:rPr lang="en-US" b="1" dirty="0"/>
              <a:t> </a:t>
            </a:r>
            <a:r>
              <a:rPr lang="en-US" b="1" dirty="0" err="1"/>
              <a:t>Paralel</a:t>
            </a:r>
            <a:r>
              <a:rPr lang="en-US" b="1" dirty="0"/>
              <a:t> </a:t>
            </a:r>
            <a:endParaRPr lang="en-US" dirty="0"/>
          </a:p>
        </p:txBody>
      </p:sp>
      <p:sp>
        <p:nvSpPr>
          <p:cNvPr id="4" name="Rectangle 2"/>
          <p:cNvSpPr>
            <a:spLocks noChangeArrowheads="1"/>
          </p:cNvSpPr>
          <p:nvPr/>
        </p:nvSpPr>
        <p:spPr bwMode="auto">
          <a:xfrm>
            <a:off x="1660358" y="19250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p:cNvGraphicFramePr>
            <a:graphicFrameLocks noChangeAspect="1"/>
          </p:cNvGraphicFramePr>
          <p:nvPr>
            <p:extLst/>
          </p:nvPr>
        </p:nvGraphicFramePr>
        <p:xfrm>
          <a:off x="1227615" y="1735653"/>
          <a:ext cx="4271210" cy="3582305"/>
        </p:xfrm>
        <a:graphic>
          <a:graphicData uri="http://schemas.openxmlformats.org/presentationml/2006/ole">
            <mc:AlternateContent xmlns:mc="http://schemas.openxmlformats.org/markup-compatibility/2006">
              <mc:Choice xmlns:v="urn:schemas-microsoft-com:vml" Requires="v">
                <p:oleObj spid="_x0000_s30724" name="Visio" r:id="rId3" imgW="3819441" imgH="3200400" progId="Visio.Drawing.15">
                  <p:embed/>
                </p:oleObj>
              </mc:Choice>
              <mc:Fallback>
                <p:oleObj name="Visio" r:id="rId3" imgW="3819441" imgH="3200400" progId="Visio.Drawing.15">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7615" y="1735653"/>
                        <a:ext cx="4271210" cy="3582305"/>
                      </a:xfrm>
                      <a:prstGeom prst="rect">
                        <a:avLst/>
                      </a:prstGeom>
                      <a:noFill/>
                    </p:spPr>
                  </p:pic>
                </p:oleObj>
              </mc:Fallback>
            </mc:AlternateContent>
          </a:graphicData>
        </a:graphic>
      </p:graphicFrame>
      <p:sp>
        <p:nvSpPr>
          <p:cNvPr id="6" name="Rectangle 5"/>
          <p:cNvSpPr/>
          <p:nvPr/>
        </p:nvSpPr>
        <p:spPr>
          <a:xfrm>
            <a:off x="5742680" y="1511140"/>
            <a:ext cx="6096000" cy="923330"/>
          </a:xfrm>
          <a:prstGeom prst="rect">
            <a:avLst/>
          </a:prstGeom>
        </p:spPr>
        <p:txBody>
          <a:bodyPr>
            <a:spAutoFit/>
          </a:bodyPr>
          <a:lstStyle/>
          <a:p>
            <a:r>
              <a:rPr lang="en-US" b="1" dirty="0" smtClean="0">
                <a:latin typeface="Calibri" panose="020F0502020204030204" pitchFamily="34" charset="0"/>
                <a:ea typeface="Calibri" panose="020F0502020204030204" pitchFamily="34" charset="0"/>
              </a:rPr>
              <a:t>Blok </a:t>
            </a:r>
            <a:r>
              <a:rPr lang="en-US" b="1" dirty="0">
                <a:latin typeface="Calibri" panose="020F0502020204030204" pitchFamily="34" charset="0"/>
                <a:ea typeface="Calibri" panose="020F0502020204030204" pitchFamily="34" charset="0"/>
              </a:rPr>
              <a:t>diagram </a:t>
            </a:r>
            <a:r>
              <a:rPr lang="en-US" b="1" dirty="0" err="1">
                <a:latin typeface="Calibri" panose="020F0502020204030204" pitchFamily="34" charset="0"/>
                <a:ea typeface="Calibri" panose="020F0502020204030204" pitchFamily="34" charset="0"/>
              </a:rPr>
              <a:t>konfigurasi</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umpan</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balik</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tegangan</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paralel</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dapat</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dilihat</a:t>
            </a:r>
            <a:r>
              <a:rPr lang="en-US" b="1" dirty="0">
                <a:latin typeface="Calibri" panose="020F0502020204030204" pitchFamily="34" charset="0"/>
                <a:ea typeface="Calibri" panose="020F0502020204030204" pitchFamily="34" charset="0"/>
              </a:rPr>
              <a:t> </a:t>
            </a:r>
            <a:r>
              <a:rPr lang="en-US" b="1" dirty="0" err="1">
                <a:latin typeface="Calibri" panose="020F0502020204030204" pitchFamily="34" charset="0"/>
                <a:ea typeface="Calibri" panose="020F0502020204030204" pitchFamily="34" charset="0"/>
              </a:rPr>
              <a:t>pada</a:t>
            </a:r>
            <a:r>
              <a:rPr lang="en-US" b="1" dirty="0">
                <a:latin typeface="Calibri" panose="020F0502020204030204" pitchFamily="34" charset="0"/>
                <a:ea typeface="Calibri" panose="020F0502020204030204" pitchFamily="34" charset="0"/>
              </a:rPr>
              <a:t> </a:t>
            </a:r>
            <a:r>
              <a:rPr lang="en-US" b="1" dirty="0" err="1">
                <a:solidFill>
                  <a:srgbClr val="FF0000"/>
                </a:solidFill>
                <a:latin typeface="Calibri" panose="020F0502020204030204" pitchFamily="34" charset="0"/>
                <a:ea typeface="Calibri" panose="020F0502020204030204" pitchFamily="34" charset="0"/>
              </a:rPr>
              <a:t>rangkaian</a:t>
            </a:r>
            <a:r>
              <a:rPr lang="en-US" b="1" dirty="0">
                <a:solidFill>
                  <a:srgbClr val="FF0000"/>
                </a:solidFill>
                <a:latin typeface="Calibri" panose="020F0502020204030204" pitchFamily="34" charset="0"/>
                <a:ea typeface="Calibri" panose="020F0502020204030204" pitchFamily="34" charset="0"/>
              </a:rPr>
              <a:t> </a:t>
            </a:r>
            <a:r>
              <a:rPr lang="en-US" b="1" dirty="0" err="1">
                <a:solidFill>
                  <a:srgbClr val="FF0000"/>
                </a:solidFill>
                <a:latin typeface="Calibri" panose="020F0502020204030204" pitchFamily="34" charset="0"/>
                <a:ea typeface="Calibri" panose="020F0502020204030204" pitchFamily="34" charset="0"/>
              </a:rPr>
              <a:t>penguat</a:t>
            </a:r>
            <a:r>
              <a:rPr lang="en-US" b="1" dirty="0">
                <a:solidFill>
                  <a:srgbClr val="FF0000"/>
                </a:solidFill>
                <a:latin typeface="Calibri" panose="020F0502020204030204" pitchFamily="34" charset="0"/>
                <a:ea typeface="Calibri" panose="020F0502020204030204" pitchFamily="34" charset="0"/>
              </a:rPr>
              <a:t> </a:t>
            </a:r>
            <a:r>
              <a:rPr lang="en-US" b="1" dirty="0" err="1">
                <a:solidFill>
                  <a:srgbClr val="FF0000"/>
                </a:solidFill>
                <a:latin typeface="Calibri" panose="020F0502020204030204" pitchFamily="34" charset="0"/>
                <a:ea typeface="Calibri" panose="020F0502020204030204" pitchFamily="34" charset="0"/>
              </a:rPr>
              <a:t>pembalik</a:t>
            </a:r>
            <a:r>
              <a:rPr lang="en-US" b="1" dirty="0">
                <a:solidFill>
                  <a:srgbClr val="FF0000"/>
                </a:solidFill>
                <a:latin typeface="Calibri" panose="020F0502020204030204" pitchFamily="34" charset="0"/>
                <a:ea typeface="Calibri" panose="020F0502020204030204" pitchFamily="34" charset="0"/>
              </a:rPr>
              <a:t> </a:t>
            </a:r>
            <a:r>
              <a:rPr lang="en-US" b="1" dirty="0" err="1">
                <a:solidFill>
                  <a:srgbClr val="FF0000"/>
                </a:solidFill>
                <a:latin typeface="Calibri" panose="020F0502020204030204" pitchFamily="34" charset="0"/>
                <a:ea typeface="Calibri" panose="020F0502020204030204" pitchFamily="34" charset="0"/>
              </a:rPr>
              <a:t>fase</a:t>
            </a:r>
            <a:r>
              <a:rPr lang="en-US" b="1" dirty="0">
                <a:solidFill>
                  <a:srgbClr val="FF0000"/>
                </a:solidFill>
                <a:latin typeface="Calibri" panose="020F0502020204030204" pitchFamily="34" charset="0"/>
                <a:ea typeface="Calibri" panose="020F0502020204030204" pitchFamily="34" charset="0"/>
              </a:rPr>
              <a:t> (</a:t>
            </a:r>
            <a:r>
              <a:rPr lang="en-US" b="1" i="1" dirty="0">
                <a:solidFill>
                  <a:srgbClr val="FF0000"/>
                </a:solidFill>
                <a:latin typeface="Calibri" panose="020F0502020204030204" pitchFamily="34" charset="0"/>
                <a:ea typeface="Calibri" panose="020F0502020204030204" pitchFamily="34" charset="0"/>
              </a:rPr>
              <a:t>inverting amplifier</a:t>
            </a:r>
            <a:r>
              <a:rPr lang="en-US" b="1" dirty="0">
                <a:solidFill>
                  <a:srgbClr val="FF0000"/>
                </a:solidFill>
                <a:latin typeface="Calibri" panose="020F0502020204030204" pitchFamily="34" charset="0"/>
                <a:ea typeface="Calibri" panose="020F0502020204030204" pitchFamily="34" charset="0"/>
              </a:rPr>
              <a:t>) </a:t>
            </a:r>
            <a:endParaRPr lang="en-US" b="1" dirty="0">
              <a:solidFill>
                <a:srgbClr val="FF0000"/>
              </a:solidFill>
            </a:endParaRPr>
          </a:p>
        </p:txBody>
      </p:sp>
      <p:sp>
        <p:nvSpPr>
          <p:cNvPr id="7" name="Rectangle 6"/>
          <p:cNvSpPr/>
          <p:nvPr/>
        </p:nvSpPr>
        <p:spPr>
          <a:xfrm>
            <a:off x="5742680" y="2848382"/>
            <a:ext cx="5089161" cy="646331"/>
          </a:xfrm>
          <a:prstGeom prst="rect">
            <a:avLst/>
          </a:prstGeom>
        </p:spPr>
        <p:txBody>
          <a:bodyPr wrap="square">
            <a:spAutoFit/>
          </a:bodyPr>
          <a:lstStyle/>
          <a:p>
            <a:r>
              <a:rPr lang="en-US" dirty="0" err="1" smtClean="0">
                <a:solidFill>
                  <a:srgbClr val="0070C0"/>
                </a:solidFill>
                <a:latin typeface="Calibri" panose="020F0502020204030204" pitchFamily="34" charset="0"/>
                <a:ea typeface="Calibri" panose="020F0502020204030204" pitchFamily="34" charset="0"/>
              </a:rPr>
              <a:t>Nilai</a:t>
            </a:r>
            <a:r>
              <a:rPr lang="en-US" dirty="0" smtClean="0">
                <a:solidFill>
                  <a:srgbClr val="0070C0"/>
                </a:solidFill>
                <a:latin typeface="Calibri" panose="020F0502020204030204" pitchFamily="34" charset="0"/>
                <a:ea typeface="Calibri" panose="020F0502020204030204" pitchFamily="34" charset="0"/>
              </a:rPr>
              <a:t> </a:t>
            </a:r>
            <a:r>
              <a:rPr lang="en-US" dirty="0" err="1" smtClean="0">
                <a:solidFill>
                  <a:srgbClr val="0070C0"/>
                </a:solidFill>
                <a:latin typeface="Calibri" panose="020F0502020204030204" pitchFamily="34" charset="0"/>
                <a:ea typeface="Calibri" panose="020F0502020204030204" pitchFamily="34" charset="0"/>
              </a:rPr>
              <a:t>penguatan</a:t>
            </a:r>
            <a:r>
              <a:rPr lang="en-US" dirty="0" smtClean="0">
                <a:solidFill>
                  <a:srgbClr val="0070C0"/>
                </a:solidFill>
                <a:latin typeface="Calibri" panose="020F0502020204030204" pitchFamily="34" charset="0"/>
                <a:ea typeface="Calibri" panose="020F0502020204030204" pitchFamily="34" charset="0"/>
              </a:rPr>
              <a:t> </a:t>
            </a:r>
            <a:r>
              <a:rPr lang="en-US" dirty="0" smtClean="0">
                <a:latin typeface="Calibri" panose="020F0502020204030204" pitchFamily="34" charset="0"/>
                <a:ea typeface="Calibri" panose="020F0502020204030204" pitchFamily="34" charset="0"/>
              </a:rPr>
              <a:t>yang </a:t>
            </a:r>
            <a:r>
              <a:rPr lang="en-US" dirty="0" err="1" smtClean="0">
                <a:latin typeface="Calibri" panose="020F0502020204030204" pitchFamily="34" charset="0"/>
                <a:ea typeface="Calibri" panose="020F0502020204030204" pitchFamily="34" charset="0"/>
              </a:rPr>
              <a:t>dihasilkan</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rangkaian</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ini</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dinyatakan</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sebesar</a:t>
            </a:r>
            <a:r>
              <a:rPr lang="en-US" dirty="0" smtClean="0">
                <a:latin typeface="Calibri" panose="020F0502020204030204" pitchFamily="34" charset="0"/>
                <a:ea typeface="Calibri" panose="020F0502020204030204" pitchFamily="34" charset="0"/>
              </a:rPr>
              <a:t>:</a:t>
            </a:r>
            <a:endParaRPr lang="en-US" dirty="0">
              <a:solidFill>
                <a:srgbClr val="FF0000"/>
              </a:solidFill>
            </a:endParaRPr>
          </a:p>
        </p:txBody>
      </p:sp>
      <mc:AlternateContent xmlns:mc="http://schemas.openxmlformats.org/markup-compatibility/2006" xmlns:a14="http://schemas.microsoft.com/office/drawing/2010/main">
        <mc:Choice Requires="a14">
          <p:sp>
            <p:nvSpPr>
              <p:cNvPr id="8" name="Rectangle 7"/>
              <p:cNvSpPr/>
              <p:nvPr/>
            </p:nvSpPr>
            <p:spPr>
              <a:xfrm>
                <a:off x="6937959" y="3650447"/>
                <a:ext cx="3175934" cy="665631"/>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𝑓</m:t>
                          </m:r>
                        </m:sub>
                      </m:sSub>
                      <m:r>
                        <a:rPr lang="en-US" i="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𝑖𝑛</m:t>
                              </m:r>
                            </m:sub>
                          </m:sSub>
                        </m:den>
                      </m:f>
                      <m:r>
                        <a:rPr lang="en-US" i="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𝑓</m:t>
                              </m:r>
                            </m:sub>
                          </m:sSub>
                        </m:num>
                        <m:den>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𝑖</m:t>
                              </m:r>
                            </m:sub>
                          </m:sSub>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𝐴𝐾</m:t>
                          </m:r>
                        </m:num>
                        <m:den>
                          <m:r>
                            <a:rPr lang="en-US" i="1">
                              <a:latin typeface="Cambria Math" panose="02040503050406030204" pitchFamily="18" charset="0"/>
                            </a:rPr>
                            <m:t>1+</m:t>
                          </m:r>
                          <m:r>
                            <a:rPr lang="en-US" i="1">
                              <a:latin typeface="Cambria Math" panose="02040503050406030204" pitchFamily="18" charset="0"/>
                            </a:rPr>
                            <m:t>𝐴</m:t>
                          </m:r>
                          <m:r>
                            <a:rPr lang="en-US" i="1">
                              <a:latin typeface="Cambria Math" panose="02040503050406030204" pitchFamily="18" charset="0"/>
                            </a:rPr>
                            <m:t>𝛽</m:t>
                          </m:r>
                        </m:den>
                      </m:f>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6937959" y="3650447"/>
                <a:ext cx="3175934" cy="665631"/>
              </a:xfrm>
              <a:prstGeom prst="rect">
                <a:avLst/>
              </a:prstGeom>
              <a:blipFill rotWithShape="0">
                <a:blip r:embed="rId5"/>
                <a:stretch>
                  <a:fillRect/>
                </a:stretch>
              </a:blipFill>
              <a:ln>
                <a:solidFill>
                  <a:srgbClr val="C00000"/>
                </a:solidFill>
              </a:ln>
            </p:spPr>
            <p:txBody>
              <a:bodyPr/>
              <a:lstStyle/>
              <a:p>
                <a:r>
                  <a:rPr lang="en-US">
                    <a:noFill/>
                  </a:rPr>
                  <a:t> </a:t>
                </a:r>
              </a:p>
            </p:txBody>
          </p:sp>
        </mc:Fallback>
      </mc:AlternateContent>
      <p:sp>
        <p:nvSpPr>
          <p:cNvPr id="9" name="Rectangle 8"/>
          <p:cNvSpPr/>
          <p:nvPr/>
        </p:nvSpPr>
        <p:spPr>
          <a:xfrm>
            <a:off x="5742679" y="4483332"/>
            <a:ext cx="5089161" cy="646331"/>
          </a:xfrm>
          <a:prstGeom prst="rect">
            <a:avLst/>
          </a:prstGeom>
        </p:spPr>
        <p:txBody>
          <a:bodyPr wrap="square">
            <a:spAutoFit/>
          </a:bodyPr>
          <a:lstStyle/>
          <a:p>
            <a:r>
              <a:rPr lang="en-US" dirty="0" err="1" smtClean="0">
                <a:solidFill>
                  <a:srgbClr val="0070C0"/>
                </a:solidFill>
                <a:latin typeface="Calibri" panose="020F0502020204030204" pitchFamily="34" charset="0"/>
                <a:ea typeface="Calibri" panose="020F0502020204030204" pitchFamily="34" charset="0"/>
              </a:rPr>
              <a:t>Lebar</a:t>
            </a:r>
            <a:r>
              <a:rPr lang="en-US" dirty="0" smtClean="0">
                <a:solidFill>
                  <a:srgbClr val="0070C0"/>
                </a:solidFill>
                <a:latin typeface="Calibri" panose="020F0502020204030204" pitchFamily="34" charset="0"/>
                <a:ea typeface="Calibri" panose="020F0502020204030204" pitchFamily="34" charset="0"/>
              </a:rPr>
              <a:t> pita </a:t>
            </a:r>
            <a:r>
              <a:rPr lang="en-US" dirty="0" err="1" smtClean="0">
                <a:solidFill>
                  <a:srgbClr val="0070C0"/>
                </a:solidFill>
                <a:latin typeface="Calibri" panose="020F0502020204030204" pitchFamily="34" charset="0"/>
                <a:ea typeface="Calibri" panose="020F0502020204030204" pitchFamily="34" charset="0"/>
              </a:rPr>
              <a:t>umpan</a:t>
            </a:r>
            <a:r>
              <a:rPr lang="en-US" dirty="0" smtClean="0">
                <a:solidFill>
                  <a:srgbClr val="0070C0"/>
                </a:solidFill>
                <a:latin typeface="Calibri" panose="020F0502020204030204" pitchFamily="34" charset="0"/>
                <a:ea typeface="Calibri" panose="020F0502020204030204" pitchFamily="34" charset="0"/>
              </a:rPr>
              <a:t> </a:t>
            </a:r>
            <a:r>
              <a:rPr lang="en-US" dirty="0" err="1" smtClean="0">
                <a:solidFill>
                  <a:srgbClr val="0070C0"/>
                </a:solidFill>
                <a:latin typeface="Calibri" panose="020F0502020204030204" pitchFamily="34" charset="0"/>
                <a:ea typeface="Calibri" panose="020F0502020204030204" pitchFamily="34" charset="0"/>
              </a:rPr>
              <a:t>balik</a:t>
            </a:r>
            <a:r>
              <a:rPr lang="en-US" dirty="0" err="1" smtClean="0">
                <a:latin typeface="Calibri" panose="020F0502020204030204" pitchFamily="34" charset="0"/>
                <a:ea typeface="Calibri" panose="020F0502020204030204" pitchFamily="34" charset="0"/>
              </a:rPr>
              <a:t>-nya</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pada</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rangkaian</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ini</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dinyatakan</a:t>
            </a:r>
            <a:r>
              <a:rPr lang="en-US" dirty="0" smtClean="0">
                <a:latin typeface="Calibri" panose="020F0502020204030204" pitchFamily="34" charset="0"/>
                <a:ea typeface="Calibri" panose="020F0502020204030204" pitchFamily="34" charset="0"/>
              </a:rPr>
              <a:t> </a:t>
            </a:r>
            <a:r>
              <a:rPr lang="en-US" dirty="0" err="1" smtClean="0">
                <a:latin typeface="Calibri" panose="020F0502020204030204" pitchFamily="34" charset="0"/>
                <a:ea typeface="Calibri" panose="020F0502020204030204" pitchFamily="34" charset="0"/>
              </a:rPr>
              <a:t>sebesar</a:t>
            </a:r>
            <a:r>
              <a:rPr lang="en-US" dirty="0" smtClean="0">
                <a:latin typeface="Calibri" panose="020F0502020204030204" pitchFamily="34" charset="0"/>
                <a:ea typeface="Calibri" panose="020F0502020204030204" pitchFamily="34" charset="0"/>
              </a:rPr>
              <a:t>:</a:t>
            </a:r>
            <a:endParaRPr lang="en-US" dirty="0">
              <a:solidFill>
                <a:srgbClr val="FF0000"/>
              </a:solidFill>
            </a:endParaRPr>
          </a:p>
        </p:txBody>
      </p:sp>
      <mc:AlternateContent xmlns:mc="http://schemas.openxmlformats.org/markup-compatibility/2006" xmlns:a14="http://schemas.microsoft.com/office/drawing/2010/main">
        <mc:Choice Requires="a14">
          <p:sp>
            <p:nvSpPr>
              <p:cNvPr id="10" name="Rectangle 9"/>
              <p:cNvSpPr/>
              <p:nvPr/>
            </p:nvSpPr>
            <p:spPr>
              <a:xfrm>
                <a:off x="7366847" y="5518643"/>
                <a:ext cx="1840824" cy="411331"/>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𝑓</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0">
                                  <a:latin typeface="Cambria Math" panose="02040503050406030204" pitchFamily="18" charset="0"/>
                                </a:rPr>
                                <m:t>0</m:t>
                              </m:r>
                            </m:sub>
                          </m:sSub>
                          <m:r>
                            <a:rPr lang="en-US" i="0">
                              <a:latin typeface="Cambria Math" panose="02040503050406030204" pitchFamily="18" charset="0"/>
                            </a:rPr>
                            <m:t>(1+</m:t>
                          </m:r>
                          <m:r>
                            <a:rPr lang="en-US" i="1">
                              <a:latin typeface="Cambria Math" panose="02040503050406030204" pitchFamily="18" charset="0"/>
                            </a:rPr>
                            <m:t>𝐴</m:t>
                          </m:r>
                          <m:r>
                            <a:rPr lang="en-US" i="1">
                              <a:latin typeface="Cambria Math" panose="02040503050406030204" pitchFamily="18" charset="0"/>
                            </a:rPr>
                            <m:t>𝛽</m:t>
                          </m:r>
                        </m:e>
                      </m:d>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7366847" y="5518643"/>
                <a:ext cx="1840824" cy="411331"/>
              </a:xfrm>
              <a:prstGeom prst="rect">
                <a:avLst/>
              </a:prstGeom>
              <a:blipFill rotWithShape="0">
                <a:blip r:embed="rId6"/>
                <a:stretch>
                  <a:fillRect t="-145714" r="-33553" b="-215714"/>
                </a:stretch>
              </a:blipFill>
              <a:ln>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38756592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335899" y="938464"/>
                <a:ext cx="10178322" cy="3593591"/>
              </a:xfrm>
            </p:spPr>
            <p:txBody>
              <a:bodyPr>
                <a:normAutofit lnSpcReduction="10000"/>
              </a:bodyPr>
              <a:lstStyle/>
              <a:p>
                <a:pPr marL="0" indent="0">
                  <a:buNone/>
                </a:pPr>
                <a:r>
                  <a:rPr lang="en-US" sz="2400" b="1" dirty="0" err="1">
                    <a:solidFill>
                      <a:schemeClr val="tx1"/>
                    </a:solidFill>
                  </a:rPr>
                  <a:t>Contoh</a:t>
                </a:r>
                <a:r>
                  <a:rPr lang="en-US" sz="2400" b="1" dirty="0">
                    <a:solidFill>
                      <a:schemeClr val="tx1"/>
                    </a:solidFill>
                  </a:rPr>
                  <a:t> </a:t>
                </a:r>
                <a:r>
                  <a:rPr lang="en-US" sz="2400" b="1" dirty="0" smtClean="0">
                    <a:solidFill>
                      <a:schemeClr val="tx1"/>
                    </a:solidFill>
                  </a:rPr>
                  <a:t>2 (</a:t>
                </a:r>
                <a:r>
                  <a:rPr lang="en-US" sz="2400" b="1" dirty="0" err="1" smtClean="0">
                    <a:solidFill>
                      <a:schemeClr val="tx1"/>
                    </a:solidFill>
                  </a:rPr>
                  <a:t>tugas</a:t>
                </a:r>
                <a:r>
                  <a:rPr lang="en-US" sz="2400" b="1" dirty="0" smtClean="0">
                    <a:solidFill>
                      <a:schemeClr val="tx1"/>
                    </a:solidFill>
                  </a:rPr>
                  <a:t>)</a:t>
                </a:r>
              </a:p>
              <a:p>
                <a:pPr marL="0" indent="0">
                  <a:buNone/>
                </a:pPr>
                <a:endParaRPr lang="en-US" sz="2400" dirty="0">
                  <a:solidFill>
                    <a:schemeClr val="tx1"/>
                  </a:solidFill>
                </a:endParaRPr>
              </a:p>
              <a:p>
                <a:pPr marL="0" indent="0">
                  <a:buNone/>
                </a:pPr>
                <a:r>
                  <a:rPr lang="en-US" dirty="0" smtClean="0">
                    <a:solidFill>
                      <a:schemeClr val="tx1"/>
                    </a:solidFill>
                  </a:rPr>
                  <a:t>Sebuah</a:t>
                </a:r>
                <a:r>
                  <a:rPr lang="en-US" dirty="0">
                    <a:solidFill>
                      <a:schemeClr val="tx1"/>
                    </a:solidFill>
                  </a:rPr>
                  <a:t> </a:t>
                </a:r>
                <a:r>
                  <a:rPr lang="en-US" dirty="0" err="1">
                    <a:solidFill>
                      <a:schemeClr val="tx1"/>
                    </a:solidFill>
                  </a:rPr>
                  <a:t>rangkaian</a:t>
                </a:r>
                <a:r>
                  <a:rPr lang="en-US" dirty="0">
                    <a:solidFill>
                      <a:schemeClr val="tx1"/>
                    </a:solidFill>
                  </a:rPr>
                  <a:t> </a:t>
                </a:r>
                <a:r>
                  <a:rPr lang="en-US" dirty="0" err="1">
                    <a:solidFill>
                      <a:schemeClr val="tx1"/>
                    </a:solidFill>
                  </a:rPr>
                  <a:t>penguat</a:t>
                </a:r>
                <a:r>
                  <a:rPr lang="en-US" dirty="0">
                    <a:solidFill>
                      <a:schemeClr val="tx1"/>
                    </a:solidFill>
                  </a:rPr>
                  <a:t> inverting </a:t>
                </a:r>
                <a:r>
                  <a:rPr lang="en-US" dirty="0" err="1">
                    <a:solidFill>
                      <a:schemeClr val="tx1"/>
                    </a:solidFill>
                  </a:rPr>
                  <a:t>seperti</a:t>
                </a:r>
                <a:r>
                  <a:rPr lang="en-US" dirty="0">
                    <a:solidFill>
                      <a:schemeClr val="tx1"/>
                    </a:solidFill>
                  </a:rPr>
                  <a:t> yang </a:t>
                </a:r>
                <a:r>
                  <a:rPr lang="en-US" dirty="0" err="1">
                    <a:solidFill>
                      <a:schemeClr val="tx1"/>
                    </a:solidFill>
                  </a:rPr>
                  <a:t>ditunjukan</a:t>
                </a:r>
                <a:r>
                  <a:rPr lang="en-US" dirty="0">
                    <a:solidFill>
                      <a:schemeClr val="tx1"/>
                    </a:solidFill>
                  </a:rPr>
                  <a:t> </a:t>
                </a:r>
                <a:r>
                  <a:rPr lang="en-US" dirty="0" err="1">
                    <a:solidFill>
                      <a:schemeClr val="tx1"/>
                    </a:solidFill>
                  </a:rPr>
                  <a:t>gambar</a:t>
                </a:r>
                <a:r>
                  <a:rPr lang="en-US" dirty="0">
                    <a:solidFill>
                      <a:schemeClr val="tx1"/>
                    </a:solidFill>
                  </a:rPr>
                  <a:t> </a:t>
                </a:r>
                <a:r>
                  <a:rPr lang="en-US" dirty="0" smtClean="0">
                    <a:solidFill>
                      <a:schemeClr val="tx1"/>
                    </a:solidFill>
                  </a:rPr>
                  <a:t>di </a:t>
                </a:r>
                <a:r>
                  <a:rPr lang="en-US" dirty="0" err="1" smtClean="0">
                    <a:solidFill>
                      <a:schemeClr val="tx1"/>
                    </a:solidFill>
                  </a:rPr>
                  <a:t>atas</a:t>
                </a:r>
                <a:r>
                  <a:rPr lang="en-US" dirty="0" smtClean="0">
                    <a:solidFill>
                      <a:schemeClr val="tx1"/>
                    </a:solidFill>
                  </a:rPr>
                  <a:t> </a:t>
                </a:r>
                <a:r>
                  <a:rPr lang="en-US" dirty="0" err="1">
                    <a:solidFill>
                      <a:schemeClr val="tx1"/>
                    </a:solidFill>
                  </a:rPr>
                  <a:t>memiliki</a:t>
                </a:r>
                <a:r>
                  <a:rPr lang="en-US" dirty="0">
                    <a:solidFill>
                      <a:schemeClr val="tx1"/>
                    </a:solidFill>
                  </a:rPr>
                  <a:t>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𝑅</m:t>
                        </m:r>
                      </m:e>
                      <m:sub>
                        <m:r>
                          <a:rPr lang="en-US" i="1">
                            <a:solidFill>
                              <a:schemeClr val="tx1"/>
                            </a:solidFill>
                            <a:latin typeface="Cambria Math" panose="02040503050406030204" pitchFamily="18" charset="0"/>
                          </a:rPr>
                          <m:t>𝑖</m:t>
                        </m:r>
                      </m:sub>
                    </m:sSub>
                    <m:r>
                      <a:rPr lang="en-US" i="1">
                        <a:solidFill>
                          <a:schemeClr val="tx1"/>
                        </a:solidFill>
                        <a:latin typeface="Cambria Math" panose="02040503050406030204" pitchFamily="18" charset="0"/>
                      </a:rPr>
                      <m:t>=470 Ω </m:t>
                    </m:r>
                  </m:oMath>
                </a14:m>
                <a:r>
                  <a:rPr lang="en-US" dirty="0" err="1">
                    <a:solidFill>
                      <a:schemeClr val="tx1"/>
                    </a:solidFill>
                  </a:rPr>
                  <a:t>dan</a:t>
                </a:r>
                <a:r>
                  <a:rPr lang="en-US" dirty="0">
                    <a:solidFill>
                      <a:schemeClr val="tx1"/>
                    </a:solidFill>
                  </a:rPr>
                  <a:t>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𝑅</m:t>
                        </m:r>
                      </m:e>
                      <m:sub>
                        <m:r>
                          <a:rPr lang="en-US" i="1">
                            <a:solidFill>
                              <a:schemeClr val="tx1"/>
                            </a:solidFill>
                            <a:latin typeface="Cambria Math" panose="02040503050406030204" pitchFamily="18" charset="0"/>
                          </a:rPr>
                          <m:t>𝑓</m:t>
                        </m:r>
                        <m:r>
                          <a:rPr lang="en-US" i="1">
                            <a:solidFill>
                              <a:schemeClr val="tx1"/>
                            </a:solidFill>
                            <a:latin typeface="Cambria Math" panose="02040503050406030204" pitchFamily="18" charset="0"/>
                          </a:rPr>
                          <m:t> </m:t>
                        </m:r>
                      </m:sub>
                    </m:sSub>
                    <m:r>
                      <a:rPr lang="en-US" i="1">
                        <a:solidFill>
                          <a:schemeClr val="tx1"/>
                        </a:solidFill>
                        <a:latin typeface="Cambria Math" panose="02040503050406030204" pitchFamily="18" charset="0"/>
                      </a:rPr>
                      <m:t>=4,7</m:t>
                    </m:r>
                    <m:r>
                      <a:rPr lang="en-US" i="1">
                        <a:solidFill>
                          <a:schemeClr val="tx1"/>
                        </a:solidFill>
                        <a:latin typeface="Cambria Math" panose="02040503050406030204" pitchFamily="18" charset="0"/>
                      </a:rPr>
                      <m:t>𝑘</m:t>
                    </m:r>
                    <m:r>
                      <a:rPr lang="en-US" i="1">
                        <a:solidFill>
                          <a:schemeClr val="tx1"/>
                        </a:solidFill>
                        <a:latin typeface="Cambria Math" panose="02040503050406030204" pitchFamily="18" charset="0"/>
                      </a:rPr>
                      <m:t>Ω</m:t>
                    </m:r>
                  </m:oMath>
                </a14:m>
                <a:r>
                  <a:rPr lang="en-US" dirty="0">
                    <a:solidFill>
                      <a:schemeClr val="tx1"/>
                    </a:solidFill>
                  </a:rPr>
                  <a:t>. </a:t>
                </a:r>
                <a:r>
                  <a:rPr lang="en-US" dirty="0" err="1">
                    <a:solidFill>
                      <a:schemeClr val="tx1"/>
                    </a:solidFill>
                  </a:rPr>
                  <a:t>Tentukan</a:t>
                </a:r>
                <a:r>
                  <a:rPr lang="en-US" dirty="0">
                    <a:solidFill>
                      <a:schemeClr val="tx1"/>
                    </a:solidFill>
                  </a:rPr>
                  <a:t>:</a:t>
                </a:r>
              </a:p>
              <a:p>
                <a:pPr lvl="0"/>
                <a:r>
                  <a:rPr lang="en-US" dirty="0" err="1">
                    <a:solidFill>
                      <a:schemeClr val="tx1"/>
                    </a:solidFill>
                  </a:rPr>
                  <a:t>penguatan</a:t>
                </a:r>
                <a:r>
                  <a:rPr lang="en-US" dirty="0">
                    <a:solidFill>
                      <a:schemeClr val="tx1"/>
                    </a:solidFill>
                  </a:rPr>
                  <a:t> </a:t>
                </a:r>
                <a:r>
                  <a:rPr lang="en-US" dirty="0" err="1">
                    <a:solidFill>
                      <a:schemeClr val="tx1"/>
                    </a:solidFill>
                  </a:rPr>
                  <a:t>umpan</a:t>
                </a:r>
                <a:r>
                  <a:rPr lang="en-US" dirty="0">
                    <a:solidFill>
                      <a:schemeClr val="tx1"/>
                    </a:solidFill>
                  </a:rPr>
                  <a:t> </a:t>
                </a:r>
                <a:r>
                  <a:rPr lang="en-US" dirty="0" err="1">
                    <a:solidFill>
                      <a:schemeClr val="tx1"/>
                    </a:solidFill>
                  </a:rPr>
                  <a:t>baliknya</a:t>
                </a:r>
                <a:endParaRPr lang="en-US" dirty="0">
                  <a:solidFill>
                    <a:schemeClr val="tx1"/>
                  </a:solidFill>
                </a:endParaRPr>
              </a:p>
              <a:p>
                <a:pPr lvl="0"/>
                <a:r>
                  <a:rPr lang="en-US" dirty="0" err="1">
                    <a:solidFill>
                      <a:schemeClr val="tx1"/>
                    </a:solidFill>
                  </a:rPr>
                  <a:t>resistansi</a:t>
                </a:r>
                <a:r>
                  <a:rPr lang="en-US" dirty="0">
                    <a:solidFill>
                      <a:schemeClr val="tx1"/>
                    </a:solidFill>
                  </a:rPr>
                  <a:t> </a:t>
                </a:r>
                <a:r>
                  <a:rPr lang="en-US" dirty="0" err="1">
                    <a:solidFill>
                      <a:schemeClr val="tx1"/>
                    </a:solidFill>
                  </a:rPr>
                  <a:t>masukan</a:t>
                </a:r>
                <a:endParaRPr lang="en-US" dirty="0">
                  <a:solidFill>
                    <a:schemeClr val="tx1"/>
                  </a:solidFill>
                </a:endParaRPr>
              </a:p>
              <a:p>
                <a:pPr lvl="0"/>
                <a:r>
                  <a:rPr lang="en-US" dirty="0" err="1">
                    <a:solidFill>
                      <a:schemeClr val="tx1"/>
                    </a:solidFill>
                  </a:rPr>
                  <a:t>resistansi</a:t>
                </a:r>
                <a:r>
                  <a:rPr lang="en-US" dirty="0">
                    <a:solidFill>
                      <a:schemeClr val="tx1"/>
                    </a:solidFill>
                  </a:rPr>
                  <a:t> </a:t>
                </a:r>
                <a:r>
                  <a:rPr lang="en-US" dirty="0" err="1">
                    <a:solidFill>
                      <a:schemeClr val="tx1"/>
                    </a:solidFill>
                  </a:rPr>
                  <a:t>keluaran</a:t>
                </a:r>
                <a:endParaRPr lang="en-US" dirty="0">
                  <a:solidFill>
                    <a:schemeClr val="tx1"/>
                  </a:solidFill>
                </a:endParaRPr>
              </a:p>
              <a:p>
                <a:pPr lvl="0"/>
                <a:r>
                  <a:rPr lang="en-US" dirty="0" err="1">
                    <a:solidFill>
                      <a:schemeClr val="tx1"/>
                    </a:solidFill>
                  </a:rPr>
                  <a:t>lebar</a:t>
                </a:r>
                <a:r>
                  <a:rPr lang="en-US" dirty="0">
                    <a:solidFill>
                      <a:schemeClr val="tx1"/>
                    </a:solidFill>
                  </a:rPr>
                  <a:t> pita</a:t>
                </a:r>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335899" y="938464"/>
                <a:ext cx="10178322" cy="3593591"/>
              </a:xfrm>
              <a:blipFill>
                <a:blip r:embed="rId2"/>
                <a:stretch>
                  <a:fillRect l="-1198" t="-3226" b="-2886"/>
                </a:stretch>
              </a:blipFill>
            </p:spPr>
            <p:txBody>
              <a:bodyPr/>
              <a:lstStyle/>
              <a:p>
                <a:r>
                  <a:rPr lang="en-US">
                    <a:noFill/>
                  </a:rPr>
                  <a:t> </a:t>
                </a:r>
              </a:p>
            </p:txBody>
          </p:sp>
        </mc:Fallback>
      </mc:AlternateContent>
    </p:spTree>
    <p:extLst>
      <p:ext uri="{BB962C8B-B14F-4D97-AF65-F5344CB8AC3E}">
        <p14:creationId xmlns:p14="http://schemas.microsoft.com/office/powerpoint/2010/main" val="14230106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Operasional</a:t>
            </a:r>
            <a:r>
              <a:rPr lang="en-US" dirty="0" smtClean="0"/>
              <a:t> Amplifier (OP-AMP)</a:t>
            </a:r>
            <a:endParaRPr lang="en-US" dirty="0"/>
          </a:p>
        </p:txBody>
      </p:sp>
      <p:sp>
        <p:nvSpPr>
          <p:cNvPr id="3" name="Content Placeholder 2"/>
          <p:cNvSpPr>
            <a:spLocks noGrp="1"/>
          </p:cNvSpPr>
          <p:nvPr>
            <p:ph sz="quarter" idx="1"/>
          </p:nvPr>
        </p:nvSpPr>
        <p:spPr/>
        <p:txBody>
          <a:bodyPr/>
          <a:lstStyle/>
          <a:p>
            <a:r>
              <a:rPr lang="en-US" dirty="0" err="1"/>
              <a:t>Operasi</a:t>
            </a:r>
            <a:r>
              <a:rPr lang="en-US" dirty="0"/>
              <a:t> Amplifier </a:t>
            </a:r>
            <a:r>
              <a:rPr lang="en-US" dirty="0" err="1"/>
              <a:t>adalah</a:t>
            </a:r>
            <a:r>
              <a:rPr lang="en-US" dirty="0"/>
              <a:t> </a:t>
            </a:r>
            <a:r>
              <a:rPr lang="en-US" dirty="0" err="1"/>
              <a:t>suatu</a:t>
            </a:r>
            <a:r>
              <a:rPr lang="en-US" dirty="0"/>
              <a:t> </a:t>
            </a:r>
            <a:r>
              <a:rPr lang="en-US" dirty="0" err="1"/>
              <a:t>penguat</a:t>
            </a:r>
            <a:r>
              <a:rPr lang="en-US" dirty="0"/>
              <a:t> linier </a:t>
            </a:r>
            <a:r>
              <a:rPr lang="en-US" dirty="0" err="1"/>
              <a:t>dengan</a:t>
            </a:r>
            <a:r>
              <a:rPr lang="en-US" dirty="0"/>
              <a:t> </a:t>
            </a:r>
            <a:r>
              <a:rPr lang="en-US" dirty="0" err="1"/>
              <a:t>penguatan</a:t>
            </a:r>
            <a:r>
              <a:rPr lang="en-US" dirty="0"/>
              <a:t> </a:t>
            </a:r>
            <a:r>
              <a:rPr lang="en-US" dirty="0" err="1"/>
              <a:t>tinggi</a:t>
            </a:r>
            <a:r>
              <a:rPr lang="en-US" dirty="0" smtClean="0"/>
              <a:t>.</a:t>
            </a:r>
          </a:p>
          <a:p>
            <a:endParaRPr lang="en-US" dirty="0"/>
          </a:p>
          <a:p>
            <a:endParaRPr lang="en-US" dirty="0"/>
          </a:p>
        </p:txBody>
      </p:sp>
      <p:sp>
        <p:nvSpPr>
          <p:cNvPr id="6" name="Slide Number Placeholder 5"/>
          <p:cNvSpPr>
            <a:spLocks noGrp="1"/>
          </p:cNvSpPr>
          <p:nvPr>
            <p:ph type="sldNum" sz="quarter" idx="12"/>
          </p:nvPr>
        </p:nvSpPr>
        <p:spPr/>
        <p:txBody>
          <a:bodyPr>
            <a:normAutofit/>
          </a:bodyPr>
          <a:lstStyle/>
          <a:p>
            <a:fld id="{30FF78D7-7CA0-44FD-8733-19F49D683D81}" type="slidenum">
              <a:rPr lang="en-US" smtClean="0"/>
              <a:pPr/>
              <a:t>17</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1" y="2833932"/>
            <a:ext cx="4105275" cy="3185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69" name="Picture 1"/>
          <p:cNvPicPr>
            <a:picLocks noChangeAspect="1" noChangeArrowheads="1"/>
          </p:cNvPicPr>
          <p:nvPr/>
        </p:nvPicPr>
        <p:blipFill>
          <a:blip r:embed="rId3"/>
          <a:srcRect/>
          <a:stretch>
            <a:fillRect/>
          </a:stretch>
        </p:blipFill>
        <p:spPr bwMode="auto">
          <a:xfrm>
            <a:off x="2667000" y="3124200"/>
            <a:ext cx="2667000" cy="2584302"/>
          </a:xfrm>
          <a:prstGeom prst="rect">
            <a:avLst/>
          </a:prstGeom>
          <a:noFill/>
          <a:ln w="9525">
            <a:noFill/>
            <a:miter lim="800000"/>
            <a:headEnd/>
            <a:tailEnd/>
          </a:ln>
          <a:effectLst/>
        </p:spPr>
      </p:pic>
    </p:spTree>
    <p:extLst>
      <p:ext uri="{BB962C8B-B14F-4D97-AF65-F5344CB8AC3E}">
        <p14:creationId xmlns:p14="http://schemas.microsoft.com/office/powerpoint/2010/main" val="5723521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p:txBody>
          <a:bodyPr/>
          <a:lstStyle/>
          <a:p>
            <a:r>
              <a:rPr lang="en-US"/>
              <a:t>Simbol</a:t>
            </a:r>
          </a:p>
        </p:txBody>
      </p:sp>
      <p:sp>
        <p:nvSpPr>
          <p:cNvPr id="14339" name="Rectangle 3"/>
          <p:cNvSpPr>
            <a:spLocks noGrp="1" noChangeArrowheads="1"/>
          </p:cNvSpPr>
          <p:nvPr>
            <p:ph type="body" idx="1"/>
          </p:nvPr>
        </p:nvSpPr>
        <p:spPr>
          <a:xfrm>
            <a:off x="1981200" y="3581401"/>
            <a:ext cx="8229600" cy="2544763"/>
          </a:xfrm>
        </p:spPr>
        <p:txBody>
          <a:bodyPr>
            <a:normAutofit/>
          </a:bodyPr>
          <a:lstStyle/>
          <a:p>
            <a:r>
              <a:rPr lang="en-US" dirty="0">
                <a:effectLst/>
              </a:rPr>
              <a:t>Terminal-terminal </a:t>
            </a:r>
            <a:r>
              <a:rPr lang="en-US" dirty="0" err="1">
                <a:effectLst/>
              </a:rPr>
              <a:t>luar</a:t>
            </a:r>
            <a:r>
              <a:rPr lang="en-US" dirty="0">
                <a:effectLst/>
              </a:rPr>
              <a:t> di </a:t>
            </a:r>
            <a:r>
              <a:rPr lang="en-US" dirty="0" err="1">
                <a:effectLst/>
              </a:rPr>
              <a:t>samping</a:t>
            </a:r>
            <a:r>
              <a:rPr lang="en-US" dirty="0">
                <a:effectLst/>
              </a:rPr>
              <a:t> power supply ( ±</a:t>
            </a:r>
            <a:r>
              <a:rPr lang="en-US" dirty="0" err="1">
                <a:effectLst/>
              </a:rPr>
              <a:t>Vcc</a:t>
            </a:r>
            <a:r>
              <a:rPr lang="en-US" dirty="0">
                <a:effectLst/>
              </a:rPr>
              <a:t>) </a:t>
            </a:r>
            <a:r>
              <a:rPr lang="en-US" dirty="0" err="1">
                <a:effectLst/>
              </a:rPr>
              <a:t>adalah</a:t>
            </a:r>
            <a:r>
              <a:rPr lang="en-US" dirty="0">
                <a:effectLst/>
              </a:rPr>
              <a:t> </a:t>
            </a:r>
            <a:r>
              <a:rPr lang="en-US" dirty="0" err="1">
                <a:effectLst/>
              </a:rPr>
              <a:t>dua</a:t>
            </a:r>
            <a:r>
              <a:rPr lang="en-US" dirty="0">
                <a:effectLst/>
              </a:rPr>
              <a:t> input </a:t>
            </a:r>
            <a:r>
              <a:rPr lang="en-US" i="1" dirty="0">
                <a:effectLst/>
              </a:rPr>
              <a:t>v</a:t>
            </a:r>
            <a:r>
              <a:rPr lang="en-US" i="1" baseline="-25000" dirty="0">
                <a:effectLst/>
              </a:rPr>
              <a:t>i1</a:t>
            </a:r>
            <a:r>
              <a:rPr lang="en-US" baseline="-25000" dirty="0">
                <a:effectLst/>
              </a:rPr>
              <a:t> </a:t>
            </a:r>
            <a:r>
              <a:rPr lang="en-US" dirty="0" err="1">
                <a:effectLst/>
              </a:rPr>
              <a:t>dan</a:t>
            </a:r>
            <a:r>
              <a:rPr lang="en-US" dirty="0">
                <a:effectLst/>
              </a:rPr>
              <a:t> </a:t>
            </a:r>
            <a:r>
              <a:rPr lang="en-US" i="1" dirty="0">
                <a:effectLst/>
              </a:rPr>
              <a:t>v</a:t>
            </a:r>
            <a:r>
              <a:rPr lang="en-US" i="1" baseline="-25000" dirty="0">
                <a:effectLst/>
              </a:rPr>
              <a:t>i2</a:t>
            </a:r>
            <a:r>
              <a:rPr lang="en-US" i="1" dirty="0">
                <a:effectLst/>
              </a:rPr>
              <a:t> </a:t>
            </a:r>
            <a:r>
              <a:rPr lang="en-US" dirty="0" err="1">
                <a:effectLst/>
              </a:rPr>
              <a:t>serta</a:t>
            </a:r>
            <a:r>
              <a:rPr lang="en-US" dirty="0">
                <a:effectLst/>
              </a:rPr>
              <a:t> terminal </a:t>
            </a:r>
            <a:r>
              <a:rPr lang="en-US" dirty="0" err="1">
                <a:effectLst/>
              </a:rPr>
              <a:t>keluran</a:t>
            </a:r>
            <a:r>
              <a:rPr lang="en-US" dirty="0">
                <a:effectLst/>
              </a:rPr>
              <a:t> </a:t>
            </a:r>
            <a:r>
              <a:rPr lang="en-US" i="1" dirty="0" err="1">
                <a:effectLst/>
              </a:rPr>
              <a:t>v</a:t>
            </a:r>
            <a:r>
              <a:rPr lang="en-US" i="1" baseline="-25000" dirty="0" err="1">
                <a:effectLst/>
              </a:rPr>
              <a:t>out</a:t>
            </a:r>
            <a:r>
              <a:rPr lang="en-US" dirty="0">
                <a:effectLst/>
              </a:rPr>
              <a:t>. </a:t>
            </a:r>
            <a:endParaRPr lang="en-US" dirty="0" smtClean="0">
              <a:effectLst/>
            </a:endParaRPr>
          </a:p>
          <a:p>
            <a:r>
              <a:rPr lang="en-US" dirty="0" err="1" smtClean="0"/>
              <a:t>Aplikasi</a:t>
            </a:r>
            <a:r>
              <a:rPr lang="en-US" dirty="0" smtClean="0"/>
              <a:t> op-amp yang paling </a:t>
            </a:r>
            <a:r>
              <a:rPr lang="en-US" dirty="0" err="1" smtClean="0"/>
              <a:t>sering</a:t>
            </a:r>
            <a:r>
              <a:rPr lang="en-US" dirty="0" smtClean="0"/>
              <a:t> </a:t>
            </a:r>
            <a:r>
              <a:rPr lang="en-US" dirty="0" err="1" smtClean="0"/>
              <a:t>dipakai</a:t>
            </a:r>
            <a:r>
              <a:rPr lang="en-US" dirty="0" smtClean="0"/>
              <a:t> </a:t>
            </a:r>
            <a:r>
              <a:rPr lang="en-US" dirty="0" err="1" smtClean="0"/>
              <a:t>antara</a:t>
            </a:r>
            <a:r>
              <a:rPr lang="en-US" dirty="0" smtClean="0"/>
              <a:t> lain </a:t>
            </a:r>
            <a:r>
              <a:rPr lang="en-US" dirty="0" err="1" smtClean="0"/>
              <a:t>adalah</a:t>
            </a:r>
            <a:r>
              <a:rPr lang="en-US" dirty="0" smtClean="0"/>
              <a:t> </a:t>
            </a:r>
            <a:r>
              <a:rPr lang="en-US" dirty="0" err="1" smtClean="0"/>
              <a:t>rangkaian</a:t>
            </a:r>
            <a:r>
              <a:rPr lang="en-US" dirty="0" smtClean="0"/>
              <a:t> inverter, non-inverter, integrator </a:t>
            </a:r>
            <a:r>
              <a:rPr lang="en-US" dirty="0" err="1" smtClean="0"/>
              <a:t>dan</a:t>
            </a:r>
            <a:r>
              <a:rPr lang="en-US" dirty="0" smtClean="0"/>
              <a:t> </a:t>
            </a:r>
            <a:r>
              <a:rPr lang="en-US" dirty="0" err="1" smtClean="0"/>
              <a:t>differensiator</a:t>
            </a:r>
            <a:r>
              <a:rPr lang="en-US" dirty="0" smtClean="0"/>
              <a:t>.</a:t>
            </a:r>
            <a:endParaRPr lang="en-US" dirty="0" smtClean="0">
              <a:effectLst/>
            </a:endParaRPr>
          </a:p>
          <a:p>
            <a:endParaRPr lang="en-US" dirty="0"/>
          </a:p>
        </p:txBody>
      </p:sp>
      <p:pic>
        <p:nvPicPr>
          <p:cNvPr id="143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676401"/>
            <a:ext cx="2667000" cy="153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676400"/>
            <a:ext cx="2362200" cy="145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normAutofit/>
          </a:bodyPr>
          <a:lstStyle/>
          <a:p>
            <a:fld id="{30FF78D7-7CA0-44FD-8733-19F49D683D81}" type="slidenum">
              <a:rPr lang="en-US" smtClean="0"/>
              <a:pPr/>
              <a:t>18</a:t>
            </a:fld>
            <a:endParaRPr lang="en-US"/>
          </a:p>
        </p:txBody>
      </p:sp>
    </p:spTree>
    <p:extLst>
      <p:ext uri="{BB962C8B-B14F-4D97-AF65-F5344CB8AC3E}">
        <p14:creationId xmlns:p14="http://schemas.microsoft.com/office/powerpoint/2010/main" val="11146917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Karakteristik</a:t>
            </a:r>
            <a:endParaRPr lang="en-US" dirty="0"/>
          </a:p>
        </p:txBody>
      </p:sp>
      <p:sp>
        <p:nvSpPr>
          <p:cNvPr id="5" name="Slide Number Placeholder 4"/>
          <p:cNvSpPr>
            <a:spLocks noGrp="1"/>
          </p:cNvSpPr>
          <p:nvPr>
            <p:ph type="sldNum" sz="quarter" idx="12"/>
          </p:nvPr>
        </p:nvSpPr>
        <p:spPr/>
        <p:txBody>
          <a:bodyPr>
            <a:normAutofit/>
          </a:bodyPr>
          <a:lstStyle/>
          <a:p>
            <a:fld id="{30FF78D7-7CA0-44FD-8733-19F49D683D81}" type="slidenum">
              <a:rPr lang="en-US" smtClean="0"/>
              <a:pPr/>
              <a:t>19</a:t>
            </a:fld>
            <a:endParaRPr lang="en-US"/>
          </a:p>
        </p:txBody>
      </p:sp>
      <p:sp>
        <p:nvSpPr>
          <p:cNvPr id="6" name="Content Placeholder 5"/>
          <p:cNvSpPr>
            <a:spLocks noGrp="1"/>
          </p:cNvSpPr>
          <p:nvPr>
            <p:ph sz="quarter" idx="1"/>
          </p:nvPr>
        </p:nvSpPr>
        <p:spPr/>
        <p:txBody>
          <a:bodyPr>
            <a:normAutofit fontScale="92500" lnSpcReduction="20000"/>
          </a:bodyPr>
          <a:lstStyle/>
          <a:p>
            <a:r>
              <a:rPr lang="en-US" dirty="0" err="1"/>
              <a:t>Karakteristik</a:t>
            </a:r>
            <a:r>
              <a:rPr lang="en-US" dirty="0"/>
              <a:t> </a:t>
            </a:r>
            <a:r>
              <a:rPr lang="en-US" dirty="0" err="1"/>
              <a:t>utama</a:t>
            </a:r>
            <a:r>
              <a:rPr lang="en-US" dirty="0"/>
              <a:t> </a:t>
            </a:r>
            <a:r>
              <a:rPr lang="en-US" dirty="0" err="1"/>
              <a:t>sebuah</a:t>
            </a:r>
            <a:r>
              <a:rPr lang="en-US" dirty="0"/>
              <a:t> </a:t>
            </a:r>
            <a:r>
              <a:rPr lang="en-US" dirty="0" err="1"/>
              <a:t>penguat</a:t>
            </a:r>
            <a:r>
              <a:rPr lang="en-US" dirty="0"/>
              <a:t> </a:t>
            </a:r>
            <a:r>
              <a:rPr lang="en-US" dirty="0" err="1"/>
              <a:t>operasional</a:t>
            </a:r>
            <a:r>
              <a:rPr lang="en-US" dirty="0"/>
              <a:t> yang ideal </a:t>
            </a:r>
            <a:r>
              <a:rPr lang="en-US" dirty="0" err="1"/>
              <a:t>adalah</a:t>
            </a:r>
            <a:r>
              <a:rPr lang="en-US" dirty="0"/>
              <a:t> </a:t>
            </a:r>
            <a:r>
              <a:rPr lang="en-US" dirty="0" smtClean="0"/>
              <a:t>:</a:t>
            </a:r>
          </a:p>
          <a:p>
            <a:pPr marL="574675" indent="-398463" algn="just">
              <a:buFont typeface="+mj-lt"/>
              <a:buAutoNum type="arabicPeriod"/>
            </a:pPr>
            <a:r>
              <a:rPr lang="en-US" dirty="0" err="1" smtClean="0"/>
              <a:t>Impedansi</a:t>
            </a:r>
            <a:r>
              <a:rPr lang="en-US" dirty="0" smtClean="0"/>
              <a:t> </a:t>
            </a:r>
            <a:r>
              <a:rPr lang="en-US" dirty="0" err="1" smtClean="0"/>
              <a:t>masukan</a:t>
            </a:r>
            <a:r>
              <a:rPr lang="en-US" dirty="0" smtClean="0"/>
              <a:t> </a:t>
            </a:r>
            <a:r>
              <a:rPr lang="en-US" dirty="0" err="1" smtClean="0"/>
              <a:t>tak</a:t>
            </a:r>
            <a:r>
              <a:rPr lang="en-US" dirty="0" smtClean="0"/>
              <a:t> </a:t>
            </a:r>
            <a:r>
              <a:rPr lang="en-US" dirty="0" err="1" smtClean="0"/>
              <a:t>terhingga</a:t>
            </a:r>
            <a:r>
              <a:rPr lang="en-US" dirty="0" smtClean="0"/>
              <a:t>. </a:t>
            </a:r>
            <a:r>
              <a:rPr lang="en-US" dirty="0" err="1" smtClean="0"/>
              <a:t>Penguat</a:t>
            </a:r>
            <a:r>
              <a:rPr lang="en-US" dirty="0" smtClean="0"/>
              <a:t> yang ideal </a:t>
            </a:r>
            <a:r>
              <a:rPr lang="en-US" dirty="0" err="1" smtClean="0"/>
              <a:t>diharapkan</a:t>
            </a:r>
            <a:r>
              <a:rPr lang="en-US" dirty="0" smtClean="0"/>
              <a:t> </a:t>
            </a:r>
            <a:r>
              <a:rPr lang="en-US" dirty="0" err="1" smtClean="0"/>
              <a:t>tidak</a:t>
            </a:r>
            <a:r>
              <a:rPr lang="en-US" dirty="0" smtClean="0"/>
              <a:t> </a:t>
            </a:r>
            <a:r>
              <a:rPr lang="en-US" dirty="0" err="1" smtClean="0"/>
              <a:t>menarik</a:t>
            </a:r>
            <a:r>
              <a:rPr lang="en-US" dirty="0" smtClean="0"/>
              <a:t> </a:t>
            </a:r>
            <a:r>
              <a:rPr lang="en-US" dirty="0" err="1" smtClean="0"/>
              <a:t>arus</a:t>
            </a:r>
            <a:r>
              <a:rPr lang="en-US" dirty="0" smtClean="0"/>
              <a:t> </a:t>
            </a:r>
            <a:r>
              <a:rPr lang="en-US" dirty="0" err="1" smtClean="0"/>
              <a:t>masukan</a:t>
            </a:r>
            <a:r>
              <a:rPr lang="en-US" dirty="0" smtClean="0"/>
              <a:t>, </a:t>
            </a:r>
            <a:r>
              <a:rPr lang="en-US" dirty="0" err="1" smtClean="0"/>
              <a:t>artinya</a:t>
            </a:r>
            <a:r>
              <a:rPr lang="en-US" dirty="0" smtClean="0"/>
              <a:t> </a:t>
            </a:r>
            <a:r>
              <a:rPr lang="en-US" dirty="0" err="1" smtClean="0"/>
              <a:t>tidak</a:t>
            </a:r>
            <a:r>
              <a:rPr lang="en-US" dirty="0" smtClean="0"/>
              <a:t> </a:t>
            </a:r>
            <a:r>
              <a:rPr lang="en-US" dirty="0" err="1" smtClean="0"/>
              <a:t>ada</a:t>
            </a:r>
            <a:r>
              <a:rPr lang="en-US" dirty="0" smtClean="0"/>
              <a:t> </a:t>
            </a:r>
            <a:r>
              <a:rPr lang="en-US" dirty="0" err="1" smtClean="0"/>
              <a:t>arus</a:t>
            </a:r>
            <a:r>
              <a:rPr lang="en-US" dirty="0" smtClean="0"/>
              <a:t> yang </a:t>
            </a:r>
            <a:r>
              <a:rPr lang="en-US" dirty="0" err="1" smtClean="0"/>
              <a:t>masuk</a:t>
            </a:r>
            <a:r>
              <a:rPr lang="en-US" dirty="0" smtClean="0"/>
              <a:t> </a:t>
            </a:r>
            <a:r>
              <a:rPr lang="en-US" dirty="0" err="1" smtClean="0"/>
              <a:t>kedalam</a:t>
            </a:r>
            <a:r>
              <a:rPr lang="en-US" dirty="0" smtClean="0"/>
              <a:t> terminal 1 </a:t>
            </a:r>
            <a:r>
              <a:rPr lang="en-US" dirty="0" err="1" smtClean="0"/>
              <a:t>maupun</a:t>
            </a:r>
            <a:r>
              <a:rPr lang="en-US" dirty="0" smtClean="0"/>
              <a:t> 2 ( I1 =I2 = 0)</a:t>
            </a:r>
            <a:endParaRPr lang="en-US" dirty="0"/>
          </a:p>
          <a:p>
            <a:pPr marL="574675" indent="-398463" algn="just">
              <a:buFont typeface="+mj-lt"/>
              <a:buAutoNum type="arabicPeriod"/>
            </a:pPr>
            <a:r>
              <a:rPr lang="en-US" dirty="0" err="1" smtClean="0"/>
              <a:t>Impedansi</a:t>
            </a:r>
            <a:r>
              <a:rPr lang="en-US" dirty="0" smtClean="0"/>
              <a:t> </a:t>
            </a:r>
            <a:r>
              <a:rPr lang="en-US" dirty="0" err="1"/>
              <a:t>keluaran</a:t>
            </a:r>
            <a:r>
              <a:rPr lang="en-US" dirty="0"/>
              <a:t> </a:t>
            </a:r>
            <a:r>
              <a:rPr lang="en-US" dirty="0" err="1"/>
              <a:t>sama</a:t>
            </a:r>
            <a:r>
              <a:rPr lang="en-US" dirty="0"/>
              <a:t> </a:t>
            </a:r>
            <a:r>
              <a:rPr lang="en-US" dirty="0" err="1"/>
              <a:t>dengan</a:t>
            </a:r>
            <a:r>
              <a:rPr lang="en-US" dirty="0"/>
              <a:t> </a:t>
            </a:r>
            <a:r>
              <a:rPr lang="en-US" dirty="0" err="1"/>
              <a:t>nol</a:t>
            </a:r>
            <a:r>
              <a:rPr lang="en-US" dirty="0"/>
              <a:t> Terminal 3 </a:t>
            </a:r>
            <a:r>
              <a:rPr lang="en-US" dirty="0" err="1"/>
              <a:t>merupakan</a:t>
            </a:r>
            <a:r>
              <a:rPr lang="en-US" dirty="0"/>
              <a:t> </a:t>
            </a:r>
            <a:r>
              <a:rPr lang="en-US" dirty="0" err="1"/>
              <a:t>keluaran</a:t>
            </a:r>
            <a:r>
              <a:rPr lang="en-US" dirty="0"/>
              <a:t> </a:t>
            </a:r>
            <a:r>
              <a:rPr lang="en-US" dirty="0" err="1"/>
              <a:t>penguat</a:t>
            </a:r>
            <a:r>
              <a:rPr lang="en-US" dirty="0"/>
              <a:t> </a:t>
            </a:r>
            <a:r>
              <a:rPr lang="en-US" dirty="0" err="1"/>
              <a:t>operasional</a:t>
            </a:r>
            <a:r>
              <a:rPr lang="en-US" dirty="0"/>
              <a:t>, </a:t>
            </a:r>
            <a:r>
              <a:rPr lang="en-US" dirty="0" err="1"/>
              <a:t>idealnya</a:t>
            </a:r>
            <a:r>
              <a:rPr lang="en-US" dirty="0"/>
              <a:t> </a:t>
            </a:r>
            <a:r>
              <a:rPr lang="en-US" dirty="0" err="1"/>
              <a:t>diharapkan</a:t>
            </a:r>
            <a:r>
              <a:rPr lang="en-US" dirty="0"/>
              <a:t> </a:t>
            </a:r>
            <a:r>
              <a:rPr lang="en-US" dirty="0" err="1"/>
              <a:t>bertindak</a:t>
            </a:r>
            <a:r>
              <a:rPr lang="en-US" dirty="0"/>
              <a:t> </a:t>
            </a:r>
            <a:r>
              <a:rPr lang="en-US" dirty="0" err="1"/>
              <a:t>sebagai</a:t>
            </a:r>
            <a:r>
              <a:rPr lang="en-US" dirty="0"/>
              <a:t> terminal </a:t>
            </a:r>
            <a:r>
              <a:rPr lang="en-US" dirty="0" err="1"/>
              <a:t>keluaran</a:t>
            </a:r>
            <a:r>
              <a:rPr lang="en-US" dirty="0"/>
              <a:t> </a:t>
            </a:r>
            <a:r>
              <a:rPr lang="en-US" dirty="0" err="1"/>
              <a:t>sebuah</a:t>
            </a:r>
            <a:r>
              <a:rPr lang="en-US" dirty="0"/>
              <a:t> </a:t>
            </a:r>
            <a:r>
              <a:rPr lang="en-US" dirty="0" err="1"/>
              <a:t>sumber</a:t>
            </a:r>
            <a:r>
              <a:rPr lang="en-US" dirty="0"/>
              <a:t> </a:t>
            </a:r>
            <a:r>
              <a:rPr lang="en-US" dirty="0" err="1"/>
              <a:t>sumber</a:t>
            </a:r>
            <a:r>
              <a:rPr lang="en-US" dirty="0"/>
              <a:t> </a:t>
            </a:r>
            <a:r>
              <a:rPr lang="en-US" dirty="0" err="1"/>
              <a:t>tegangan</a:t>
            </a:r>
            <a:r>
              <a:rPr lang="en-US" dirty="0"/>
              <a:t> ideal. </a:t>
            </a:r>
            <a:r>
              <a:rPr lang="en-US" dirty="0" err="1"/>
              <a:t>Tegangan</a:t>
            </a:r>
            <a:r>
              <a:rPr lang="en-US" dirty="0"/>
              <a:t> </a:t>
            </a:r>
            <a:r>
              <a:rPr lang="en-US" dirty="0" err="1"/>
              <a:t>antara</a:t>
            </a:r>
            <a:r>
              <a:rPr lang="en-US" dirty="0"/>
              <a:t> terminal3 </a:t>
            </a:r>
            <a:r>
              <a:rPr lang="en-US" dirty="0" err="1"/>
              <a:t>dengan</a:t>
            </a:r>
            <a:r>
              <a:rPr lang="en-US" dirty="0"/>
              <a:t> ground </a:t>
            </a:r>
            <a:r>
              <a:rPr lang="en-US" dirty="0" err="1"/>
              <a:t>akan</a:t>
            </a:r>
            <a:r>
              <a:rPr lang="en-US" dirty="0"/>
              <a:t> </a:t>
            </a:r>
            <a:r>
              <a:rPr lang="en-US" dirty="0" err="1"/>
              <a:t>selalu</a:t>
            </a:r>
            <a:r>
              <a:rPr lang="en-US" dirty="0"/>
              <a:t> </a:t>
            </a:r>
            <a:r>
              <a:rPr lang="en-US" dirty="0" err="1"/>
              <a:t>sama</a:t>
            </a:r>
            <a:r>
              <a:rPr lang="en-US" dirty="0"/>
              <a:t> </a:t>
            </a:r>
            <a:r>
              <a:rPr lang="en-US" dirty="0" err="1"/>
              <a:t>dengan</a:t>
            </a:r>
            <a:r>
              <a:rPr lang="en-US" dirty="0"/>
              <a:t> A (V2 . V1 ), </a:t>
            </a:r>
            <a:r>
              <a:rPr lang="en-US" dirty="0" err="1"/>
              <a:t>dimana</a:t>
            </a:r>
            <a:r>
              <a:rPr lang="en-US" dirty="0"/>
              <a:t> A </a:t>
            </a:r>
            <a:r>
              <a:rPr lang="en-US" dirty="0" err="1"/>
              <a:t>adalah</a:t>
            </a:r>
            <a:r>
              <a:rPr lang="en-US" dirty="0"/>
              <a:t> </a:t>
            </a:r>
            <a:r>
              <a:rPr lang="en-US" dirty="0" err="1"/>
              <a:t>faktor</a:t>
            </a:r>
            <a:r>
              <a:rPr lang="en-US" dirty="0"/>
              <a:t> </a:t>
            </a:r>
            <a:r>
              <a:rPr lang="en-US" dirty="0" err="1"/>
              <a:t>penguatan</a:t>
            </a:r>
            <a:r>
              <a:rPr lang="en-US" dirty="0"/>
              <a:t> </a:t>
            </a:r>
            <a:r>
              <a:rPr lang="en-US" dirty="0" err="1"/>
              <a:t>sebuah</a:t>
            </a:r>
            <a:r>
              <a:rPr lang="en-US" dirty="0"/>
              <a:t> </a:t>
            </a:r>
            <a:r>
              <a:rPr lang="en-US" dirty="0" err="1"/>
              <a:t>penguat</a:t>
            </a:r>
            <a:r>
              <a:rPr lang="en-US" dirty="0"/>
              <a:t> </a:t>
            </a:r>
            <a:r>
              <a:rPr lang="en-US" dirty="0" err="1" smtClean="0"/>
              <a:t>operasional</a:t>
            </a:r>
            <a:r>
              <a:rPr lang="en-US" dirty="0" smtClean="0"/>
              <a:t>.</a:t>
            </a:r>
          </a:p>
          <a:p>
            <a:pPr marL="574675" indent="-398463" algn="just">
              <a:buFont typeface="+mj-lt"/>
              <a:buAutoNum type="arabicPeriod"/>
            </a:pPr>
            <a:r>
              <a:rPr lang="en-US" dirty="0" err="1" smtClean="0"/>
              <a:t>Penguatan</a:t>
            </a:r>
            <a:r>
              <a:rPr lang="en-US" dirty="0" smtClean="0"/>
              <a:t> </a:t>
            </a:r>
            <a:r>
              <a:rPr lang="en-US" dirty="0"/>
              <a:t>loop </a:t>
            </a:r>
            <a:r>
              <a:rPr lang="en-US" dirty="0" err="1"/>
              <a:t>terbuka</a:t>
            </a:r>
            <a:r>
              <a:rPr lang="en-US" dirty="0"/>
              <a:t> </a:t>
            </a:r>
            <a:r>
              <a:rPr lang="en-US" dirty="0" err="1"/>
              <a:t>tak</a:t>
            </a:r>
            <a:r>
              <a:rPr lang="en-US" dirty="0"/>
              <a:t> </a:t>
            </a:r>
            <a:r>
              <a:rPr lang="en-US" dirty="0" err="1"/>
              <a:t>terhingga</a:t>
            </a:r>
            <a:r>
              <a:rPr lang="en-US" dirty="0"/>
              <a:t>. </a:t>
            </a:r>
            <a:r>
              <a:rPr lang="en-US" dirty="0" err="1"/>
              <a:t>Apabila</a:t>
            </a:r>
            <a:r>
              <a:rPr lang="en-US" dirty="0"/>
              <a:t> </a:t>
            </a:r>
            <a:r>
              <a:rPr lang="en-US" dirty="0" err="1"/>
              <a:t>dioperasikan</a:t>
            </a:r>
            <a:r>
              <a:rPr lang="en-US" dirty="0"/>
              <a:t> </a:t>
            </a:r>
            <a:r>
              <a:rPr lang="en-US" dirty="0" err="1"/>
              <a:t>pada</a:t>
            </a:r>
            <a:r>
              <a:rPr lang="en-US" dirty="0"/>
              <a:t> loop </a:t>
            </a:r>
            <a:r>
              <a:rPr lang="en-US" dirty="0" err="1"/>
              <a:t>terbuka</a:t>
            </a:r>
            <a:r>
              <a:rPr lang="en-US" dirty="0"/>
              <a:t> ( </a:t>
            </a:r>
            <a:r>
              <a:rPr lang="en-US" dirty="0" err="1"/>
              <a:t>tidak</a:t>
            </a:r>
            <a:r>
              <a:rPr lang="en-US" dirty="0"/>
              <a:t> </a:t>
            </a:r>
            <a:r>
              <a:rPr lang="en-US" dirty="0" err="1"/>
              <a:t>ada</a:t>
            </a:r>
            <a:r>
              <a:rPr lang="en-US" dirty="0"/>
              <a:t> </a:t>
            </a:r>
            <a:r>
              <a:rPr lang="en-US" dirty="0" err="1"/>
              <a:t>umpan</a:t>
            </a:r>
            <a:r>
              <a:rPr lang="en-US" dirty="0"/>
              <a:t> </a:t>
            </a:r>
            <a:r>
              <a:rPr lang="en-US" dirty="0" err="1"/>
              <a:t>balik</a:t>
            </a:r>
            <a:r>
              <a:rPr lang="en-US" dirty="0"/>
              <a:t> </a:t>
            </a:r>
            <a:r>
              <a:rPr lang="en-US" dirty="0" err="1"/>
              <a:t>dari</a:t>
            </a:r>
            <a:r>
              <a:rPr lang="en-US" dirty="0"/>
              <a:t> </a:t>
            </a:r>
            <a:r>
              <a:rPr lang="en-US" dirty="0" err="1"/>
              <a:t>keluaran</a:t>
            </a:r>
            <a:r>
              <a:rPr lang="en-US" dirty="0"/>
              <a:t> </a:t>
            </a:r>
            <a:r>
              <a:rPr lang="en-US" dirty="0" err="1"/>
              <a:t>ke</a:t>
            </a:r>
            <a:r>
              <a:rPr lang="en-US" dirty="0"/>
              <a:t> </a:t>
            </a:r>
            <a:r>
              <a:rPr lang="en-US" dirty="0" err="1"/>
              <a:t>masukan</a:t>
            </a:r>
            <a:r>
              <a:rPr lang="en-US" dirty="0"/>
              <a:t> ), </a:t>
            </a:r>
            <a:r>
              <a:rPr lang="en-US" dirty="0" err="1"/>
              <a:t>maka</a:t>
            </a:r>
            <a:r>
              <a:rPr lang="en-US" dirty="0"/>
              <a:t> </a:t>
            </a:r>
            <a:r>
              <a:rPr lang="en-US" dirty="0" err="1"/>
              <a:t>sebuah</a:t>
            </a:r>
            <a:r>
              <a:rPr lang="en-US" dirty="0"/>
              <a:t> </a:t>
            </a:r>
            <a:r>
              <a:rPr lang="en-US" dirty="0" err="1"/>
              <a:t>penguat</a:t>
            </a:r>
            <a:r>
              <a:rPr lang="en-US" dirty="0"/>
              <a:t> </a:t>
            </a:r>
            <a:r>
              <a:rPr lang="en-US" dirty="0" err="1"/>
              <a:t>opersaional</a:t>
            </a:r>
            <a:r>
              <a:rPr lang="en-US" dirty="0"/>
              <a:t> ideal </a:t>
            </a:r>
            <a:r>
              <a:rPr lang="en-US" dirty="0" err="1"/>
              <a:t>mempnyai</a:t>
            </a:r>
            <a:r>
              <a:rPr lang="en-US" dirty="0"/>
              <a:t> gain (</a:t>
            </a:r>
            <a:r>
              <a:rPr lang="en-US" dirty="0" err="1"/>
              <a:t>penguatan</a:t>
            </a:r>
            <a:r>
              <a:rPr lang="en-US" dirty="0"/>
              <a:t>) yang </a:t>
            </a:r>
            <a:r>
              <a:rPr lang="en-US" dirty="0" err="1"/>
              <a:t>besarnya</a:t>
            </a:r>
            <a:r>
              <a:rPr lang="en-US" dirty="0"/>
              <a:t> </a:t>
            </a:r>
            <a:r>
              <a:rPr lang="en-US" dirty="0" err="1"/>
              <a:t>tak</a:t>
            </a:r>
            <a:r>
              <a:rPr lang="en-US" dirty="0"/>
              <a:t> </a:t>
            </a:r>
            <a:r>
              <a:rPr lang="en-US" dirty="0" err="1"/>
              <a:t>terhingga</a:t>
            </a:r>
            <a:r>
              <a:rPr lang="en-US" dirty="0"/>
              <a:t>.</a:t>
            </a:r>
          </a:p>
          <a:p>
            <a:endParaRPr lang="en-US" dirty="0"/>
          </a:p>
        </p:txBody>
      </p:sp>
    </p:spTree>
    <p:extLst>
      <p:ext uri="{BB962C8B-B14F-4D97-AF65-F5344CB8AC3E}">
        <p14:creationId xmlns:p14="http://schemas.microsoft.com/office/powerpoint/2010/main" val="24471053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p:txBody>
          <a:bodyPr/>
          <a:lstStyle/>
          <a:p>
            <a:r>
              <a:rPr lang="en-US"/>
              <a:t>Karakteristik</a:t>
            </a:r>
          </a:p>
        </p:txBody>
      </p:sp>
      <p:graphicFrame>
        <p:nvGraphicFramePr>
          <p:cNvPr id="15432" name="Group 72"/>
          <p:cNvGraphicFramePr>
            <a:graphicFrameLocks noGrp="1"/>
          </p:cNvGraphicFramePr>
          <p:nvPr>
            <p:ph sz="half" idx="2"/>
          </p:nvPr>
        </p:nvGraphicFramePr>
        <p:xfrm>
          <a:off x="2286000" y="1981201"/>
          <a:ext cx="7696200" cy="2620965"/>
        </p:xfrm>
        <a:graphic>
          <a:graphicData uri="http://schemas.openxmlformats.org/drawingml/2006/table">
            <a:tbl>
              <a:tblPr/>
              <a:tblGrid>
                <a:gridCol w="26670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tblGrid>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Parameter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Ideal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LM741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LF347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LM318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Open-loop Gain (A</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Garamond" pitchFamily="18" charset="0"/>
                        </a:rPr>
                        <a:t>OL</a:t>
                      </a: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2 . 10</a:t>
                      </a:r>
                      <a:r>
                        <a:rPr kumimoji="0" lang="en-US" sz="2000" b="0" i="0" u="none" strike="noStrike" cap="none" normalizeH="0" baseline="30000" smtClean="0">
                          <a:ln>
                            <a:noFill/>
                          </a:ln>
                          <a:solidFill>
                            <a:schemeClr val="tx1"/>
                          </a:solidFill>
                          <a:effectLst>
                            <a:outerShdw blurRad="38100" dist="38100" dir="2700000" algn="tl">
                              <a:srgbClr val="C0C0C0"/>
                            </a:outerShdw>
                          </a:effectLst>
                          <a:latin typeface="Garamond"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10</a:t>
                      </a:r>
                      <a:r>
                        <a:rPr kumimoji="0" lang="en-US" sz="2000" b="0" i="0" u="none" strike="noStrike" cap="none" normalizeH="0" baseline="30000" smtClean="0">
                          <a:ln>
                            <a:noFill/>
                          </a:ln>
                          <a:solidFill>
                            <a:schemeClr val="tx1"/>
                          </a:solidFill>
                          <a:effectLst>
                            <a:outerShdw blurRad="38100" dist="38100" dir="2700000" algn="tl">
                              <a:srgbClr val="C0C0C0"/>
                            </a:outerShdw>
                          </a:effectLst>
                          <a:latin typeface="Garamond"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2 . 10</a:t>
                      </a:r>
                      <a:r>
                        <a:rPr kumimoji="0" lang="en-US" sz="2000" b="0" i="0" u="none" strike="noStrike" cap="none" normalizeH="0" baseline="30000" smtClean="0">
                          <a:ln>
                            <a:noFill/>
                          </a:ln>
                          <a:solidFill>
                            <a:schemeClr val="tx1"/>
                          </a:solidFill>
                          <a:effectLst>
                            <a:outerShdw blurRad="38100" dist="38100" dir="2700000" algn="tl">
                              <a:srgbClr val="C0C0C0"/>
                            </a:outerShdw>
                          </a:effectLst>
                          <a:latin typeface="Garamond" pitchFamily="18"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Input Resistance (R</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Garamond" pitchFamily="18" charset="0"/>
                        </a:rPr>
                        <a:t>in</a:t>
                      </a: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2 M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10</a:t>
                      </a:r>
                      <a:r>
                        <a:rPr kumimoji="0" lang="en-US" sz="2000" b="0" i="0" u="none" strike="noStrike" cap="none" normalizeH="0" baseline="30000" smtClean="0">
                          <a:ln>
                            <a:noFill/>
                          </a:ln>
                          <a:solidFill>
                            <a:schemeClr val="tx1"/>
                          </a:solidFill>
                          <a:effectLst>
                            <a:outerShdw blurRad="38100" dist="38100" dir="2700000" algn="tl">
                              <a:srgbClr val="C0C0C0"/>
                            </a:outerShdw>
                          </a:effectLst>
                          <a:latin typeface="Garamond" pitchFamily="18" charset="0"/>
                        </a:rPr>
                        <a:t>12</a:t>
                      </a: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3 M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Output Resistance (R</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Garamond" pitchFamily="18" charset="0"/>
                        </a:rPr>
                        <a:t>o</a:t>
                      </a: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0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75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75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75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Gain Bandwidth Product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 Hz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 MHz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4 MHz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15 MHz</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CMRR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90 dB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100 dB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100 dB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4294967295"/>
          </p:nvPr>
        </p:nvSpPr>
        <p:spPr/>
        <p:txBody>
          <a:bodyPr>
            <a:normAutofit fontScale="25000" lnSpcReduction="20000"/>
          </a:bodyPr>
          <a:lstStyle/>
          <a:p>
            <a:fld id="{30FF78D7-7CA0-44FD-8733-19F49D683D81}" type="slidenum">
              <a:rPr lang="en-US" smtClean="0"/>
              <a:pPr/>
              <a:t>20</a:t>
            </a:fld>
            <a:endParaRPr lang="en-US"/>
          </a:p>
        </p:txBody>
      </p:sp>
      <p:sp>
        <p:nvSpPr>
          <p:cNvPr id="7" name="Rectangle 6"/>
          <p:cNvSpPr/>
          <p:nvPr/>
        </p:nvSpPr>
        <p:spPr>
          <a:xfrm>
            <a:off x="2286000" y="4876801"/>
            <a:ext cx="7924800" cy="646331"/>
          </a:xfrm>
          <a:prstGeom prst="rect">
            <a:avLst/>
          </a:prstGeom>
        </p:spPr>
        <p:txBody>
          <a:bodyPr wrap="square">
            <a:spAutoFit/>
          </a:bodyPr>
          <a:lstStyle/>
          <a:p>
            <a:r>
              <a:rPr lang="en-US" i="1" dirty="0"/>
              <a:t>common-mode rejection ratio</a:t>
            </a:r>
            <a:r>
              <a:rPr lang="en-US" dirty="0"/>
              <a:t> (</a:t>
            </a:r>
            <a:r>
              <a:rPr lang="en-US" i="1" dirty="0"/>
              <a:t>CMRR</a:t>
            </a:r>
            <a:r>
              <a:rPr lang="en-US" dirty="0"/>
              <a:t>) </a:t>
            </a:r>
            <a:r>
              <a:rPr lang="en-US" dirty="0" err="1"/>
              <a:t>adalah</a:t>
            </a:r>
            <a:r>
              <a:rPr lang="en-US" dirty="0"/>
              <a:t> </a:t>
            </a:r>
            <a:r>
              <a:rPr lang="en-US" dirty="0" err="1"/>
              <a:t>kecenderungan</a:t>
            </a:r>
            <a:r>
              <a:rPr lang="en-US" dirty="0"/>
              <a:t> </a:t>
            </a:r>
            <a:r>
              <a:rPr lang="en-US" dirty="0" err="1"/>
              <a:t>dari</a:t>
            </a:r>
            <a:r>
              <a:rPr lang="en-US" dirty="0"/>
              <a:t> </a:t>
            </a:r>
            <a:r>
              <a:rPr lang="en-US" dirty="0" err="1"/>
              <a:t>perangkat</a:t>
            </a:r>
            <a:r>
              <a:rPr lang="en-US" dirty="0"/>
              <a:t> </a:t>
            </a:r>
            <a:r>
              <a:rPr lang="en-US" dirty="0" err="1"/>
              <a:t>untuk</a:t>
            </a:r>
            <a:r>
              <a:rPr lang="en-US" dirty="0"/>
              <a:t> </a:t>
            </a:r>
            <a:r>
              <a:rPr lang="en-US" dirty="0" err="1"/>
              <a:t>menolak</a:t>
            </a:r>
            <a:r>
              <a:rPr lang="en-US" dirty="0"/>
              <a:t> input </a:t>
            </a:r>
            <a:r>
              <a:rPr lang="en-US" dirty="0" err="1"/>
              <a:t>sinyal</a:t>
            </a:r>
            <a:r>
              <a:rPr lang="en-US" dirty="0"/>
              <a:t> </a:t>
            </a:r>
            <a:r>
              <a:rPr lang="en-US" dirty="0" err="1"/>
              <a:t>sama</a:t>
            </a:r>
            <a:r>
              <a:rPr lang="en-US" dirty="0"/>
              <a:t> </a:t>
            </a:r>
            <a:r>
              <a:rPr lang="en-US" dirty="0" err="1"/>
              <a:t>untuk</a:t>
            </a:r>
            <a:r>
              <a:rPr lang="en-US" dirty="0"/>
              <a:t> </a:t>
            </a:r>
            <a:r>
              <a:rPr lang="en-US" dirty="0" err="1"/>
              <a:t>kedua</a:t>
            </a:r>
            <a:r>
              <a:rPr lang="en-US" dirty="0"/>
              <a:t> lead </a:t>
            </a:r>
            <a:r>
              <a:rPr lang="en-US" dirty="0" err="1"/>
              <a:t>masukan</a:t>
            </a:r>
            <a:endParaRPr lang="en-US" dirty="0"/>
          </a:p>
        </p:txBody>
      </p:sp>
    </p:spTree>
    <p:extLst>
      <p:ext uri="{BB962C8B-B14F-4D97-AF65-F5344CB8AC3E}">
        <p14:creationId xmlns:p14="http://schemas.microsoft.com/office/powerpoint/2010/main" val="24038833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rrowheads="1"/>
          </p:cNvSpPr>
          <p:nvPr>
            <p:ph type="title"/>
          </p:nvPr>
        </p:nvSpPr>
        <p:spPr/>
        <p:txBody>
          <a:bodyPr/>
          <a:lstStyle/>
          <a:p>
            <a:r>
              <a:rPr lang="en-US"/>
              <a:t>Keluaran</a:t>
            </a:r>
          </a:p>
        </p:txBody>
      </p:sp>
      <p:sp>
        <p:nvSpPr>
          <p:cNvPr id="18435" name="Rectangle 3"/>
          <p:cNvSpPr>
            <a:spLocks noGrp="1" noChangeArrowheads="1"/>
          </p:cNvSpPr>
          <p:nvPr>
            <p:ph type="body" sz="half" idx="1"/>
          </p:nvPr>
        </p:nvSpPr>
        <p:spPr>
          <a:xfrm>
            <a:off x="2057400" y="1828800"/>
            <a:ext cx="4038600" cy="2743200"/>
          </a:xfrm>
        </p:spPr>
        <p:txBody>
          <a:bodyPr>
            <a:normAutofit lnSpcReduction="10000"/>
          </a:bodyPr>
          <a:lstStyle/>
          <a:p>
            <a:r>
              <a:rPr lang="en-US" dirty="0" err="1"/>
              <a:t>Tegangan</a:t>
            </a:r>
            <a:r>
              <a:rPr lang="en-US" dirty="0"/>
              <a:t> </a:t>
            </a:r>
            <a:r>
              <a:rPr lang="en-US" dirty="0" err="1"/>
              <a:t>keluaran</a:t>
            </a:r>
            <a:r>
              <a:rPr lang="en-US" dirty="0"/>
              <a:t> </a:t>
            </a:r>
            <a:r>
              <a:rPr lang="en-US" dirty="0" err="1"/>
              <a:t>tak</a:t>
            </a:r>
            <a:r>
              <a:rPr lang="en-US" dirty="0"/>
              <a:t> </a:t>
            </a:r>
            <a:r>
              <a:rPr lang="en-US" dirty="0" err="1"/>
              <a:t>kan</a:t>
            </a:r>
            <a:r>
              <a:rPr lang="en-US" dirty="0"/>
              <a:t> </a:t>
            </a:r>
            <a:r>
              <a:rPr lang="en-US" dirty="0" err="1"/>
              <a:t>pernah</a:t>
            </a:r>
            <a:r>
              <a:rPr lang="en-US" dirty="0"/>
              <a:t> </a:t>
            </a:r>
            <a:r>
              <a:rPr lang="en-US" dirty="0" err="1"/>
              <a:t>melampaui</a:t>
            </a:r>
            <a:r>
              <a:rPr lang="en-US" dirty="0"/>
              <a:t> V</a:t>
            </a:r>
            <a:r>
              <a:rPr lang="en-US" baseline="-25000" dirty="0"/>
              <a:t>CC</a:t>
            </a:r>
            <a:r>
              <a:rPr lang="en-US" dirty="0"/>
              <a:t>.</a:t>
            </a:r>
          </a:p>
          <a:p>
            <a:r>
              <a:rPr lang="en-US" dirty="0" err="1"/>
              <a:t>Keluaran</a:t>
            </a:r>
            <a:r>
              <a:rPr lang="en-US" dirty="0"/>
              <a:t> </a:t>
            </a:r>
            <a:r>
              <a:rPr lang="en-US" dirty="0" err="1"/>
              <a:t>hanya</a:t>
            </a:r>
            <a:r>
              <a:rPr lang="en-US" dirty="0"/>
              <a:t> </a:t>
            </a:r>
            <a:r>
              <a:rPr lang="en-US" dirty="0" err="1"/>
              <a:t>sampai</a:t>
            </a:r>
            <a:r>
              <a:rPr lang="en-US" dirty="0"/>
              <a:t> </a:t>
            </a:r>
            <a:r>
              <a:rPr lang="en-US" dirty="0" err="1"/>
              <a:t>ke</a:t>
            </a:r>
            <a:r>
              <a:rPr lang="en-US" dirty="0"/>
              <a:t> </a:t>
            </a:r>
            <a:r>
              <a:rPr lang="en-US" dirty="0" err="1"/>
              <a:t>tegangan</a:t>
            </a:r>
            <a:r>
              <a:rPr lang="en-US" dirty="0"/>
              <a:t> </a:t>
            </a:r>
            <a:r>
              <a:rPr lang="en-US" dirty="0" err="1"/>
              <a:t>saturasi</a:t>
            </a:r>
            <a:r>
              <a:rPr lang="en-US" dirty="0"/>
              <a:t> </a:t>
            </a:r>
            <a:r>
              <a:rPr lang="en-US" dirty="0" err="1"/>
              <a:t>yaitu</a:t>
            </a:r>
            <a:r>
              <a:rPr lang="en-US" dirty="0"/>
              <a:t> 1 </a:t>
            </a:r>
            <a:r>
              <a:rPr lang="en-US" dirty="0" err="1"/>
              <a:t>atau</a:t>
            </a:r>
            <a:r>
              <a:rPr lang="en-US" dirty="0"/>
              <a:t> 2V </a:t>
            </a:r>
            <a:r>
              <a:rPr lang="en-US" dirty="0" err="1"/>
              <a:t>dibawah</a:t>
            </a:r>
            <a:r>
              <a:rPr lang="en-US" dirty="0"/>
              <a:t> V</a:t>
            </a:r>
            <a:r>
              <a:rPr lang="en-US" baseline="-25000" dirty="0"/>
              <a:t>CC</a:t>
            </a:r>
            <a:r>
              <a:rPr lang="en-US" dirty="0"/>
              <a:t>. </a:t>
            </a:r>
          </a:p>
        </p:txBody>
      </p:sp>
      <p:pic>
        <p:nvPicPr>
          <p:cNvPr id="18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2133600"/>
            <a:ext cx="3733800" cy="179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8437" name="Object 5"/>
          <p:cNvGraphicFramePr>
            <a:graphicFrameLocks noGrp="1" noChangeAspect="1"/>
          </p:cNvGraphicFramePr>
          <p:nvPr>
            <p:ph sz="half" idx="2"/>
          </p:nvPr>
        </p:nvGraphicFramePr>
        <p:xfrm>
          <a:off x="2743200" y="4648200"/>
          <a:ext cx="2438400" cy="1035050"/>
        </p:xfrm>
        <a:graphic>
          <a:graphicData uri="http://schemas.openxmlformats.org/presentationml/2006/ole">
            <mc:AlternateContent xmlns:mc="http://schemas.openxmlformats.org/markup-compatibility/2006">
              <mc:Choice xmlns:v="urn:schemas-microsoft-com:vml" Requires="v">
                <p:oleObj spid="_x0000_s31748" name="Equation" r:id="rId4" imgW="926698" imgH="393529" progId="Equation.3">
                  <p:embed/>
                </p:oleObj>
              </mc:Choice>
              <mc:Fallback>
                <p:oleObj name="Equation" r:id="rId4" imgW="926698" imgH="393529" progId="Equation.3">
                  <p:embed/>
                  <p:pic>
                    <p:nvPicPr>
                      <p:cNvPr id="1843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4648200"/>
                        <a:ext cx="2438400" cy="1035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Slide Number Placeholder 3"/>
          <p:cNvSpPr>
            <a:spLocks noGrp="1"/>
          </p:cNvSpPr>
          <p:nvPr>
            <p:ph type="sldNum" sz="quarter" idx="11"/>
          </p:nvPr>
        </p:nvSpPr>
        <p:spPr/>
        <p:txBody>
          <a:bodyPr/>
          <a:lstStyle/>
          <a:p>
            <a:fld id="{63672217-76C2-4848-958E-84381210B462}" type="slidenum">
              <a:rPr lang="en-US" smtClean="0"/>
              <a:pPr/>
              <a:t>21</a:t>
            </a:fld>
            <a:endParaRPr lang="en-US"/>
          </a:p>
        </p:txBody>
      </p:sp>
    </p:spTree>
    <p:extLst>
      <p:ext uri="{BB962C8B-B14F-4D97-AF65-F5344CB8AC3E}">
        <p14:creationId xmlns:p14="http://schemas.microsoft.com/office/powerpoint/2010/main" val="13646223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a:t>Operasi Kalang Terbuka</a:t>
            </a:r>
          </a:p>
        </p:txBody>
      </p:sp>
      <p:sp>
        <p:nvSpPr>
          <p:cNvPr id="20483" name="Rectangle 3"/>
          <p:cNvSpPr>
            <a:spLocks noGrp="1" noChangeArrowheads="1"/>
          </p:cNvSpPr>
          <p:nvPr>
            <p:ph type="body" sz="half" idx="1"/>
          </p:nvPr>
        </p:nvSpPr>
        <p:spPr>
          <a:xfrm>
            <a:off x="1981200" y="1600200"/>
            <a:ext cx="7924800" cy="2895600"/>
          </a:xfrm>
        </p:spPr>
        <p:txBody>
          <a:bodyPr/>
          <a:lstStyle/>
          <a:p>
            <a:r>
              <a:rPr lang="en-US" sz="2400" dirty="0" err="1"/>
              <a:t>Berfungsi</a:t>
            </a:r>
            <a:r>
              <a:rPr lang="en-US" sz="2400" dirty="0"/>
              <a:t> </a:t>
            </a:r>
            <a:r>
              <a:rPr lang="en-US" sz="2400" dirty="0" err="1"/>
              <a:t>sebagai</a:t>
            </a:r>
            <a:r>
              <a:rPr lang="en-US" sz="2400" dirty="0"/>
              <a:t> </a:t>
            </a:r>
            <a:r>
              <a:rPr lang="en-US" sz="2400" dirty="0" err="1"/>
              <a:t>komparator</a:t>
            </a:r>
            <a:endParaRPr lang="en-US" sz="2400" dirty="0"/>
          </a:p>
          <a:p>
            <a:pPr lvl="1"/>
            <a:r>
              <a:rPr lang="en-US" sz="2100" dirty="0" err="1"/>
              <a:t>Tegangan</a:t>
            </a:r>
            <a:r>
              <a:rPr lang="en-US" sz="2100" dirty="0"/>
              <a:t> output </a:t>
            </a:r>
            <a:r>
              <a:rPr lang="en-US" sz="2100" dirty="0" err="1"/>
              <a:t>adalah</a:t>
            </a:r>
            <a:r>
              <a:rPr lang="en-US" sz="2100" dirty="0"/>
              <a:t> +</a:t>
            </a:r>
            <a:r>
              <a:rPr lang="en-US" sz="2100" dirty="0" err="1"/>
              <a:t>Vsat</a:t>
            </a:r>
            <a:r>
              <a:rPr lang="en-US" sz="2100" dirty="0"/>
              <a:t> </a:t>
            </a:r>
            <a:r>
              <a:rPr lang="en-US" sz="2100" dirty="0" err="1"/>
              <a:t>jika</a:t>
            </a:r>
            <a:r>
              <a:rPr lang="en-US" sz="2100" dirty="0"/>
              <a:t> </a:t>
            </a:r>
            <a:r>
              <a:rPr lang="en-US" sz="2100" dirty="0" err="1"/>
              <a:t>tegangan</a:t>
            </a:r>
            <a:r>
              <a:rPr lang="en-US" sz="2100" dirty="0"/>
              <a:t> input non-inverting </a:t>
            </a:r>
            <a:r>
              <a:rPr lang="en-US" sz="2100" dirty="0" err="1"/>
              <a:t>lebih</a:t>
            </a:r>
            <a:r>
              <a:rPr lang="en-US" sz="2100" dirty="0"/>
              <a:t> </a:t>
            </a:r>
            <a:r>
              <a:rPr lang="en-US" sz="2100" dirty="0" err="1"/>
              <a:t>tinggi</a:t>
            </a:r>
            <a:r>
              <a:rPr lang="en-US" sz="2100" dirty="0"/>
              <a:t> </a:t>
            </a:r>
            <a:r>
              <a:rPr lang="en-US" sz="2100" dirty="0" err="1"/>
              <a:t>dari</a:t>
            </a:r>
            <a:r>
              <a:rPr lang="en-US" sz="2100" dirty="0"/>
              <a:t> </a:t>
            </a:r>
            <a:r>
              <a:rPr lang="en-US" sz="2100" dirty="0" err="1"/>
              <a:t>tegangan</a:t>
            </a:r>
            <a:r>
              <a:rPr lang="en-US" sz="2100" dirty="0"/>
              <a:t> input inverting</a:t>
            </a:r>
          </a:p>
          <a:p>
            <a:pPr lvl="1"/>
            <a:r>
              <a:rPr lang="en-US" sz="2100" dirty="0" err="1"/>
              <a:t>Demikian</a:t>
            </a:r>
            <a:r>
              <a:rPr lang="en-US" sz="2100" dirty="0"/>
              <a:t> </a:t>
            </a:r>
            <a:r>
              <a:rPr lang="en-US" sz="2100" dirty="0" err="1"/>
              <a:t>juga</a:t>
            </a:r>
            <a:r>
              <a:rPr lang="en-US" sz="2100" dirty="0"/>
              <a:t>, </a:t>
            </a:r>
            <a:r>
              <a:rPr lang="en-US" sz="2100" dirty="0" err="1"/>
              <a:t>tegangan</a:t>
            </a:r>
            <a:r>
              <a:rPr lang="en-US" sz="2100" dirty="0"/>
              <a:t> output </a:t>
            </a:r>
            <a:r>
              <a:rPr lang="en-US" sz="2100" dirty="0" err="1"/>
              <a:t>adalah</a:t>
            </a:r>
            <a:r>
              <a:rPr lang="en-US" sz="2100" dirty="0"/>
              <a:t> –</a:t>
            </a:r>
            <a:r>
              <a:rPr lang="en-US" sz="2100" dirty="0" err="1"/>
              <a:t>Vsat</a:t>
            </a:r>
            <a:r>
              <a:rPr lang="en-US" sz="2100" dirty="0"/>
              <a:t> </a:t>
            </a:r>
            <a:r>
              <a:rPr lang="en-US" sz="2100" dirty="0" err="1"/>
              <a:t>jika</a:t>
            </a:r>
            <a:r>
              <a:rPr lang="en-US" sz="2100" dirty="0"/>
              <a:t> </a:t>
            </a:r>
            <a:r>
              <a:rPr lang="en-US" sz="2100" dirty="0" err="1"/>
              <a:t>tegangan</a:t>
            </a:r>
            <a:r>
              <a:rPr lang="en-US" sz="2100" dirty="0"/>
              <a:t> input non-inverting </a:t>
            </a:r>
            <a:r>
              <a:rPr lang="en-US" sz="2100" dirty="0" err="1"/>
              <a:t>lebih</a:t>
            </a:r>
            <a:r>
              <a:rPr lang="en-US" sz="2100" dirty="0"/>
              <a:t> </a:t>
            </a:r>
            <a:r>
              <a:rPr lang="en-US" sz="2100" dirty="0" err="1"/>
              <a:t>rendah</a:t>
            </a:r>
            <a:r>
              <a:rPr lang="en-US" sz="2100" dirty="0"/>
              <a:t> </a:t>
            </a:r>
            <a:r>
              <a:rPr lang="en-US" sz="2100" dirty="0" err="1"/>
              <a:t>dari</a:t>
            </a:r>
            <a:r>
              <a:rPr lang="en-US" sz="2100" dirty="0"/>
              <a:t> </a:t>
            </a:r>
            <a:r>
              <a:rPr lang="en-US" sz="2100" dirty="0" err="1"/>
              <a:t>tegangan</a:t>
            </a:r>
            <a:r>
              <a:rPr lang="en-US" sz="2100" dirty="0"/>
              <a:t> input inverting </a:t>
            </a:r>
          </a:p>
        </p:txBody>
      </p:sp>
      <p:graphicFrame>
        <p:nvGraphicFramePr>
          <p:cNvPr id="20484" name="Object 4"/>
          <p:cNvGraphicFramePr>
            <a:graphicFrameLocks noGrp="1" noChangeAspect="1"/>
          </p:cNvGraphicFramePr>
          <p:nvPr>
            <p:ph sz="half" idx="2"/>
          </p:nvPr>
        </p:nvGraphicFramePr>
        <p:xfrm>
          <a:off x="4114800" y="3886201"/>
          <a:ext cx="3048000" cy="1198563"/>
        </p:xfrm>
        <a:graphic>
          <a:graphicData uri="http://schemas.openxmlformats.org/presentationml/2006/ole">
            <mc:AlternateContent xmlns:mc="http://schemas.openxmlformats.org/markup-compatibility/2006">
              <mc:Choice xmlns:v="urn:schemas-microsoft-com:vml" Requires="v">
                <p:oleObj spid="_x0000_s32772" name="Equation" r:id="rId3" imgW="1129810" imgH="444307" progId="Equation.DSMT4">
                  <p:embed/>
                </p:oleObj>
              </mc:Choice>
              <mc:Fallback>
                <p:oleObj name="Equation" r:id="rId3" imgW="1129810" imgH="444307" progId="Equation.DSMT4">
                  <p:embed/>
                  <p:pic>
                    <p:nvPicPr>
                      <p:cNvPr id="2048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3886201"/>
                        <a:ext cx="3048000" cy="1198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Slide Number Placeholder 3"/>
          <p:cNvSpPr>
            <a:spLocks noGrp="1"/>
          </p:cNvSpPr>
          <p:nvPr>
            <p:ph type="sldNum" sz="quarter" idx="11"/>
          </p:nvPr>
        </p:nvSpPr>
        <p:spPr/>
        <p:txBody>
          <a:bodyPr/>
          <a:lstStyle/>
          <a:p>
            <a:fld id="{63672217-76C2-4848-958E-84381210B462}" type="slidenum">
              <a:rPr lang="en-US" smtClean="0"/>
              <a:pPr/>
              <a:t>22</a:t>
            </a:fld>
            <a:endParaRPr lang="en-US"/>
          </a:p>
        </p:txBody>
      </p:sp>
    </p:spTree>
    <p:extLst>
      <p:ext uri="{BB962C8B-B14F-4D97-AF65-F5344CB8AC3E}">
        <p14:creationId xmlns:p14="http://schemas.microsoft.com/office/powerpoint/2010/main" val="109996780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p:cNvSpPr>
            <a:spLocks noGrp="1" noRot="1" noChangeArrowheads="1"/>
          </p:cNvSpPr>
          <p:nvPr>
            <p:ph type="title"/>
          </p:nvPr>
        </p:nvSpPr>
        <p:spPr/>
        <p:txBody>
          <a:bodyPr/>
          <a:lstStyle/>
          <a:p>
            <a:r>
              <a:rPr lang="en-US"/>
              <a:t>Kalang Tertutup</a:t>
            </a:r>
          </a:p>
        </p:txBody>
      </p:sp>
      <p:pic>
        <p:nvPicPr>
          <p:cNvPr id="35845" name="Picture 5"/>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4343400" y="1447801"/>
            <a:ext cx="3595688" cy="2054225"/>
          </a:xfrm>
        </p:spPr>
      </p:pic>
      <p:sp>
        <p:nvSpPr>
          <p:cNvPr id="35846" name="Rectangle 6"/>
          <p:cNvSpPr>
            <a:spLocks noGrp="1" noChangeArrowheads="1"/>
          </p:cNvSpPr>
          <p:nvPr>
            <p:ph type="body" sz="half" idx="3"/>
          </p:nvPr>
        </p:nvSpPr>
        <p:spPr>
          <a:xfrm>
            <a:off x="1981200" y="3581400"/>
            <a:ext cx="8229600" cy="1524000"/>
          </a:xfrm>
        </p:spPr>
        <p:txBody>
          <a:bodyPr>
            <a:normAutofit lnSpcReduction="10000"/>
          </a:bodyPr>
          <a:lstStyle/>
          <a:p>
            <a:pPr>
              <a:lnSpc>
                <a:spcPct val="90000"/>
              </a:lnSpc>
            </a:pPr>
            <a:r>
              <a:rPr lang="en-US" sz="2400" dirty="0" err="1"/>
              <a:t>Salah</a:t>
            </a:r>
            <a:r>
              <a:rPr lang="en-US" sz="2400" dirty="0"/>
              <a:t> </a:t>
            </a:r>
            <a:r>
              <a:rPr lang="en-US" sz="2400" dirty="0" err="1"/>
              <a:t>satu</a:t>
            </a:r>
            <a:r>
              <a:rPr lang="en-US" sz="2400" dirty="0"/>
              <a:t> </a:t>
            </a:r>
            <a:r>
              <a:rPr lang="en-US" sz="2400" dirty="0" err="1"/>
              <a:t>karakteristik</a:t>
            </a:r>
            <a:r>
              <a:rPr lang="en-US" sz="2400" dirty="0"/>
              <a:t> Op-amp </a:t>
            </a:r>
            <a:r>
              <a:rPr lang="en-US" sz="2400" dirty="0" err="1"/>
              <a:t>adalah</a:t>
            </a:r>
            <a:r>
              <a:rPr lang="en-US" sz="2400" dirty="0"/>
              <a:t> </a:t>
            </a:r>
            <a:r>
              <a:rPr lang="en-US" sz="2400" dirty="0" err="1"/>
              <a:t>tegangan</a:t>
            </a:r>
            <a:r>
              <a:rPr lang="en-US" sz="2400" dirty="0"/>
              <a:t> input (</a:t>
            </a:r>
            <a:r>
              <a:rPr lang="en-US" sz="2400" dirty="0" err="1"/>
              <a:t>antar</a:t>
            </a:r>
            <a:r>
              <a:rPr lang="en-US" sz="2400" dirty="0"/>
              <a:t> terminal input) yang </a:t>
            </a:r>
            <a:r>
              <a:rPr lang="en-US" sz="2400" dirty="0" err="1"/>
              <a:t>sangat</a:t>
            </a:r>
            <a:r>
              <a:rPr lang="en-US" sz="2400" dirty="0"/>
              <a:t> </a:t>
            </a:r>
            <a:r>
              <a:rPr lang="en-US" sz="2400" dirty="0" err="1"/>
              <a:t>kecil</a:t>
            </a:r>
            <a:r>
              <a:rPr lang="en-US" sz="2400" dirty="0"/>
              <a:t>.</a:t>
            </a:r>
          </a:p>
          <a:p>
            <a:pPr>
              <a:lnSpc>
                <a:spcPct val="90000"/>
              </a:lnSpc>
            </a:pPr>
            <a:r>
              <a:rPr lang="en-US" sz="2400" dirty="0"/>
              <a:t> </a:t>
            </a:r>
            <a:r>
              <a:rPr lang="en-US" sz="2400" dirty="0"/>
              <a:t>Dan </a:t>
            </a:r>
            <a:r>
              <a:rPr lang="en-US" sz="2400" dirty="0" err="1"/>
              <a:t>resistansi</a:t>
            </a:r>
            <a:r>
              <a:rPr lang="en-US" sz="2400" dirty="0"/>
              <a:t> input yang </a:t>
            </a:r>
            <a:r>
              <a:rPr lang="en-US" sz="2400" dirty="0" err="1"/>
              <a:t>sangat</a:t>
            </a:r>
            <a:r>
              <a:rPr lang="en-US" sz="2400" dirty="0"/>
              <a:t> </a:t>
            </a:r>
            <a:r>
              <a:rPr lang="en-US" sz="2400" dirty="0" err="1"/>
              <a:t>besar</a:t>
            </a:r>
            <a:r>
              <a:rPr lang="en-US" sz="2400" dirty="0"/>
              <a:t> </a:t>
            </a:r>
            <a:r>
              <a:rPr lang="en-US" sz="2400" dirty="0" err="1"/>
              <a:t>menyebabkan</a:t>
            </a:r>
            <a:r>
              <a:rPr lang="en-US" sz="2400" dirty="0"/>
              <a:t> </a:t>
            </a:r>
            <a:r>
              <a:rPr lang="en-US" sz="2400" dirty="0" err="1"/>
              <a:t>tidak</a:t>
            </a:r>
            <a:r>
              <a:rPr lang="en-US" sz="2400" dirty="0"/>
              <a:t> </a:t>
            </a:r>
            <a:r>
              <a:rPr lang="en-US" sz="2400" dirty="0" err="1"/>
              <a:t>adanya</a:t>
            </a:r>
            <a:r>
              <a:rPr lang="en-US" sz="2400" dirty="0"/>
              <a:t> </a:t>
            </a:r>
            <a:r>
              <a:rPr lang="en-US" sz="2400" dirty="0" err="1"/>
              <a:t>arus</a:t>
            </a:r>
            <a:r>
              <a:rPr lang="en-US" sz="2400" dirty="0"/>
              <a:t> yang </a:t>
            </a:r>
            <a:r>
              <a:rPr lang="en-US" sz="2400" dirty="0" err="1"/>
              <a:t>mengalir</a:t>
            </a:r>
            <a:r>
              <a:rPr lang="en-US" sz="2400" dirty="0"/>
              <a:t>, </a:t>
            </a:r>
            <a:r>
              <a:rPr lang="en-US" sz="2400" dirty="0" err="1"/>
              <a:t>sehingga</a:t>
            </a:r>
            <a:endParaRPr lang="en-US" sz="2400" dirty="0"/>
          </a:p>
        </p:txBody>
      </p:sp>
      <p:graphicFrame>
        <p:nvGraphicFramePr>
          <p:cNvPr id="35847" name="Object 7"/>
          <p:cNvGraphicFramePr>
            <a:graphicFrameLocks noGrp="1" noChangeAspect="1"/>
          </p:cNvGraphicFramePr>
          <p:nvPr>
            <p:ph sz="quarter" idx="2"/>
          </p:nvPr>
        </p:nvGraphicFramePr>
        <p:xfrm>
          <a:off x="4038601" y="5205412"/>
          <a:ext cx="974725" cy="1119188"/>
        </p:xfrm>
        <a:graphic>
          <a:graphicData uri="http://schemas.openxmlformats.org/presentationml/2006/ole">
            <mc:AlternateContent xmlns:mc="http://schemas.openxmlformats.org/markup-compatibility/2006">
              <mc:Choice xmlns:v="urn:schemas-microsoft-com:vml" Requires="v">
                <p:oleObj spid="_x0000_s33796" name="Equation" r:id="rId4" imgW="342751" imgH="393529" progId="Equation.3">
                  <p:embed/>
                </p:oleObj>
              </mc:Choice>
              <mc:Fallback>
                <p:oleObj name="Equation" r:id="rId4" imgW="342751" imgH="393529" progId="Equation.3">
                  <p:embed/>
                  <p:pic>
                    <p:nvPicPr>
                      <p:cNvPr id="35847"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1" y="5205412"/>
                        <a:ext cx="974725" cy="1119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1"/>
          </p:nvPr>
        </p:nvSpPr>
        <p:spPr/>
        <p:txBody>
          <a:bodyPr/>
          <a:lstStyle/>
          <a:p>
            <a:fld id="{03C54592-212B-4FA3-B840-EC95D5B568CD}" type="slidenum">
              <a:rPr lang="en-US" smtClean="0"/>
              <a:pPr/>
              <a:t>23</a:t>
            </a:fld>
            <a:endParaRPr lang="en-US"/>
          </a:p>
        </p:txBody>
      </p:sp>
    </p:spTree>
    <p:extLst>
      <p:ext uri="{BB962C8B-B14F-4D97-AF65-F5344CB8AC3E}">
        <p14:creationId xmlns:p14="http://schemas.microsoft.com/office/powerpoint/2010/main" val="41338441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rrowheads="1"/>
          </p:cNvSpPr>
          <p:nvPr>
            <p:ph type="title"/>
          </p:nvPr>
        </p:nvSpPr>
        <p:spPr/>
        <p:txBody>
          <a:bodyPr/>
          <a:lstStyle/>
          <a:p>
            <a:r>
              <a:rPr lang="en-US"/>
              <a:t>Virtual Short Virtual Ground</a:t>
            </a:r>
          </a:p>
        </p:txBody>
      </p:sp>
      <p:sp>
        <p:nvSpPr>
          <p:cNvPr id="37891" name="Rectangle 3"/>
          <p:cNvSpPr>
            <a:spLocks noGrp="1" noChangeArrowheads="1"/>
          </p:cNvSpPr>
          <p:nvPr>
            <p:ph type="body" idx="1"/>
          </p:nvPr>
        </p:nvSpPr>
        <p:spPr>
          <a:xfrm>
            <a:off x="1981200" y="1600200"/>
            <a:ext cx="8229600" cy="3657600"/>
          </a:xfrm>
        </p:spPr>
        <p:txBody>
          <a:bodyPr>
            <a:normAutofit/>
          </a:bodyPr>
          <a:lstStyle/>
          <a:p>
            <a:pPr>
              <a:lnSpc>
                <a:spcPct val="90000"/>
              </a:lnSpc>
            </a:pPr>
            <a:r>
              <a:rPr lang="en-US" sz="2400"/>
              <a:t>Kedua persamaan (vi=0 dan ii=0) mengasumsikan bahwa kedua terminal input seolah-olah terhubung langsung (virtual short), yang mana baik tegangan maupun arus sangat2 mendekati nol</a:t>
            </a:r>
          </a:p>
          <a:p>
            <a:pPr>
              <a:lnSpc>
                <a:spcPct val="90000"/>
              </a:lnSpc>
            </a:pPr>
            <a:r>
              <a:rPr lang="en-US" sz="2400"/>
              <a:t>Karena adanya virtual short, maka kaki inverting seolah-olah terhubung ke ground (virtual ground). </a:t>
            </a:r>
          </a:p>
          <a:p>
            <a:pPr>
              <a:lnSpc>
                <a:spcPct val="90000"/>
              </a:lnSpc>
            </a:pPr>
            <a:r>
              <a:rPr lang="en-US" sz="2400"/>
              <a:t>Catatan bahwa meski kaki non-inverting tak terhubung langsung ke ground, dalam arti ada resistor diantaranya, namun tak ada arus mengalir melewati resistor tersebut. Sehingga tegangan resistor adalah nol. Maka kaki inverting tetap saja pada kondisi virtual ground.</a:t>
            </a:r>
          </a:p>
        </p:txBody>
      </p:sp>
      <p:sp>
        <p:nvSpPr>
          <p:cNvPr id="5" name="Slide Number Placeholder 4"/>
          <p:cNvSpPr>
            <a:spLocks noGrp="1"/>
          </p:cNvSpPr>
          <p:nvPr>
            <p:ph type="sldNum" sz="quarter" idx="12"/>
          </p:nvPr>
        </p:nvSpPr>
        <p:spPr/>
        <p:txBody>
          <a:bodyPr>
            <a:normAutofit/>
          </a:bodyPr>
          <a:lstStyle/>
          <a:p>
            <a:fld id="{30FF78D7-7CA0-44FD-8733-19F49D683D81}" type="slidenum">
              <a:rPr lang="en-US" smtClean="0"/>
              <a:pPr/>
              <a:t>24</a:t>
            </a:fld>
            <a:endParaRPr lang="en-US"/>
          </a:p>
        </p:txBody>
      </p:sp>
    </p:spTree>
    <p:extLst>
      <p:ext uri="{BB962C8B-B14F-4D97-AF65-F5344CB8AC3E}">
        <p14:creationId xmlns:p14="http://schemas.microsoft.com/office/powerpoint/2010/main" val="57902254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4"/>
          <p:cNvSpPr>
            <a:spLocks noGrp="1" noRot="1" noChangeArrowheads="1"/>
          </p:cNvSpPr>
          <p:nvPr>
            <p:ph type="title"/>
          </p:nvPr>
        </p:nvSpPr>
        <p:spPr/>
        <p:txBody>
          <a:bodyPr>
            <a:normAutofit/>
          </a:bodyPr>
          <a:lstStyle/>
          <a:p>
            <a:r>
              <a:rPr lang="en-US" dirty="0" err="1"/>
              <a:t>Penguat</a:t>
            </a:r>
            <a:r>
              <a:rPr lang="en-US" dirty="0"/>
              <a:t> </a:t>
            </a:r>
            <a:r>
              <a:rPr lang="en-US" dirty="0" err="1" smtClean="0"/>
              <a:t>Membalik</a:t>
            </a:r>
            <a:r>
              <a:rPr lang="en-US" dirty="0" smtClean="0"/>
              <a:t> ( Inverting OP-AMP)</a:t>
            </a:r>
            <a:endParaRPr lang="en-US" dirty="0"/>
          </a:p>
        </p:txBody>
      </p:sp>
      <p:graphicFrame>
        <p:nvGraphicFramePr>
          <p:cNvPr id="39941" name="Object 5"/>
          <p:cNvGraphicFramePr>
            <a:graphicFrameLocks noGrp="1" noChangeAspect="1"/>
          </p:cNvGraphicFramePr>
          <p:nvPr>
            <p:ph sz="quarter" idx="1"/>
          </p:nvPr>
        </p:nvGraphicFramePr>
        <p:xfrm>
          <a:off x="2327536" y="1600200"/>
          <a:ext cx="3920864" cy="2214562"/>
        </p:xfrm>
        <a:graphic>
          <a:graphicData uri="http://schemas.openxmlformats.org/presentationml/2006/ole">
            <mc:AlternateContent xmlns:mc="http://schemas.openxmlformats.org/markup-compatibility/2006">
              <mc:Choice xmlns:v="urn:schemas-microsoft-com:vml" Requires="v">
                <p:oleObj spid="_x0000_s34824" name="Image" r:id="rId3" imgW="2946032" imgH="1663492" progId="">
                  <p:embed/>
                </p:oleObj>
              </mc:Choice>
              <mc:Fallback>
                <p:oleObj name="Image" r:id="rId3" imgW="2946032" imgH="1663492" progId="">
                  <p:embed/>
                  <p:pic>
                    <p:nvPicPr>
                      <p:cNvPr id="3994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7536" y="1600200"/>
                        <a:ext cx="3920864" cy="2214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42" name="Rectangle 6"/>
          <p:cNvSpPr>
            <a:spLocks noGrp="1" noChangeArrowheads="1"/>
          </p:cNvSpPr>
          <p:nvPr>
            <p:ph type="body" sz="half" idx="3"/>
          </p:nvPr>
        </p:nvSpPr>
        <p:spPr/>
        <p:txBody>
          <a:bodyPr/>
          <a:lstStyle/>
          <a:p>
            <a:r>
              <a:rPr lang="en-US"/>
              <a:t> </a:t>
            </a:r>
            <a:r>
              <a:rPr lang="en-US" i="1"/>
              <a:t>i</a:t>
            </a:r>
            <a:r>
              <a:rPr lang="en-US" i="1" baseline="-25000"/>
              <a:t>i</a:t>
            </a:r>
            <a:r>
              <a:rPr lang="en-US" i="1"/>
              <a:t>=0, maka i</a:t>
            </a:r>
            <a:r>
              <a:rPr lang="en-US" i="1" baseline="-25000"/>
              <a:t>2</a:t>
            </a:r>
            <a:r>
              <a:rPr lang="en-US" i="1"/>
              <a:t>=i</a:t>
            </a:r>
            <a:r>
              <a:rPr lang="en-US" i="1" baseline="-25000"/>
              <a:t>1</a:t>
            </a:r>
            <a:r>
              <a:rPr lang="en-US" i="1"/>
              <a:t> . Dan v</a:t>
            </a:r>
            <a:r>
              <a:rPr lang="en-US" i="1" baseline="-25000"/>
              <a:t>i</a:t>
            </a:r>
            <a:r>
              <a:rPr lang="en-US" i="1"/>
              <a:t>=0</a:t>
            </a:r>
          </a:p>
        </p:txBody>
      </p:sp>
      <p:pic>
        <p:nvPicPr>
          <p:cNvPr id="3994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1981200"/>
            <a:ext cx="373966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9944" name="Object 8"/>
          <p:cNvGraphicFramePr>
            <a:graphicFrameLocks noGrp="1" noChangeAspect="1"/>
          </p:cNvGraphicFramePr>
          <p:nvPr>
            <p:ph sz="quarter" idx="2"/>
          </p:nvPr>
        </p:nvGraphicFramePr>
        <p:xfrm>
          <a:off x="3048000" y="4724400"/>
          <a:ext cx="1119188" cy="1347788"/>
        </p:xfrm>
        <a:graphic>
          <a:graphicData uri="http://schemas.openxmlformats.org/presentationml/2006/ole">
            <mc:AlternateContent xmlns:mc="http://schemas.openxmlformats.org/markup-compatibility/2006">
              <mc:Choice xmlns:v="urn:schemas-microsoft-com:vml" Requires="v">
                <p:oleObj spid="_x0000_s34825" name="Equation" r:id="rId6" imgW="622030" imgH="748975" progId="Equation.3">
                  <p:embed/>
                </p:oleObj>
              </mc:Choice>
              <mc:Fallback>
                <p:oleObj name="Equation" r:id="rId6" imgW="622030" imgH="748975" progId="Equation.3">
                  <p:embed/>
                  <p:pic>
                    <p:nvPicPr>
                      <p:cNvPr id="39944"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0" y="4724400"/>
                        <a:ext cx="1119188" cy="1347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46" name="Object 10"/>
          <p:cNvGraphicFramePr>
            <a:graphicFrameLocks noChangeAspect="1"/>
          </p:cNvGraphicFramePr>
          <p:nvPr/>
        </p:nvGraphicFramePr>
        <p:xfrm>
          <a:off x="6400800" y="4267200"/>
          <a:ext cx="1550988" cy="1905000"/>
        </p:xfrm>
        <a:graphic>
          <a:graphicData uri="http://schemas.openxmlformats.org/presentationml/2006/ole">
            <mc:AlternateContent xmlns:mc="http://schemas.openxmlformats.org/markup-compatibility/2006">
              <mc:Choice xmlns:v="urn:schemas-microsoft-com:vml" Requires="v">
                <p:oleObj spid="_x0000_s34826" name="Equation" r:id="rId8" imgW="609600" imgH="749300" progId="Equation.3">
                  <p:embed/>
                </p:oleObj>
              </mc:Choice>
              <mc:Fallback>
                <p:oleObj name="Equation" r:id="rId8" imgW="609600" imgH="749300" progId="Equation.3">
                  <p:embed/>
                  <p:pic>
                    <p:nvPicPr>
                      <p:cNvPr id="39946"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0800" y="4267200"/>
                        <a:ext cx="1550988" cy="1905000"/>
                      </a:xfrm>
                      <a:prstGeom prst="rect">
                        <a:avLst/>
                      </a:prstGeom>
                      <a:solidFill>
                        <a:srgbClr val="C0C0C0"/>
                      </a:solidFill>
                    </p:spPr>
                  </p:pic>
                </p:oleObj>
              </mc:Fallback>
            </mc:AlternateContent>
          </a:graphicData>
        </a:graphic>
      </p:graphicFrame>
      <p:sp>
        <p:nvSpPr>
          <p:cNvPr id="9" name="Slide Number Placeholder 8"/>
          <p:cNvSpPr>
            <a:spLocks noGrp="1"/>
          </p:cNvSpPr>
          <p:nvPr>
            <p:ph type="sldNum" sz="quarter" idx="11"/>
          </p:nvPr>
        </p:nvSpPr>
        <p:spPr/>
        <p:txBody>
          <a:bodyPr/>
          <a:lstStyle/>
          <a:p>
            <a:fld id="{03C54592-212B-4FA3-B840-EC95D5B568CD}" type="slidenum">
              <a:rPr lang="en-US" smtClean="0"/>
              <a:pPr/>
              <a:t>25</a:t>
            </a:fld>
            <a:endParaRPr lang="en-US"/>
          </a:p>
        </p:txBody>
      </p:sp>
    </p:spTree>
    <p:extLst>
      <p:ext uri="{BB962C8B-B14F-4D97-AF65-F5344CB8AC3E}">
        <p14:creationId xmlns:p14="http://schemas.microsoft.com/office/powerpoint/2010/main" val="6265774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rrowheads="1"/>
          </p:cNvSpPr>
          <p:nvPr>
            <p:ph type="title"/>
          </p:nvPr>
        </p:nvSpPr>
        <p:spPr/>
        <p:txBody>
          <a:bodyPr>
            <a:normAutofit/>
          </a:bodyPr>
          <a:lstStyle/>
          <a:p>
            <a:r>
              <a:rPr lang="en-US" dirty="0" err="1"/>
              <a:t>Penguat</a:t>
            </a:r>
            <a:r>
              <a:rPr lang="en-US" dirty="0"/>
              <a:t> </a:t>
            </a:r>
            <a:r>
              <a:rPr lang="en-US" dirty="0" err="1"/>
              <a:t>Membalik</a:t>
            </a:r>
            <a:r>
              <a:rPr lang="en-US" dirty="0"/>
              <a:t> ( Inverting OP-AMP)</a:t>
            </a:r>
          </a:p>
        </p:txBody>
      </p:sp>
      <p:sp>
        <p:nvSpPr>
          <p:cNvPr id="43011" name="Rectangle 3"/>
          <p:cNvSpPr>
            <a:spLocks noGrp="1" noChangeArrowheads="1"/>
          </p:cNvSpPr>
          <p:nvPr>
            <p:ph type="body" sz="half" idx="1"/>
          </p:nvPr>
        </p:nvSpPr>
        <p:spPr>
          <a:xfrm>
            <a:off x="1981200" y="1600200"/>
            <a:ext cx="8153400" cy="3505200"/>
          </a:xfrm>
        </p:spPr>
        <p:txBody>
          <a:bodyPr>
            <a:normAutofit lnSpcReduction="10000"/>
          </a:bodyPr>
          <a:lstStyle/>
          <a:p>
            <a:pPr>
              <a:lnSpc>
                <a:spcPct val="90000"/>
              </a:lnSpc>
            </a:pPr>
            <a:r>
              <a:rPr lang="en-US" sz="2400"/>
              <a:t>Input resistance</a:t>
            </a:r>
          </a:p>
          <a:p>
            <a:pPr lvl="1">
              <a:lnSpc>
                <a:spcPct val="90000"/>
              </a:lnSpc>
            </a:pPr>
            <a:r>
              <a:rPr lang="en-US" sz="2000"/>
              <a:t>Karena terminal inverting dalam kondisi virtual ground, maka input resistance yg terlihat dari sumber (vs) adalah Rs. </a:t>
            </a:r>
          </a:p>
          <a:p>
            <a:pPr>
              <a:lnSpc>
                <a:spcPct val="90000"/>
              </a:lnSpc>
            </a:pPr>
            <a:r>
              <a:rPr lang="en-US" sz="2400"/>
              <a:t>Output resistance</a:t>
            </a:r>
          </a:p>
          <a:p>
            <a:pPr lvl="1">
              <a:lnSpc>
                <a:spcPct val="90000"/>
              </a:lnSpc>
            </a:pPr>
            <a:r>
              <a:rPr lang="en-US" sz="2000"/>
              <a:t>Output resistance rangkaian yg terlihat dari beban adalah mendekati nol</a:t>
            </a:r>
          </a:p>
          <a:p>
            <a:pPr>
              <a:lnSpc>
                <a:spcPct val="90000"/>
              </a:lnSpc>
            </a:pPr>
            <a:r>
              <a:rPr lang="en-US" sz="2400"/>
              <a:t>Bandwidth:</a:t>
            </a:r>
          </a:p>
          <a:p>
            <a:pPr lvl="1">
              <a:lnSpc>
                <a:spcPct val="90000"/>
              </a:lnSpc>
            </a:pPr>
            <a:r>
              <a:rPr lang="en-US" sz="2000" b="1"/>
              <a:t>Gain-Bandwidth</a:t>
            </a:r>
            <a:r>
              <a:rPr lang="en-US" sz="2000"/>
              <a:t> Product (GBW) Op-amp, disebut juga satuan (unity) gain bandwidth, diberikan di dalam data sheets. Sebagai contoh Op-amp 741adalah 1 MHz, maka bandwidth op-amp dapat dihitung dengan rumus</a:t>
            </a:r>
          </a:p>
        </p:txBody>
      </p:sp>
      <p:graphicFrame>
        <p:nvGraphicFramePr>
          <p:cNvPr id="43012" name="Object 4"/>
          <p:cNvGraphicFramePr>
            <a:graphicFrameLocks noGrp="1" noChangeAspect="1"/>
          </p:cNvGraphicFramePr>
          <p:nvPr>
            <p:ph sz="half" idx="2"/>
          </p:nvPr>
        </p:nvGraphicFramePr>
        <p:xfrm>
          <a:off x="4724400" y="4910139"/>
          <a:ext cx="1905000" cy="1038225"/>
        </p:xfrm>
        <a:graphic>
          <a:graphicData uri="http://schemas.openxmlformats.org/presentationml/2006/ole">
            <mc:AlternateContent xmlns:mc="http://schemas.openxmlformats.org/markup-compatibility/2006">
              <mc:Choice xmlns:v="urn:schemas-microsoft-com:vml" Requires="v">
                <p:oleObj spid="_x0000_s35844" name="Equation" r:id="rId3" imgW="698500" imgH="381000" progId="Equation.3">
                  <p:embed/>
                </p:oleObj>
              </mc:Choice>
              <mc:Fallback>
                <p:oleObj name="Equation" r:id="rId3" imgW="698500" imgH="381000" progId="Equation.3">
                  <p:embed/>
                  <p:pic>
                    <p:nvPicPr>
                      <p:cNvPr id="4301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4910139"/>
                        <a:ext cx="1905000" cy="1038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1"/>
          </p:nvPr>
        </p:nvSpPr>
        <p:spPr/>
        <p:txBody>
          <a:bodyPr/>
          <a:lstStyle/>
          <a:p>
            <a:fld id="{63672217-76C2-4848-958E-84381210B462}" type="slidenum">
              <a:rPr lang="en-US" smtClean="0"/>
              <a:pPr/>
              <a:t>26</a:t>
            </a:fld>
            <a:endParaRPr lang="en-US"/>
          </a:p>
        </p:txBody>
      </p:sp>
    </p:spTree>
    <p:extLst>
      <p:ext uri="{BB962C8B-B14F-4D97-AF65-F5344CB8AC3E}">
        <p14:creationId xmlns:p14="http://schemas.microsoft.com/office/powerpoint/2010/main" val="30817120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4"/>
          <p:cNvSpPr>
            <a:spLocks noGrp="1" noRot="1" noChangeArrowheads="1"/>
          </p:cNvSpPr>
          <p:nvPr>
            <p:ph type="title"/>
          </p:nvPr>
        </p:nvSpPr>
        <p:spPr/>
        <p:txBody>
          <a:bodyPr>
            <a:normAutofit/>
          </a:bodyPr>
          <a:lstStyle/>
          <a:p>
            <a:r>
              <a:rPr lang="en-US" sz="3200" dirty="0" err="1"/>
              <a:t>Penguat</a:t>
            </a:r>
            <a:r>
              <a:rPr lang="en-US" sz="3200" dirty="0"/>
              <a:t> </a:t>
            </a:r>
            <a:r>
              <a:rPr lang="en-US" sz="3200" dirty="0" err="1"/>
              <a:t>Tak</a:t>
            </a:r>
            <a:r>
              <a:rPr lang="en-US" sz="3200" dirty="0"/>
              <a:t> </a:t>
            </a:r>
            <a:r>
              <a:rPr lang="en-US" sz="3200" dirty="0" err="1"/>
              <a:t>Membalik</a:t>
            </a:r>
            <a:r>
              <a:rPr lang="en-US" sz="3200" dirty="0"/>
              <a:t> (Non-Inverting OP_AMP)</a:t>
            </a:r>
            <a:endParaRPr lang="en-US" sz="3200" dirty="0"/>
          </a:p>
        </p:txBody>
      </p:sp>
      <p:graphicFrame>
        <p:nvGraphicFramePr>
          <p:cNvPr id="47109" name="Object 5"/>
          <p:cNvGraphicFramePr>
            <a:graphicFrameLocks noGrp="1" noChangeAspect="1"/>
          </p:cNvGraphicFramePr>
          <p:nvPr>
            <p:ph sz="half" idx="1"/>
            <p:extLst/>
          </p:nvPr>
        </p:nvGraphicFramePr>
        <p:xfrm>
          <a:off x="2133601" y="1524000"/>
          <a:ext cx="3532757" cy="2819400"/>
        </p:xfrm>
        <a:graphic>
          <a:graphicData uri="http://schemas.openxmlformats.org/presentationml/2006/ole">
            <mc:AlternateContent xmlns:mc="http://schemas.openxmlformats.org/markup-compatibility/2006">
              <mc:Choice xmlns:v="urn:schemas-microsoft-com:vml" Requires="v">
                <p:oleObj spid="_x0000_s36868" name="Image" r:id="rId3" imgW="2539683" imgH="1917460" progId="">
                  <p:embed/>
                </p:oleObj>
              </mc:Choice>
              <mc:Fallback>
                <p:oleObj name="Image" r:id="rId3" imgW="2539683" imgH="1917460" progId="">
                  <p:embed/>
                  <p:pic>
                    <p:nvPicPr>
                      <p:cNvPr id="4710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1" y="1524000"/>
                        <a:ext cx="3532757" cy="281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711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1600200"/>
            <a:ext cx="420624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112"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3657600"/>
            <a:ext cx="44958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1"/>
          </p:nvPr>
        </p:nvSpPr>
        <p:spPr/>
        <p:txBody>
          <a:bodyPr/>
          <a:lstStyle/>
          <a:p>
            <a:fld id="{B6D43BF7-D0E7-4944-9DE7-B9C291B847CF}" type="slidenum">
              <a:rPr lang="en-US" smtClean="0"/>
              <a:pPr/>
              <a:t>27</a:t>
            </a:fld>
            <a:endParaRPr lang="en-US"/>
          </a:p>
        </p:txBody>
      </p:sp>
    </p:spTree>
    <p:extLst>
      <p:ext uri="{BB962C8B-B14F-4D97-AF65-F5344CB8AC3E}">
        <p14:creationId xmlns:p14="http://schemas.microsoft.com/office/powerpoint/2010/main" val="39520013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8" name="Rectangle 6"/>
          <p:cNvSpPr>
            <a:spLocks noGrp="1" noRot="1" noChangeArrowheads="1"/>
          </p:cNvSpPr>
          <p:nvPr>
            <p:ph type="title"/>
          </p:nvPr>
        </p:nvSpPr>
        <p:spPr/>
        <p:txBody>
          <a:bodyPr>
            <a:normAutofit/>
          </a:bodyPr>
          <a:lstStyle/>
          <a:p>
            <a:r>
              <a:rPr lang="en-US" sz="3200" dirty="0" err="1"/>
              <a:t>Penguat</a:t>
            </a:r>
            <a:r>
              <a:rPr lang="en-US" sz="3200" dirty="0"/>
              <a:t> </a:t>
            </a:r>
            <a:r>
              <a:rPr lang="en-US" sz="3200" dirty="0" err="1"/>
              <a:t>Tak</a:t>
            </a:r>
            <a:r>
              <a:rPr lang="en-US" sz="3200" dirty="0"/>
              <a:t> </a:t>
            </a:r>
            <a:r>
              <a:rPr lang="en-US" sz="3200" dirty="0" err="1"/>
              <a:t>Membalik</a:t>
            </a:r>
            <a:r>
              <a:rPr lang="en-US" sz="3200" dirty="0"/>
              <a:t> (Non-Inverting OP_AMP)</a:t>
            </a:r>
          </a:p>
        </p:txBody>
      </p:sp>
      <p:sp>
        <p:nvSpPr>
          <p:cNvPr id="49156" name="Rectangle 4"/>
          <p:cNvSpPr>
            <a:spLocks noGrp="1" noChangeArrowheads="1"/>
          </p:cNvSpPr>
          <p:nvPr>
            <p:ph type="body" sz="half" idx="1"/>
          </p:nvPr>
        </p:nvSpPr>
        <p:spPr>
          <a:noFill/>
          <a:ln/>
        </p:spPr>
        <p:txBody>
          <a:bodyPr/>
          <a:lstStyle/>
          <a:p>
            <a:r>
              <a:rPr lang="en-US">
                <a:effectLst/>
              </a:rPr>
              <a:t>Input resistance</a:t>
            </a:r>
          </a:p>
          <a:p>
            <a:pPr lvl="1"/>
            <a:r>
              <a:rPr lang="en-US">
                <a:effectLst/>
              </a:rPr>
              <a:t>Ri ≈ ∞</a:t>
            </a:r>
          </a:p>
          <a:p>
            <a:r>
              <a:rPr lang="en-US">
                <a:effectLst/>
              </a:rPr>
              <a:t>Output resistance</a:t>
            </a:r>
          </a:p>
          <a:p>
            <a:pPr lvl="1"/>
            <a:r>
              <a:rPr lang="en-US">
                <a:effectLst/>
              </a:rPr>
              <a:t>Ro ≈ 0</a:t>
            </a:r>
          </a:p>
          <a:p>
            <a:r>
              <a:rPr lang="en-US">
                <a:effectLst/>
              </a:rPr>
              <a:t>Bandwidth:</a:t>
            </a:r>
          </a:p>
        </p:txBody>
      </p:sp>
      <p:graphicFrame>
        <p:nvGraphicFramePr>
          <p:cNvPr id="49157" name="Object 5"/>
          <p:cNvGraphicFramePr>
            <a:graphicFrameLocks noGrp="1" noChangeAspect="1"/>
          </p:cNvGraphicFramePr>
          <p:nvPr>
            <p:ph sz="half" idx="2"/>
          </p:nvPr>
        </p:nvGraphicFramePr>
        <p:xfrm>
          <a:off x="4800600" y="4419600"/>
          <a:ext cx="2286000" cy="1150938"/>
        </p:xfrm>
        <a:graphic>
          <a:graphicData uri="http://schemas.openxmlformats.org/presentationml/2006/ole">
            <mc:AlternateContent xmlns:mc="http://schemas.openxmlformats.org/markup-compatibility/2006">
              <mc:Choice xmlns:v="urn:schemas-microsoft-com:vml" Requires="v">
                <p:oleObj spid="_x0000_s37892" name="Equation" r:id="rId3" imgW="698500" imgH="381000" progId="Equation.3">
                  <p:embed/>
                </p:oleObj>
              </mc:Choice>
              <mc:Fallback>
                <p:oleObj name="Equation" r:id="rId3" imgW="698500" imgH="381000" progId="Equation.3">
                  <p:embed/>
                  <p:pic>
                    <p:nvPicPr>
                      <p:cNvPr id="4915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4419600"/>
                        <a:ext cx="2286000" cy="1150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1"/>
          </p:nvPr>
        </p:nvSpPr>
        <p:spPr/>
        <p:txBody>
          <a:bodyPr/>
          <a:lstStyle/>
          <a:p>
            <a:fld id="{63672217-76C2-4848-958E-84381210B462}" type="slidenum">
              <a:rPr lang="en-US" smtClean="0"/>
              <a:pPr/>
              <a:t>28</a:t>
            </a:fld>
            <a:endParaRPr lang="en-US"/>
          </a:p>
        </p:txBody>
      </p:sp>
    </p:spTree>
    <p:extLst>
      <p:ext uri="{BB962C8B-B14F-4D97-AF65-F5344CB8AC3E}">
        <p14:creationId xmlns:p14="http://schemas.microsoft.com/office/powerpoint/2010/main" val="39994142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p:cNvSpPr>
            <a:spLocks noGrp="1" noRot="1" noChangeArrowheads="1"/>
          </p:cNvSpPr>
          <p:nvPr>
            <p:ph type="title"/>
          </p:nvPr>
        </p:nvSpPr>
        <p:spPr/>
        <p:txBody>
          <a:bodyPr/>
          <a:lstStyle/>
          <a:p>
            <a:r>
              <a:rPr lang="en-US" dirty="0" err="1"/>
              <a:t>Penguat</a:t>
            </a:r>
            <a:r>
              <a:rPr lang="en-US" dirty="0"/>
              <a:t> </a:t>
            </a:r>
            <a:r>
              <a:rPr lang="en-US" dirty="0" err="1" smtClean="0"/>
              <a:t>Satuan</a:t>
            </a:r>
            <a:r>
              <a:rPr lang="en-US" dirty="0" smtClean="0"/>
              <a:t> (Voltage Follower)</a:t>
            </a:r>
            <a:endParaRPr lang="en-US" dirty="0"/>
          </a:p>
        </p:txBody>
      </p:sp>
      <p:pic>
        <p:nvPicPr>
          <p:cNvPr id="51205" name="Picture 5"/>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981200" y="1600200"/>
            <a:ext cx="3801525" cy="2057400"/>
          </a:xfrm>
        </p:spPr>
      </p:pic>
      <p:pic>
        <p:nvPicPr>
          <p:cNvPr id="51206" name="Picture 6"/>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514600" y="3938588"/>
            <a:ext cx="2998176" cy="1624012"/>
          </a:xfrm>
        </p:spPr>
      </p:pic>
      <p:pic>
        <p:nvPicPr>
          <p:cNvPr id="5120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2057400"/>
            <a:ext cx="2286000" cy="1318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09"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3657600"/>
            <a:ext cx="2209800" cy="132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Slide Number Placeholder 7"/>
          <p:cNvSpPr>
            <a:spLocks noGrp="1"/>
          </p:cNvSpPr>
          <p:nvPr>
            <p:ph type="sldNum" sz="quarter" idx="11"/>
          </p:nvPr>
        </p:nvSpPr>
        <p:spPr/>
        <p:txBody>
          <a:bodyPr/>
          <a:lstStyle/>
          <a:p>
            <a:fld id="{091A799F-0FD1-4875-87E1-BE8F197F8A05}" type="slidenum">
              <a:rPr lang="en-US" smtClean="0"/>
              <a:pPr/>
              <a:t>29</a:t>
            </a:fld>
            <a:endParaRPr lang="en-US"/>
          </a:p>
        </p:txBody>
      </p:sp>
    </p:spTree>
    <p:extLst>
      <p:ext uri="{BB962C8B-B14F-4D97-AF65-F5344CB8AC3E}">
        <p14:creationId xmlns:p14="http://schemas.microsoft.com/office/powerpoint/2010/main" val="383280847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4"/>
          <p:cNvSpPr>
            <a:spLocks noGrp="1" noRot="1" noChangeArrowheads="1"/>
          </p:cNvSpPr>
          <p:nvPr>
            <p:ph type="title" sz="quarter"/>
          </p:nvPr>
        </p:nvSpPr>
        <p:spPr>
          <a:xfrm>
            <a:off x="1981200" y="274638"/>
            <a:ext cx="8229600" cy="944562"/>
          </a:xfrm>
        </p:spPr>
        <p:txBody>
          <a:bodyPr>
            <a:normAutofit fontScale="90000"/>
          </a:bodyPr>
          <a:lstStyle/>
          <a:p>
            <a:r>
              <a:rPr lang="en-US" sz="3200" dirty="0" err="1"/>
              <a:t>Penguat</a:t>
            </a:r>
            <a:r>
              <a:rPr lang="en-US" sz="3200" dirty="0"/>
              <a:t> </a:t>
            </a:r>
            <a:r>
              <a:rPr lang="en-US" sz="3200" dirty="0" err="1"/>
              <a:t>Penjumlah</a:t>
            </a:r>
            <a:r>
              <a:rPr lang="en-US" sz="3200" dirty="0"/>
              <a:t> </a:t>
            </a:r>
            <a:r>
              <a:rPr lang="en-US" sz="3200" dirty="0" err="1"/>
              <a:t>Membalik</a:t>
            </a:r>
            <a:r>
              <a:rPr lang="en-US" sz="3200" dirty="0"/>
              <a:t/>
            </a:r>
            <a:br>
              <a:rPr lang="en-US" sz="3200" dirty="0"/>
            </a:br>
            <a:r>
              <a:rPr lang="en-US" sz="3200" dirty="0"/>
              <a:t>(Summing Amplifier </a:t>
            </a:r>
            <a:r>
              <a:rPr lang="en-US" sz="3200" dirty="0" err="1"/>
              <a:t>di</a:t>
            </a:r>
            <a:r>
              <a:rPr lang="en-US" sz="3200" dirty="0"/>
              <a:t> inverting) </a:t>
            </a:r>
            <a:endParaRPr lang="en-US" sz="3200" dirty="0"/>
          </a:p>
        </p:txBody>
      </p:sp>
      <p:pic>
        <p:nvPicPr>
          <p:cNvPr id="53253" name="Picture 5"/>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p:pic>
      <p:pic>
        <p:nvPicPr>
          <p:cNvPr id="53255" name="Picture 7"/>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209800" y="4038600"/>
            <a:ext cx="3276600" cy="2286000"/>
          </a:xfrm>
        </p:spPr>
      </p:pic>
      <p:graphicFrame>
        <p:nvGraphicFramePr>
          <p:cNvPr id="7" name="Object 6"/>
          <p:cNvGraphicFramePr>
            <a:graphicFrameLocks noChangeAspect="1"/>
          </p:cNvGraphicFramePr>
          <p:nvPr/>
        </p:nvGraphicFramePr>
        <p:xfrm>
          <a:off x="5638801" y="3632200"/>
          <a:ext cx="4556125" cy="2490788"/>
        </p:xfrm>
        <a:graphic>
          <a:graphicData uri="http://schemas.openxmlformats.org/presentationml/2006/ole">
            <mc:AlternateContent xmlns:mc="http://schemas.openxmlformats.org/markup-compatibility/2006">
              <mc:Choice xmlns:v="urn:schemas-microsoft-com:vml" Requires="v">
                <p:oleObj spid="_x0000_s38916" name="Equation" r:id="rId5" imgW="2044440" imgH="1117440" progId="Equation.DSMT4">
                  <p:embed/>
                </p:oleObj>
              </mc:Choice>
              <mc:Fallback>
                <p:oleObj name="Equation" r:id="rId5" imgW="2044440" imgH="1117440" progId="Equation.DSMT4">
                  <p:embed/>
                  <p:pic>
                    <p:nvPicPr>
                      <p:cNvPr id="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8801" y="3632200"/>
                        <a:ext cx="4556125" cy="2490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Slide Number Placeholder 8"/>
          <p:cNvSpPr>
            <a:spLocks noGrp="1"/>
          </p:cNvSpPr>
          <p:nvPr>
            <p:ph type="sldNum" sz="quarter" idx="11"/>
          </p:nvPr>
        </p:nvSpPr>
        <p:spPr/>
        <p:txBody>
          <a:bodyPr/>
          <a:lstStyle/>
          <a:p>
            <a:fld id="{F7A2EDAB-DCB2-471C-8E12-878E18D4A728}" type="slidenum">
              <a:rPr lang="en-US" smtClean="0"/>
              <a:pPr/>
              <a:t>30</a:t>
            </a:fld>
            <a:endParaRPr lang="en-US"/>
          </a:p>
        </p:txBody>
      </p:sp>
    </p:spTree>
    <p:extLst>
      <p:ext uri="{BB962C8B-B14F-4D97-AF65-F5344CB8AC3E}">
        <p14:creationId xmlns:p14="http://schemas.microsoft.com/office/powerpoint/2010/main" val="310589996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sz="quarter"/>
          </p:nvPr>
        </p:nvSpPr>
        <p:spPr>
          <a:xfrm>
            <a:off x="1981200" y="274638"/>
            <a:ext cx="8229600" cy="868362"/>
          </a:xfrm>
        </p:spPr>
        <p:txBody>
          <a:bodyPr>
            <a:noAutofit/>
          </a:bodyPr>
          <a:lstStyle/>
          <a:p>
            <a:r>
              <a:rPr lang="en-US" sz="2800" dirty="0" err="1"/>
              <a:t>Penguat</a:t>
            </a:r>
            <a:r>
              <a:rPr lang="en-US" sz="2800" dirty="0"/>
              <a:t> </a:t>
            </a:r>
            <a:r>
              <a:rPr lang="en-US" sz="2800" dirty="0" err="1"/>
              <a:t>Penjumlah</a:t>
            </a:r>
            <a:r>
              <a:rPr lang="en-US" sz="2800" dirty="0"/>
              <a:t> </a:t>
            </a:r>
            <a:r>
              <a:rPr lang="en-US" sz="2800" dirty="0" err="1"/>
              <a:t>Membalik</a:t>
            </a:r>
            <a:r>
              <a:rPr lang="en-US" sz="2800" dirty="0"/>
              <a:t/>
            </a:r>
            <a:br>
              <a:rPr lang="en-US" sz="2800" dirty="0"/>
            </a:br>
            <a:r>
              <a:rPr lang="en-US" sz="2800" dirty="0"/>
              <a:t>(Summing Amplifier </a:t>
            </a:r>
            <a:r>
              <a:rPr lang="en-US" sz="2800" dirty="0" err="1"/>
              <a:t>di</a:t>
            </a:r>
            <a:r>
              <a:rPr lang="en-US" sz="2800" dirty="0"/>
              <a:t> inverting) </a:t>
            </a:r>
            <a:endParaRPr lang="en-US" sz="2800" dirty="0"/>
          </a:p>
        </p:txBody>
      </p:sp>
      <p:sp>
        <p:nvSpPr>
          <p:cNvPr id="5" name="Content Placeholder 4"/>
          <p:cNvSpPr>
            <a:spLocks noGrp="1"/>
          </p:cNvSpPr>
          <p:nvPr>
            <p:ph sz="quarter" idx="3"/>
          </p:nvPr>
        </p:nvSpPr>
        <p:spPr>
          <a:xfrm>
            <a:off x="1981200" y="1600200"/>
            <a:ext cx="8305800" cy="4800600"/>
          </a:xfrm>
        </p:spPr>
        <p:txBody>
          <a:bodyPr>
            <a:normAutofit/>
          </a:bodyPr>
          <a:lstStyle/>
          <a:p>
            <a:r>
              <a:rPr lang="en-US" b="1" u="sng" dirty="0" err="1" smtClean="0"/>
              <a:t>catatan</a:t>
            </a:r>
            <a:r>
              <a:rPr lang="en-US" b="1" u="sng" dirty="0" smtClean="0"/>
              <a:t> </a:t>
            </a:r>
            <a:r>
              <a:rPr lang="en-US" dirty="0" smtClean="0"/>
              <a:t>:</a:t>
            </a:r>
          </a:p>
          <a:p>
            <a:pPr marL="346075" indent="-346075">
              <a:buFont typeface="+mj-lt"/>
              <a:buAutoNum type="arabicPeriod"/>
            </a:pPr>
            <a:r>
              <a:rPr lang="en-US" sz="1800" dirty="0" err="1"/>
              <a:t>Jika</a:t>
            </a:r>
            <a:r>
              <a:rPr lang="en-US" sz="1800" dirty="0"/>
              <a:t> </a:t>
            </a:r>
            <a:r>
              <a:rPr lang="en-US" sz="1800" dirty="0" err="1"/>
              <a:t>Rin</a:t>
            </a:r>
            <a:r>
              <a:rPr lang="en-US" sz="1800" dirty="0"/>
              <a:t> </a:t>
            </a:r>
            <a:r>
              <a:rPr lang="en-US" sz="1800" dirty="0" err="1"/>
              <a:t>pada</a:t>
            </a:r>
            <a:r>
              <a:rPr lang="en-US" sz="1800" dirty="0"/>
              <a:t> </a:t>
            </a:r>
            <a:r>
              <a:rPr lang="en-US" sz="1800" dirty="0" err="1"/>
              <a:t>masing-masing</a:t>
            </a:r>
            <a:r>
              <a:rPr lang="en-US" sz="1800" dirty="0"/>
              <a:t> </a:t>
            </a:r>
            <a:r>
              <a:rPr lang="en-US" sz="1800" dirty="0" err="1"/>
              <a:t>tegangan</a:t>
            </a:r>
            <a:r>
              <a:rPr lang="en-US" sz="1800" dirty="0"/>
              <a:t> </a:t>
            </a:r>
            <a:r>
              <a:rPr lang="en-US" sz="1800" dirty="0" err="1"/>
              <a:t>nilainya</a:t>
            </a:r>
            <a:r>
              <a:rPr lang="en-US" sz="1800" dirty="0"/>
              <a:t> </a:t>
            </a:r>
            <a:r>
              <a:rPr lang="en-US" sz="1800" dirty="0" err="1"/>
              <a:t>berbeda</a:t>
            </a:r>
            <a:r>
              <a:rPr lang="en-US" sz="1800" dirty="0"/>
              <a:t> </a:t>
            </a:r>
            <a:r>
              <a:rPr lang="en-US" sz="1800" dirty="0" err="1"/>
              <a:t>yaitu</a:t>
            </a:r>
            <a:r>
              <a:rPr lang="en-US" sz="1800" dirty="0"/>
              <a:t> </a:t>
            </a:r>
            <a:r>
              <a:rPr lang="en-US" sz="1800" dirty="0" err="1"/>
              <a:t>Rin</a:t>
            </a:r>
            <a:r>
              <a:rPr lang="en-US" sz="1800" dirty="0"/>
              <a:t> </a:t>
            </a:r>
            <a:r>
              <a:rPr lang="en-US" sz="1800" dirty="0" err="1"/>
              <a:t>pada</a:t>
            </a:r>
            <a:r>
              <a:rPr lang="en-US" sz="1800" dirty="0"/>
              <a:t> V1 = R1, </a:t>
            </a:r>
            <a:r>
              <a:rPr lang="en-US" sz="1800" dirty="0" err="1"/>
              <a:t>Rin</a:t>
            </a:r>
            <a:r>
              <a:rPr lang="en-US" sz="1800" dirty="0"/>
              <a:t> </a:t>
            </a:r>
            <a:r>
              <a:rPr lang="en-US" sz="1800" dirty="0" err="1"/>
              <a:t>pada</a:t>
            </a:r>
            <a:r>
              <a:rPr lang="en-US" sz="1800" dirty="0"/>
              <a:t> V2 = R2 </a:t>
            </a:r>
            <a:r>
              <a:rPr lang="en-US" sz="1800" dirty="0" err="1"/>
              <a:t>dan</a:t>
            </a:r>
            <a:r>
              <a:rPr lang="en-US" sz="1800" dirty="0"/>
              <a:t> </a:t>
            </a:r>
            <a:r>
              <a:rPr lang="en-US" sz="1800" dirty="0" err="1"/>
              <a:t>Rin</a:t>
            </a:r>
            <a:r>
              <a:rPr lang="en-US" sz="1800" dirty="0"/>
              <a:t> </a:t>
            </a:r>
            <a:r>
              <a:rPr lang="en-US" sz="1800" dirty="0" err="1"/>
              <a:t>pada</a:t>
            </a:r>
            <a:r>
              <a:rPr lang="en-US" sz="1800" dirty="0"/>
              <a:t> </a:t>
            </a:r>
            <a:r>
              <a:rPr lang="en-US" sz="1800" dirty="0" err="1"/>
              <a:t>Vn</a:t>
            </a:r>
            <a:r>
              <a:rPr lang="en-US" sz="1800" dirty="0"/>
              <a:t> = </a:t>
            </a:r>
            <a:r>
              <a:rPr lang="en-US" sz="1800" dirty="0" err="1"/>
              <a:t>Rn</a:t>
            </a:r>
            <a:r>
              <a:rPr lang="en-US" sz="1800" dirty="0"/>
              <a:t> </a:t>
            </a:r>
            <a:r>
              <a:rPr lang="en-US" sz="1800" dirty="0" err="1"/>
              <a:t>dan</a:t>
            </a:r>
            <a:r>
              <a:rPr lang="en-US" sz="1800" dirty="0"/>
              <a:t> V1 = V2  =</a:t>
            </a:r>
            <a:r>
              <a:rPr lang="en-US" sz="1800" dirty="0" err="1"/>
              <a:t>Vn</a:t>
            </a:r>
            <a:r>
              <a:rPr lang="en-US" sz="1800" dirty="0"/>
              <a:t> = Vin </a:t>
            </a:r>
            <a:r>
              <a:rPr lang="en-US" sz="1800" dirty="0" err="1"/>
              <a:t>maka</a:t>
            </a:r>
            <a:r>
              <a:rPr lang="en-US" sz="1800" dirty="0"/>
              <a:t> </a:t>
            </a:r>
            <a:r>
              <a:rPr lang="en-US" sz="1800" dirty="0" err="1"/>
              <a:t>persamaan</a:t>
            </a:r>
            <a:r>
              <a:rPr lang="en-US" sz="1800" dirty="0"/>
              <a:t> </a:t>
            </a:r>
            <a:r>
              <a:rPr lang="en-US" sz="1800" dirty="0" err="1"/>
              <a:t>diatas</a:t>
            </a:r>
            <a:r>
              <a:rPr lang="en-US" sz="1800" dirty="0"/>
              <a:t> </a:t>
            </a:r>
            <a:r>
              <a:rPr lang="en-US" sz="1800" dirty="0" err="1"/>
              <a:t>menjadi</a:t>
            </a:r>
            <a:r>
              <a:rPr lang="en-US" sz="1800" dirty="0"/>
              <a:t>:</a:t>
            </a:r>
          </a:p>
          <a:p>
            <a:pPr marL="346075" indent="-346075">
              <a:buFont typeface="+mj-lt"/>
              <a:buAutoNum type="arabicPeriod"/>
            </a:pPr>
            <a:endParaRPr lang="en-US" sz="1800" dirty="0"/>
          </a:p>
          <a:p>
            <a:pPr marL="346075" indent="-346075">
              <a:buFont typeface="+mj-lt"/>
              <a:buAutoNum type="arabicPeriod"/>
            </a:pPr>
            <a:endParaRPr lang="en-US" sz="1800" dirty="0"/>
          </a:p>
          <a:p>
            <a:pPr marL="346075" indent="-346075">
              <a:buFont typeface="+mj-lt"/>
              <a:buAutoNum type="arabicPeriod"/>
            </a:pPr>
            <a:endParaRPr lang="en-US" sz="1800" dirty="0"/>
          </a:p>
          <a:p>
            <a:pPr marL="346075" indent="-346075">
              <a:buFont typeface="+mj-lt"/>
              <a:buAutoNum type="arabicPeriod"/>
            </a:pPr>
            <a:r>
              <a:rPr lang="en-US" sz="1800" dirty="0" err="1"/>
              <a:t>Jika</a:t>
            </a:r>
            <a:r>
              <a:rPr lang="en-US" sz="1800" dirty="0"/>
              <a:t> </a:t>
            </a:r>
            <a:r>
              <a:rPr lang="en-US" sz="1800" dirty="0" err="1"/>
              <a:t>Rin</a:t>
            </a:r>
            <a:r>
              <a:rPr lang="en-US" sz="1800" dirty="0"/>
              <a:t> </a:t>
            </a:r>
            <a:r>
              <a:rPr lang="en-US" sz="1800" dirty="0" err="1"/>
              <a:t>pada</a:t>
            </a:r>
            <a:r>
              <a:rPr lang="en-US" sz="1800" dirty="0"/>
              <a:t> </a:t>
            </a:r>
            <a:r>
              <a:rPr lang="en-US" sz="1800" dirty="0" err="1"/>
              <a:t>masing-masing</a:t>
            </a:r>
            <a:r>
              <a:rPr lang="en-US" sz="1800" dirty="0"/>
              <a:t> </a:t>
            </a:r>
            <a:r>
              <a:rPr lang="en-US" sz="1800" dirty="0" err="1"/>
              <a:t>tegangan</a:t>
            </a:r>
            <a:r>
              <a:rPr lang="en-US" sz="1800" dirty="0"/>
              <a:t> </a:t>
            </a:r>
            <a:r>
              <a:rPr lang="en-US" sz="1800" dirty="0" err="1"/>
              <a:t>nilainya</a:t>
            </a:r>
            <a:r>
              <a:rPr lang="en-US" sz="1800" dirty="0"/>
              <a:t> </a:t>
            </a:r>
            <a:r>
              <a:rPr lang="en-US" sz="1800" dirty="0" err="1"/>
              <a:t>sama</a:t>
            </a:r>
            <a:r>
              <a:rPr lang="en-US" sz="1800" dirty="0"/>
              <a:t> </a:t>
            </a:r>
            <a:r>
              <a:rPr lang="en-US" sz="1800" dirty="0" err="1"/>
              <a:t>yaitu</a:t>
            </a:r>
            <a:r>
              <a:rPr lang="en-US" sz="1800" dirty="0"/>
              <a:t> </a:t>
            </a:r>
            <a:r>
              <a:rPr lang="en-US" sz="1800" dirty="0" err="1"/>
              <a:t>Rin</a:t>
            </a:r>
            <a:r>
              <a:rPr lang="en-US" sz="1800" dirty="0"/>
              <a:t> </a:t>
            </a:r>
            <a:r>
              <a:rPr lang="en-US" sz="1800" dirty="0" err="1"/>
              <a:t>pada</a:t>
            </a:r>
            <a:r>
              <a:rPr lang="en-US" sz="1800" dirty="0"/>
              <a:t> V1 = R </a:t>
            </a:r>
            <a:r>
              <a:rPr lang="en-US" sz="1800" dirty="0" err="1"/>
              <a:t>pada</a:t>
            </a:r>
            <a:r>
              <a:rPr lang="en-US" sz="1800" dirty="0"/>
              <a:t> V2 = R </a:t>
            </a:r>
            <a:r>
              <a:rPr lang="en-US" sz="1800" dirty="0" err="1"/>
              <a:t>pada</a:t>
            </a:r>
            <a:r>
              <a:rPr lang="en-US" sz="1800" dirty="0"/>
              <a:t> </a:t>
            </a:r>
            <a:r>
              <a:rPr lang="en-US" sz="1800" dirty="0" err="1"/>
              <a:t>Vn</a:t>
            </a:r>
            <a:r>
              <a:rPr lang="en-US" sz="1800" dirty="0"/>
              <a:t> = R  </a:t>
            </a:r>
            <a:r>
              <a:rPr lang="en-US" sz="1800" dirty="0" err="1"/>
              <a:t>atau</a:t>
            </a:r>
            <a:r>
              <a:rPr lang="en-US" sz="1800" dirty="0"/>
              <a:t> (R1 = R2 = </a:t>
            </a:r>
            <a:r>
              <a:rPr lang="en-US" sz="1800" dirty="0" err="1"/>
              <a:t>Rn</a:t>
            </a:r>
            <a:r>
              <a:rPr lang="en-US" sz="1800" dirty="0"/>
              <a:t> = R)  </a:t>
            </a:r>
            <a:r>
              <a:rPr lang="en-US" sz="1800" dirty="0" err="1"/>
              <a:t>dan</a:t>
            </a:r>
            <a:r>
              <a:rPr lang="en-US" sz="1800" dirty="0"/>
              <a:t> </a:t>
            </a:r>
            <a:r>
              <a:rPr lang="en-US" sz="1800" dirty="0" err="1"/>
              <a:t>Vsumber</a:t>
            </a:r>
            <a:r>
              <a:rPr lang="en-US" sz="1800" dirty="0"/>
              <a:t> </a:t>
            </a:r>
            <a:r>
              <a:rPr lang="en-US" sz="1800" dirty="0" err="1"/>
              <a:t>berbeda</a:t>
            </a:r>
            <a:r>
              <a:rPr lang="en-US" sz="1800" dirty="0"/>
              <a:t> </a:t>
            </a:r>
            <a:r>
              <a:rPr lang="en-US" sz="1800" dirty="0" err="1"/>
              <a:t>maka</a:t>
            </a:r>
            <a:r>
              <a:rPr lang="en-US" sz="1800" dirty="0"/>
              <a:t> </a:t>
            </a:r>
            <a:r>
              <a:rPr lang="en-US" sz="1800" dirty="0" err="1"/>
              <a:t>persamaan</a:t>
            </a:r>
            <a:r>
              <a:rPr lang="en-US" sz="1800" dirty="0"/>
              <a:t> </a:t>
            </a:r>
            <a:r>
              <a:rPr lang="en-US" sz="1800" dirty="0" err="1"/>
              <a:t>diatas</a:t>
            </a:r>
            <a:r>
              <a:rPr lang="en-US" sz="1800" dirty="0"/>
              <a:t> </a:t>
            </a:r>
            <a:r>
              <a:rPr lang="en-US" sz="1800" dirty="0" err="1"/>
              <a:t>menjadi</a:t>
            </a:r>
            <a:r>
              <a:rPr lang="en-US" sz="1800" dirty="0"/>
              <a:t>:</a:t>
            </a:r>
          </a:p>
          <a:p>
            <a:pPr marL="346075" indent="-346075">
              <a:buFont typeface="+mj-lt"/>
              <a:buAutoNum type="arabicPeriod"/>
            </a:pPr>
            <a:endParaRPr lang="en-US" sz="1800" dirty="0"/>
          </a:p>
          <a:p>
            <a:pPr marL="346075" indent="-346075">
              <a:buFont typeface="+mj-lt"/>
              <a:buAutoNum type="arabicPeriod"/>
            </a:pPr>
            <a:endParaRPr lang="en-US" sz="1800" dirty="0"/>
          </a:p>
          <a:p>
            <a:pPr>
              <a:buNone/>
            </a:pPr>
            <a:r>
              <a:rPr lang="en-US" dirty="0" smtClean="0"/>
              <a:t>	 </a:t>
            </a:r>
          </a:p>
          <a:p>
            <a:endParaRPr lang="en-US" dirty="0"/>
          </a:p>
        </p:txBody>
      </p:sp>
      <p:sp>
        <p:nvSpPr>
          <p:cNvPr id="8" name="Slide Number Placeholder 7"/>
          <p:cNvSpPr>
            <a:spLocks noGrp="1"/>
          </p:cNvSpPr>
          <p:nvPr>
            <p:ph type="sldNum" sz="quarter" idx="11"/>
          </p:nvPr>
        </p:nvSpPr>
        <p:spPr/>
        <p:txBody>
          <a:bodyPr/>
          <a:lstStyle/>
          <a:p>
            <a:fld id="{F7A2EDAB-DCB2-471C-8E12-878E18D4A728}" type="slidenum">
              <a:rPr lang="en-US" smtClean="0"/>
              <a:pPr/>
              <a:t>31</a:t>
            </a:fld>
            <a:endParaRPr lang="en-US"/>
          </a:p>
        </p:txBody>
      </p:sp>
      <p:sp>
        <p:nvSpPr>
          <p:cNvPr id="40962"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0964" name="Rectangle 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3" name="Object 3"/>
          <p:cNvGraphicFramePr>
            <a:graphicFrameLocks noChangeAspect="1"/>
          </p:cNvGraphicFramePr>
          <p:nvPr/>
        </p:nvGraphicFramePr>
        <p:xfrm>
          <a:off x="3810001" y="3124200"/>
          <a:ext cx="3578289" cy="990600"/>
        </p:xfrm>
        <a:graphic>
          <a:graphicData uri="http://schemas.openxmlformats.org/presentationml/2006/ole">
            <mc:AlternateContent xmlns:mc="http://schemas.openxmlformats.org/markup-compatibility/2006">
              <mc:Choice xmlns:v="urn:schemas-microsoft-com:vml" Requires="v">
                <p:oleObj spid="_x0000_s39942" name="Equation" r:id="rId3" imgW="1688760" imgH="457200" progId="Equation.DSMT4">
                  <p:embed/>
                </p:oleObj>
              </mc:Choice>
              <mc:Fallback>
                <p:oleObj name="Equation" r:id="rId3" imgW="1688760" imgH="457200" progId="Equation.DSMT4">
                  <p:embed/>
                  <p:pic>
                    <p:nvPicPr>
                      <p:cNvPr id="4096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1" y="3124200"/>
                        <a:ext cx="3578289"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6" name="Rectangle 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5" name="Object 5"/>
          <p:cNvGraphicFramePr>
            <a:graphicFrameLocks noChangeAspect="1"/>
          </p:cNvGraphicFramePr>
          <p:nvPr/>
        </p:nvGraphicFramePr>
        <p:xfrm>
          <a:off x="3262314" y="5226050"/>
          <a:ext cx="3381375" cy="946150"/>
        </p:xfrm>
        <a:graphic>
          <a:graphicData uri="http://schemas.openxmlformats.org/presentationml/2006/ole">
            <mc:AlternateContent xmlns:mc="http://schemas.openxmlformats.org/markup-compatibility/2006">
              <mc:Choice xmlns:v="urn:schemas-microsoft-com:vml" Requires="v">
                <p:oleObj spid="_x0000_s39943" name="Equation" r:id="rId5" imgW="1498320" imgH="419040" progId="Equation.DSMT4">
                  <p:embed/>
                </p:oleObj>
              </mc:Choice>
              <mc:Fallback>
                <p:oleObj name="Equation" r:id="rId5" imgW="1498320" imgH="419040" progId="Equation.DSMT4">
                  <p:embed/>
                  <p:pic>
                    <p:nvPicPr>
                      <p:cNvPr id="4096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2314" y="5226050"/>
                        <a:ext cx="3381375" cy="946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2930778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sz="quarter"/>
          </p:nvPr>
        </p:nvSpPr>
        <p:spPr>
          <a:xfrm>
            <a:off x="1981200" y="274638"/>
            <a:ext cx="8229600" cy="868362"/>
          </a:xfrm>
        </p:spPr>
        <p:txBody>
          <a:bodyPr>
            <a:noAutofit/>
          </a:bodyPr>
          <a:lstStyle/>
          <a:p>
            <a:r>
              <a:rPr lang="en-US" sz="2800" dirty="0" err="1"/>
              <a:t>Penguat</a:t>
            </a:r>
            <a:r>
              <a:rPr lang="en-US" sz="2800" dirty="0"/>
              <a:t> </a:t>
            </a:r>
            <a:r>
              <a:rPr lang="en-US" sz="2800" dirty="0" err="1"/>
              <a:t>Penjumlah</a:t>
            </a:r>
            <a:r>
              <a:rPr lang="en-US" sz="2800" dirty="0"/>
              <a:t> </a:t>
            </a:r>
            <a:r>
              <a:rPr lang="en-US" sz="2800" dirty="0" err="1"/>
              <a:t>Membalik</a:t>
            </a:r>
            <a:r>
              <a:rPr lang="en-US" sz="2800" dirty="0"/>
              <a:t/>
            </a:r>
            <a:br>
              <a:rPr lang="en-US" sz="2800" dirty="0"/>
            </a:br>
            <a:r>
              <a:rPr lang="en-US" sz="2800" dirty="0"/>
              <a:t>(Summing Amplifier </a:t>
            </a:r>
            <a:r>
              <a:rPr lang="en-US" sz="2800" dirty="0" err="1"/>
              <a:t>di</a:t>
            </a:r>
            <a:r>
              <a:rPr lang="en-US" sz="2800" dirty="0"/>
              <a:t> inverting) </a:t>
            </a:r>
            <a:endParaRPr lang="en-US" sz="2800" dirty="0"/>
          </a:p>
        </p:txBody>
      </p:sp>
      <p:sp>
        <p:nvSpPr>
          <p:cNvPr id="5" name="Content Placeholder 4"/>
          <p:cNvSpPr>
            <a:spLocks noGrp="1"/>
          </p:cNvSpPr>
          <p:nvPr>
            <p:ph sz="quarter" idx="3"/>
          </p:nvPr>
        </p:nvSpPr>
        <p:spPr>
          <a:xfrm>
            <a:off x="1981200" y="1600201"/>
            <a:ext cx="8305800" cy="4525963"/>
          </a:xfrm>
        </p:spPr>
        <p:txBody>
          <a:bodyPr>
            <a:normAutofit/>
          </a:bodyPr>
          <a:lstStyle/>
          <a:p>
            <a:r>
              <a:rPr lang="en-US" b="1" u="sng" dirty="0" err="1" smtClean="0"/>
              <a:t>catatan</a:t>
            </a:r>
            <a:r>
              <a:rPr lang="en-US" b="1" u="sng" dirty="0" smtClean="0"/>
              <a:t> </a:t>
            </a:r>
            <a:r>
              <a:rPr lang="en-US" dirty="0" smtClean="0"/>
              <a:t>:</a:t>
            </a:r>
          </a:p>
          <a:p>
            <a:pPr marL="346075" indent="-346075">
              <a:buFont typeface="+mj-lt"/>
              <a:buAutoNum type="arabicPeriod" startAt="3"/>
            </a:pPr>
            <a:r>
              <a:rPr lang="en-US" sz="1800" dirty="0" err="1"/>
              <a:t>Jika</a:t>
            </a:r>
            <a:r>
              <a:rPr lang="en-US" sz="1800" dirty="0"/>
              <a:t> Vin = V1 = V2 = </a:t>
            </a:r>
            <a:r>
              <a:rPr lang="en-US" sz="1800" dirty="0" err="1"/>
              <a:t>Vn</a:t>
            </a:r>
            <a:r>
              <a:rPr lang="en-US" sz="1800" dirty="0"/>
              <a:t> , R1≠R2≠Rn </a:t>
            </a:r>
            <a:r>
              <a:rPr lang="en-US" sz="1800" dirty="0" err="1"/>
              <a:t>maka</a:t>
            </a:r>
            <a:r>
              <a:rPr lang="en-US" sz="1800" dirty="0"/>
              <a:t> </a:t>
            </a:r>
            <a:r>
              <a:rPr lang="en-US" sz="1800" dirty="0" err="1"/>
              <a:t>persamaan</a:t>
            </a:r>
            <a:r>
              <a:rPr lang="en-US" sz="1800" dirty="0"/>
              <a:t> </a:t>
            </a:r>
            <a:r>
              <a:rPr lang="en-US" sz="1800" dirty="0" err="1"/>
              <a:t>untuk</a:t>
            </a:r>
            <a:r>
              <a:rPr lang="en-US" sz="1800" dirty="0"/>
              <a:t> summing amplifier </a:t>
            </a:r>
            <a:r>
              <a:rPr lang="en-US" sz="1800" dirty="0" err="1"/>
              <a:t>adalah</a:t>
            </a:r>
            <a:r>
              <a:rPr lang="en-US" sz="1800" dirty="0"/>
              <a:t>:</a:t>
            </a:r>
          </a:p>
          <a:p>
            <a:pPr marL="346075" indent="-346075">
              <a:buFont typeface="+mj-lt"/>
              <a:buAutoNum type="arabicPeriod" startAt="3"/>
            </a:pPr>
            <a:endParaRPr lang="en-US" sz="1800" dirty="0"/>
          </a:p>
          <a:p>
            <a:pPr marL="346075" indent="-346075">
              <a:buFont typeface="+mj-lt"/>
              <a:buAutoNum type="arabicPeriod" startAt="3"/>
            </a:pPr>
            <a:endParaRPr lang="en-US" sz="1800" dirty="0"/>
          </a:p>
          <a:p>
            <a:pPr marL="346075" indent="-346075">
              <a:buFont typeface="+mj-lt"/>
              <a:buAutoNum type="arabicPeriod" startAt="3"/>
            </a:pPr>
            <a:r>
              <a:rPr lang="en-US" sz="1800" dirty="0" err="1"/>
              <a:t>Jika</a:t>
            </a:r>
            <a:r>
              <a:rPr lang="en-US" sz="1800" dirty="0"/>
              <a:t> Vin = V1 = V2 = </a:t>
            </a:r>
            <a:r>
              <a:rPr lang="en-US" sz="1800" dirty="0" err="1"/>
              <a:t>Vn</a:t>
            </a:r>
            <a:r>
              <a:rPr lang="en-US" sz="1800" dirty="0"/>
              <a:t> </a:t>
            </a:r>
            <a:r>
              <a:rPr lang="en-US" sz="1800" dirty="0" err="1"/>
              <a:t>dan</a:t>
            </a:r>
            <a:r>
              <a:rPr lang="en-US" sz="1800" dirty="0"/>
              <a:t> </a:t>
            </a:r>
            <a:r>
              <a:rPr lang="en-US" sz="1800" dirty="0" err="1"/>
              <a:t>Rin</a:t>
            </a:r>
            <a:r>
              <a:rPr lang="en-US" sz="1800" dirty="0"/>
              <a:t> = R1 = R2 = </a:t>
            </a:r>
            <a:r>
              <a:rPr lang="en-US" sz="1800" dirty="0" err="1"/>
              <a:t>Rn</a:t>
            </a:r>
            <a:r>
              <a:rPr lang="en-US" sz="1800" dirty="0"/>
              <a:t> </a:t>
            </a:r>
            <a:r>
              <a:rPr lang="en-US" sz="1800" dirty="0" err="1"/>
              <a:t>maka</a:t>
            </a:r>
            <a:r>
              <a:rPr lang="en-US" sz="1800" dirty="0"/>
              <a:t> </a:t>
            </a:r>
            <a:r>
              <a:rPr lang="en-US" sz="1800" dirty="0" err="1"/>
              <a:t>persamaan</a:t>
            </a:r>
            <a:r>
              <a:rPr lang="en-US" sz="1800" dirty="0"/>
              <a:t> </a:t>
            </a:r>
            <a:r>
              <a:rPr lang="en-US" sz="1800" dirty="0" err="1"/>
              <a:t>untuk</a:t>
            </a:r>
            <a:r>
              <a:rPr lang="en-US" sz="1800" dirty="0"/>
              <a:t> summing amplifier </a:t>
            </a:r>
            <a:r>
              <a:rPr lang="en-US" sz="1800" dirty="0" err="1"/>
              <a:t>adalah</a:t>
            </a:r>
            <a:r>
              <a:rPr lang="en-US" sz="1800" dirty="0"/>
              <a:t>:</a:t>
            </a:r>
          </a:p>
          <a:p>
            <a:pPr marL="346075" indent="-346075">
              <a:buFont typeface="+mj-lt"/>
              <a:buAutoNum type="arabicPeriod" startAt="3"/>
            </a:pPr>
            <a:endParaRPr lang="en-US" sz="1800" dirty="0"/>
          </a:p>
          <a:p>
            <a:pPr marL="346075" indent="-346075">
              <a:buFont typeface="+mj-lt"/>
              <a:buAutoNum type="arabicPeriod" startAt="3"/>
            </a:pPr>
            <a:endParaRPr lang="en-US" sz="1800" dirty="0"/>
          </a:p>
          <a:p>
            <a:pPr marL="346075" indent="-346075">
              <a:buFont typeface="+mj-lt"/>
              <a:buAutoNum type="arabicPeriod" startAt="3"/>
            </a:pPr>
            <a:r>
              <a:rPr lang="en-US" sz="1800" dirty="0" err="1"/>
              <a:t>Penguatan</a:t>
            </a:r>
            <a:r>
              <a:rPr lang="en-US" sz="1800" dirty="0"/>
              <a:t> </a:t>
            </a:r>
            <a:r>
              <a:rPr lang="en-US" sz="1800" dirty="0" err="1"/>
              <a:t>untuk</a:t>
            </a:r>
            <a:r>
              <a:rPr lang="en-US" sz="1800" dirty="0"/>
              <a:t> </a:t>
            </a:r>
            <a:r>
              <a:rPr lang="en-US" sz="1800" dirty="0" err="1"/>
              <a:t>rangkaian</a:t>
            </a:r>
            <a:r>
              <a:rPr lang="en-US" sz="1800" dirty="0"/>
              <a:t> summing amplifier </a:t>
            </a:r>
            <a:r>
              <a:rPr lang="en-US" sz="1800" dirty="0" err="1"/>
              <a:t>diatas</a:t>
            </a:r>
            <a:r>
              <a:rPr lang="en-US" sz="1800" dirty="0"/>
              <a:t> </a:t>
            </a:r>
            <a:r>
              <a:rPr lang="en-US" sz="1800" dirty="0" err="1"/>
              <a:t>adalah</a:t>
            </a:r>
            <a:r>
              <a:rPr lang="en-US" sz="1800" dirty="0"/>
              <a:t>:</a:t>
            </a:r>
          </a:p>
          <a:p>
            <a:pPr>
              <a:buNone/>
            </a:pPr>
            <a:r>
              <a:rPr lang="en-US" dirty="0" smtClean="0"/>
              <a:t>	 </a:t>
            </a:r>
          </a:p>
          <a:p>
            <a:endParaRPr lang="en-US" dirty="0"/>
          </a:p>
        </p:txBody>
      </p:sp>
      <p:sp>
        <p:nvSpPr>
          <p:cNvPr id="8" name="Slide Number Placeholder 7"/>
          <p:cNvSpPr>
            <a:spLocks noGrp="1"/>
          </p:cNvSpPr>
          <p:nvPr>
            <p:ph type="sldNum" sz="quarter" idx="11"/>
          </p:nvPr>
        </p:nvSpPr>
        <p:spPr/>
        <p:txBody>
          <a:bodyPr/>
          <a:lstStyle/>
          <a:p>
            <a:fld id="{F7A2EDAB-DCB2-471C-8E12-878E18D4A728}" type="slidenum">
              <a:rPr lang="en-US" smtClean="0"/>
              <a:pPr/>
              <a:t>32</a:t>
            </a:fld>
            <a:endParaRPr lang="en-US"/>
          </a:p>
        </p:txBody>
      </p:sp>
      <p:sp>
        <p:nvSpPr>
          <p:cNvPr id="40962"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1" name="Object 1"/>
          <p:cNvGraphicFramePr>
            <a:graphicFrameLocks noChangeAspect="1"/>
          </p:cNvGraphicFramePr>
          <p:nvPr/>
        </p:nvGraphicFramePr>
        <p:xfrm>
          <a:off x="2657475" y="5337176"/>
          <a:ext cx="4059238" cy="758825"/>
        </p:xfrm>
        <a:graphic>
          <a:graphicData uri="http://schemas.openxmlformats.org/presentationml/2006/ole">
            <mc:AlternateContent xmlns:mc="http://schemas.openxmlformats.org/markup-compatibility/2006">
              <mc:Choice xmlns:v="urn:schemas-microsoft-com:vml" Requires="v">
                <p:oleObj spid="_x0000_s40968" name="Equation" r:id="rId3" imgW="2489040" imgH="457200" progId="Equation.DSMT4">
                  <p:embed/>
                </p:oleObj>
              </mc:Choice>
              <mc:Fallback>
                <p:oleObj name="Equation" r:id="rId3" imgW="2489040" imgH="457200" progId="Equation.DSMT4">
                  <p:embed/>
                  <p:pic>
                    <p:nvPicPr>
                      <p:cNvPr id="40961"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7475" y="5337176"/>
                        <a:ext cx="4059238" cy="758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2" name="Rectangle 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34" name="Rectangle 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8133" name="Object 5"/>
          <p:cNvGraphicFramePr>
            <a:graphicFrameLocks noChangeAspect="1"/>
          </p:cNvGraphicFramePr>
          <p:nvPr/>
        </p:nvGraphicFramePr>
        <p:xfrm>
          <a:off x="3810001" y="2590800"/>
          <a:ext cx="2752529" cy="762000"/>
        </p:xfrm>
        <a:graphic>
          <a:graphicData uri="http://schemas.openxmlformats.org/presentationml/2006/ole">
            <mc:AlternateContent xmlns:mc="http://schemas.openxmlformats.org/markup-compatibility/2006">
              <mc:Choice xmlns:v="urn:schemas-microsoft-com:vml" Requires="v">
                <p:oleObj spid="_x0000_s40969" name="Equation" r:id="rId5" imgW="1688760" imgH="457200" progId="Equation.DSMT4">
                  <p:embed/>
                </p:oleObj>
              </mc:Choice>
              <mc:Fallback>
                <p:oleObj name="Equation" r:id="rId5" imgW="1688760" imgH="457200" progId="Equation.DSMT4">
                  <p:embed/>
                  <p:pic>
                    <p:nvPicPr>
                      <p:cNvPr id="4813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1" y="2590800"/>
                        <a:ext cx="2752529"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6" name="Rectangle 8"/>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8135" name="Object 7"/>
          <p:cNvGraphicFramePr>
            <a:graphicFrameLocks noChangeAspect="1"/>
          </p:cNvGraphicFramePr>
          <p:nvPr/>
        </p:nvGraphicFramePr>
        <p:xfrm>
          <a:off x="4423062" y="3886200"/>
          <a:ext cx="2130138" cy="762000"/>
        </p:xfrm>
        <a:graphic>
          <a:graphicData uri="http://schemas.openxmlformats.org/presentationml/2006/ole">
            <mc:AlternateContent xmlns:mc="http://schemas.openxmlformats.org/markup-compatibility/2006">
              <mc:Choice xmlns:v="urn:schemas-microsoft-com:vml" Requires="v">
                <p:oleObj spid="_x0000_s40970" name="Equation" r:id="rId7" imgW="1180588" imgH="418918" progId="Equation.DSMT4">
                  <p:embed/>
                </p:oleObj>
              </mc:Choice>
              <mc:Fallback>
                <p:oleObj name="Equation" r:id="rId7" imgW="1180588" imgH="418918" progId="Equation.DSMT4">
                  <p:embed/>
                  <p:pic>
                    <p:nvPicPr>
                      <p:cNvPr id="48135"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23062" y="3886200"/>
                        <a:ext cx="2130138"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711040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p:cNvSpPr>
            <a:spLocks noGrp="1" noRot="1" noChangeArrowheads="1"/>
          </p:cNvSpPr>
          <p:nvPr>
            <p:ph type="title"/>
          </p:nvPr>
        </p:nvSpPr>
        <p:spPr/>
        <p:txBody>
          <a:bodyPr>
            <a:normAutofit/>
          </a:bodyPr>
          <a:lstStyle/>
          <a:p>
            <a:r>
              <a:rPr lang="en-US" sz="3200" dirty="0" err="1"/>
              <a:t>Penguat</a:t>
            </a:r>
            <a:r>
              <a:rPr lang="en-US" sz="3200" dirty="0"/>
              <a:t> </a:t>
            </a:r>
            <a:r>
              <a:rPr lang="en-US" sz="3200" dirty="0" err="1"/>
              <a:t>Penjumlah</a:t>
            </a:r>
            <a:r>
              <a:rPr lang="en-US" sz="3200" dirty="0"/>
              <a:t> </a:t>
            </a:r>
            <a:r>
              <a:rPr lang="en-US" sz="3200" dirty="0" err="1"/>
              <a:t>Tak</a:t>
            </a:r>
            <a:r>
              <a:rPr lang="en-US" sz="3200" dirty="0"/>
              <a:t> </a:t>
            </a:r>
            <a:r>
              <a:rPr lang="en-US" sz="3200" dirty="0" err="1"/>
              <a:t>Membalik</a:t>
            </a:r>
            <a:r>
              <a:rPr lang="en-US" sz="3200" dirty="0"/>
              <a:t/>
            </a:r>
            <a:br>
              <a:rPr lang="en-US" sz="3200" dirty="0"/>
            </a:br>
            <a:r>
              <a:rPr lang="en-US" sz="3200" dirty="0"/>
              <a:t>(Summing Amplifier di non-Inverting)</a:t>
            </a:r>
            <a:endParaRPr lang="en-US" sz="3200" dirty="0"/>
          </a:p>
        </p:txBody>
      </p:sp>
      <p:pic>
        <p:nvPicPr>
          <p:cNvPr id="55301" name="Picture 5"/>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3810000" y="1676400"/>
            <a:ext cx="4572001" cy="2474704"/>
          </a:xfrm>
        </p:spPr>
      </p:pic>
      <p:sp>
        <p:nvSpPr>
          <p:cNvPr id="6" name="Slide Number Placeholder 5"/>
          <p:cNvSpPr>
            <a:spLocks noGrp="1"/>
          </p:cNvSpPr>
          <p:nvPr>
            <p:ph type="sldNum" sz="quarter" idx="11"/>
          </p:nvPr>
        </p:nvSpPr>
        <p:spPr/>
        <p:txBody>
          <a:bodyPr/>
          <a:lstStyle/>
          <a:p>
            <a:fld id="{201AEAA9-8C65-42A5-8C90-A2F54C079198}" type="slidenum">
              <a:rPr lang="en-US" smtClean="0"/>
              <a:pPr/>
              <a:t>33</a:t>
            </a:fld>
            <a:endParaRPr lang="en-US"/>
          </a:p>
        </p:txBody>
      </p:sp>
      <p:graphicFrame>
        <p:nvGraphicFramePr>
          <p:cNvPr id="7" name="Object 6"/>
          <p:cNvGraphicFramePr>
            <a:graphicFrameLocks noChangeAspect="1"/>
          </p:cNvGraphicFramePr>
          <p:nvPr/>
        </p:nvGraphicFramePr>
        <p:xfrm>
          <a:off x="3505201" y="4572000"/>
          <a:ext cx="5522259" cy="1066800"/>
        </p:xfrm>
        <a:graphic>
          <a:graphicData uri="http://schemas.openxmlformats.org/presentationml/2006/ole">
            <mc:AlternateContent xmlns:mc="http://schemas.openxmlformats.org/markup-compatibility/2006">
              <mc:Choice xmlns:v="urn:schemas-microsoft-com:vml" Requires="v">
                <p:oleObj spid="_x0000_s41988" name="Equation" r:id="rId4" imgW="2234880" imgH="431640" progId="Equation.DSMT4">
                  <p:embed/>
                </p:oleObj>
              </mc:Choice>
              <mc:Fallback>
                <p:oleObj name="Equation" r:id="rId4" imgW="2234880" imgH="431640" progId="Equation.DSMT4">
                  <p:embed/>
                  <p:pic>
                    <p:nvPicPr>
                      <p:cNvPr id="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1" y="4572000"/>
                        <a:ext cx="5522259"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464261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rrowheads="1"/>
          </p:cNvSpPr>
          <p:nvPr>
            <p:ph type="title"/>
          </p:nvPr>
        </p:nvSpPr>
        <p:spPr/>
        <p:txBody>
          <a:bodyPr>
            <a:normAutofit/>
          </a:bodyPr>
          <a:lstStyle/>
          <a:p>
            <a:r>
              <a:rPr lang="en-US" sz="3200" dirty="0" err="1"/>
              <a:t>Penguat</a:t>
            </a:r>
            <a:r>
              <a:rPr lang="en-US" sz="3200" dirty="0"/>
              <a:t> </a:t>
            </a:r>
            <a:r>
              <a:rPr lang="en-US" sz="3200" dirty="0" err="1"/>
              <a:t>Pengurang</a:t>
            </a:r>
            <a:r>
              <a:rPr lang="en-US" sz="3200" dirty="0"/>
              <a:t/>
            </a:r>
            <a:br>
              <a:rPr lang="en-US" sz="3200" dirty="0"/>
            </a:br>
            <a:r>
              <a:rPr lang="en-US" sz="3200" dirty="0"/>
              <a:t>(</a:t>
            </a:r>
            <a:r>
              <a:rPr lang="en-US" sz="3200" dirty="0" err="1"/>
              <a:t>Differensial</a:t>
            </a:r>
            <a:r>
              <a:rPr lang="en-US" sz="3200" dirty="0"/>
              <a:t> Amplifier)</a:t>
            </a:r>
            <a:endParaRPr lang="en-US" sz="3200" dirty="0"/>
          </a:p>
        </p:txBody>
      </p:sp>
      <p:sp>
        <p:nvSpPr>
          <p:cNvPr id="6" name="Slide Number Placeholder 5"/>
          <p:cNvSpPr>
            <a:spLocks noGrp="1"/>
          </p:cNvSpPr>
          <p:nvPr>
            <p:ph type="sldNum" sz="quarter" idx="11"/>
          </p:nvPr>
        </p:nvSpPr>
        <p:spPr/>
        <p:txBody>
          <a:bodyPr/>
          <a:lstStyle/>
          <a:p>
            <a:fld id="{B6D43BF7-D0E7-4944-9DE7-B9C291B847CF}" type="slidenum">
              <a:rPr lang="en-US" smtClean="0"/>
              <a:pPr/>
              <a:t>34</a:t>
            </a:fld>
            <a:endParaRPr lang="en-US"/>
          </a:p>
        </p:txBody>
      </p:sp>
      <p:graphicFrame>
        <p:nvGraphicFramePr>
          <p:cNvPr id="7" name="Object 6"/>
          <p:cNvGraphicFramePr>
            <a:graphicFrameLocks noChangeAspect="1"/>
          </p:cNvGraphicFramePr>
          <p:nvPr/>
        </p:nvGraphicFramePr>
        <p:xfrm>
          <a:off x="5854700" y="3314700"/>
          <a:ext cx="482600" cy="228600"/>
        </p:xfrm>
        <a:graphic>
          <a:graphicData uri="http://schemas.openxmlformats.org/presentationml/2006/ole">
            <mc:AlternateContent xmlns:mc="http://schemas.openxmlformats.org/markup-compatibility/2006">
              <mc:Choice xmlns:v="urn:schemas-microsoft-com:vml" Requires="v">
                <p:oleObj spid="_x0000_s43014" name="Equation" r:id="rId3" imgW="482400" imgH="228600" progId="Equation.DSMT4">
                  <p:embed/>
                </p:oleObj>
              </mc:Choice>
              <mc:Fallback>
                <p:oleObj name="Equation" r:id="rId3" imgW="482400" imgH="228600" progId="Equation.DSMT4">
                  <p:embed/>
                  <p:pic>
                    <p:nvPicPr>
                      <p:cNvPr id="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4700" y="3314700"/>
                        <a:ext cx="4826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Picture 8" descr="Differential Amplifier Circuit"/>
          <p:cNvPicPr/>
          <p:nvPr/>
        </p:nvPicPr>
        <p:blipFill>
          <a:blip r:embed="rId5">
            <a:extLst>
              <a:ext uri="{28A0092B-C50C-407E-A947-70E740481C1C}">
                <a14:useLocalDpi xmlns:a14="http://schemas.microsoft.com/office/drawing/2010/main" val="0"/>
              </a:ext>
            </a:extLst>
          </a:blip>
          <a:srcRect/>
          <a:stretch>
            <a:fillRect/>
          </a:stretch>
        </p:blipFill>
        <p:spPr bwMode="auto">
          <a:xfrm>
            <a:off x="4114800" y="1676400"/>
            <a:ext cx="3581400" cy="2057400"/>
          </a:xfrm>
          <a:prstGeom prst="rect">
            <a:avLst/>
          </a:prstGeom>
          <a:noFill/>
          <a:ln>
            <a:noFill/>
          </a:ln>
        </p:spPr>
      </p:pic>
      <p:sp>
        <p:nvSpPr>
          <p:cNvPr id="45059" name="Rectangle 3"/>
          <p:cNvSpPr>
            <a:spLocks noChangeArrowheads="1"/>
          </p:cNvSpPr>
          <p:nvPr/>
        </p:nvSpPr>
        <p:spPr bwMode="auto">
          <a:xfrm>
            <a:off x="2057400" y="4114800"/>
            <a:ext cx="7620000" cy="33855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n-US" sz="1600" dirty="0" err="1">
                <a:latin typeface="Calibri" pitchFamily="34" charset="0"/>
                <a:ea typeface="Calibri" pitchFamily="34" charset="0"/>
                <a:cs typeface="Calibri" pitchFamily="34" charset="0"/>
              </a:rPr>
              <a:t>Maka</a:t>
            </a:r>
            <a:r>
              <a:rPr lang="en-US" sz="1600" dirty="0">
                <a:latin typeface="Calibri" pitchFamily="34" charset="0"/>
                <a:ea typeface="Calibri" pitchFamily="34" charset="0"/>
                <a:cs typeface="Calibri" pitchFamily="34" charset="0"/>
              </a:rPr>
              <a:t> </a:t>
            </a:r>
            <a:r>
              <a:rPr lang="en-US" sz="1600" dirty="0" err="1">
                <a:latin typeface="Calibri" pitchFamily="34" charset="0"/>
                <a:ea typeface="Calibri" pitchFamily="34" charset="0"/>
                <a:cs typeface="Calibri" pitchFamily="34" charset="0"/>
              </a:rPr>
              <a:t>rumus</a:t>
            </a:r>
            <a:r>
              <a:rPr lang="en-US" sz="1600" dirty="0">
                <a:latin typeface="Calibri" pitchFamily="34" charset="0"/>
                <a:ea typeface="Calibri" pitchFamily="34" charset="0"/>
                <a:cs typeface="Calibri" pitchFamily="34" charset="0"/>
              </a:rPr>
              <a:t> </a:t>
            </a:r>
            <a:r>
              <a:rPr lang="en-US" sz="1600" dirty="0" err="1">
                <a:latin typeface="Calibri" pitchFamily="34" charset="0"/>
                <a:ea typeface="Calibri" pitchFamily="34" charset="0"/>
                <a:cs typeface="Calibri" pitchFamily="34" charset="0"/>
              </a:rPr>
              <a:t>untuk</a:t>
            </a:r>
            <a:r>
              <a:rPr lang="en-US" sz="1600" dirty="0">
                <a:latin typeface="Calibri" pitchFamily="34" charset="0"/>
                <a:ea typeface="Calibri" pitchFamily="34" charset="0"/>
                <a:cs typeface="Calibri" pitchFamily="34" charset="0"/>
              </a:rPr>
              <a:t> </a:t>
            </a:r>
            <a:r>
              <a:rPr lang="en-US" sz="1600" dirty="0" err="1">
                <a:latin typeface="Calibri" pitchFamily="34" charset="0"/>
                <a:ea typeface="Calibri" pitchFamily="34" charset="0"/>
                <a:cs typeface="Calibri" pitchFamily="34" charset="0"/>
              </a:rPr>
              <a:t>mencari</a:t>
            </a:r>
            <a:r>
              <a:rPr lang="en-US" sz="1600" dirty="0">
                <a:latin typeface="Calibri" pitchFamily="34" charset="0"/>
                <a:ea typeface="Calibri" pitchFamily="34" charset="0"/>
                <a:cs typeface="Calibri" pitchFamily="34" charset="0"/>
              </a:rPr>
              <a:t> </a:t>
            </a:r>
            <a:r>
              <a:rPr lang="en-US" sz="1600" dirty="0" err="1">
                <a:latin typeface="Calibri" pitchFamily="34" charset="0"/>
                <a:ea typeface="Calibri" pitchFamily="34" charset="0"/>
                <a:cs typeface="Calibri" pitchFamily="34" charset="0"/>
              </a:rPr>
              <a:t>Vout</a:t>
            </a:r>
            <a:r>
              <a:rPr lang="en-US" sz="1600" dirty="0">
                <a:latin typeface="Calibri" pitchFamily="34" charset="0"/>
                <a:ea typeface="Calibri" pitchFamily="34" charset="0"/>
                <a:cs typeface="Calibri" pitchFamily="34" charset="0"/>
              </a:rPr>
              <a:t> </a:t>
            </a:r>
            <a:r>
              <a:rPr lang="en-US" sz="1600" dirty="0" err="1">
                <a:latin typeface="Calibri" pitchFamily="34" charset="0"/>
                <a:ea typeface="Calibri" pitchFamily="34" charset="0"/>
                <a:cs typeface="Calibri" pitchFamily="34" charset="0"/>
              </a:rPr>
              <a:t>pada</a:t>
            </a:r>
            <a:r>
              <a:rPr lang="en-US" sz="1600" dirty="0">
                <a:latin typeface="Calibri" pitchFamily="34" charset="0"/>
                <a:ea typeface="Calibri" pitchFamily="34" charset="0"/>
                <a:cs typeface="Calibri" pitchFamily="34" charset="0"/>
              </a:rPr>
              <a:t> </a:t>
            </a:r>
            <a:r>
              <a:rPr lang="en-US" sz="1600" dirty="0" err="1">
                <a:latin typeface="Calibri" pitchFamily="34" charset="0"/>
                <a:ea typeface="Calibri" pitchFamily="34" charset="0"/>
                <a:cs typeface="Calibri" pitchFamily="34" charset="0"/>
              </a:rPr>
              <a:t>rangkaian</a:t>
            </a:r>
            <a:r>
              <a:rPr lang="en-US" sz="1600" dirty="0">
                <a:latin typeface="Calibri" pitchFamily="34" charset="0"/>
                <a:ea typeface="Calibri" pitchFamily="34" charset="0"/>
                <a:cs typeface="Calibri" pitchFamily="34" charset="0"/>
              </a:rPr>
              <a:t> </a:t>
            </a:r>
            <a:r>
              <a:rPr lang="en-US" sz="1600" dirty="0" err="1">
                <a:latin typeface="Calibri" pitchFamily="34" charset="0"/>
                <a:ea typeface="Calibri" pitchFamily="34" charset="0"/>
                <a:cs typeface="Calibri" pitchFamily="34" charset="0"/>
              </a:rPr>
              <a:t>Differensial</a:t>
            </a:r>
            <a:r>
              <a:rPr lang="en-US" sz="1600" dirty="0">
                <a:latin typeface="Calibri" pitchFamily="34" charset="0"/>
                <a:ea typeface="Calibri" pitchFamily="34" charset="0"/>
                <a:cs typeface="Calibri" pitchFamily="34" charset="0"/>
              </a:rPr>
              <a:t> amplifier </a:t>
            </a:r>
            <a:r>
              <a:rPr lang="en-US" sz="1600" dirty="0" err="1">
                <a:latin typeface="Calibri" pitchFamily="34" charset="0"/>
                <a:ea typeface="Calibri" pitchFamily="34" charset="0"/>
                <a:cs typeface="Calibri" pitchFamily="34" charset="0"/>
              </a:rPr>
              <a:t>adalah</a:t>
            </a:r>
            <a:r>
              <a:rPr lang="en-US" sz="1600" dirty="0">
                <a:latin typeface="Calibri" pitchFamily="34" charset="0"/>
                <a:ea typeface="Calibri" pitchFamily="34" charset="0"/>
                <a:cs typeface="Calibri" pitchFamily="34" charset="0"/>
              </a:rPr>
              <a:t>:</a:t>
            </a:r>
            <a:endParaRPr lang="en-US" sz="1600" dirty="0">
              <a:latin typeface="Arial" pitchFamily="34" charset="0"/>
              <a:cs typeface="Arial" pitchFamily="34" charset="0"/>
            </a:endParaRPr>
          </a:p>
        </p:txBody>
      </p:sp>
      <p:sp>
        <p:nvSpPr>
          <p:cNvPr id="45061" name="Rectangle 5"/>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5060" name="Object 4"/>
          <p:cNvGraphicFramePr>
            <a:graphicFrameLocks noChangeAspect="1"/>
          </p:cNvGraphicFramePr>
          <p:nvPr/>
        </p:nvGraphicFramePr>
        <p:xfrm>
          <a:off x="2590801" y="4724400"/>
          <a:ext cx="5171661" cy="1066800"/>
        </p:xfrm>
        <a:graphic>
          <a:graphicData uri="http://schemas.openxmlformats.org/presentationml/2006/ole">
            <mc:AlternateContent xmlns:mc="http://schemas.openxmlformats.org/markup-compatibility/2006">
              <mc:Choice xmlns:v="urn:schemas-microsoft-com:vml" Requires="v">
                <p:oleObj spid="_x0000_s43015" name="Equation" r:id="rId6" imgW="2120900" imgH="431800" progId="Equation.DSMT4">
                  <p:embed/>
                </p:oleObj>
              </mc:Choice>
              <mc:Fallback>
                <p:oleObj name="Equation" r:id="rId6" imgW="2120900" imgH="431800" progId="Equation.DSMT4">
                  <p:embed/>
                  <p:pic>
                    <p:nvPicPr>
                      <p:cNvPr id="4506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0801" y="4724400"/>
                        <a:ext cx="5171661"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6828102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rrowheads="1"/>
          </p:cNvSpPr>
          <p:nvPr>
            <p:ph type="title"/>
          </p:nvPr>
        </p:nvSpPr>
        <p:spPr/>
        <p:txBody>
          <a:bodyPr>
            <a:normAutofit/>
          </a:bodyPr>
          <a:lstStyle/>
          <a:p>
            <a:r>
              <a:rPr lang="en-US" sz="3200" dirty="0" err="1"/>
              <a:t>Penguat</a:t>
            </a:r>
            <a:r>
              <a:rPr lang="en-US" sz="3200" dirty="0"/>
              <a:t> </a:t>
            </a:r>
            <a:r>
              <a:rPr lang="en-US" sz="3200" dirty="0" err="1"/>
              <a:t>Pengurang</a:t>
            </a:r>
            <a:r>
              <a:rPr lang="en-US" sz="3200" dirty="0"/>
              <a:t/>
            </a:r>
            <a:br>
              <a:rPr lang="en-US" sz="3200" dirty="0"/>
            </a:br>
            <a:r>
              <a:rPr lang="en-US" sz="3200" dirty="0"/>
              <a:t>(</a:t>
            </a:r>
            <a:r>
              <a:rPr lang="en-US" sz="3200" dirty="0" err="1"/>
              <a:t>Differensial</a:t>
            </a:r>
            <a:r>
              <a:rPr lang="en-US" sz="3200" dirty="0"/>
              <a:t> Amplifier)</a:t>
            </a:r>
            <a:endParaRPr lang="en-US" sz="3200" dirty="0"/>
          </a:p>
        </p:txBody>
      </p:sp>
      <p:sp>
        <p:nvSpPr>
          <p:cNvPr id="6" name="Slide Number Placeholder 5"/>
          <p:cNvSpPr>
            <a:spLocks noGrp="1"/>
          </p:cNvSpPr>
          <p:nvPr>
            <p:ph type="sldNum" sz="quarter" idx="11"/>
          </p:nvPr>
        </p:nvSpPr>
        <p:spPr/>
        <p:txBody>
          <a:bodyPr/>
          <a:lstStyle/>
          <a:p>
            <a:fld id="{B6D43BF7-D0E7-4944-9DE7-B9C291B847CF}" type="slidenum">
              <a:rPr lang="en-US" smtClean="0"/>
              <a:pPr/>
              <a:t>35</a:t>
            </a:fld>
            <a:endParaRPr lang="en-US"/>
          </a:p>
        </p:txBody>
      </p:sp>
      <p:sp>
        <p:nvSpPr>
          <p:cNvPr id="45061" name="Rectangle 5"/>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9156" name="Rectangle 4"/>
          <p:cNvSpPr>
            <a:spLocks noChangeArrowheads="1"/>
          </p:cNvSpPr>
          <p:nvPr/>
        </p:nvSpPr>
        <p:spPr bwMode="auto">
          <a:xfrm>
            <a:off x="1752600" y="1676400"/>
            <a:ext cx="76962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n-US" dirty="0" err="1">
                <a:latin typeface="Calibri" pitchFamily="34" charset="0"/>
                <a:ea typeface="Calibri" pitchFamily="34" charset="0"/>
                <a:cs typeface="Calibri" pitchFamily="34" charset="0"/>
              </a:rPr>
              <a:t>Ketika</a:t>
            </a:r>
            <a:r>
              <a:rPr lang="en-US" dirty="0">
                <a:latin typeface="Calibri" pitchFamily="34" charset="0"/>
                <a:ea typeface="Calibri" pitchFamily="34" charset="0"/>
                <a:cs typeface="Calibri" pitchFamily="34" charset="0"/>
              </a:rPr>
              <a:t> R1 = R3 </a:t>
            </a:r>
            <a:r>
              <a:rPr lang="en-US" dirty="0" err="1">
                <a:latin typeface="Calibri" pitchFamily="34" charset="0"/>
                <a:ea typeface="Calibri" pitchFamily="34" charset="0"/>
                <a:cs typeface="Calibri" pitchFamily="34" charset="0"/>
              </a:rPr>
              <a:t>dan</a:t>
            </a:r>
            <a:r>
              <a:rPr lang="en-US" dirty="0">
                <a:latin typeface="Calibri" pitchFamily="34" charset="0"/>
                <a:ea typeface="Calibri" pitchFamily="34" charset="0"/>
                <a:cs typeface="Calibri" pitchFamily="34" charset="0"/>
              </a:rPr>
              <a:t> R2 = R4  </a:t>
            </a:r>
            <a:r>
              <a:rPr lang="en-US" dirty="0" err="1">
                <a:latin typeface="Calibri" pitchFamily="34" charset="0"/>
                <a:ea typeface="Calibri" pitchFamily="34" charset="0"/>
                <a:cs typeface="Calibri" pitchFamily="34" charset="0"/>
              </a:rPr>
              <a:t>maka</a:t>
            </a:r>
            <a:r>
              <a:rPr lang="en-US" dirty="0">
                <a:latin typeface="Calibri" pitchFamily="34" charset="0"/>
                <a:ea typeface="Calibri" pitchFamily="34" charset="0"/>
                <a:cs typeface="Calibri" pitchFamily="34" charset="0"/>
              </a:rPr>
              <a:t> </a:t>
            </a:r>
            <a:r>
              <a:rPr lang="en-US" dirty="0" err="1">
                <a:latin typeface="Calibri" pitchFamily="34" charset="0"/>
                <a:ea typeface="Calibri" pitchFamily="34" charset="0"/>
                <a:cs typeface="Calibri" pitchFamily="34" charset="0"/>
              </a:rPr>
              <a:t>rumus</a:t>
            </a:r>
            <a:r>
              <a:rPr lang="en-US" dirty="0">
                <a:latin typeface="Calibri" pitchFamily="34" charset="0"/>
                <a:ea typeface="Calibri" pitchFamily="34" charset="0"/>
                <a:cs typeface="Calibri" pitchFamily="34" charset="0"/>
              </a:rPr>
              <a:t> </a:t>
            </a:r>
            <a:r>
              <a:rPr lang="en-US" dirty="0" err="1">
                <a:latin typeface="Calibri" pitchFamily="34" charset="0"/>
                <a:ea typeface="Calibri" pitchFamily="34" charset="0"/>
                <a:cs typeface="Calibri" pitchFamily="34" charset="0"/>
              </a:rPr>
              <a:t>diatas</a:t>
            </a:r>
            <a:r>
              <a:rPr lang="en-US" dirty="0">
                <a:latin typeface="Calibri" pitchFamily="34" charset="0"/>
                <a:ea typeface="Calibri" pitchFamily="34" charset="0"/>
                <a:cs typeface="Calibri" pitchFamily="34" charset="0"/>
              </a:rPr>
              <a:t> </a:t>
            </a:r>
            <a:r>
              <a:rPr lang="en-US" dirty="0" err="1">
                <a:latin typeface="Calibri" pitchFamily="34" charset="0"/>
                <a:ea typeface="Calibri" pitchFamily="34" charset="0"/>
                <a:cs typeface="Calibri" pitchFamily="34" charset="0"/>
              </a:rPr>
              <a:t>menjadi</a:t>
            </a:r>
            <a:r>
              <a:rPr lang="en-US" dirty="0">
                <a:latin typeface="Calibri" pitchFamily="34" charset="0"/>
                <a:ea typeface="Calibri" pitchFamily="34" charset="0"/>
                <a:cs typeface="Calibri" pitchFamily="34" charset="0"/>
              </a:rPr>
              <a:t>:</a:t>
            </a:r>
            <a:endParaRPr lang="en-US" dirty="0">
              <a:latin typeface="Arial" pitchFamily="34" charset="0"/>
              <a:cs typeface="Arial" pitchFamily="34" charset="0"/>
            </a:endParaRPr>
          </a:p>
        </p:txBody>
      </p:sp>
      <p:sp>
        <p:nvSpPr>
          <p:cNvPr id="49158" name="Rectangle 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9157" name="Object 5"/>
          <p:cNvGraphicFramePr>
            <a:graphicFrameLocks noChangeAspect="1"/>
          </p:cNvGraphicFramePr>
          <p:nvPr/>
        </p:nvGraphicFramePr>
        <p:xfrm>
          <a:off x="1981200" y="2209800"/>
          <a:ext cx="4038600" cy="4038600"/>
        </p:xfrm>
        <a:graphic>
          <a:graphicData uri="http://schemas.openxmlformats.org/presentationml/2006/ole">
            <mc:AlternateContent xmlns:mc="http://schemas.openxmlformats.org/markup-compatibility/2006">
              <mc:Choice xmlns:v="urn:schemas-microsoft-com:vml" Requires="v">
                <p:oleObj spid="_x0000_s44036" name="Equation" r:id="rId3" imgW="2235200" imgH="2222500" progId="Equation.DSMT4">
                  <p:embed/>
                </p:oleObj>
              </mc:Choice>
              <mc:Fallback>
                <p:oleObj name="Equation" r:id="rId3" imgW="2235200" imgH="2222500" progId="Equation.DSMT4">
                  <p:embed/>
                  <p:pic>
                    <p:nvPicPr>
                      <p:cNvPr id="4915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209800"/>
                        <a:ext cx="4038600" cy="403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4577300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rrowheads="1"/>
          </p:cNvSpPr>
          <p:nvPr>
            <p:ph type="title"/>
          </p:nvPr>
        </p:nvSpPr>
        <p:spPr/>
        <p:txBody>
          <a:bodyPr/>
          <a:lstStyle/>
          <a:p>
            <a:r>
              <a:rPr lang="en-US"/>
              <a:t>Integrator</a:t>
            </a:r>
          </a:p>
        </p:txBody>
      </p:sp>
      <p:pic>
        <p:nvPicPr>
          <p:cNvPr id="59396" name="Picture 4"/>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133600" y="1524002"/>
            <a:ext cx="3657600" cy="1752599"/>
          </a:xfrm>
        </p:spPr>
      </p:pic>
      <p:pic>
        <p:nvPicPr>
          <p:cNvPr id="5939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648200"/>
            <a:ext cx="3129531"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399"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1" y="4419600"/>
            <a:ext cx="2579627"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4294967295"/>
          </p:nvPr>
        </p:nvSpPr>
        <p:spPr/>
        <p:txBody>
          <a:bodyPr>
            <a:normAutofit fontScale="25000" lnSpcReduction="20000"/>
          </a:bodyPr>
          <a:lstStyle/>
          <a:p>
            <a:fld id="{30FF78D7-7CA0-44FD-8733-19F49D683D81}" type="slidenum">
              <a:rPr lang="en-US" smtClean="0"/>
              <a:pPr/>
              <a:t>36</a:t>
            </a:fld>
            <a:endParaRPr lang="en-US"/>
          </a:p>
        </p:txBody>
      </p:sp>
      <p:sp>
        <p:nvSpPr>
          <p:cNvPr id="8" name="Rectangle 7"/>
          <p:cNvSpPr/>
          <p:nvPr/>
        </p:nvSpPr>
        <p:spPr>
          <a:xfrm>
            <a:off x="1752600" y="3276601"/>
            <a:ext cx="5181600" cy="1200329"/>
          </a:xfrm>
          <a:prstGeom prst="rect">
            <a:avLst/>
          </a:prstGeom>
        </p:spPr>
        <p:txBody>
          <a:bodyPr wrap="square">
            <a:spAutoFit/>
          </a:bodyPr>
          <a:lstStyle/>
          <a:p>
            <a:pPr algn="just"/>
            <a:r>
              <a:rPr lang="en-US" dirty="0" err="1"/>
              <a:t>Fungsi</a:t>
            </a:r>
            <a:r>
              <a:rPr lang="en-US" dirty="0"/>
              <a:t> </a:t>
            </a:r>
            <a:r>
              <a:rPr lang="en-US" dirty="0" err="1"/>
              <a:t>dari</a:t>
            </a:r>
            <a:r>
              <a:rPr lang="en-US" dirty="0"/>
              <a:t> </a:t>
            </a:r>
            <a:r>
              <a:rPr lang="en-US" dirty="0" err="1"/>
              <a:t>rangkaian</a:t>
            </a:r>
            <a:r>
              <a:rPr lang="en-US" dirty="0"/>
              <a:t> integrator </a:t>
            </a:r>
            <a:r>
              <a:rPr lang="en-US" dirty="0" err="1"/>
              <a:t>adalah</a:t>
            </a:r>
            <a:r>
              <a:rPr lang="en-US" dirty="0"/>
              <a:t> </a:t>
            </a:r>
            <a:r>
              <a:rPr lang="en-US" dirty="0" err="1"/>
              <a:t>sebagai</a:t>
            </a:r>
            <a:r>
              <a:rPr lang="en-US" dirty="0"/>
              <a:t> </a:t>
            </a:r>
            <a:r>
              <a:rPr lang="en-US" dirty="0" err="1"/>
              <a:t>pengubah</a:t>
            </a:r>
            <a:r>
              <a:rPr lang="en-US" dirty="0"/>
              <a:t> </a:t>
            </a:r>
            <a:r>
              <a:rPr lang="en-US" dirty="0" err="1"/>
              <a:t>tegangan</a:t>
            </a:r>
            <a:r>
              <a:rPr lang="en-US" dirty="0"/>
              <a:t> </a:t>
            </a:r>
            <a:r>
              <a:rPr lang="en-US" dirty="0" err="1"/>
              <a:t>kotak</a:t>
            </a:r>
            <a:r>
              <a:rPr lang="en-US" dirty="0"/>
              <a:t> </a:t>
            </a:r>
            <a:r>
              <a:rPr lang="en-US" dirty="0" err="1"/>
              <a:t>menjadi</a:t>
            </a:r>
            <a:r>
              <a:rPr lang="en-US" dirty="0"/>
              <a:t> </a:t>
            </a:r>
            <a:r>
              <a:rPr lang="en-US" dirty="0" err="1"/>
              <a:t>tegangan</a:t>
            </a:r>
            <a:r>
              <a:rPr lang="en-US" dirty="0"/>
              <a:t> </a:t>
            </a:r>
            <a:r>
              <a:rPr lang="en-US" dirty="0" err="1"/>
              <a:t>segitiga</a:t>
            </a:r>
            <a:r>
              <a:rPr lang="en-US" dirty="0"/>
              <a:t>, </a:t>
            </a:r>
            <a:r>
              <a:rPr lang="en-US" dirty="0" err="1"/>
              <a:t>atau</a:t>
            </a:r>
            <a:r>
              <a:rPr lang="en-US" dirty="0"/>
              <a:t> </a:t>
            </a:r>
            <a:r>
              <a:rPr lang="en-US" dirty="0" err="1"/>
              <a:t>dapat</a:t>
            </a:r>
            <a:r>
              <a:rPr lang="en-US" dirty="0"/>
              <a:t> </a:t>
            </a:r>
            <a:r>
              <a:rPr lang="en-US" dirty="0" err="1"/>
              <a:t>juga</a:t>
            </a:r>
            <a:r>
              <a:rPr lang="en-US" dirty="0"/>
              <a:t> </a:t>
            </a:r>
            <a:r>
              <a:rPr lang="en-US" dirty="0" err="1"/>
              <a:t>digunakan</a:t>
            </a:r>
            <a:r>
              <a:rPr lang="en-US" dirty="0"/>
              <a:t> </a:t>
            </a:r>
            <a:r>
              <a:rPr lang="en-US" dirty="0" err="1"/>
              <a:t>sebagai</a:t>
            </a:r>
            <a:r>
              <a:rPr lang="en-US" dirty="0"/>
              <a:t> </a:t>
            </a:r>
            <a:r>
              <a:rPr lang="en-US" dirty="0" err="1"/>
              <a:t>rangkaian</a:t>
            </a:r>
            <a:r>
              <a:rPr lang="en-US" dirty="0"/>
              <a:t> filter lulus </a:t>
            </a:r>
            <a:r>
              <a:rPr lang="en-US" dirty="0" err="1"/>
              <a:t>bawah</a:t>
            </a:r>
            <a:r>
              <a:rPr lang="en-US" dirty="0"/>
              <a:t>- LPF (low pass filter) </a:t>
            </a:r>
          </a:p>
        </p:txBody>
      </p:sp>
      <p:pic>
        <p:nvPicPr>
          <p:cNvPr id="61442" name="Picture 2"/>
          <p:cNvPicPr>
            <a:picLocks noChangeAspect="1" noChangeArrowheads="1"/>
          </p:cNvPicPr>
          <p:nvPr/>
        </p:nvPicPr>
        <p:blipFill>
          <a:blip r:embed="rId5"/>
          <a:srcRect/>
          <a:stretch>
            <a:fillRect/>
          </a:stretch>
        </p:blipFill>
        <p:spPr bwMode="auto">
          <a:xfrm>
            <a:off x="7467600" y="1513114"/>
            <a:ext cx="2819400" cy="3058886"/>
          </a:xfrm>
          <a:prstGeom prst="rect">
            <a:avLst/>
          </a:prstGeom>
          <a:noFill/>
          <a:ln w="9525">
            <a:noFill/>
            <a:miter lim="800000"/>
            <a:headEnd/>
            <a:tailEnd/>
          </a:ln>
          <a:effectLst/>
        </p:spPr>
      </p:pic>
    </p:spTree>
    <p:extLst>
      <p:ext uri="{BB962C8B-B14F-4D97-AF65-F5344CB8AC3E}">
        <p14:creationId xmlns:p14="http://schemas.microsoft.com/office/powerpoint/2010/main" val="60325010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4"/>
          <p:cNvSpPr>
            <a:spLocks noGrp="1" noRot="1" noChangeArrowheads="1"/>
          </p:cNvSpPr>
          <p:nvPr>
            <p:ph type="title" sz="quarter"/>
          </p:nvPr>
        </p:nvSpPr>
        <p:spPr/>
        <p:txBody>
          <a:bodyPr/>
          <a:lstStyle/>
          <a:p>
            <a:r>
              <a:rPr lang="en-US"/>
              <a:t>Practical Integrator</a:t>
            </a:r>
          </a:p>
        </p:txBody>
      </p:sp>
      <p:pic>
        <p:nvPicPr>
          <p:cNvPr id="61445" name="Picture 5"/>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p:pic>
      <p:pic>
        <p:nvPicPr>
          <p:cNvPr id="61446" name="Picture 6"/>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7162800" y="2057400"/>
            <a:ext cx="2438400" cy="1320800"/>
          </a:xfrm>
        </p:spPr>
      </p:pic>
      <p:pic>
        <p:nvPicPr>
          <p:cNvPr id="61449"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3505200"/>
            <a:ext cx="2396358"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1"/>
          </p:nvPr>
        </p:nvSpPr>
        <p:spPr/>
        <p:txBody>
          <a:bodyPr/>
          <a:lstStyle/>
          <a:p>
            <a:fld id="{F7A2EDAB-DCB2-471C-8E12-878E18D4A728}" type="slidenum">
              <a:rPr lang="en-US" smtClean="0"/>
              <a:pPr/>
              <a:t>37</a:t>
            </a:fld>
            <a:endParaRPr lang="en-US"/>
          </a:p>
        </p:txBody>
      </p:sp>
    </p:spTree>
    <p:extLst>
      <p:ext uri="{BB962C8B-B14F-4D97-AF65-F5344CB8AC3E}">
        <p14:creationId xmlns:p14="http://schemas.microsoft.com/office/powerpoint/2010/main" val="404652072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5" name="Rectangle 7"/>
          <p:cNvSpPr>
            <a:spLocks noGrp="1" noRot="1" noChangeArrowheads="1"/>
          </p:cNvSpPr>
          <p:nvPr>
            <p:ph type="title"/>
          </p:nvPr>
        </p:nvSpPr>
        <p:spPr/>
        <p:txBody>
          <a:bodyPr/>
          <a:lstStyle/>
          <a:p>
            <a:r>
              <a:rPr lang="en-US"/>
              <a:t>Differensiator</a:t>
            </a:r>
          </a:p>
        </p:txBody>
      </p:sp>
      <p:pic>
        <p:nvPicPr>
          <p:cNvPr id="63496" name="Picture 8"/>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981200" y="1600200"/>
            <a:ext cx="4038600" cy="1524000"/>
          </a:xfrm>
        </p:spPr>
      </p:pic>
      <p:pic>
        <p:nvPicPr>
          <p:cNvPr id="63497" name="Picture 9"/>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1828800" y="4648200"/>
            <a:ext cx="2895600" cy="1568450"/>
          </a:xfrm>
        </p:spPr>
      </p:pic>
      <p:pic>
        <p:nvPicPr>
          <p:cNvPr id="6349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4495800"/>
            <a:ext cx="2260492"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1"/>
          </p:nvPr>
        </p:nvSpPr>
        <p:spPr/>
        <p:txBody>
          <a:bodyPr/>
          <a:lstStyle/>
          <a:p>
            <a:fld id="{201AEAA9-8C65-42A5-8C90-A2F54C079198}" type="slidenum">
              <a:rPr lang="en-US" smtClean="0"/>
              <a:pPr/>
              <a:t>38</a:t>
            </a:fld>
            <a:endParaRPr lang="en-US"/>
          </a:p>
        </p:txBody>
      </p:sp>
      <p:sp>
        <p:nvSpPr>
          <p:cNvPr id="8" name="Rectangle 7"/>
          <p:cNvSpPr/>
          <p:nvPr/>
        </p:nvSpPr>
        <p:spPr>
          <a:xfrm>
            <a:off x="1752600" y="3200401"/>
            <a:ext cx="5334000" cy="1200329"/>
          </a:xfrm>
          <a:prstGeom prst="rect">
            <a:avLst/>
          </a:prstGeom>
        </p:spPr>
        <p:txBody>
          <a:bodyPr wrap="square">
            <a:spAutoFit/>
          </a:bodyPr>
          <a:lstStyle/>
          <a:p>
            <a:pPr algn="just"/>
            <a:r>
              <a:rPr lang="en-US" dirty="0" err="1"/>
              <a:t>Fungsi</a:t>
            </a:r>
            <a:r>
              <a:rPr lang="en-US" dirty="0"/>
              <a:t> </a:t>
            </a:r>
            <a:r>
              <a:rPr lang="en-US" dirty="0" err="1"/>
              <a:t>dari</a:t>
            </a:r>
            <a:r>
              <a:rPr lang="en-US" dirty="0"/>
              <a:t> </a:t>
            </a:r>
            <a:r>
              <a:rPr lang="en-US" dirty="0" err="1"/>
              <a:t>rangkaian</a:t>
            </a:r>
            <a:r>
              <a:rPr lang="en-US" dirty="0"/>
              <a:t> </a:t>
            </a:r>
            <a:r>
              <a:rPr lang="en-US" dirty="0" err="1"/>
              <a:t>diferensiator</a:t>
            </a:r>
            <a:r>
              <a:rPr lang="en-US" dirty="0"/>
              <a:t> </a:t>
            </a:r>
            <a:r>
              <a:rPr lang="en-US" dirty="0" err="1"/>
              <a:t>adalah</a:t>
            </a:r>
            <a:r>
              <a:rPr lang="en-US" dirty="0"/>
              <a:t> </a:t>
            </a:r>
            <a:r>
              <a:rPr lang="en-US" dirty="0" err="1"/>
              <a:t>untukmengubah</a:t>
            </a:r>
            <a:r>
              <a:rPr lang="en-US" dirty="0"/>
              <a:t> </a:t>
            </a:r>
            <a:r>
              <a:rPr lang="en-US" dirty="0" err="1"/>
              <a:t>tegangan</a:t>
            </a:r>
            <a:r>
              <a:rPr lang="en-US" dirty="0"/>
              <a:t> </a:t>
            </a:r>
            <a:r>
              <a:rPr lang="en-US" dirty="0" err="1"/>
              <a:t>segitiga</a:t>
            </a:r>
            <a:r>
              <a:rPr lang="en-US" dirty="0"/>
              <a:t> </a:t>
            </a:r>
            <a:r>
              <a:rPr lang="en-US" dirty="0" err="1"/>
              <a:t>menjadi</a:t>
            </a:r>
            <a:r>
              <a:rPr lang="en-US" dirty="0"/>
              <a:t> </a:t>
            </a:r>
            <a:r>
              <a:rPr lang="en-US" dirty="0" err="1"/>
              <a:t>tegangan</a:t>
            </a:r>
            <a:r>
              <a:rPr lang="en-US" dirty="0"/>
              <a:t> </a:t>
            </a:r>
            <a:r>
              <a:rPr lang="en-US" dirty="0" err="1"/>
              <a:t>persegi</a:t>
            </a:r>
            <a:r>
              <a:rPr lang="en-US" dirty="0"/>
              <a:t> (</a:t>
            </a:r>
            <a:r>
              <a:rPr lang="en-US" dirty="0" err="1"/>
              <a:t>kotak</a:t>
            </a:r>
            <a:r>
              <a:rPr lang="en-US" dirty="0"/>
              <a:t>), </a:t>
            </a:r>
            <a:r>
              <a:rPr lang="en-US" dirty="0" err="1"/>
              <a:t>ataudapat</a:t>
            </a:r>
            <a:r>
              <a:rPr lang="en-US" dirty="0"/>
              <a:t> </a:t>
            </a:r>
            <a:r>
              <a:rPr lang="en-US" dirty="0" err="1"/>
              <a:t>juga</a:t>
            </a:r>
            <a:r>
              <a:rPr lang="en-US" dirty="0"/>
              <a:t> </a:t>
            </a:r>
            <a:r>
              <a:rPr lang="en-US" dirty="0" err="1"/>
              <a:t>digunakan</a:t>
            </a:r>
            <a:r>
              <a:rPr lang="en-US" dirty="0"/>
              <a:t> </a:t>
            </a:r>
            <a:r>
              <a:rPr lang="en-US" dirty="0" err="1"/>
              <a:t>sebagai</a:t>
            </a:r>
            <a:r>
              <a:rPr lang="en-US" dirty="0"/>
              <a:t> </a:t>
            </a:r>
            <a:r>
              <a:rPr lang="en-US" dirty="0" err="1"/>
              <a:t>rangkaian</a:t>
            </a:r>
            <a:r>
              <a:rPr lang="en-US" dirty="0"/>
              <a:t> filter lulus </a:t>
            </a:r>
            <a:r>
              <a:rPr lang="en-US" dirty="0" err="1"/>
              <a:t>atas</a:t>
            </a:r>
            <a:r>
              <a:rPr lang="en-US" dirty="0"/>
              <a:t>-HPF-high pass filter.</a:t>
            </a:r>
          </a:p>
        </p:txBody>
      </p:sp>
      <p:pic>
        <p:nvPicPr>
          <p:cNvPr id="59393" name="Picture 1"/>
          <p:cNvPicPr>
            <a:picLocks noChangeAspect="1" noChangeArrowheads="1"/>
          </p:cNvPicPr>
          <p:nvPr/>
        </p:nvPicPr>
        <p:blipFill>
          <a:blip r:embed="rId5"/>
          <a:srcRect/>
          <a:stretch>
            <a:fillRect/>
          </a:stretch>
        </p:blipFill>
        <p:spPr bwMode="auto">
          <a:xfrm>
            <a:off x="7391400" y="1676401"/>
            <a:ext cx="3048000" cy="3802035"/>
          </a:xfrm>
          <a:prstGeom prst="rect">
            <a:avLst/>
          </a:prstGeom>
          <a:noFill/>
          <a:ln w="9525">
            <a:noFill/>
            <a:miter lim="800000"/>
            <a:headEnd/>
            <a:tailEnd/>
          </a:ln>
          <a:effectLst/>
        </p:spPr>
      </p:pic>
    </p:spTree>
    <p:extLst>
      <p:ext uri="{BB962C8B-B14F-4D97-AF65-F5344CB8AC3E}">
        <p14:creationId xmlns:p14="http://schemas.microsoft.com/office/powerpoint/2010/main" val="287501265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err="1" smtClean="0"/>
              <a:t>Contoh</a:t>
            </a:r>
            <a:r>
              <a:rPr lang="en-US" b="1" u="sng" dirty="0" smtClean="0"/>
              <a:t> </a:t>
            </a:r>
            <a:r>
              <a:rPr lang="en-US" b="1" u="sng" dirty="0" err="1" smtClean="0"/>
              <a:t>soal</a:t>
            </a:r>
            <a:r>
              <a:rPr lang="en-US" b="1" u="sng" dirty="0" smtClean="0"/>
              <a:t> 1: </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39</a:t>
            </a:fld>
            <a:endParaRPr lang="en-US"/>
          </a:p>
        </p:txBody>
      </p:sp>
      <p:pic>
        <p:nvPicPr>
          <p:cNvPr id="7" name="Picture 6" descr="Summing Op-amp Circuit"/>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600200"/>
            <a:ext cx="3276600" cy="2286000"/>
          </a:xfrm>
          <a:prstGeom prst="rect">
            <a:avLst/>
          </a:prstGeom>
          <a:noFill/>
          <a:ln>
            <a:noFill/>
          </a:ln>
        </p:spPr>
      </p:pic>
      <p:sp>
        <p:nvSpPr>
          <p:cNvPr id="8" name="Content Placeholder 4"/>
          <p:cNvSpPr>
            <a:spLocks noGrp="1"/>
          </p:cNvSpPr>
          <p:nvPr>
            <p:ph sz="half" idx="3"/>
          </p:nvPr>
        </p:nvSpPr>
        <p:spPr>
          <a:xfrm>
            <a:off x="1981200" y="3810000"/>
            <a:ext cx="3429000" cy="2057400"/>
          </a:xfrm>
        </p:spPr>
        <p:txBody>
          <a:bodyPr/>
          <a:lstStyle/>
          <a:p>
            <a:pPr>
              <a:buNone/>
            </a:pPr>
            <a:r>
              <a:rPr lang="en-US" sz="2000" dirty="0" err="1"/>
              <a:t>Jika</a:t>
            </a:r>
            <a:r>
              <a:rPr lang="en-US" sz="2000" dirty="0"/>
              <a:t> V</a:t>
            </a:r>
            <a:r>
              <a:rPr lang="en-US" sz="2000" baseline="-25000" dirty="0"/>
              <a:t>1</a:t>
            </a:r>
            <a:r>
              <a:rPr lang="en-US" sz="2000" dirty="0"/>
              <a:t> = 2mV, V</a:t>
            </a:r>
            <a:r>
              <a:rPr lang="en-US" sz="2000" baseline="-25000" dirty="0"/>
              <a:t>2</a:t>
            </a:r>
            <a:r>
              <a:rPr lang="en-US" sz="2000" dirty="0"/>
              <a:t> = 5mV, R</a:t>
            </a:r>
            <a:r>
              <a:rPr lang="en-US" sz="2000" baseline="-25000" dirty="0"/>
              <a:t>1</a:t>
            </a:r>
            <a:r>
              <a:rPr lang="en-US" sz="2000" dirty="0"/>
              <a:t>=1KΩ, R</a:t>
            </a:r>
            <a:r>
              <a:rPr lang="en-US" sz="2000" baseline="-25000" dirty="0"/>
              <a:t>2</a:t>
            </a:r>
            <a:r>
              <a:rPr lang="en-US" sz="2000" dirty="0"/>
              <a:t> = 2KΩ, R</a:t>
            </a:r>
            <a:r>
              <a:rPr lang="en-US" sz="2000" baseline="-25000" dirty="0"/>
              <a:t>F</a:t>
            </a:r>
            <a:r>
              <a:rPr lang="en-US" sz="2000" dirty="0"/>
              <a:t> = 10KΩ </a:t>
            </a:r>
            <a:r>
              <a:rPr lang="en-US" sz="2000" dirty="0" err="1"/>
              <a:t>maka</a:t>
            </a:r>
            <a:r>
              <a:rPr lang="en-US" sz="2000" dirty="0"/>
              <a:t> </a:t>
            </a:r>
            <a:r>
              <a:rPr lang="en-US" sz="2000" dirty="0" err="1"/>
              <a:t>Vout</a:t>
            </a:r>
            <a:r>
              <a:rPr lang="en-US" sz="2000" dirty="0"/>
              <a:t> =…?</a:t>
            </a:r>
          </a:p>
          <a:p>
            <a:endParaRPr lang="en-US" dirty="0"/>
          </a:p>
        </p:txBody>
      </p:sp>
      <p:pic>
        <p:nvPicPr>
          <p:cNvPr id="50178" name="Picture 2"/>
          <p:cNvPicPr>
            <a:picLocks noChangeAspect="1" noChangeArrowheads="1"/>
          </p:cNvPicPr>
          <p:nvPr/>
        </p:nvPicPr>
        <p:blipFill>
          <a:blip r:embed="rId3"/>
          <a:srcRect/>
          <a:stretch>
            <a:fillRect/>
          </a:stretch>
        </p:blipFill>
        <p:spPr bwMode="auto">
          <a:xfrm>
            <a:off x="5288420" y="1828800"/>
            <a:ext cx="4998580" cy="3581400"/>
          </a:xfrm>
          <a:prstGeom prst="rect">
            <a:avLst/>
          </a:prstGeom>
          <a:noFill/>
          <a:ln w="9525">
            <a:solidFill>
              <a:schemeClr val="accent1"/>
            </a:solidFill>
            <a:miter lim="800000"/>
            <a:headEnd/>
            <a:tailEnd/>
          </a:ln>
          <a:effectLst/>
        </p:spPr>
      </p:pic>
    </p:spTree>
    <p:extLst>
      <p:ext uri="{BB962C8B-B14F-4D97-AF65-F5344CB8AC3E}">
        <p14:creationId xmlns:p14="http://schemas.microsoft.com/office/powerpoint/2010/main" val="4035403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blinds(horizontal)">
                                      <p:cBhvr>
                                        <p:cTn id="7" dur="500"/>
                                        <p:tgtEl>
                                          <p:spTgt spid="50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err="1" smtClean="0"/>
              <a:t>Contoh</a:t>
            </a:r>
            <a:r>
              <a:rPr lang="en-US" b="1" u="sng" dirty="0" smtClean="0"/>
              <a:t> </a:t>
            </a:r>
            <a:r>
              <a:rPr lang="en-US" b="1" u="sng" dirty="0" err="1" smtClean="0"/>
              <a:t>soal</a:t>
            </a:r>
            <a:r>
              <a:rPr lang="en-US" b="1" u="sng" dirty="0" smtClean="0"/>
              <a:t> 2: </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40</a:t>
            </a:fld>
            <a:endParaRPr lang="en-US"/>
          </a:p>
        </p:txBody>
      </p:sp>
      <p:sp>
        <p:nvSpPr>
          <p:cNvPr id="8" name="Content Placeholder 4"/>
          <p:cNvSpPr>
            <a:spLocks noGrp="1"/>
          </p:cNvSpPr>
          <p:nvPr>
            <p:ph sz="half" idx="3"/>
          </p:nvPr>
        </p:nvSpPr>
        <p:spPr>
          <a:xfrm>
            <a:off x="1981200" y="5562600"/>
            <a:ext cx="3962400" cy="762000"/>
          </a:xfrm>
        </p:spPr>
        <p:txBody>
          <a:bodyPr>
            <a:normAutofit/>
          </a:bodyPr>
          <a:lstStyle/>
          <a:p>
            <a:pPr>
              <a:buNone/>
            </a:pPr>
            <a:r>
              <a:rPr lang="en-US" sz="1800" dirty="0" err="1"/>
              <a:t>Diketahui</a:t>
            </a:r>
            <a:r>
              <a:rPr lang="en-US" sz="1800" dirty="0"/>
              <a:t>: R</a:t>
            </a:r>
            <a:r>
              <a:rPr lang="en-US" sz="1800" baseline="-25000" dirty="0"/>
              <a:t>1</a:t>
            </a:r>
            <a:r>
              <a:rPr lang="en-US" sz="1800" dirty="0"/>
              <a:t> = 2KΩ, </a:t>
            </a:r>
            <a:r>
              <a:rPr lang="en-US" sz="1800" dirty="0" err="1"/>
              <a:t>R</a:t>
            </a:r>
            <a:r>
              <a:rPr lang="en-US" sz="1800" baseline="-25000" dirty="0" err="1"/>
              <a:t>f</a:t>
            </a:r>
            <a:r>
              <a:rPr lang="en-US" sz="1800" dirty="0"/>
              <a:t> = 10KΩ</a:t>
            </a:r>
          </a:p>
          <a:p>
            <a:pPr>
              <a:buNone/>
            </a:pPr>
            <a:r>
              <a:rPr lang="en-US" sz="1800" dirty="0"/>
              <a:t>V</a:t>
            </a:r>
            <a:r>
              <a:rPr lang="en-US" sz="1800" baseline="-25000" dirty="0"/>
              <a:t>1 </a:t>
            </a:r>
            <a:r>
              <a:rPr lang="en-US" sz="1800" dirty="0"/>
              <a:t>= 100mV, V</a:t>
            </a:r>
            <a:r>
              <a:rPr lang="en-US" sz="1800" baseline="-25000" dirty="0"/>
              <a:t>2 </a:t>
            </a:r>
            <a:r>
              <a:rPr lang="en-US" sz="1800" dirty="0"/>
              <a:t>= 200mV; </a:t>
            </a:r>
            <a:r>
              <a:rPr lang="en-US" sz="1800" dirty="0" err="1"/>
              <a:t>Vout</a:t>
            </a:r>
            <a:r>
              <a:rPr lang="en-US" sz="1800" dirty="0"/>
              <a:t>=…?</a:t>
            </a:r>
          </a:p>
          <a:p>
            <a:endParaRPr lang="en-US" dirty="0"/>
          </a:p>
        </p:txBody>
      </p:sp>
      <p:pic>
        <p:nvPicPr>
          <p:cNvPr id="9" name="Picture 8"/>
          <p:cNvPicPr/>
          <p:nvPr/>
        </p:nvPicPr>
        <p:blipFill>
          <a:blip r:embed="rId2"/>
          <a:stretch>
            <a:fillRect/>
          </a:stretch>
        </p:blipFill>
        <p:spPr>
          <a:xfrm>
            <a:off x="1670998" y="1524000"/>
            <a:ext cx="4501202" cy="3810000"/>
          </a:xfrm>
          <a:prstGeom prst="rect">
            <a:avLst/>
          </a:prstGeom>
        </p:spPr>
      </p:pic>
      <p:pic>
        <p:nvPicPr>
          <p:cNvPr id="51203" name="Picture 3"/>
          <p:cNvPicPr>
            <a:picLocks noChangeAspect="1" noChangeArrowheads="1"/>
          </p:cNvPicPr>
          <p:nvPr/>
        </p:nvPicPr>
        <p:blipFill>
          <a:blip r:embed="rId3"/>
          <a:srcRect/>
          <a:stretch>
            <a:fillRect/>
          </a:stretch>
        </p:blipFill>
        <p:spPr bwMode="auto">
          <a:xfrm>
            <a:off x="6629400" y="2057400"/>
            <a:ext cx="3732028" cy="4114800"/>
          </a:xfrm>
          <a:prstGeom prst="rect">
            <a:avLst/>
          </a:prstGeom>
          <a:noFill/>
          <a:ln w="9525">
            <a:noFill/>
            <a:miter lim="800000"/>
            <a:headEnd/>
            <a:tailEnd/>
          </a:ln>
          <a:effectLst/>
        </p:spPr>
      </p:pic>
    </p:spTree>
    <p:extLst>
      <p:ext uri="{BB962C8B-B14F-4D97-AF65-F5344CB8AC3E}">
        <p14:creationId xmlns:p14="http://schemas.microsoft.com/office/powerpoint/2010/main" val="4241786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box(in)">
                                      <p:cBhvr>
                                        <p:cTn id="7" dur="500"/>
                                        <p:tgtEl>
                                          <p:spTgt spid="5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err="1" smtClean="0"/>
              <a:t>Contoh</a:t>
            </a:r>
            <a:r>
              <a:rPr lang="en-US" b="1" u="sng" dirty="0" smtClean="0"/>
              <a:t> </a:t>
            </a:r>
            <a:r>
              <a:rPr lang="en-US" b="1" u="sng" dirty="0" err="1" smtClean="0"/>
              <a:t>soal</a:t>
            </a:r>
            <a:r>
              <a:rPr lang="en-US" b="1" u="sng" dirty="0" smtClean="0"/>
              <a:t> 3: </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41</a:t>
            </a:fld>
            <a:endParaRPr lang="en-US"/>
          </a:p>
        </p:txBody>
      </p:sp>
      <p:sp>
        <p:nvSpPr>
          <p:cNvPr id="8" name="Content Placeholder 4"/>
          <p:cNvSpPr>
            <a:spLocks noGrp="1"/>
          </p:cNvSpPr>
          <p:nvPr>
            <p:ph sz="half" idx="3"/>
          </p:nvPr>
        </p:nvSpPr>
        <p:spPr>
          <a:xfrm>
            <a:off x="1981200" y="5562600"/>
            <a:ext cx="3962400" cy="762000"/>
          </a:xfrm>
        </p:spPr>
        <p:txBody>
          <a:bodyPr>
            <a:normAutofit/>
          </a:bodyPr>
          <a:lstStyle/>
          <a:p>
            <a:pPr>
              <a:buNone/>
            </a:pPr>
            <a:r>
              <a:rPr lang="en-US" sz="1800" dirty="0" err="1"/>
              <a:t>Diketahui</a:t>
            </a:r>
            <a:r>
              <a:rPr lang="en-US" sz="1800" dirty="0"/>
              <a:t>: R</a:t>
            </a:r>
            <a:r>
              <a:rPr lang="en-US" sz="1800" baseline="-25000" dirty="0"/>
              <a:t>1</a:t>
            </a:r>
            <a:r>
              <a:rPr lang="en-US" sz="1800" dirty="0"/>
              <a:t> = 2KΩ, </a:t>
            </a:r>
            <a:r>
              <a:rPr lang="en-US" sz="1800" dirty="0" err="1"/>
              <a:t>R</a:t>
            </a:r>
            <a:r>
              <a:rPr lang="en-US" sz="1800" baseline="-25000" dirty="0" err="1"/>
              <a:t>f</a:t>
            </a:r>
            <a:r>
              <a:rPr lang="en-US" sz="1800" dirty="0"/>
              <a:t> = 10KΩ</a:t>
            </a:r>
          </a:p>
          <a:p>
            <a:pPr>
              <a:buNone/>
            </a:pPr>
            <a:r>
              <a:rPr lang="en-US" sz="1800" dirty="0"/>
              <a:t>V</a:t>
            </a:r>
            <a:r>
              <a:rPr lang="en-US" sz="1800" baseline="-25000" dirty="0"/>
              <a:t>1 </a:t>
            </a:r>
            <a:r>
              <a:rPr lang="en-US" sz="1800" dirty="0"/>
              <a:t>= 100mV, V</a:t>
            </a:r>
            <a:r>
              <a:rPr lang="en-US" sz="1800" baseline="-25000" dirty="0"/>
              <a:t>2 </a:t>
            </a:r>
            <a:r>
              <a:rPr lang="en-US" sz="1800" dirty="0"/>
              <a:t>= 200mV; </a:t>
            </a:r>
            <a:r>
              <a:rPr lang="en-US" sz="1800" dirty="0" err="1"/>
              <a:t>Vout</a:t>
            </a:r>
            <a:r>
              <a:rPr lang="en-US" sz="1800" dirty="0"/>
              <a:t>=…?</a:t>
            </a:r>
          </a:p>
          <a:p>
            <a:endParaRPr lang="en-US" dirty="0"/>
          </a:p>
        </p:txBody>
      </p:sp>
      <p:pic>
        <p:nvPicPr>
          <p:cNvPr id="9" name="Picture 8"/>
          <p:cNvPicPr/>
          <p:nvPr/>
        </p:nvPicPr>
        <p:blipFill>
          <a:blip r:embed="rId2"/>
          <a:stretch>
            <a:fillRect/>
          </a:stretch>
        </p:blipFill>
        <p:spPr>
          <a:xfrm>
            <a:off x="1670998" y="1524000"/>
            <a:ext cx="4501202" cy="3810000"/>
          </a:xfrm>
          <a:prstGeom prst="rect">
            <a:avLst/>
          </a:prstGeom>
        </p:spPr>
      </p:pic>
      <p:pic>
        <p:nvPicPr>
          <p:cNvPr id="51203" name="Picture 3"/>
          <p:cNvPicPr>
            <a:picLocks noChangeAspect="1" noChangeArrowheads="1"/>
          </p:cNvPicPr>
          <p:nvPr/>
        </p:nvPicPr>
        <p:blipFill>
          <a:blip r:embed="rId3"/>
          <a:srcRect/>
          <a:stretch>
            <a:fillRect/>
          </a:stretch>
        </p:blipFill>
        <p:spPr bwMode="auto">
          <a:xfrm>
            <a:off x="6629400" y="2057400"/>
            <a:ext cx="3732028" cy="4114800"/>
          </a:xfrm>
          <a:prstGeom prst="rect">
            <a:avLst/>
          </a:prstGeom>
          <a:noFill/>
          <a:ln w="9525">
            <a:noFill/>
            <a:miter lim="800000"/>
            <a:headEnd/>
            <a:tailEnd/>
          </a:ln>
          <a:effectLst/>
        </p:spPr>
      </p:pic>
    </p:spTree>
    <p:extLst>
      <p:ext uri="{BB962C8B-B14F-4D97-AF65-F5344CB8AC3E}">
        <p14:creationId xmlns:p14="http://schemas.microsoft.com/office/powerpoint/2010/main" val="29545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box(in)">
                                      <p:cBhvr>
                                        <p:cTn id="7" dur="500"/>
                                        <p:tgtEl>
                                          <p:spTgt spid="5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4"/>
          <p:cNvSpPr>
            <a:spLocks noGrp="1" noRot="1" noChangeArrowheads="1"/>
          </p:cNvSpPr>
          <p:nvPr>
            <p:ph type="title"/>
          </p:nvPr>
        </p:nvSpPr>
        <p:spPr/>
        <p:txBody>
          <a:bodyPr/>
          <a:lstStyle/>
          <a:p>
            <a:r>
              <a:rPr lang="en-US"/>
              <a:t>Comparator</a:t>
            </a:r>
          </a:p>
        </p:txBody>
      </p:sp>
      <p:sp>
        <p:nvSpPr>
          <p:cNvPr id="7" name="Slide Number Placeholder 6"/>
          <p:cNvSpPr>
            <a:spLocks noGrp="1"/>
          </p:cNvSpPr>
          <p:nvPr>
            <p:ph type="sldNum" sz="quarter" idx="11"/>
          </p:nvPr>
        </p:nvSpPr>
        <p:spPr/>
        <p:txBody>
          <a:bodyPr/>
          <a:lstStyle/>
          <a:p>
            <a:fld id="{7BE6430B-D41A-4F4B-986B-D268072AE718}" type="slidenum">
              <a:rPr lang="en-US" smtClean="0"/>
              <a:pPr/>
              <a:t>42</a:t>
            </a:fld>
            <a:endParaRPr lang="en-US"/>
          </a:p>
        </p:txBody>
      </p:sp>
      <p:sp>
        <p:nvSpPr>
          <p:cNvPr id="8" name="Content Placeholder 7"/>
          <p:cNvSpPr>
            <a:spLocks noGrp="1"/>
          </p:cNvSpPr>
          <p:nvPr>
            <p:ph sz="half" idx="1"/>
          </p:nvPr>
        </p:nvSpPr>
        <p:spPr>
          <a:xfrm>
            <a:off x="1981200" y="1600201"/>
            <a:ext cx="8382000" cy="4648199"/>
          </a:xfrm>
        </p:spPr>
        <p:txBody>
          <a:bodyPr>
            <a:normAutofit/>
          </a:bodyPr>
          <a:lstStyle/>
          <a:p>
            <a:r>
              <a:rPr lang="en-US" sz="2000" dirty="0"/>
              <a:t>Comparator </a:t>
            </a:r>
            <a:r>
              <a:rPr lang="en-US" sz="2000" dirty="0" err="1"/>
              <a:t>adalah</a:t>
            </a:r>
            <a:r>
              <a:rPr lang="en-US" sz="2000" dirty="0"/>
              <a:t> </a:t>
            </a:r>
            <a:r>
              <a:rPr lang="en-US" sz="2000" dirty="0" err="1"/>
              <a:t>penggunaan</a:t>
            </a:r>
            <a:r>
              <a:rPr lang="en-US" sz="2000" dirty="0"/>
              <a:t> op amp </a:t>
            </a:r>
            <a:r>
              <a:rPr lang="en-US" sz="2000" dirty="0" err="1"/>
              <a:t>sebagai</a:t>
            </a:r>
            <a:r>
              <a:rPr lang="en-US" sz="2000" dirty="0"/>
              <a:t> </a:t>
            </a:r>
            <a:r>
              <a:rPr lang="en-US" sz="2000" dirty="0" err="1"/>
              <a:t>pembanding</a:t>
            </a:r>
            <a:r>
              <a:rPr lang="en-US" sz="2000" dirty="0"/>
              <a:t> </a:t>
            </a:r>
            <a:r>
              <a:rPr lang="en-US" sz="2000" dirty="0" err="1"/>
              <a:t>antara</a:t>
            </a:r>
            <a:r>
              <a:rPr lang="en-US" sz="2000" dirty="0"/>
              <a:t> </a:t>
            </a:r>
            <a:r>
              <a:rPr lang="en-US" sz="2000" dirty="0" err="1"/>
              <a:t>tegangan</a:t>
            </a:r>
            <a:r>
              <a:rPr lang="en-US" sz="2000" dirty="0"/>
              <a:t> yang </a:t>
            </a:r>
            <a:r>
              <a:rPr lang="en-US" sz="2000" dirty="0" err="1"/>
              <a:t>masuk</a:t>
            </a:r>
            <a:r>
              <a:rPr lang="en-US" sz="2000" dirty="0"/>
              <a:t> </a:t>
            </a:r>
            <a:r>
              <a:rPr lang="en-US" sz="2000" dirty="0" err="1"/>
              <a:t>pada</a:t>
            </a:r>
            <a:r>
              <a:rPr lang="en-US" sz="2000" dirty="0"/>
              <a:t> input (+) </a:t>
            </a:r>
            <a:r>
              <a:rPr lang="en-US" sz="2000" dirty="0" err="1"/>
              <a:t>dan</a:t>
            </a:r>
            <a:r>
              <a:rPr lang="en-US" sz="2000" dirty="0"/>
              <a:t> input (-).</a:t>
            </a:r>
          </a:p>
          <a:p>
            <a:r>
              <a:rPr lang="en-US" sz="2000" dirty="0" err="1"/>
              <a:t>Jika</a:t>
            </a:r>
            <a:r>
              <a:rPr lang="en-US" sz="2000" dirty="0"/>
              <a:t> input (+) </a:t>
            </a:r>
            <a:r>
              <a:rPr lang="en-US" sz="2000" dirty="0" err="1"/>
              <a:t>lebih</a:t>
            </a:r>
            <a:r>
              <a:rPr lang="en-US" sz="2000" dirty="0"/>
              <a:t> </a:t>
            </a:r>
            <a:r>
              <a:rPr lang="en-US" sz="2000" dirty="0" err="1"/>
              <a:t>tinggi</a:t>
            </a:r>
            <a:r>
              <a:rPr lang="en-US" sz="2000" dirty="0"/>
              <a:t> </a:t>
            </a:r>
            <a:r>
              <a:rPr lang="en-US" sz="2000" dirty="0" err="1"/>
              <a:t>dari</a:t>
            </a:r>
            <a:r>
              <a:rPr lang="en-US" sz="2000" dirty="0"/>
              <a:t> input (-) </a:t>
            </a:r>
            <a:r>
              <a:rPr lang="en-US" sz="2000" dirty="0" err="1"/>
              <a:t>maka</a:t>
            </a:r>
            <a:r>
              <a:rPr lang="en-US" sz="2000" dirty="0"/>
              <a:t> op amp </a:t>
            </a:r>
            <a:r>
              <a:rPr lang="en-US" sz="2000" dirty="0" err="1"/>
              <a:t>akan</a:t>
            </a:r>
            <a:r>
              <a:rPr lang="en-US" sz="2000" dirty="0"/>
              <a:t> </a:t>
            </a:r>
            <a:r>
              <a:rPr lang="en-US" sz="2000" dirty="0" err="1"/>
              <a:t>mengeluarkan</a:t>
            </a:r>
            <a:r>
              <a:rPr lang="en-US" sz="2000" dirty="0"/>
              <a:t> </a:t>
            </a:r>
            <a:r>
              <a:rPr lang="en-US" sz="2000" dirty="0" err="1"/>
              <a:t>tegangan</a:t>
            </a:r>
            <a:r>
              <a:rPr lang="en-US" sz="2000" dirty="0"/>
              <a:t> </a:t>
            </a:r>
            <a:r>
              <a:rPr lang="en-US" sz="2000" dirty="0" err="1"/>
              <a:t>positif</a:t>
            </a:r>
            <a:r>
              <a:rPr lang="en-US" sz="2000" dirty="0"/>
              <a:t> </a:t>
            </a:r>
            <a:r>
              <a:rPr lang="en-US" sz="2000" dirty="0" err="1"/>
              <a:t>dan</a:t>
            </a:r>
            <a:endParaRPr lang="en-US" sz="2000" dirty="0"/>
          </a:p>
          <a:p>
            <a:r>
              <a:rPr lang="en-US" sz="2000" dirty="0"/>
              <a:t> </a:t>
            </a:r>
            <a:r>
              <a:rPr lang="en-US" sz="2000" dirty="0" err="1"/>
              <a:t>jika</a:t>
            </a:r>
            <a:r>
              <a:rPr lang="en-US" sz="2000" dirty="0"/>
              <a:t> input (-) </a:t>
            </a:r>
            <a:r>
              <a:rPr lang="en-US" sz="2000" dirty="0" err="1"/>
              <a:t>lebih</a:t>
            </a:r>
            <a:r>
              <a:rPr lang="en-US" sz="2000" dirty="0"/>
              <a:t> </a:t>
            </a:r>
            <a:r>
              <a:rPr lang="en-US" sz="2000" dirty="0" err="1"/>
              <a:t>tinggi</a:t>
            </a:r>
            <a:r>
              <a:rPr lang="en-US" sz="2000" dirty="0"/>
              <a:t> </a:t>
            </a:r>
            <a:r>
              <a:rPr lang="en-US" sz="2000" dirty="0" err="1"/>
              <a:t>dari</a:t>
            </a:r>
            <a:r>
              <a:rPr lang="en-US" sz="2000" dirty="0"/>
              <a:t> input (+) </a:t>
            </a:r>
            <a:r>
              <a:rPr lang="en-US" sz="2000" dirty="0" err="1"/>
              <a:t>maka</a:t>
            </a:r>
            <a:r>
              <a:rPr lang="en-US" sz="2000" dirty="0"/>
              <a:t> op amp </a:t>
            </a:r>
            <a:r>
              <a:rPr lang="en-US" sz="2000" dirty="0" err="1"/>
              <a:t>akan</a:t>
            </a:r>
            <a:r>
              <a:rPr lang="en-US" sz="2000" dirty="0"/>
              <a:t> </a:t>
            </a:r>
            <a:r>
              <a:rPr lang="en-US" sz="2000" dirty="0" err="1"/>
              <a:t>mengeluarkan</a:t>
            </a:r>
            <a:r>
              <a:rPr lang="en-US" sz="2000" dirty="0"/>
              <a:t> </a:t>
            </a:r>
            <a:r>
              <a:rPr lang="en-US" sz="2000" dirty="0" err="1"/>
              <a:t>tegangan</a:t>
            </a:r>
            <a:r>
              <a:rPr lang="en-US" sz="2000" dirty="0"/>
              <a:t> </a:t>
            </a:r>
            <a:r>
              <a:rPr lang="en-US" sz="2000" dirty="0" err="1"/>
              <a:t>negatif</a:t>
            </a:r>
            <a:r>
              <a:rPr lang="en-US" sz="2000" dirty="0"/>
              <a:t>. </a:t>
            </a:r>
          </a:p>
          <a:p>
            <a:r>
              <a:rPr lang="en-US" sz="2000" dirty="0" err="1"/>
              <a:t>Dengan</a:t>
            </a:r>
            <a:r>
              <a:rPr lang="en-US" sz="2000" dirty="0"/>
              <a:t> </a:t>
            </a:r>
            <a:r>
              <a:rPr lang="en-US" sz="2000" dirty="0" err="1"/>
              <a:t>demikian</a:t>
            </a:r>
            <a:r>
              <a:rPr lang="en-US" sz="2000" dirty="0"/>
              <a:t> op amp </a:t>
            </a:r>
            <a:r>
              <a:rPr lang="en-US" sz="2000" dirty="0" err="1"/>
              <a:t>dapat</a:t>
            </a:r>
            <a:r>
              <a:rPr lang="en-US" sz="2000" dirty="0"/>
              <a:t> </a:t>
            </a:r>
            <a:r>
              <a:rPr lang="en-US" sz="2000" dirty="0" err="1"/>
              <a:t>dipakai</a:t>
            </a:r>
            <a:r>
              <a:rPr lang="en-US" sz="2000" dirty="0"/>
              <a:t> </a:t>
            </a:r>
            <a:r>
              <a:rPr lang="en-US" sz="2000" dirty="0" err="1"/>
              <a:t>untuk</a:t>
            </a:r>
            <a:r>
              <a:rPr lang="en-US" sz="2000" dirty="0"/>
              <a:t> </a:t>
            </a:r>
            <a:r>
              <a:rPr lang="en-US" sz="2000" dirty="0" err="1"/>
              <a:t>membandingkan</a:t>
            </a:r>
            <a:r>
              <a:rPr lang="en-US" sz="2000" dirty="0"/>
              <a:t> </a:t>
            </a:r>
            <a:r>
              <a:rPr lang="en-US" sz="2000" dirty="0" err="1"/>
              <a:t>dua</a:t>
            </a:r>
            <a:r>
              <a:rPr lang="en-US" sz="2000" dirty="0"/>
              <a:t> </a:t>
            </a:r>
            <a:r>
              <a:rPr lang="en-US" sz="2000" dirty="0" err="1"/>
              <a:t>buah</a:t>
            </a:r>
            <a:r>
              <a:rPr lang="en-US" sz="2000" dirty="0"/>
              <a:t> </a:t>
            </a:r>
            <a:r>
              <a:rPr lang="en-US" sz="2000" dirty="0" err="1"/>
              <a:t>tegangan</a:t>
            </a:r>
            <a:r>
              <a:rPr lang="en-US" sz="2000" dirty="0"/>
              <a:t> yang </a:t>
            </a:r>
            <a:r>
              <a:rPr lang="en-US" sz="2000" dirty="0" err="1"/>
              <a:t>berbeda</a:t>
            </a:r>
            <a:r>
              <a:rPr lang="en-US" sz="2000" dirty="0"/>
              <a:t>.</a:t>
            </a:r>
          </a:p>
          <a:p>
            <a:r>
              <a:rPr lang="en-US" sz="2000" dirty="0"/>
              <a:t> V</a:t>
            </a:r>
            <a:r>
              <a:rPr lang="en-US" sz="2000" baseline="-25000" dirty="0"/>
              <a:t>1(+)</a:t>
            </a:r>
            <a:r>
              <a:rPr lang="en-US" sz="2000" dirty="0"/>
              <a:t> = input non-inverting, V</a:t>
            </a:r>
            <a:r>
              <a:rPr lang="en-US" sz="2000" baseline="-25000" dirty="0"/>
              <a:t>2(-)</a:t>
            </a:r>
            <a:r>
              <a:rPr lang="en-US" sz="2000" dirty="0"/>
              <a:t> = input inverting.</a:t>
            </a:r>
          </a:p>
          <a:p>
            <a:endParaRPr lang="en-US" dirty="0"/>
          </a:p>
        </p:txBody>
      </p:sp>
      <p:pic>
        <p:nvPicPr>
          <p:cNvPr id="11" name="Picture 10"/>
          <p:cNvPicPr/>
          <p:nvPr/>
        </p:nvPicPr>
        <p:blipFill>
          <a:blip r:embed="rId2">
            <a:extLst>
              <a:ext uri="{28A0092B-C50C-407E-A947-70E740481C1C}">
                <a14:useLocalDpi xmlns:a14="http://schemas.microsoft.com/office/drawing/2010/main" val="0"/>
              </a:ext>
            </a:extLst>
          </a:blip>
          <a:srcRect/>
          <a:stretch>
            <a:fillRect/>
          </a:stretch>
        </p:blipFill>
        <p:spPr bwMode="auto">
          <a:xfrm>
            <a:off x="2667000" y="5029200"/>
            <a:ext cx="2438400" cy="990600"/>
          </a:xfrm>
          <a:prstGeom prst="rect">
            <a:avLst/>
          </a:prstGeom>
          <a:noFill/>
          <a:ln>
            <a:noFill/>
          </a:ln>
        </p:spPr>
      </p:pic>
    </p:spTree>
    <p:extLst>
      <p:ext uri="{BB962C8B-B14F-4D97-AF65-F5344CB8AC3E}">
        <p14:creationId xmlns:p14="http://schemas.microsoft.com/office/powerpoint/2010/main" val="92155129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4"/>
          <p:cNvSpPr>
            <a:spLocks noGrp="1" noRot="1" noChangeArrowheads="1"/>
          </p:cNvSpPr>
          <p:nvPr>
            <p:ph type="title"/>
          </p:nvPr>
        </p:nvSpPr>
        <p:spPr/>
        <p:txBody>
          <a:bodyPr/>
          <a:lstStyle/>
          <a:p>
            <a:r>
              <a:rPr lang="en-US"/>
              <a:t>Comparator</a:t>
            </a:r>
          </a:p>
        </p:txBody>
      </p:sp>
      <p:pic>
        <p:nvPicPr>
          <p:cNvPr id="22533" name="Picture 5"/>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2286000" y="2514601"/>
            <a:ext cx="3352800" cy="2214563"/>
          </a:xfrm>
        </p:spPr>
      </p:pic>
      <p:pic>
        <p:nvPicPr>
          <p:cNvPr id="22534" name="Picture 6"/>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6248401" y="2209800"/>
            <a:ext cx="3148013" cy="3505200"/>
          </a:xfrm>
        </p:spPr>
      </p:pic>
      <p:graphicFrame>
        <p:nvGraphicFramePr>
          <p:cNvPr id="22536" name="Object 8"/>
          <p:cNvGraphicFramePr>
            <a:graphicFrameLocks noGrp="1" noChangeAspect="1"/>
          </p:cNvGraphicFramePr>
          <p:nvPr>
            <p:ph sz="quarter" idx="3"/>
          </p:nvPr>
        </p:nvGraphicFramePr>
        <p:xfrm>
          <a:off x="2438400" y="5105400"/>
          <a:ext cx="2743200" cy="711200"/>
        </p:xfrm>
        <a:graphic>
          <a:graphicData uri="http://schemas.openxmlformats.org/presentationml/2006/ole">
            <mc:AlternateContent xmlns:mc="http://schemas.openxmlformats.org/markup-compatibility/2006">
              <mc:Choice xmlns:v="urn:schemas-microsoft-com:vml" Requires="v">
                <p:oleObj spid="_x0000_s45060" name="Equation" r:id="rId5" imgW="1371600" imgH="355600" progId="Equation.3">
                  <p:embed/>
                </p:oleObj>
              </mc:Choice>
              <mc:Fallback>
                <p:oleObj name="Equation" r:id="rId5" imgW="1371600" imgH="355600" progId="Equation.3">
                  <p:embed/>
                  <p:pic>
                    <p:nvPicPr>
                      <p:cNvPr id="22536"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5105400"/>
                        <a:ext cx="2743200"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1"/>
          </p:nvPr>
        </p:nvSpPr>
        <p:spPr/>
        <p:txBody>
          <a:bodyPr/>
          <a:lstStyle/>
          <a:p>
            <a:fld id="{7BE6430B-D41A-4F4B-986B-D268072AE718}" type="slidenum">
              <a:rPr lang="en-US" smtClean="0"/>
              <a:pPr/>
              <a:t>43</a:t>
            </a:fld>
            <a:endParaRPr lang="en-US"/>
          </a:p>
        </p:txBody>
      </p:sp>
    </p:spTree>
    <p:extLst>
      <p:ext uri="{BB962C8B-B14F-4D97-AF65-F5344CB8AC3E}">
        <p14:creationId xmlns:p14="http://schemas.microsoft.com/office/powerpoint/2010/main" val="35938292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Contoh</a:t>
            </a:r>
            <a:r>
              <a:rPr lang="en-US" dirty="0" smtClean="0"/>
              <a:t> soal4:</a:t>
            </a:r>
            <a:endParaRPr lang="en-US" dirty="0"/>
          </a:p>
        </p:txBody>
      </p:sp>
      <p:sp>
        <p:nvSpPr>
          <p:cNvPr id="3" name="Content Placeholder 2"/>
          <p:cNvSpPr>
            <a:spLocks noGrp="1"/>
          </p:cNvSpPr>
          <p:nvPr>
            <p:ph sz="half" idx="1"/>
          </p:nvPr>
        </p:nvSpPr>
        <p:spPr>
          <a:xfrm>
            <a:off x="1981200" y="1600201"/>
            <a:ext cx="8382000" cy="4525963"/>
          </a:xfrm>
        </p:spPr>
        <p:txBody>
          <a:bodyPr>
            <a:normAutofit/>
          </a:bodyPr>
          <a:lstStyle/>
          <a:p>
            <a:r>
              <a:rPr lang="en-US" sz="1800" dirty="0" err="1"/>
              <a:t>Contoh</a:t>
            </a:r>
            <a:r>
              <a:rPr lang="en-US" sz="1800" dirty="0"/>
              <a:t> </a:t>
            </a:r>
            <a:r>
              <a:rPr lang="en-US" sz="1800" dirty="0" err="1"/>
              <a:t>rangkaian</a:t>
            </a:r>
            <a:r>
              <a:rPr lang="en-US" sz="1800" dirty="0"/>
              <a:t> comparator </a:t>
            </a:r>
            <a:r>
              <a:rPr lang="en-US" sz="1800" dirty="0" err="1"/>
              <a:t>dengan</a:t>
            </a:r>
            <a:r>
              <a:rPr lang="en-US" sz="1800" dirty="0"/>
              <a:t> </a:t>
            </a:r>
            <a:r>
              <a:rPr lang="en-US" sz="1800" dirty="0" err="1"/>
              <a:t>nilai</a:t>
            </a:r>
            <a:r>
              <a:rPr lang="en-US" sz="1800" dirty="0"/>
              <a:t> V</a:t>
            </a:r>
            <a:r>
              <a:rPr lang="en-US" sz="1800" baseline="-25000" dirty="0"/>
              <a:t>1 </a:t>
            </a:r>
            <a:r>
              <a:rPr lang="en-US" sz="1800" dirty="0"/>
              <a:t>= 3V </a:t>
            </a:r>
            <a:r>
              <a:rPr lang="en-US" sz="1800" dirty="0" err="1"/>
              <a:t>dan</a:t>
            </a:r>
            <a:r>
              <a:rPr lang="en-US" sz="1800" dirty="0"/>
              <a:t> V</a:t>
            </a:r>
            <a:r>
              <a:rPr lang="en-US" sz="1800" baseline="-25000" dirty="0"/>
              <a:t>2</a:t>
            </a:r>
            <a:r>
              <a:rPr lang="en-US" sz="1800" dirty="0"/>
              <a:t> = 2V, V</a:t>
            </a:r>
            <a:r>
              <a:rPr lang="en-US" sz="1800" baseline="-25000" dirty="0"/>
              <a:t>1</a:t>
            </a:r>
            <a:r>
              <a:rPr lang="en-US" sz="1800" dirty="0"/>
              <a:t> &gt; V</a:t>
            </a:r>
            <a:r>
              <a:rPr lang="en-US" sz="1800" baseline="-25000" dirty="0"/>
              <a:t>2</a:t>
            </a:r>
            <a:r>
              <a:rPr lang="en-US" sz="1800" dirty="0"/>
              <a:t> </a:t>
            </a:r>
            <a:r>
              <a:rPr lang="en-US" sz="1800" dirty="0" err="1"/>
              <a:t>dan</a:t>
            </a:r>
            <a:r>
              <a:rPr lang="en-US" sz="1800" dirty="0"/>
              <a:t> V</a:t>
            </a:r>
            <a:r>
              <a:rPr lang="en-US" sz="1800" baseline="-25000" dirty="0"/>
              <a:t>1</a:t>
            </a:r>
            <a:r>
              <a:rPr lang="en-US" sz="1800" dirty="0"/>
              <a:t> </a:t>
            </a:r>
            <a:r>
              <a:rPr lang="en-US" sz="1800" dirty="0" err="1"/>
              <a:t>terhubung</a:t>
            </a:r>
            <a:r>
              <a:rPr lang="en-US" sz="1800" dirty="0"/>
              <a:t> </a:t>
            </a:r>
            <a:r>
              <a:rPr lang="en-US" sz="1800" dirty="0" err="1"/>
              <a:t>ke</a:t>
            </a:r>
            <a:r>
              <a:rPr lang="en-US" sz="1800" dirty="0"/>
              <a:t> kaki inverting Op-Amp </a:t>
            </a:r>
            <a:r>
              <a:rPr lang="en-US" sz="1800" dirty="0" err="1"/>
              <a:t>sehingga</a:t>
            </a:r>
            <a:r>
              <a:rPr lang="en-US" sz="1800" dirty="0"/>
              <a:t> </a:t>
            </a:r>
            <a:r>
              <a:rPr lang="en-US" sz="1800" dirty="0" err="1"/>
              <a:t>tegangan</a:t>
            </a:r>
            <a:r>
              <a:rPr lang="en-US" sz="1800" dirty="0"/>
              <a:t> </a:t>
            </a:r>
            <a:r>
              <a:rPr lang="en-US" sz="1800" dirty="0" err="1"/>
              <a:t>sumber</a:t>
            </a:r>
            <a:r>
              <a:rPr lang="en-US" sz="1800" dirty="0"/>
              <a:t> yang </a:t>
            </a:r>
            <a:r>
              <a:rPr lang="en-US" sz="1800" dirty="0" err="1"/>
              <a:t>dikeluarkan</a:t>
            </a:r>
            <a:r>
              <a:rPr lang="en-US" sz="1800" dirty="0"/>
              <a:t> </a:t>
            </a:r>
            <a:r>
              <a:rPr lang="en-US" sz="1800" dirty="0" err="1"/>
              <a:t>adalah</a:t>
            </a:r>
            <a:r>
              <a:rPr lang="en-US" sz="1800" dirty="0"/>
              <a:t> Vs-= - 12 V, </a:t>
            </a:r>
            <a:r>
              <a:rPr lang="en-US" sz="1800" dirty="0" err="1"/>
              <a:t>perbedaan</a:t>
            </a:r>
            <a:r>
              <a:rPr lang="en-US" sz="1800" dirty="0"/>
              <a:t> </a:t>
            </a:r>
            <a:r>
              <a:rPr lang="en-US" sz="1800" dirty="0" err="1"/>
              <a:t>hasil</a:t>
            </a:r>
            <a:r>
              <a:rPr lang="en-US" sz="1800" dirty="0"/>
              <a:t> </a:t>
            </a:r>
            <a:r>
              <a:rPr lang="en-US" sz="1800" dirty="0" err="1"/>
              <a:t>perhitungan</a:t>
            </a:r>
            <a:r>
              <a:rPr lang="en-US" sz="1800" dirty="0"/>
              <a:t> </a:t>
            </a:r>
            <a:r>
              <a:rPr lang="en-US" sz="1800" dirty="0" err="1"/>
              <a:t>dan</a:t>
            </a:r>
            <a:r>
              <a:rPr lang="en-US" sz="1800" dirty="0"/>
              <a:t> </a:t>
            </a:r>
            <a:r>
              <a:rPr lang="en-US" sz="1800" dirty="0" err="1"/>
              <a:t>alat</a:t>
            </a:r>
            <a:r>
              <a:rPr lang="en-US" sz="1800" dirty="0"/>
              <a:t> </a:t>
            </a:r>
            <a:r>
              <a:rPr lang="en-US" sz="1800" dirty="0" err="1"/>
              <a:t>dikarenakan</a:t>
            </a:r>
            <a:r>
              <a:rPr lang="en-US" sz="1800" dirty="0"/>
              <a:t> </a:t>
            </a:r>
            <a:r>
              <a:rPr lang="en-US" sz="1800" dirty="0" err="1"/>
              <a:t>adanya</a:t>
            </a:r>
            <a:r>
              <a:rPr lang="en-US" sz="1800" dirty="0"/>
              <a:t> </a:t>
            </a:r>
            <a:r>
              <a:rPr lang="en-US" sz="1800" dirty="0" err="1"/>
              <a:t>hambatan</a:t>
            </a:r>
            <a:r>
              <a:rPr lang="en-US" sz="1800" dirty="0"/>
              <a:t> </a:t>
            </a:r>
            <a:r>
              <a:rPr lang="en-US" sz="1800" dirty="0" err="1"/>
              <a:t>dalam</a:t>
            </a:r>
            <a:r>
              <a:rPr lang="en-US" sz="1800" dirty="0"/>
              <a:t> </a:t>
            </a:r>
            <a:r>
              <a:rPr lang="en-US" sz="1800" dirty="0" err="1"/>
              <a:t>pada</a:t>
            </a:r>
            <a:r>
              <a:rPr lang="en-US" sz="1800" dirty="0"/>
              <a:t> OP-Amp.</a:t>
            </a:r>
          </a:p>
          <a:p>
            <a:endParaRPr lang="en-US" dirty="0"/>
          </a:p>
        </p:txBody>
      </p:sp>
      <p:sp>
        <p:nvSpPr>
          <p:cNvPr id="6" name="Slide Number Placeholder 5"/>
          <p:cNvSpPr>
            <a:spLocks noGrp="1"/>
          </p:cNvSpPr>
          <p:nvPr>
            <p:ph type="sldNum" sz="quarter" idx="11"/>
          </p:nvPr>
        </p:nvSpPr>
        <p:spPr/>
        <p:txBody>
          <a:bodyPr/>
          <a:lstStyle/>
          <a:p>
            <a:fld id="{7BE6430B-D41A-4F4B-986B-D268072AE718}" type="slidenum">
              <a:rPr lang="en-US" smtClean="0"/>
              <a:pPr/>
              <a:t>44</a:t>
            </a:fld>
            <a:endParaRPr lang="en-US"/>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743200"/>
            <a:ext cx="6019800" cy="2895600"/>
          </a:xfrm>
          <a:prstGeom prst="rect">
            <a:avLst/>
          </a:prstGeom>
          <a:noFill/>
          <a:ln>
            <a:noFill/>
          </a:ln>
        </p:spPr>
      </p:pic>
    </p:spTree>
    <p:extLst>
      <p:ext uri="{BB962C8B-B14F-4D97-AF65-F5344CB8AC3E}">
        <p14:creationId xmlns:p14="http://schemas.microsoft.com/office/powerpoint/2010/main" val="426544730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Contoh</a:t>
            </a:r>
            <a:r>
              <a:rPr lang="en-US" dirty="0" smtClean="0"/>
              <a:t> soal5:</a:t>
            </a:r>
            <a:endParaRPr lang="en-US" dirty="0"/>
          </a:p>
        </p:txBody>
      </p:sp>
      <p:sp>
        <p:nvSpPr>
          <p:cNvPr id="3" name="Content Placeholder 2"/>
          <p:cNvSpPr>
            <a:spLocks noGrp="1"/>
          </p:cNvSpPr>
          <p:nvPr>
            <p:ph sz="half" idx="1"/>
          </p:nvPr>
        </p:nvSpPr>
        <p:spPr>
          <a:xfrm>
            <a:off x="1981200" y="1600201"/>
            <a:ext cx="8382000" cy="4525963"/>
          </a:xfrm>
        </p:spPr>
        <p:txBody>
          <a:bodyPr>
            <a:normAutofit/>
          </a:bodyPr>
          <a:lstStyle/>
          <a:p>
            <a:r>
              <a:rPr lang="en-US" sz="1800" dirty="0" err="1"/>
              <a:t>Contoh</a:t>
            </a:r>
            <a:r>
              <a:rPr lang="en-US" sz="1800" dirty="0"/>
              <a:t> </a:t>
            </a:r>
            <a:r>
              <a:rPr lang="en-US" sz="1800" dirty="0" err="1"/>
              <a:t>rangkaian</a:t>
            </a:r>
            <a:r>
              <a:rPr lang="en-US" sz="1800" dirty="0"/>
              <a:t> comparator </a:t>
            </a:r>
            <a:r>
              <a:rPr lang="en-US" sz="1800" dirty="0" err="1"/>
              <a:t>dengan</a:t>
            </a:r>
            <a:r>
              <a:rPr lang="en-US" sz="1800" dirty="0"/>
              <a:t> </a:t>
            </a:r>
            <a:r>
              <a:rPr lang="en-US" sz="1800" dirty="0" err="1"/>
              <a:t>nilai</a:t>
            </a:r>
            <a:r>
              <a:rPr lang="en-US" sz="1800" dirty="0"/>
              <a:t> V</a:t>
            </a:r>
            <a:r>
              <a:rPr lang="en-US" sz="1800" baseline="-25000" dirty="0"/>
              <a:t>1 </a:t>
            </a:r>
            <a:r>
              <a:rPr lang="en-US" sz="1800" dirty="0"/>
              <a:t>= 3V </a:t>
            </a:r>
            <a:r>
              <a:rPr lang="en-US" sz="1800" dirty="0" err="1"/>
              <a:t>dan</a:t>
            </a:r>
            <a:r>
              <a:rPr lang="en-US" sz="1800" dirty="0"/>
              <a:t> V</a:t>
            </a:r>
            <a:r>
              <a:rPr lang="en-US" sz="1800" baseline="-25000" dirty="0"/>
              <a:t>2</a:t>
            </a:r>
            <a:r>
              <a:rPr lang="en-US" sz="1800" dirty="0"/>
              <a:t> = 5V . V</a:t>
            </a:r>
            <a:r>
              <a:rPr lang="en-US" sz="1800" baseline="-25000" dirty="0"/>
              <a:t>2</a:t>
            </a:r>
            <a:r>
              <a:rPr lang="en-US" sz="1800" dirty="0"/>
              <a:t> &gt; V</a:t>
            </a:r>
            <a:r>
              <a:rPr lang="en-US" sz="1800" baseline="-25000" dirty="0"/>
              <a:t>1 </a:t>
            </a:r>
            <a:r>
              <a:rPr lang="en-US" sz="1800" dirty="0" err="1"/>
              <a:t>dan</a:t>
            </a:r>
            <a:r>
              <a:rPr lang="en-US" sz="1800" dirty="0"/>
              <a:t> V</a:t>
            </a:r>
            <a:r>
              <a:rPr lang="en-US" sz="1800" baseline="-25000" dirty="0"/>
              <a:t>2</a:t>
            </a:r>
            <a:r>
              <a:rPr lang="en-US" sz="1800" dirty="0"/>
              <a:t> </a:t>
            </a:r>
            <a:r>
              <a:rPr lang="en-US" sz="1800" dirty="0" err="1"/>
              <a:t>terhubung</a:t>
            </a:r>
            <a:r>
              <a:rPr lang="en-US" sz="1800" dirty="0"/>
              <a:t> </a:t>
            </a:r>
            <a:r>
              <a:rPr lang="en-US" sz="1800" dirty="0" err="1"/>
              <a:t>ke</a:t>
            </a:r>
            <a:r>
              <a:rPr lang="en-US" sz="1800" dirty="0"/>
              <a:t> kaki non-inverting Op-Amp </a:t>
            </a:r>
            <a:r>
              <a:rPr lang="en-US" sz="1800" dirty="0" err="1"/>
              <a:t>sehingga</a:t>
            </a:r>
            <a:r>
              <a:rPr lang="en-US" sz="1800" dirty="0"/>
              <a:t> </a:t>
            </a:r>
            <a:r>
              <a:rPr lang="en-US" sz="1800" dirty="0" err="1"/>
              <a:t>tegangan</a:t>
            </a:r>
            <a:r>
              <a:rPr lang="en-US" sz="1800" dirty="0"/>
              <a:t> </a:t>
            </a:r>
            <a:r>
              <a:rPr lang="en-US" sz="1800" dirty="0" err="1"/>
              <a:t>sumber</a:t>
            </a:r>
            <a:r>
              <a:rPr lang="en-US" sz="1800" dirty="0"/>
              <a:t> yang </a:t>
            </a:r>
            <a:r>
              <a:rPr lang="en-US" sz="1800" dirty="0" err="1"/>
              <a:t>dikeluarkan</a:t>
            </a:r>
            <a:r>
              <a:rPr lang="en-US" sz="1800" dirty="0"/>
              <a:t> </a:t>
            </a:r>
            <a:r>
              <a:rPr lang="en-US" sz="1800" dirty="0" err="1"/>
              <a:t>adalah</a:t>
            </a:r>
            <a:r>
              <a:rPr lang="en-US" sz="1800" dirty="0"/>
              <a:t> Vs+= 12 V, </a:t>
            </a:r>
            <a:r>
              <a:rPr lang="en-US" sz="1800" dirty="0" err="1"/>
              <a:t>perbedaan</a:t>
            </a:r>
            <a:r>
              <a:rPr lang="en-US" sz="1800" dirty="0"/>
              <a:t> </a:t>
            </a:r>
            <a:r>
              <a:rPr lang="en-US" sz="1800" dirty="0" err="1"/>
              <a:t>hasil</a:t>
            </a:r>
            <a:r>
              <a:rPr lang="en-US" sz="1800" dirty="0"/>
              <a:t> </a:t>
            </a:r>
            <a:r>
              <a:rPr lang="en-US" sz="1800" dirty="0" err="1"/>
              <a:t>perhitungan</a:t>
            </a:r>
            <a:r>
              <a:rPr lang="en-US" sz="1800" dirty="0"/>
              <a:t> </a:t>
            </a:r>
            <a:r>
              <a:rPr lang="en-US" sz="1800" dirty="0" err="1"/>
              <a:t>dan</a:t>
            </a:r>
            <a:r>
              <a:rPr lang="en-US" sz="1800" dirty="0"/>
              <a:t> </a:t>
            </a:r>
            <a:r>
              <a:rPr lang="en-US" sz="1800" dirty="0" err="1"/>
              <a:t>alat</a:t>
            </a:r>
            <a:r>
              <a:rPr lang="en-US" sz="1800" dirty="0"/>
              <a:t> </a:t>
            </a:r>
            <a:r>
              <a:rPr lang="en-US" sz="1800" dirty="0" err="1"/>
              <a:t>dikarenakan</a:t>
            </a:r>
            <a:r>
              <a:rPr lang="en-US" sz="1800" dirty="0"/>
              <a:t> </a:t>
            </a:r>
            <a:r>
              <a:rPr lang="en-US" sz="1800" dirty="0" err="1"/>
              <a:t>adanya</a:t>
            </a:r>
            <a:r>
              <a:rPr lang="en-US" sz="1800" dirty="0"/>
              <a:t> </a:t>
            </a:r>
            <a:r>
              <a:rPr lang="en-US" sz="1800" dirty="0" err="1"/>
              <a:t>hambatan</a:t>
            </a:r>
            <a:r>
              <a:rPr lang="en-US" sz="1800" dirty="0"/>
              <a:t> </a:t>
            </a:r>
            <a:r>
              <a:rPr lang="en-US" sz="1800" dirty="0" err="1"/>
              <a:t>dalam</a:t>
            </a:r>
            <a:r>
              <a:rPr lang="en-US" sz="1800" dirty="0"/>
              <a:t> </a:t>
            </a:r>
            <a:r>
              <a:rPr lang="en-US" sz="1800" dirty="0" err="1"/>
              <a:t>pada</a:t>
            </a:r>
            <a:r>
              <a:rPr lang="en-US" sz="1800" dirty="0"/>
              <a:t> OP-Amp.</a:t>
            </a:r>
          </a:p>
          <a:p>
            <a:endParaRPr lang="en-US" dirty="0"/>
          </a:p>
        </p:txBody>
      </p:sp>
      <p:sp>
        <p:nvSpPr>
          <p:cNvPr id="6" name="Slide Number Placeholder 5"/>
          <p:cNvSpPr>
            <a:spLocks noGrp="1"/>
          </p:cNvSpPr>
          <p:nvPr>
            <p:ph type="sldNum" sz="quarter" idx="11"/>
          </p:nvPr>
        </p:nvSpPr>
        <p:spPr/>
        <p:txBody>
          <a:bodyPr/>
          <a:lstStyle/>
          <a:p>
            <a:fld id="{7BE6430B-D41A-4F4B-986B-D268072AE718}" type="slidenum">
              <a:rPr lang="en-US" smtClean="0"/>
              <a:pPr/>
              <a:t>45</a:t>
            </a:fld>
            <a:endParaRPr lang="en-US"/>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2362200" y="3048000"/>
            <a:ext cx="6324600" cy="3124200"/>
          </a:xfrm>
          <a:prstGeom prst="rect">
            <a:avLst/>
          </a:prstGeom>
          <a:noFill/>
          <a:ln>
            <a:noFill/>
          </a:ln>
        </p:spPr>
      </p:pic>
    </p:spTree>
    <p:extLst>
      <p:ext uri="{BB962C8B-B14F-4D97-AF65-F5344CB8AC3E}">
        <p14:creationId xmlns:p14="http://schemas.microsoft.com/office/powerpoint/2010/main" val="254921906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Contoh</a:t>
            </a:r>
            <a:r>
              <a:rPr lang="en-US" dirty="0" smtClean="0"/>
              <a:t> soal6:</a:t>
            </a:r>
            <a:endParaRPr lang="en-US" dirty="0"/>
          </a:p>
        </p:txBody>
      </p:sp>
      <p:sp>
        <p:nvSpPr>
          <p:cNvPr id="3" name="Content Placeholder 2"/>
          <p:cNvSpPr>
            <a:spLocks noGrp="1"/>
          </p:cNvSpPr>
          <p:nvPr>
            <p:ph sz="half" idx="1"/>
          </p:nvPr>
        </p:nvSpPr>
        <p:spPr>
          <a:xfrm>
            <a:off x="1981200" y="1600201"/>
            <a:ext cx="8382000" cy="4525963"/>
          </a:xfrm>
        </p:spPr>
        <p:txBody>
          <a:bodyPr>
            <a:normAutofit/>
          </a:bodyPr>
          <a:lstStyle/>
          <a:p>
            <a:r>
              <a:rPr lang="en-US" sz="1800" dirty="0" err="1"/>
              <a:t>Contoh</a:t>
            </a:r>
            <a:r>
              <a:rPr lang="en-US" sz="1800" dirty="0"/>
              <a:t> </a:t>
            </a:r>
            <a:r>
              <a:rPr lang="en-US" sz="1800" dirty="0" err="1"/>
              <a:t>rangkaian</a:t>
            </a:r>
            <a:r>
              <a:rPr lang="en-US" sz="1800" dirty="0"/>
              <a:t> comparator </a:t>
            </a:r>
            <a:r>
              <a:rPr lang="en-US" sz="1800" dirty="0" err="1"/>
              <a:t>dengan</a:t>
            </a:r>
            <a:r>
              <a:rPr lang="en-US" sz="1800" dirty="0"/>
              <a:t> </a:t>
            </a:r>
            <a:r>
              <a:rPr lang="en-US" sz="1800" dirty="0" err="1"/>
              <a:t>nilai</a:t>
            </a:r>
            <a:r>
              <a:rPr lang="en-US" sz="1800" dirty="0"/>
              <a:t> V</a:t>
            </a:r>
            <a:r>
              <a:rPr lang="en-US" sz="1800" baseline="-25000" dirty="0"/>
              <a:t>1 </a:t>
            </a:r>
            <a:r>
              <a:rPr lang="en-US" sz="1800" dirty="0"/>
              <a:t>=V</a:t>
            </a:r>
            <a:r>
              <a:rPr lang="en-US" sz="1800" baseline="-25000" dirty="0"/>
              <a:t>2</a:t>
            </a:r>
            <a:r>
              <a:rPr lang="en-US" sz="1800" dirty="0"/>
              <a:t> = 12V</a:t>
            </a:r>
          </a:p>
          <a:p>
            <a:pPr>
              <a:buNone/>
            </a:pPr>
            <a:endParaRPr lang="en-US" dirty="0"/>
          </a:p>
        </p:txBody>
      </p:sp>
      <p:sp>
        <p:nvSpPr>
          <p:cNvPr id="6" name="Slide Number Placeholder 5"/>
          <p:cNvSpPr>
            <a:spLocks noGrp="1"/>
          </p:cNvSpPr>
          <p:nvPr>
            <p:ph type="sldNum" sz="quarter" idx="11"/>
          </p:nvPr>
        </p:nvSpPr>
        <p:spPr/>
        <p:txBody>
          <a:bodyPr/>
          <a:lstStyle/>
          <a:p>
            <a:fld id="{7BE6430B-D41A-4F4B-986B-D268072AE718}" type="slidenum">
              <a:rPr lang="en-US" smtClean="0"/>
              <a:pPr/>
              <a:t>46</a:t>
            </a:fld>
            <a:endParaRPr lang="en-US"/>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286000"/>
            <a:ext cx="4191000" cy="3505200"/>
          </a:xfrm>
          <a:prstGeom prst="rect">
            <a:avLst/>
          </a:prstGeom>
          <a:noFill/>
          <a:ln>
            <a:noFill/>
          </a:ln>
        </p:spPr>
      </p:pic>
      <p:sp>
        <p:nvSpPr>
          <p:cNvPr id="53250" name="Text Box 18"/>
          <p:cNvSpPr txBox="1">
            <a:spLocks noChangeArrowheads="1"/>
          </p:cNvSpPr>
          <p:nvPr/>
        </p:nvSpPr>
        <p:spPr bwMode="auto">
          <a:xfrm>
            <a:off x="6858000" y="2667000"/>
            <a:ext cx="3200400" cy="190500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just" fontAlgn="base">
              <a:spcBef>
                <a:spcPct val="0"/>
              </a:spcBef>
              <a:spcAft>
                <a:spcPts val="1000"/>
              </a:spcAft>
            </a:pPr>
            <a:r>
              <a:rPr lang="en-US" dirty="0" err="1">
                <a:latin typeface="Calibri" pitchFamily="34" charset="0"/>
                <a:cs typeface="Arial" pitchFamily="34" charset="0"/>
              </a:rPr>
              <a:t>Jika</a:t>
            </a:r>
            <a:r>
              <a:rPr lang="en-US" dirty="0">
                <a:latin typeface="Calibri" pitchFamily="34" charset="0"/>
                <a:cs typeface="Arial" pitchFamily="34" charset="0"/>
              </a:rPr>
              <a:t> V</a:t>
            </a:r>
            <a:r>
              <a:rPr lang="en-US" baseline="-25000" dirty="0">
                <a:latin typeface="Calibri" pitchFamily="34" charset="0"/>
                <a:cs typeface="Arial" pitchFamily="34" charset="0"/>
              </a:rPr>
              <a:t>in</a:t>
            </a:r>
            <a:r>
              <a:rPr lang="en-US" dirty="0">
                <a:latin typeface="Calibri" pitchFamily="34" charset="0"/>
                <a:cs typeface="Arial" pitchFamily="34" charset="0"/>
              </a:rPr>
              <a:t> </a:t>
            </a:r>
            <a:r>
              <a:rPr lang="en-US" dirty="0" err="1">
                <a:latin typeface="Calibri" pitchFamily="34" charset="0"/>
                <a:cs typeface="Arial" pitchFamily="34" charset="0"/>
              </a:rPr>
              <a:t>bernilai</a:t>
            </a:r>
            <a:r>
              <a:rPr lang="en-US" dirty="0">
                <a:latin typeface="Calibri" pitchFamily="34" charset="0"/>
                <a:cs typeface="Arial" pitchFamily="34" charset="0"/>
              </a:rPr>
              <a:t> </a:t>
            </a:r>
            <a:r>
              <a:rPr lang="en-US" dirty="0" err="1">
                <a:latin typeface="Calibri" pitchFamily="34" charset="0"/>
                <a:cs typeface="Arial" pitchFamily="34" charset="0"/>
              </a:rPr>
              <a:t>sama</a:t>
            </a:r>
            <a:r>
              <a:rPr lang="en-US" dirty="0">
                <a:latin typeface="Calibri" pitchFamily="34" charset="0"/>
                <a:cs typeface="Arial" pitchFamily="34" charset="0"/>
              </a:rPr>
              <a:t> </a:t>
            </a:r>
            <a:r>
              <a:rPr lang="en-US" dirty="0" err="1">
                <a:latin typeface="Calibri" pitchFamily="34" charset="0"/>
                <a:cs typeface="Arial" pitchFamily="34" charset="0"/>
              </a:rPr>
              <a:t>besar</a:t>
            </a:r>
            <a:r>
              <a:rPr lang="en-US" dirty="0">
                <a:latin typeface="Calibri" pitchFamily="34" charset="0"/>
                <a:cs typeface="Arial" pitchFamily="34" charset="0"/>
              </a:rPr>
              <a:t> </a:t>
            </a:r>
            <a:r>
              <a:rPr lang="en-US" dirty="0" err="1">
                <a:latin typeface="Calibri" pitchFamily="34" charset="0"/>
                <a:cs typeface="Arial" pitchFamily="34" charset="0"/>
              </a:rPr>
              <a:t>dengan</a:t>
            </a:r>
            <a:r>
              <a:rPr lang="en-US" dirty="0">
                <a:latin typeface="Calibri" pitchFamily="34" charset="0"/>
                <a:cs typeface="Arial" pitchFamily="34" charset="0"/>
              </a:rPr>
              <a:t> V</a:t>
            </a:r>
            <a:r>
              <a:rPr lang="en-US" baseline="-25000" dirty="0">
                <a:latin typeface="Calibri" pitchFamily="34" charset="0"/>
                <a:cs typeface="Arial" pitchFamily="34" charset="0"/>
              </a:rPr>
              <a:t>s</a:t>
            </a:r>
            <a:r>
              <a:rPr lang="en-US" dirty="0">
                <a:latin typeface="Calibri" pitchFamily="34" charset="0"/>
                <a:cs typeface="Arial" pitchFamily="34" charset="0"/>
              </a:rPr>
              <a:t> </a:t>
            </a:r>
            <a:r>
              <a:rPr lang="en-US" dirty="0" err="1">
                <a:latin typeface="Calibri" pitchFamily="34" charset="0"/>
                <a:cs typeface="Arial" pitchFamily="34" charset="0"/>
              </a:rPr>
              <a:t>maka</a:t>
            </a:r>
            <a:r>
              <a:rPr lang="en-US" dirty="0">
                <a:latin typeface="Calibri" pitchFamily="34" charset="0"/>
                <a:cs typeface="Arial" pitchFamily="34" charset="0"/>
              </a:rPr>
              <a:t> </a:t>
            </a:r>
            <a:r>
              <a:rPr lang="en-US" dirty="0" err="1">
                <a:latin typeface="Calibri" pitchFamily="34" charset="0"/>
                <a:cs typeface="Arial" pitchFamily="34" charset="0"/>
              </a:rPr>
              <a:t>V</a:t>
            </a:r>
            <a:r>
              <a:rPr lang="en-US" baseline="-25000" dirty="0" err="1">
                <a:latin typeface="Calibri" pitchFamily="34" charset="0"/>
                <a:cs typeface="Arial" pitchFamily="34" charset="0"/>
              </a:rPr>
              <a:t>out</a:t>
            </a:r>
            <a:r>
              <a:rPr lang="en-US" dirty="0">
                <a:latin typeface="Calibri" pitchFamily="34" charset="0"/>
                <a:cs typeface="Arial" pitchFamily="34" charset="0"/>
              </a:rPr>
              <a:t> </a:t>
            </a:r>
            <a:r>
              <a:rPr lang="en-US" dirty="0" err="1">
                <a:latin typeface="Calibri" pitchFamily="34" charset="0"/>
                <a:cs typeface="Arial" pitchFamily="34" charset="0"/>
              </a:rPr>
              <a:t>akan</a:t>
            </a:r>
            <a:r>
              <a:rPr lang="en-US" dirty="0">
                <a:latin typeface="Calibri" pitchFamily="34" charset="0"/>
                <a:cs typeface="Arial" pitchFamily="34" charset="0"/>
              </a:rPr>
              <a:t> </a:t>
            </a:r>
            <a:r>
              <a:rPr lang="en-US" dirty="0" err="1">
                <a:latin typeface="Calibri" pitchFamily="34" charset="0"/>
                <a:cs typeface="Arial" pitchFamily="34" charset="0"/>
              </a:rPr>
              <a:t>memilih</a:t>
            </a:r>
            <a:r>
              <a:rPr lang="en-US" dirty="0">
                <a:latin typeface="Calibri" pitchFamily="34" charset="0"/>
                <a:cs typeface="Arial" pitchFamily="34" charset="0"/>
              </a:rPr>
              <a:t> V</a:t>
            </a:r>
            <a:r>
              <a:rPr lang="en-US" baseline="-25000" dirty="0">
                <a:latin typeface="Calibri" pitchFamily="34" charset="0"/>
                <a:cs typeface="Arial" pitchFamily="34" charset="0"/>
              </a:rPr>
              <a:t>in</a:t>
            </a:r>
            <a:r>
              <a:rPr lang="en-US" dirty="0">
                <a:latin typeface="Calibri" pitchFamily="34" charset="0"/>
                <a:cs typeface="Arial" pitchFamily="34" charset="0"/>
              </a:rPr>
              <a:t> yang </a:t>
            </a:r>
            <a:r>
              <a:rPr lang="en-US" dirty="0" err="1">
                <a:latin typeface="Calibri" pitchFamily="34" charset="0"/>
                <a:cs typeface="Arial" pitchFamily="34" charset="0"/>
              </a:rPr>
              <a:t>memiliki</a:t>
            </a:r>
            <a:r>
              <a:rPr lang="en-US" dirty="0">
                <a:latin typeface="Calibri" pitchFamily="34" charset="0"/>
                <a:cs typeface="Arial" pitchFamily="34" charset="0"/>
              </a:rPr>
              <a:t> </a:t>
            </a:r>
            <a:r>
              <a:rPr lang="en-US" dirty="0" err="1">
                <a:latin typeface="Calibri" pitchFamily="34" charset="0"/>
                <a:cs typeface="Arial" pitchFamily="34" charset="0"/>
              </a:rPr>
              <a:t>nilai</a:t>
            </a:r>
            <a:r>
              <a:rPr lang="en-US" dirty="0">
                <a:latin typeface="Calibri" pitchFamily="34" charset="0"/>
                <a:cs typeface="Arial" pitchFamily="34" charset="0"/>
              </a:rPr>
              <a:t> </a:t>
            </a:r>
            <a:r>
              <a:rPr lang="en-US" dirty="0" err="1">
                <a:latin typeface="Calibri" pitchFamily="34" charset="0"/>
                <a:cs typeface="Arial" pitchFamily="34" charset="0"/>
              </a:rPr>
              <a:t>hambatan</a:t>
            </a:r>
            <a:r>
              <a:rPr lang="en-US" dirty="0">
                <a:latin typeface="Calibri" pitchFamily="34" charset="0"/>
                <a:cs typeface="Arial" pitchFamily="34" charset="0"/>
              </a:rPr>
              <a:t> yang </a:t>
            </a:r>
            <a:r>
              <a:rPr lang="en-US" dirty="0" err="1">
                <a:latin typeface="Calibri" pitchFamily="34" charset="0"/>
                <a:cs typeface="Arial" pitchFamily="34" charset="0"/>
              </a:rPr>
              <a:t>lebih</a:t>
            </a:r>
            <a:r>
              <a:rPr lang="en-US" dirty="0">
                <a:latin typeface="Calibri" pitchFamily="34" charset="0"/>
                <a:cs typeface="Arial" pitchFamily="34" charset="0"/>
              </a:rPr>
              <a:t> </a:t>
            </a:r>
            <a:r>
              <a:rPr lang="en-US" dirty="0" err="1">
                <a:latin typeface="Calibri" pitchFamily="34" charset="0"/>
                <a:cs typeface="Arial" pitchFamily="34" charset="0"/>
              </a:rPr>
              <a:t>kecil</a:t>
            </a:r>
            <a:r>
              <a:rPr lang="en-US" dirty="0">
                <a:latin typeface="Calibri" pitchFamily="34" charset="0"/>
                <a:cs typeface="Arial" pitchFamily="34" charset="0"/>
              </a:rPr>
              <a:t>.</a:t>
            </a:r>
            <a:endParaRPr lang="en-US" dirty="0">
              <a:latin typeface="Arial" pitchFamily="34" charset="0"/>
              <a:cs typeface="Arial" pitchFamily="34" charset="0"/>
            </a:endParaRPr>
          </a:p>
        </p:txBody>
      </p:sp>
    </p:spTree>
    <p:extLst>
      <p:ext uri="{BB962C8B-B14F-4D97-AF65-F5344CB8AC3E}">
        <p14:creationId xmlns:p14="http://schemas.microsoft.com/office/powerpoint/2010/main" val="3147385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0"/>
                                        </p:tgtEl>
                                        <p:attrNameLst>
                                          <p:attrName>style.visibility</p:attrName>
                                        </p:attrNameLst>
                                      </p:cBhvr>
                                      <p:to>
                                        <p:strVal val="visible"/>
                                      </p:to>
                                    </p:set>
                                    <p:anim calcmode="lin" valueType="num">
                                      <p:cBhvr additive="base">
                                        <p:cTn id="7" dur="500" fill="hold"/>
                                        <p:tgtEl>
                                          <p:spTgt spid="53250"/>
                                        </p:tgtEl>
                                        <p:attrNameLst>
                                          <p:attrName>ppt_x</p:attrName>
                                        </p:attrNameLst>
                                      </p:cBhvr>
                                      <p:tavLst>
                                        <p:tav tm="0">
                                          <p:val>
                                            <p:strVal val="#ppt_x"/>
                                          </p:val>
                                        </p:tav>
                                        <p:tav tm="100000">
                                          <p:val>
                                            <p:strVal val="#ppt_x"/>
                                          </p:val>
                                        </p:tav>
                                      </p:tavLst>
                                    </p:anim>
                                    <p:anim calcmode="lin" valueType="num">
                                      <p:cBhvr additive="base">
                                        <p:cTn id="8" dur="500" fill="hold"/>
                                        <p:tgtEl>
                                          <p:spTgt spid="532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referensi</a:t>
            </a:r>
            <a:endParaRPr lang="en-US" dirty="0"/>
          </a:p>
        </p:txBody>
      </p:sp>
      <p:sp>
        <p:nvSpPr>
          <p:cNvPr id="3" name="Content Placeholder 2"/>
          <p:cNvSpPr>
            <a:spLocks noGrp="1"/>
          </p:cNvSpPr>
          <p:nvPr>
            <p:ph sz="quarter" idx="1"/>
          </p:nvPr>
        </p:nvSpPr>
        <p:spPr>
          <a:xfrm>
            <a:off x="1981200" y="1600200"/>
            <a:ext cx="8305800" cy="4724400"/>
          </a:xfrm>
        </p:spPr>
        <p:txBody>
          <a:bodyPr>
            <a:normAutofit fontScale="70000" lnSpcReduction="20000"/>
          </a:bodyPr>
          <a:lstStyle/>
          <a:p>
            <a:r>
              <a:rPr lang="en-US" dirty="0" err="1" smtClean="0"/>
              <a:t>modul</a:t>
            </a:r>
            <a:r>
              <a:rPr lang="en-US" dirty="0" smtClean="0"/>
              <a:t> </a:t>
            </a:r>
            <a:r>
              <a:rPr lang="en-US" dirty="0" err="1" smtClean="0"/>
              <a:t>praktikum</a:t>
            </a:r>
            <a:r>
              <a:rPr lang="en-US" dirty="0" smtClean="0"/>
              <a:t> </a:t>
            </a:r>
            <a:r>
              <a:rPr lang="en-US" dirty="0" err="1" smtClean="0"/>
              <a:t>elektronika</a:t>
            </a:r>
            <a:r>
              <a:rPr lang="en-US" dirty="0" smtClean="0"/>
              <a:t> </a:t>
            </a:r>
            <a:r>
              <a:rPr lang="en-US" dirty="0" err="1" smtClean="0"/>
              <a:t>lanjut</a:t>
            </a:r>
            <a:endParaRPr lang="en-US" dirty="0" smtClean="0"/>
          </a:p>
          <a:p>
            <a:r>
              <a:rPr lang="en-US" dirty="0" err="1" smtClean="0"/>
              <a:t>buku</a:t>
            </a:r>
            <a:r>
              <a:rPr lang="en-US" dirty="0" smtClean="0"/>
              <a:t> </a:t>
            </a:r>
            <a:r>
              <a:rPr lang="en-US" dirty="0" err="1" smtClean="0"/>
              <a:t>malvino</a:t>
            </a:r>
            <a:r>
              <a:rPr lang="en-US" dirty="0" smtClean="0"/>
              <a:t> </a:t>
            </a:r>
            <a:r>
              <a:rPr lang="en-US" dirty="0" err="1" smtClean="0"/>
              <a:t>bab</a:t>
            </a:r>
            <a:r>
              <a:rPr lang="en-US" dirty="0" smtClean="0"/>
              <a:t> </a:t>
            </a:r>
            <a:r>
              <a:rPr lang="en-US" dirty="0" err="1" smtClean="0"/>
              <a:t>differensial</a:t>
            </a:r>
            <a:r>
              <a:rPr lang="en-US" dirty="0" smtClean="0"/>
              <a:t> amplifier </a:t>
            </a:r>
            <a:r>
              <a:rPr lang="en-US" dirty="0" err="1" smtClean="0"/>
              <a:t>dan</a:t>
            </a:r>
            <a:r>
              <a:rPr lang="en-US" dirty="0" smtClean="0"/>
              <a:t> </a:t>
            </a:r>
            <a:r>
              <a:rPr lang="en-US" dirty="0" err="1" smtClean="0"/>
              <a:t>operasional</a:t>
            </a:r>
            <a:r>
              <a:rPr lang="en-US" dirty="0" smtClean="0"/>
              <a:t> amplifier.</a:t>
            </a:r>
          </a:p>
          <a:p>
            <a:r>
              <a:rPr lang="en-US" u="sng" dirty="0" smtClean="0">
                <a:hlinkClick r:id="rId2"/>
              </a:rPr>
              <a:t>http://id.wikipedia.org/wiki/Berkas:Op-Amp_Comparator.svg</a:t>
            </a:r>
            <a:endParaRPr lang="en-US" dirty="0" smtClean="0"/>
          </a:p>
          <a:p>
            <a:r>
              <a:rPr lang="en-US" u="sng" dirty="0" smtClean="0">
                <a:hlinkClick r:id="rId3"/>
              </a:rPr>
              <a:t>http://www.electronics-tutorials.ws/opamp/opamp_4.html</a:t>
            </a:r>
            <a:r>
              <a:rPr lang="en-US" dirty="0" smtClean="0"/>
              <a:t> </a:t>
            </a:r>
          </a:p>
          <a:p>
            <a:r>
              <a:rPr lang="en-US" sz="3200" dirty="0" err="1"/>
              <a:t>Bahan</a:t>
            </a:r>
            <a:r>
              <a:rPr lang="en-US" sz="3200" dirty="0"/>
              <a:t> Ajar </a:t>
            </a:r>
            <a:r>
              <a:rPr lang="en-US" sz="3200" dirty="0" err="1"/>
              <a:t>Operasional</a:t>
            </a:r>
            <a:r>
              <a:rPr lang="en-US" sz="3200" dirty="0"/>
              <a:t> Amplifier </a:t>
            </a:r>
            <a:r>
              <a:rPr lang="en-US" sz="3200" dirty="0" err="1"/>
              <a:t>oleh</a:t>
            </a:r>
            <a:r>
              <a:rPr lang="en-US" sz="3200" dirty="0"/>
              <a:t> Dr. </a:t>
            </a:r>
            <a:r>
              <a:rPr lang="en-US" sz="3200" dirty="0" err="1"/>
              <a:t>Risanuri</a:t>
            </a:r>
            <a:r>
              <a:rPr lang="en-US" sz="3200" dirty="0"/>
              <a:t> </a:t>
            </a:r>
            <a:r>
              <a:rPr lang="en-US" sz="3200" dirty="0" err="1"/>
              <a:t>Hidayat</a:t>
            </a:r>
            <a:endParaRPr lang="en-US" sz="3200" dirty="0"/>
          </a:p>
          <a:p>
            <a:r>
              <a:rPr lang="en-US" sz="3200" dirty="0"/>
              <a:t>http://josuru.blogspot.com/2009/06/pengertian-op-ampoperational-amplifier.html</a:t>
            </a:r>
          </a:p>
          <a:p>
            <a:r>
              <a:rPr lang="en-US" sz="3200" dirty="0"/>
              <a:t>http://www.google.co.id/imgres?q=IC+OP-AMP+741&amp;um=1&amp;hl=id&amp;client=firefox-a&amp;sa=G&amp;rls=org.mozilla:en-US:official&amp;biw=1366&amp;bih=645&amp;tbm=isch&amp;tbnid=hrB_8kPECASzgM:&amp;imgrefurl=http://angrian.wordpress.com/2010/03/09/gambar-ic-741/&amp;docid=Z9XIb9282gipDM&amp;imgurl=http://angrian.files.wordpress.com/2010/03/ic741-op-amp-tr1.jpg&amp;w=129&amp;h=125&amp;ei=Tk1jT9joKcrLrQei59G9Bw&amp;zoom=1</a:t>
            </a:r>
          </a:p>
          <a:p>
            <a:r>
              <a:rPr lang="en-US" sz="3200"/>
              <a:t>http://www.scribd.com/doc/51889770/13/Rangkaian-Integrator-dan-Diferensiator</a:t>
            </a:r>
            <a:endParaRPr lang="en-US" sz="3200"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47</a:t>
            </a:fld>
            <a:endParaRPr lang="en-US"/>
          </a:p>
        </p:txBody>
      </p:sp>
    </p:spTree>
    <p:extLst>
      <p:ext uri="{BB962C8B-B14F-4D97-AF65-F5344CB8AC3E}">
        <p14:creationId xmlns:p14="http://schemas.microsoft.com/office/powerpoint/2010/main" val="29452911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48</a:t>
            </a:fld>
            <a:endParaRPr lang="en-US"/>
          </a:p>
        </p:txBody>
      </p:sp>
      <p:pic>
        <p:nvPicPr>
          <p:cNvPr id="55298" name="Picture 2"/>
          <p:cNvPicPr>
            <a:picLocks noChangeAspect="1" noChangeArrowheads="1"/>
          </p:cNvPicPr>
          <p:nvPr/>
        </p:nvPicPr>
        <p:blipFill>
          <a:blip r:embed="rId2"/>
          <a:srcRect/>
          <a:stretch>
            <a:fillRect/>
          </a:stretch>
        </p:blipFill>
        <p:spPr bwMode="auto">
          <a:xfrm>
            <a:off x="2057400" y="1656794"/>
            <a:ext cx="7543800" cy="4896407"/>
          </a:xfrm>
          <a:prstGeom prst="rect">
            <a:avLst/>
          </a:prstGeom>
          <a:noFill/>
          <a:ln w="9525">
            <a:noFill/>
            <a:miter lim="800000"/>
            <a:headEnd/>
            <a:tailEnd/>
          </a:ln>
          <a:effectLst/>
        </p:spPr>
      </p:pic>
    </p:spTree>
    <p:extLst>
      <p:ext uri="{BB962C8B-B14F-4D97-AF65-F5344CB8AC3E}">
        <p14:creationId xmlns:p14="http://schemas.microsoft.com/office/powerpoint/2010/main" val="386816082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49</a:t>
            </a:fld>
            <a:endParaRPr lang="en-US"/>
          </a:p>
        </p:txBody>
      </p:sp>
      <p:sp>
        <p:nvSpPr>
          <p:cNvPr id="56321" name="Rectangle 1"/>
          <p:cNvSpPr>
            <a:spLocks noChangeArrowheads="1"/>
          </p:cNvSpPr>
          <p:nvPr/>
        </p:nvSpPr>
        <p:spPr bwMode="auto">
          <a:xfrm>
            <a:off x="1828800" y="1676401"/>
            <a:ext cx="82296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latin typeface="Calibri" pitchFamily="34" charset="0"/>
                <a:ea typeface="Calibri" pitchFamily="34" charset="0"/>
                <a:cs typeface="Calibri" pitchFamily="34" charset="0"/>
              </a:rPr>
              <a:t>3.Hitunglah </a:t>
            </a:r>
            <a:r>
              <a:rPr lang="en-US" sz="2400" dirty="0" err="1">
                <a:latin typeface="Calibri" pitchFamily="34" charset="0"/>
                <a:ea typeface="Calibri" pitchFamily="34" charset="0"/>
                <a:cs typeface="Calibri" pitchFamily="34" charset="0"/>
              </a:rPr>
              <a:t>Vot</a:t>
            </a:r>
            <a:r>
              <a:rPr lang="en-US" sz="2400" dirty="0">
                <a:latin typeface="Calibri" pitchFamily="34" charset="0"/>
                <a:ea typeface="Calibri" pitchFamily="34" charset="0"/>
                <a:cs typeface="Calibri" pitchFamily="34" charset="0"/>
              </a:rPr>
              <a:t> </a:t>
            </a:r>
            <a:r>
              <a:rPr lang="en-US" sz="2400" dirty="0" err="1">
                <a:latin typeface="Calibri" pitchFamily="34" charset="0"/>
                <a:ea typeface="Calibri" pitchFamily="34" charset="0"/>
                <a:cs typeface="Calibri" pitchFamily="34" charset="0"/>
              </a:rPr>
              <a:t>dari</a:t>
            </a:r>
            <a:r>
              <a:rPr lang="en-US" sz="2400" dirty="0">
                <a:latin typeface="Calibri" pitchFamily="34" charset="0"/>
                <a:ea typeface="Calibri" pitchFamily="34" charset="0"/>
                <a:cs typeface="Calibri" pitchFamily="34" charset="0"/>
              </a:rPr>
              <a:t> </a:t>
            </a:r>
            <a:r>
              <a:rPr lang="en-US" sz="2400" dirty="0" err="1">
                <a:latin typeface="Calibri" pitchFamily="34" charset="0"/>
                <a:ea typeface="Calibri" pitchFamily="34" charset="0"/>
                <a:cs typeface="Calibri" pitchFamily="34" charset="0"/>
              </a:rPr>
              <a:t>rangkaian</a:t>
            </a:r>
            <a:r>
              <a:rPr lang="en-US" sz="2400" dirty="0">
                <a:latin typeface="Calibri" pitchFamily="34" charset="0"/>
                <a:ea typeface="Calibri" pitchFamily="34" charset="0"/>
                <a:cs typeface="Calibri" pitchFamily="34" charset="0"/>
              </a:rPr>
              <a:t> summing amplifier </a:t>
            </a:r>
            <a:r>
              <a:rPr lang="en-US" sz="2400" dirty="0" err="1">
                <a:latin typeface="Calibri" pitchFamily="34" charset="0"/>
                <a:ea typeface="Calibri" pitchFamily="34" charset="0"/>
                <a:cs typeface="Calibri" pitchFamily="34" charset="0"/>
              </a:rPr>
              <a:t>berikut</a:t>
            </a:r>
            <a:r>
              <a:rPr lang="en-US" sz="2400" dirty="0">
                <a:latin typeface="Calibri" pitchFamily="34" charset="0"/>
                <a:ea typeface="Calibri" pitchFamily="34" charset="0"/>
                <a:cs typeface="Calibri" pitchFamily="34" charset="0"/>
              </a:rPr>
              <a:t>:</a:t>
            </a:r>
            <a:endParaRPr lang="en-US" sz="2400" dirty="0">
              <a:latin typeface="Arial" pitchFamily="34" charset="0"/>
              <a:cs typeface="Arial" pitchFamily="34" charset="0"/>
            </a:endParaRPr>
          </a:p>
        </p:txBody>
      </p:sp>
      <p:pic>
        <p:nvPicPr>
          <p:cNvPr id="7" name="Picture 6"/>
          <p:cNvPicPr/>
          <p:nvPr/>
        </p:nvPicPr>
        <p:blipFill>
          <a:blip r:embed="rId2"/>
          <a:stretch>
            <a:fillRect/>
          </a:stretch>
        </p:blipFill>
        <p:spPr>
          <a:xfrm>
            <a:off x="2286000" y="2209800"/>
            <a:ext cx="6400800" cy="3657600"/>
          </a:xfrm>
          <a:prstGeom prst="rect">
            <a:avLst/>
          </a:prstGeom>
        </p:spPr>
      </p:pic>
    </p:spTree>
    <p:extLst>
      <p:ext uri="{BB962C8B-B14F-4D97-AF65-F5344CB8AC3E}">
        <p14:creationId xmlns:p14="http://schemas.microsoft.com/office/powerpoint/2010/main" val="95278239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50</a:t>
            </a:fld>
            <a:endParaRPr lang="en-US"/>
          </a:p>
        </p:txBody>
      </p:sp>
      <p:sp>
        <p:nvSpPr>
          <p:cNvPr id="56321" name="Rectangle 1"/>
          <p:cNvSpPr>
            <a:spLocks noChangeArrowheads="1"/>
          </p:cNvSpPr>
          <p:nvPr/>
        </p:nvSpPr>
        <p:spPr bwMode="auto">
          <a:xfrm>
            <a:off x="1828800" y="1676401"/>
            <a:ext cx="82296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latin typeface="Calibri" pitchFamily="34" charset="0"/>
                <a:ea typeface="Calibri" pitchFamily="34" charset="0"/>
                <a:cs typeface="Calibri" pitchFamily="34" charset="0"/>
              </a:rPr>
              <a:t>4. </a:t>
            </a:r>
            <a:r>
              <a:rPr lang="en-US" sz="2400" dirty="0" err="1"/>
              <a:t>Hitunglah</a:t>
            </a:r>
            <a:r>
              <a:rPr lang="en-US" sz="2400" dirty="0"/>
              <a:t> </a:t>
            </a:r>
            <a:r>
              <a:rPr lang="en-US" sz="2400" dirty="0" err="1"/>
              <a:t>Vout</a:t>
            </a:r>
            <a:r>
              <a:rPr lang="en-US" sz="2400" dirty="0"/>
              <a:t> </a:t>
            </a:r>
            <a:r>
              <a:rPr lang="en-US" sz="2400" dirty="0" err="1"/>
              <a:t>dari</a:t>
            </a:r>
            <a:r>
              <a:rPr lang="en-US" sz="2400" dirty="0"/>
              <a:t> </a:t>
            </a:r>
            <a:r>
              <a:rPr lang="en-US" sz="2400" dirty="0" err="1"/>
              <a:t>rangkaian</a:t>
            </a:r>
            <a:r>
              <a:rPr lang="en-US" sz="2400" dirty="0"/>
              <a:t> </a:t>
            </a:r>
            <a:r>
              <a:rPr lang="en-US" sz="2400" dirty="0" err="1"/>
              <a:t>differensial</a:t>
            </a:r>
            <a:r>
              <a:rPr lang="en-US" sz="2400" dirty="0"/>
              <a:t> amplifier </a:t>
            </a:r>
            <a:r>
              <a:rPr lang="en-US" sz="2400" dirty="0" err="1"/>
              <a:t>atau</a:t>
            </a:r>
            <a:r>
              <a:rPr lang="en-US" sz="2400" dirty="0"/>
              <a:t> </a:t>
            </a:r>
            <a:r>
              <a:rPr lang="en-US" sz="2400" dirty="0" err="1"/>
              <a:t>rangkaian</a:t>
            </a:r>
            <a:r>
              <a:rPr lang="en-US" sz="2400" dirty="0"/>
              <a:t> </a:t>
            </a:r>
            <a:r>
              <a:rPr lang="en-US" sz="2400" dirty="0" err="1"/>
              <a:t>penguat</a:t>
            </a:r>
            <a:r>
              <a:rPr lang="en-US" sz="2400" dirty="0"/>
              <a:t> </a:t>
            </a:r>
            <a:r>
              <a:rPr lang="en-US" sz="2400" dirty="0" err="1"/>
              <a:t>selisih</a:t>
            </a:r>
            <a:r>
              <a:rPr lang="en-US" sz="2400" dirty="0"/>
              <a:t> </a:t>
            </a:r>
            <a:r>
              <a:rPr lang="en-US" sz="2400" dirty="0" err="1"/>
              <a:t>dari</a:t>
            </a:r>
            <a:r>
              <a:rPr lang="en-US" sz="2400" dirty="0"/>
              <a:t> </a:t>
            </a:r>
            <a:r>
              <a:rPr lang="en-US" sz="2400" dirty="0" err="1"/>
              <a:t>rangkaian</a:t>
            </a:r>
            <a:r>
              <a:rPr lang="en-US" sz="2400" dirty="0"/>
              <a:t> </a:t>
            </a:r>
            <a:r>
              <a:rPr lang="en-US" sz="2400" dirty="0" err="1"/>
              <a:t>berikut</a:t>
            </a:r>
            <a:r>
              <a:rPr lang="en-US" sz="2400" dirty="0"/>
              <a:t>:</a:t>
            </a:r>
          </a:p>
        </p:txBody>
      </p:sp>
      <p:pic>
        <p:nvPicPr>
          <p:cNvPr id="8" name="Picture 7"/>
          <p:cNvPicPr/>
          <p:nvPr/>
        </p:nvPicPr>
        <p:blipFill>
          <a:blip r:embed="rId2">
            <a:extLst>
              <a:ext uri="{28A0092B-C50C-407E-A947-70E740481C1C}">
                <a14:useLocalDpi xmlns:a14="http://schemas.microsoft.com/office/drawing/2010/main" val="0"/>
              </a:ext>
            </a:extLst>
          </a:blip>
          <a:stretch>
            <a:fillRect/>
          </a:stretch>
        </p:blipFill>
        <p:spPr>
          <a:xfrm>
            <a:off x="2971800" y="2819400"/>
            <a:ext cx="5562600" cy="3200400"/>
          </a:xfrm>
          <a:prstGeom prst="rect">
            <a:avLst/>
          </a:prstGeom>
        </p:spPr>
      </p:pic>
    </p:spTree>
    <p:extLst>
      <p:ext uri="{BB962C8B-B14F-4D97-AF65-F5344CB8AC3E}">
        <p14:creationId xmlns:p14="http://schemas.microsoft.com/office/powerpoint/2010/main" val="12160682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51</a:t>
            </a:fld>
            <a:endParaRPr lang="en-US"/>
          </a:p>
        </p:txBody>
      </p:sp>
      <p:sp>
        <p:nvSpPr>
          <p:cNvPr id="56321" name="Rectangle 1"/>
          <p:cNvSpPr>
            <a:spLocks noChangeArrowheads="1"/>
          </p:cNvSpPr>
          <p:nvPr/>
        </p:nvSpPr>
        <p:spPr bwMode="auto">
          <a:xfrm>
            <a:off x="1828800" y="1676401"/>
            <a:ext cx="82296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2400" dirty="0">
                <a:latin typeface="Calibri" pitchFamily="34" charset="0"/>
                <a:ea typeface="Calibri" pitchFamily="34" charset="0"/>
                <a:cs typeface="Calibri" pitchFamily="34" charset="0"/>
              </a:rPr>
              <a:t>5. </a:t>
            </a:r>
            <a:r>
              <a:rPr lang="en-US" sz="2400" dirty="0" err="1"/>
              <a:t>Hitunglah</a:t>
            </a:r>
            <a:r>
              <a:rPr lang="en-US" sz="2400" dirty="0"/>
              <a:t> </a:t>
            </a:r>
            <a:r>
              <a:rPr lang="en-US" sz="2400" dirty="0" err="1"/>
              <a:t>Vout</a:t>
            </a:r>
            <a:r>
              <a:rPr lang="en-US" sz="2400" dirty="0"/>
              <a:t> </a:t>
            </a:r>
            <a:r>
              <a:rPr lang="en-US" sz="2400" dirty="0" err="1"/>
              <a:t>dari</a:t>
            </a:r>
            <a:r>
              <a:rPr lang="en-US" sz="2400" dirty="0"/>
              <a:t> </a:t>
            </a:r>
            <a:r>
              <a:rPr lang="en-US" sz="2400" dirty="0" err="1"/>
              <a:t>rangkaian</a:t>
            </a:r>
            <a:r>
              <a:rPr lang="en-US" sz="2400" dirty="0"/>
              <a:t> </a:t>
            </a:r>
            <a:r>
              <a:rPr lang="en-US" sz="2400" dirty="0" err="1"/>
              <a:t>differensial</a:t>
            </a:r>
            <a:r>
              <a:rPr lang="en-US" sz="2400" dirty="0"/>
              <a:t> amplifier </a:t>
            </a:r>
            <a:r>
              <a:rPr lang="en-US" sz="2400" dirty="0" err="1"/>
              <a:t>atau</a:t>
            </a:r>
            <a:r>
              <a:rPr lang="en-US" sz="2400" dirty="0"/>
              <a:t> </a:t>
            </a:r>
            <a:r>
              <a:rPr lang="en-US" sz="2400" dirty="0" err="1"/>
              <a:t>rangkaian</a:t>
            </a:r>
            <a:r>
              <a:rPr lang="en-US" sz="2400" dirty="0"/>
              <a:t> </a:t>
            </a:r>
            <a:r>
              <a:rPr lang="en-US" sz="2400" dirty="0" err="1"/>
              <a:t>penguat</a:t>
            </a:r>
            <a:r>
              <a:rPr lang="en-US" sz="2400" dirty="0"/>
              <a:t> </a:t>
            </a:r>
            <a:r>
              <a:rPr lang="en-US" sz="2400" dirty="0" err="1"/>
              <a:t>selisih</a:t>
            </a:r>
            <a:r>
              <a:rPr lang="en-US" sz="2400" dirty="0"/>
              <a:t> </a:t>
            </a:r>
            <a:r>
              <a:rPr lang="en-US" sz="2400" dirty="0" err="1"/>
              <a:t>dari</a:t>
            </a:r>
            <a:r>
              <a:rPr lang="en-US" sz="2400" dirty="0"/>
              <a:t> </a:t>
            </a:r>
            <a:r>
              <a:rPr lang="en-US" sz="2400" dirty="0" err="1"/>
              <a:t>rangkaian</a:t>
            </a:r>
            <a:r>
              <a:rPr lang="en-US" sz="2400" dirty="0"/>
              <a:t> </a:t>
            </a:r>
            <a:r>
              <a:rPr lang="en-US" sz="2400" dirty="0" err="1"/>
              <a:t>berikut</a:t>
            </a:r>
            <a:r>
              <a:rPr lang="en-US" sz="2400" dirty="0"/>
              <a:t>:</a:t>
            </a:r>
          </a:p>
        </p:txBody>
      </p:sp>
      <p:pic>
        <p:nvPicPr>
          <p:cNvPr id="7" name="Picture 6"/>
          <p:cNvPicPr/>
          <p:nvPr/>
        </p:nvPicPr>
        <p:blipFill>
          <a:blip r:embed="rId2"/>
          <a:stretch>
            <a:fillRect/>
          </a:stretch>
        </p:blipFill>
        <p:spPr>
          <a:xfrm>
            <a:off x="2514600" y="2590800"/>
            <a:ext cx="4800600" cy="3581400"/>
          </a:xfrm>
          <a:prstGeom prst="rect">
            <a:avLst/>
          </a:prstGeom>
        </p:spPr>
      </p:pic>
    </p:spTree>
    <p:extLst>
      <p:ext uri="{BB962C8B-B14F-4D97-AF65-F5344CB8AC3E}">
        <p14:creationId xmlns:p14="http://schemas.microsoft.com/office/powerpoint/2010/main" val="20673510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52</a:t>
            </a:fld>
            <a:endParaRPr lang="en-US"/>
          </a:p>
        </p:txBody>
      </p:sp>
      <p:sp>
        <p:nvSpPr>
          <p:cNvPr id="56321" name="Rectangle 1"/>
          <p:cNvSpPr>
            <a:spLocks noChangeArrowheads="1"/>
          </p:cNvSpPr>
          <p:nvPr/>
        </p:nvSpPr>
        <p:spPr bwMode="auto">
          <a:xfrm>
            <a:off x="1828800" y="1861066"/>
            <a:ext cx="82296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2400" dirty="0">
                <a:latin typeface="Calibri" pitchFamily="34" charset="0"/>
                <a:ea typeface="Calibri" pitchFamily="34" charset="0"/>
                <a:cs typeface="Calibri" pitchFamily="34" charset="0"/>
              </a:rPr>
              <a:t>6.</a:t>
            </a:r>
            <a:r>
              <a:rPr lang="en-US" sz="2400" dirty="0"/>
              <a:t> </a:t>
            </a:r>
            <a:r>
              <a:rPr lang="en-US" sz="2400" dirty="0" err="1"/>
              <a:t>Carilah</a:t>
            </a:r>
            <a:r>
              <a:rPr lang="en-US" sz="2400" dirty="0"/>
              <a:t> </a:t>
            </a:r>
            <a:r>
              <a:rPr lang="en-US" sz="2400" dirty="0" err="1"/>
              <a:t>Rumus</a:t>
            </a:r>
            <a:r>
              <a:rPr lang="en-US" sz="2400" dirty="0"/>
              <a:t> </a:t>
            </a:r>
            <a:r>
              <a:rPr lang="en-US" sz="2400" dirty="0" err="1"/>
              <a:t>Vout</a:t>
            </a:r>
            <a:r>
              <a:rPr lang="en-US" sz="2400" dirty="0"/>
              <a:t> </a:t>
            </a:r>
            <a:r>
              <a:rPr lang="en-US" sz="2400" dirty="0" err="1"/>
              <a:t>untuk</a:t>
            </a:r>
            <a:r>
              <a:rPr lang="en-US" sz="2400" dirty="0"/>
              <a:t> </a:t>
            </a:r>
            <a:r>
              <a:rPr lang="en-US" sz="2400" dirty="0" err="1"/>
              <a:t>rangkaian</a:t>
            </a:r>
            <a:r>
              <a:rPr lang="en-US" sz="2400" dirty="0"/>
              <a:t> </a:t>
            </a:r>
            <a:r>
              <a:rPr lang="en-US" sz="2400" dirty="0" err="1"/>
              <a:t>berikut</a:t>
            </a:r>
            <a:r>
              <a:rPr lang="en-US" sz="2400" dirty="0"/>
              <a:t> :</a:t>
            </a:r>
          </a:p>
          <a:p>
            <a:pPr fontAlgn="base">
              <a:spcBef>
                <a:spcPct val="0"/>
              </a:spcBef>
              <a:spcAft>
                <a:spcPct val="0"/>
              </a:spcAft>
            </a:pPr>
            <a:r>
              <a:rPr lang="en-US" sz="2400" dirty="0" err="1"/>
              <a:t>Jika</a:t>
            </a:r>
            <a:r>
              <a:rPr lang="en-US" sz="2400" dirty="0"/>
              <a:t> </a:t>
            </a:r>
            <a:r>
              <a:rPr lang="en-US" sz="2400" dirty="0" err="1"/>
              <a:t>diketahui</a:t>
            </a:r>
            <a:r>
              <a:rPr lang="en-US" sz="2400" dirty="0"/>
              <a:t>: R</a:t>
            </a:r>
            <a:r>
              <a:rPr lang="en-US" sz="2400" baseline="-25000" dirty="0"/>
              <a:t>1 </a:t>
            </a:r>
            <a:r>
              <a:rPr lang="en-US" sz="2400" dirty="0"/>
              <a:t>= R</a:t>
            </a:r>
            <a:r>
              <a:rPr lang="en-US" sz="2400" baseline="-25000" dirty="0"/>
              <a:t>3 </a:t>
            </a:r>
            <a:r>
              <a:rPr lang="en-US" sz="2400" dirty="0"/>
              <a:t>= 2KΩ ; R</a:t>
            </a:r>
            <a:r>
              <a:rPr lang="en-US" sz="2400" baseline="-25000" dirty="0"/>
              <a:t>2</a:t>
            </a:r>
            <a:r>
              <a:rPr lang="en-US" sz="2400" dirty="0"/>
              <a:t> = R</a:t>
            </a:r>
            <a:r>
              <a:rPr lang="en-US" sz="2400" baseline="-25000" dirty="0"/>
              <a:t>4</a:t>
            </a:r>
            <a:r>
              <a:rPr lang="en-US" sz="2400" dirty="0"/>
              <a:t> = 4KΩ ; V</a:t>
            </a:r>
            <a:r>
              <a:rPr lang="en-US" sz="2400" baseline="-25000" dirty="0"/>
              <a:t>1</a:t>
            </a:r>
            <a:r>
              <a:rPr lang="en-US" sz="2400" dirty="0"/>
              <a:t>=6V ; V</a:t>
            </a:r>
            <a:r>
              <a:rPr lang="en-US" sz="2400" baseline="-25000" dirty="0"/>
              <a:t>2</a:t>
            </a:r>
            <a:r>
              <a:rPr lang="en-US" sz="2400" dirty="0"/>
              <a:t> = 7V</a:t>
            </a:r>
          </a:p>
          <a:p>
            <a:pPr lvl="0" fontAlgn="base">
              <a:spcBef>
                <a:spcPct val="0"/>
              </a:spcBef>
              <a:spcAft>
                <a:spcPct val="0"/>
              </a:spcAft>
            </a:pPr>
            <a:endParaRPr lang="en-US" sz="2400" dirty="0"/>
          </a:p>
        </p:txBody>
      </p:sp>
      <p:pic>
        <p:nvPicPr>
          <p:cNvPr id="8" name="Picture 7"/>
          <p:cNvPicPr/>
          <p:nvPr/>
        </p:nvPicPr>
        <p:blipFill>
          <a:blip r:embed="rId2"/>
          <a:stretch>
            <a:fillRect/>
          </a:stretch>
        </p:blipFill>
        <p:spPr>
          <a:xfrm>
            <a:off x="3048000" y="2819400"/>
            <a:ext cx="5562600" cy="3886200"/>
          </a:xfrm>
          <a:prstGeom prst="rect">
            <a:avLst/>
          </a:prstGeom>
        </p:spPr>
      </p:pic>
    </p:spTree>
    <p:extLst>
      <p:ext uri="{BB962C8B-B14F-4D97-AF65-F5344CB8AC3E}">
        <p14:creationId xmlns:p14="http://schemas.microsoft.com/office/powerpoint/2010/main" val="32893978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53</a:t>
            </a:fld>
            <a:endParaRPr lang="en-US"/>
          </a:p>
        </p:txBody>
      </p:sp>
      <p:sp>
        <p:nvSpPr>
          <p:cNvPr id="56321" name="Rectangle 1"/>
          <p:cNvSpPr>
            <a:spLocks noChangeArrowheads="1"/>
          </p:cNvSpPr>
          <p:nvPr/>
        </p:nvSpPr>
        <p:spPr bwMode="auto">
          <a:xfrm>
            <a:off x="1828800" y="1676401"/>
            <a:ext cx="82296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latin typeface="Calibri" pitchFamily="34" charset="0"/>
                <a:ea typeface="Calibri" pitchFamily="34" charset="0"/>
                <a:cs typeface="Calibri" pitchFamily="34" charset="0"/>
              </a:rPr>
              <a:t>8.</a:t>
            </a:r>
            <a:r>
              <a:rPr lang="en-US" sz="2400" dirty="0"/>
              <a:t> </a:t>
            </a:r>
            <a:r>
              <a:rPr lang="en-US" sz="2400" dirty="0" err="1"/>
              <a:t>Carilah</a:t>
            </a:r>
            <a:r>
              <a:rPr lang="en-US" sz="2400" dirty="0"/>
              <a:t> </a:t>
            </a:r>
            <a:r>
              <a:rPr lang="en-US" sz="2400" dirty="0" err="1"/>
              <a:t>rumus</a:t>
            </a:r>
            <a:r>
              <a:rPr lang="en-US" sz="2400" dirty="0"/>
              <a:t> </a:t>
            </a:r>
            <a:r>
              <a:rPr lang="en-US" sz="2400" dirty="0" err="1"/>
              <a:t>Vout</a:t>
            </a:r>
            <a:r>
              <a:rPr lang="en-US" sz="2400" dirty="0"/>
              <a:t> </a:t>
            </a:r>
            <a:r>
              <a:rPr lang="en-US" sz="2400" dirty="0" err="1"/>
              <a:t>untuk</a:t>
            </a:r>
            <a:r>
              <a:rPr lang="en-US" sz="2400" dirty="0"/>
              <a:t> </a:t>
            </a:r>
            <a:r>
              <a:rPr lang="en-US" sz="2400" dirty="0" err="1"/>
              <a:t>rangkaian</a:t>
            </a:r>
            <a:r>
              <a:rPr lang="en-US" sz="2400" dirty="0"/>
              <a:t> </a:t>
            </a:r>
            <a:r>
              <a:rPr lang="en-US" sz="2400" dirty="0" err="1"/>
              <a:t>berikut</a:t>
            </a:r>
            <a:r>
              <a:rPr lang="en-US" sz="2400" dirty="0"/>
              <a:t>, </a:t>
            </a:r>
            <a:r>
              <a:rPr lang="en-US" sz="2400" dirty="0" err="1"/>
              <a:t>Jika</a:t>
            </a:r>
            <a:r>
              <a:rPr lang="en-US" sz="2400" dirty="0"/>
              <a:t> </a:t>
            </a:r>
            <a:r>
              <a:rPr lang="en-US" sz="2400" dirty="0" err="1"/>
              <a:t>diketahui</a:t>
            </a:r>
            <a:r>
              <a:rPr lang="en-US" sz="2400" dirty="0"/>
              <a:t> R</a:t>
            </a:r>
            <a:r>
              <a:rPr lang="en-US" sz="2400" baseline="-25000" dirty="0"/>
              <a:t>1</a:t>
            </a:r>
            <a:r>
              <a:rPr lang="en-US" sz="2400" dirty="0"/>
              <a:t>=R</a:t>
            </a:r>
            <a:r>
              <a:rPr lang="en-US" sz="2400" baseline="-25000" dirty="0"/>
              <a:t>2</a:t>
            </a:r>
            <a:r>
              <a:rPr lang="en-US" sz="2400" dirty="0"/>
              <a:t>=R</a:t>
            </a:r>
            <a:r>
              <a:rPr lang="en-US" sz="2400" baseline="-25000" dirty="0"/>
              <a:t>3</a:t>
            </a:r>
            <a:r>
              <a:rPr lang="en-US" sz="2400" dirty="0"/>
              <a:t>=R</a:t>
            </a:r>
            <a:r>
              <a:rPr lang="en-US" sz="2400" baseline="-25000" dirty="0"/>
              <a:t>4</a:t>
            </a:r>
            <a:r>
              <a:rPr lang="en-US" sz="2400" dirty="0"/>
              <a:t>=R</a:t>
            </a:r>
            <a:r>
              <a:rPr lang="en-US" sz="2400" baseline="-25000" dirty="0"/>
              <a:t>5</a:t>
            </a:r>
            <a:r>
              <a:rPr lang="en-US" sz="2400" dirty="0"/>
              <a:t>=R </a:t>
            </a:r>
          </a:p>
        </p:txBody>
      </p:sp>
      <p:pic>
        <p:nvPicPr>
          <p:cNvPr id="9" name="Picture 8"/>
          <p:cNvPicPr/>
          <p:nvPr/>
        </p:nvPicPr>
        <p:blipFill>
          <a:blip r:embed="rId2"/>
          <a:stretch>
            <a:fillRect/>
          </a:stretch>
        </p:blipFill>
        <p:spPr>
          <a:xfrm>
            <a:off x="2667000" y="2590800"/>
            <a:ext cx="6705600" cy="3657600"/>
          </a:xfrm>
          <a:prstGeom prst="rect">
            <a:avLst/>
          </a:prstGeom>
        </p:spPr>
      </p:pic>
    </p:spTree>
    <p:extLst>
      <p:ext uri="{BB962C8B-B14F-4D97-AF65-F5344CB8AC3E}">
        <p14:creationId xmlns:p14="http://schemas.microsoft.com/office/powerpoint/2010/main" val="32246421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54</a:t>
            </a:fld>
            <a:endParaRPr lang="en-US"/>
          </a:p>
        </p:txBody>
      </p:sp>
      <p:sp>
        <p:nvSpPr>
          <p:cNvPr id="56321" name="Rectangle 1"/>
          <p:cNvSpPr>
            <a:spLocks noChangeArrowheads="1"/>
          </p:cNvSpPr>
          <p:nvPr/>
        </p:nvSpPr>
        <p:spPr bwMode="auto">
          <a:xfrm>
            <a:off x="1828800" y="1676401"/>
            <a:ext cx="82296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latin typeface="Calibri" pitchFamily="34" charset="0"/>
                <a:ea typeface="Calibri" pitchFamily="34" charset="0"/>
                <a:cs typeface="Calibri" pitchFamily="34" charset="0"/>
              </a:rPr>
              <a:t>9.</a:t>
            </a:r>
            <a:r>
              <a:rPr lang="en-US" sz="2400" dirty="0"/>
              <a:t> </a:t>
            </a:r>
            <a:r>
              <a:rPr lang="en-US" sz="2400" dirty="0" err="1"/>
              <a:t>Carilah</a:t>
            </a:r>
            <a:r>
              <a:rPr lang="en-US" sz="2400" dirty="0"/>
              <a:t> </a:t>
            </a:r>
            <a:r>
              <a:rPr lang="en-US" sz="2400" dirty="0" err="1"/>
              <a:t>rumus</a:t>
            </a:r>
            <a:r>
              <a:rPr lang="en-US" sz="2400" dirty="0"/>
              <a:t> </a:t>
            </a:r>
            <a:r>
              <a:rPr lang="en-US" sz="2400" dirty="0" err="1"/>
              <a:t>Vout</a:t>
            </a:r>
            <a:r>
              <a:rPr lang="en-US" sz="2400" dirty="0"/>
              <a:t> </a:t>
            </a:r>
            <a:r>
              <a:rPr lang="en-US" sz="2400" dirty="0" err="1"/>
              <a:t>untuk</a:t>
            </a:r>
            <a:r>
              <a:rPr lang="en-US" sz="2400" dirty="0"/>
              <a:t> </a:t>
            </a:r>
            <a:r>
              <a:rPr lang="en-US" sz="2400" dirty="0" err="1"/>
              <a:t>rangkaian</a:t>
            </a:r>
            <a:r>
              <a:rPr lang="en-US" sz="2400" dirty="0"/>
              <a:t> </a:t>
            </a:r>
            <a:r>
              <a:rPr lang="en-US" sz="2400" dirty="0" err="1"/>
              <a:t>berikut</a:t>
            </a:r>
            <a:r>
              <a:rPr lang="en-US" sz="2400" dirty="0"/>
              <a:t> :</a:t>
            </a:r>
          </a:p>
        </p:txBody>
      </p:sp>
      <p:pic>
        <p:nvPicPr>
          <p:cNvPr id="7" name="Picture 6"/>
          <p:cNvPicPr/>
          <p:nvPr/>
        </p:nvPicPr>
        <p:blipFill>
          <a:blip r:embed="rId2"/>
          <a:stretch>
            <a:fillRect/>
          </a:stretch>
        </p:blipFill>
        <p:spPr>
          <a:xfrm>
            <a:off x="2438400" y="2362200"/>
            <a:ext cx="6553200" cy="3810000"/>
          </a:xfrm>
          <a:prstGeom prst="rect">
            <a:avLst/>
          </a:prstGeom>
        </p:spPr>
      </p:pic>
    </p:spTree>
    <p:extLst>
      <p:ext uri="{BB962C8B-B14F-4D97-AF65-F5344CB8AC3E}">
        <p14:creationId xmlns:p14="http://schemas.microsoft.com/office/powerpoint/2010/main" val="24798260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55</a:t>
            </a:fld>
            <a:endParaRPr lang="en-US"/>
          </a:p>
        </p:txBody>
      </p:sp>
      <p:sp>
        <p:nvSpPr>
          <p:cNvPr id="56321" name="Rectangle 1"/>
          <p:cNvSpPr>
            <a:spLocks noChangeArrowheads="1"/>
          </p:cNvSpPr>
          <p:nvPr/>
        </p:nvSpPr>
        <p:spPr bwMode="auto">
          <a:xfrm>
            <a:off x="1828800" y="1676401"/>
            <a:ext cx="86106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latin typeface="Calibri" pitchFamily="34" charset="0"/>
                <a:ea typeface="Calibri" pitchFamily="34" charset="0"/>
                <a:cs typeface="Calibri" pitchFamily="34" charset="0"/>
              </a:rPr>
              <a:t>10.</a:t>
            </a:r>
            <a:r>
              <a:rPr lang="en-US" sz="2400" dirty="0"/>
              <a:t> </a:t>
            </a:r>
            <a:r>
              <a:rPr lang="en-US" sz="2400" dirty="0" err="1"/>
              <a:t>Berapa</a:t>
            </a:r>
            <a:r>
              <a:rPr lang="en-US" sz="2400" dirty="0"/>
              <a:t> Av </a:t>
            </a:r>
            <a:r>
              <a:rPr lang="en-US" sz="2400" dirty="0" err="1"/>
              <a:t>dan</a:t>
            </a:r>
            <a:r>
              <a:rPr lang="en-US" sz="2400" dirty="0"/>
              <a:t> </a:t>
            </a:r>
            <a:r>
              <a:rPr lang="en-US" sz="2400" dirty="0" err="1"/>
              <a:t>Vout</a:t>
            </a:r>
            <a:r>
              <a:rPr lang="en-US" sz="2400" dirty="0"/>
              <a:t> </a:t>
            </a:r>
            <a:r>
              <a:rPr lang="en-US" sz="2400" dirty="0" err="1"/>
              <a:t>dari</a:t>
            </a:r>
            <a:r>
              <a:rPr lang="en-US" sz="2400" dirty="0"/>
              <a:t> </a:t>
            </a:r>
            <a:r>
              <a:rPr lang="en-US" sz="2400" dirty="0" err="1"/>
              <a:t>rangkaian</a:t>
            </a:r>
            <a:r>
              <a:rPr lang="en-US" sz="2400" dirty="0"/>
              <a:t> </a:t>
            </a:r>
            <a:r>
              <a:rPr lang="en-US" sz="2400" dirty="0" err="1"/>
              <a:t>diatas</a:t>
            </a:r>
            <a:r>
              <a:rPr lang="en-US" sz="2400" dirty="0"/>
              <a:t> (</a:t>
            </a:r>
            <a:r>
              <a:rPr lang="en-US" sz="2400" dirty="0" err="1"/>
              <a:t>gunakan</a:t>
            </a:r>
            <a:r>
              <a:rPr lang="en-US" sz="2400" dirty="0"/>
              <a:t> model π </a:t>
            </a:r>
            <a:r>
              <a:rPr lang="en-US" sz="2400" dirty="0" err="1"/>
              <a:t>dan</a:t>
            </a:r>
            <a:r>
              <a:rPr lang="en-US" sz="2400" dirty="0"/>
              <a:t> model T) </a:t>
            </a:r>
            <a:r>
              <a:rPr lang="en-US" sz="2400" dirty="0" err="1"/>
              <a:t>jika</a:t>
            </a:r>
            <a:r>
              <a:rPr lang="en-US" sz="2400" dirty="0"/>
              <a:t> β=200 </a:t>
            </a:r>
            <a:r>
              <a:rPr lang="en-US" sz="2400" dirty="0" err="1"/>
              <a:t>dan</a:t>
            </a:r>
            <a:r>
              <a:rPr lang="en-US" sz="2400" dirty="0"/>
              <a:t> </a:t>
            </a:r>
            <a:r>
              <a:rPr lang="en-US" sz="2400" dirty="0" err="1"/>
              <a:t>Vbe</a:t>
            </a:r>
            <a:r>
              <a:rPr lang="en-US" sz="2400" dirty="0"/>
              <a:t>=0.7V?</a:t>
            </a:r>
          </a:p>
        </p:txBody>
      </p:sp>
      <p:pic>
        <p:nvPicPr>
          <p:cNvPr id="8" name="Picture 7"/>
          <p:cNvPicPr/>
          <p:nvPr/>
        </p:nvPicPr>
        <p:blipFill>
          <a:blip r:embed="rId2"/>
          <a:stretch>
            <a:fillRect/>
          </a:stretch>
        </p:blipFill>
        <p:spPr>
          <a:xfrm>
            <a:off x="2590800" y="2590800"/>
            <a:ext cx="6172200" cy="3810000"/>
          </a:xfrm>
          <a:prstGeom prst="rect">
            <a:avLst/>
          </a:prstGeom>
        </p:spPr>
      </p:pic>
    </p:spTree>
    <p:extLst>
      <p:ext uri="{BB962C8B-B14F-4D97-AF65-F5344CB8AC3E}">
        <p14:creationId xmlns:p14="http://schemas.microsoft.com/office/powerpoint/2010/main" val="30417364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56</a:t>
            </a:fld>
            <a:endParaRPr lang="en-US"/>
          </a:p>
        </p:txBody>
      </p:sp>
      <p:sp>
        <p:nvSpPr>
          <p:cNvPr id="56321" name="Rectangle 1"/>
          <p:cNvSpPr>
            <a:spLocks noChangeArrowheads="1"/>
          </p:cNvSpPr>
          <p:nvPr/>
        </p:nvSpPr>
        <p:spPr bwMode="auto">
          <a:xfrm>
            <a:off x="1828800" y="1676401"/>
            <a:ext cx="86106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latin typeface="Calibri" pitchFamily="34" charset="0"/>
                <a:ea typeface="Calibri" pitchFamily="34" charset="0"/>
                <a:cs typeface="Calibri" pitchFamily="34" charset="0"/>
              </a:rPr>
              <a:t>11.</a:t>
            </a:r>
            <a:r>
              <a:rPr lang="en-US" sz="2400" dirty="0"/>
              <a:t> </a:t>
            </a:r>
            <a:r>
              <a:rPr lang="en-US" sz="2400" dirty="0" err="1"/>
              <a:t>Tentukan</a:t>
            </a:r>
            <a:r>
              <a:rPr lang="en-US" sz="2400" dirty="0"/>
              <a:t> </a:t>
            </a:r>
            <a:r>
              <a:rPr lang="en-US" sz="2400" dirty="0" err="1"/>
              <a:t>Zin</a:t>
            </a:r>
            <a:r>
              <a:rPr lang="en-US" sz="2400" dirty="0"/>
              <a:t>(base), </a:t>
            </a:r>
            <a:r>
              <a:rPr lang="en-US" sz="2400" dirty="0" err="1"/>
              <a:t>Zin</a:t>
            </a:r>
            <a:r>
              <a:rPr lang="en-US" sz="2400" dirty="0"/>
              <a:t>, Av </a:t>
            </a:r>
            <a:r>
              <a:rPr lang="en-US" sz="2400" dirty="0" err="1"/>
              <a:t>dan</a:t>
            </a:r>
            <a:r>
              <a:rPr lang="en-US" sz="2400" dirty="0"/>
              <a:t> </a:t>
            </a:r>
            <a:r>
              <a:rPr lang="en-US" sz="2400" dirty="0" err="1"/>
              <a:t>Vout</a:t>
            </a:r>
            <a:r>
              <a:rPr lang="en-US" sz="2400" dirty="0"/>
              <a:t>  </a:t>
            </a:r>
            <a:r>
              <a:rPr lang="en-US" sz="2400" dirty="0" err="1"/>
              <a:t>jika</a:t>
            </a:r>
            <a:r>
              <a:rPr lang="en-US" sz="2400" dirty="0"/>
              <a:t> Vin=5 </a:t>
            </a:r>
            <a:r>
              <a:rPr lang="en-US" sz="2400" dirty="0" err="1"/>
              <a:t>mv</a:t>
            </a:r>
            <a:r>
              <a:rPr lang="en-US" sz="2400" dirty="0"/>
              <a:t>?</a:t>
            </a:r>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514600"/>
            <a:ext cx="5715000" cy="3429000"/>
          </a:xfrm>
          <a:prstGeom prst="rect">
            <a:avLst/>
          </a:prstGeom>
          <a:noFill/>
          <a:ln>
            <a:noFill/>
          </a:ln>
        </p:spPr>
      </p:pic>
    </p:spTree>
    <p:extLst>
      <p:ext uri="{BB962C8B-B14F-4D97-AF65-F5344CB8AC3E}">
        <p14:creationId xmlns:p14="http://schemas.microsoft.com/office/powerpoint/2010/main" val="9307820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Operasional</a:t>
            </a:r>
            <a:r>
              <a:rPr lang="en-US" dirty="0" smtClean="0"/>
              <a:t> Amplifier (OP-AMP)</a:t>
            </a:r>
            <a:endParaRPr lang="en-US" dirty="0"/>
          </a:p>
        </p:txBody>
      </p:sp>
      <p:sp>
        <p:nvSpPr>
          <p:cNvPr id="3" name="Content Placeholder 2"/>
          <p:cNvSpPr>
            <a:spLocks noGrp="1"/>
          </p:cNvSpPr>
          <p:nvPr>
            <p:ph sz="quarter" idx="1"/>
          </p:nvPr>
        </p:nvSpPr>
        <p:spPr/>
        <p:txBody>
          <a:bodyPr/>
          <a:lstStyle/>
          <a:p>
            <a:r>
              <a:rPr lang="en-US" dirty="0" err="1"/>
              <a:t>Operasi</a:t>
            </a:r>
            <a:r>
              <a:rPr lang="en-US" dirty="0"/>
              <a:t> Amplifier </a:t>
            </a:r>
            <a:r>
              <a:rPr lang="en-US" dirty="0" err="1"/>
              <a:t>adalah</a:t>
            </a:r>
            <a:r>
              <a:rPr lang="en-US" dirty="0"/>
              <a:t> </a:t>
            </a:r>
            <a:r>
              <a:rPr lang="en-US" dirty="0" err="1"/>
              <a:t>suatu</a:t>
            </a:r>
            <a:r>
              <a:rPr lang="en-US" dirty="0"/>
              <a:t> </a:t>
            </a:r>
            <a:r>
              <a:rPr lang="en-US" dirty="0" err="1"/>
              <a:t>penguat</a:t>
            </a:r>
            <a:r>
              <a:rPr lang="en-US" dirty="0"/>
              <a:t> linier </a:t>
            </a:r>
            <a:r>
              <a:rPr lang="en-US" dirty="0" err="1"/>
              <a:t>dengan</a:t>
            </a:r>
            <a:r>
              <a:rPr lang="en-US" dirty="0"/>
              <a:t> </a:t>
            </a:r>
            <a:r>
              <a:rPr lang="en-US" dirty="0" err="1"/>
              <a:t>penguatan</a:t>
            </a:r>
            <a:r>
              <a:rPr lang="en-US" dirty="0"/>
              <a:t> </a:t>
            </a:r>
            <a:r>
              <a:rPr lang="en-US" dirty="0" err="1"/>
              <a:t>tinggi</a:t>
            </a:r>
            <a:r>
              <a:rPr lang="en-US" dirty="0" smtClean="0"/>
              <a:t>.</a:t>
            </a:r>
          </a:p>
          <a:p>
            <a:endParaRPr lang="en-US" dirty="0"/>
          </a:p>
          <a:p>
            <a:endParaRPr lang="en-US" dirty="0"/>
          </a:p>
        </p:txBody>
      </p:sp>
      <p:sp>
        <p:nvSpPr>
          <p:cNvPr id="4" name="Date Placeholder 3"/>
          <p:cNvSpPr>
            <a:spLocks noGrp="1"/>
          </p:cNvSpPr>
          <p:nvPr>
            <p:ph type="dt" sz="half" idx="10"/>
          </p:nvPr>
        </p:nvSpPr>
        <p:spPr/>
        <p:txBody>
          <a:bodyPr/>
          <a:lstStyle/>
          <a:p>
            <a:pPr algn="r"/>
            <a:fld id="{AFE52F23-E232-4126-AFE9-33FC7F3DC231}" type="datetime1">
              <a:rPr lang="en-US" smtClean="0"/>
              <a:t>3/25/2026</a:t>
            </a:fld>
            <a:endParaRPr lang="en-US" dirty="0"/>
          </a:p>
        </p:txBody>
      </p:sp>
      <p:sp>
        <p:nvSpPr>
          <p:cNvPr id="5" name="Footer Placeholder 4"/>
          <p:cNvSpPr>
            <a:spLocks noGrp="1"/>
          </p:cNvSpPr>
          <p:nvPr>
            <p:ph type="ftr" sz="quarter" idx="11"/>
          </p:nvPr>
        </p:nvSpPr>
        <p:spPr>
          <a:xfrm>
            <a:off x="195943" y="6248208"/>
            <a:ext cx="8338457" cy="299550"/>
          </a:xfrm>
        </p:spPr>
        <p:txBody>
          <a:bodyPr/>
          <a:lstStyle/>
          <a:p>
            <a:pPr algn="l"/>
            <a:r>
              <a:rPr lang="en-US" dirty="0" smtClean="0"/>
              <a:t>http://www.electronics-tutorials.ws/opamp/opamp_1.html; </a:t>
            </a:r>
            <a:r>
              <a:rPr lang="en-US" dirty="0" err="1" smtClean="0"/>
              <a:t>Buku</a:t>
            </a:r>
            <a:r>
              <a:rPr lang="en-US" dirty="0" smtClean="0"/>
              <a:t> </a:t>
            </a:r>
            <a:r>
              <a:rPr lang="en-US" dirty="0" err="1" smtClean="0"/>
              <a:t>Praktikum</a:t>
            </a:r>
            <a:r>
              <a:rPr lang="en-US" dirty="0" smtClean="0"/>
              <a:t> </a:t>
            </a:r>
            <a:r>
              <a:rPr lang="en-US" dirty="0" err="1" smtClean="0"/>
              <a:t>Eljut</a:t>
            </a:r>
            <a:r>
              <a:rPr lang="en-US" dirty="0" smtClean="0"/>
              <a:t> ; </a:t>
            </a:r>
            <a:r>
              <a:rPr lang="en-US" dirty="0" err="1" smtClean="0"/>
              <a:t>Malvino</a:t>
            </a:r>
            <a:r>
              <a:rPr lang="en-US" dirty="0" smtClean="0"/>
              <a:t> </a:t>
            </a:r>
            <a:r>
              <a:rPr lang="en-US" dirty="0" err="1" smtClean="0"/>
              <a:t>Edisi</a:t>
            </a:r>
            <a:r>
              <a:rPr lang="en-US" dirty="0" smtClean="0"/>
              <a:t> 1 </a:t>
            </a:r>
            <a:r>
              <a:rPr lang="en-US" dirty="0" err="1" smtClean="0"/>
              <a:t>dan</a:t>
            </a:r>
            <a:r>
              <a:rPr lang="en-US" dirty="0" smtClean="0"/>
              <a:t> 2; </a:t>
            </a:r>
            <a:r>
              <a:rPr lang="en-US" dirty="0" err="1" smtClean="0"/>
              <a:t>Bahan</a:t>
            </a:r>
            <a:r>
              <a:rPr lang="en-US" dirty="0" smtClean="0"/>
              <a:t> Ajar </a:t>
            </a:r>
            <a:r>
              <a:rPr lang="en-US" dirty="0" err="1" smtClean="0"/>
              <a:t>Operasional</a:t>
            </a:r>
            <a:r>
              <a:rPr lang="en-US" dirty="0" smtClean="0"/>
              <a:t> Amplifier </a:t>
            </a:r>
            <a:r>
              <a:rPr lang="en-US" dirty="0" err="1" smtClean="0"/>
              <a:t>oleh</a:t>
            </a:r>
            <a:r>
              <a:rPr lang="en-US" dirty="0" smtClean="0"/>
              <a:t> Dr. </a:t>
            </a:r>
            <a:r>
              <a:rPr lang="en-US" dirty="0" err="1" smtClean="0"/>
              <a:t>Risanuri</a:t>
            </a:r>
            <a:r>
              <a:rPr lang="en-US" dirty="0" smtClean="0"/>
              <a:t> </a:t>
            </a:r>
            <a:r>
              <a:rPr lang="en-US" dirty="0" err="1" smtClean="0"/>
              <a:t>Hidayat</a:t>
            </a:r>
            <a:endParaRPr lang="en-US" dirty="0"/>
          </a:p>
        </p:txBody>
      </p:sp>
      <p:sp>
        <p:nvSpPr>
          <p:cNvPr id="6" name="Slide Number Placeholder 5"/>
          <p:cNvSpPr>
            <a:spLocks noGrp="1"/>
          </p:cNvSpPr>
          <p:nvPr>
            <p:ph type="sldNum" sz="quarter" idx="12"/>
          </p:nvPr>
        </p:nvSpPr>
        <p:spPr/>
        <p:txBody>
          <a:bodyPr>
            <a:normAutofit/>
          </a:bodyPr>
          <a:lstStyle/>
          <a:p>
            <a:fld id="{30FF78D7-7CA0-44FD-8733-19F49D683D81}" type="slidenum">
              <a:rPr lang="en-US" smtClean="0"/>
              <a:t>57</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1" y="2833933"/>
            <a:ext cx="4410075" cy="187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815494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p:txBody>
          <a:bodyPr/>
          <a:lstStyle/>
          <a:p>
            <a:r>
              <a:rPr lang="en-US"/>
              <a:t>Simbol</a:t>
            </a:r>
          </a:p>
        </p:txBody>
      </p:sp>
      <p:sp>
        <p:nvSpPr>
          <p:cNvPr id="14339" name="Rectangle 3"/>
          <p:cNvSpPr>
            <a:spLocks noGrp="1" noChangeArrowheads="1"/>
          </p:cNvSpPr>
          <p:nvPr>
            <p:ph type="body" idx="1"/>
          </p:nvPr>
        </p:nvSpPr>
        <p:spPr>
          <a:xfrm>
            <a:off x="1981200" y="3581401"/>
            <a:ext cx="8229600" cy="2544763"/>
          </a:xfrm>
        </p:spPr>
        <p:txBody>
          <a:bodyPr/>
          <a:lstStyle/>
          <a:p>
            <a:r>
              <a:rPr lang="en-US" dirty="0">
                <a:effectLst/>
              </a:rPr>
              <a:t>Terminal-terminal </a:t>
            </a:r>
            <a:r>
              <a:rPr lang="en-US" dirty="0" err="1">
                <a:effectLst/>
              </a:rPr>
              <a:t>luar</a:t>
            </a:r>
            <a:r>
              <a:rPr lang="en-US" dirty="0">
                <a:effectLst/>
              </a:rPr>
              <a:t> di </a:t>
            </a:r>
            <a:r>
              <a:rPr lang="en-US" dirty="0" err="1">
                <a:effectLst/>
              </a:rPr>
              <a:t>samping</a:t>
            </a:r>
            <a:r>
              <a:rPr lang="en-US" dirty="0">
                <a:effectLst/>
              </a:rPr>
              <a:t> power supply ( ±</a:t>
            </a:r>
            <a:r>
              <a:rPr lang="en-US" dirty="0" err="1">
                <a:effectLst/>
              </a:rPr>
              <a:t>Vcc</a:t>
            </a:r>
            <a:r>
              <a:rPr lang="en-US" dirty="0">
                <a:effectLst/>
              </a:rPr>
              <a:t>) </a:t>
            </a:r>
            <a:r>
              <a:rPr lang="en-US" dirty="0" err="1">
                <a:effectLst/>
              </a:rPr>
              <a:t>adalah</a:t>
            </a:r>
            <a:r>
              <a:rPr lang="en-US" dirty="0">
                <a:effectLst/>
              </a:rPr>
              <a:t> </a:t>
            </a:r>
            <a:r>
              <a:rPr lang="en-US" dirty="0" err="1">
                <a:effectLst/>
              </a:rPr>
              <a:t>dua</a:t>
            </a:r>
            <a:r>
              <a:rPr lang="en-US" dirty="0">
                <a:effectLst/>
              </a:rPr>
              <a:t> input </a:t>
            </a:r>
            <a:r>
              <a:rPr lang="en-US" i="1" dirty="0">
                <a:effectLst/>
              </a:rPr>
              <a:t>v</a:t>
            </a:r>
            <a:r>
              <a:rPr lang="en-US" i="1" baseline="-25000" dirty="0">
                <a:effectLst/>
              </a:rPr>
              <a:t>i1</a:t>
            </a:r>
            <a:r>
              <a:rPr lang="en-US" baseline="-25000" dirty="0">
                <a:effectLst/>
              </a:rPr>
              <a:t> </a:t>
            </a:r>
            <a:r>
              <a:rPr lang="en-US" dirty="0" err="1">
                <a:effectLst/>
              </a:rPr>
              <a:t>dan</a:t>
            </a:r>
            <a:r>
              <a:rPr lang="en-US" dirty="0">
                <a:effectLst/>
              </a:rPr>
              <a:t> </a:t>
            </a:r>
            <a:r>
              <a:rPr lang="en-US" i="1" dirty="0">
                <a:effectLst/>
              </a:rPr>
              <a:t>v</a:t>
            </a:r>
            <a:r>
              <a:rPr lang="en-US" i="1" baseline="-25000" dirty="0">
                <a:effectLst/>
              </a:rPr>
              <a:t>i2</a:t>
            </a:r>
            <a:r>
              <a:rPr lang="en-US" i="1" dirty="0">
                <a:effectLst/>
              </a:rPr>
              <a:t> </a:t>
            </a:r>
            <a:r>
              <a:rPr lang="en-US" dirty="0" err="1">
                <a:effectLst/>
              </a:rPr>
              <a:t>serta</a:t>
            </a:r>
            <a:r>
              <a:rPr lang="en-US" dirty="0">
                <a:effectLst/>
              </a:rPr>
              <a:t> terminal </a:t>
            </a:r>
            <a:r>
              <a:rPr lang="en-US" dirty="0" err="1">
                <a:effectLst/>
              </a:rPr>
              <a:t>keluran</a:t>
            </a:r>
            <a:r>
              <a:rPr lang="en-US" dirty="0">
                <a:effectLst/>
              </a:rPr>
              <a:t> </a:t>
            </a:r>
            <a:r>
              <a:rPr lang="en-US" i="1" dirty="0" err="1">
                <a:effectLst/>
              </a:rPr>
              <a:t>v</a:t>
            </a:r>
            <a:r>
              <a:rPr lang="en-US" i="1" baseline="-25000" dirty="0" err="1">
                <a:effectLst/>
              </a:rPr>
              <a:t>out</a:t>
            </a:r>
            <a:r>
              <a:rPr lang="en-US" dirty="0">
                <a:effectLst/>
              </a:rPr>
              <a:t>. </a:t>
            </a:r>
            <a:endParaRPr lang="en-US" dirty="0" smtClean="0">
              <a:effectLst/>
            </a:endParaRPr>
          </a:p>
          <a:p>
            <a:endParaRPr lang="en-US" dirty="0"/>
          </a:p>
        </p:txBody>
      </p:sp>
      <p:pic>
        <p:nvPicPr>
          <p:cNvPr id="143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676401"/>
            <a:ext cx="2667000" cy="153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676400"/>
            <a:ext cx="2362200" cy="145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fld id="{07C0FF79-A5B4-4F4A-88CD-BF2E01C30007}" type="datetime1">
              <a:rPr lang="en-US" smtClean="0"/>
              <a:t>3/25/2026</a:t>
            </a:fld>
            <a:endParaRPr lang="en-US"/>
          </a:p>
        </p:txBody>
      </p:sp>
      <p:sp>
        <p:nvSpPr>
          <p:cNvPr id="3" name="Footer Placeholder 2"/>
          <p:cNvSpPr>
            <a:spLocks noGrp="1"/>
          </p:cNvSpPr>
          <p:nvPr>
            <p:ph type="ftr" sz="quarter" idx="11"/>
          </p:nvPr>
        </p:nvSpPr>
        <p:spPr/>
        <p:txBody>
          <a:bodyPr/>
          <a:lstStyle/>
          <a:p>
            <a:r>
              <a:rPr lang="en-US" smtClean="0"/>
              <a:t>http://www.electronics-tutorials.ws/opamp/opamp_1.html; Buku Praktikum Eljut ; Malvino Edisi 1 dan 2; Bahan Ajar Operasional Amplifier oleh Dr. Risanuri Hidayat</a:t>
            </a:r>
            <a:endParaRPr lang="en-US"/>
          </a:p>
        </p:txBody>
      </p:sp>
      <p:sp>
        <p:nvSpPr>
          <p:cNvPr id="4" name="Slide Number Placeholder 3"/>
          <p:cNvSpPr>
            <a:spLocks noGrp="1"/>
          </p:cNvSpPr>
          <p:nvPr>
            <p:ph type="sldNum" sz="quarter" idx="12"/>
          </p:nvPr>
        </p:nvSpPr>
        <p:spPr/>
        <p:txBody>
          <a:bodyPr>
            <a:normAutofit/>
          </a:bodyPr>
          <a:lstStyle/>
          <a:p>
            <a:fld id="{30FF78D7-7CA0-44FD-8733-19F49D683D81}" type="slidenum">
              <a:rPr lang="en-US" smtClean="0"/>
              <a:t>58</a:t>
            </a:fld>
            <a:endParaRPr lang="en-US"/>
          </a:p>
        </p:txBody>
      </p:sp>
    </p:spTree>
    <p:extLst>
      <p:ext uri="{BB962C8B-B14F-4D97-AF65-F5344CB8AC3E}">
        <p14:creationId xmlns:p14="http://schemas.microsoft.com/office/powerpoint/2010/main" val="159161417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Karakteristik</a:t>
            </a:r>
            <a:endParaRPr lang="en-US" dirty="0"/>
          </a:p>
        </p:txBody>
      </p:sp>
      <p:sp>
        <p:nvSpPr>
          <p:cNvPr id="3" name="Date Placeholder 2"/>
          <p:cNvSpPr>
            <a:spLocks noGrp="1"/>
          </p:cNvSpPr>
          <p:nvPr>
            <p:ph type="dt" sz="half" idx="10"/>
          </p:nvPr>
        </p:nvSpPr>
        <p:spPr/>
        <p:txBody>
          <a:bodyPr/>
          <a:lstStyle/>
          <a:p>
            <a:pPr algn="r"/>
            <a:fld id="{ED9527BA-B478-4FA4-BC7A-DC7572AA2EEF}" type="datetime1">
              <a:rPr lang="en-US" smtClean="0"/>
              <a:t>3/25/2026</a:t>
            </a:fld>
            <a:endParaRPr lang="en-US" dirty="0"/>
          </a:p>
        </p:txBody>
      </p:sp>
      <p:sp>
        <p:nvSpPr>
          <p:cNvPr id="4" name="Footer Placeholder 3"/>
          <p:cNvSpPr>
            <a:spLocks noGrp="1"/>
          </p:cNvSpPr>
          <p:nvPr>
            <p:ph type="ftr" sz="quarter" idx="11"/>
          </p:nvPr>
        </p:nvSpPr>
        <p:spPr/>
        <p:txBody>
          <a:bodyPr/>
          <a:lstStyle/>
          <a:p>
            <a:pPr algn="l"/>
            <a:r>
              <a:rPr lang="en-US" smtClean="0"/>
              <a:t>http://www.electronics-tutorials.ws/opamp/opamp_1.html; Buku Praktikum Eljut ; Malvino Edisi 1 dan 2; Bahan Ajar Operasional Amplifier oleh Dr. Risanuri Hidayat</a:t>
            </a:r>
            <a:endParaRPr lang="en-US" dirty="0"/>
          </a:p>
        </p:txBody>
      </p:sp>
      <p:sp>
        <p:nvSpPr>
          <p:cNvPr id="5" name="Slide Number Placeholder 4"/>
          <p:cNvSpPr>
            <a:spLocks noGrp="1"/>
          </p:cNvSpPr>
          <p:nvPr>
            <p:ph type="sldNum" sz="quarter" idx="12"/>
          </p:nvPr>
        </p:nvSpPr>
        <p:spPr/>
        <p:txBody>
          <a:bodyPr>
            <a:normAutofit/>
          </a:bodyPr>
          <a:lstStyle/>
          <a:p>
            <a:fld id="{30FF78D7-7CA0-44FD-8733-19F49D683D81}" type="slidenum">
              <a:rPr lang="en-US" smtClean="0"/>
              <a:t>59</a:t>
            </a:fld>
            <a:endParaRPr lang="en-US"/>
          </a:p>
        </p:txBody>
      </p:sp>
      <p:sp>
        <p:nvSpPr>
          <p:cNvPr id="6" name="Content Placeholder 5"/>
          <p:cNvSpPr>
            <a:spLocks noGrp="1"/>
          </p:cNvSpPr>
          <p:nvPr>
            <p:ph sz="quarter" idx="1"/>
          </p:nvPr>
        </p:nvSpPr>
        <p:spPr/>
        <p:txBody>
          <a:bodyPr>
            <a:normAutofit fontScale="92500" lnSpcReduction="20000"/>
          </a:bodyPr>
          <a:lstStyle/>
          <a:p>
            <a:r>
              <a:rPr lang="en-US" dirty="0" err="1"/>
              <a:t>Karakteristik</a:t>
            </a:r>
            <a:r>
              <a:rPr lang="en-US" dirty="0"/>
              <a:t> </a:t>
            </a:r>
            <a:r>
              <a:rPr lang="en-US" dirty="0" err="1"/>
              <a:t>utama</a:t>
            </a:r>
            <a:r>
              <a:rPr lang="en-US" dirty="0"/>
              <a:t> </a:t>
            </a:r>
            <a:r>
              <a:rPr lang="en-US" dirty="0" err="1"/>
              <a:t>sebuah</a:t>
            </a:r>
            <a:r>
              <a:rPr lang="en-US" dirty="0"/>
              <a:t> </a:t>
            </a:r>
            <a:r>
              <a:rPr lang="en-US" dirty="0" err="1"/>
              <a:t>penguat</a:t>
            </a:r>
            <a:r>
              <a:rPr lang="en-US" dirty="0"/>
              <a:t> </a:t>
            </a:r>
            <a:r>
              <a:rPr lang="en-US" dirty="0" err="1"/>
              <a:t>operasional</a:t>
            </a:r>
            <a:r>
              <a:rPr lang="en-US" dirty="0"/>
              <a:t> yang ideal </a:t>
            </a:r>
            <a:r>
              <a:rPr lang="en-US" dirty="0" err="1"/>
              <a:t>adalah</a:t>
            </a:r>
            <a:r>
              <a:rPr lang="en-US" dirty="0"/>
              <a:t> </a:t>
            </a:r>
            <a:r>
              <a:rPr lang="en-US" dirty="0" smtClean="0"/>
              <a:t>:</a:t>
            </a:r>
          </a:p>
          <a:p>
            <a:pPr marL="574675" indent="-398463" algn="just">
              <a:buFont typeface="+mj-lt"/>
              <a:buAutoNum type="arabicPeriod"/>
            </a:pPr>
            <a:r>
              <a:rPr lang="en-US" dirty="0" err="1" smtClean="0"/>
              <a:t>Impedansi</a:t>
            </a:r>
            <a:r>
              <a:rPr lang="en-US" dirty="0" smtClean="0"/>
              <a:t> </a:t>
            </a:r>
            <a:r>
              <a:rPr lang="en-US" dirty="0" err="1" smtClean="0"/>
              <a:t>masukan</a:t>
            </a:r>
            <a:r>
              <a:rPr lang="en-US" dirty="0" smtClean="0"/>
              <a:t> </a:t>
            </a:r>
            <a:r>
              <a:rPr lang="en-US" dirty="0" err="1" smtClean="0"/>
              <a:t>tak</a:t>
            </a:r>
            <a:r>
              <a:rPr lang="en-US" dirty="0" smtClean="0"/>
              <a:t> </a:t>
            </a:r>
            <a:r>
              <a:rPr lang="en-US" dirty="0" err="1" smtClean="0"/>
              <a:t>terhingga</a:t>
            </a:r>
            <a:r>
              <a:rPr lang="en-US" dirty="0" smtClean="0"/>
              <a:t>. </a:t>
            </a:r>
            <a:r>
              <a:rPr lang="en-US" dirty="0" err="1" smtClean="0"/>
              <a:t>Penguat</a:t>
            </a:r>
            <a:r>
              <a:rPr lang="en-US" dirty="0" smtClean="0"/>
              <a:t> yang ideal </a:t>
            </a:r>
            <a:r>
              <a:rPr lang="en-US" dirty="0" err="1" smtClean="0"/>
              <a:t>diharapkan</a:t>
            </a:r>
            <a:r>
              <a:rPr lang="en-US" dirty="0" smtClean="0"/>
              <a:t> </a:t>
            </a:r>
            <a:r>
              <a:rPr lang="en-US" dirty="0" err="1" smtClean="0"/>
              <a:t>tidak</a:t>
            </a:r>
            <a:r>
              <a:rPr lang="en-US" dirty="0" smtClean="0"/>
              <a:t> </a:t>
            </a:r>
            <a:r>
              <a:rPr lang="en-US" dirty="0" err="1" smtClean="0"/>
              <a:t>menarik</a:t>
            </a:r>
            <a:r>
              <a:rPr lang="en-US" dirty="0" smtClean="0"/>
              <a:t> </a:t>
            </a:r>
            <a:r>
              <a:rPr lang="en-US" dirty="0" err="1" smtClean="0"/>
              <a:t>arus</a:t>
            </a:r>
            <a:r>
              <a:rPr lang="en-US" dirty="0" smtClean="0"/>
              <a:t> </a:t>
            </a:r>
            <a:r>
              <a:rPr lang="en-US" dirty="0" err="1" smtClean="0"/>
              <a:t>masukan</a:t>
            </a:r>
            <a:r>
              <a:rPr lang="en-US" dirty="0" smtClean="0"/>
              <a:t>, </a:t>
            </a:r>
            <a:r>
              <a:rPr lang="en-US" dirty="0" err="1" smtClean="0"/>
              <a:t>artinya</a:t>
            </a:r>
            <a:r>
              <a:rPr lang="en-US" dirty="0" smtClean="0"/>
              <a:t> </a:t>
            </a:r>
            <a:r>
              <a:rPr lang="en-US" dirty="0" err="1" smtClean="0"/>
              <a:t>tidak</a:t>
            </a:r>
            <a:r>
              <a:rPr lang="en-US" dirty="0" smtClean="0"/>
              <a:t> </a:t>
            </a:r>
            <a:r>
              <a:rPr lang="en-US" dirty="0" err="1" smtClean="0"/>
              <a:t>ada</a:t>
            </a:r>
            <a:r>
              <a:rPr lang="en-US" dirty="0" smtClean="0"/>
              <a:t> </a:t>
            </a:r>
            <a:r>
              <a:rPr lang="en-US" dirty="0" err="1" smtClean="0"/>
              <a:t>arus</a:t>
            </a:r>
            <a:r>
              <a:rPr lang="en-US" dirty="0" smtClean="0"/>
              <a:t> yang </a:t>
            </a:r>
            <a:r>
              <a:rPr lang="en-US" dirty="0" err="1" smtClean="0"/>
              <a:t>masuk</a:t>
            </a:r>
            <a:r>
              <a:rPr lang="en-US" dirty="0" smtClean="0"/>
              <a:t> </a:t>
            </a:r>
            <a:r>
              <a:rPr lang="en-US" dirty="0" err="1" smtClean="0"/>
              <a:t>kedalam</a:t>
            </a:r>
            <a:r>
              <a:rPr lang="en-US" dirty="0" smtClean="0"/>
              <a:t> terminal 1 </a:t>
            </a:r>
            <a:r>
              <a:rPr lang="en-US" dirty="0" err="1" smtClean="0"/>
              <a:t>maupun</a:t>
            </a:r>
            <a:r>
              <a:rPr lang="en-US" dirty="0" smtClean="0"/>
              <a:t> 2 ( I1 =I2 = 0)</a:t>
            </a:r>
            <a:endParaRPr lang="en-US" dirty="0"/>
          </a:p>
          <a:p>
            <a:pPr marL="574675" indent="-398463" algn="just">
              <a:buFont typeface="+mj-lt"/>
              <a:buAutoNum type="arabicPeriod"/>
            </a:pPr>
            <a:r>
              <a:rPr lang="en-US" dirty="0" err="1" smtClean="0"/>
              <a:t>Impedansi</a:t>
            </a:r>
            <a:r>
              <a:rPr lang="en-US" dirty="0" smtClean="0"/>
              <a:t> </a:t>
            </a:r>
            <a:r>
              <a:rPr lang="en-US" dirty="0" err="1"/>
              <a:t>keluaran</a:t>
            </a:r>
            <a:r>
              <a:rPr lang="en-US" dirty="0"/>
              <a:t> </a:t>
            </a:r>
            <a:r>
              <a:rPr lang="en-US" dirty="0" err="1"/>
              <a:t>sama</a:t>
            </a:r>
            <a:r>
              <a:rPr lang="en-US" dirty="0"/>
              <a:t> </a:t>
            </a:r>
            <a:r>
              <a:rPr lang="en-US" dirty="0" err="1"/>
              <a:t>dengan</a:t>
            </a:r>
            <a:r>
              <a:rPr lang="en-US" dirty="0"/>
              <a:t> </a:t>
            </a:r>
            <a:r>
              <a:rPr lang="en-US" dirty="0" err="1"/>
              <a:t>nol</a:t>
            </a:r>
            <a:r>
              <a:rPr lang="en-US" dirty="0"/>
              <a:t> Terminal 3 </a:t>
            </a:r>
            <a:r>
              <a:rPr lang="en-US" dirty="0" err="1"/>
              <a:t>merupakan</a:t>
            </a:r>
            <a:r>
              <a:rPr lang="en-US" dirty="0"/>
              <a:t> </a:t>
            </a:r>
            <a:r>
              <a:rPr lang="en-US" dirty="0" err="1"/>
              <a:t>keluaran</a:t>
            </a:r>
            <a:r>
              <a:rPr lang="en-US" dirty="0"/>
              <a:t> </a:t>
            </a:r>
            <a:r>
              <a:rPr lang="en-US" dirty="0" err="1"/>
              <a:t>penguat</a:t>
            </a:r>
            <a:r>
              <a:rPr lang="en-US" dirty="0"/>
              <a:t> </a:t>
            </a:r>
            <a:r>
              <a:rPr lang="en-US" dirty="0" err="1"/>
              <a:t>operasional</a:t>
            </a:r>
            <a:r>
              <a:rPr lang="en-US" dirty="0"/>
              <a:t>, </a:t>
            </a:r>
            <a:r>
              <a:rPr lang="en-US" dirty="0" err="1"/>
              <a:t>idealnya</a:t>
            </a:r>
            <a:r>
              <a:rPr lang="en-US" dirty="0"/>
              <a:t> </a:t>
            </a:r>
            <a:r>
              <a:rPr lang="en-US" dirty="0" err="1"/>
              <a:t>diharapkan</a:t>
            </a:r>
            <a:r>
              <a:rPr lang="en-US" dirty="0"/>
              <a:t> </a:t>
            </a:r>
            <a:r>
              <a:rPr lang="en-US" dirty="0" err="1"/>
              <a:t>bertindak</a:t>
            </a:r>
            <a:r>
              <a:rPr lang="en-US" dirty="0"/>
              <a:t> </a:t>
            </a:r>
            <a:r>
              <a:rPr lang="en-US" dirty="0" err="1"/>
              <a:t>sebagai</a:t>
            </a:r>
            <a:r>
              <a:rPr lang="en-US" dirty="0"/>
              <a:t> terminal </a:t>
            </a:r>
            <a:r>
              <a:rPr lang="en-US" dirty="0" err="1"/>
              <a:t>keluaran</a:t>
            </a:r>
            <a:r>
              <a:rPr lang="en-US" dirty="0"/>
              <a:t> </a:t>
            </a:r>
            <a:r>
              <a:rPr lang="en-US" dirty="0" err="1"/>
              <a:t>sebuah</a:t>
            </a:r>
            <a:r>
              <a:rPr lang="en-US" dirty="0"/>
              <a:t> </a:t>
            </a:r>
            <a:r>
              <a:rPr lang="en-US" dirty="0" err="1"/>
              <a:t>sumber</a:t>
            </a:r>
            <a:r>
              <a:rPr lang="en-US" dirty="0"/>
              <a:t> </a:t>
            </a:r>
            <a:r>
              <a:rPr lang="en-US" dirty="0" err="1"/>
              <a:t>sumber</a:t>
            </a:r>
            <a:r>
              <a:rPr lang="en-US" dirty="0"/>
              <a:t> </a:t>
            </a:r>
            <a:r>
              <a:rPr lang="en-US" dirty="0" err="1"/>
              <a:t>tegangan</a:t>
            </a:r>
            <a:r>
              <a:rPr lang="en-US" dirty="0"/>
              <a:t> ideal. </a:t>
            </a:r>
            <a:r>
              <a:rPr lang="en-US" dirty="0" err="1"/>
              <a:t>Tegangan</a:t>
            </a:r>
            <a:r>
              <a:rPr lang="en-US" dirty="0"/>
              <a:t> </a:t>
            </a:r>
            <a:r>
              <a:rPr lang="en-US" dirty="0" err="1"/>
              <a:t>antara</a:t>
            </a:r>
            <a:r>
              <a:rPr lang="en-US" dirty="0"/>
              <a:t> terminal3 </a:t>
            </a:r>
            <a:r>
              <a:rPr lang="en-US" dirty="0" err="1"/>
              <a:t>dengan</a:t>
            </a:r>
            <a:r>
              <a:rPr lang="en-US" dirty="0"/>
              <a:t> ground </a:t>
            </a:r>
            <a:r>
              <a:rPr lang="en-US" dirty="0" err="1"/>
              <a:t>akan</a:t>
            </a:r>
            <a:r>
              <a:rPr lang="en-US" dirty="0"/>
              <a:t> </a:t>
            </a:r>
            <a:r>
              <a:rPr lang="en-US" dirty="0" err="1"/>
              <a:t>selalu</a:t>
            </a:r>
            <a:r>
              <a:rPr lang="en-US" dirty="0"/>
              <a:t> </a:t>
            </a:r>
            <a:r>
              <a:rPr lang="en-US" dirty="0" err="1"/>
              <a:t>sama</a:t>
            </a:r>
            <a:r>
              <a:rPr lang="en-US" dirty="0"/>
              <a:t> </a:t>
            </a:r>
            <a:r>
              <a:rPr lang="en-US" dirty="0" err="1"/>
              <a:t>dengan</a:t>
            </a:r>
            <a:r>
              <a:rPr lang="en-US" dirty="0"/>
              <a:t> A (V2 . V1 ), </a:t>
            </a:r>
            <a:r>
              <a:rPr lang="en-US" dirty="0" err="1"/>
              <a:t>dimana</a:t>
            </a:r>
            <a:r>
              <a:rPr lang="en-US" dirty="0"/>
              <a:t> A </a:t>
            </a:r>
            <a:r>
              <a:rPr lang="en-US" dirty="0" err="1"/>
              <a:t>adalah</a:t>
            </a:r>
            <a:r>
              <a:rPr lang="en-US" dirty="0"/>
              <a:t> </a:t>
            </a:r>
            <a:r>
              <a:rPr lang="en-US" dirty="0" err="1"/>
              <a:t>faktor</a:t>
            </a:r>
            <a:r>
              <a:rPr lang="en-US" dirty="0"/>
              <a:t> </a:t>
            </a:r>
            <a:r>
              <a:rPr lang="en-US" dirty="0" err="1"/>
              <a:t>penguatan</a:t>
            </a:r>
            <a:r>
              <a:rPr lang="en-US" dirty="0"/>
              <a:t> </a:t>
            </a:r>
            <a:r>
              <a:rPr lang="en-US" dirty="0" err="1"/>
              <a:t>sebuah</a:t>
            </a:r>
            <a:r>
              <a:rPr lang="en-US" dirty="0"/>
              <a:t> </a:t>
            </a:r>
            <a:r>
              <a:rPr lang="en-US" dirty="0" err="1"/>
              <a:t>penguat</a:t>
            </a:r>
            <a:r>
              <a:rPr lang="en-US" dirty="0"/>
              <a:t> </a:t>
            </a:r>
            <a:r>
              <a:rPr lang="en-US" dirty="0" err="1" smtClean="0"/>
              <a:t>operasional</a:t>
            </a:r>
            <a:r>
              <a:rPr lang="en-US" dirty="0" smtClean="0"/>
              <a:t>.</a:t>
            </a:r>
          </a:p>
          <a:p>
            <a:pPr marL="574675" indent="-398463" algn="just">
              <a:buFont typeface="+mj-lt"/>
              <a:buAutoNum type="arabicPeriod"/>
            </a:pPr>
            <a:r>
              <a:rPr lang="en-US" dirty="0" err="1" smtClean="0"/>
              <a:t>Penguatan</a:t>
            </a:r>
            <a:r>
              <a:rPr lang="en-US" dirty="0" smtClean="0"/>
              <a:t> </a:t>
            </a:r>
            <a:r>
              <a:rPr lang="en-US" dirty="0"/>
              <a:t>loop </a:t>
            </a:r>
            <a:r>
              <a:rPr lang="en-US" dirty="0" err="1"/>
              <a:t>terbuka</a:t>
            </a:r>
            <a:r>
              <a:rPr lang="en-US" dirty="0"/>
              <a:t> </a:t>
            </a:r>
            <a:r>
              <a:rPr lang="en-US" dirty="0" err="1"/>
              <a:t>tak</a:t>
            </a:r>
            <a:r>
              <a:rPr lang="en-US" dirty="0"/>
              <a:t> </a:t>
            </a:r>
            <a:r>
              <a:rPr lang="en-US" dirty="0" err="1"/>
              <a:t>terhingga</a:t>
            </a:r>
            <a:r>
              <a:rPr lang="en-US" dirty="0"/>
              <a:t>. </a:t>
            </a:r>
            <a:r>
              <a:rPr lang="en-US" dirty="0" err="1"/>
              <a:t>Apabila</a:t>
            </a:r>
            <a:r>
              <a:rPr lang="en-US" dirty="0"/>
              <a:t> </a:t>
            </a:r>
            <a:r>
              <a:rPr lang="en-US" dirty="0" err="1"/>
              <a:t>dioperasikan</a:t>
            </a:r>
            <a:r>
              <a:rPr lang="en-US" dirty="0"/>
              <a:t> </a:t>
            </a:r>
            <a:r>
              <a:rPr lang="en-US" dirty="0" err="1"/>
              <a:t>pada</a:t>
            </a:r>
            <a:r>
              <a:rPr lang="en-US" dirty="0"/>
              <a:t> loop </a:t>
            </a:r>
            <a:r>
              <a:rPr lang="en-US" dirty="0" err="1"/>
              <a:t>terbuka</a:t>
            </a:r>
            <a:r>
              <a:rPr lang="en-US" dirty="0"/>
              <a:t> ( </a:t>
            </a:r>
            <a:r>
              <a:rPr lang="en-US" dirty="0" err="1"/>
              <a:t>tidak</a:t>
            </a:r>
            <a:r>
              <a:rPr lang="en-US" dirty="0"/>
              <a:t> </a:t>
            </a:r>
            <a:r>
              <a:rPr lang="en-US" dirty="0" err="1"/>
              <a:t>ada</a:t>
            </a:r>
            <a:r>
              <a:rPr lang="en-US" dirty="0"/>
              <a:t> </a:t>
            </a:r>
            <a:r>
              <a:rPr lang="en-US" dirty="0" err="1"/>
              <a:t>umpan</a:t>
            </a:r>
            <a:r>
              <a:rPr lang="en-US" dirty="0"/>
              <a:t> </a:t>
            </a:r>
            <a:r>
              <a:rPr lang="en-US" dirty="0" err="1"/>
              <a:t>balik</a:t>
            </a:r>
            <a:r>
              <a:rPr lang="en-US" dirty="0"/>
              <a:t> </a:t>
            </a:r>
            <a:r>
              <a:rPr lang="en-US" dirty="0" err="1"/>
              <a:t>dari</a:t>
            </a:r>
            <a:r>
              <a:rPr lang="en-US" dirty="0"/>
              <a:t> </a:t>
            </a:r>
            <a:r>
              <a:rPr lang="en-US" dirty="0" err="1"/>
              <a:t>keluaran</a:t>
            </a:r>
            <a:r>
              <a:rPr lang="en-US" dirty="0"/>
              <a:t> </a:t>
            </a:r>
            <a:r>
              <a:rPr lang="en-US" dirty="0" err="1"/>
              <a:t>ke</a:t>
            </a:r>
            <a:r>
              <a:rPr lang="en-US" dirty="0"/>
              <a:t> </a:t>
            </a:r>
            <a:r>
              <a:rPr lang="en-US" dirty="0" err="1"/>
              <a:t>masukan</a:t>
            </a:r>
            <a:r>
              <a:rPr lang="en-US" dirty="0"/>
              <a:t> ), </a:t>
            </a:r>
            <a:r>
              <a:rPr lang="en-US" dirty="0" err="1"/>
              <a:t>maka</a:t>
            </a:r>
            <a:r>
              <a:rPr lang="en-US" dirty="0"/>
              <a:t> </a:t>
            </a:r>
            <a:r>
              <a:rPr lang="en-US" dirty="0" err="1"/>
              <a:t>sebuah</a:t>
            </a:r>
            <a:r>
              <a:rPr lang="en-US" dirty="0"/>
              <a:t> </a:t>
            </a:r>
            <a:r>
              <a:rPr lang="en-US" dirty="0" err="1"/>
              <a:t>penguat</a:t>
            </a:r>
            <a:r>
              <a:rPr lang="en-US" dirty="0"/>
              <a:t> </a:t>
            </a:r>
            <a:r>
              <a:rPr lang="en-US" dirty="0" err="1"/>
              <a:t>opersaional</a:t>
            </a:r>
            <a:r>
              <a:rPr lang="en-US" dirty="0"/>
              <a:t> ideal </a:t>
            </a:r>
            <a:r>
              <a:rPr lang="en-US" dirty="0" err="1"/>
              <a:t>mempnyai</a:t>
            </a:r>
            <a:r>
              <a:rPr lang="en-US" dirty="0"/>
              <a:t> gain (</a:t>
            </a:r>
            <a:r>
              <a:rPr lang="en-US" dirty="0" err="1"/>
              <a:t>penguatan</a:t>
            </a:r>
            <a:r>
              <a:rPr lang="en-US" dirty="0"/>
              <a:t>) yang </a:t>
            </a:r>
            <a:r>
              <a:rPr lang="en-US" dirty="0" err="1"/>
              <a:t>besarnya</a:t>
            </a:r>
            <a:r>
              <a:rPr lang="en-US" dirty="0"/>
              <a:t> </a:t>
            </a:r>
            <a:r>
              <a:rPr lang="en-US" dirty="0" err="1"/>
              <a:t>tak</a:t>
            </a:r>
            <a:r>
              <a:rPr lang="en-US" dirty="0"/>
              <a:t> </a:t>
            </a:r>
            <a:r>
              <a:rPr lang="en-US" dirty="0" err="1"/>
              <a:t>terhingga</a:t>
            </a:r>
            <a:r>
              <a:rPr lang="en-US" dirty="0"/>
              <a:t>.</a:t>
            </a:r>
          </a:p>
          <a:p>
            <a:endParaRPr lang="en-US" dirty="0"/>
          </a:p>
        </p:txBody>
      </p:sp>
    </p:spTree>
    <p:extLst>
      <p:ext uri="{BB962C8B-B14F-4D97-AF65-F5344CB8AC3E}">
        <p14:creationId xmlns:p14="http://schemas.microsoft.com/office/powerpoint/2010/main" val="225870320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p:txBody>
          <a:bodyPr/>
          <a:lstStyle/>
          <a:p>
            <a:r>
              <a:rPr lang="en-US"/>
              <a:t>Karakteristik</a:t>
            </a:r>
          </a:p>
        </p:txBody>
      </p:sp>
      <p:graphicFrame>
        <p:nvGraphicFramePr>
          <p:cNvPr id="15432" name="Group 72"/>
          <p:cNvGraphicFramePr>
            <a:graphicFrameLocks noGrp="1"/>
          </p:cNvGraphicFramePr>
          <p:nvPr>
            <p:ph sz="half" idx="2"/>
          </p:nvPr>
        </p:nvGraphicFramePr>
        <p:xfrm>
          <a:off x="2286000" y="1981201"/>
          <a:ext cx="7696200" cy="2620965"/>
        </p:xfrm>
        <a:graphic>
          <a:graphicData uri="http://schemas.openxmlformats.org/drawingml/2006/table">
            <a:tbl>
              <a:tblPr/>
              <a:tblGrid>
                <a:gridCol w="26670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tblGrid>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Parameter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Ideal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LM741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LF347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LM318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Open-loop Gain (A</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Garamond" pitchFamily="18" charset="0"/>
                        </a:rPr>
                        <a:t>OL</a:t>
                      </a: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2 . 10</a:t>
                      </a:r>
                      <a:r>
                        <a:rPr kumimoji="0" lang="en-US" sz="2000" b="0" i="0" u="none" strike="noStrike" cap="none" normalizeH="0" baseline="30000" smtClean="0">
                          <a:ln>
                            <a:noFill/>
                          </a:ln>
                          <a:solidFill>
                            <a:schemeClr val="tx1"/>
                          </a:solidFill>
                          <a:effectLst>
                            <a:outerShdw blurRad="38100" dist="38100" dir="2700000" algn="tl">
                              <a:srgbClr val="C0C0C0"/>
                            </a:outerShdw>
                          </a:effectLst>
                          <a:latin typeface="Garamond"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10</a:t>
                      </a:r>
                      <a:r>
                        <a:rPr kumimoji="0" lang="en-US" sz="2000" b="0" i="0" u="none" strike="noStrike" cap="none" normalizeH="0" baseline="30000" smtClean="0">
                          <a:ln>
                            <a:noFill/>
                          </a:ln>
                          <a:solidFill>
                            <a:schemeClr val="tx1"/>
                          </a:solidFill>
                          <a:effectLst>
                            <a:outerShdw blurRad="38100" dist="38100" dir="2700000" algn="tl">
                              <a:srgbClr val="C0C0C0"/>
                            </a:outerShdw>
                          </a:effectLst>
                          <a:latin typeface="Garamond"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2 . 10</a:t>
                      </a:r>
                      <a:r>
                        <a:rPr kumimoji="0" lang="en-US" sz="2000" b="0" i="0" u="none" strike="noStrike" cap="none" normalizeH="0" baseline="30000" smtClean="0">
                          <a:ln>
                            <a:noFill/>
                          </a:ln>
                          <a:solidFill>
                            <a:schemeClr val="tx1"/>
                          </a:solidFill>
                          <a:effectLst>
                            <a:outerShdw blurRad="38100" dist="38100" dir="2700000" algn="tl">
                              <a:srgbClr val="C0C0C0"/>
                            </a:outerShdw>
                          </a:effectLst>
                          <a:latin typeface="Garamond" pitchFamily="18"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Input Resistance (R</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Garamond" pitchFamily="18" charset="0"/>
                        </a:rPr>
                        <a:t>in</a:t>
                      </a: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2 M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10</a:t>
                      </a:r>
                      <a:r>
                        <a:rPr kumimoji="0" lang="en-US" sz="2000" b="0" i="0" u="none" strike="noStrike" cap="none" normalizeH="0" baseline="30000" smtClean="0">
                          <a:ln>
                            <a:noFill/>
                          </a:ln>
                          <a:solidFill>
                            <a:schemeClr val="tx1"/>
                          </a:solidFill>
                          <a:effectLst>
                            <a:outerShdw blurRad="38100" dist="38100" dir="2700000" algn="tl">
                              <a:srgbClr val="C0C0C0"/>
                            </a:outerShdw>
                          </a:effectLst>
                          <a:latin typeface="Garamond" pitchFamily="18" charset="0"/>
                        </a:rPr>
                        <a:t>12</a:t>
                      </a: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3 M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Output Resistance (R</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Garamond" pitchFamily="18" charset="0"/>
                        </a:rPr>
                        <a:t>o</a:t>
                      </a: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0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75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75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75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Gain Bandwidth Product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 Hz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 MHz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4 MHz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15 MHz</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CMRR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90 dB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100 dB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100 dB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4294967295"/>
          </p:nvPr>
        </p:nvSpPr>
        <p:spPr/>
        <p:txBody>
          <a:bodyPr/>
          <a:lstStyle/>
          <a:p>
            <a:fld id="{F30AFAA8-A163-424D-8277-1776C4DF79CA}" type="datetime1">
              <a:rPr lang="en-US" smtClean="0"/>
              <a:t>3/25/2026</a:t>
            </a:fld>
            <a:endParaRPr lang="en-US"/>
          </a:p>
        </p:txBody>
      </p:sp>
      <p:sp>
        <p:nvSpPr>
          <p:cNvPr id="3" name="Footer Placeholder 2"/>
          <p:cNvSpPr>
            <a:spLocks noGrp="1"/>
          </p:cNvSpPr>
          <p:nvPr>
            <p:ph type="ftr" sz="quarter" idx="4294967295"/>
          </p:nvPr>
        </p:nvSpPr>
        <p:spPr/>
        <p:txBody>
          <a:bodyPr/>
          <a:lstStyle/>
          <a:p>
            <a:r>
              <a:rPr lang="en-US" smtClean="0"/>
              <a:t>http://www.electronics-tutorials.ws/opamp/opamp_1.html; Buku Praktikum Eljut ; Malvino Edisi 1 dan 2; Bahan Ajar Operasional Amplifier oleh Dr. Risanuri Hidayat</a:t>
            </a:r>
            <a:endParaRPr lang="en-US"/>
          </a:p>
        </p:txBody>
      </p:sp>
      <p:sp>
        <p:nvSpPr>
          <p:cNvPr id="4" name="Slide Number Placeholder 3"/>
          <p:cNvSpPr>
            <a:spLocks noGrp="1"/>
          </p:cNvSpPr>
          <p:nvPr>
            <p:ph type="sldNum" sz="quarter" idx="4294967295"/>
          </p:nvPr>
        </p:nvSpPr>
        <p:spPr/>
        <p:txBody>
          <a:bodyPr>
            <a:normAutofit fontScale="25000" lnSpcReduction="20000"/>
          </a:bodyPr>
          <a:lstStyle/>
          <a:p>
            <a:fld id="{30FF78D7-7CA0-44FD-8733-19F49D683D81}" type="slidenum">
              <a:rPr lang="en-US" smtClean="0"/>
              <a:t>60</a:t>
            </a:fld>
            <a:endParaRPr lang="en-US"/>
          </a:p>
        </p:txBody>
      </p:sp>
    </p:spTree>
    <p:extLst>
      <p:ext uri="{BB962C8B-B14F-4D97-AF65-F5344CB8AC3E}">
        <p14:creationId xmlns:p14="http://schemas.microsoft.com/office/powerpoint/2010/main" val="220391169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rrowheads="1"/>
          </p:cNvSpPr>
          <p:nvPr>
            <p:ph type="title"/>
          </p:nvPr>
        </p:nvSpPr>
        <p:spPr/>
        <p:txBody>
          <a:bodyPr/>
          <a:lstStyle/>
          <a:p>
            <a:r>
              <a:rPr lang="en-US"/>
              <a:t>Keluaran</a:t>
            </a:r>
          </a:p>
        </p:txBody>
      </p:sp>
      <p:sp>
        <p:nvSpPr>
          <p:cNvPr id="18435" name="Rectangle 3"/>
          <p:cNvSpPr>
            <a:spLocks noGrp="1" noChangeArrowheads="1"/>
          </p:cNvSpPr>
          <p:nvPr>
            <p:ph type="body" sz="half" idx="1"/>
          </p:nvPr>
        </p:nvSpPr>
        <p:spPr>
          <a:xfrm>
            <a:off x="2057400" y="1828800"/>
            <a:ext cx="4038600" cy="2743200"/>
          </a:xfrm>
        </p:spPr>
        <p:txBody>
          <a:bodyPr/>
          <a:lstStyle/>
          <a:p>
            <a:r>
              <a:rPr lang="en-US"/>
              <a:t>Tegangan output tak kan pernah melampaui V</a:t>
            </a:r>
            <a:r>
              <a:rPr lang="en-US" baseline="-25000"/>
              <a:t>CC</a:t>
            </a:r>
            <a:r>
              <a:rPr lang="en-US"/>
              <a:t>.</a:t>
            </a:r>
          </a:p>
          <a:p>
            <a:r>
              <a:rPr lang="en-US"/>
              <a:t>Keluaran hanya sampai ke tegangan saturasi yaitu 1 atau 2V dibawah V</a:t>
            </a:r>
            <a:r>
              <a:rPr lang="en-US" baseline="-25000"/>
              <a:t>CC</a:t>
            </a:r>
            <a:r>
              <a:rPr lang="en-US"/>
              <a:t>. </a:t>
            </a:r>
          </a:p>
        </p:txBody>
      </p:sp>
      <p:pic>
        <p:nvPicPr>
          <p:cNvPr id="18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2133600"/>
            <a:ext cx="3733800" cy="179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8437" name="Object 5"/>
          <p:cNvGraphicFramePr>
            <a:graphicFrameLocks noGrp="1" noChangeAspect="1"/>
          </p:cNvGraphicFramePr>
          <p:nvPr>
            <p:ph sz="half" idx="2"/>
          </p:nvPr>
        </p:nvGraphicFramePr>
        <p:xfrm>
          <a:off x="2743200" y="4648200"/>
          <a:ext cx="2438400" cy="1035050"/>
        </p:xfrm>
        <a:graphic>
          <a:graphicData uri="http://schemas.openxmlformats.org/presentationml/2006/ole">
            <mc:AlternateContent xmlns:mc="http://schemas.openxmlformats.org/markup-compatibility/2006">
              <mc:Choice xmlns:v="urn:schemas-microsoft-com:vml" Requires="v">
                <p:oleObj spid="_x0000_s46084" name="Equation" r:id="rId4" imgW="927000" imgH="393480" progId="Equation.3">
                  <p:embed/>
                </p:oleObj>
              </mc:Choice>
              <mc:Fallback>
                <p:oleObj name="Equation" r:id="rId4" imgW="927000" imgH="393480" progId="Equation.3">
                  <p:embed/>
                  <p:pic>
                    <p:nvPicPr>
                      <p:cNvPr id="1843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4648200"/>
                        <a:ext cx="2438400"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Date Placeholder 1"/>
          <p:cNvSpPr>
            <a:spLocks noGrp="1"/>
          </p:cNvSpPr>
          <p:nvPr>
            <p:ph type="dt" sz="half" idx="10"/>
          </p:nvPr>
        </p:nvSpPr>
        <p:spPr/>
        <p:txBody>
          <a:bodyPr/>
          <a:lstStyle/>
          <a:p>
            <a:fld id="{D8276155-7275-43AD-9652-F3C7DDB02AB1}" type="datetime1">
              <a:rPr lang="en-US" smtClean="0"/>
              <a:t>3/25/2026</a:t>
            </a:fld>
            <a:endParaRPr lang="en-US"/>
          </a:p>
        </p:txBody>
      </p:sp>
      <p:sp>
        <p:nvSpPr>
          <p:cNvPr id="3" name="Footer Placeholder 2"/>
          <p:cNvSpPr>
            <a:spLocks noGrp="1"/>
          </p:cNvSpPr>
          <p:nvPr>
            <p:ph type="ftr" sz="quarter" idx="12"/>
          </p:nvPr>
        </p:nvSpPr>
        <p:spPr/>
        <p:txBody>
          <a:bodyPr/>
          <a:lstStyle/>
          <a:p>
            <a:r>
              <a:rPr lang="en-US" smtClean="0"/>
              <a:t>http://www.electronics-tutorials.ws/opamp/opamp_1.html; Buku Praktikum Eljut ; Malvino Edisi 1 dan 2; Bahan Ajar Operasional Amplifier oleh Dr. Risanuri Hidayat</a:t>
            </a:r>
            <a:endParaRPr lang="en-US"/>
          </a:p>
        </p:txBody>
      </p:sp>
      <p:sp>
        <p:nvSpPr>
          <p:cNvPr id="4" name="Slide Number Placeholder 3"/>
          <p:cNvSpPr>
            <a:spLocks noGrp="1"/>
          </p:cNvSpPr>
          <p:nvPr>
            <p:ph type="sldNum" sz="quarter" idx="11"/>
          </p:nvPr>
        </p:nvSpPr>
        <p:spPr/>
        <p:txBody>
          <a:bodyPr/>
          <a:lstStyle/>
          <a:p>
            <a:fld id="{63672217-76C2-4848-958E-84381210B462}" type="slidenum">
              <a:rPr lang="en-US" smtClean="0"/>
              <a:pPr/>
              <a:t>61</a:t>
            </a:fld>
            <a:endParaRPr lang="en-US"/>
          </a:p>
        </p:txBody>
      </p:sp>
    </p:spTree>
    <p:extLst>
      <p:ext uri="{BB962C8B-B14F-4D97-AF65-F5344CB8AC3E}">
        <p14:creationId xmlns:p14="http://schemas.microsoft.com/office/powerpoint/2010/main" val="134497196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a:t>Operasi Kalang Terbuka</a:t>
            </a:r>
          </a:p>
        </p:txBody>
      </p:sp>
      <p:sp>
        <p:nvSpPr>
          <p:cNvPr id="20483" name="Rectangle 3"/>
          <p:cNvSpPr>
            <a:spLocks noGrp="1" noChangeArrowheads="1"/>
          </p:cNvSpPr>
          <p:nvPr>
            <p:ph type="body" sz="half" idx="1"/>
          </p:nvPr>
        </p:nvSpPr>
        <p:spPr>
          <a:xfrm>
            <a:off x="1981200" y="1600200"/>
            <a:ext cx="7924800" cy="2895600"/>
          </a:xfrm>
        </p:spPr>
        <p:txBody>
          <a:bodyPr/>
          <a:lstStyle/>
          <a:p>
            <a:r>
              <a:rPr lang="en-US" sz="2400"/>
              <a:t>Berfungsi sebagai komparator</a:t>
            </a:r>
          </a:p>
          <a:p>
            <a:r>
              <a:rPr lang="en-US" sz="2400"/>
              <a:t>Tegangan output adalah +Vsat jika tegangan input non-inverting lebih tinggi dari tegangan input inverting</a:t>
            </a:r>
          </a:p>
          <a:p>
            <a:r>
              <a:rPr lang="en-US" sz="2400"/>
              <a:t>Demikian juga, tegangan output adalah –Vsat jika tegangan input non-inverting lebih rendah dari tegangan input inverting </a:t>
            </a:r>
          </a:p>
        </p:txBody>
      </p:sp>
      <p:graphicFrame>
        <p:nvGraphicFramePr>
          <p:cNvPr id="20484" name="Object 4"/>
          <p:cNvGraphicFramePr>
            <a:graphicFrameLocks noGrp="1" noChangeAspect="1"/>
          </p:cNvGraphicFramePr>
          <p:nvPr>
            <p:ph sz="half" idx="2"/>
          </p:nvPr>
        </p:nvGraphicFramePr>
        <p:xfrm>
          <a:off x="4419600" y="4267201"/>
          <a:ext cx="3048000" cy="1198563"/>
        </p:xfrm>
        <a:graphic>
          <a:graphicData uri="http://schemas.openxmlformats.org/presentationml/2006/ole">
            <mc:AlternateContent xmlns:mc="http://schemas.openxmlformats.org/markup-compatibility/2006">
              <mc:Choice xmlns:v="urn:schemas-microsoft-com:vml" Requires="v">
                <p:oleObj spid="_x0000_s47108" name="Equation" r:id="rId3" imgW="1130040" imgH="444240" progId="Equation.3">
                  <p:embed/>
                </p:oleObj>
              </mc:Choice>
              <mc:Fallback>
                <p:oleObj name="Equation" r:id="rId3" imgW="1130040" imgH="444240" progId="Equation.3">
                  <p:embed/>
                  <p:pic>
                    <p:nvPicPr>
                      <p:cNvPr id="2048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4267201"/>
                        <a:ext cx="3048000" cy="1198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Date Placeholder 1"/>
          <p:cNvSpPr>
            <a:spLocks noGrp="1"/>
          </p:cNvSpPr>
          <p:nvPr>
            <p:ph type="dt" sz="half" idx="10"/>
          </p:nvPr>
        </p:nvSpPr>
        <p:spPr/>
        <p:txBody>
          <a:bodyPr/>
          <a:lstStyle/>
          <a:p>
            <a:fld id="{6BB53CA4-AEAA-4939-A1E9-AD1F0B4178F2}" type="datetime1">
              <a:rPr lang="en-US" smtClean="0"/>
              <a:t>3/25/2026</a:t>
            </a:fld>
            <a:endParaRPr lang="en-US"/>
          </a:p>
        </p:txBody>
      </p:sp>
      <p:sp>
        <p:nvSpPr>
          <p:cNvPr id="3" name="Footer Placeholder 2"/>
          <p:cNvSpPr>
            <a:spLocks noGrp="1"/>
          </p:cNvSpPr>
          <p:nvPr>
            <p:ph type="ftr" sz="quarter" idx="12"/>
          </p:nvPr>
        </p:nvSpPr>
        <p:spPr/>
        <p:txBody>
          <a:bodyPr/>
          <a:lstStyle/>
          <a:p>
            <a:r>
              <a:rPr lang="en-US" smtClean="0"/>
              <a:t>http://www.electronics-tutorials.ws/opamp/opamp_1.html; Buku Praktikum Eljut ; Malvino Edisi 1 dan 2; Bahan Ajar Operasional Amplifier oleh Dr. Risanuri Hidayat</a:t>
            </a:r>
            <a:endParaRPr lang="en-US"/>
          </a:p>
        </p:txBody>
      </p:sp>
      <p:sp>
        <p:nvSpPr>
          <p:cNvPr id="4" name="Slide Number Placeholder 3"/>
          <p:cNvSpPr>
            <a:spLocks noGrp="1"/>
          </p:cNvSpPr>
          <p:nvPr>
            <p:ph type="sldNum" sz="quarter" idx="11"/>
          </p:nvPr>
        </p:nvSpPr>
        <p:spPr/>
        <p:txBody>
          <a:bodyPr/>
          <a:lstStyle/>
          <a:p>
            <a:fld id="{63672217-76C2-4848-958E-84381210B462}" type="slidenum">
              <a:rPr lang="en-US" smtClean="0"/>
              <a:pPr/>
              <a:t>62</a:t>
            </a:fld>
            <a:endParaRPr lang="en-US"/>
          </a:p>
        </p:txBody>
      </p:sp>
    </p:spTree>
    <p:extLst>
      <p:ext uri="{BB962C8B-B14F-4D97-AF65-F5344CB8AC3E}">
        <p14:creationId xmlns:p14="http://schemas.microsoft.com/office/powerpoint/2010/main" val="309208447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p:cNvSpPr>
            <a:spLocks noGrp="1" noRot="1" noChangeArrowheads="1"/>
          </p:cNvSpPr>
          <p:nvPr>
            <p:ph type="title"/>
          </p:nvPr>
        </p:nvSpPr>
        <p:spPr/>
        <p:txBody>
          <a:bodyPr/>
          <a:lstStyle/>
          <a:p>
            <a:r>
              <a:rPr lang="en-US"/>
              <a:t>Kalang Tertutup</a:t>
            </a:r>
          </a:p>
        </p:txBody>
      </p:sp>
      <p:pic>
        <p:nvPicPr>
          <p:cNvPr id="35845" name="Picture 5"/>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4343400" y="1447801"/>
            <a:ext cx="3595688" cy="2054225"/>
          </a:xfrm>
        </p:spPr>
      </p:pic>
      <p:sp>
        <p:nvSpPr>
          <p:cNvPr id="35846" name="Rectangle 6"/>
          <p:cNvSpPr>
            <a:spLocks noGrp="1" noChangeArrowheads="1"/>
          </p:cNvSpPr>
          <p:nvPr>
            <p:ph type="body" sz="half" idx="3"/>
          </p:nvPr>
        </p:nvSpPr>
        <p:spPr>
          <a:xfrm>
            <a:off x="1981200" y="3581400"/>
            <a:ext cx="8229600" cy="1524000"/>
          </a:xfrm>
        </p:spPr>
        <p:txBody>
          <a:bodyPr/>
          <a:lstStyle/>
          <a:p>
            <a:pPr>
              <a:lnSpc>
                <a:spcPct val="90000"/>
              </a:lnSpc>
            </a:pPr>
            <a:r>
              <a:rPr lang="en-US" sz="2400"/>
              <a:t>Salah satu karakteristik Op-amp adalah tegangan input (antar terminal input) yang sangat kecil. Dan resistansi input yang sangat besar menyebabkan tidak adanya arus yang mengalir, sehingga</a:t>
            </a:r>
          </a:p>
        </p:txBody>
      </p:sp>
      <p:graphicFrame>
        <p:nvGraphicFramePr>
          <p:cNvPr id="35847" name="Object 7"/>
          <p:cNvGraphicFramePr>
            <a:graphicFrameLocks noGrp="1" noChangeAspect="1"/>
          </p:cNvGraphicFramePr>
          <p:nvPr>
            <p:ph sz="quarter" idx="2"/>
          </p:nvPr>
        </p:nvGraphicFramePr>
        <p:xfrm>
          <a:off x="4038601" y="4953000"/>
          <a:ext cx="974725" cy="1119188"/>
        </p:xfrm>
        <a:graphic>
          <a:graphicData uri="http://schemas.openxmlformats.org/presentationml/2006/ole">
            <mc:AlternateContent xmlns:mc="http://schemas.openxmlformats.org/markup-compatibility/2006">
              <mc:Choice xmlns:v="urn:schemas-microsoft-com:vml" Requires="v">
                <p:oleObj spid="_x0000_s48132" name="Equation" r:id="rId4" imgW="342720" imgH="393480" progId="Equation.3">
                  <p:embed/>
                </p:oleObj>
              </mc:Choice>
              <mc:Fallback>
                <p:oleObj name="Equation" r:id="rId4" imgW="342720" imgH="393480" progId="Equation.3">
                  <p:embed/>
                  <p:pic>
                    <p:nvPicPr>
                      <p:cNvPr id="35847"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1" y="4953000"/>
                        <a:ext cx="974725" cy="1119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144775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4"/>
          <p:cNvSpPr>
            <a:spLocks noGrp="1" noRot="1" noChangeArrowheads="1"/>
          </p:cNvSpPr>
          <p:nvPr>
            <p:ph type="title"/>
          </p:nvPr>
        </p:nvSpPr>
        <p:spPr/>
        <p:txBody>
          <a:bodyPr/>
          <a:lstStyle/>
          <a:p>
            <a:r>
              <a:rPr lang="en-US"/>
              <a:t>Comparator</a:t>
            </a:r>
          </a:p>
        </p:txBody>
      </p:sp>
      <p:pic>
        <p:nvPicPr>
          <p:cNvPr id="22533" name="Picture 5"/>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2286000" y="2514601"/>
            <a:ext cx="3352800" cy="2214563"/>
          </a:xfrm>
        </p:spPr>
      </p:pic>
      <p:pic>
        <p:nvPicPr>
          <p:cNvPr id="22534" name="Picture 6"/>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6248401" y="2209800"/>
            <a:ext cx="3148013" cy="3505200"/>
          </a:xfrm>
        </p:spPr>
      </p:pic>
      <p:graphicFrame>
        <p:nvGraphicFramePr>
          <p:cNvPr id="22536" name="Object 8"/>
          <p:cNvGraphicFramePr>
            <a:graphicFrameLocks noGrp="1" noChangeAspect="1"/>
          </p:cNvGraphicFramePr>
          <p:nvPr>
            <p:ph sz="quarter" idx="3"/>
          </p:nvPr>
        </p:nvGraphicFramePr>
        <p:xfrm>
          <a:off x="2438400" y="5105400"/>
          <a:ext cx="2743200" cy="711200"/>
        </p:xfrm>
        <a:graphic>
          <a:graphicData uri="http://schemas.openxmlformats.org/presentationml/2006/ole">
            <mc:AlternateContent xmlns:mc="http://schemas.openxmlformats.org/markup-compatibility/2006">
              <mc:Choice xmlns:v="urn:schemas-microsoft-com:vml" Requires="v">
                <p:oleObj spid="_x0000_s49156" name="Equation" r:id="rId5" imgW="1371600" imgH="355320" progId="Equation.3">
                  <p:embed/>
                </p:oleObj>
              </mc:Choice>
              <mc:Fallback>
                <p:oleObj name="Equation" r:id="rId5" imgW="1371600" imgH="355320" progId="Equation.3">
                  <p:embed/>
                  <p:pic>
                    <p:nvPicPr>
                      <p:cNvPr id="22536"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5105400"/>
                        <a:ext cx="2743200"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489717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rrowheads="1"/>
          </p:cNvSpPr>
          <p:nvPr>
            <p:ph type="title"/>
          </p:nvPr>
        </p:nvSpPr>
        <p:spPr/>
        <p:txBody>
          <a:bodyPr/>
          <a:lstStyle/>
          <a:p>
            <a:r>
              <a:rPr lang="en-US"/>
              <a:t>Driver</a:t>
            </a:r>
          </a:p>
        </p:txBody>
      </p:sp>
      <p:pic>
        <p:nvPicPr>
          <p:cNvPr id="24580" name="Picture 4"/>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p:pic>
      <p:graphicFrame>
        <p:nvGraphicFramePr>
          <p:cNvPr id="24611" name="Group 35"/>
          <p:cNvGraphicFramePr>
            <a:graphicFrameLocks noGrp="1"/>
          </p:cNvGraphicFramePr>
          <p:nvPr>
            <p:ph sz="half" idx="2"/>
          </p:nvPr>
        </p:nvGraphicFramePr>
        <p:xfrm>
          <a:off x="6629400" y="2590800"/>
          <a:ext cx="3581400" cy="1676400"/>
        </p:xfrm>
        <a:graphic>
          <a:graphicData uri="http://schemas.openxmlformats.org/drawingml/2006/table">
            <a:tbl>
              <a:tblPr/>
              <a:tblGrid>
                <a:gridCol w="895350">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895350">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tblGrid>
              <a:tr h="4191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1" u="none" strike="noStrike" cap="none" normalizeH="0" baseline="0" smtClean="0">
                          <a:ln>
                            <a:noFill/>
                          </a:ln>
                          <a:solidFill>
                            <a:schemeClr val="tx1"/>
                          </a:solidFill>
                          <a:effectLst>
                            <a:outerShdw blurRad="38100" dist="38100" dir="2700000" algn="tl">
                              <a:srgbClr val="C0C0C0"/>
                            </a:outerShdw>
                          </a:effectLst>
                          <a:latin typeface="Garamond" pitchFamily="18" charset="0"/>
                        </a:rPr>
                        <a:t>v</a:t>
                      </a:r>
                      <a:r>
                        <a:rPr kumimoji="0" lang="en-US" sz="2000" b="0" i="1" u="none" strike="noStrike" cap="none" normalizeH="0" baseline="-25000" smtClean="0">
                          <a:ln>
                            <a:noFill/>
                          </a:ln>
                          <a:solidFill>
                            <a:schemeClr val="tx1"/>
                          </a:solidFill>
                          <a:effectLst>
                            <a:outerShdw blurRad="38100" dist="38100" dir="2700000" algn="tl">
                              <a:srgbClr val="C0C0C0"/>
                            </a:outerShdw>
                          </a:effectLst>
                          <a:latin typeface="Garamond" pitchFamily="18" charset="0"/>
                        </a:rPr>
                        <a:t>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91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0.5V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OFF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OFF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91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1.5V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OFF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ON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OFF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91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2.5V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OFF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OFF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755746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1" name="Rectangle 11"/>
          <p:cNvSpPr>
            <a:spLocks noGrp="1" noRot="1" noChangeArrowheads="1"/>
          </p:cNvSpPr>
          <p:nvPr>
            <p:ph type="title"/>
          </p:nvPr>
        </p:nvSpPr>
        <p:spPr/>
        <p:txBody>
          <a:bodyPr/>
          <a:lstStyle/>
          <a:p>
            <a:r>
              <a:rPr lang="en-US"/>
              <a:t>Schmitt Trigger</a:t>
            </a:r>
          </a:p>
        </p:txBody>
      </p:sp>
      <p:graphicFrame>
        <p:nvGraphicFramePr>
          <p:cNvPr id="30727" name="Object 7"/>
          <p:cNvGraphicFramePr>
            <a:graphicFrameLocks noGrp="1" noChangeAspect="1"/>
          </p:cNvGraphicFramePr>
          <p:nvPr>
            <p:ph sz="quarter" idx="2"/>
          </p:nvPr>
        </p:nvGraphicFramePr>
        <p:xfrm>
          <a:off x="2590800" y="1817688"/>
          <a:ext cx="2438400" cy="2220912"/>
        </p:xfrm>
        <a:graphic>
          <a:graphicData uri="http://schemas.openxmlformats.org/presentationml/2006/ole">
            <mc:AlternateContent xmlns:mc="http://schemas.openxmlformats.org/markup-compatibility/2006">
              <mc:Choice xmlns:v="urn:schemas-microsoft-com:vml" Requires="v">
                <p:oleObj spid="_x0000_s50182" name="Image" r:id="rId3" imgW="1993651" imgH="1815873" progId="Photoshop.Image.8">
                  <p:embed/>
                </p:oleObj>
              </mc:Choice>
              <mc:Fallback>
                <p:oleObj name="Image" r:id="rId3" imgW="1993651" imgH="1815873" progId="Photoshop.Image.8">
                  <p:embed/>
                  <p:pic>
                    <p:nvPicPr>
                      <p:cNvPr id="3072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1817688"/>
                        <a:ext cx="2438400" cy="2220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30" name="Object 10"/>
          <p:cNvGraphicFramePr>
            <a:graphicFrameLocks noGrp="1" noChangeAspect="1"/>
          </p:cNvGraphicFramePr>
          <p:nvPr>
            <p:ph sz="quarter" idx="3"/>
          </p:nvPr>
        </p:nvGraphicFramePr>
        <p:xfrm>
          <a:off x="3048000" y="3962401"/>
          <a:ext cx="1606550" cy="2187575"/>
        </p:xfrm>
        <a:graphic>
          <a:graphicData uri="http://schemas.openxmlformats.org/presentationml/2006/ole">
            <mc:AlternateContent xmlns:mc="http://schemas.openxmlformats.org/markup-compatibility/2006">
              <mc:Choice xmlns:v="urn:schemas-microsoft-com:vml" Requires="v">
                <p:oleObj spid="_x0000_s50183" name="Visio" r:id="rId5" imgW="3012643" imgH="4104132" progId="Visio.Drawing.11">
                  <p:embed/>
                </p:oleObj>
              </mc:Choice>
              <mc:Fallback>
                <p:oleObj name="Visio" r:id="rId5" imgW="3012643" imgH="4104132" progId="Visio.Drawing.11">
                  <p:embed/>
                  <p:pic>
                    <p:nvPicPr>
                      <p:cNvPr id="3073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3962401"/>
                        <a:ext cx="1606550" cy="218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0734" name="Picture 14"/>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a:xfrm>
            <a:off x="5943600" y="1828800"/>
            <a:ext cx="3841750" cy="3962400"/>
          </a:xfrm>
          <a:noFill/>
          <a:ln/>
        </p:spPr>
      </p:pic>
    </p:spTree>
    <p:extLst>
      <p:ext uri="{BB962C8B-B14F-4D97-AF65-F5344CB8AC3E}">
        <p14:creationId xmlns:p14="http://schemas.microsoft.com/office/powerpoint/2010/main" val="17884488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rrowheads="1"/>
          </p:cNvSpPr>
          <p:nvPr>
            <p:ph type="title"/>
          </p:nvPr>
        </p:nvSpPr>
        <p:spPr/>
        <p:txBody>
          <a:bodyPr/>
          <a:lstStyle/>
          <a:p>
            <a:r>
              <a:rPr lang="en-US"/>
              <a:t>Virtual Short Virtual Ground</a:t>
            </a:r>
          </a:p>
        </p:txBody>
      </p:sp>
      <p:sp>
        <p:nvSpPr>
          <p:cNvPr id="37891" name="Rectangle 3"/>
          <p:cNvSpPr>
            <a:spLocks noGrp="1" noChangeArrowheads="1"/>
          </p:cNvSpPr>
          <p:nvPr>
            <p:ph type="body" idx="1"/>
          </p:nvPr>
        </p:nvSpPr>
        <p:spPr>
          <a:xfrm>
            <a:off x="1981200" y="1600200"/>
            <a:ext cx="8229600" cy="3657600"/>
          </a:xfrm>
        </p:spPr>
        <p:txBody>
          <a:bodyPr>
            <a:normAutofit/>
          </a:bodyPr>
          <a:lstStyle/>
          <a:p>
            <a:pPr>
              <a:lnSpc>
                <a:spcPct val="90000"/>
              </a:lnSpc>
            </a:pPr>
            <a:r>
              <a:rPr lang="en-US" sz="2400"/>
              <a:t>Kedua persamaan (vi=0 dan ii=0) mengasumsikan bahwa kedua terminal input seolah-olah terhubung langsung (virtual short), yang mana baik tegangan maupun arus sangat2 mendekati nol</a:t>
            </a:r>
          </a:p>
          <a:p>
            <a:pPr>
              <a:lnSpc>
                <a:spcPct val="90000"/>
              </a:lnSpc>
            </a:pPr>
            <a:r>
              <a:rPr lang="en-US" sz="2400"/>
              <a:t>Karena adanya virtual short, maka kaki inverting seolah-olah terhubung ke ground (virtual ground). </a:t>
            </a:r>
          </a:p>
          <a:p>
            <a:pPr>
              <a:lnSpc>
                <a:spcPct val="90000"/>
              </a:lnSpc>
            </a:pPr>
            <a:r>
              <a:rPr lang="en-US" sz="2400"/>
              <a:t>Catatan bahwa meski kaki non-inverting tak terhubung langsung ke ground, dalam arti ada resistor diantaranya, namun tak ada arus mengalir melewati resistor tersebut. Sehingga tegangan resistor adalah nol. Maka kaki inverting tetap saja pada kondisi virtual ground.</a:t>
            </a:r>
          </a:p>
        </p:txBody>
      </p:sp>
    </p:spTree>
    <p:extLst>
      <p:ext uri="{BB962C8B-B14F-4D97-AF65-F5344CB8AC3E}">
        <p14:creationId xmlns:p14="http://schemas.microsoft.com/office/powerpoint/2010/main" val="37354894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4"/>
          <p:cNvSpPr>
            <a:spLocks noGrp="1" noRot="1" noChangeArrowheads="1"/>
          </p:cNvSpPr>
          <p:nvPr>
            <p:ph type="title"/>
          </p:nvPr>
        </p:nvSpPr>
        <p:spPr/>
        <p:txBody>
          <a:bodyPr>
            <a:normAutofit/>
          </a:bodyPr>
          <a:lstStyle/>
          <a:p>
            <a:r>
              <a:rPr lang="en-US" dirty="0" err="1"/>
              <a:t>Penguat</a:t>
            </a:r>
            <a:r>
              <a:rPr lang="en-US" dirty="0"/>
              <a:t> </a:t>
            </a:r>
            <a:r>
              <a:rPr lang="en-US" dirty="0" err="1" smtClean="0"/>
              <a:t>Membalik</a:t>
            </a:r>
            <a:r>
              <a:rPr lang="en-US" dirty="0" smtClean="0"/>
              <a:t> ( Inverting OP-AMP)</a:t>
            </a:r>
            <a:endParaRPr lang="en-US" dirty="0"/>
          </a:p>
        </p:txBody>
      </p:sp>
      <p:graphicFrame>
        <p:nvGraphicFramePr>
          <p:cNvPr id="39941" name="Object 5"/>
          <p:cNvGraphicFramePr>
            <a:graphicFrameLocks noGrp="1" noChangeAspect="1"/>
          </p:cNvGraphicFramePr>
          <p:nvPr>
            <p:ph sz="quarter" idx="1"/>
          </p:nvPr>
        </p:nvGraphicFramePr>
        <p:xfrm>
          <a:off x="2514600" y="1595438"/>
          <a:ext cx="3429000" cy="1936750"/>
        </p:xfrm>
        <a:graphic>
          <a:graphicData uri="http://schemas.openxmlformats.org/presentationml/2006/ole">
            <mc:AlternateContent xmlns:mc="http://schemas.openxmlformats.org/markup-compatibility/2006">
              <mc:Choice xmlns:v="urn:schemas-microsoft-com:vml" Requires="v">
                <p:oleObj spid="_x0000_s51208" name="Image" r:id="rId3" imgW="2946032" imgH="1663492" progId="Photoshop.Image.8">
                  <p:embed/>
                </p:oleObj>
              </mc:Choice>
              <mc:Fallback>
                <p:oleObj name="Image" r:id="rId3" imgW="2946032" imgH="1663492" progId="Photoshop.Image.8">
                  <p:embed/>
                  <p:pic>
                    <p:nvPicPr>
                      <p:cNvPr id="3994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1595438"/>
                        <a:ext cx="3429000" cy="1936750"/>
                      </a:xfrm>
                      <a:prstGeom prst="rect">
                        <a:avLst/>
                      </a:prstGeom>
                    </p:spPr>
                  </p:pic>
                </p:oleObj>
              </mc:Fallback>
            </mc:AlternateContent>
          </a:graphicData>
        </a:graphic>
      </p:graphicFrame>
      <p:sp>
        <p:nvSpPr>
          <p:cNvPr id="39942" name="Rectangle 6"/>
          <p:cNvSpPr>
            <a:spLocks noGrp="1" noChangeArrowheads="1"/>
          </p:cNvSpPr>
          <p:nvPr>
            <p:ph type="body" sz="half" idx="3"/>
          </p:nvPr>
        </p:nvSpPr>
        <p:spPr/>
        <p:txBody>
          <a:bodyPr/>
          <a:lstStyle/>
          <a:p>
            <a:r>
              <a:rPr lang="en-US"/>
              <a:t> </a:t>
            </a:r>
            <a:r>
              <a:rPr lang="en-US" i="1"/>
              <a:t>i</a:t>
            </a:r>
            <a:r>
              <a:rPr lang="en-US" i="1" baseline="-25000"/>
              <a:t>i</a:t>
            </a:r>
            <a:r>
              <a:rPr lang="en-US" i="1"/>
              <a:t>=0, maka i</a:t>
            </a:r>
            <a:r>
              <a:rPr lang="en-US" i="1" baseline="-25000"/>
              <a:t>2</a:t>
            </a:r>
            <a:r>
              <a:rPr lang="en-US" i="1"/>
              <a:t>=i</a:t>
            </a:r>
            <a:r>
              <a:rPr lang="en-US" i="1" baseline="-25000"/>
              <a:t>1</a:t>
            </a:r>
            <a:r>
              <a:rPr lang="en-US" i="1"/>
              <a:t> . Dan v</a:t>
            </a:r>
            <a:r>
              <a:rPr lang="en-US" i="1" baseline="-25000"/>
              <a:t>i</a:t>
            </a:r>
            <a:r>
              <a:rPr lang="en-US" i="1"/>
              <a:t>=0</a:t>
            </a:r>
          </a:p>
        </p:txBody>
      </p:sp>
      <p:pic>
        <p:nvPicPr>
          <p:cNvPr id="3994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1" y="1981200"/>
            <a:ext cx="3038475" cy="1423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9944" name="Object 8"/>
          <p:cNvGraphicFramePr>
            <a:graphicFrameLocks noGrp="1" noChangeAspect="1"/>
          </p:cNvGraphicFramePr>
          <p:nvPr>
            <p:ph sz="quarter" idx="2"/>
          </p:nvPr>
        </p:nvGraphicFramePr>
        <p:xfrm>
          <a:off x="3048000" y="4724400"/>
          <a:ext cx="1119188" cy="1347788"/>
        </p:xfrm>
        <a:graphic>
          <a:graphicData uri="http://schemas.openxmlformats.org/presentationml/2006/ole">
            <mc:AlternateContent xmlns:mc="http://schemas.openxmlformats.org/markup-compatibility/2006">
              <mc:Choice xmlns:v="urn:schemas-microsoft-com:vml" Requires="v">
                <p:oleObj spid="_x0000_s51209" name="Equation" r:id="rId6" imgW="622080" imgH="749160" progId="Equation.3">
                  <p:embed/>
                </p:oleObj>
              </mc:Choice>
              <mc:Fallback>
                <p:oleObj name="Equation" r:id="rId6" imgW="622080" imgH="749160" progId="Equation.3">
                  <p:embed/>
                  <p:pic>
                    <p:nvPicPr>
                      <p:cNvPr id="39944"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0" y="4724400"/>
                        <a:ext cx="1119188" cy="1347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6" name="Object 10"/>
          <p:cNvGraphicFramePr>
            <a:graphicFrameLocks noChangeAspect="1"/>
          </p:cNvGraphicFramePr>
          <p:nvPr/>
        </p:nvGraphicFramePr>
        <p:xfrm>
          <a:off x="6400800" y="4267200"/>
          <a:ext cx="1550988" cy="1905000"/>
        </p:xfrm>
        <a:graphic>
          <a:graphicData uri="http://schemas.openxmlformats.org/presentationml/2006/ole">
            <mc:AlternateContent xmlns:mc="http://schemas.openxmlformats.org/markup-compatibility/2006">
              <mc:Choice xmlns:v="urn:schemas-microsoft-com:vml" Requires="v">
                <p:oleObj spid="_x0000_s51210" name="Equation" r:id="rId8" imgW="609480" imgH="749160" progId="Equation.3">
                  <p:embed/>
                </p:oleObj>
              </mc:Choice>
              <mc:Fallback>
                <p:oleObj name="Equation" r:id="rId8" imgW="609480" imgH="749160" progId="Equation.3">
                  <p:embed/>
                  <p:pic>
                    <p:nvPicPr>
                      <p:cNvPr id="39946"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0800" y="4267200"/>
                        <a:ext cx="1550988" cy="1905000"/>
                      </a:xfrm>
                      <a:prstGeom prst="rect">
                        <a:avLst/>
                      </a:prstGeom>
                      <a:solidFill>
                        <a:srgbClr val="C0C0C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140158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rrowheads="1"/>
          </p:cNvSpPr>
          <p:nvPr>
            <p:ph type="title"/>
          </p:nvPr>
        </p:nvSpPr>
        <p:spPr/>
        <p:txBody>
          <a:bodyPr>
            <a:normAutofit/>
          </a:bodyPr>
          <a:lstStyle/>
          <a:p>
            <a:r>
              <a:rPr lang="en-US" dirty="0" err="1"/>
              <a:t>Penguat</a:t>
            </a:r>
            <a:r>
              <a:rPr lang="en-US" dirty="0"/>
              <a:t> </a:t>
            </a:r>
            <a:r>
              <a:rPr lang="en-US" dirty="0" err="1"/>
              <a:t>Membalik</a:t>
            </a:r>
            <a:r>
              <a:rPr lang="en-US" dirty="0"/>
              <a:t> ( Inverting OP-AMP)</a:t>
            </a:r>
          </a:p>
        </p:txBody>
      </p:sp>
      <p:sp>
        <p:nvSpPr>
          <p:cNvPr id="43011" name="Rectangle 3"/>
          <p:cNvSpPr>
            <a:spLocks noGrp="1" noChangeArrowheads="1"/>
          </p:cNvSpPr>
          <p:nvPr>
            <p:ph type="body" sz="half" idx="1"/>
          </p:nvPr>
        </p:nvSpPr>
        <p:spPr>
          <a:xfrm>
            <a:off x="1981200" y="1600200"/>
            <a:ext cx="8153400" cy="3505200"/>
          </a:xfrm>
        </p:spPr>
        <p:txBody>
          <a:bodyPr>
            <a:normAutofit lnSpcReduction="10000"/>
          </a:bodyPr>
          <a:lstStyle/>
          <a:p>
            <a:pPr>
              <a:lnSpc>
                <a:spcPct val="90000"/>
              </a:lnSpc>
            </a:pPr>
            <a:r>
              <a:rPr lang="en-US" sz="2400"/>
              <a:t>Input resistance</a:t>
            </a:r>
          </a:p>
          <a:p>
            <a:pPr lvl="1">
              <a:lnSpc>
                <a:spcPct val="90000"/>
              </a:lnSpc>
            </a:pPr>
            <a:r>
              <a:rPr lang="en-US" sz="2000"/>
              <a:t>Karena terminal inverting dalam kondisi virtual ground, maka input resistance yg terlihat dari sumber (vs) adalah Rs. </a:t>
            </a:r>
          </a:p>
          <a:p>
            <a:pPr>
              <a:lnSpc>
                <a:spcPct val="90000"/>
              </a:lnSpc>
            </a:pPr>
            <a:r>
              <a:rPr lang="en-US" sz="2400"/>
              <a:t>Output resistance</a:t>
            </a:r>
          </a:p>
          <a:p>
            <a:pPr lvl="1">
              <a:lnSpc>
                <a:spcPct val="90000"/>
              </a:lnSpc>
            </a:pPr>
            <a:r>
              <a:rPr lang="en-US" sz="2000"/>
              <a:t>Output resistance rangkaian yg terlihat dari beban adalah mendekati nol</a:t>
            </a:r>
          </a:p>
          <a:p>
            <a:pPr>
              <a:lnSpc>
                <a:spcPct val="90000"/>
              </a:lnSpc>
            </a:pPr>
            <a:r>
              <a:rPr lang="en-US" sz="2400"/>
              <a:t>Bandwidth:</a:t>
            </a:r>
          </a:p>
          <a:p>
            <a:pPr lvl="1">
              <a:lnSpc>
                <a:spcPct val="90000"/>
              </a:lnSpc>
            </a:pPr>
            <a:r>
              <a:rPr lang="en-US" sz="2000" b="1"/>
              <a:t>Gain-Bandwidth</a:t>
            </a:r>
            <a:r>
              <a:rPr lang="en-US" sz="2000"/>
              <a:t> Product (GBW) Op-amp, disebut juga satuan (unity) gain bandwidth, diberikan di dalam data sheets. Sebagai contoh Op-amp 741adalah 1 MHz, maka bandwidth op-amp dapat dihitung dengan rumus</a:t>
            </a:r>
          </a:p>
        </p:txBody>
      </p:sp>
      <p:graphicFrame>
        <p:nvGraphicFramePr>
          <p:cNvPr id="43012" name="Object 4"/>
          <p:cNvGraphicFramePr>
            <a:graphicFrameLocks noGrp="1" noChangeAspect="1"/>
          </p:cNvGraphicFramePr>
          <p:nvPr>
            <p:ph sz="half" idx="2"/>
          </p:nvPr>
        </p:nvGraphicFramePr>
        <p:xfrm>
          <a:off x="4724400" y="4910139"/>
          <a:ext cx="1905000" cy="1038225"/>
        </p:xfrm>
        <a:graphic>
          <a:graphicData uri="http://schemas.openxmlformats.org/presentationml/2006/ole">
            <mc:AlternateContent xmlns:mc="http://schemas.openxmlformats.org/markup-compatibility/2006">
              <mc:Choice xmlns:v="urn:schemas-microsoft-com:vml" Requires="v">
                <p:oleObj spid="_x0000_s52228" name="Equation" r:id="rId3" imgW="698400" imgH="380880" progId="Equation.3">
                  <p:embed/>
                </p:oleObj>
              </mc:Choice>
              <mc:Fallback>
                <p:oleObj name="Equation" r:id="rId3" imgW="698400" imgH="380880" progId="Equation.3">
                  <p:embed/>
                  <p:pic>
                    <p:nvPicPr>
                      <p:cNvPr id="4301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4910139"/>
                        <a:ext cx="1905000" cy="1038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664247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rrowheads="1"/>
          </p:cNvSpPr>
          <p:nvPr>
            <p:ph type="title"/>
          </p:nvPr>
        </p:nvSpPr>
        <p:spPr/>
        <p:txBody>
          <a:bodyPr/>
          <a:lstStyle/>
          <a:p>
            <a:r>
              <a:rPr lang="en-US" b="0">
                <a:effectLst/>
              </a:rPr>
              <a:t>Current-to-Voltage Converter</a:t>
            </a:r>
          </a:p>
        </p:txBody>
      </p:sp>
      <p:sp>
        <p:nvSpPr>
          <p:cNvPr id="45060" name="Rectangle 4"/>
          <p:cNvSpPr>
            <a:spLocks noGrp="1" noChangeArrowheads="1"/>
          </p:cNvSpPr>
          <p:nvPr>
            <p:ph type="body" sz="half" idx="1"/>
          </p:nvPr>
        </p:nvSpPr>
        <p:spPr>
          <a:xfrm>
            <a:off x="1981200" y="1600201"/>
            <a:ext cx="4267200" cy="4525963"/>
          </a:xfrm>
        </p:spPr>
        <p:txBody>
          <a:bodyPr>
            <a:normAutofit lnSpcReduction="10000"/>
          </a:bodyPr>
          <a:lstStyle/>
          <a:p>
            <a:pPr>
              <a:lnSpc>
                <a:spcPct val="90000"/>
              </a:lnSpc>
            </a:pPr>
            <a:r>
              <a:rPr lang="en-US" sz="2400"/>
              <a:t>Misal sumber arus menghasilkan 10 mA dan R</a:t>
            </a:r>
            <a:r>
              <a:rPr lang="en-US" sz="2400" baseline="-25000"/>
              <a:t>F</a:t>
            </a:r>
            <a:r>
              <a:rPr lang="en-US" sz="2400"/>
              <a:t>= 100 kohm, tegangan voltage adalah -1 V</a:t>
            </a:r>
          </a:p>
          <a:p>
            <a:pPr>
              <a:lnSpc>
                <a:spcPct val="90000"/>
              </a:lnSpc>
            </a:pPr>
            <a:r>
              <a:rPr lang="en-US" sz="2400"/>
              <a:t>Karena resistance output op-amp mendekati nol, tegangan output dengan ataupun tanpa beban adalah hampir sama </a:t>
            </a:r>
          </a:p>
          <a:p>
            <a:pPr>
              <a:lnSpc>
                <a:spcPct val="90000"/>
              </a:lnSpc>
            </a:pPr>
            <a:r>
              <a:rPr lang="en-US" sz="2400"/>
              <a:t>Karena tegangan output v</a:t>
            </a:r>
            <a:r>
              <a:rPr lang="en-US" sz="2400" baseline="-25000"/>
              <a:t>o </a:t>
            </a:r>
            <a:r>
              <a:rPr lang="en-US" sz="2400"/>
              <a:t>dikontrol dari sumber arus i</a:t>
            </a:r>
            <a:r>
              <a:rPr lang="en-US" sz="2400" baseline="-25000"/>
              <a:t>s</a:t>
            </a:r>
            <a:r>
              <a:rPr lang="en-US" sz="2400"/>
              <a:t> rangkaian ini disebut dengan </a:t>
            </a:r>
            <a:r>
              <a:rPr lang="en-US" sz="2400" b="1"/>
              <a:t>sumber tegangan terkendali arus. </a:t>
            </a:r>
          </a:p>
        </p:txBody>
      </p:sp>
      <p:graphicFrame>
        <p:nvGraphicFramePr>
          <p:cNvPr id="45061" name="Object 5"/>
          <p:cNvGraphicFramePr>
            <a:graphicFrameLocks noGrp="1" noChangeAspect="1"/>
          </p:cNvGraphicFramePr>
          <p:nvPr>
            <p:ph sz="half" idx="2"/>
          </p:nvPr>
        </p:nvGraphicFramePr>
        <p:xfrm>
          <a:off x="6172200" y="2849564"/>
          <a:ext cx="4038600" cy="2027237"/>
        </p:xfrm>
        <a:graphic>
          <a:graphicData uri="http://schemas.openxmlformats.org/presentationml/2006/ole">
            <mc:AlternateContent xmlns:mc="http://schemas.openxmlformats.org/markup-compatibility/2006">
              <mc:Choice xmlns:v="urn:schemas-microsoft-com:vml" Requires="v">
                <p:oleObj spid="_x0000_s53252" name="Image" r:id="rId3" imgW="3542857" imgH="1777778" progId="Photoshop.Image.8">
                  <p:embed/>
                </p:oleObj>
              </mc:Choice>
              <mc:Fallback>
                <p:oleObj name="Image" r:id="rId3" imgW="3542857" imgH="1777778" progId="Photoshop.Image.8">
                  <p:embed/>
                  <p:pic>
                    <p:nvPicPr>
                      <p:cNvPr id="4506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200" y="2849564"/>
                        <a:ext cx="4038600" cy="2027237"/>
                      </a:xfrm>
                      <a:prstGeom prst="rect">
                        <a:avLst/>
                      </a:prstGeom>
                      <a:solidFill>
                        <a:srgbClr val="969696"/>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841645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4"/>
          <p:cNvSpPr>
            <a:spLocks noGrp="1" noRot="1" noChangeArrowheads="1"/>
          </p:cNvSpPr>
          <p:nvPr>
            <p:ph type="title"/>
          </p:nvPr>
        </p:nvSpPr>
        <p:spPr/>
        <p:txBody>
          <a:bodyPr>
            <a:normAutofit/>
          </a:bodyPr>
          <a:lstStyle/>
          <a:p>
            <a:r>
              <a:rPr lang="en-US" sz="3200" dirty="0" err="1"/>
              <a:t>Penguat</a:t>
            </a:r>
            <a:r>
              <a:rPr lang="en-US" sz="3200" dirty="0"/>
              <a:t> </a:t>
            </a:r>
            <a:r>
              <a:rPr lang="en-US" sz="3200" dirty="0" err="1"/>
              <a:t>Tak</a:t>
            </a:r>
            <a:r>
              <a:rPr lang="en-US" sz="3200" dirty="0"/>
              <a:t> </a:t>
            </a:r>
            <a:r>
              <a:rPr lang="en-US" sz="3200" dirty="0" err="1"/>
              <a:t>Membalik</a:t>
            </a:r>
            <a:r>
              <a:rPr lang="en-US" sz="3200" dirty="0"/>
              <a:t> (Non-Inverting OP_AMP)</a:t>
            </a:r>
            <a:endParaRPr lang="en-US" sz="3200" dirty="0"/>
          </a:p>
        </p:txBody>
      </p:sp>
      <p:graphicFrame>
        <p:nvGraphicFramePr>
          <p:cNvPr id="47109" name="Object 5"/>
          <p:cNvGraphicFramePr>
            <a:graphicFrameLocks noGrp="1" noChangeAspect="1"/>
          </p:cNvGraphicFramePr>
          <p:nvPr>
            <p:ph sz="half" idx="1"/>
            <p:extLst/>
          </p:nvPr>
        </p:nvGraphicFramePr>
        <p:xfrm>
          <a:off x="2133601" y="1524000"/>
          <a:ext cx="3532757" cy="2667000"/>
        </p:xfrm>
        <a:graphic>
          <a:graphicData uri="http://schemas.openxmlformats.org/presentationml/2006/ole">
            <mc:AlternateContent xmlns:mc="http://schemas.openxmlformats.org/markup-compatibility/2006">
              <mc:Choice xmlns:v="urn:schemas-microsoft-com:vml" Requires="v">
                <p:oleObj spid="_x0000_s54276" name="Image" r:id="rId3" imgW="2539683" imgH="1917460" progId="Photoshop.Image.8">
                  <p:embed/>
                </p:oleObj>
              </mc:Choice>
              <mc:Fallback>
                <p:oleObj name="Image" r:id="rId3" imgW="2539683" imgH="1917460" progId="Photoshop.Image.8">
                  <p:embed/>
                  <p:pic>
                    <p:nvPicPr>
                      <p:cNvPr id="4710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1" y="1524000"/>
                        <a:ext cx="3532757" cy="2667000"/>
                      </a:xfrm>
                      <a:prstGeom prst="rect">
                        <a:avLst/>
                      </a:prstGeom>
                    </p:spPr>
                  </p:pic>
                </p:oleObj>
              </mc:Fallback>
            </mc:AlternateContent>
          </a:graphicData>
        </a:graphic>
      </p:graphicFrame>
      <p:pic>
        <p:nvPicPr>
          <p:cNvPr id="4711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1828800"/>
            <a:ext cx="420624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112"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3600" y="3810000"/>
            <a:ext cx="3429000" cy="2332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76020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8" name="Rectangle 6"/>
          <p:cNvSpPr>
            <a:spLocks noGrp="1" noRot="1" noChangeArrowheads="1"/>
          </p:cNvSpPr>
          <p:nvPr>
            <p:ph type="title"/>
          </p:nvPr>
        </p:nvSpPr>
        <p:spPr/>
        <p:txBody>
          <a:bodyPr>
            <a:normAutofit/>
          </a:bodyPr>
          <a:lstStyle/>
          <a:p>
            <a:r>
              <a:rPr lang="en-US" sz="3200" dirty="0" err="1"/>
              <a:t>Penguat</a:t>
            </a:r>
            <a:r>
              <a:rPr lang="en-US" sz="3200" dirty="0"/>
              <a:t> </a:t>
            </a:r>
            <a:r>
              <a:rPr lang="en-US" sz="3200" dirty="0" err="1"/>
              <a:t>Tak</a:t>
            </a:r>
            <a:r>
              <a:rPr lang="en-US" sz="3200" dirty="0"/>
              <a:t> </a:t>
            </a:r>
            <a:r>
              <a:rPr lang="en-US" sz="3200" dirty="0" err="1"/>
              <a:t>Membalik</a:t>
            </a:r>
            <a:r>
              <a:rPr lang="en-US" sz="3200" dirty="0"/>
              <a:t> (Non-Inverting OP_AMP)</a:t>
            </a:r>
          </a:p>
        </p:txBody>
      </p:sp>
      <p:sp>
        <p:nvSpPr>
          <p:cNvPr id="49156" name="Rectangle 4"/>
          <p:cNvSpPr>
            <a:spLocks noGrp="1" noChangeArrowheads="1"/>
          </p:cNvSpPr>
          <p:nvPr>
            <p:ph type="body" sz="half" idx="1"/>
          </p:nvPr>
        </p:nvSpPr>
        <p:spPr>
          <a:noFill/>
          <a:ln/>
        </p:spPr>
        <p:txBody>
          <a:bodyPr/>
          <a:lstStyle/>
          <a:p>
            <a:r>
              <a:rPr lang="en-US">
                <a:effectLst/>
              </a:rPr>
              <a:t>Input resistance</a:t>
            </a:r>
          </a:p>
          <a:p>
            <a:pPr lvl="1"/>
            <a:r>
              <a:rPr lang="en-US">
                <a:effectLst/>
              </a:rPr>
              <a:t>Ri ≈ ∞</a:t>
            </a:r>
          </a:p>
          <a:p>
            <a:r>
              <a:rPr lang="en-US">
                <a:effectLst/>
              </a:rPr>
              <a:t>Output resistance</a:t>
            </a:r>
          </a:p>
          <a:p>
            <a:pPr lvl="1"/>
            <a:r>
              <a:rPr lang="en-US">
                <a:effectLst/>
              </a:rPr>
              <a:t>Ro ≈ 0</a:t>
            </a:r>
          </a:p>
          <a:p>
            <a:r>
              <a:rPr lang="en-US">
                <a:effectLst/>
              </a:rPr>
              <a:t>Bandwidth:</a:t>
            </a:r>
          </a:p>
        </p:txBody>
      </p:sp>
      <p:graphicFrame>
        <p:nvGraphicFramePr>
          <p:cNvPr id="49157" name="Object 5"/>
          <p:cNvGraphicFramePr>
            <a:graphicFrameLocks noGrp="1" noChangeAspect="1"/>
          </p:cNvGraphicFramePr>
          <p:nvPr>
            <p:ph sz="half" idx="2"/>
          </p:nvPr>
        </p:nvGraphicFramePr>
        <p:xfrm>
          <a:off x="4800600" y="4419600"/>
          <a:ext cx="2286000" cy="1150938"/>
        </p:xfrm>
        <a:graphic>
          <a:graphicData uri="http://schemas.openxmlformats.org/presentationml/2006/ole">
            <mc:AlternateContent xmlns:mc="http://schemas.openxmlformats.org/markup-compatibility/2006">
              <mc:Choice xmlns:v="urn:schemas-microsoft-com:vml" Requires="v">
                <p:oleObj spid="_x0000_s55300" name="Equation" r:id="rId3" imgW="698400" imgH="380880" progId="Equation.3">
                  <p:embed/>
                </p:oleObj>
              </mc:Choice>
              <mc:Fallback>
                <p:oleObj name="Equation" r:id="rId3" imgW="698400" imgH="380880" progId="Equation.3">
                  <p:embed/>
                  <p:pic>
                    <p:nvPicPr>
                      <p:cNvPr id="4915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4419600"/>
                        <a:ext cx="2286000" cy="1150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984408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p:cNvSpPr>
            <a:spLocks noGrp="1" noRot="1" noChangeArrowheads="1"/>
          </p:cNvSpPr>
          <p:nvPr>
            <p:ph type="title"/>
          </p:nvPr>
        </p:nvSpPr>
        <p:spPr/>
        <p:txBody>
          <a:bodyPr/>
          <a:lstStyle/>
          <a:p>
            <a:r>
              <a:rPr lang="en-US" dirty="0" err="1"/>
              <a:t>Penguat</a:t>
            </a:r>
            <a:r>
              <a:rPr lang="en-US" dirty="0"/>
              <a:t> </a:t>
            </a:r>
            <a:r>
              <a:rPr lang="en-US" dirty="0" err="1" smtClean="0"/>
              <a:t>Satuan</a:t>
            </a:r>
            <a:r>
              <a:rPr lang="en-US" dirty="0" smtClean="0"/>
              <a:t> (Voltage Follower)</a:t>
            </a:r>
            <a:endParaRPr lang="en-US" dirty="0"/>
          </a:p>
        </p:txBody>
      </p:sp>
      <p:pic>
        <p:nvPicPr>
          <p:cNvPr id="51205" name="Picture 5"/>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981200" y="1600200"/>
            <a:ext cx="3801525" cy="2057400"/>
          </a:xfrm>
        </p:spPr>
      </p:pic>
      <p:pic>
        <p:nvPicPr>
          <p:cNvPr id="51206" name="Picture 6"/>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514600" y="3938588"/>
            <a:ext cx="2998176" cy="1624012"/>
          </a:xfrm>
        </p:spPr>
      </p:pic>
      <p:pic>
        <p:nvPicPr>
          <p:cNvPr id="5120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2057400"/>
            <a:ext cx="2286000" cy="1318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09"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3657600"/>
            <a:ext cx="2209800" cy="132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16924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4"/>
          <p:cNvSpPr>
            <a:spLocks noGrp="1" noRot="1" noChangeArrowheads="1"/>
          </p:cNvSpPr>
          <p:nvPr>
            <p:ph type="title" sz="quarter"/>
          </p:nvPr>
        </p:nvSpPr>
        <p:spPr/>
        <p:txBody>
          <a:bodyPr>
            <a:normAutofit/>
          </a:bodyPr>
          <a:lstStyle/>
          <a:p>
            <a:r>
              <a:rPr lang="en-US" dirty="0" err="1"/>
              <a:t>Penguat</a:t>
            </a:r>
            <a:r>
              <a:rPr lang="en-US" dirty="0"/>
              <a:t> </a:t>
            </a:r>
            <a:r>
              <a:rPr lang="en-US" dirty="0" err="1" smtClean="0"/>
              <a:t>Penjumlah</a:t>
            </a:r>
            <a:r>
              <a:rPr lang="en-US" dirty="0" smtClean="0"/>
              <a:t> (Summing Amplifier)</a:t>
            </a:r>
            <a:endParaRPr lang="en-US" dirty="0"/>
          </a:p>
        </p:txBody>
      </p:sp>
      <p:pic>
        <p:nvPicPr>
          <p:cNvPr id="53253" name="Picture 5"/>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p:pic>
      <p:pic>
        <p:nvPicPr>
          <p:cNvPr id="53255" name="Picture 7"/>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2590800" y="4160839"/>
            <a:ext cx="2895600" cy="1965325"/>
          </a:xfrm>
        </p:spPr>
      </p:pic>
      <p:pic>
        <p:nvPicPr>
          <p:cNvPr id="53257"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4940" y="2671916"/>
            <a:ext cx="4155860" cy="10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8"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267200"/>
            <a:ext cx="417018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94147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p:cNvSpPr>
            <a:spLocks noGrp="1" noRot="1" noChangeArrowheads="1"/>
          </p:cNvSpPr>
          <p:nvPr>
            <p:ph type="title"/>
          </p:nvPr>
        </p:nvSpPr>
        <p:spPr/>
        <p:txBody>
          <a:bodyPr>
            <a:normAutofit/>
          </a:bodyPr>
          <a:lstStyle/>
          <a:p>
            <a:r>
              <a:rPr lang="en-US" sz="3200" dirty="0" err="1"/>
              <a:t>Penguat</a:t>
            </a:r>
            <a:r>
              <a:rPr lang="en-US" sz="3200" dirty="0"/>
              <a:t> </a:t>
            </a:r>
            <a:r>
              <a:rPr lang="en-US" sz="3200" dirty="0" err="1"/>
              <a:t>Penjumlah</a:t>
            </a:r>
            <a:r>
              <a:rPr lang="en-US" sz="3200" dirty="0"/>
              <a:t> </a:t>
            </a:r>
            <a:r>
              <a:rPr lang="en-US" sz="3200" dirty="0" err="1"/>
              <a:t>Tak</a:t>
            </a:r>
            <a:r>
              <a:rPr lang="en-US" sz="3200" dirty="0"/>
              <a:t> </a:t>
            </a:r>
            <a:r>
              <a:rPr lang="en-US" sz="3200" dirty="0" err="1"/>
              <a:t>Membalik</a:t>
            </a:r>
            <a:r>
              <a:rPr lang="en-US" sz="3200" dirty="0"/>
              <a:t/>
            </a:r>
            <a:br>
              <a:rPr lang="en-US" sz="3200" dirty="0"/>
            </a:br>
            <a:r>
              <a:rPr lang="en-US" sz="3200" dirty="0"/>
              <a:t>(Summing Amplifier di non-Inverting)</a:t>
            </a:r>
            <a:endParaRPr lang="en-US" sz="3200" dirty="0"/>
          </a:p>
        </p:txBody>
      </p:sp>
      <p:pic>
        <p:nvPicPr>
          <p:cNvPr id="55301" name="Picture 5"/>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810000" y="1676400"/>
            <a:ext cx="4572001" cy="2474704"/>
          </a:xfrm>
        </p:spPr>
      </p:pic>
      <p:pic>
        <p:nvPicPr>
          <p:cNvPr id="55302" name="Picture 6"/>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810000" y="4343400"/>
            <a:ext cx="4876800" cy="1219200"/>
          </a:xfrm>
        </p:spPr>
      </p:pic>
    </p:spTree>
    <p:extLst>
      <p:ext uri="{BB962C8B-B14F-4D97-AF65-F5344CB8AC3E}">
        <p14:creationId xmlns:p14="http://schemas.microsoft.com/office/powerpoint/2010/main" val="39122373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rrowheads="1"/>
          </p:cNvSpPr>
          <p:nvPr>
            <p:ph type="title"/>
          </p:nvPr>
        </p:nvSpPr>
        <p:spPr/>
        <p:txBody>
          <a:bodyPr>
            <a:normAutofit/>
          </a:bodyPr>
          <a:lstStyle/>
          <a:p>
            <a:r>
              <a:rPr lang="en-US" sz="3200" dirty="0" err="1"/>
              <a:t>Penguat</a:t>
            </a:r>
            <a:r>
              <a:rPr lang="en-US" sz="3200" dirty="0"/>
              <a:t> </a:t>
            </a:r>
            <a:r>
              <a:rPr lang="en-US" sz="3200" dirty="0" err="1"/>
              <a:t>Pengurang</a:t>
            </a:r>
            <a:r>
              <a:rPr lang="en-US" sz="3200" dirty="0"/>
              <a:t/>
            </a:r>
            <a:br>
              <a:rPr lang="en-US" sz="3200" dirty="0"/>
            </a:br>
            <a:r>
              <a:rPr lang="en-US" sz="3200" dirty="0"/>
              <a:t>(</a:t>
            </a:r>
            <a:r>
              <a:rPr lang="en-US" sz="3200" dirty="0" err="1"/>
              <a:t>Differensial</a:t>
            </a:r>
            <a:r>
              <a:rPr lang="en-US" sz="3200" dirty="0"/>
              <a:t> Amplifier)</a:t>
            </a:r>
            <a:endParaRPr lang="en-US" sz="3200" dirty="0"/>
          </a:p>
        </p:txBody>
      </p:sp>
      <p:pic>
        <p:nvPicPr>
          <p:cNvPr id="57348" name="Picture 4"/>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4419600" y="1600200"/>
            <a:ext cx="3886200" cy="2185988"/>
          </a:xfrm>
        </p:spPr>
      </p:pic>
      <p:pic>
        <p:nvPicPr>
          <p:cNvPr id="5735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4343400"/>
            <a:ext cx="4572000" cy="71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31576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rrowheads="1"/>
          </p:cNvSpPr>
          <p:nvPr>
            <p:ph type="title"/>
          </p:nvPr>
        </p:nvSpPr>
        <p:spPr/>
        <p:txBody>
          <a:bodyPr/>
          <a:lstStyle/>
          <a:p>
            <a:r>
              <a:rPr lang="en-US"/>
              <a:t>Integrator</a:t>
            </a:r>
          </a:p>
        </p:txBody>
      </p:sp>
      <p:pic>
        <p:nvPicPr>
          <p:cNvPr id="59396" name="Picture 4"/>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981200" y="1600200"/>
            <a:ext cx="4038600" cy="3048000"/>
          </a:xfrm>
        </p:spPr>
      </p:pic>
      <p:pic>
        <p:nvPicPr>
          <p:cNvPr id="5939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1828800"/>
            <a:ext cx="3505200" cy="17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399"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3886200"/>
            <a:ext cx="2819400" cy="216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1080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4"/>
          <p:cNvSpPr>
            <a:spLocks noGrp="1" noRot="1" noChangeArrowheads="1"/>
          </p:cNvSpPr>
          <p:nvPr>
            <p:ph type="title" sz="quarter"/>
          </p:nvPr>
        </p:nvSpPr>
        <p:spPr/>
        <p:txBody>
          <a:bodyPr/>
          <a:lstStyle/>
          <a:p>
            <a:r>
              <a:rPr lang="en-US"/>
              <a:t>Practical Integrator</a:t>
            </a:r>
          </a:p>
        </p:txBody>
      </p:sp>
      <p:pic>
        <p:nvPicPr>
          <p:cNvPr id="61445" name="Picture 5"/>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p:pic>
      <p:pic>
        <p:nvPicPr>
          <p:cNvPr id="61446" name="Picture 6"/>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7162800" y="2057400"/>
            <a:ext cx="1981200" cy="1073150"/>
          </a:xfrm>
        </p:spPr>
      </p:pic>
      <p:pic>
        <p:nvPicPr>
          <p:cNvPr id="61449"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3962400"/>
            <a:ext cx="1905000" cy="115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72337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5" name="Rectangle 7"/>
          <p:cNvSpPr>
            <a:spLocks noGrp="1" noRot="1" noChangeArrowheads="1"/>
          </p:cNvSpPr>
          <p:nvPr>
            <p:ph type="title"/>
          </p:nvPr>
        </p:nvSpPr>
        <p:spPr/>
        <p:txBody>
          <a:bodyPr/>
          <a:lstStyle/>
          <a:p>
            <a:r>
              <a:rPr lang="en-US"/>
              <a:t>Differensiator</a:t>
            </a:r>
          </a:p>
        </p:txBody>
      </p:sp>
      <p:pic>
        <p:nvPicPr>
          <p:cNvPr id="63496" name="Picture 8"/>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p:pic>
      <p:pic>
        <p:nvPicPr>
          <p:cNvPr id="63497" name="Picture 9"/>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p:pic>
      <p:pic>
        <p:nvPicPr>
          <p:cNvPr id="6349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2743200"/>
            <a:ext cx="1828800" cy="147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291730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ubtitle 2"/>
          <p:cNvSpPr txBox="1">
            <a:spLocks/>
          </p:cNvSpPr>
          <p:nvPr/>
        </p:nvSpPr>
        <p:spPr>
          <a:xfrm>
            <a:off x="1104646" y="3817180"/>
            <a:ext cx="5178582" cy="16557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buFontTx/>
              <a:buChar char="-"/>
            </a:pPr>
            <a:endParaRPr lang="en-US" sz="16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592048" y="4424926"/>
            <a:ext cx="4376174" cy="1723549"/>
          </a:xfrm>
          <a:prstGeom prst="rect">
            <a:avLst/>
          </a:prstGeom>
          <a:noFill/>
        </p:spPr>
        <p:txBody>
          <a:bodyPr wrap="square" rtlCol="0">
            <a:spAutoFit/>
          </a:bodyPr>
          <a:lstStyle/>
          <a:p>
            <a:r>
              <a:rPr lang="en-US" sz="6600" dirty="0">
                <a:latin typeface="Edwardian Script ITC" panose="030303020407070D0804" pitchFamily="66" charset="0"/>
              </a:rPr>
              <a:t>Thank You !!</a:t>
            </a:r>
          </a:p>
          <a:p>
            <a:pPr algn="ctr"/>
            <a:r>
              <a:rPr lang="en-US" sz="4000" dirty="0">
                <a:latin typeface="Edwardian Script ITC" panose="030303020407070D0804" pitchFamily="66" charset="0"/>
              </a:rPr>
              <a:t> </a:t>
            </a:r>
          </a:p>
        </p:txBody>
      </p:sp>
      <p:sp>
        <p:nvSpPr>
          <p:cNvPr id="8" name="Rectangle 7"/>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10" name="Rectangle 9"/>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11" name="Rectangle 10"/>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12" name="Rectangle 11"/>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13" name="Rectangle 12"/>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pSp>
        <p:nvGrpSpPr>
          <p:cNvPr id="15" name="Group 14"/>
          <p:cNvGrpSpPr/>
          <p:nvPr/>
        </p:nvGrpSpPr>
        <p:grpSpPr>
          <a:xfrm>
            <a:off x="54496" y="359621"/>
            <a:ext cx="4804363" cy="2463094"/>
            <a:chOff x="54496" y="359621"/>
            <a:chExt cx="4804363" cy="2463094"/>
          </a:xfrm>
        </p:grpSpPr>
        <p:pic>
          <p:nvPicPr>
            <p:cNvPr id="16" name="Picture 15"/>
            <p:cNvPicPr>
              <a:picLocks noChangeAspect="1"/>
            </p:cNvPicPr>
            <p:nvPr/>
          </p:nvPicPr>
          <p:blipFill>
            <a:blip r:embed="rId3"/>
            <a:stretch>
              <a:fillRect/>
            </a:stretch>
          </p:blipFill>
          <p:spPr>
            <a:xfrm>
              <a:off x="235105" y="1901987"/>
              <a:ext cx="3104181" cy="263526"/>
            </a:xfrm>
            <a:prstGeom prst="rect">
              <a:avLst/>
            </a:prstGeom>
          </p:spPr>
        </p:pic>
        <p:sp>
          <p:nvSpPr>
            <p:cNvPr id="17"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18" name="Group 17">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25" name="Freeform 24">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6" name="Freeform 25">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9" name="Group 18">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23"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4"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0"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21"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22"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graphicFrame>
        <p:nvGraphicFramePr>
          <p:cNvPr id="27" name="Diagram 26"/>
          <p:cNvGraphicFramePr/>
          <p:nvPr>
            <p:extLst>
              <p:ext uri="{D42A27DB-BD31-4B8C-83A1-F6EECF244321}">
                <p14:modId xmlns:p14="http://schemas.microsoft.com/office/powerpoint/2010/main" val="1474028532"/>
              </p:ext>
            </p:extLst>
          </p:nvPr>
        </p:nvGraphicFramePr>
        <p:xfrm>
          <a:off x="1981200" y="5655129"/>
          <a:ext cx="8229600" cy="9143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8" name="Pie 27"/>
          <p:cNvSpPr/>
          <p:nvPr/>
        </p:nvSpPr>
        <p:spPr>
          <a:xfrm rot="10600249">
            <a:off x="9753600" y="5655127"/>
            <a:ext cx="914399" cy="914399"/>
          </a:xfrm>
          <a:prstGeom prst="pie">
            <a:avLst>
              <a:gd name="adj1" fmla="val 5400000"/>
              <a:gd name="adj2" fmla="val 16200000"/>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sp>
    </p:spTree>
    <p:extLst>
      <p:ext uri="{BB962C8B-B14F-4D97-AF65-F5344CB8AC3E}">
        <p14:creationId xmlns:p14="http://schemas.microsoft.com/office/powerpoint/2010/main" val="80013096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HW</a:t>
            </a:r>
            <a:endParaRPr lang="en-US" dirty="0"/>
          </a:p>
        </p:txBody>
      </p:sp>
      <p:sp>
        <p:nvSpPr>
          <p:cNvPr id="4" name="Content Placeholder 3"/>
          <p:cNvSpPr>
            <a:spLocks noGrp="1"/>
          </p:cNvSpPr>
          <p:nvPr>
            <p:ph idx="1"/>
          </p:nvPr>
        </p:nvSpPr>
        <p:spPr/>
        <p:txBody>
          <a:bodyPr/>
          <a:lstStyle/>
          <a:p>
            <a:r>
              <a:rPr lang="id-ID" dirty="0"/>
              <a:t>Tentukan </a:t>
            </a:r>
            <a:r>
              <a:rPr lang="en-US" dirty="0" err="1" smtClean="0"/>
              <a:t>nilai</a:t>
            </a:r>
            <a:r>
              <a:rPr lang="en-US" dirty="0" smtClean="0"/>
              <a:t> v2/v1</a:t>
            </a:r>
            <a:endParaRPr lang="en-US" dirty="0"/>
          </a:p>
        </p:txBody>
      </p:sp>
      <p:pic>
        <p:nvPicPr>
          <p:cNvPr id="6" name="Picture 5"/>
          <p:cNvPicPr>
            <a:picLocks noChangeAspect="1"/>
          </p:cNvPicPr>
          <p:nvPr/>
        </p:nvPicPr>
        <p:blipFill>
          <a:blip r:embed="rId3"/>
          <a:stretch>
            <a:fillRect/>
          </a:stretch>
        </p:blipFill>
        <p:spPr>
          <a:xfrm>
            <a:off x="1861457" y="2888597"/>
            <a:ext cx="3866469" cy="2958391"/>
          </a:xfrm>
          <a:prstGeom prst="rect">
            <a:avLst/>
          </a:prstGeom>
        </p:spPr>
      </p:pic>
    </p:spTree>
    <p:extLst>
      <p:ext uri="{BB962C8B-B14F-4D97-AF65-F5344CB8AC3E}">
        <p14:creationId xmlns:p14="http://schemas.microsoft.com/office/powerpoint/2010/main" val="20943327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23890</TotalTime>
  <Words>2616</Words>
  <Application>Microsoft Office PowerPoint</Application>
  <PresentationFormat>Widescreen</PresentationFormat>
  <Paragraphs>436</Paragraphs>
  <Slides>81</Slides>
  <Notes>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3</vt:i4>
      </vt:variant>
      <vt:variant>
        <vt:lpstr>Slide Titles</vt:lpstr>
      </vt:variant>
      <vt:variant>
        <vt:i4>81</vt:i4>
      </vt:variant>
    </vt:vector>
  </HeadingPairs>
  <TitlesOfParts>
    <vt:vector size="94" baseType="lpstr">
      <vt:lpstr>맑은 고딕</vt:lpstr>
      <vt:lpstr>Arial</vt:lpstr>
      <vt:lpstr>Calibri</vt:lpstr>
      <vt:lpstr>Calibri Light</vt:lpstr>
      <vt:lpstr>Cambria Math</vt:lpstr>
      <vt:lpstr>Edwardian Script ITC</vt:lpstr>
      <vt:lpstr>Garamond</vt:lpstr>
      <vt:lpstr>Times New Roman</vt:lpstr>
      <vt:lpstr>Wingdings</vt:lpstr>
      <vt:lpstr>Office Theme</vt:lpstr>
      <vt:lpstr>Equation</vt:lpstr>
      <vt:lpstr>Image</vt:lpstr>
      <vt:lpstr>Visio</vt:lpstr>
      <vt:lpstr>PowerPoint Presentation</vt:lpstr>
      <vt:lpstr>Tampilan fisik op-amp</vt:lpstr>
      <vt:lpstr>PowerPoint Presentation</vt:lpstr>
      <vt:lpstr>Dual-supply to Single-supply op-amp conversion</vt:lpstr>
      <vt:lpstr>Pendahuluan</vt:lpstr>
      <vt:lpstr>PowerPoint Presentation</vt:lpstr>
      <vt:lpstr>Karakteristik op-amp</vt:lpstr>
      <vt:lpstr>Karakteristik op-amp (2)</vt:lpstr>
      <vt:lpstr>Karakteristik ideal 0p-amp</vt:lpstr>
      <vt:lpstr>CmRr (Common Mode Ratio Rejection )</vt:lpstr>
      <vt:lpstr>Analisis umpan balik op-amp</vt:lpstr>
      <vt:lpstr>PowerPoint Presentation</vt:lpstr>
      <vt:lpstr>PowerPoint Presentation</vt:lpstr>
      <vt:lpstr>PowerPoint Presentation</vt:lpstr>
      <vt:lpstr>PowerPoint Presentation</vt:lpstr>
      <vt:lpstr>PowerPoint Presentation</vt:lpstr>
      <vt:lpstr>Operasional Amplifier (OP-AMP)</vt:lpstr>
      <vt:lpstr>Simbol</vt:lpstr>
      <vt:lpstr>Karakteristik</vt:lpstr>
      <vt:lpstr>Karakteristik</vt:lpstr>
      <vt:lpstr>Keluaran</vt:lpstr>
      <vt:lpstr>Operasi Kalang Terbuka</vt:lpstr>
      <vt:lpstr>Kalang Tertutup</vt:lpstr>
      <vt:lpstr>Virtual Short Virtual Ground</vt:lpstr>
      <vt:lpstr>Penguat Membalik ( Inverting OP-AMP)</vt:lpstr>
      <vt:lpstr>Penguat Membalik ( Inverting OP-AMP)</vt:lpstr>
      <vt:lpstr>Penguat Tak Membalik (Non-Inverting OP_AMP)</vt:lpstr>
      <vt:lpstr>Penguat Tak Membalik (Non-Inverting OP_AMP)</vt:lpstr>
      <vt:lpstr>Penguat Satuan (Voltage Follower)</vt:lpstr>
      <vt:lpstr>Penguat Penjumlah Membalik (Summing Amplifier di inverting) </vt:lpstr>
      <vt:lpstr>Penguat Penjumlah Membalik (Summing Amplifier di inverting) </vt:lpstr>
      <vt:lpstr>Penguat Penjumlah Membalik (Summing Amplifier di inverting) </vt:lpstr>
      <vt:lpstr>Penguat Penjumlah Tak Membalik (Summing Amplifier di non-Inverting)</vt:lpstr>
      <vt:lpstr>Penguat Pengurang (Differensial Amplifier)</vt:lpstr>
      <vt:lpstr>Penguat Pengurang (Differensial Amplifier)</vt:lpstr>
      <vt:lpstr>Integrator</vt:lpstr>
      <vt:lpstr>Practical Integrator</vt:lpstr>
      <vt:lpstr>Differensiator</vt:lpstr>
      <vt:lpstr>Contoh soal 1: </vt:lpstr>
      <vt:lpstr>Contoh soal 2: </vt:lpstr>
      <vt:lpstr>Contoh soal 3: </vt:lpstr>
      <vt:lpstr>Comparator</vt:lpstr>
      <vt:lpstr>Comparator</vt:lpstr>
      <vt:lpstr>Contoh soal4:</vt:lpstr>
      <vt:lpstr>Contoh soal5:</vt:lpstr>
      <vt:lpstr>Contoh soal6:</vt:lpstr>
      <vt:lpstr>referensi</vt:lpstr>
      <vt:lpstr>Tugas</vt:lpstr>
      <vt:lpstr>Tugas</vt:lpstr>
      <vt:lpstr>Tugas</vt:lpstr>
      <vt:lpstr>Tugas</vt:lpstr>
      <vt:lpstr>Tugas</vt:lpstr>
      <vt:lpstr>Tugas</vt:lpstr>
      <vt:lpstr>Tugas</vt:lpstr>
      <vt:lpstr>Tugas</vt:lpstr>
      <vt:lpstr>Tugas</vt:lpstr>
      <vt:lpstr>Operasional Amplifier (OP-AMP)</vt:lpstr>
      <vt:lpstr>Simbol</vt:lpstr>
      <vt:lpstr>Karakteristik</vt:lpstr>
      <vt:lpstr>Karakteristik</vt:lpstr>
      <vt:lpstr>Keluaran</vt:lpstr>
      <vt:lpstr>Operasi Kalang Terbuka</vt:lpstr>
      <vt:lpstr>Kalang Tertutup</vt:lpstr>
      <vt:lpstr>Comparator</vt:lpstr>
      <vt:lpstr>Driver</vt:lpstr>
      <vt:lpstr>Schmitt Trigger</vt:lpstr>
      <vt:lpstr>Virtual Short Virtual Ground</vt:lpstr>
      <vt:lpstr>Penguat Membalik ( Inverting OP-AMP)</vt:lpstr>
      <vt:lpstr>Penguat Membalik ( Inverting OP-AMP)</vt:lpstr>
      <vt:lpstr>Current-to-Voltage Converter</vt:lpstr>
      <vt:lpstr>Penguat Tak Membalik (Non-Inverting OP_AMP)</vt:lpstr>
      <vt:lpstr>Penguat Tak Membalik (Non-Inverting OP_AMP)</vt:lpstr>
      <vt:lpstr>Penguat Satuan (Voltage Follower)</vt:lpstr>
      <vt:lpstr>Penguat Penjumlah (Summing Amplifier)</vt:lpstr>
      <vt:lpstr>Penguat Penjumlah Tak Membalik (Summing Amplifier di non-Inverting)</vt:lpstr>
      <vt:lpstr>Penguat Pengurang (Differensial Amplifier)</vt:lpstr>
      <vt:lpstr>Integrator</vt:lpstr>
      <vt:lpstr>Practical Integrator</vt:lpstr>
      <vt:lpstr>Differensiator</vt:lpstr>
      <vt:lpstr>PowerPoint Presentation</vt:lpstr>
      <vt:lpstr>HW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 Tracking, Counting, and Behaviour Analysis in Digital Aquaculture</dc:title>
  <dc:creator>pds</dc:creator>
  <cp:lastModifiedBy>Gde</cp:lastModifiedBy>
  <cp:revision>116</cp:revision>
  <dcterms:created xsi:type="dcterms:W3CDTF">2024-10-22T07:52:57Z</dcterms:created>
  <dcterms:modified xsi:type="dcterms:W3CDTF">2026-03-25T05:07:52Z</dcterms:modified>
</cp:coreProperties>
</file>