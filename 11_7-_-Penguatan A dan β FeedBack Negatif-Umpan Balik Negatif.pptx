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64" r:id="rId2"/>
    <p:sldId id="279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278" r:id="rId25"/>
    <p:sldId id="29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926" autoAdjust="0"/>
  </p:normalViewPr>
  <p:slideViewPr>
    <p:cSldViewPr snapToGrid="0">
      <p:cViewPr varScale="1">
        <p:scale>
          <a:sx n="59" d="100"/>
          <a:sy n="59" d="100"/>
        </p:scale>
        <p:origin x="10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 custT="1"/>
      <dgm:spPr/>
      <dgm:t>
        <a:bodyPr/>
        <a:lstStyle/>
        <a:p>
          <a:pPr algn="l" rtl="0"/>
          <a:r>
            <a:rPr lang="en-US" sz="2600" b="1" dirty="0" smtClean="0"/>
            <a:t>11_7. </a:t>
          </a:r>
          <a:r>
            <a:rPr lang="en-US" sz="4000" b="1" dirty="0" smtClean="0"/>
            <a:t>Op </a:t>
          </a:r>
          <a:r>
            <a:rPr lang="en-US" sz="4000" b="1" dirty="0" err="1" smtClean="0"/>
            <a:t>Amp_</a:t>
          </a:r>
          <a:r>
            <a:rPr lang="en-US" sz="4000" dirty="0" err="1" smtClean="0"/>
            <a:t>Penguatan</a:t>
          </a:r>
          <a:r>
            <a:rPr lang="en-US" sz="4000" dirty="0" smtClean="0"/>
            <a:t> A </a:t>
          </a:r>
          <a:r>
            <a:rPr lang="en-US" sz="4000" dirty="0" err="1" smtClean="0"/>
            <a:t>dan</a:t>
          </a:r>
          <a:r>
            <a:rPr lang="en-US" sz="4000" dirty="0" smtClean="0"/>
            <a:t> </a:t>
          </a:r>
          <a:r>
            <a:rPr lang="el-GR" sz="4000" dirty="0" smtClean="0"/>
            <a:t>β</a:t>
          </a:r>
          <a:r>
            <a:rPr lang="en-US" sz="4000" dirty="0" smtClean="0"/>
            <a:t>  </a:t>
          </a:r>
          <a:r>
            <a:rPr lang="en-US" sz="4000" dirty="0" err="1" smtClean="0"/>
            <a:t>FeedBack</a:t>
          </a:r>
          <a:r>
            <a:rPr lang="en-US" sz="4000" dirty="0" smtClean="0"/>
            <a:t> </a:t>
          </a:r>
          <a:r>
            <a:rPr lang="en-US" sz="4000" dirty="0" err="1" smtClean="0"/>
            <a:t>Negatif</a:t>
          </a:r>
          <a:r>
            <a:rPr lang="en-US" sz="4000" dirty="0" smtClean="0"/>
            <a:t> (FBN)</a:t>
          </a:r>
        </a:p>
        <a:p>
          <a:pPr algn="l" rtl="0"/>
          <a:r>
            <a:rPr lang="en-US" sz="4000" dirty="0" err="1" smtClean="0"/>
            <a:t>Umpan</a:t>
          </a:r>
          <a:r>
            <a:rPr lang="en-US" sz="4000" dirty="0" smtClean="0"/>
            <a:t> </a:t>
          </a:r>
          <a:r>
            <a:rPr lang="en-US" sz="4000" dirty="0" err="1" smtClean="0"/>
            <a:t>Balik</a:t>
          </a:r>
          <a:r>
            <a:rPr lang="en-US" sz="4000" dirty="0" smtClean="0"/>
            <a:t> </a:t>
          </a:r>
          <a:r>
            <a:rPr lang="en-US" sz="4000" dirty="0" err="1" smtClean="0"/>
            <a:t>Negatif</a:t>
          </a:r>
          <a:endParaRPr lang="en-US" sz="4000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  <dgm:t>
        <a:bodyPr/>
        <a:lstStyle/>
        <a:p>
          <a:endParaRPr lang="en-US"/>
        </a:p>
      </dgm:t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/>
      <dgm:spPr/>
      <dgm:t>
        <a:bodyPr/>
        <a:lstStyle/>
        <a:p>
          <a:pPr rtl="0"/>
          <a:r>
            <a:rPr lang="en-US" b="1" dirty="0" smtClean="0"/>
            <a:t>See the next</a:t>
          </a:r>
          <a:endParaRPr lang="en-US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8255379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11_7. </a:t>
          </a:r>
          <a:r>
            <a:rPr lang="en-US" sz="4000" b="1" kern="1200" dirty="0" smtClean="0"/>
            <a:t>Op </a:t>
          </a:r>
          <a:r>
            <a:rPr lang="en-US" sz="4000" b="1" kern="1200" dirty="0" err="1" smtClean="0"/>
            <a:t>Amp_</a:t>
          </a:r>
          <a:r>
            <a:rPr lang="en-US" sz="4000" kern="1200" dirty="0" err="1" smtClean="0"/>
            <a:t>Penguatan</a:t>
          </a:r>
          <a:r>
            <a:rPr lang="en-US" sz="4000" kern="1200" dirty="0" smtClean="0"/>
            <a:t> A </a:t>
          </a:r>
          <a:r>
            <a:rPr lang="en-US" sz="4000" kern="1200" dirty="0" err="1" smtClean="0"/>
            <a:t>dan</a:t>
          </a:r>
          <a:r>
            <a:rPr lang="en-US" sz="4000" kern="1200" dirty="0" smtClean="0"/>
            <a:t> </a:t>
          </a:r>
          <a:r>
            <a:rPr lang="el-GR" sz="4000" kern="1200" dirty="0" smtClean="0"/>
            <a:t>β</a:t>
          </a:r>
          <a:r>
            <a:rPr lang="en-US" sz="4000" kern="1200" dirty="0" smtClean="0"/>
            <a:t>  </a:t>
          </a:r>
          <a:r>
            <a:rPr lang="en-US" sz="4000" kern="1200" dirty="0" err="1" smtClean="0"/>
            <a:t>FeedBack</a:t>
          </a:r>
          <a:r>
            <a:rPr lang="en-US" sz="4000" kern="1200" dirty="0" smtClean="0"/>
            <a:t> </a:t>
          </a:r>
          <a:r>
            <a:rPr lang="en-US" sz="4000" kern="1200" dirty="0" err="1" smtClean="0"/>
            <a:t>Negatif</a:t>
          </a:r>
          <a:r>
            <a:rPr lang="en-US" sz="4000" kern="1200" dirty="0" smtClean="0"/>
            <a:t> (FBN)</a:t>
          </a:r>
        </a:p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err="1" smtClean="0"/>
            <a:t>Umpan</a:t>
          </a:r>
          <a:r>
            <a:rPr lang="en-US" sz="4000" kern="1200" dirty="0" smtClean="0"/>
            <a:t> </a:t>
          </a:r>
          <a:r>
            <a:rPr lang="en-US" sz="4000" kern="1200" dirty="0" err="1" smtClean="0"/>
            <a:t>Balik</a:t>
          </a:r>
          <a:r>
            <a:rPr lang="en-US" sz="4000" kern="1200" dirty="0" smtClean="0"/>
            <a:t> </a:t>
          </a:r>
          <a:r>
            <a:rPr lang="en-US" sz="4000" kern="1200" dirty="0" err="1" smtClean="0"/>
            <a:t>Negatif</a:t>
          </a:r>
          <a:endParaRPr lang="en-US" sz="4000" kern="1200" dirty="0"/>
        </a:p>
      </dsp:txBody>
      <dsp:txXfrm>
        <a:off x="457199" y="0"/>
        <a:ext cx="8255379" cy="9143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7772400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b="1" kern="1200" dirty="0" smtClean="0"/>
            <a:t>See the next</a:t>
          </a:r>
          <a:endParaRPr lang="en-US" sz="4200" kern="1200" dirty="0"/>
        </a:p>
      </dsp:txBody>
      <dsp:txXfrm>
        <a:off x="457199" y="0"/>
        <a:ext cx="7772400" cy="914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D0C7D-798A-44DC-AC41-FEC01C38F0E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1DE6-A801-4746-9FC0-8352D20A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9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http://www.sophphx.caltech.edu/Physics_5/Experiment_6.pdf</a:t>
            </a:r>
          </a:p>
          <a:p>
            <a:endParaRPr lang="en-US" dirty="0" smtClean="0"/>
          </a:p>
          <a:p>
            <a:r>
              <a:rPr lang="en-US" dirty="0" smtClean="0"/>
              <a:t>https://ocw.mit.edu/ans7870/RES/RES.6-010/MITRES_6-010S13_comchaptrs.pdf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4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https://unacademy.com/lesson/low-frequency-analysis-of-bjt-amplifier/5TUKWO6Z</a:t>
            </a:r>
          </a:p>
          <a:p>
            <a:r>
              <a:rPr lang="en-US" dirty="0" smtClean="0"/>
              <a:t>https://ocw.mit.edu/courses/6-01sc-introduction-to-electrical-engineering-and-computer-science-i-spring-2011/resources/op-amps/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A1DE6-A801-4746-9FC0-8352D20A31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41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 – Tegangan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Zi - &lt; Zo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branch – yes branch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Z11 (seri) – Z22 (paralel)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Z11  saat sisi lain SC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Z22 saat sisi lain OC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4A985-FA21-4D29-A3C9-B4DA81725E8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59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Paralel – Arus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 Zi - &gt; Zo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 branch – no branch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Z11 (paralel) – Z22 (seri)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Z11 saat sisi lain OC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Z22 saat sisi lain SC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4A985-FA21-4D29-A3C9-B4DA81725E8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3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 – Arus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Zi - &gt; Zo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branch – no branch 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Z11 (seri) – Z22 (seri)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Z11 saat sisi lain OC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Z22 saat sisi lain OC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4A985-FA21-4D29-A3C9-B4DA81725E8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59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Paralel – Tegangan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 Zi - &lt; Zo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 branch – yes branch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Z11 (paralel) – Z22 (paralel)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Z11 saat sisi lain SC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Z22 saat sisi lain SC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4A985-FA21-4D29-A3C9-B4DA81725E8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600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28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https://ocw.mit.edu/courses/6-720j-integrated-microelectronic-devices-spring-2007/pages/lecture-notes/</a:t>
            </a:r>
          </a:p>
          <a:p>
            <a:endParaRPr lang="en-US" dirty="0" smtClean="0"/>
          </a:p>
          <a:p>
            <a:r>
              <a:rPr lang="en-US" dirty="0" smtClean="0"/>
              <a:t>https://ocw.mit.edu/courses/6-01sc-introduction-to-electrical-engineering-and-computer-science-i-spring-2011/resources/op-amps/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A1DE6-A801-4746-9FC0-8352D20A310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62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9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4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8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2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9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6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9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/>
          <p:cNvSpPr txBox="1">
            <a:spLocks/>
          </p:cNvSpPr>
          <p:nvPr/>
        </p:nvSpPr>
        <p:spPr>
          <a:xfrm>
            <a:off x="5038473" y="1264112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34110" y="395322"/>
            <a:ext cx="4804363" cy="2463094"/>
            <a:chOff x="54496" y="359621"/>
            <a:chExt cx="4804363" cy="2463094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6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11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2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8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aphicFrame>
        <p:nvGraphicFramePr>
          <p:cNvPr id="21" name="Diagram 20"/>
          <p:cNvGraphicFramePr/>
          <p:nvPr>
            <p:extLst>
              <p:ext uri="{D42A27DB-BD31-4B8C-83A1-F6EECF244321}">
                <p14:modId xmlns:p14="http://schemas.microsoft.com/office/powerpoint/2010/main" val="2745796424"/>
              </p:ext>
            </p:extLst>
          </p:nvPr>
        </p:nvGraphicFramePr>
        <p:xfrm>
          <a:off x="2063476" y="3434555"/>
          <a:ext cx="8712579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7" name="Pie 26"/>
          <p:cNvSpPr/>
          <p:nvPr/>
        </p:nvSpPr>
        <p:spPr>
          <a:xfrm rot="10600249">
            <a:off x="10357546" y="3415832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</p:spTree>
    <p:extLst>
      <p:ext uri="{BB962C8B-B14F-4D97-AF65-F5344CB8AC3E}">
        <p14:creationId xmlns:p14="http://schemas.microsoft.com/office/powerpoint/2010/main" val="38640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Op </a:t>
            </a:r>
            <a:r>
              <a:rPr lang="en-US" b="1" dirty="0" smtClean="0"/>
              <a:t>Amp_</a:t>
            </a:r>
            <a:r>
              <a:rPr lang="en-US" dirty="0"/>
              <a:t> </a:t>
            </a:r>
            <a:r>
              <a:rPr lang="en-US" dirty="0" err="1"/>
              <a:t>Penguatan</a:t>
            </a:r>
            <a:r>
              <a:rPr lang="en-US" dirty="0"/>
              <a:t> 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l-GR" dirty="0"/>
              <a:t>β</a:t>
            </a:r>
            <a:r>
              <a:rPr lang="en-US" dirty="0"/>
              <a:t> </a:t>
            </a:r>
            <a:r>
              <a:rPr lang="en-US" b="1" dirty="0" err="1" smtClean="0"/>
              <a:t>FeedBack</a:t>
            </a:r>
            <a:r>
              <a:rPr lang="en-US" b="1" dirty="0" smtClean="0"/>
              <a:t> </a:t>
            </a:r>
            <a:r>
              <a:rPr lang="en-US" b="1" dirty="0" err="1" smtClean="0"/>
              <a:t>negatif</a:t>
            </a:r>
            <a:r>
              <a:rPr lang="en-US" b="1" dirty="0" smtClean="0"/>
              <a:t>( FBN)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Capaian</a:t>
            </a:r>
            <a:r>
              <a:rPr lang="en-US" dirty="0" smtClean="0"/>
              <a:t> 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 smtClean="0"/>
              <a:t>Mengerti</a:t>
            </a:r>
            <a:r>
              <a:rPr lang="en-US" dirty="0" smtClean="0"/>
              <a:t> op amp </a:t>
            </a:r>
            <a:r>
              <a:rPr lang="es-ES" dirty="0" err="1"/>
              <a:t>menghitung</a:t>
            </a:r>
            <a:r>
              <a:rPr lang="es-ES" dirty="0"/>
              <a:t> </a:t>
            </a:r>
            <a:r>
              <a:rPr lang="es-ES" dirty="0" err="1"/>
              <a:t>penguatan</a:t>
            </a:r>
            <a:r>
              <a:rPr lang="es-ES" dirty="0"/>
              <a:t> A dan β pada </a:t>
            </a:r>
            <a:r>
              <a:rPr lang="es-ES" dirty="0" err="1"/>
              <a:t>umpan</a:t>
            </a:r>
            <a:r>
              <a:rPr lang="es-ES" dirty="0"/>
              <a:t> </a:t>
            </a:r>
            <a:r>
              <a:rPr lang="es-ES" dirty="0" err="1"/>
              <a:t>balik</a:t>
            </a:r>
            <a:r>
              <a:rPr lang="es-ES" dirty="0"/>
              <a:t> </a:t>
            </a:r>
            <a:r>
              <a:rPr lang="es-ES" dirty="0" err="1"/>
              <a:t>negatif</a:t>
            </a:r>
            <a:r>
              <a:rPr lang="es-ES" dirty="0"/>
              <a:t> </a:t>
            </a:r>
            <a:endParaRPr lang="es-E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Loop gain A</a:t>
            </a:r>
            <a:r>
              <a:rPr lang="el-GR" dirty="0"/>
              <a:t>β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/>
              <a:t>Kestabilan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7086" y="5850235"/>
            <a:ext cx="112667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https://ocw.mit.edu/courses/6-01sc-introduction-to-electrical-engineering-and-computer-science-i-spring-2011/resources/op-amps/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1296492"/>
            <a:ext cx="21002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Umpan</a:t>
            </a:r>
            <a:r>
              <a:rPr lang="en-US" dirty="0"/>
              <a:t> </a:t>
            </a:r>
            <a:r>
              <a:rPr lang="en-US" dirty="0" err="1"/>
              <a:t>Balik</a:t>
            </a:r>
            <a:r>
              <a:rPr lang="en-US" dirty="0"/>
              <a:t> </a:t>
            </a:r>
            <a:r>
              <a:rPr lang="en-US" dirty="0" err="1"/>
              <a:t>Negatif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36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Pendahuluan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dirty="0" smtClean="0"/>
              <a:t>Nilai gain A dari blok penguat dipengaruhi oleh tahanan (input/ ouput) rangkaian umpan balik.</a:t>
            </a:r>
            <a:endParaRPr lang="id-ID" dirty="0" smtClean="0">
              <a:sym typeface="Symbol"/>
            </a:endParaRPr>
          </a:p>
          <a:p>
            <a:r>
              <a:rPr lang="id-ID" dirty="0" smtClean="0"/>
              <a:t>Karena topologi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 smtClean="0"/>
              <a:t>telah ditentukan diawal, efek pembebanan rangkaian </a:t>
            </a:r>
            <a:r>
              <a:rPr lang="id-ID" dirty="0" smtClean="0">
                <a:sym typeface="Symbol"/>
              </a:rPr>
              <a:t>umpanbalik </a:t>
            </a:r>
            <a:r>
              <a:rPr lang="id-ID" dirty="0" smtClean="0"/>
              <a:t>dapat diestimasi.</a:t>
            </a:r>
          </a:p>
          <a:p>
            <a:r>
              <a:rPr lang="id-ID" dirty="0" smtClean="0"/>
              <a:t>Untuk menghitung faktor umpanbalik </a:t>
            </a:r>
            <a:r>
              <a:rPr lang="id-ID" i="1" dirty="0" smtClean="0">
                <a:sym typeface="Symbol"/>
              </a:rPr>
              <a:t></a:t>
            </a:r>
            <a:r>
              <a:rPr lang="id-ID" dirty="0" smtClean="0"/>
              <a:t>, </a:t>
            </a:r>
            <a:r>
              <a:rPr lang="id-ID" i="1" dirty="0" smtClean="0"/>
              <a:t>polaritas</a:t>
            </a:r>
            <a:r>
              <a:rPr lang="id-ID" dirty="0" smtClean="0"/>
              <a:t> tegangan/ arus saat mixing harus diperhatikan.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87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Menghitung</a:t>
            </a:r>
            <a:r>
              <a:rPr lang="en-US" dirty="0"/>
              <a:t> Loop Gain </a:t>
            </a:r>
            <a:r>
              <a:rPr lang="en-US" dirty="0" smtClean="0"/>
              <a:t>A</a:t>
            </a:r>
            <a:r>
              <a:rPr lang="en-US" i="1" dirty="0" smtClean="0">
                <a:sym typeface="Symbol"/>
              </a:rPr>
              <a:t>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Besar</a:t>
            </a:r>
            <a:r>
              <a:rPr lang="en-US" dirty="0"/>
              <a:t> loop gain </a:t>
            </a:r>
            <a:r>
              <a:rPr lang="id-ID" i="1" dirty="0" smtClean="0"/>
              <a:t>A</a:t>
            </a:r>
            <a:r>
              <a:rPr lang="id-ID" i="1" dirty="0" smtClean="0">
                <a:sym typeface="Symbol"/>
              </a:rPr>
              <a:t></a:t>
            </a:r>
            <a:r>
              <a:rPr lang="id-ID" dirty="0" smtClean="0"/>
              <a:t> </a:t>
            </a:r>
            <a:r>
              <a:rPr lang="en-US" dirty="0" err="1" smtClean="0"/>
              <a:t>perlu</a:t>
            </a:r>
            <a:r>
              <a:rPr lang="en-US" dirty="0" smtClean="0"/>
              <a:t> </a:t>
            </a:r>
            <a:r>
              <a:rPr lang="en-US" dirty="0" err="1"/>
              <a:t>diketahui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memprediksi</a:t>
            </a:r>
            <a:r>
              <a:rPr lang="en-US" dirty="0"/>
              <a:t> </a:t>
            </a:r>
            <a:r>
              <a:rPr lang="en-US" dirty="0" err="1"/>
              <a:t>kestabilan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bandwidth </a:t>
            </a:r>
            <a:r>
              <a:rPr lang="en-US" dirty="0" err="1"/>
              <a:t>penguat</a:t>
            </a:r>
            <a:r>
              <a:rPr lang="en-US" dirty="0"/>
              <a:t> </a:t>
            </a:r>
            <a:r>
              <a:rPr lang="en-US" dirty="0" smtClean="0"/>
              <a:t>UBN.</a:t>
            </a:r>
            <a:endParaRPr lang="id-ID" dirty="0" smtClean="0"/>
          </a:p>
          <a:p>
            <a:r>
              <a:rPr lang="en-US" dirty="0" err="1" smtClean="0"/>
              <a:t>Menghitung</a:t>
            </a:r>
            <a:r>
              <a:rPr lang="en-US" dirty="0" smtClean="0"/>
              <a:t> </a:t>
            </a:r>
            <a:r>
              <a:rPr lang="en-US" dirty="0"/>
              <a:t>Loop Gain </a:t>
            </a:r>
            <a:r>
              <a:rPr lang="id-ID" i="1" dirty="0"/>
              <a:t>A</a:t>
            </a:r>
            <a:r>
              <a:rPr lang="id-ID" i="1" dirty="0">
                <a:sym typeface="Symbol"/>
              </a:rPr>
              <a:t></a:t>
            </a:r>
            <a:r>
              <a:rPr lang="en-US" dirty="0" smtClean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 smtClean="0"/>
              <a:t>: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 err="1" smtClean="0"/>
              <a:t>Menghitung</a:t>
            </a:r>
            <a:r>
              <a:rPr lang="en-US" dirty="0" smtClean="0"/>
              <a:t> </a:t>
            </a:r>
            <a:r>
              <a:rPr lang="en-US" dirty="0"/>
              <a:t>open-loop gain 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faktor</a:t>
            </a:r>
            <a:r>
              <a:rPr lang="en-US" dirty="0"/>
              <a:t> </a:t>
            </a:r>
            <a:r>
              <a:rPr lang="en-US" i="1" dirty="0" smtClean="0">
                <a:sym typeface="Symbol"/>
              </a:rPr>
              <a:t></a:t>
            </a:r>
            <a:r>
              <a:rPr lang="en-US" dirty="0" smtClean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terpisah</a:t>
            </a:r>
            <a:r>
              <a:rPr lang="en-US" dirty="0"/>
              <a:t>,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mengalikan</a:t>
            </a:r>
            <a:r>
              <a:rPr lang="en-US" dirty="0"/>
              <a:t> </a:t>
            </a:r>
            <a:r>
              <a:rPr lang="en-US" dirty="0" err="1"/>
              <a:t>keduanya</a:t>
            </a:r>
            <a:r>
              <a:rPr lang="en-US" dirty="0"/>
              <a:t>.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pengaruh</a:t>
            </a:r>
            <a:r>
              <a:rPr lang="en-US" dirty="0"/>
              <a:t> </a:t>
            </a:r>
            <a:r>
              <a:rPr lang="en-US" dirty="0" err="1"/>
              <a:t>pembebanan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 smtClean="0"/>
              <a:t>umpanbalik</a:t>
            </a:r>
            <a:r>
              <a:rPr lang="en-US" i="1" dirty="0">
                <a:sym typeface="Symbol"/>
              </a:rPr>
              <a:t> </a:t>
            </a:r>
            <a:r>
              <a:rPr lang="en-US" dirty="0"/>
              <a:t> </a:t>
            </a:r>
            <a:r>
              <a:rPr lang="en-US" dirty="0" err="1" smtClean="0"/>
              <a:t>terhadap</a:t>
            </a:r>
            <a:r>
              <a:rPr lang="en-US" dirty="0" smtClean="0"/>
              <a:t> </a:t>
            </a:r>
            <a:r>
              <a:rPr lang="en-US" dirty="0" err="1"/>
              <a:t>penguat</a:t>
            </a:r>
            <a:r>
              <a:rPr lang="en-US" dirty="0"/>
              <a:t> A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diperhitungkan</a:t>
            </a:r>
            <a:r>
              <a:rPr lang="en-US" dirty="0" smtClean="0"/>
              <a:t>.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 err="1" smtClean="0"/>
              <a:t>Menghitung</a:t>
            </a:r>
            <a:r>
              <a:rPr lang="en-US" dirty="0" smtClean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kali </a:t>
            </a:r>
            <a:r>
              <a:rPr lang="en-US" dirty="0" smtClean="0"/>
              <a:t>A</a:t>
            </a:r>
            <a:r>
              <a:rPr lang="en-US" i="1" dirty="0" smtClean="0">
                <a:sym typeface="Symbol"/>
              </a:rPr>
              <a:t></a:t>
            </a:r>
            <a:r>
              <a:rPr lang="en-US" dirty="0" smtClean="0"/>
              <a:t>.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loop </a:t>
            </a:r>
            <a:r>
              <a:rPr lang="en-US" dirty="0" err="1"/>
              <a:t>diputus</a:t>
            </a:r>
            <a:r>
              <a:rPr lang="en-US" dirty="0"/>
              <a:t> di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diletakkan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. </a:t>
            </a:r>
            <a:r>
              <a:rPr lang="en-US" dirty="0" err="1"/>
              <a:t>Dampak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diamati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hasilnya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loop gain A</a:t>
            </a:r>
            <a:r>
              <a:rPr lang="en-US" i="1" dirty="0">
                <a:sym typeface="Symbol"/>
              </a:rPr>
              <a:t></a:t>
            </a:r>
            <a:r>
              <a:rPr lang="en-US" dirty="0" smtClean="0"/>
              <a:t>.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78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 smtClean="0"/>
              <a:t>Mencari efek pembebanan rangkaian </a:t>
            </a:r>
            <a:r>
              <a:rPr lang="en-US" dirty="0" smtClean="0"/>
              <a:t>Feedback/</a:t>
            </a:r>
            <a:r>
              <a:rPr lang="id-ID" dirty="0" smtClean="0"/>
              <a:t>umpanbalik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905001"/>
            <a:ext cx="8229600" cy="1600200"/>
          </a:xfrm>
        </p:spPr>
        <p:txBody>
          <a:bodyPr/>
          <a:lstStyle/>
          <a:p>
            <a:pPr marL="0" indent="0" algn="ctr">
              <a:buNone/>
            </a:pPr>
            <a:r>
              <a:rPr lang="id-ID" dirty="0" smtClean="0"/>
              <a:t>Secara benar menerapkan: short-circuit dan open circuit rangkaian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 smtClean="0"/>
              <a:t>di sisi input atau output.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592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3600" dirty="0"/>
              <a:t>1) </a:t>
            </a:r>
            <a:r>
              <a:rPr lang="en-US" sz="3600" dirty="0" smtClean="0"/>
              <a:t>F</a:t>
            </a:r>
            <a:r>
              <a:rPr lang="id-ID" sz="3600" dirty="0" smtClean="0"/>
              <a:t>BN </a:t>
            </a:r>
            <a:r>
              <a:rPr lang="id-ID" sz="3600" dirty="0"/>
              <a:t>Penguat Tegangan: </a:t>
            </a:r>
            <a:r>
              <a:rPr lang="id-ID" sz="3600" dirty="0"/>
              <a:t>Pembebanan </a:t>
            </a:r>
            <a:endParaRPr lang="en-US" sz="36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367498"/>
            <a:ext cx="7239000" cy="2594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1" y="3886200"/>
            <a:ext cx="6837293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915400" y="5649532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Sumber arus mewakili ketidak-idealan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08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1)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/>
              <a:t>Penguat Tegangan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3081338" y="1981994"/>
            <a:ext cx="6029325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290" y="1143001"/>
            <a:ext cx="5783911" cy="2073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0870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1)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/>
              <a:t>Penguat Tegangan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219200"/>
            <a:ext cx="7096417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2971800"/>
            <a:ext cx="3385887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1600200"/>
            <a:ext cx="162306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457" y="3133726"/>
            <a:ext cx="285750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755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1)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/>
              <a:t>Penguat Tegangan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447800"/>
            <a:ext cx="3295650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1" y="4127144"/>
            <a:ext cx="3629025" cy="249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952186" y="4151294"/>
            <a:ext cx="45634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dirty="0"/>
              <a:t>Blok A dengan pembebanan:</a:t>
            </a:r>
          </a:p>
          <a:p>
            <a:r>
              <a:rPr lang="id-ID" sz="2800" i="1" dirty="0"/>
              <a:t>R</a:t>
            </a:r>
            <a:r>
              <a:rPr lang="id-ID" sz="2800" i="1" baseline="-25000" dirty="0"/>
              <a:t>11</a:t>
            </a:r>
            <a:r>
              <a:rPr lang="id-ID" sz="2800" dirty="0"/>
              <a:t> </a:t>
            </a:r>
            <a:r>
              <a:rPr lang="id-ID" sz="2800" dirty="0">
                <a:sym typeface="Symbol"/>
              </a:rPr>
              <a:t></a:t>
            </a:r>
            <a:r>
              <a:rPr lang="id-ID" sz="2800" dirty="0"/>
              <a:t> </a:t>
            </a:r>
            <a:r>
              <a:rPr lang="id-ID" sz="2800" i="1" dirty="0"/>
              <a:t>Z</a:t>
            </a:r>
            <a:r>
              <a:rPr lang="id-ID" sz="2800" i="1" baseline="-25000" dirty="0"/>
              <a:t>1</a:t>
            </a:r>
            <a:r>
              <a:rPr lang="id-ID" sz="2800" i="1" dirty="0"/>
              <a:t>//Z</a:t>
            </a:r>
            <a:r>
              <a:rPr lang="id-ID" sz="2800" i="1" baseline="-25000" dirty="0"/>
              <a:t>2</a:t>
            </a:r>
          </a:p>
          <a:p>
            <a:r>
              <a:rPr lang="id-ID" sz="2800" i="1" dirty="0"/>
              <a:t>R</a:t>
            </a:r>
            <a:r>
              <a:rPr lang="id-ID" sz="2800" i="1" baseline="-25000" dirty="0"/>
              <a:t>22</a:t>
            </a:r>
            <a:r>
              <a:rPr lang="id-ID" sz="2800" dirty="0">
                <a:sym typeface="Symbol"/>
              </a:rPr>
              <a:t></a:t>
            </a:r>
            <a:r>
              <a:rPr lang="id-ID" sz="2800" i="1" dirty="0"/>
              <a:t>Z</a:t>
            </a:r>
            <a:r>
              <a:rPr lang="id-ID" sz="2800" i="1" baseline="-25000" dirty="0"/>
              <a:t>1</a:t>
            </a:r>
            <a:r>
              <a:rPr lang="id-ID" sz="2800" dirty="0"/>
              <a:t> + </a:t>
            </a:r>
            <a:r>
              <a:rPr lang="id-ID" sz="2800" i="1" dirty="0"/>
              <a:t>Z</a:t>
            </a:r>
            <a:r>
              <a:rPr lang="id-ID" sz="2800" i="1" baseline="-25000" dirty="0"/>
              <a:t>2</a:t>
            </a:r>
            <a:endParaRPr lang="en-US" sz="2800" i="1" baseline="-25000" dirty="0"/>
          </a:p>
        </p:txBody>
      </p:sp>
    </p:spTree>
    <p:extLst>
      <p:ext uri="{BB962C8B-B14F-4D97-AF65-F5344CB8AC3E}">
        <p14:creationId xmlns:p14="http://schemas.microsoft.com/office/powerpoint/2010/main" val="2433218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1)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/>
              <a:t>Penguat </a:t>
            </a:r>
            <a:r>
              <a:rPr lang="id-ID" dirty="0" smtClean="0"/>
              <a:t>Tegangan: </a:t>
            </a:r>
            <a:r>
              <a:rPr lang="id-ID" dirty="0" smtClean="0">
                <a:sym typeface="Symbol"/>
              </a:rPr>
              <a:t>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82" b="10869"/>
          <a:stretch/>
        </p:blipFill>
        <p:spPr bwMode="auto">
          <a:xfrm>
            <a:off x="1492876" y="1295400"/>
            <a:ext cx="6279524" cy="325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741986"/>
            <a:ext cx="3505200" cy="1887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886" y="3748200"/>
            <a:ext cx="2405315" cy="9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706" y="4648201"/>
            <a:ext cx="5490694" cy="1230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5870472"/>
            <a:ext cx="1997168" cy="911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471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 smtClean="0"/>
              <a:t>2)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/>
              <a:t>Penguat </a:t>
            </a:r>
            <a:r>
              <a:rPr lang="id-ID" dirty="0" smtClean="0"/>
              <a:t>Arus: </a:t>
            </a:r>
            <a:r>
              <a:rPr lang="id-ID" dirty="0"/>
              <a:t>Pembebanan 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19200"/>
            <a:ext cx="8229600" cy="3181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462272"/>
            <a:ext cx="8763000" cy="180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5638800"/>
            <a:ext cx="147089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264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2)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/>
              <a:t>Penguat </a:t>
            </a:r>
            <a:r>
              <a:rPr lang="id-ID" dirty="0" smtClean="0"/>
              <a:t>Arus</a:t>
            </a:r>
            <a:endParaRPr lang="en-US" dirty="0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95401"/>
            <a:ext cx="8229600" cy="1695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040188"/>
            <a:ext cx="4043478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788" y="2971800"/>
            <a:ext cx="4144412" cy="19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48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2)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/>
              <a:t>Penguat Arus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114800"/>
            <a:ext cx="5071821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1" y="1219201"/>
            <a:ext cx="3095625" cy="2438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239000" y="4343400"/>
            <a:ext cx="2590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dirty="0"/>
              <a:t>Blok A dengan pembebanan:</a:t>
            </a:r>
          </a:p>
          <a:p>
            <a:r>
              <a:rPr lang="id-ID" sz="2800" i="1" dirty="0"/>
              <a:t>R</a:t>
            </a:r>
            <a:r>
              <a:rPr lang="id-ID" sz="2800" i="1" baseline="-25000" dirty="0"/>
              <a:t>11</a:t>
            </a:r>
            <a:r>
              <a:rPr lang="id-ID" sz="2800" dirty="0">
                <a:sym typeface="Symbol"/>
              </a:rPr>
              <a:t></a:t>
            </a:r>
            <a:r>
              <a:rPr lang="id-ID" sz="2800" i="1" dirty="0"/>
              <a:t>Z</a:t>
            </a:r>
            <a:r>
              <a:rPr lang="id-ID" sz="2800" i="1" baseline="-25000" dirty="0"/>
              <a:t>1</a:t>
            </a:r>
            <a:r>
              <a:rPr lang="id-ID" sz="2800" dirty="0"/>
              <a:t> + </a:t>
            </a:r>
            <a:r>
              <a:rPr lang="id-ID" sz="2800" i="1" dirty="0"/>
              <a:t>Z</a:t>
            </a:r>
            <a:r>
              <a:rPr lang="id-ID" sz="2800" i="1" baseline="-25000" dirty="0"/>
              <a:t>2</a:t>
            </a:r>
            <a:endParaRPr lang="id-ID" sz="2800" i="1" dirty="0"/>
          </a:p>
          <a:p>
            <a:r>
              <a:rPr lang="id-ID" sz="2800" i="1" dirty="0"/>
              <a:t>R</a:t>
            </a:r>
            <a:r>
              <a:rPr lang="id-ID" sz="2800" i="1" baseline="-25000" dirty="0"/>
              <a:t>22</a:t>
            </a:r>
            <a:r>
              <a:rPr lang="id-ID" sz="2800" dirty="0"/>
              <a:t> </a:t>
            </a:r>
            <a:r>
              <a:rPr lang="id-ID" sz="2800" dirty="0">
                <a:sym typeface="Symbol"/>
              </a:rPr>
              <a:t></a:t>
            </a:r>
            <a:r>
              <a:rPr lang="id-ID" sz="2800" dirty="0"/>
              <a:t> </a:t>
            </a:r>
            <a:r>
              <a:rPr lang="id-ID" sz="2800" i="1" dirty="0"/>
              <a:t>Z</a:t>
            </a:r>
            <a:r>
              <a:rPr lang="id-ID" sz="2800" i="1" baseline="-25000" dirty="0"/>
              <a:t>1</a:t>
            </a:r>
            <a:r>
              <a:rPr lang="id-ID" sz="2800" i="1" dirty="0"/>
              <a:t>//Z</a:t>
            </a:r>
            <a:r>
              <a:rPr lang="id-ID" sz="2800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6479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2)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/>
              <a:t>Penguat </a:t>
            </a:r>
            <a:r>
              <a:rPr lang="id-ID" dirty="0" smtClean="0"/>
              <a:t>Arus: </a:t>
            </a:r>
            <a:r>
              <a:rPr lang="id-ID" dirty="0" smtClean="0">
                <a:sym typeface="Symbol"/>
              </a:rPr>
              <a:t>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3571876"/>
            <a:ext cx="7686675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5334000"/>
            <a:ext cx="2191327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3" y="1143000"/>
            <a:ext cx="6689725" cy="25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5181600"/>
            <a:ext cx="25908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5576316"/>
            <a:ext cx="28765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9876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 smtClean="0"/>
              <a:t>3)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/>
              <a:t>Penguat </a:t>
            </a:r>
            <a:r>
              <a:rPr lang="id-ID" dirty="0" smtClean="0"/>
              <a:t>Trans-Konduktansi: </a:t>
            </a:r>
            <a:r>
              <a:rPr lang="id-ID" dirty="0"/>
              <a:t>Pembebanan 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447801"/>
            <a:ext cx="6472950" cy="3124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800600"/>
            <a:ext cx="7566152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1" y="3505200"/>
            <a:ext cx="1502653" cy="982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05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/>
              <a:t>3)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/>
              <a:t>Penguat </a:t>
            </a:r>
            <a:r>
              <a:rPr lang="id-ID" dirty="0" smtClean="0"/>
              <a:t>Trans-Konduktansi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1" y="1238250"/>
            <a:ext cx="6448425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819400"/>
            <a:ext cx="317934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698" y="2876550"/>
            <a:ext cx="2985902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235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3)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/>
              <a:t>Penguat Trans-Konduktansi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295400"/>
            <a:ext cx="2906584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4055364"/>
            <a:ext cx="3635829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58000" y="4343400"/>
            <a:ext cx="2590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dirty="0"/>
              <a:t>Blok A dengan pembebanan:</a:t>
            </a:r>
          </a:p>
          <a:p>
            <a:r>
              <a:rPr lang="id-ID" sz="2800" i="1" dirty="0"/>
              <a:t>R</a:t>
            </a:r>
            <a:r>
              <a:rPr lang="id-ID" sz="2800" i="1" baseline="-25000" dirty="0"/>
              <a:t>11</a:t>
            </a:r>
            <a:r>
              <a:rPr lang="id-ID" sz="2800" dirty="0">
                <a:sym typeface="Symbol"/>
              </a:rPr>
              <a:t></a:t>
            </a:r>
            <a:r>
              <a:rPr lang="id-ID" sz="2800" i="1" dirty="0"/>
              <a:t>Z</a:t>
            </a:r>
          </a:p>
          <a:p>
            <a:r>
              <a:rPr lang="id-ID" sz="2800" i="1" dirty="0"/>
              <a:t>R</a:t>
            </a:r>
            <a:r>
              <a:rPr lang="id-ID" sz="2800" i="1" baseline="-25000" dirty="0"/>
              <a:t>22</a:t>
            </a:r>
            <a:r>
              <a:rPr lang="id-ID" sz="2800" dirty="0"/>
              <a:t> </a:t>
            </a:r>
            <a:r>
              <a:rPr lang="id-ID" sz="2800" dirty="0">
                <a:sym typeface="Symbol"/>
              </a:rPr>
              <a:t></a:t>
            </a:r>
            <a:r>
              <a:rPr lang="id-ID" sz="2800" dirty="0"/>
              <a:t> </a:t>
            </a:r>
            <a:r>
              <a:rPr lang="id-ID" sz="2800" i="1" dirty="0"/>
              <a:t>Z</a:t>
            </a:r>
            <a:endParaRPr lang="id-ID" sz="2800" i="1" baseline="-25000" dirty="0"/>
          </a:p>
        </p:txBody>
      </p:sp>
    </p:spTree>
    <p:extLst>
      <p:ext uri="{BB962C8B-B14F-4D97-AF65-F5344CB8AC3E}">
        <p14:creationId xmlns:p14="http://schemas.microsoft.com/office/powerpoint/2010/main" val="3917137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/>
              <a:t>3)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/>
              <a:t>Penguat </a:t>
            </a:r>
            <a:r>
              <a:rPr lang="id-ID" dirty="0" smtClean="0"/>
              <a:t>Trans-Konduktansi: </a:t>
            </a:r>
            <a:r>
              <a:rPr lang="id-ID" dirty="0" smtClean="0">
                <a:sym typeface="Symbol"/>
              </a:rPr>
              <a:t></a:t>
            </a:r>
            <a:endParaRPr lang="en-US" dirty="0"/>
          </a:p>
        </p:txBody>
      </p:sp>
      <p:pic>
        <p:nvPicPr>
          <p:cNvPr id="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95400"/>
            <a:ext cx="5334000" cy="2743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191001"/>
            <a:ext cx="6010824" cy="2366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826" y="2514600"/>
            <a:ext cx="2085975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4191000"/>
            <a:ext cx="1513274" cy="9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6122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 smtClean="0"/>
              <a:t>4)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/>
              <a:t>Penguat </a:t>
            </a:r>
            <a:r>
              <a:rPr lang="id-ID" dirty="0" smtClean="0"/>
              <a:t>Trans-Impedansi: </a:t>
            </a:r>
            <a:r>
              <a:rPr lang="id-ID" dirty="0"/>
              <a:t>Pembebanan 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524000"/>
            <a:ext cx="7240988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267200"/>
            <a:ext cx="7917366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3048000"/>
            <a:ext cx="15557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1208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/>
              <a:t>4)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/>
              <a:t>Penguat </a:t>
            </a:r>
            <a:r>
              <a:rPr lang="id-ID" dirty="0" smtClean="0"/>
              <a:t>Trans-Impedansi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524000"/>
            <a:ext cx="835722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649" y="3078480"/>
            <a:ext cx="7450667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247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4)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/>
              <a:t>Penguat Trans-Impedansi</a:t>
            </a:r>
            <a:endParaRPr lang="en-US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371600"/>
            <a:ext cx="3219450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456" y="4267201"/>
            <a:ext cx="4171950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934200" y="4309872"/>
            <a:ext cx="2590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dirty="0"/>
              <a:t>Blok A dengan pembebanan:</a:t>
            </a:r>
          </a:p>
          <a:p>
            <a:r>
              <a:rPr lang="id-ID" sz="2800" i="1" dirty="0"/>
              <a:t>R</a:t>
            </a:r>
            <a:r>
              <a:rPr lang="id-ID" sz="2800" i="1" baseline="-25000" dirty="0"/>
              <a:t>11</a:t>
            </a:r>
            <a:r>
              <a:rPr lang="id-ID" sz="2800" dirty="0">
                <a:sym typeface="Symbol"/>
              </a:rPr>
              <a:t></a:t>
            </a:r>
            <a:r>
              <a:rPr lang="id-ID" sz="2800" i="1" dirty="0"/>
              <a:t>Z</a:t>
            </a:r>
          </a:p>
          <a:p>
            <a:r>
              <a:rPr lang="id-ID" sz="2800" i="1" dirty="0"/>
              <a:t>R</a:t>
            </a:r>
            <a:r>
              <a:rPr lang="id-ID" sz="2800" i="1" baseline="-25000" dirty="0"/>
              <a:t>22</a:t>
            </a:r>
            <a:r>
              <a:rPr lang="id-ID" sz="2800" dirty="0"/>
              <a:t> </a:t>
            </a:r>
            <a:r>
              <a:rPr lang="id-ID" sz="2800" dirty="0">
                <a:sym typeface="Symbol"/>
              </a:rPr>
              <a:t></a:t>
            </a:r>
            <a:r>
              <a:rPr lang="id-ID" sz="2800" dirty="0"/>
              <a:t> </a:t>
            </a:r>
            <a:r>
              <a:rPr lang="id-ID" sz="2800" i="1" dirty="0"/>
              <a:t>Z</a:t>
            </a:r>
            <a:endParaRPr lang="id-ID" sz="2800" i="1" baseline="-25000" dirty="0"/>
          </a:p>
        </p:txBody>
      </p:sp>
    </p:spTree>
    <p:extLst>
      <p:ext uri="{BB962C8B-B14F-4D97-AF65-F5344CB8AC3E}">
        <p14:creationId xmlns:p14="http://schemas.microsoft.com/office/powerpoint/2010/main" val="380294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4)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/>
              <a:t>Penguat </a:t>
            </a:r>
            <a:r>
              <a:rPr lang="id-ID" dirty="0" smtClean="0"/>
              <a:t>Trans-Impedansi: </a:t>
            </a:r>
            <a:r>
              <a:rPr lang="id-ID" dirty="0" smtClean="0">
                <a:sym typeface="Symbol"/>
              </a:rPr>
              <a:t>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6" y="1295400"/>
            <a:ext cx="6505575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192" y="3657600"/>
            <a:ext cx="6595782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1" y="5410200"/>
            <a:ext cx="3427307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5476876"/>
            <a:ext cx="2152650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956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d-ID" dirty="0" smtClean="0"/>
                  <a:t>Nilai loop gain A</a:t>
                </a:r>
                <a:r>
                  <a:rPr lang="id-ID" dirty="0" smtClean="0">
                    <a:sym typeface="Symbol"/>
                  </a:rPr>
                  <a:t></a:t>
                </a:r>
                <a:r>
                  <a:rPr lang="id-ID" dirty="0" smtClean="0"/>
                  <a:t> dapat diperoleh dengan terlebih dahulu menganalisa blok A dan </a:t>
                </a:r>
                <a14:m>
                  <m:oMath xmlns:m="http://schemas.openxmlformats.org/officeDocument/2006/math">
                    <m:r>
                      <a:rPr lang="id-ID" i="1" smtClean="0">
                        <a:latin typeface="Cambria Math"/>
                        <a:sym typeface="Symbol"/>
                      </a:rPr>
                      <m:t></m:t>
                    </m:r>
                  </m:oMath>
                </a14:m>
                <a:r>
                  <a:rPr lang="id-ID" dirty="0" smtClean="0"/>
                  <a:t> secara terpisah.</a:t>
                </a:r>
              </a:p>
              <a:p>
                <a:r>
                  <a:rPr lang="id-ID" dirty="0" smtClean="0"/>
                  <a:t>Dalam menganalisa blok A, efek pembebanan rangkaian umpanbalik harus diperhitungkan.</a:t>
                </a:r>
              </a:p>
              <a:p>
                <a:r>
                  <a:rPr lang="id-ID" dirty="0" smtClean="0"/>
                  <a:t>Nilai </a:t>
                </a:r>
                <a:r>
                  <a:rPr lang="id-ID" dirty="0" smtClean="0">
                    <a:sym typeface="Symbol"/>
                  </a:rPr>
                  <a:t></a:t>
                </a:r>
                <a:r>
                  <a:rPr lang="id-ID" dirty="0" smtClean="0"/>
                  <a:t> sangat tergantung pada topologi UBN yang dipilih/ didesain.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2022" r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8201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ubtitle 2"/>
          <p:cNvSpPr txBox="1">
            <a:spLocks/>
          </p:cNvSpPr>
          <p:nvPr/>
        </p:nvSpPr>
        <p:spPr>
          <a:xfrm>
            <a:off x="1104646" y="3817180"/>
            <a:ext cx="5178582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Tx/>
              <a:buChar char="-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2048" y="4424926"/>
            <a:ext cx="437617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Edwardian Script ITC" panose="030303020407070D0804" pitchFamily="66" charset="0"/>
              </a:rPr>
              <a:t>Thank You !!</a:t>
            </a:r>
          </a:p>
          <a:p>
            <a:pPr algn="ctr"/>
            <a:r>
              <a:rPr lang="en-US" sz="40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23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4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2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aphicFrame>
        <p:nvGraphicFramePr>
          <p:cNvPr id="27" name="Diagram 26"/>
          <p:cNvGraphicFramePr/>
          <p:nvPr>
            <p:extLst>
              <p:ext uri="{D42A27DB-BD31-4B8C-83A1-F6EECF244321}">
                <p14:modId xmlns:p14="http://schemas.microsoft.com/office/powerpoint/2010/main" val="1474028532"/>
              </p:ext>
            </p:extLst>
          </p:nvPr>
        </p:nvGraphicFramePr>
        <p:xfrm>
          <a:off x="1981200" y="5655129"/>
          <a:ext cx="8229600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8" name="Pie 27"/>
          <p:cNvSpPr/>
          <p:nvPr/>
        </p:nvSpPr>
        <p:spPr>
          <a:xfrm rot="10600249">
            <a:off x="9753600" y="5655127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013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HW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6117771" cy="4351338"/>
          </a:xfrm>
        </p:spPr>
        <p:txBody>
          <a:bodyPr/>
          <a:lstStyle/>
          <a:p>
            <a:r>
              <a:rPr lang="en-US" dirty="0"/>
              <a:t> 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(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l-GR" dirty="0"/>
              <a:t>β = 80, </a:t>
            </a:r>
            <a:r>
              <a:rPr lang="en-US" dirty="0"/>
              <a:t>V</a:t>
            </a:r>
            <a:r>
              <a:rPr lang="en-US" baseline="-25000" dirty="0"/>
              <a:t>BE</a:t>
            </a:r>
            <a:r>
              <a:rPr lang="en-US" dirty="0"/>
              <a:t> = 0,7 V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r</a:t>
            </a:r>
            <a:r>
              <a:rPr lang="en-US" baseline="-25000" dirty="0" err="1"/>
              <a:t>o</a:t>
            </a:r>
            <a:r>
              <a:rPr lang="en-US" dirty="0"/>
              <a:t> = ∞) :</a:t>
            </a:r>
            <a:br>
              <a:rPr lang="en-US" dirty="0"/>
            </a:br>
            <a:endParaRPr lang="en-US" dirty="0" smtClean="0"/>
          </a:p>
          <a:p>
            <a:r>
              <a:rPr lang="en-US" dirty="0" err="1" smtClean="0"/>
              <a:t>Tentukan</a:t>
            </a:r>
            <a:r>
              <a:rPr lang="en-US" dirty="0" smtClean="0"/>
              <a:t> </a:t>
            </a:r>
            <a:r>
              <a:rPr lang="en-US" dirty="0" err="1" smtClean="0"/>
              <a:t>besarnya</a:t>
            </a:r>
            <a:r>
              <a:rPr lang="en-US" dirty="0" smtClean="0"/>
              <a:t> </a:t>
            </a:r>
            <a:r>
              <a:rPr lang="en-US" dirty="0" err="1" smtClean="0"/>
              <a:t>penguatan</a:t>
            </a:r>
            <a:r>
              <a:rPr lang="en-US" dirty="0" smtClean="0"/>
              <a:t> </a:t>
            </a:r>
            <a:r>
              <a:rPr lang="en-US" dirty="0" err="1" smtClean="0"/>
              <a:t>tanpa</a:t>
            </a:r>
            <a:r>
              <a:rPr lang="en-US" dirty="0" smtClean="0"/>
              <a:t> </a:t>
            </a:r>
            <a:r>
              <a:rPr lang="en-US" dirty="0" err="1" smtClean="0"/>
              <a:t>umpan</a:t>
            </a:r>
            <a:r>
              <a:rPr lang="en-US" dirty="0" smtClean="0"/>
              <a:t> </a:t>
            </a:r>
            <a:r>
              <a:rPr lang="en-US" dirty="0" err="1" smtClean="0"/>
              <a:t>baliknya</a:t>
            </a:r>
            <a:r>
              <a:rPr lang="en-US" dirty="0" smtClean="0"/>
              <a:t> A </a:t>
            </a:r>
            <a:r>
              <a:rPr lang="en-US" dirty="0" err="1" smtClean="0"/>
              <a:t>penguatan</a:t>
            </a:r>
            <a:r>
              <a:rPr lang="en-US" dirty="0" smtClean="0"/>
              <a:t> </a:t>
            </a:r>
            <a:r>
              <a:rPr lang="en-US" dirty="0" err="1" smtClean="0"/>
              <a:t>umpan</a:t>
            </a:r>
            <a:r>
              <a:rPr lang="en-US" dirty="0" smtClean="0"/>
              <a:t> </a:t>
            </a:r>
            <a:r>
              <a:rPr lang="en-US" dirty="0" err="1" smtClean="0"/>
              <a:t>balik</a:t>
            </a:r>
            <a:r>
              <a:rPr lang="en-US" dirty="0" smtClean="0"/>
              <a:t> </a:t>
            </a:r>
            <a:r>
              <a:rPr lang="el-GR" dirty="0" smtClean="0"/>
              <a:t>β</a:t>
            </a:r>
            <a:r>
              <a:rPr lang="en-US" dirty="0" smtClean="0"/>
              <a:t> </a:t>
            </a:r>
            <a:r>
              <a:rPr lang="fi-FI" dirty="0" smtClean="0"/>
              <a:t>bertikut: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425347"/>
            <a:ext cx="3000375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33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23880</TotalTime>
  <Words>647</Words>
  <Application>Microsoft Office PowerPoint</Application>
  <PresentationFormat>Widescreen</PresentationFormat>
  <Paragraphs>118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맑은 고딕</vt:lpstr>
      <vt:lpstr>Arial</vt:lpstr>
      <vt:lpstr>Calibri</vt:lpstr>
      <vt:lpstr>Calibri Light</vt:lpstr>
      <vt:lpstr>Cambria Math</vt:lpstr>
      <vt:lpstr>Edwardian Script ITC</vt:lpstr>
      <vt:lpstr>Symbol</vt:lpstr>
      <vt:lpstr>Times New Roman</vt:lpstr>
      <vt:lpstr>Wingdings</vt:lpstr>
      <vt:lpstr>Office Theme</vt:lpstr>
      <vt:lpstr>PowerPoint Presentation</vt:lpstr>
      <vt:lpstr>Op Amp_ Penguatan A dan β FeedBack negatif( FBN)</vt:lpstr>
      <vt:lpstr>Pendahuluan</vt:lpstr>
      <vt:lpstr>Menghitung Loop Gain A</vt:lpstr>
      <vt:lpstr>Mencari efek pembebanan rangkaian Feedback/umpanbalik</vt:lpstr>
      <vt:lpstr>1) FBN Penguat Tegangan: Pembebanan </vt:lpstr>
      <vt:lpstr>1) FBN Penguat Tegangan</vt:lpstr>
      <vt:lpstr>1) FBN Penguat Tegangan</vt:lpstr>
      <vt:lpstr>1) FBN Penguat Tegangan</vt:lpstr>
      <vt:lpstr>1) FBN Penguat Tegangan: </vt:lpstr>
      <vt:lpstr>2) FBN Penguat Arus: Pembebanan </vt:lpstr>
      <vt:lpstr>2) FBN Penguat Arus</vt:lpstr>
      <vt:lpstr>2) FBN Penguat Arus</vt:lpstr>
      <vt:lpstr>2) FBN Penguat Arus: </vt:lpstr>
      <vt:lpstr>3) FBN Penguat Trans-Konduktansi: Pembebanan </vt:lpstr>
      <vt:lpstr>3) FBN Penguat Trans-Konduktansi</vt:lpstr>
      <vt:lpstr>3) FBN Penguat Trans-Konduktansi</vt:lpstr>
      <vt:lpstr>3) FBN Penguat Trans-Konduktansi: </vt:lpstr>
      <vt:lpstr>4) FBN Penguat Trans-Impedansi: Pembebanan </vt:lpstr>
      <vt:lpstr>4) FBN Penguat Trans-Impedansi</vt:lpstr>
      <vt:lpstr>4) FBN Penguat Trans-Impedansi</vt:lpstr>
      <vt:lpstr>4) FBN Penguat Trans-Impedansi: </vt:lpstr>
      <vt:lpstr>Summary</vt:lpstr>
      <vt:lpstr>PowerPoint Presentation</vt:lpstr>
      <vt:lpstr>HW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Tracking, Counting, and Behaviour Analysis in Digital Aquaculture</dc:title>
  <dc:creator>pds</dc:creator>
  <cp:lastModifiedBy>Gde</cp:lastModifiedBy>
  <cp:revision>126</cp:revision>
  <dcterms:created xsi:type="dcterms:W3CDTF">2024-10-22T07:52:57Z</dcterms:created>
  <dcterms:modified xsi:type="dcterms:W3CDTF">2026-03-25T03:12:58Z</dcterms:modified>
</cp:coreProperties>
</file>