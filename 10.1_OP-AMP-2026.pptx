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5"/>
  </p:notesMasterIdLst>
  <p:sldIdLst>
    <p:sldId id="264" r:id="rId2"/>
    <p:sldId id="280" r:id="rId3"/>
    <p:sldId id="282" r:id="rId4"/>
    <p:sldId id="283" r:id="rId5"/>
    <p:sldId id="284" r:id="rId6"/>
    <p:sldId id="285" r:id="rId7"/>
    <p:sldId id="286" r:id="rId8"/>
    <p:sldId id="287" r:id="rId9"/>
    <p:sldId id="288" r:id="rId10"/>
    <p:sldId id="289" r:id="rId11"/>
    <p:sldId id="290" r:id="rId12"/>
    <p:sldId id="291" r:id="rId13"/>
    <p:sldId id="292" r:id="rId14"/>
    <p:sldId id="293" r:id="rId15"/>
    <p:sldId id="294" r:id="rId16"/>
    <p:sldId id="295" r:id="rId17"/>
    <p:sldId id="296" r:id="rId18"/>
    <p:sldId id="297" r:id="rId19"/>
    <p:sldId id="298" r:id="rId20"/>
    <p:sldId id="299" r:id="rId21"/>
    <p:sldId id="300" r:id="rId22"/>
    <p:sldId id="301" r:id="rId23"/>
    <p:sldId id="302" r:id="rId24"/>
    <p:sldId id="303" r:id="rId25"/>
    <p:sldId id="304" r:id="rId26"/>
    <p:sldId id="305" r:id="rId27"/>
    <p:sldId id="306" r:id="rId28"/>
    <p:sldId id="307" r:id="rId29"/>
    <p:sldId id="308" r:id="rId30"/>
    <p:sldId id="309" r:id="rId31"/>
    <p:sldId id="310" r:id="rId32"/>
    <p:sldId id="311" r:id="rId33"/>
    <p:sldId id="313" r:id="rId34"/>
    <p:sldId id="314" r:id="rId35"/>
    <p:sldId id="315" r:id="rId36"/>
    <p:sldId id="316" r:id="rId37"/>
    <p:sldId id="317" r:id="rId38"/>
    <p:sldId id="318" r:id="rId39"/>
    <p:sldId id="319" r:id="rId40"/>
    <p:sldId id="320" r:id="rId41"/>
    <p:sldId id="321" r:id="rId42"/>
    <p:sldId id="278" r:id="rId43"/>
    <p:sldId id="322"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159" autoAdjust="0"/>
    <p:restoredTop sz="72042" autoAdjust="0"/>
  </p:normalViewPr>
  <p:slideViewPr>
    <p:cSldViewPr snapToGrid="0">
      <p:cViewPr varScale="1">
        <p:scale>
          <a:sx n="83" d="100"/>
          <a:sy n="83" d="100"/>
        </p:scale>
        <p:origin x="1722"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275E80C-3B53-450A-868F-CD36AA0AB034}" type="doc">
      <dgm:prSet loTypeId="urn:microsoft.com/office/officeart/2005/8/layout/target3" loCatId="relationship" qsTypeId="urn:microsoft.com/office/officeart/2005/8/quickstyle/3d1" qsCatId="3D" csTypeId="urn:microsoft.com/office/officeart/2005/8/colors/accent2_2" csCatId="accent2" phldr="1"/>
      <dgm:spPr/>
      <dgm:t>
        <a:bodyPr/>
        <a:lstStyle/>
        <a:p>
          <a:endParaRPr lang="en-US"/>
        </a:p>
      </dgm:t>
    </dgm:pt>
    <dgm:pt modelId="{D8FDBA16-E463-462A-B396-7080D4852B10}">
      <dgm:prSet/>
      <dgm:spPr/>
      <dgm:t>
        <a:bodyPr/>
        <a:lstStyle/>
        <a:p>
          <a:pPr algn="l" rtl="0"/>
          <a:r>
            <a:rPr lang="en-US" b="1" dirty="0" smtClean="0"/>
            <a:t>10.1_Aplika10.1_OPERASIONAL AMPLIFIER (OP-AMP)</a:t>
          </a:r>
          <a:endParaRPr lang="en-US" dirty="0"/>
        </a:p>
      </dgm:t>
    </dgm:pt>
    <dgm:pt modelId="{CB0A1544-BCC3-498B-A1CB-3A83F46C4FEA}" type="parTrans" cxnId="{D2CA0264-F12F-4F95-A54F-23E59145D055}">
      <dgm:prSet/>
      <dgm:spPr/>
      <dgm:t>
        <a:bodyPr/>
        <a:lstStyle/>
        <a:p>
          <a:endParaRPr lang="en-US"/>
        </a:p>
      </dgm:t>
    </dgm:pt>
    <dgm:pt modelId="{ECAAE9D0-60C2-4B06-AAA6-E3E3F3BC91BD}" type="sibTrans" cxnId="{D2CA0264-F12F-4F95-A54F-23E59145D055}">
      <dgm:prSet/>
      <dgm:spPr/>
      <dgm:t>
        <a:bodyPr/>
        <a:lstStyle/>
        <a:p>
          <a:endParaRPr lang="en-US"/>
        </a:p>
      </dgm:t>
    </dgm:pt>
    <dgm:pt modelId="{30CCE222-7FD2-4854-87A2-4A9A310BBB7A}" type="pres">
      <dgm:prSet presAssocID="{2275E80C-3B53-450A-868F-CD36AA0AB034}" presName="Name0" presStyleCnt="0">
        <dgm:presLayoutVars>
          <dgm:chMax val="7"/>
          <dgm:dir/>
          <dgm:animLvl val="lvl"/>
          <dgm:resizeHandles val="exact"/>
        </dgm:presLayoutVars>
      </dgm:prSet>
      <dgm:spPr/>
      <dgm:t>
        <a:bodyPr/>
        <a:lstStyle/>
        <a:p>
          <a:endParaRPr lang="en-US"/>
        </a:p>
      </dgm:t>
    </dgm:pt>
    <dgm:pt modelId="{2C47B31C-951C-425E-A4D2-593F9963D3E6}" type="pres">
      <dgm:prSet presAssocID="{D8FDBA16-E463-462A-B396-7080D4852B10}" presName="circle1" presStyleLbl="node1" presStyleIdx="0" presStyleCnt="1"/>
      <dgm:spPr/>
      <dgm:t>
        <a:bodyPr/>
        <a:lstStyle/>
        <a:p>
          <a:endParaRPr lang="en-US"/>
        </a:p>
      </dgm:t>
    </dgm:pt>
    <dgm:pt modelId="{3ED554F4-7685-4CC8-8DB5-90AC62C5D699}" type="pres">
      <dgm:prSet presAssocID="{D8FDBA16-E463-462A-B396-7080D4852B10}" presName="space" presStyleCnt="0"/>
      <dgm:spPr/>
      <dgm:t>
        <a:bodyPr/>
        <a:lstStyle/>
        <a:p>
          <a:endParaRPr lang="en-US"/>
        </a:p>
      </dgm:t>
    </dgm:pt>
    <dgm:pt modelId="{10DAA3CF-D6D9-4A12-B5E8-9D3BDC3303B6}" type="pres">
      <dgm:prSet presAssocID="{D8FDBA16-E463-462A-B396-7080D4852B10}" presName="rect1" presStyleLbl="alignAcc1" presStyleIdx="0" presStyleCnt="1"/>
      <dgm:spPr/>
      <dgm:t>
        <a:bodyPr/>
        <a:lstStyle/>
        <a:p>
          <a:endParaRPr lang="en-US"/>
        </a:p>
      </dgm:t>
    </dgm:pt>
    <dgm:pt modelId="{AF10313C-3C27-4E63-B292-64E86E0D7026}" type="pres">
      <dgm:prSet presAssocID="{D8FDBA16-E463-462A-B396-7080D4852B10}" presName="rect1ParTxNoCh" presStyleLbl="alignAcc1" presStyleIdx="0" presStyleCnt="1">
        <dgm:presLayoutVars>
          <dgm:chMax val="1"/>
          <dgm:bulletEnabled val="1"/>
        </dgm:presLayoutVars>
      </dgm:prSet>
      <dgm:spPr/>
      <dgm:t>
        <a:bodyPr/>
        <a:lstStyle/>
        <a:p>
          <a:endParaRPr lang="en-US"/>
        </a:p>
      </dgm:t>
    </dgm:pt>
  </dgm:ptLst>
  <dgm:cxnLst>
    <dgm:cxn modelId="{3A0822C4-AD35-4CD4-8371-1FDD78E220F6}" type="presOf" srcId="{2275E80C-3B53-450A-868F-CD36AA0AB034}" destId="{30CCE222-7FD2-4854-87A2-4A9A310BBB7A}" srcOrd="0" destOrd="0" presId="urn:microsoft.com/office/officeart/2005/8/layout/target3"/>
    <dgm:cxn modelId="{D2CA0264-F12F-4F95-A54F-23E59145D055}" srcId="{2275E80C-3B53-450A-868F-CD36AA0AB034}" destId="{D8FDBA16-E463-462A-B396-7080D4852B10}" srcOrd="0" destOrd="0" parTransId="{CB0A1544-BCC3-498B-A1CB-3A83F46C4FEA}" sibTransId="{ECAAE9D0-60C2-4B06-AAA6-E3E3F3BC91BD}"/>
    <dgm:cxn modelId="{D1D1E284-33B1-4B28-ADF3-E3233F134477}" type="presOf" srcId="{D8FDBA16-E463-462A-B396-7080D4852B10}" destId="{10DAA3CF-D6D9-4A12-B5E8-9D3BDC3303B6}" srcOrd="0" destOrd="0" presId="urn:microsoft.com/office/officeart/2005/8/layout/target3"/>
    <dgm:cxn modelId="{BAA7B625-929A-4239-9D2C-391664917524}" type="presOf" srcId="{D8FDBA16-E463-462A-B396-7080D4852B10}" destId="{AF10313C-3C27-4E63-B292-64E86E0D7026}" srcOrd="1" destOrd="0" presId="urn:microsoft.com/office/officeart/2005/8/layout/target3"/>
    <dgm:cxn modelId="{9849BA3A-F583-41D5-AB22-508EA3420B96}" type="presParOf" srcId="{30CCE222-7FD2-4854-87A2-4A9A310BBB7A}" destId="{2C47B31C-951C-425E-A4D2-593F9963D3E6}" srcOrd="0" destOrd="0" presId="urn:microsoft.com/office/officeart/2005/8/layout/target3"/>
    <dgm:cxn modelId="{B9C41106-E541-4783-9592-0321A5277098}" type="presParOf" srcId="{30CCE222-7FD2-4854-87A2-4A9A310BBB7A}" destId="{3ED554F4-7685-4CC8-8DB5-90AC62C5D699}" srcOrd="1" destOrd="0" presId="urn:microsoft.com/office/officeart/2005/8/layout/target3"/>
    <dgm:cxn modelId="{947D0443-88B7-433F-AB8D-FC4B10D6F79A}" type="presParOf" srcId="{30CCE222-7FD2-4854-87A2-4A9A310BBB7A}" destId="{10DAA3CF-D6D9-4A12-B5E8-9D3BDC3303B6}" srcOrd="2" destOrd="0" presId="urn:microsoft.com/office/officeart/2005/8/layout/target3"/>
    <dgm:cxn modelId="{E6BFF8DE-8F07-4B46-8A10-D72F23999A50}" type="presParOf" srcId="{30CCE222-7FD2-4854-87A2-4A9A310BBB7A}" destId="{AF10313C-3C27-4E63-B292-64E86E0D7026}" srcOrd="3" destOrd="0" presId="urn:microsoft.com/office/officeart/2005/8/layout/target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47B31C-951C-425E-A4D2-593F9963D3E6}">
      <dsp:nvSpPr>
        <dsp:cNvPr id="0" name=""/>
        <dsp:cNvSpPr/>
      </dsp:nvSpPr>
      <dsp:spPr>
        <a:xfrm>
          <a:off x="0" y="0"/>
          <a:ext cx="914399" cy="914399"/>
        </a:xfrm>
        <a:prstGeom prst="pie">
          <a:avLst>
            <a:gd name="adj1" fmla="val 5400000"/>
            <a:gd name="adj2" fmla="val 1620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sp>
    <dsp:sp modelId="{10DAA3CF-D6D9-4A12-B5E8-9D3BDC3303B6}">
      <dsp:nvSpPr>
        <dsp:cNvPr id="0" name=""/>
        <dsp:cNvSpPr/>
      </dsp:nvSpPr>
      <dsp:spPr>
        <a:xfrm>
          <a:off x="457199" y="0"/>
          <a:ext cx="8255379" cy="914399"/>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a:scene3d>
          <a:camera prst="orthographicFront"/>
          <a:lightRig rig="flat" dir="t"/>
        </a:scene3d>
        <a:sp3d extrusionH="12700" prstMaterial="plastic">
          <a:bevelT w="50800" h="50800"/>
        </a:sp3d>
      </dsp:spPr>
      <dsp:style>
        <a:lnRef idx="1">
          <a:scrgbClr r="0" g="0" b="0"/>
        </a:lnRef>
        <a:fillRef idx="1">
          <a:scrgbClr r="0" g="0" b="0"/>
        </a:fillRef>
        <a:effectRef idx="2">
          <a:scrgbClr r="0" g="0" b="0"/>
        </a:effectRef>
        <a:fontRef idx="minor"/>
      </dsp:style>
      <dsp:txBody>
        <a:bodyPr spcFirstLastPara="0" vert="horz" wrap="square" lIns="106680" tIns="106680" rIns="106680" bIns="106680" numCol="1" spcCol="1270" anchor="ctr" anchorCtr="0">
          <a:noAutofit/>
        </a:bodyPr>
        <a:lstStyle/>
        <a:p>
          <a:pPr lvl="0" algn="l" defTabSz="1244600" rtl="0">
            <a:lnSpc>
              <a:spcPct val="90000"/>
            </a:lnSpc>
            <a:spcBef>
              <a:spcPct val="0"/>
            </a:spcBef>
            <a:spcAft>
              <a:spcPct val="35000"/>
            </a:spcAft>
          </a:pPr>
          <a:r>
            <a:rPr lang="en-US" sz="2800" b="1" kern="1200" dirty="0" smtClean="0"/>
            <a:t>10.1_Aplika10.1_OPERASIONAL AMPLIFIER (OP-AMP)</a:t>
          </a:r>
          <a:endParaRPr lang="en-US" sz="2800" kern="1200" dirty="0"/>
        </a:p>
      </dsp:txBody>
      <dsp:txXfrm>
        <a:off x="457199" y="0"/>
        <a:ext cx="8255379" cy="914399"/>
      </dsp:txXfrm>
    </dsp:sp>
  </dsp:spTree>
</dsp:drawing>
</file>

<file path=ppt/diagrams/layout1.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image" Target="../media/image12.wmf"/><Relationship Id="rId1" Type="http://schemas.openxmlformats.org/officeDocument/2006/relationships/image" Target="../media/image11.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6.png"/></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27.wmf"/><Relationship Id="rId1" Type="http://schemas.openxmlformats.org/officeDocument/2006/relationships/image" Target="../media/image26.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image" Target="../media/image29.wmf"/><Relationship Id="rId1" Type="http://schemas.openxmlformats.org/officeDocument/2006/relationships/image" Target="../media/image28.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31.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34.wmf"/><Relationship Id="rId1" Type="http://schemas.openxmlformats.org/officeDocument/2006/relationships/image" Target="../media/image33.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36.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5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5D0C7D-798A-44DC-AC41-FEC01C38F0EB}" type="datetimeFigureOut">
              <a:rPr lang="en-US" smtClean="0"/>
              <a:t>3/17/2026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1A1DE6-A801-4746-9FC0-8352D20A3103}" type="slidenum">
              <a:rPr lang="en-US" smtClean="0"/>
              <a:t>‹#›</a:t>
            </a:fld>
            <a:endParaRPr lang="en-US"/>
          </a:p>
        </p:txBody>
      </p:sp>
    </p:spTree>
    <p:extLst>
      <p:ext uri="{BB962C8B-B14F-4D97-AF65-F5344CB8AC3E}">
        <p14:creationId xmlns:p14="http://schemas.microsoft.com/office/powerpoint/2010/main" val="28595932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http://www.sophphx.caltech.edu/Physics_5/Experiment_6.pdf</a:t>
            </a:r>
            <a:endParaRPr lang="en-US" dirty="0"/>
          </a:p>
        </p:txBody>
      </p:sp>
      <p:sp>
        <p:nvSpPr>
          <p:cNvPr id="4" name="Slide Number Placeholder 3"/>
          <p:cNvSpPr>
            <a:spLocks noGrp="1"/>
          </p:cNvSpPr>
          <p:nvPr>
            <p:ph type="sldNum" sz="quarter" idx="10"/>
          </p:nvPr>
        </p:nvSpPr>
        <p:spPr/>
        <p:txBody>
          <a:bodyPr/>
          <a:lstStyle/>
          <a:p>
            <a:fld id="{CDC773BF-E5C9-44BF-B19B-39EF1F90376E}" type="slidenum">
              <a:rPr lang="en-US" smtClean="0"/>
              <a:t>1</a:t>
            </a:fld>
            <a:endParaRPr lang="en-US"/>
          </a:p>
        </p:txBody>
      </p:sp>
    </p:spTree>
    <p:extLst>
      <p:ext uri="{BB962C8B-B14F-4D97-AF65-F5344CB8AC3E}">
        <p14:creationId xmlns:p14="http://schemas.microsoft.com/office/powerpoint/2010/main" val="884784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C77EA2CC-FABD-466D-82E8-AC953C7EC0CC}" type="slidenum">
              <a:rPr lang="en-US" smtClean="0"/>
              <a:t>42</a:t>
            </a:fld>
            <a:endParaRPr lang="en-US"/>
          </a:p>
        </p:txBody>
      </p:sp>
    </p:spTree>
    <p:extLst>
      <p:ext uri="{BB962C8B-B14F-4D97-AF65-F5344CB8AC3E}">
        <p14:creationId xmlns:p14="http://schemas.microsoft.com/office/powerpoint/2010/main" val="40873288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7BBB5D1-B60B-4B38-B17E-7765EA145201}"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884090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7BBB5D1-B60B-4B38-B17E-7765EA145201}"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16220346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7BBB5D1-B60B-4B38-B17E-7765EA145201}"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3468882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7BBB5D1-B60B-4B38-B17E-7765EA145201}" type="datetimeFigureOut">
              <a:rPr lang="en-US" smtClean="0"/>
              <a:t>3/17/2026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39443962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7BBB5D1-B60B-4B38-B17E-7765EA145201}" type="datetimeFigureOut">
              <a:rPr lang="en-US" smtClean="0"/>
              <a:t>3/17/2026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20223424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7BBB5D1-B60B-4B38-B17E-7765EA145201}" type="datetimeFigureOut">
              <a:rPr lang="en-US" smtClean="0"/>
              <a:t>3/17/2026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33620848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BBB5D1-B60B-4B38-B17E-7765EA145201}" type="datetimeFigureOut">
              <a:rPr lang="en-US" smtClean="0"/>
              <a:t>3/17/2026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5629242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7BBB5D1-B60B-4B38-B17E-7765EA145201}" type="datetimeFigureOut">
              <a:rPr lang="en-US" smtClean="0"/>
              <a:t>3/17/2026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27758417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7BBB5D1-B60B-4B38-B17E-7765EA145201}" type="datetimeFigureOut">
              <a:rPr lang="en-US" smtClean="0"/>
              <a:t>3/17/2026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22011925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7BBB5D1-B60B-4B38-B17E-7765EA145201}"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10736697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7BBB5D1-B60B-4B38-B17E-7765EA145201}" type="datetimeFigureOut">
              <a:rPr lang="en-US" smtClean="0"/>
              <a:t>3/17/2026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F42857-403A-4A86-BF79-9A4C4603A143}" type="slidenum">
              <a:rPr lang="en-US" smtClean="0"/>
              <a:t>‹#›</a:t>
            </a:fld>
            <a:endParaRPr lang="en-US"/>
          </a:p>
        </p:txBody>
      </p:sp>
    </p:spTree>
    <p:extLst>
      <p:ext uri="{BB962C8B-B14F-4D97-AF65-F5344CB8AC3E}">
        <p14:creationId xmlns:p14="http://schemas.microsoft.com/office/powerpoint/2010/main" val="29795665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09600" y="1600201"/>
            <a:ext cx="53848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600201"/>
            <a:ext cx="53848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609600" y="6251575"/>
            <a:ext cx="2844800" cy="476250"/>
          </a:xfrm>
        </p:spPr>
        <p:txBody>
          <a:bodyPr/>
          <a:lstStyle>
            <a:lvl1pPr>
              <a:defRPr/>
            </a:lvl1pPr>
          </a:lstStyle>
          <a:p>
            <a:endParaRPr lang="en-US"/>
          </a:p>
        </p:txBody>
      </p:sp>
      <p:sp>
        <p:nvSpPr>
          <p:cNvPr id="6" name="Slide Number Placeholder 5"/>
          <p:cNvSpPr>
            <a:spLocks noGrp="1"/>
          </p:cNvSpPr>
          <p:nvPr>
            <p:ph type="sldNum" sz="quarter" idx="11"/>
          </p:nvPr>
        </p:nvSpPr>
        <p:spPr>
          <a:xfrm>
            <a:off x="8737600" y="6248400"/>
            <a:ext cx="2844800" cy="476250"/>
          </a:xfrm>
        </p:spPr>
        <p:txBody>
          <a:bodyPr/>
          <a:lstStyle>
            <a:lvl1pPr>
              <a:defRPr/>
            </a:lvl1pPr>
          </a:lstStyle>
          <a:p>
            <a:fld id="{63672217-76C2-4848-958E-84381210B462}" type="slidenum">
              <a:rPr lang="en-US"/>
              <a:pPr/>
              <a:t>‹#›</a:t>
            </a:fld>
            <a:endParaRPr lang="en-US"/>
          </a:p>
        </p:txBody>
      </p:sp>
      <p:sp>
        <p:nvSpPr>
          <p:cNvPr id="7" name="Footer Placeholder 6"/>
          <p:cNvSpPr>
            <a:spLocks noGrp="1"/>
          </p:cNvSpPr>
          <p:nvPr>
            <p:ph type="ftr" sz="quarter" idx="12"/>
          </p:nvPr>
        </p:nvSpPr>
        <p:spPr>
          <a:xfrm>
            <a:off x="4165600" y="6248400"/>
            <a:ext cx="3860800" cy="476250"/>
          </a:xfrm>
        </p:spPr>
        <p:txBody>
          <a:bodyPr/>
          <a:lstStyle>
            <a:lvl1pPr>
              <a:defRPr/>
            </a:lvl1pPr>
          </a:lstStyle>
          <a:p>
            <a:endParaRPr lang="en-US"/>
          </a:p>
        </p:txBody>
      </p:sp>
    </p:spTree>
    <p:extLst>
      <p:ext uri="{BB962C8B-B14F-4D97-AF65-F5344CB8AC3E}">
        <p14:creationId xmlns:p14="http://schemas.microsoft.com/office/powerpoint/2010/main" val="19010343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OverTx">
  <p:cSld name="Title and 2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smtClean="0"/>
              <a:t>Click to edit Master title style</a:t>
            </a:r>
            <a:endParaRPr lang="en-US"/>
          </a:p>
        </p:txBody>
      </p:sp>
      <p:sp>
        <p:nvSpPr>
          <p:cNvPr id="3" name="Content Placeholder 2"/>
          <p:cNvSpPr>
            <a:spLocks noGrp="1"/>
          </p:cNvSpPr>
          <p:nvPr>
            <p:ph sz="quarter" idx="1"/>
          </p:nvPr>
        </p:nvSpPr>
        <p:spPr>
          <a:xfrm>
            <a:off x="609600" y="1600200"/>
            <a:ext cx="5384800" cy="21859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6197600" y="1600200"/>
            <a:ext cx="5384800" cy="21859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half" idx="3"/>
          </p:nvPr>
        </p:nvSpPr>
        <p:spPr>
          <a:xfrm>
            <a:off x="609600" y="3938589"/>
            <a:ext cx="10972800" cy="21875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Date Placeholder 5"/>
          <p:cNvSpPr>
            <a:spLocks noGrp="1"/>
          </p:cNvSpPr>
          <p:nvPr>
            <p:ph type="dt" sz="half" idx="10"/>
          </p:nvPr>
        </p:nvSpPr>
        <p:spPr>
          <a:xfrm>
            <a:off x="609600" y="6251575"/>
            <a:ext cx="2844800" cy="476250"/>
          </a:xfrm>
        </p:spPr>
        <p:txBody>
          <a:bodyPr/>
          <a:lstStyle>
            <a:lvl1pPr>
              <a:defRPr/>
            </a:lvl1pPr>
          </a:lstStyle>
          <a:p>
            <a:endParaRPr lang="en-US"/>
          </a:p>
        </p:txBody>
      </p:sp>
      <p:sp>
        <p:nvSpPr>
          <p:cNvPr id="7" name="Slide Number Placeholder 6"/>
          <p:cNvSpPr>
            <a:spLocks noGrp="1"/>
          </p:cNvSpPr>
          <p:nvPr>
            <p:ph type="sldNum" sz="quarter" idx="11"/>
          </p:nvPr>
        </p:nvSpPr>
        <p:spPr>
          <a:xfrm>
            <a:off x="8737600" y="6248400"/>
            <a:ext cx="2844800" cy="476250"/>
          </a:xfrm>
        </p:spPr>
        <p:txBody>
          <a:bodyPr/>
          <a:lstStyle>
            <a:lvl1pPr>
              <a:defRPr/>
            </a:lvl1pPr>
          </a:lstStyle>
          <a:p>
            <a:fld id="{03C54592-212B-4FA3-B840-EC95D5B568CD}" type="slidenum">
              <a:rPr lang="en-US"/>
              <a:pPr/>
              <a:t>‹#›</a:t>
            </a:fld>
            <a:endParaRPr lang="en-US"/>
          </a:p>
        </p:txBody>
      </p:sp>
      <p:sp>
        <p:nvSpPr>
          <p:cNvPr id="8" name="Footer Placeholder 7"/>
          <p:cNvSpPr>
            <a:spLocks noGrp="1"/>
          </p:cNvSpPr>
          <p:nvPr>
            <p:ph type="ftr" sz="quarter" idx="12"/>
          </p:nvPr>
        </p:nvSpPr>
        <p:spPr>
          <a:xfrm>
            <a:off x="4165600" y="6248400"/>
            <a:ext cx="3860800" cy="476250"/>
          </a:xfrm>
        </p:spPr>
        <p:txBody>
          <a:bodyPr/>
          <a:lstStyle>
            <a:lvl1pPr>
              <a:defRPr/>
            </a:lvl1pPr>
          </a:lstStyle>
          <a:p>
            <a:endParaRPr lang="en-US"/>
          </a:p>
        </p:txBody>
      </p:sp>
    </p:spTree>
    <p:extLst>
      <p:ext uri="{BB962C8B-B14F-4D97-AF65-F5344CB8AC3E}">
        <p14:creationId xmlns:p14="http://schemas.microsoft.com/office/powerpoint/2010/main" val="27748331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OverTx">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0"/>
            <a:ext cx="10972800" cy="21859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600" y="3938589"/>
            <a:ext cx="10972800" cy="21875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609600" y="6251575"/>
            <a:ext cx="2844800" cy="476250"/>
          </a:xfrm>
        </p:spPr>
        <p:txBody>
          <a:bodyPr/>
          <a:lstStyle>
            <a:lvl1pPr>
              <a:defRPr/>
            </a:lvl1pPr>
          </a:lstStyle>
          <a:p>
            <a:endParaRPr lang="en-US"/>
          </a:p>
        </p:txBody>
      </p:sp>
      <p:sp>
        <p:nvSpPr>
          <p:cNvPr id="6" name="Slide Number Placeholder 5"/>
          <p:cNvSpPr>
            <a:spLocks noGrp="1"/>
          </p:cNvSpPr>
          <p:nvPr>
            <p:ph type="sldNum" sz="quarter" idx="11"/>
          </p:nvPr>
        </p:nvSpPr>
        <p:spPr>
          <a:xfrm>
            <a:off x="8737600" y="6248400"/>
            <a:ext cx="2844800" cy="476250"/>
          </a:xfrm>
        </p:spPr>
        <p:txBody>
          <a:bodyPr/>
          <a:lstStyle>
            <a:lvl1pPr>
              <a:defRPr/>
            </a:lvl1pPr>
          </a:lstStyle>
          <a:p>
            <a:fld id="{B6D43BF7-D0E7-4944-9DE7-B9C291B847CF}" type="slidenum">
              <a:rPr lang="en-US"/>
              <a:pPr/>
              <a:t>‹#›</a:t>
            </a:fld>
            <a:endParaRPr lang="en-US"/>
          </a:p>
        </p:txBody>
      </p:sp>
      <p:sp>
        <p:nvSpPr>
          <p:cNvPr id="7" name="Footer Placeholder 6"/>
          <p:cNvSpPr>
            <a:spLocks noGrp="1"/>
          </p:cNvSpPr>
          <p:nvPr>
            <p:ph type="ftr" sz="quarter" idx="12"/>
          </p:nvPr>
        </p:nvSpPr>
        <p:spPr>
          <a:xfrm>
            <a:off x="4165600" y="6248400"/>
            <a:ext cx="3860800" cy="476250"/>
          </a:xfrm>
        </p:spPr>
        <p:txBody>
          <a:bodyPr/>
          <a:lstStyle>
            <a:lvl1pPr>
              <a:defRPr/>
            </a:lvl1pPr>
          </a:lstStyle>
          <a:p>
            <a:endParaRPr lang="en-US"/>
          </a:p>
        </p:txBody>
      </p:sp>
    </p:spTree>
    <p:extLst>
      <p:ext uri="{BB962C8B-B14F-4D97-AF65-F5344CB8AC3E}">
        <p14:creationId xmlns:p14="http://schemas.microsoft.com/office/powerpoint/2010/main" val="39645076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AndTx">
  <p:cSld name="Title, 2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smtClean="0"/>
              <a:t>Click to edit Master title style</a:t>
            </a:r>
            <a:endParaRPr lang="en-US"/>
          </a:p>
        </p:txBody>
      </p:sp>
      <p:sp>
        <p:nvSpPr>
          <p:cNvPr id="3" name="Content Placeholder 2"/>
          <p:cNvSpPr>
            <a:spLocks noGrp="1"/>
          </p:cNvSpPr>
          <p:nvPr>
            <p:ph sz="quarter" idx="1"/>
          </p:nvPr>
        </p:nvSpPr>
        <p:spPr>
          <a:xfrm>
            <a:off x="609600" y="1600200"/>
            <a:ext cx="5384800" cy="21859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609600" y="3938589"/>
            <a:ext cx="5384800" cy="21875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half" idx="3"/>
          </p:nvPr>
        </p:nvSpPr>
        <p:spPr>
          <a:xfrm>
            <a:off x="6197600" y="1600201"/>
            <a:ext cx="53848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Date Placeholder 5"/>
          <p:cNvSpPr>
            <a:spLocks noGrp="1"/>
          </p:cNvSpPr>
          <p:nvPr>
            <p:ph type="dt" sz="half" idx="10"/>
          </p:nvPr>
        </p:nvSpPr>
        <p:spPr>
          <a:xfrm>
            <a:off x="609600" y="6251575"/>
            <a:ext cx="2844800" cy="476250"/>
          </a:xfrm>
        </p:spPr>
        <p:txBody>
          <a:bodyPr/>
          <a:lstStyle>
            <a:lvl1pPr>
              <a:defRPr/>
            </a:lvl1pPr>
          </a:lstStyle>
          <a:p>
            <a:endParaRPr lang="en-US"/>
          </a:p>
        </p:txBody>
      </p:sp>
      <p:sp>
        <p:nvSpPr>
          <p:cNvPr id="7" name="Slide Number Placeholder 6"/>
          <p:cNvSpPr>
            <a:spLocks noGrp="1"/>
          </p:cNvSpPr>
          <p:nvPr>
            <p:ph type="sldNum" sz="quarter" idx="11"/>
          </p:nvPr>
        </p:nvSpPr>
        <p:spPr>
          <a:xfrm>
            <a:off x="8737600" y="6248400"/>
            <a:ext cx="2844800" cy="476250"/>
          </a:xfrm>
        </p:spPr>
        <p:txBody>
          <a:bodyPr/>
          <a:lstStyle>
            <a:lvl1pPr>
              <a:defRPr/>
            </a:lvl1pPr>
          </a:lstStyle>
          <a:p>
            <a:fld id="{091A799F-0FD1-4875-87E1-BE8F197F8A05}" type="slidenum">
              <a:rPr lang="en-US"/>
              <a:pPr/>
              <a:t>‹#›</a:t>
            </a:fld>
            <a:endParaRPr lang="en-US"/>
          </a:p>
        </p:txBody>
      </p:sp>
      <p:sp>
        <p:nvSpPr>
          <p:cNvPr id="8" name="Footer Placeholder 7"/>
          <p:cNvSpPr>
            <a:spLocks noGrp="1"/>
          </p:cNvSpPr>
          <p:nvPr>
            <p:ph type="ftr" sz="quarter" idx="12"/>
          </p:nvPr>
        </p:nvSpPr>
        <p:spPr>
          <a:xfrm>
            <a:off x="4165600" y="6248400"/>
            <a:ext cx="3860800" cy="476250"/>
          </a:xfrm>
        </p:spPr>
        <p:txBody>
          <a:bodyPr/>
          <a:lstStyle>
            <a:lvl1pPr>
              <a:defRPr/>
            </a:lvl1pPr>
          </a:lstStyle>
          <a:p>
            <a:endParaRPr lang="en-US"/>
          </a:p>
        </p:txBody>
      </p:sp>
    </p:spTree>
    <p:extLst>
      <p:ext uri="{BB962C8B-B14F-4D97-AF65-F5344CB8AC3E}">
        <p14:creationId xmlns:p14="http://schemas.microsoft.com/office/powerpoint/2010/main" val="10931912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609600" y="274638"/>
            <a:ext cx="10972800" cy="1143000"/>
          </a:xfrm>
        </p:spPr>
        <p:txBody>
          <a:bodyPr/>
          <a:lstStyle/>
          <a:p>
            <a:r>
              <a:rPr lang="en-US" smtClean="0"/>
              <a:t>Click to edit Master title style</a:t>
            </a:r>
            <a:endParaRPr lang="en-US"/>
          </a:p>
        </p:txBody>
      </p:sp>
      <p:sp>
        <p:nvSpPr>
          <p:cNvPr id="3" name="Content Placeholder 2"/>
          <p:cNvSpPr>
            <a:spLocks noGrp="1"/>
          </p:cNvSpPr>
          <p:nvPr>
            <p:ph sz="quarter" idx="1"/>
          </p:nvPr>
        </p:nvSpPr>
        <p:spPr>
          <a:xfrm>
            <a:off x="609600" y="1600200"/>
            <a:ext cx="5384800" cy="21859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6197600" y="1600200"/>
            <a:ext cx="5384800" cy="21859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609600" y="3938589"/>
            <a:ext cx="5384800" cy="21875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6197600" y="3938589"/>
            <a:ext cx="5384800" cy="21875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609600" y="6251575"/>
            <a:ext cx="2844800" cy="476250"/>
          </a:xfrm>
        </p:spPr>
        <p:txBody>
          <a:bodyPr/>
          <a:lstStyle>
            <a:lvl1pPr>
              <a:defRPr/>
            </a:lvl1pPr>
          </a:lstStyle>
          <a:p>
            <a:endParaRPr lang="en-US"/>
          </a:p>
        </p:txBody>
      </p:sp>
      <p:sp>
        <p:nvSpPr>
          <p:cNvPr id="8" name="Slide Number Placeholder 7"/>
          <p:cNvSpPr>
            <a:spLocks noGrp="1"/>
          </p:cNvSpPr>
          <p:nvPr>
            <p:ph type="sldNum" sz="quarter" idx="11"/>
          </p:nvPr>
        </p:nvSpPr>
        <p:spPr>
          <a:xfrm>
            <a:off x="8737600" y="6248400"/>
            <a:ext cx="2844800" cy="476250"/>
          </a:xfrm>
        </p:spPr>
        <p:txBody>
          <a:bodyPr/>
          <a:lstStyle>
            <a:lvl1pPr>
              <a:defRPr/>
            </a:lvl1pPr>
          </a:lstStyle>
          <a:p>
            <a:fld id="{F7A2EDAB-DCB2-471C-8E12-878E18D4A728}" type="slidenum">
              <a:rPr lang="en-US"/>
              <a:pPr/>
              <a:t>‹#›</a:t>
            </a:fld>
            <a:endParaRPr lang="en-US"/>
          </a:p>
        </p:txBody>
      </p:sp>
      <p:sp>
        <p:nvSpPr>
          <p:cNvPr id="9" name="Footer Placeholder 8"/>
          <p:cNvSpPr>
            <a:spLocks noGrp="1"/>
          </p:cNvSpPr>
          <p:nvPr>
            <p:ph type="ftr" sz="quarter" idx="12"/>
          </p:nvPr>
        </p:nvSpPr>
        <p:spPr>
          <a:xfrm>
            <a:off x="4165600" y="6248400"/>
            <a:ext cx="3860800" cy="476250"/>
          </a:xfrm>
        </p:spPr>
        <p:txBody>
          <a:bodyPr/>
          <a:lstStyle>
            <a:lvl1pPr>
              <a:defRPr/>
            </a:lvl1pPr>
          </a:lstStyle>
          <a:p>
            <a:endParaRPr lang="en-US"/>
          </a:p>
        </p:txBody>
      </p:sp>
    </p:spTree>
    <p:extLst>
      <p:ext uri="{BB962C8B-B14F-4D97-AF65-F5344CB8AC3E}">
        <p14:creationId xmlns:p14="http://schemas.microsoft.com/office/powerpoint/2010/main" val="30000373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AndObj">
  <p:cSld name="Title, 2 Conten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smtClean="0"/>
              <a:t>Click to edit Master title style</a:t>
            </a:r>
            <a:endParaRPr lang="en-US"/>
          </a:p>
        </p:txBody>
      </p:sp>
      <p:sp>
        <p:nvSpPr>
          <p:cNvPr id="3" name="Content Placeholder 2"/>
          <p:cNvSpPr>
            <a:spLocks noGrp="1"/>
          </p:cNvSpPr>
          <p:nvPr>
            <p:ph sz="quarter" idx="1"/>
          </p:nvPr>
        </p:nvSpPr>
        <p:spPr>
          <a:xfrm>
            <a:off x="609600" y="1600200"/>
            <a:ext cx="5384800" cy="21859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609600" y="3938589"/>
            <a:ext cx="5384800" cy="21875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half" idx="3"/>
          </p:nvPr>
        </p:nvSpPr>
        <p:spPr>
          <a:xfrm>
            <a:off x="6197600" y="1600201"/>
            <a:ext cx="53848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Date Placeholder 5"/>
          <p:cNvSpPr>
            <a:spLocks noGrp="1"/>
          </p:cNvSpPr>
          <p:nvPr>
            <p:ph type="dt" sz="half" idx="10"/>
          </p:nvPr>
        </p:nvSpPr>
        <p:spPr>
          <a:xfrm>
            <a:off x="609600" y="6251575"/>
            <a:ext cx="2844800" cy="476250"/>
          </a:xfrm>
        </p:spPr>
        <p:txBody>
          <a:bodyPr/>
          <a:lstStyle>
            <a:lvl1pPr>
              <a:defRPr/>
            </a:lvl1pPr>
          </a:lstStyle>
          <a:p>
            <a:endParaRPr lang="en-US"/>
          </a:p>
        </p:txBody>
      </p:sp>
      <p:sp>
        <p:nvSpPr>
          <p:cNvPr id="7" name="Slide Number Placeholder 6"/>
          <p:cNvSpPr>
            <a:spLocks noGrp="1"/>
          </p:cNvSpPr>
          <p:nvPr>
            <p:ph type="sldNum" sz="quarter" idx="11"/>
          </p:nvPr>
        </p:nvSpPr>
        <p:spPr>
          <a:xfrm>
            <a:off x="8737600" y="6248400"/>
            <a:ext cx="2844800" cy="476250"/>
          </a:xfrm>
        </p:spPr>
        <p:txBody>
          <a:bodyPr/>
          <a:lstStyle>
            <a:lvl1pPr>
              <a:defRPr/>
            </a:lvl1pPr>
          </a:lstStyle>
          <a:p>
            <a:fld id="{201AEAA9-8C65-42A5-8C90-A2F54C079198}" type="slidenum">
              <a:rPr lang="en-US"/>
              <a:pPr/>
              <a:t>‹#›</a:t>
            </a:fld>
            <a:endParaRPr lang="en-US"/>
          </a:p>
        </p:txBody>
      </p:sp>
      <p:sp>
        <p:nvSpPr>
          <p:cNvPr id="8" name="Footer Placeholder 7"/>
          <p:cNvSpPr>
            <a:spLocks noGrp="1"/>
          </p:cNvSpPr>
          <p:nvPr>
            <p:ph type="ftr" sz="quarter" idx="12"/>
          </p:nvPr>
        </p:nvSpPr>
        <p:spPr>
          <a:xfrm>
            <a:off x="4165600" y="6248400"/>
            <a:ext cx="3860800" cy="476250"/>
          </a:xfrm>
        </p:spPr>
        <p:txBody>
          <a:bodyPr/>
          <a:lstStyle>
            <a:lvl1pPr>
              <a:defRPr/>
            </a:lvl1pPr>
          </a:lstStyle>
          <a:p>
            <a:endParaRPr lang="en-US"/>
          </a:p>
        </p:txBody>
      </p:sp>
    </p:spTree>
    <p:extLst>
      <p:ext uri="{BB962C8B-B14F-4D97-AF65-F5344CB8AC3E}">
        <p14:creationId xmlns:p14="http://schemas.microsoft.com/office/powerpoint/2010/main" val="49916833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1"/>
            <a:ext cx="53848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6197600" y="1600200"/>
            <a:ext cx="5384800" cy="21859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6197600" y="3938589"/>
            <a:ext cx="5384800" cy="21875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Date Placeholder 5"/>
          <p:cNvSpPr>
            <a:spLocks noGrp="1"/>
          </p:cNvSpPr>
          <p:nvPr>
            <p:ph type="dt" sz="half" idx="10"/>
          </p:nvPr>
        </p:nvSpPr>
        <p:spPr>
          <a:xfrm>
            <a:off x="609600" y="6251575"/>
            <a:ext cx="2844800" cy="476250"/>
          </a:xfrm>
        </p:spPr>
        <p:txBody>
          <a:bodyPr/>
          <a:lstStyle>
            <a:lvl1pPr>
              <a:defRPr/>
            </a:lvl1pPr>
          </a:lstStyle>
          <a:p>
            <a:endParaRPr lang="en-US"/>
          </a:p>
        </p:txBody>
      </p:sp>
      <p:sp>
        <p:nvSpPr>
          <p:cNvPr id="7" name="Slide Number Placeholder 6"/>
          <p:cNvSpPr>
            <a:spLocks noGrp="1"/>
          </p:cNvSpPr>
          <p:nvPr>
            <p:ph type="sldNum" sz="quarter" idx="11"/>
          </p:nvPr>
        </p:nvSpPr>
        <p:spPr>
          <a:xfrm>
            <a:off x="8737600" y="6248400"/>
            <a:ext cx="2844800" cy="476250"/>
          </a:xfrm>
        </p:spPr>
        <p:txBody>
          <a:bodyPr/>
          <a:lstStyle>
            <a:lvl1pPr>
              <a:defRPr/>
            </a:lvl1pPr>
          </a:lstStyle>
          <a:p>
            <a:fld id="{7BE6430B-D41A-4F4B-986B-D268072AE718}" type="slidenum">
              <a:rPr lang="en-US"/>
              <a:pPr/>
              <a:t>‹#›</a:t>
            </a:fld>
            <a:endParaRPr lang="en-US"/>
          </a:p>
        </p:txBody>
      </p:sp>
      <p:sp>
        <p:nvSpPr>
          <p:cNvPr id="8" name="Footer Placeholder 7"/>
          <p:cNvSpPr>
            <a:spLocks noGrp="1"/>
          </p:cNvSpPr>
          <p:nvPr>
            <p:ph type="ftr" sz="quarter" idx="12"/>
          </p:nvPr>
        </p:nvSpPr>
        <p:spPr>
          <a:xfrm>
            <a:off x="4165600" y="6248400"/>
            <a:ext cx="3860800" cy="476250"/>
          </a:xfrm>
        </p:spPr>
        <p:txBody>
          <a:bodyPr/>
          <a:lstStyle>
            <a:lvl1pPr>
              <a:defRPr/>
            </a:lvl1pPr>
          </a:lstStyle>
          <a:p>
            <a:endParaRPr lang="en-US"/>
          </a:p>
        </p:txBody>
      </p:sp>
    </p:spTree>
    <p:extLst>
      <p:ext uri="{BB962C8B-B14F-4D97-AF65-F5344CB8AC3E}">
        <p14:creationId xmlns:p14="http://schemas.microsoft.com/office/powerpoint/2010/main" val="31664432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BBB5D1-B60B-4B38-B17E-7765EA145201}" type="datetimeFigureOut">
              <a:rPr lang="en-US" smtClean="0"/>
              <a:t>3/17/2026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EF42857-403A-4A86-BF79-9A4C4603A143}" type="slidenum">
              <a:rPr lang="en-US" smtClean="0"/>
              <a:t>‹#›</a:t>
            </a:fld>
            <a:endParaRPr lang="en-US"/>
          </a:p>
        </p:txBody>
      </p:sp>
    </p:spTree>
    <p:extLst>
      <p:ext uri="{BB962C8B-B14F-4D97-AF65-F5344CB8AC3E}">
        <p14:creationId xmlns:p14="http://schemas.microsoft.com/office/powerpoint/2010/main" val="26558989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png"/><Relationship Id="rId7" Type="http://schemas.openxmlformats.org/officeDocument/2006/relationships/diagramColors" Target="../diagrams/colors1.xm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12.xml"/><Relationship Id="rId1" Type="http://schemas.openxmlformats.org/officeDocument/2006/relationships/vmlDrawing" Target="../drawings/vmlDrawing1.vml"/><Relationship Id="rId5" Type="http://schemas.openxmlformats.org/officeDocument/2006/relationships/image" Target="../media/image6.wmf"/><Relationship Id="rId4" Type="http://schemas.openxmlformats.org/officeDocument/2006/relationships/oleObject" Target="../embeddings/oleObject1.bin"/></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12.xml"/><Relationship Id="rId1" Type="http://schemas.openxmlformats.org/officeDocument/2006/relationships/vmlDrawing" Target="../drawings/vmlDrawing2.vml"/><Relationship Id="rId4" Type="http://schemas.openxmlformats.org/officeDocument/2006/relationships/image" Target="../media/image8.wmf"/></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13.xml"/><Relationship Id="rId1" Type="http://schemas.openxmlformats.org/officeDocument/2006/relationships/vmlDrawing" Target="../drawings/vmlDrawing3.vml"/><Relationship Id="rId5" Type="http://schemas.openxmlformats.org/officeDocument/2006/relationships/image" Target="../media/image9.wmf"/><Relationship Id="rId4" Type="http://schemas.openxmlformats.org/officeDocument/2006/relationships/oleObject" Target="../embeddings/oleObject3.bin"/></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oleObject" Target="../embeddings/oleObject4.bin"/><Relationship Id="rId7" Type="http://schemas.openxmlformats.org/officeDocument/2006/relationships/image" Target="../media/image12.wmf"/><Relationship Id="rId2" Type="http://schemas.openxmlformats.org/officeDocument/2006/relationships/slideLayout" Target="../slideLayouts/slideLayout13.xml"/><Relationship Id="rId1" Type="http://schemas.openxmlformats.org/officeDocument/2006/relationships/vmlDrawing" Target="../drawings/vmlDrawing4.vml"/><Relationship Id="rId6" Type="http://schemas.openxmlformats.org/officeDocument/2006/relationships/oleObject" Target="../embeddings/oleObject5.bin"/><Relationship Id="rId5" Type="http://schemas.openxmlformats.org/officeDocument/2006/relationships/image" Target="../media/image14.png"/><Relationship Id="rId4" Type="http://schemas.openxmlformats.org/officeDocument/2006/relationships/image" Target="../media/image11.png"/><Relationship Id="rId9" Type="http://schemas.openxmlformats.org/officeDocument/2006/relationships/image" Target="../media/image13.w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12.xml"/><Relationship Id="rId1" Type="http://schemas.openxmlformats.org/officeDocument/2006/relationships/vmlDrawing" Target="../drawings/vmlDrawing5.vml"/><Relationship Id="rId4" Type="http://schemas.openxmlformats.org/officeDocument/2006/relationships/image" Target="../media/image15.w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14.xml"/><Relationship Id="rId1" Type="http://schemas.openxmlformats.org/officeDocument/2006/relationships/vmlDrawing" Target="../drawings/vmlDrawing6.v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12.xml"/><Relationship Id="rId1" Type="http://schemas.openxmlformats.org/officeDocument/2006/relationships/vmlDrawing" Target="../drawings/vmlDrawing7.vml"/><Relationship Id="rId4" Type="http://schemas.openxmlformats.org/officeDocument/2006/relationships/image" Target="../media/image15.wmf"/></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5.xml"/><Relationship Id="rId5" Type="http://schemas.openxmlformats.org/officeDocument/2006/relationships/image" Target="../media/image22.png"/><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Layout" Target="../slideLayouts/slideLayout16.xml"/><Relationship Id="rId1" Type="http://schemas.openxmlformats.org/officeDocument/2006/relationships/vmlDrawing" Target="../drawings/vmlDrawing8.vml"/><Relationship Id="rId6" Type="http://schemas.openxmlformats.org/officeDocument/2006/relationships/image" Target="../media/image23.wmf"/><Relationship Id="rId5" Type="http://schemas.openxmlformats.org/officeDocument/2006/relationships/oleObject" Target="../embeddings/oleObject10.bin"/><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16.xml"/><Relationship Id="rId1" Type="http://schemas.openxmlformats.org/officeDocument/2006/relationships/vmlDrawing" Target="../drawings/vmlDrawing9.vml"/><Relationship Id="rId6" Type="http://schemas.openxmlformats.org/officeDocument/2006/relationships/image" Target="../media/image27.wmf"/><Relationship Id="rId5" Type="http://schemas.openxmlformats.org/officeDocument/2006/relationships/oleObject" Target="../embeddings/oleObject12.bin"/><Relationship Id="rId4" Type="http://schemas.openxmlformats.org/officeDocument/2006/relationships/image" Target="../media/image26.wmf"/></Relationships>
</file>

<file path=ppt/slides/_rels/slide18.xml.rels><?xml version="1.0" encoding="UTF-8" standalone="yes"?>
<Relationships xmlns="http://schemas.openxmlformats.org/package/2006/relationships"><Relationship Id="rId8" Type="http://schemas.openxmlformats.org/officeDocument/2006/relationships/image" Target="../media/image30.wmf"/><Relationship Id="rId3" Type="http://schemas.openxmlformats.org/officeDocument/2006/relationships/oleObject" Target="../embeddings/oleObject13.bin"/><Relationship Id="rId7" Type="http://schemas.openxmlformats.org/officeDocument/2006/relationships/oleObject" Target="../embeddings/oleObject15.bin"/><Relationship Id="rId2" Type="http://schemas.openxmlformats.org/officeDocument/2006/relationships/slideLayout" Target="../slideLayouts/slideLayout16.xml"/><Relationship Id="rId1" Type="http://schemas.openxmlformats.org/officeDocument/2006/relationships/vmlDrawing" Target="../drawings/vmlDrawing10.vml"/><Relationship Id="rId6" Type="http://schemas.openxmlformats.org/officeDocument/2006/relationships/image" Target="../media/image29.wmf"/><Relationship Id="rId5" Type="http://schemas.openxmlformats.org/officeDocument/2006/relationships/oleObject" Target="../embeddings/oleObject14.bin"/><Relationship Id="rId4" Type="http://schemas.openxmlformats.org/officeDocument/2006/relationships/image" Target="../media/image28.wmf"/></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slideLayout" Target="../slideLayouts/slideLayout17.xml"/><Relationship Id="rId1" Type="http://schemas.openxmlformats.org/officeDocument/2006/relationships/vmlDrawing" Target="../drawings/vmlDrawing11.vml"/><Relationship Id="rId5" Type="http://schemas.openxmlformats.org/officeDocument/2006/relationships/image" Target="../media/image31.wmf"/><Relationship Id="rId4" Type="http://schemas.openxmlformats.org/officeDocument/2006/relationships/oleObject" Target="../embeddings/oleObject16.bin"/></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7.bin"/><Relationship Id="rId7" Type="http://schemas.openxmlformats.org/officeDocument/2006/relationships/image" Target="../media/image34.wmf"/><Relationship Id="rId2" Type="http://schemas.openxmlformats.org/officeDocument/2006/relationships/slideLayout" Target="../slideLayouts/slideLayout14.xml"/><Relationship Id="rId1" Type="http://schemas.openxmlformats.org/officeDocument/2006/relationships/vmlDrawing" Target="../drawings/vmlDrawing12.vml"/><Relationship Id="rId6" Type="http://schemas.openxmlformats.org/officeDocument/2006/relationships/oleObject" Target="../embeddings/oleObject18.bin"/><Relationship Id="rId5" Type="http://schemas.openxmlformats.org/officeDocument/2006/relationships/image" Target="../media/image35.png"/><Relationship Id="rId4" Type="http://schemas.openxmlformats.org/officeDocument/2006/relationships/image" Target="../media/image33.wmf"/></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14.xml"/><Relationship Id="rId1" Type="http://schemas.openxmlformats.org/officeDocument/2006/relationships/vmlDrawing" Target="../drawings/vmlDrawing13.vml"/><Relationship Id="rId4" Type="http://schemas.openxmlformats.org/officeDocument/2006/relationships/image" Target="../media/image36.wmf"/></Relationships>
</file>

<file path=ppt/slides/_rels/slide2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4.xml"/><Relationship Id="rId5" Type="http://schemas.openxmlformats.org/officeDocument/2006/relationships/image" Target="../media/image40.png"/><Relationship Id="rId4" Type="http://schemas.openxmlformats.org/officeDocument/2006/relationships/image" Target="../media/image39.png"/></Relationships>
</file>

<file path=ppt/slides/_rels/slide2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6.xml"/><Relationship Id="rId4" Type="http://schemas.openxmlformats.org/officeDocument/2006/relationships/image" Target="../media/image43.png"/></Relationships>
</file>

<file path=ppt/slides/_rels/slide2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17.xml"/><Relationship Id="rId5" Type="http://schemas.openxmlformats.org/officeDocument/2006/relationships/image" Target="../media/image47.png"/><Relationship Id="rId4" Type="http://schemas.openxmlformats.org/officeDocument/2006/relationships/image" Target="../media/image46.png"/></Relationships>
</file>

<file path=ppt/slides/_rels/slide2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slideLayout" Target="../slideLayouts/slideLayout18.xml"/><Relationship Id="rId1" Type="http://schemas.openxmlformats.org/officeDocument/2006/relationships/vmlDrawing" Target="../drawings/vmlDrawing14.vml"/><Relationship Id="rId6" Type="http://schemas.openxmlformats.org/officeDocument/2006/relationships/image" Target="../media/image53.wmf"/><Relationship Id="rId5" Type="http://schemas.openxmlformats.org/officeDocument/2006/relationships/oleObject" Target="../embeddings/oleObject20.bin"/><Relationship Id="rId4" Type="http://schemas.openxmlformats.org/officeDocument/2006/relationships/image" Target="../media/image55.png"/></Relationships>
</file>

<file path=ppt/slides/_rels/slide30.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7.xml"/></Relationships>
</file>

<file path=ppt/slides/_rels/slide34.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7.xml"/></Relationships>
</file>

<file path=ppt/slides/_rels/slide35.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17.xml"/></Relationships>
</file>

<file path=ppt/slides/_rels/slide36.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7.xml"/></Relationships>
</file>

<file path=ppt/slides/_rels/slide37.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7.xml"/></Relationships>
</file>

<file path=ppt/slides/_rels/slide38.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17.xml"/></Relationships>
</file>

<file path=ppt/slides/_rels/slide39.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7.xml"/></Relationships>
</file>

<file path=ppt/slides/_rels/slide40.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17.xml"/></Relationships>
</file>

<file path=ppt/slides/_rels/slide41.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17.xm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hyperlink" Target="http://www.electronics-tutorials.ws/opamp/opamp_4.html" TargetMode="External"/><Relationship Id="rId2" Type="http://schemas.openxmlformats.org/officeDocument/2006/relationships/hyperlink" Target="http://id.wikipedia.org/wiki/Berkas:Op-Amp_Comparator.svg" TargetMode="Externa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ubtitle 2"/>
          <p:cNvSpPr txBox="1">
            <a:spLocks/>
          </p:cNvSpPr>
          <p:nvPr/>
        </p:nvSpPr>
        <p:spPr>
          <a:xfrm>
            <a:off x="2893786" y="3309896"/>
            <a:ext cx="5287688" cy="52107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endParaRPr lang="en-US" dirty="0">
              <a:solidFill>
                <a:srgbClr val="00B0F0"/>
              </a:solidFill>
            </a:endParaRPr>
          </a:p>
        </p:txBody>
      </p:sp>
      <p:grpSp>
        <p:nvGrpSpPr>
          <p:cNvPr id="20" name="Group 19"/>
          <p:cNvGrpSpPr/>
          <p:nvPr/>
        </p:nvGrpSpPr>
        <p:grpSpPr>
          <a:xfrm>
            <a:off x="54496" y="359621"/>
            <a:ext cx="4804363" cy="2463094"/>
            <a:chOff x="54496" y="359621"/>
            <a:chExt cx="4804363" cy="2463094"/>
          </a:xfrm>
        </p:grpSpPr>
        <p:pic>
          <p:nvPicPr>
            <p:cNvPr id="19" name="Picture 18"/>
            <p:cNvPicPr>
              <a:picLocks noChangeAspect="1"/>
            </p:cNvPicPr>
            <p:nvPr/>
          </p:nvPicPr>
          <p:blipFill>
            <a:blip r:embed="rId3"/>
            <a:stretch>
              <a:fillRect/>
            </a:stretch>
          </p:blipFill>
          <p:spPr>
            <a:xfrm>
              <a:off x="235105" y="1901987"/>
              <a:ext cx="3104181" cy="263526"/>
            </a:xfrm>
            <a:prstGeom prst="rect">
              <a:avLst/>
            </a:prstGeom>
          </p:spPr>
        </p:pic>
        <p:sp>
          <p:nvSpPr>
            <p:cNvPr id="6" name="Title 4">
              <a:extLst>
                <a:ext uri="{FF2B5EF4-FFF2-40B4-BE49-F238E27FC236}">
                  <a16:creationId xmlns:a16="http://schemas.microsoft.com/office/drawing/2014/main" id="{27228BAE-048B-681E-DD8D-BD96B22560E0}"/>
                </a:ext>
              </a:extLst>
            </p:cNvPr>
            <p:cNvSpPr txBox="1">
              <a:spLocks/>
            </p:cNvSpPr>
            <p:nvPr/>
          </p:nvSpPr>
          <p:spPr>
            <a:xfrm>
              <a:off x="54496" y="1922610"/>
              <a:ext cx="4804363" cy="900105"/>
            </a:xfrm>
            <a:prstGeom prst="rect">
              <a:avLst/>
            </a:prstGeom>
          </p:spPr>
          <p:txBody>
            <a:bodyPr vert="horz" lIns="91440" tIns="45720" rIns="91440" bIns="45720" rtlCol="0" anchor="b">
              <a:normAutofit fontScale="9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dirty="0" smtClean="0">
                  <a:solidFill>
                    <a:schemeClr val="accent1">
                      <a:lumMod val="75000"/>
                    </a:schemeClr>
                  </a:solidFill>
                </a:rPr>
                <a:t>Computer </a:t>
              </a:r>
              <a:r>
                <a:rPr lang="en-US" dirty="0" smtClean="0">
                  <a:solidFill>
                    <a:srgbClr val="00B0F0"/>
                  </a:solidFill>
                </a:rPr>
                <a:t>Vision</a:t>
              </a:r>
              <a:endParaRPr lang="en-US" dirty="0">
                <a:solidFill>
                  <a:srgbClr val="00B0F0"/>
                </a:solidFill>
              </a:endParaRPr>
            </a:p>
          </p:txBody>
        </p:sp>
        <p:grpSp>
          <p:nvGrpSpPr>
            <p:cNvPr id="7" name="Group 6">
              <a:extLst>
                <a:ext uri="{FF2B5EF4-FFF2-40B4-BE49-F238E27FC236}">
                  <a16:creationId xmlns:a16="http://schemas.microsoft.com/office/drawing/2014/main" id="{2AABCB87-2ECC-4C03-B5BB-6EE11C8A4485}"/>
                </a:ext>
              </a:extLst>
            </p:cNvPr>
            <p:cNvGrpSpPr/>
            <p:nvPr/>
          </p:nvGrpSpPr>
          <p:grpSpPr>
            <a:xfrm>
              <a:off x="89638" y="359621"/>
              <a:ext cx="3064025" cy="1516520"/>
              <a:chOff x="4853562" y="1589418"/>
              <a:chExt cx="2609520" cy="1291565"/>
            </a:xfrm>
          </p:grpSpPr>
          <p:sp>
            <p:nvSpPr>
              <p:cNvPr id="8" name="Freeform 7">
                <a:extLst>
                  <a:ext uri="{FF2B5EF4-FFF2-40B4-BE49-F238E27FC236}">
                    <a16:creationId xmlns:a16="http://schemas.microsoft.com/office/drawing/2014/main" id="{03546B24-FABC-4B2A-A80F-B03654D56A7D}"/>
                  </a:ext>
                </a:extLst>
              </p:cNvPr>
              <p:cNvSpPr>
                <a:spLocks noChangeAspect="1"/>
              </p:cNvSpPr>
              <p:nvPr/>
            </p:nvSpPr>
            <p:spPr>
              <a:xfrm flipH="1">
                <a:off x="4853562" y="1589418"/>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a:solidFill>
                    <a:schemeClr val="tx1"/>
                  </a:solidFill>
                </a:endParaRPr>
              </a:p>
            </p:txBody>
          </p:sp>
          <p:sp>
            <p:nvSpPr>
              <p:cNvPr id="9" name="Freeform 8">
                <a:extLst>
                  <a:ext uri="{FF2B5EF4-FFF2-40B4-BE49-F238E27FC236}">
                    <a16:creationId xmlns:a16="http://schemas.microsoft.com/office/drawing/2014/main" id="{02E1A011-CDEA-4BBC-B725-C88AF5464891}"/>
                  </a:ext>
                </a:extLst>
              </p:cNvPr>
              <p:cNvSpPr>
                <a:spLocks noChangeAspect="1"/>
              </p:cNvSpPr>
              <p:nvPr/>
            </p:nvSpPr>
            <p:spPr>
              <a:xfrm flipH="1">
                <a:off x="5230834" y="1678285"/>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dirty="0">
                  <a:solidFill>
                    <a:schemeClr val="tx1"/>
                  </a:solidFill>
                </a:endParaRPr>
              </a:p>
            </p:txBody>
          </p:sp>
        </p:grpSp>
        <p:grpSp>
          <p:nvGrpSpPr>
            <p:cNvPr id="10" name="Group 9">
              <a:extLst>
                <a:ext uri="{FF2B5EF4-FFF2-40B4-BE49-F238E27FC236}">
                  <a16:creationId xmlns:a16="http://schemas.microsoft.com/office/drawing/2014/main" id="{AB8BC7BC-BF58-402E-9A69-AA9226DE7CAA}"/>
                </a:ext>
              </a:extLst>
            </p:cNvPr>
            <p:cNvGrpSpPr/>
            <p:nvPr/>
          </p:nvGrpSpPr>
          <p:grpSpPr>
            <a:xfrm>
              <a:off x="1356703" y="883096"/>
              <a:ext cx="1334145" cy="620384"/>
              <a:chOff x="7729280" y="2195997"/>
              <a:chExt cx="2143740" cy="996849"/>
            </a:xfrm>
            <a:solidFill>
              <a:schemeClr val="accent6"/>
            </a:solidFill>
          </p:grpSpPr>
          <p:sp>
            <p:nvSpPr>
              <p:cNvPr id="11" name="Freeform: Shape 66">
                <a:extLst>
                  <a:ext uri="{FF2B5EF4-FFF2-40B4-BE49-F238E27FC236}">
                    <a16:creationId xmlns:a16="http://schemas.microsoft.com/office/drawing/2014/main" id="{2A081543-B9FF-49B1-8EEF-ABDF5438EDCD}"/>
                  </a:ext>
                </a:extLst>
              </p:cNvPr>
              <p:cNvSpPr/>
              <p:nvPr/>
            </p:nvSpPr>
            <p:spPr>
              <a:xfrm>
                <a:off x="7729280" y="2195997"/>
                <a:ext cx="2143740" cy="996849"/>
              </a:xfrm>
              <a:custGeom>
                <a:avLst/>
                <a:gdLst/>
                <a:ahLst/>
                <a:cxnLst/>
                <a:rect l="l" t="t" r="r" b="b"/>
                <a:pathLst>
                  <a:path w="1862733" h="866179">
                    <a:moveTo>
                      <a:pt x="794147" y="204787"/>
                    </a:moveTo>
                    <a:cubicBezTo>
                      <a:pt x="745605" y="204787"/>
                      <a:pt x="701637" y="218416"/>
                      <a:pt x="662244" y="245673"/>
                    </a:cubicBezTo>
                    <a:cubicBezTo>
                      <a:pt x="622851" y="272930"/>
                      <a:pt x="594798" y="309240"/>
                      <a:pt x="578086" y="354601"/>
                    </a:cubicBezTo>
                    <a:cubicBezTo>
                      <a:pt x="568536" y="380467"/>
                      <a:pt x="563761" y="406729"/>
                      <a:pt x="563761" y="433387"/>
                    </a:cubicBezTo>
                    <a:cubicBezTo>
                      <a:pt x="563761" y="488299"/>
                      <a:pt x="582064" y="537440"/>
                      <a:pt x="618670" y="580811"/>
                    </a:cubicBezTo>
                    <a:cubicBezTo>
                      <a:pt x="664031" y="634532"/>
                      <a:pt x="722524" y="661392"/>
                      <a:pt x="794147" y="661392"/>
                    </a:cubicBezTo>
                    <a:cubicBezTo>
                      <a:pt x="865771" y="661392"/>
                      <a:pt x="924462" y="634733"/>
                      <a:pt x="970220" y="581415"/>
                    </a:cubicBezTo>
                    <a:cubicBezTo>
                      <a:pt x="1006826" y="538838"/>
                      <a:pt x="1025128" y="489496"/>
                      <a:pt x="1025128" y="433387"/>
                    </a:cubicBezTo>
                    <a:cubicBezTo>
                      <a:pt x="1025128" y="376088"/>
                      <a:pt x="1006826" y="326547"/>
                      <a:pt x="970220" y="284764"/>
                    </a:cubicBezTo>
                    <a:cubicBezTo>
                      <a:pt x="923265" y="231446"/>
                      <a:pt x="864574" y="204787"/>
                      <a:pt x="794147" y="204787"/>
                    </a:cubicBezTo>
                    <a:close/>
                    <a:moveTo>
                      <a:pt x="1304330" y="24408"/>
                    </a:moveTo>
                    <a:lnTo>
                      <a:pt x="1862733" y="24408"/>
                    </a:lnTo>
                    <a:lnTo>
                      <a:pt x="1862733" y="200620"/>
                    </a:lnTo>
                    <a:lnTo>
                      <a:pt x="1687711" y="200620"/>
                    </a:lnTo>
                    <a:lnTo>
                      <a:pt x="1687711" y="837009"/>
                    </a:lnTo>
                    <a:lnTo>
                      <a:pt x="1476375" y="837009"/>
                    </a:lnTo>
                    <a:lnTo>
                      <a:pt x="1476375" y="200620"/>
                    </a:lnTo>
                    <a:lnTo>
                      <a:pt x="1304330" y="200620"/>
                    </a:lnTo>
                    <a:close/>
                    <a:moveTo>
                      <a:pt x="0" y="24408"/>
                    </a:moveTo>
                    <a:lnTo>
                      <a:pt x="211336" y="24408"/>
                    </a:lnTo>
                    <a:lnTo>
                      <a:pt x="211336" y="837009"/>
                    </a:lnTo>
                    <a:lnTo>
                      <a:pt x="0" y="837009"/>
                    </a:lnTo>
                    <a:close/>
                    <a:moveTo>
                      <a:pt x="794147" y="0"/>
                    </a:moveTo>
                    <a:cubicBezTo>
                      <a:pt x="937022" y="0"/>
                      <a:pt x="1050330" y="47426"/>
                      <a:pt x="1134071" y="142280"/>
                    </a:cubicBezTo>
                    <a:cubicBezTo>
                      <a:pt x="1207493" y="225623"/>
                      <a:pt x="1244204" y="322659"/>
                      <a:pt x="1244204" y="433387"/>
                    </a:cubicBezTo>
                    <a:cubicBezTo>
                      <a:pt x="1244204" y="543719"/>
                      <a:pt x="1207493" y="640556"/>
                      <a:pt x="1134071" y="723900"/>
                    </a:cubicBezTo>
                    <a:cubicBezTo>
                      <a:pt x="1050330" y="818753"/>
                      <a:pt x="937022" y="866179"/>
                      <a:pt x="794147" y="866179"/>
                    </a:cubicBezTo>
                    <a:cubicBezTo>
                      <a:pt x="651669" y="866179"/>
                      <a:pt x="538560" y="818753"/>
                      <a:pt x="454819" y="723900"/>
                    </a:cubicBezTo>
                    <a:cubicBezTo>
                      <a:pt x="381397" y="640556"/>
                      <a:pt x="344686" y="543719"/>
                      <a:pt x="344686" y="433387"/>
                    </a:cubicBezTo>
                    <a:cubicBezTo>
                      <a:pt x="344686" y="382984"/>
                      <a:pt x="354608" y="331291"/>
                      <a:pt x="374452" y="278308"/>
                    </a:cubicBezTo>
                    <a:cubicBezTo>
                      <a:pt x="394296" y="225326"/>
                      <a:pt x="420886" y="179983"/>
                      <a:pt x="454224" y="142280"/>
                    </a:cubicBezTo>
                    <a:cubicBezTo>
                      <a:pt x="537964" y="47426"/>
                      <a:pt x="651272" y="0"/>
                      <a:pt x="794147" y="0"/>
                    </a:cubicBezTo>
                    <a:close/>
                  </a:path>
                </a:pathLst>
              </a:cu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dirty="0"/>
              </a:p>
            </p:txBody>
          </p:sp>
          <p:sp>
            <p:nvSpPr>
              <p:cNvPr id="12" name="Freeform: Shape 67">
                <a:extLst>
                  <a:ext uri="{FF2B5EF4-FFF2-40B4-BE49-F238E27FC236}">
                    <a16:creationId xmlns:a16="http://schemas.microsoft.com/office/drawing/2014/main" id="{275D1FAA-C13F-4A6B-BA37-7704CFB7ADCD}"/>
                  </a:ext>
                </a:extLst>
              </p:cNvPr>
              <p:cNvSpPr/>
              <p:nvPr/>
            </p:nvSpPr>
            <p:spPr>
              <a:xfrm>
                <a:off x="8421007" y="2543552"/>
                <a:ext cx="443936" cy="326800"/>
              </a:xfrm>
              <a:custGeom>
                <a:avLst/>
                <a:gdLst>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788485 w 3738080"/>
                  <a:gd name="connsiteY5" fmla="*/ 1841061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624294 w 3738080"/>
                  <a:gd name="connsiteY5" fmla="*/ 1992174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1858846 w 3738080"/>
                  <a:gd name="connsiteY5" fmla="*/ 1306247 h 2751770"/>
                  <a:gd name="connsiteX6" fmla="*/ 2645621 w 3738080"/>
                  <a:gd name="connsiteY6" fmla="*/ 1504218 h 2751770"/>
                  <a:gd name="connsiteX7" fmla="*/ 2795575 w 3738080"/>
                  <a:gd name="connsiteY7" fmla="*/ 1757331 h 2751770"/>
                  <a:gd name="connsiteX8" fmla="*/ 2539052 w 3738080"/>
                  <a:gd name="connsiteY8" fmla="*/ 1841672 h 2751770"/>
                  <a:gd name="connsiteX9" fmla="*/ 1353947 w 3738080"/>
                  <a:gd name="connsiteY9" fmla="*/ 1778974 h 2751770"/>
                  <a:gd name="connsiteX10" fmla="*/ 982333 w 3738080"/>
                  <a:gd name="connsiteY10" fmla="*/ 1780833 h 2751770"/>
                  <a:gd name="connsiteX11" fmla="*/ 966756 w 3738080"/>
                  <a:gd name="connsiteY11" fmla="*/ 1667407 h 2751770"/>
                  <a:gd name="connsiteX12" fmla="*/ 1217540 w 3738080"/>
                  <a:gd name="connsiteY12" fmla="*/ 1445700 h 2751770"/>
                  <a:gd name="connsiteX13" fmla="*/ 1858846 w 3738080"/>
                  <a:gd name="connsiteY13" fmla="*/ 1306247 h 2751770"/>
                  <a:gd name="connsiteX14" fmla="*/ 1828129 w 3738080"/>
                  <a:gd name="connsiteY14" fmla="*/ 650059 h 2751770"/>
                  <a:gd name="connsiteX15" fmla="*/ 3108200 w 3738080"/>
                  <a:gd name="connsiteY15" fmla="*/ 1008980 h 2751770"/>
                  <a:gd name="connsiteX16" fmla="*/ 3258155 w 3738080"/>
                  <a:gd name="connsiteY16" fmla="*/ 1319033 h 2751770"/>
                  <a:gd name="connsiteX17" fmla="*/ 2937692 w 3738080"/>
                  <a:gd name="connsiteY17" fmla="*/ 1304637 h 2751770"/>
                  <a:gd name="connsiteX18" fmla="*/ 763561 w 3738080"/>
                  <a:gd name="connsiteY18" fmla="*/ 1325535 h 2751770"/>
                  <a:gd name="connsiteX19" fmla="*/ 464412 w 3738080"/>
                  <a:gd name="connsiteY19" fmla="*/ 1278813 h 2751770"/>
                  <a:gd name="connsiteX20" fmla="*/ 450482 w 3738080"/>
                  <a:gd name="connsiteY20" fmla="*/ 1202928 h 2751770"/>
                  <a:gd name="connsiteX21" fmla="*/ 622892 w 3738080"/>
                  <a:gd name="connsiteY21" fmla="*/ 1008979 h 2751770"/>
                  <a:gd name="connsiteX22" fmla="*/ 1828129 w 3738080"/>
                  <a:gd name="connsiteY22" fmla="*/ 650059 h 2751770"/>
                  <a:gd name="connsiteX23" fmla="*/ 1764313 w 3738080"/>
                  <a:gd name="connsiteY23" fmla="*/ 591 h 2751770"/>
                  <a:gd name="connsiteX24" fmla="*/ 3559697 w 3738080"/>
                  <a:gd name="connsiteY24" fmla="*/ 547180 h 2751770"/>
                  <a:gd name="connsiteX25" fmla="*/ 3709650 w 3738080"/>
                  <a:gd name="connsiteY25" fmla="*/ 882310 h 2751770"/>
                  <a:gd name="connsiteX26" fmla="*/ 3367875 w 3738080"/>
                  <a:gd name="connsiteY26" fmla="*/ 834477 h 2751770"/>
                  <a:gd name="connsiteX27" fmla="*/ 318417 w 3738080"/>
                  <a:gd name="connsiteY27" fmla="*/ 884635 h 2751770"/>
                  <a:gd name="connsiteX28" fmla="*/ 19267 w 3738080"/>
                  <a:gd name="connsiteY28" fmla="*/ 846272 h 2751770"/>
                  <a:gd name="connsiteX29" fmla="*/ 275 w 3738080"/>
                  <a:gd name="connsiteY29" fmla="*/ 760137 h 2751770"/>
                  <a:gd name="connsiteX30" fmla="*/ 173484 w 3738080"/>
                  <a:gd name="connsiteY30" fmla="*/ 547180 h 2751770"/>
                  <a:gd name="connsiteX31" fmla="*/ 1764313 w 3738080"/>
                  <a:gd name="connsiteY31" fmla="*/ 591 h 275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738080" h="2751770">
                    <a:moveTo>
                      <a:pt x="1869041" y="1997576"/>
                    </a:moveTo>
                    <a:cubicBezTo>
                      <a:pt x="2077306" y="1997576"/>
                      <a:pt x="2246138" y="2166408"/>
                      <a:pt x="2246138" y="2374673"/>
                    </a:cubicBezTo>
                    <a:cubicBezTo>
                      <a:pt x="2246138" y="2582938"/>
                      <a:pt x="2077306" y="2751770"/>
                      <a:pt x="1869041" y="2751770"/>
                    </a:cubicBezTo>
                    <a:cubicBezTo>
                      <a:pt x="1660776" y="2751770"/>
                      <a:pt x="1491944" y="2582938"/>
                      <a:pt x="1491944" y="2374673"/>
                    </a:cubicBezTo>
                    <a:cubicBezTo>
                      <a:pt x="1491944" y="2166408"/>
                      <a:pt x="1660776" y="1997576"/>
                      <a:pt x="1869041" y="1997576"/>
                    </a:cubicBezTo>
                    <a:close/>
                    <a:moveTo>
                      <a:pt x="1858846" y="1306247"/>
                    </a:moveTo>
                    <a:cubicBezTo>
                      <a:pt x="2165924" y="1301758"/>
                      <a:pt x="2404940" y="1399722"/>
                      <a:pt x="2645621" y="1504218"/>
                    </a:cubicBezTo>
                    <a:cubicBezTo>
                      <a:pt x="2813424" y="1597955"/>
                      <a:pt x="2823993" y="1678797"/>
                      <a:pt x="2795575" y="1757331"/>
                    </a:cubicBezTo>
                    <a:cubicBezTo>
                      <a:pt x="2761471" y="1842158"/>
                      <a:pt x="2685239" y="1908552"/>
                      <a:pt x="2539052" y="1841672"/>
                    </a:cubicBezTo>
                    <a:cubicBezTo>
                      <a:pt x="2347207" y="1684231"/>
                      <a:pt x="1733351" y="1556050"/>
                      <a:pt x="1353947" y="1778974"/>
                    </a:cubicBezTo>
                    <a:cubicBezTo>
                      <a:pt x="1250080" y="1855218"/>
                      <a:pt x="1037749" y="1915097"/>
                      <a:pt x="982333" y="1780833"/>
                    </a:cubicBezTo>
                    <a:cubicBezTo>
                      <a:pt x="968480" y="1736637"/>
                      <a:pt x="963386" y="1699601"/>
                      <a:pt x="966756" y="1667407"/>
                    </a:cubicBezTo>
                    <a:cubicBezTo>
                      <a:pt x="976866" y="1570822"/>
                      <a:pt x="1063141" y="1517802"/>
                      <a:pt x="1217540" y="1445700"/>
                    </a:cubicBezTo>
                    <a:cubicBezTo>
                      <a:pt x="1465851" y="1348519"/>
                      <a:pt x="1674601" y="1308942"/>
                      <a:pt x="1858846" y="1306247"/>
                    </a:cubicBezTo>
                    <a:close/>
                    <a:moveTo>
                      <a:pt x="1828129" y="650059"/>
                    </a:moveTo>
                    <a:cubicBezTo>
                      <a:pt x="2445754" y="646836"/>
                      <a:pt x="2937662" y="894034"/>
                      <a:pt x="3108200" y="1008980"/>
                    </a:cubicBezTo>
                    <a:cubicBezTo>
                      <a:pt x="3228810" y="1075858"/>
                      <a:pt x="3343409" y="1171509"/>
                      <a:pt x="3258155" y="1319033"/>
                    </a:cubicBezTo>
                    <a:cubicBezTo>
                      <a:pt x="3134282" y="1435449"/>
                      <a:pt x="3057301" y="1393031"/>
                      <a:pt x="2937692" y="1304637"/>
                    </a:cubicBezTo>
                    <a:cubicBezTo>
                      <a:pt x="2647778" y="1191783"/>
                      <a:pt x="2008321" y="619142"/>
                      <a:pt x="763561" y="1325535"/>
                    </a:cubicBezTo>
                    <a:cubicBezTo>
                      <a:pt x="621636" y="1425852"/>
                      <a:pt x="511304" y="1376178"/>
                      <a:pt x="464412" y="1278813"/>
                    </a:cubicBezTo>
                    <a:cubicBezTo>
                      <a:pt x="452398" y="1252494"/>
                      <a:pt x="448110" y="1227223"/>
                      <a:pt x="450482" y="1202928"/>
                    </a:cubicBezTo>
                    <a:cubicBezTo>
                      <a:pt x="457599" y="1130049"/>
                      <a:pt x="524660" y="1065987"/>
                      <a:pt x="622892" y="1008979"/>
                    </a:cubicBezTo>
                    <a:cubicBezTo>
                      <a:pt x="1041721" y="744082"/>
                      <a:pt x="1457554" y="651995"/>
                      <a:pt x="1828129" y="650059"/>
                    </a:cubicBezTo>
                    <a:close/>
                    <a:moveTo>
                      <a:pt x="1764313" y="591"/>
                    </a:moveTo>
                    <a:cubicBezTo>
                      <a:pt x="2430887" y="-13278"/>
                      <a:pt x="3056659" y="218017"/>
                      <a:pt x="3559697" y="547180"/>
                    </a:cubicBezTo>
                    <a:cubicBezTo>
                      <a:pt x="3671781" y="597338"/>
                      <a:pt x="3794905" y="759863"/>
                      <a:pt x="3709650" y="882310"/>
                    </a:cubicBezTo>
                    <a:cubicBezTo>
                      <a:pt x="3594303" y="984791"/>
                      <a:pt x="3449118" y="907547"/>
                      <a:pt x="3367875" y="834477"/>
                    </a:cubicBezTo>
                    <a:cubicBezTo>
                      <a:pt x="3193985" y="725799"/>
                      <a:pt x="1920315" y="-235561"/>
                      <a:pt x="318417" y="884635"/>
                    </a:cubicBezTo>
                    <a:cubicBezTo>
                      <a:pt x="189280" y="993311"/>
                      <a:pt x="70419" y="922739"/>
                      <a:pt x="19267" y="846272"/>
                    </a:cubicBezTo>
                    <a:cubicBezTo>
                      <a:pt x="4410" y="817516"/>
                      <a:pt x="-1388" y="788500"/>
                      <a:pt x="275" y="760137"/>
                    </a:cubicBezTo>
                    <a:cubicBezTo>
                      <a:pt x="5260" y="675044"/>
                      <a:pt x="77384" y="595829"/>
                      <a:pt x="173484" y="547180"/>
                    </a:cubicBezTo>
                    <a:cubicBezTo>
                      <a:pt x="702741" y="170471"/>
                      <a:pt x="1245868" y="11376"/>
                      <a:pt x="1764313" y="591"/>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14" name="Subtitle 2">
              <a:extLst>
                <a:ext uri="{FF2B5EF4-FFF2-40B4-BE49-F238E27FC236}">
                  <a16:creationId xmlns:a16="http://schemas.microsoft.com/office/drawing/2014/main" id="{53858C97-DA2F-8866-47CC-CDF4077BBF9D}"/>
                </a:ext>
              </a:extLst>
            </p:cNvPr>
            <p:cNvSpPr txBox="1">
              <a:spLocks/>
            </p:cNvSpPr>
            <p:nvPr/>
          </p:nvSpPr>
          <p:spPr>
            <a:xfrm>
              <a:off x="1727403" y="1099395"/>
              <a:ext cx="729275" cy="203382"/>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smtClean="0">
                  <a:solidFill>
                    <a:srgbClr val="7030A0"/>
                  </a:solidFill>
                </a:rPr>
                <a:t>PDS</a:t>
              </a:r>
              <a:endParaRPr lang="en-US" sz="1600" dirty="0">
                <a:solidFill>
                  <a:srgbClr val="7030A0"/>
                </a:solidFill>
              </a:endParaRPr>
            </a:p>
          </p:txBody>
        </p:sp>
        <p:sp>
          <p:nvSpPr>
            <p:cNvPr id="17" name="Title 4">
              <a:extLst>
                <a:ext uri="{FF2B5EF4-FFF2-40B4-BE49-F238E27FC236}">
                  <a16:creationId xmlns:a16="http://schemas.microsoft.com/office/drawing/2014/main" id="{27228BAE-048B-681E-DD8D-BD96B22560E0}"/>
                </a:ext>
              </a:extLst>
            </p:cNvPr>
            <p:cNvSpPr txBox="1">
              <a:spLocks/>
            </p:cNvSpPr>
            <p:nvPr/>
          </p:nvSpPr>
          <p:spPr>
            <a:xfrm>
              <a:off x="788714" y="1452073"/>
              <a:ext cx="938689" cy="470538"/>
            </a:xfrm>
            <a:prstGeom prst="rect">
              <a:avLst/>
            </a:prstGeom>
            <a:solidFill>
              <a:schemeClr val="bg1"/>
            </a:solidFill>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2800" dirty="0" smtClean="0">
                  <a:solidFill>
                    <a:schemeClr val="accent5">
                      <a:lumMod val="50000"/>
                    </a:schemeClr>
                  </a:solidFill>
                </a:rPr>
                <a:t>SDN</a:t>
              </a:r>
              <a:endParaRPr lang="en-US" sz="2800" dirty="0">
                <a:solidFill>
                  <a:schemeClr val="accent5">
                    <a:lumMod val="50000"/>
                  </a:schemeClr>
                </a:solidFill>
              </a:endParaRPr>
            </a:p>
          </p:txBody>
        </p:sp>
        <p:sp>
          <p:nvSpPr>
            <p:cNvPr id="18" name="Title 4">
              <a:extLst>
                <a:ext uri="{FF2B5EF4-FFF2-40B4-BE49-F238E27FC236}">
                  <a16:creationId xmlns:a16="http://schemas.microsoft.com/office/drawing/2014/main" id="{27228BAE-048B-681E-DD8D-BD96B22560E0}"/>
                </a:ext>
              </a:extLst>
            </p:cNvPr>
            <p:cNvSpPr txBox="1">
              <a:spLocks/>
            </p:cNvSpPr>
            <p:nvPr/>
          </p:nvSpPr>
          <p:spPr>
            <a:xfrm>
              <a:off x="1449719" y="1352665"/>
              <a:ext cx="928870" cy="581223"/>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2800" dirty="0" smtClean="0">
                  <a:solidFill>
                    <a:schemeClr val="accent1">
                      <a:lumMod val="75000"/>
                    </a:schemeClr>
                  </a:solidFill>
                </a:rPr>
                <a:t>NFV</a:t>
              </a:r>
              <a:endParaRPr lang="en-US" sz="2800" dirty="0">
                <a:solidFill>
                  <a:schemeClr val="accent1">
                    <a:lumMod val="75000"/>
                  </a:schemeClr>
                </a:solidFill>
              </a:endParaRPr>
            </a:p>
          </p:txBody>
        </p:sp>
      </p:grpSp>
      <p:sp>
        <p:nvSpPr>
          <p:cNvPr id="22" name="Rectangle 21"/>
          <p:cNvSpPr/>
          <p:nvPr/>
        </p:nvSpPr>
        <p:spPr>
          <a:xfrm>
            <a:off x="9507866" y="6056142"/>
            <a:ext cx="2613761" cy="230832"/>
          </a:xfrm>
          <a:prstGeom prst="rect">
            <a:avLst/>
          </a:prstGeom>
        </p:spPr>
        <p:txBody>
          <a:bodyPr wrap="square">
            <a:spAutoFit/>
          </a:bodyPr>
          <a:lstStyle/>
          <a:p>
            <a:r>
              <a:rPr lang="en-US" sz="900" dirty="0"/>
              <a:t>https://www.youtube.com/@AmelOline/videos</a:t>
            </a:r>
          </a:p>
        </p:txBody>
      </p:sp>
      <p:sp>
        <p:nvSpPr>
          <p:cNvPr id="23" name="Rectangle 22"/>
          <p:cNvSpPr/>
          <p:nvPr/>
        </p:nvSpPr>
        <p:spPr>
          <a:xfrm>
            <a:off x="10344774" y="5917643"/>
            <a:ext cx="1623448" cy="230832"/>
          </a:xfrm>
          <a:prstGeom prst="rect">
            <a:avLst/>
          </a:prstGeom>
        </p:spPr>
        <p:txBody>
          <a:bodyPr wrap="square">
            <a:spAutoFit/>
          </a:bodyPr>
          <a:lstStyle/>
          <a:p>
            <a:r>
              <a:rPr lang="en-US" sz="900" dirty="0"/>
              <a:t>https://github.com/siagianp</a:t>
            </a:r>
          </a:p>
        </p:txBody>
      </p:sp>
      <p:sp>
        <p:nvSpPr>
          <p:cNvPr id="24" name="Rectangle 23"/>
          <p:cNvSpPr/>
          <p:nvPr/>
        </p:nvSpPr>
        <p:spPr>
          <a:xfrm>
            <a:off x="8531473" y="6194642"/>
            <a:ext cx="3667194" cy="230832"/>
          </a:xfrm>
          <a:prstGeom prst="rect">
            <a:avLst/>
          </a:prstGeom>
        </p:spPr>
        <p:txBody>
          <a:bodyPr wrap="square">
            <a:spAutoFit/>
          </a:bodyPr>
          <a:lstStyle/>
          <a:p>
            <a:r>
              <a:rPr lang="en-US" sz="900" dirty="0"/>
              <a:t>https://github.com/amelcharolinesgn2/IoT_simulator-mqtt-NodeRed</a:t>
            </a:r>
          </a:p>
        </p:txBody>
      </p:sp>
      <p:sp>
        <p:nvSpPr>
          <p:cNvPr id="25" name="Rectangle 24"/>
          <p:cNvSpPr/>
          <p:nvPr/>
        </p:nvSpPr>
        <p:spPr>
          <a:xfrm>
            <a:off x="8977163" y="6333141"/>
            <a:ext cx="3204723" cy="230832"/>
          </a:xfrm>
          <a:prstGeom prst="rect">
            <a:avLst/>
          </a:prstGeom>
        </p:spPr>
        <p:txBody>
          <a:bodyPr wrap="none">
            <a:spAutoFit/>
          </a:bodyPr>
          <a:lstStyle/>
          <a:p>
            <a:r>
              <a:rPr lang="en-US" sz="900" dirty="0"/>
              <a:t>https://github.com/amelcharolinesgn2/Cloud-Infrastructures</a:t>
            </a:r>
          </a:p>
        </p:txBody>
      </p:sp>
      <p:sp>
        <p:nvSpPr>
          <p:cNvPr id="26" name="Rectangle 25"/>
          <p:cNvSpPr/>
          <p:nvPr/>
        </p:nvSpPr>
        <p:spPr>
          <a:xfrm>
            <a:off x="8444566" y="6506265"/>
            <a:ext cx="3839513" cy="230832"/>
          </a:xfrm>
          <a:prstGeom prst="rect">
            <a:avLst/>
          </a:prstGeom>
        </p:spPr>
        <p:txBody>
          <a:bodyPr wrap="none">
            <a:spAutoFit/>
          </a:bodyPr>
          <a:lstStyle/>
          <a:p>
            <a:r>
              <a:rPr lang="en-US" sz="900" dirty="0"/>
              <a:t>https://github.com/amelcharolinesgn2/ClouD-Infrastructure-SISKA-2025</a:t>
            </a:r>
          </a:p>
        </p:txBody>
      </p:sp>
      <p:graphicFrame>
        <p:nvGraphicFramePr>
          <p:cNvPr id="21" name="Diagram 20"/>
          <p:cNvGraphicFramePr/>
          <p:nvPr>
            <p:extLst>
              <p:ext uri="{D42A27DB-BD31-4B8C-83A1-F6EECF244321}">
                <p14:modId xmlns:p14="http://schemas.microsoft.com/office/powerpoint/2010/main" val="2615585517"/>
              </p:ext>
            </p:extLst>
          </p:nvPr>
        </p:nvGraphicFramePr>
        <p:xfrm>
          <a:off x="2063477" y="3512270"/>
          <a:ext cx="8712579" cy="91439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7" name="Pie 26"/>
          <p:cNvSpPr/>
          <p:nvPr/>
        </p:nvSpPr>
        <p:spPr>
          <a:xfrm rot="10600249">
            <a:off x="10357547" y="3493547"/>
            <a:ext cx="914399" cy="914399"/>
          </a:xfrm>
          <a:prstGeom prst="pie">
            <a:avLst>
              <a:gd name="adj1" fmla="val 5400000"/>
              <a:gd name="adj2" fmla="val 16200000"/>
            </a:avLst>
          </a:prstGeom>
          <a:solidFill>
            <a:schemeClr val="accent2"/>
          </a:solidFill>
          <a:ln/>
        </p:spPr>
        <p:style>
          <a:lnRef idx="2">
            <a:schemeClr val="accent2"/>
          </a:lnRef>
          <a:fillRef idx="1">
            <a:schemeClr val="lt1"/>
          </a:fillRef>
          <a:effectRef idx="0">
            <a:schemeClr val="accent2"/>
          </a:effectRef>
          <a:fontRef idx="minor">
            <a:schemeClr val="dk1"/>
          </a:fontRef>
        </p:style>
      </p:sp>
    </p:spTree>
    <p:extLst>
      <p:ext uri="{BB962C8B-B14F-4D97-AF65-F5344CB8AC3E}">
        <p14:creationId xmlns:p14="http://schemas.microsoft.com/office/powerpoint/2010/main" val="386400268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985838" y="2063750"/>
            <a:ext cx="10515600" cy="1325563"/>
          </a:xfrm>
        </p:spPr>
        <p:txBody>
          <a:bodyPr/>
          <a:lstStyle/>
          <a:p>
            <a:r>
              <a:rPr lang="en-US" dirty="0"/>
              <a:t>What is a </a:t>
            </a:r>
            <a:r>
              <a:rPr lang="en-US" dirty="0" smtClean="0"/>
              <a:t>O</a:t>
            </a:r>
            <a:r>
              <a:rPr lang="en-US" b="1" dirty="0" smtClean="0"/>
              <a:t>P-AMP</a:t>
            </a:r>
            <a:r>
              <a:rPr lang="en-US" dirty="0" smtClean="0"/>
              <a:t>?</a:t>
            </a:r>
            <a:endParaRPr lang="en-US" dirty="0"/>
          </a:p>
        </p:txBody>
      </p:sp>
      <p:sp>
        <p:nvSpPr>
          <p:cNvPr id="2" name="Rectangle 1"/>
          <p:cNvSpPr/>
          <p:nvPr/>
        </p:nvSpPr>
        <p:spPr>
          <a:xfrm>
            <a:off x="182107" y="6265327"/>
            <a:ext cx="6061531" cy="369332"/>
          </a:xfrm>
          <a:prstGeom prst="rect">
            <a:avLst/>
          </a:prstGeom>
        </p:spPr>
        <p:txBody>
          <a:bodyPr wrap="none">
            <a:spAutoFit/>
          </a:bodyPr>
          <a:lstStyle/>
          <a:p>
            <a:r>
              <a:rPr lang="en-US" dirty="0"/>
              <a:t>http://www.sophphx.caltech.edu/Physics_5/Experiment_6.pdf</a:t>
            </a:r>
          </a:p>
        </p:txBody>
      </p:sp>
      <p:sp>
        <p:nvSpPr>
          <p:cNvPr id="3" name="Rectangle 2"/>
          <p:cNvSpPr/>
          <p:nvPr/>
        </p:nvSpPr>
        <p:spPr>
          <a:xfrm>
            <a:off x="182107" y="5710139"/>
            <a:ext cx="6096000" cy="646331"/>
          </a:xfrm>
          <a:prstGeom prst="rect">
            <a:avLst/>
          </a:prstGeom>
        </p:spPr>
        <p:txBody>
          <a:bodyPr>
            <a:spAutoFit/>
          </a:bodyPr>
          <a:lstStyle/>
          <a:p>
            <a:r>
              <a:rPr lang="en-US" dirty="0"/>
              <a:t>https://github.com/kubi48/TransistorTester-documentation/tree/main/Hardware</a:t>
            </a:r>
          </a:p>
        </p:txBody>
      </p:sp>
      <p:sp>
        <p:nvSpPr>
          <p:cNvPr id="5" name="Rectangle 4"/>
          <p:cNvSpPr/>
          <p:nvPr/>
        </p:nvSpPr>
        <p:spPr>
          <a:xfrm>
            <a:off x="147637" y="6449993"/>
            <a:ext cx="7734721" cy="369332"/>
          </a:xfrm>
          <a:prstGeom prst="rect">
            <a:avLst/>
          </a:prstGeom>
        </p:spPr>
        <p:txBody>
          <a:bodyPr wrap="square">
            <a:spAutoFit/>
          </a:bodyPr>
          <a:lstStyle/>
          <a:p>
            <a:r>
              <a:rPr lang="en-US" dirty="0"/>
              <a:t>https://picture.iczhiku.com/resource/eetop/wHItawhWooqyiXBm.pdf</a:t>
            </a:r>
          </a:p>
        </p:txBody>
      </p:sp>
    </p:spTree>
    <p:extLst>
      <p:ext uri="{BB962C8B-B14F-4D97-AF65-F5344CB8AC3E}">
        <p14:creationId xmlns:p14="http://schemas.microsoft.com/office/powerpoint/2010/main" val="315965150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Operasional</a:t>
            </a:r>
            <a:r>
              <a:rPr lang="en-US" dirty="0" smtClean="0"/>
              <a:t> Amplifier (OP-AMP)</a:t>
            </a:r>
            <a:endParaRPr lang="en-US" dirty="0"/>
          </a:p>
        </p:txBody>
      </p:sp>
      <p:sp>
        <p:nvSpPr>
          <p:cNvPr id="3" name="Content Placeholder 2"/>
          <p:cNvSpPr>
            <a:spLocks noGrp="1"/>
          </p:cNvSpPr>
          <p:nvPr>
            <p:ph sz="quarter" idx="1"/>
          </p:nvPr>
        </p:nvSpPr>
        <p:spPr/>
        <p:txBody>
          <a:bodyPr/>
          <a:lstStyle/>
          <a:p>
            <a:r>
              <a:rPr lang="en-US" dirty="0" err="1"/>
              <a:t>Operasi</a:t>
            </a:r>
            <a:r>
              <a:rPr lang="en-US" dirty="0"/>
              <a:t> Amplifier </a:t>
            </a:r>
            <a:r>
              <a:rPr lang="en-US" dirty="0" err="1"/>
              <a:t>adalah</a:t>
            </a:r>
            <a:r>
              <a:rPr lang="en-US" dirty="0"/>
              <a:t> </a:t>
            </a:r>
            <a:r>
              <a:rPr lang="en-US" dirty="0" err="1"/>
              <a:t>suatu</a:t>
            </a:r>
            <a:r>
              <a:rPr lang="en-US" dirty="0"/>
              <a:t> </a:t>
            </a:r>
            <a:r>
              <a:rPr lang="en-US" dirty="0" err="1"/>
              <a:t>penguat</a:t>
            </a:r>
            <a:r>
              <a:rPr lang="en-US" dirty="0"/>
              <a:t> linier </a:t>
            </a:r>
            <a:r>
              <a:rPr lang="en-US" dirty="0" err="1"/>
              <a:t>dengan</a:t>
            </a:r>
            <a:r>
              <a:rPr lang="en-US" dirty="0"/>
              <a:t> </a:t>
            </a:r>
            <a:r>
              <a:rPr lang="en-US" dirty="0" err="1"/>
              <a:t>penguatan</a:t>
            </a:r>
            <a:r>
              <a:rPr lang="en-US" dirty="0"/>
              <a:t> </a:t>
            </a:r>
            <a:r>
              <a:rPr lang="en-US" dirty="0" err="1"/>
              <a:t>tinggi</a:t>
            </a:r>
            <a:r>
              <a:rPr lang="en-US" dirty="0" smtClean="0"/>
              <a:t>.</a:t>
            </a:r>
          </a:p>
          <a:p>
            <a:endParaRPr lang="en-US" dirty="0"/>
          </a:p>
          <a:p>
            <a:endParaRPr lang="en-US" dirty="0"/>
          </a:p>
        </p:txBody>
      </p:sp>
      <p:sp>
        <p:nvSpPr>
          <p:cNvPr id="6" name="Slide Number Placeholder 5"/>
          <p:cNvSpPr>
            <a:spLocks noGrp="1"/>
          </p:cNvSpPr>
          <p:nvPr>
            <p:ph type="sldNum" sz="quarter" idx="12"/>
          </p:nvPr>
        </p:nvSpPr>
        <p:spPr/>
        <p:txBody>
          <a:bodyPr>
            <a:normAutofit/>
          </a:bodyPr>
          <a:lstStyle/>
          <a:p>
            <a:fld id="{30FF78D7-7CA0-44FD-8733-19F49D683D81}" type="slidenum">
              <a:rPr lang="en-US" smtClean="0"/>
              <a:pPr/>
              <a:t>3</a:t>
            </a:fld>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67401" y="2833932"/>
            <a:ext cx="4105275" cy="31858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2769" name="Picture 1"/>
          <p:cNvPicPr>
            <a:picLocks noChangeAspect="1" noChangeArrowheads="1"/>
          </p:cNvPicPr>
          <p:nvPr/>
        </p:nvPicPr>
        <p:blipFill>
          <a:blip r:embed="rId3"/>
          <a:srcRect/>
          <a:stretch>
            <a:fillRect/>
          </a:stretch>
        </p:blipFill>
        <p:spPr bwMode="auto">
          <a:xfrm>
            <a:off x="2667000" y="3124200"/>
            <a:ext cx="2667000" cy="2584302"/>
          </a:xfrm>
          <a:prstGeom prst="rect">
            <a:avLst/>
          </a:prstGeom>
          <a:noFill/>
          <a:ln w="9525">
            <a:noFill/>
            <a:miter lim="800000"/>
            <a:headEnd/>
            <a:tailEnd/>
          </a:ln>
          <a:effectLst/>
        </p:spPr>
      </p:pic>
    </p:spTree>
    <p:extLst>
      <p:ext uri="{BB962C8B-B14F-4D97-AF65-F5344CB8AC3E}">
        <p14:creationId xmlns:p14="http://schemas.microsoft.com/office/powerpoint/2010/main" val="130041853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Rot="1" noChangeArrowheads="1"/>
          </p:cNvSpPr>
          <p:nvPr>
            <p:ph type="title"/>
          </p:nvPr>
        </p:nvSpPr>
        <p:spPr/>
        <p:txBody>
          <a:bodyPr/>
          <a:lstStyle/>
          <a:p>
            <a:r>
              <a:rPr lang="en-US"/>
              <a:t>Simbol</a:t>
            </a:r>
          </a:p>
        </p:txBody>
      </p:sp>
      <p:sp>
        <p:nvSpPr>
          <p:cNvPr id="14339" name="Rectangle 3"/>
          <p:cNvSpPr>
            <a:spLocks noGrp="1" noChangeArrowheads="1"/>
          </p:cNvSpPr>
          <p:nvPr>
            <p:ph type="body" idx="1"/>
          </p:nvPr>
        </p:nvSpPr>
        <p:spPr>
          <a:xfrm>
            <a:off x="1981200" y="3581401"/>
            <a:ext cx="8229600" cy="2544763"/>
          </a:xfrm>
        </p:spPr>
        <p:txBody>
          <a:bodyPr>
            <a:normAutofit/>
          </a:bodyPr>
          <a:lstStyle/>
          <a:p>
            <a:r>
              <a:rPr lang="en-US" dirty="0">
                <a:effectLst/>
              </a:rPr>
              <a:t>Terminal-terminal </a:t>
            </a:r>
            <a:r>
              <a:rPr lang="en-US" dirty="0" err="1">
                <a:effectLst/>
              </a:rPr>
              <a:t>luar</a:t>
            </a:r>
            <a:r>
              <a:rPr lang="en-US" dirty="0">
                <a:effectLst/>
              </a:rPr>
              <a:t> di </a:t>
            </a:r>
            <a:r>
              <a:rPr lang="en-US" dirty="0" err="1">
                <a:effectLst/>
              </a:rPr>
              <a:t>samping</a:t>
            </a:r>
            <a:r>
              <a:rPr lang="en-US" dirty="0">
                <a:effectLst/>
              </a:rPr>
              <a:t> power supply ( ±</a:t>
            </a:r>
            <a:r>
              <a:rPr lang="en-US" dirty="0" err="1">
                <a:effectLst/>
              </a:rPr>
              <a:t>Vcc</a:t>
            </a:r>
            <a:r>
              <a:rPr lang="en-US" dirty="0">
                <a:effectLst/>
              </a:rPr>
              <a:t>) </a:t>
            </a:r>
            <a:r>
              <a:rPr lang="en-US" dirty="0" err="1">
                <a:effectLst/>
              </a:rPr>
              <a:t>adalah</a:t>
            </a:r>
            <a:r>
              <a:rPr lang="en-US" dirty="0">
                <a:effectLst/>
              </a:rPr>
              <a:t> </a:t>
            </a:r>
            <a:r>
              <a:rPr lang="en-US" dirty="0" err="1">
                <a:effectLst/>
              </a:rPr>
              <a:t>dua</a:t>
            </a:r>
            <a:r>
              <a:rPr lang="en-US" dirty="0">
                <a:effectLst/>
              </a:rPr>
              <a:t> input </a:t>
            </a:r>
            <a:r>
              <a:rPr lang="en-US" i="1" dirty="0">
                <a:effectLst/>
              </a:rPr>
              <a:t>v</a:t>
            </a:r>
            <a:r>
              <a:rPr lang="en-US" i="1" baseline="-25000" dirty="0">
                <a:effectLst/>
              </a:rPr>
              <a:t>i1</a:t>
            </a:r>
            <a:r>
              <a:rPr lang="en-US" baseline="-25000" dirty="0">
                <a:effectLst/>
              </a:rPr>
              <a:t> </a:t>
            </a:r>
            <a:r>
              <a:rPr lang="en-US" dirty="0" err="1">
                <a:effectLst/>
              </a:rPr>
              <a:t>dan</a:t>
            </a:r>
            <a:r>
              <a:rPr lang="en-US" dirty="0">
                <a:effectLst/>
              </a:rPr>
              <a:t> </a:t>
            </a:r>
            <a:r>
              <a:rPr lang="en-US" i="1" dirty="0">
                <a:effectLst/>
              </a:rPr>
              <a:t>v</a:t>
            </a:r>
            <a:r>
              <a:rPr lang="en-US" i="1" baseline="-25000" dirty="0">
                <a:effectLst/>
              </a:rPr>
              <a:t>i2</a:t>
            </a:r>
            <a:r>
              <a:rPr lang="en-US" i="1" dirty="0">
                <a:effectLst/>
              </a:rPr>
              <a:t> </a:t>
            </a:r>
            <a:r>
              <a:rPr lang="en-US" dirty="0" err="1">
                <a:effectLst/>
              </a:rPr>
              <a:t>serta</a:t>
            </a:r>
            <a:r>
              <a:rPr lang="en-US" dirty="0">
                <a:effectLst/>
              </a:rPr>
              <a:t> terminal </a:t>
            </a:r>
            <a:r>
              <a:rPr lang="en-US" dirty="0" err="1">
                <a:effectLst/>
              </a:rPr>
              <a:t>keluran</a:t>
            </a:r>
            <a:r>
              <a:rPr lang="en-US" dirty="0">
                <a:effectLst/>
              </a:rPr>
              <a:t> </a:t>
            </a:r>
            <a:r>
              <a:rPr lang="en-US" i="1" dirty="0" err="1">
                <a:effectLst/>
              </a:rPr>
              <a:t>v</a:t>
            </a:r>
            <a:r>
              <a:rPr lang="en-US" i="1" baseline="-25000" dirty="0" err="1">
                <a:effectLst/>
              </a:rPr>
              <a:t>out</a:t>
            </a:r>
            <a:r>
              <a:rPr lang="en-US" dirty="0">
                <a:effectLst/>
              </a:rPr>
              <a:t>. </a:t>
            </a:r>
            <a:endParaRPr lang="en-US" dirty="0" smtClean="0">
              <a:effectLst/>
            </a:endParaRPr>
          </a:p>
          <a:p>
            <a:r>
              <a:rPr lang="en-US" dirty="0" err="1" smtClean="0"/>
              <a:t>Aplikasi</a:t>
            </a:r>
            <a:r>
              <a:rPr lang="en-US" dirty="0" smtClean="0"/>
              <a:t> op-amp yang paling </a:t>
            </a:r>
            <a:r>
              <a:rPr lang="en-US" dirty="0" err="1" smtClean="0"/>
              <a:t>sering</a:t>
            </a:r>
            <a:r>
              <a:rPr lang="en-US" dirty="0" smtClean="0"/>
              <a:t> </a:t>
            </a:r>
            <a:r>
              <a:rPr lang="en-US" dirty="0" err="1" smtClean="0"/>
              <a:t>dipakai</a:t>
            </a:r>
            <a:r>
              <a:rPr lang="en-US" dirty="0" smtClean="0"/>
              <a:t> </a:t>
            </a:r>
            <a:r>
              <a:rPr lang="en-US" dirty="0" err="1" smtClean="0"/>
              <a:t>antara</a:t>
            </a:r>
            <a:r>
              <a:rPr lang="en-US" dirty="0" smtClean="0"/>
              <a:t> lain </a:t>
            </a:r>
            <a:r>
              <a:rPr lang="en-US" dirty="0" err="1" smtClean="0"/>
              <a:t>adalah</a:t>
            </a:r>
            <a:r>
              <a:rPr lang="en-US" dirty="0" smtClean="0"/>
              <a:t> </a:t>
            </a:r>
            <a:r>
              <a:rPr lang="en-US" dirty="0" err="1" smtClean="0"/>
              <a:t>rangkaian</a:t>
            </a:r>
            <a:r>
              <a:rPr lang="en-US" dirty="0" smtClean="0"/>
              <a:t> inverter, non-inverter, integrator </a:t>
            </a:r>
            <a:r>
              <a:rPr lang="en-US" dirty="0" err="1" smtClean="0"/>
              <a:t>dan</a:t>
            </a:r>
            <a:r>
              <a:rPr lang="en-US" dirty="0" smtClean="0"/>
              <a:t> </a:t>
            </a:r>
            <a:r>
              <a:rPr lang="en-US" dirty="0" err="1" smtClean="0"/>
              <a:t>differensiator</a:t>
            </a:r>
            <a:r>
              <a:rPr lang="en-US" dirty="0" smtClean="0"/>
              <a:t>.</a:t>
            </a:r>
            <a:endParaRPr lang="en-US" dirty="0" smtClean="0">
              <a:effectLst/>
            </a:endParaRPr>
          </a:p>
          <a:p>
            <a:endParaRPr lang="en-US" dirty="0"/>
          </a:p>
        </p:txBody>
      </p:sp>
      <p:pic>
        <p:nvPicPr>
          <p:cNvPr id="1434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4200" y="1676401"/>
            <a:ext cx="2667000" cy="1539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34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3200" y="1676400"/>
            <a:ext cx="2362200" cy="1455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Slide Number Placeholder 3"/>
          <p:cNvSpPr>
            <a:spLocks noGrp="1"/>
          </p:cNvSpPr>
          <p:nvPr>
            <p:ph type="sldNum" sz="quarter" idx="12"/>
          </p:nvPr>
        </p:nvSpPr>
        <p:spPr/>
        <p:txBody>
          <a:bodyPr>
            <a:normAutofit/>
          </a:bodyPr>
          <a:lstStyle/>
          <a:p>
            <a:fld id="{30FF78D7-7CA0-44FD-8733-19F49D683D81}" type="slidenum">
              <a:rPr lang="en-US" smtClean="0"/>
              <a:pPr/>
              <a:t>4</a:t>
            </a:fld>
            <a:endParaRPr lang="en-US"/>
          </a:p>
        </p:txBody>
      </p:sp>
    </p:spTree>
    <p:extLst>
      <p:ext uri="{BB962C8B-B14F-4D97-AF65-F5344CB8AC3E}">
        <p14:creationId xmlns:p14="http://schemas.microsoft.com/office/powerpoint/2010/main" val="371253598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Karakteristik</a:t>
            </a:r>
            <a:endParaRPr lang="en-US" dirty="0"/>
          </a:p>
        </p:txBody>
      </p:sp>
      <p:sp>
        <p:nvSpPr>
          <p:cNvPr id="5" name="Slide Number Placeholder 4"/>
          <p:cNvSpPr>
            <a:spLocks noGrp="1"/>
          </p:cNvSpPr>
          <p:nvPr>
            <p:ph type="sldNum" sz="quarter" idx="12"/>
          </p:nvPr>
        </p:nvSpPr>
        <p:spPr/>
        <p:txBody>
          <a:bodyPr>
            <a:normAutofit/>
          </a:bodyPr>
          <a:lstStyle/>
          <a:p>
            <a:fld id="{30FF78D7-7CA0-44FD-8733-19F49D683D81}" type="slidenum">
              <a:rPr lang="en-US" smtClean="0"/>
              <a:pPr/>
              <a:t>5</a:t>
            </a:fld>
            <a:endParaRPr lang="en-US"/>
          </a:p>
        </p:txBody>
      </p:sp>
      <p:sp>
        <p:nvSpPr>
          <p:cNvPr id="6" name="Content Placeholder 5"/>
          <p:cNvSpPr>
            <a:spLocks noGrp="1"/>
          </p:cNvSpPr>
          <p:nvPr>
            <p:ph sz="quarter" idx="1"/>
          </p:nvPr>
        </p:nvSpPr>
        <p:spPr/>
        <p:txBody>
          <a:bodyPr>
            <a:normAutofit fontScale="92500" lnSpcReduction="20000"/>
          </a:bodyPr>
          <a:lstStyle/>
          <a:p>
            <a:r>
              <a:rPr lang="en-US" dirty="0" err="1"/>
              <a:t>Karakteristik</a:t>
            </a:r>
            <a:r>
              <a:rPr lang="en-US" dirty="0"/>
              <a:t> </a:t>
            </a:r>
            <a:r>
              <a:rPr lang="en-US" dirty="0" err="1"/>
              <a:t>utama</a:t>
            </a:r>
            <a:r>
              <a:rPr lang="en-US" dirty="0"/>
              <a:t> </a:t>
            </a:r>
            <a:r>
              <a:rPr lang="en-US" dirty="0" err="1"/>
              <a:t>sebuah</a:t>
            </a:r>
            <a:r>
              <a:rPr lang="en-US" dirty="0"/>
              <a:t> </a:t>
            </a:r>
            <a:r>
              <a:rPr lang="en-US" dirty="0" err="1"/>
              <a:t>penguat</a:t>
            </a:r>
            <a:r>
              <a:rPr lang="en-US" dirty="0"/>
              <a:t> </a:t>
            </a:r>
            <a:r>
              <a:rPr lang="en-US" dirty="0" err="1"/>
              <a:t>operasional</a:t>
            </a:r>
            <a:r>
              <a:rPr lang="en-US" dirty="0"/>
              <a:t> yang ideal </a:t>
            </a:r>
            <a:r>
              <a:rPr lang="en-US" dirty="0" err="1"/>
              <a:t>adalah</a:t>
            </a:r>
            <a:r>
              <a:rPr lang="en-US" dirty="0"/>
              <a:t> </a:t>
            </a:r>
            <a:r>
              <a:rPr lang="en-US" dirty="0" smtClean="0"/>
              <a:t>:</a:t>
            </a:r>
          </a:p>
          <a:p>
            <a:pPr marL="574675" indent="-398463" algn="just">
              <a:buFont typeface="+mj-lt"/>
              <a:buAutoNum type="arabicPeriod"/>
            </a:pPr>
            <a:r>
              <a:rPr lang="en-US" dirty="0" err="1" smtClean="0"/>
              <a:t>Impedansi</a:t>
            </a:r>
            <a:r>
              <a:rPr lang="en-US" dirty="0" smtClean="0"/>
              <a:t> </a:t>
            </a:r>
            <a:r>
              <a:rPr lang="en-US" dirty="0" err="1" smtClean="0"/>
              <a:t>masukan</a:t>
            </a:r>
            <a:r>
              <a:rPr lang="en-US" dirty="0" smtClean="0"/>
              <a:t> </a:t>
            </a:r>
            <a:r>
              <a:rPr lang="en-US" dirty="0" err="1" smtClean="0"/>
              <a:t>tak</a:t>
            </a:r>
            <a:r>
              <a:rPr lang="en-US" dirty="0" smtClean="0"/>
              <a:t> </a:t>
            </a:r>
            <a:r>
              <a:rPr lang="en-US" dirty="0" err="1" smtClean="0"/>
              <a:t>terhingga</a:t>
            </a:r>
            <a:r>
              <a:rPr lang="en-US" dirty="0" smtClean="0"/>
              <a:t>. </a:t>
            </a:r>
            <a:r>
              <a:rPr lang="en-US" dirty="0" err="1" smtClean="0"/>
              <a:t>Penguat</a:t>
            </a:r>
            <a:r>
              <a:rPr lang="en-US" dirty="0" smtClean="0"/>
              <a:t> yang ideal </a:t>
            </a:r>
            <a:r>
              <a:rPr lang="en-US" dirty="0" err="1" smtClean="0"/>
              <a:t>diharapkan</a:t>
            </a:r>
            <a:r>
              <a:rPr lang="en-US" dirty="0" smtClean="0"/>
              <a:t> </a:t>
            </a:r>
            <a:r>
              <a:rPr lang="en-US" dirty="0" err="1" smtClean="0"/>
              <a:t>tidak</a:t>
            </a:r>
            <a:r>
              <a:rPr lang="en-US" dirty="0" smtClean="0"/>
              <a:t> </a:t>
            </a:r>
            <a:r>
              <a:rPr lang="en-US" dirty="0" err="1" smtClean="0"/>
              <a:t>menarik</a:t>
            </a:r>
            <a:r>
              <a:rPr lang="en-US" dirty="0" smtClean="0"/>
              <a:t> </a:t>
            </a:r>
            <a:r>
              <a:rPr lang="en-US" dirty="0" err="1" smtClean="0"/>
              <a:t>arus</a:t>
            </a:r>
            <a:r>
              <a:rPr lang="en-US" dirty="0" smtClean="0"/>
              <a:t> </a:t>
            </a:r>
            <a:r>
              <a:rPr lang="en-US" dirty="0" err="1" smtClean="0"/>
              <a:t>masukan</a:t>
            </a:r>
            <a:r>
              <a:rPr lang="en-US" dirty="0" smtClean="0"/>
              <a:t>, </a:t>
            </a:r>
            <a:r>
              <a:rPr lang="en-US" dirty="0" err="1" smtClean="0"/>
              <a:t>artinya</a:t>
            </a:r>
            <a:r>
              <a:rPr lang="en-US" dirty="0" smtClean="0"/>
              <a:t> </a:t>
            </a:r>
            <a:r>
              <a:rPr lang="en-US" dirty="0" err="1" smtClean="0"/>
              <a:t>tidak</a:t>
            </a:r>
            <a:r>
              <a:rPr lang="en-US" dirty="0" smtClean="0"/>
              <a:t> </a:t>
            </a:r>
            <a:r>
              <a:rPr lang="en-US" dirty="0" err="1" smtClean="0"/>
              <a:t>ada</a:t>
            </a:r>
            <a:r>
              <a:rPr lang="en-US" dirty="0" smtClean="0"/>
              <a:t> </a:t>
            </a:r>
            <a:r>
              <a:rPr lang="en-US" dirty="0" err="1" smtClean="0"/>
              <a:t>arus</a:t>
            </a:r>
            <a:r>
              <a:rPr lang="en-US" dirty="0" smtClean="0"/>
              <a:t> yang </a:t>
            </a:r>
            <a:r>
              <a:rPr lang="en-US" dirty="0" err="1" smtClean="0"/>
              <a:t>masuk</a:t>
            </a:r>
            <a:r>
              <a:rPr lang="en-US" dirty="0" smtClean="0"/>
              <a:t> </a:t>
            </a:r>
            <a:r>
              <a:rPr lang="en-US" dirty="0" err="1" smtClean="0"/>
              <a:t>kedalam</a:t>
            </a:r>
            <a:r>
              <a:rPr lang="en-US" dirty="0" smtClean="0"/>
              <a:t> terminal 1 </a:t>
            </a:r>
            <a:r>
              <a:rPr lang="en-US" dirty="0" err="1" smtClean="0"/>
              <a:t>maupun</a:t>
            </a:r>
            <a:r>
              <a:rPr lang="en-US" dirty="0" smtClean="0"/>
              <a:t> 2 ( I1 =I2 = 0)</a:t>
            </a:r>
            <a:endParaRPr lang="en-US" dirty="0"/>
          </a:p>
          <a:p>
            <a:pPr marL="574675" indent="-398463" algn="just">
              <a:buFont typeface="+mj-lt"/>
              <a:buAutoNum type="arabicPeriod"/>
            </a:pPr>
            <a:r>
              <a:rPr lang="en-US" dirty="0" err="1" smtClean="0"/>
              <a:t>Impedansi</a:t>
            </a:r>
            <a:r>
              <a:rPr lang="en-US" dirty="0" smtClean="0"/>
              <a:t> </a:t>
            </a:r>
            <a:r>
              <a:rPr lang="en-US" dirty="0" err="1"/>
              <a:t>keluaran</a:t>
            </a:r>
            <a:r>
              <a:rPr lang="en-US" dirty="0"/>
              <a:t> </a:t>
            </a:r>
            <a:r>
              <a:rPr lang="en-US" dirty="0" err="1"/>
              <a:t>sama</a:t>
            </a:r>
            <a:r>
              <a:rPr lang="en-US" dirty="0"/>
              <a:t> </a:t>
            </a:r>
            <a:r>
              <a:rPr lang="en-US" dirty="0" err="1"/>
              <a:t>dengan</a:t>
            </a:r>
            <a:r>
              <a:rPr lang="en-US" dirty="0"/>
              <a:t> </a:t>
            </a:r>
            <a:r>
              <a:rPr lang="en-US" dirty="0" err="1"/>
              <a:t>nol</a:t>
            </a:r>
            <a:r>
              <a:rPr lang="en-US" dirty="0"/>
              <a:t> Terminal 3 </a:t>
            </a:r>
            <a:r>
              <a:rPr lang="en-US" dirty="0" err="1"/>
              <a:t>merupakan</a:t>
            </a:r>
            <a:r>
              <a:rPr lang="en-US" dirty="0"/>
              <a:t> </a:t>
            </a:r>
            <a:r>
              <a:rPr lang="en-US" dirty="0" err="1"/>
              <a:t>keluaran</a:t>
            </a:r>
            <a:r>
              <a:rPr lang="en-US" dirty="0"/>
              <a:t> </a:t>
            </a:r>
            <a:r>
              <a:rPr lang="en-US" dirty="0" err="1"/>
              <a:t>penguat</a:t>
            </a:r>
            <a:r>
              <a:rPr lang="en-US" dirty="0"/>
              <a:t> </a:t>
            </a:r>
            <a:r>
              <a:rPr lang="en-US" dirty="0" err="1"/>
              <a:t>operasional</a:t>
            </a:r>
            <a:r>
              <a:rPr lang="en-US" dirty="0"/>
              <a:t>, </a:t>
            </a:r>
            <a:r>
              <a:rPr lang="en-US" dirty="0" err="1"/>
              <a:t>idealnya</a:t>
            </a:r>
            <a:r>
              <a:rPr lang="en-US" dirty="0"/>
              <a:t> </a:t>
            </a:r>
            <a:r>
              <a:rPr lang="en-US" dirty="0" err="1"/>
              <a:t>diharapkan</a:t>
            </a:r>
            <a:r>
              <a:rPr lang="en-US" dirty="0"/>
              <a:t> </a:t>
            </a:r>
            <a:r>
              <a:rPr lang="en-US" dirty="0" err="1"/>
              <a:t>bertindak</a:t>
            </a:r>
            <a:r>
              <a:rPr lang="en-US" dirty="0"/>
              <a:t> </a:t>
            </a:r>
            <a:r>
              <a:rPr lang="en-US" dirty="0" err="1"/>
              <a:t>sebagai</a:t>
            </a:r>
            <a:r>
              <a:rPr lang="en-US" dirty="0"/>
              <a:t> terminal </a:t>
            </a:r>
            <a:r>
              <a:rPr lang="en-US" dirty="0" err="1"/>
              <a:t>keluaran</a:t>
            </a:r>
            <a:r>
              <a:rPr lang="en-US" dirty="0"/>
              <a:t> </a:t>
            </a:r>
            <a:r>
              <a:rPr lang="en-US" dirty="0" err="1"/>
              <a:t>sebuah</a:t>
            </a:r>
            <a:r>
              <a:rPr lang="en-US" dirty="0"/>
              <a:t> </a:t>
            </a:r>
            <a:r>
              <a:rPr lang="en-US" dirty="0" err="1"/>
              <a:t>sumber</a:t>
            </a:r>
            <a:r>
              <a:rPr lang="en-US" dirty="0"/>
              <a:t> </a:t>
            </a:r>
            <a:r>
              <a:rPr lang="en-US" dirty="0" err="1"/>
              <a:t>sumber</a:t>
            </a:r>
            <a:r>
              <a:rPr lang="en-US" dirty="0"/>
              <a:t> </a:t>
            </a:r>
            <a:r>
              <a:rPr lang="en-US" dirty="0" err="1"/>
              <a:t>tegangan</a:t>
            </a:r>
            <a:r>
              <a:rPr lang="en-US" dirty="0"/>
              <a:t> ideal. </a:t>
            </a:r>
            <a:r>
              <a:rPr lang="en-US" dirty="0" err="1"/>
              <a:t>Tegangan</a:t>
            </a:r>
            <a:r>
              <a:rPr lang="en-US" dirty="0"/>
              <a:t> </a:t>
            </a:r>
            <a:r>
              <a:rPr lang="en-US" dirty="0" err="1"/>
              <a:t>antara</a:t>
            </a:r>
            <a:r>
              <a:rPr lang="en-US" dirty="0"/>
              <a:t> terminal3 </a:t>
            </a:r>
            <a:r>
              <a:rPr lang="en-US" dirty="0" err="1"/>
              <a:t>dengan</a:t>
            </a:r>
            <a:r>
              <a:rPr lang="en-US" dirty="0"/>
              <a:t> ground </a:t>
            </a:r>
            <a:r>
              <a:rPr lang="en-US" dirty="0" err="1"/>
              <a:t>akan</a:t>
            </a:r>
            <a:r>
              <a:rPr lang="en-US" dirty="0"/>
              <a:t> </a:t>
            </a:r>
            <a:r>
              <a:rPr lang="en-US" dirty="0" err="1"/>
              <a:t>selalu</a:t>
            </a:r>
            <a:r>
              <a:rPr lang="en-US" dirty="0"/>
              <a:t> </a:t>
            </a:r>
            <a:r>
              <a:rPr lang="en-US" dirty="0" err="1"/>
              <a:t>sama</a:t>
            </a:r>
            <a:r>
              <a:rPr lang="en-US" dirty="0"/>
              <a:t> </a:t>
            </a:r>
            <a:r>
              <a:rPr lang="en-US" dirty="0" err="1"/>
              <a:t>dengan</a:t>
            </a:r>
            <a:r>
              <a:rPr lang="en-US" dirty="0"/>
              <a:t> A (V2 . V1 ), </a:t>
            </a:r>
            <a:r>
              <a:rPr lang="en-US" dirty="0" err="1"/>
              <a:t>dimana</a:t>
            </a:r>
            <a:r>
              <a:rPr lang="en-US" dirty="0"/>
              <a:t> A </a:t>
            </a:r>
            <a:r>
              <a:rPr lang="en-US" dirty="0" err="1"/>
              <a:t>adalah</a:t>
            </a:r>
            <a:r>
              <a:rPr lang="en-US" dirty="0"/>
              <a:t> </a:t>
            </a:r>
            <a:r>
              <a:rPr lang="en-US" dirty="0" err="1"/>
              <a:t>faktor</a:t>
            </a:r>
            <a:r>
              <a:rPr lang="en-US" dirty="0"/>
              <a:t> </a:t>
            </a:r>
            <a:r>
              <a:rPr lang="en-US" dirty="0" err="1"/>
              <a:t>penguatan</a:t>
            </a:r>
            <a:r>
              <a:rPr lang="en-US" dirty="0"/>
              <a:t> </a:t>
            </a:r>
            <a:r>
              <a:rPr lang="en-US" dirty="0" err="1"/>
              <a:t>sebuah</a:t>
            </a:r>
            <a:r>
              <a:rPr lang="en-US" dirty="0"/>
              <a:t> </a:t>
            </a:r>
            <a:r>
              <a:rPr lang="en-US" dirty="0" err="1"/>
              <a:t>penguat</a:t>
            </a:r>
            <a:r>
              <a:rPr lang="en-US" dirty="0"/>
              <a:t> </a:t>
            </a:r>
            <a:r>
              <a:rPr lang="en-US" dirty="0" err="1" smtClean="0"/>
              <a:t>operasional</a:t>
            </a:r>
            <a:r>
              <a:rPr lang="en-US" dirty="0" smtClean="0"/>
              <a:t>.</a:t>
            </a:r>
          </a:p>
          <a:p>
            <a:pPr marL="574675" indent="-398463" algn="just">
              <a:buFont typeface="+mj-lt"/>
              <a:buAutoNum type="arabicPeriod"/>
            </a:pPr>
            <a:r>
              <a:rPr lang="en-US" dirty="0" err="1" smtClean="0"/>
              <a:t>Penguatan</a:t>
            </a:r>
            <a:r>
              <a:rPr lang="en-US" dirty="0" smtClean="0"/>
              <a:t> </a:t>
            </a:r>
            <a:r>
              <a:rPr lang="en-US" dirty="0"/>
              <a:t>loop </a:t>
            </a:r>
            <a:r>
              <a:rPr lang="en-US" dirty="0" err="1"/>
              <a:t>terbuka</a:t>
            </a:r>
            <a:r>
              <a:rPr lang="en-US" dirty="0"/>
              <a:t> </a:t>
            </a:r>
            <a:r>
              <a:rPr lang="en-US" dirty="0" err="1"/>
              <a:t>tak</a:t>
            </a:r>
            <a:r>
              <a:rPr lang="en-US" dirty="0"/>
              <a:t> </a:t>
            </a:r>
            <a:r>
              <a:rPr lang="en-US" dirty="0" err="1"/>
              <a:t>terhingga</a:t>
            </a:r>
            <a:r>
              <a:rPr lang="en-US" dirty="0"/>
              <a:t>. </a:t>
            </a:r>
            <a:r>
              <a:rPr lang="en-US" dirty="0" err="1"/>
              <a:t>Apabila</a:t>
            </a:r>
            <a:r>
              <a:rPr lang="en-US" dirty="0"/>
              <a:t> </a:t>
            </a:r>
            <a:r>
              <a:rPr lang="en-US" dirty="0" err="1"/>
              <a:t>dioperasikan</a:t>
            </a:r>
            <a:r>
              <a:rPr lang="en-US" dirty="0"/>
              <a:t> </a:t>
            </a:r>
            <a:r>
              <a:rPr lang="en-US" dirty="0" err="1"/>
              <a:t>pada</a:t>
            </a:r>
            <a:r>
              <a:rPr lang="en-US" dirty="0"/>
              <a:t> loop </a:t>
            </a:r>
            <a:r>
              <a:rPr lang="en-US" dirty="0" err="1"/>
              <a:t>terbuka</a:t>
            </a:r>
            <a:r>
              <a:rPr lang="en-US" dirty="0"/>
              <a:t> ( </a:t>
            </a:r>
            <a:r>
              <a:rPr lang="en-US" dirty="0" err="1"/>
              <a:t>tidak</a:t>
            </a:r>
            <a:r>
              <a:rPr lang="en-US" dirty="0"/>
              <a:t> </a:t>
            </a:r>
            <a:r>
              <a:rPr lang="en-US" dirty="0" err="1"/>
              <a:t>ada</a:t>
            </a:r>
            <a:r>
              <a:rPr lang="en-US" dirty="0"/>
              <a:t> </a:t>
            </a:r>
            <a:r>
              <a:rPr lang="en-US" dirty="0" err="1"/>
              <a:t>umpan</a:t>
            </a:r>
            <a:r>
              <a:rPr lang="en-US" dirty="0"/>
              <a:t> </a:t>
            </a:r>
            <a:r>
              <a:rPr lang="en-US" dirty="0" err="1"/>
              <a:t>balik</a:t>
            </a:r>
            <a:r>
              <a:rPr lang="en-US" dirty="0"/>
              <a:t> </a:t>
            </a:r>
            <a:r>
              <a:rPr lang="en-US" dirty="0" err="1"/>
              <a:t>dari</a:t>
            </a:r>
            <a:r>
              <a:rPr lang="en-US" dirty="0"/>
              <a:t> </a:t>
            </a:r>
            <a:r>
              <a:rPr lang="en-US" dirty="0" err="1"/>
              <a:t>keluaran</a:t>
            </a:r>
            <a:r>
              <a:rPr lang="en-US" dirty="0"/>
              <a:t> </a:t>
            </a:r>
            <a:r>
              <a:rPr lang="en-US" dirty="0" err="1"/>
              <a:t>ke</a:t>
            </a:r>
            <a:r>
              <a:rPr lang="en-US" dirty="0"/>
              <a:t> </a:t>
            </a:r>
            <a:r>
              <a:rPr lang="en-US" dirty="0" err="1"/>
              <a:t>masukan</a:t>
            </a:r>
            <a:r>
              <a:rPr lang="en-US" dirty="0"/>
              <a:t> ), </a:t>
            </a:r>
            <a:r>
              <a:rPr lang="en-US" dirty="0" err="1"/>
              <a:t>maka</a:t>
            </a:r>
            <a:r>
              <a:rPr lang="en-US" dirty="0"/>
              <a:t> </a:t>
            </a:r>
            <a:r>
              <a:rPr lang="en-US" dirty="0" err="1"/>
              <a:t>sebuah</a:t>
            </a:r>
            <a:r>
              <a:rPr lang="en-US" dirty="0"/>
              <a:t> </a:t>
            </a:r>
            <a:r>
              <a:rPr lang="en-US" dirty="0" err="1"/>
              <a:t>penguat</a:t>
            </a:r>
            <a:r>
              <a:rPr lang="en-US" dirty="0"/>
              <a:t> </a:t>
            </a:r>
            <a:r>
              <a:rPr lang="en-US" dirty="0" err="1"/>
              <a:t>opersaional</a:t>
            </a:r>
            <a:r>
              <a:rPr lang="en-US" dirty="0"/>
              <a:t> ideal </a:t>
            </a:r>
            <a:r>
              <a:rPr lang="en-US" dirty="0" err="1"/>
              <a:t>mempnyai</a:t>
            </a:r>
            <a:r>
              <a:rPr lang="en-US" dirty="0"/>
              <a:t> gain (</a:t>
            </a:r>
            <a:r>
              <a:rPr lang="en-US" dirty="0" err="1"/>
              <a:t>penguatan</a:t>
            </a:r>
            <a:r>
              <a:rPr lang="en-US" dirty="0"/>
              <a:t>) yang </a:t>
            </a:r>
            <a:r>
              <a:rPr lang="en-US" dirty="0" err="1"/>
              <a:t>besarnya</a:t>
            </a:r>
            <a:r>
              <a:rPr lang="en-US" dirty="0"/>
              <a:t> </a:t>
            </a:r>
            <a:r>
              <a:rPr lang="en-US" dirty="0" err="1"/>
              <a:t>tak</a:t>
            </a:r>
            <a:r>
              <a:rPr lang="en-US" dirty="0"/>
              <a:t> </a:t>
            </a:r>
            <a:r>
              <a:rPr lang="en-US" dirty="0" err="1"/>
              <a:t>terhingga</a:t>
            </a:r>
            <a:r>
              <a:rPr lang="en-US" dirty="0"/>
              <a:t>.</a:t>
            </a:r>
          </a:p>
          <a:p>
            <a:endParaRPr lang="en-US" dirty="0"/>
          </a:p>
        </p:txBody>
      </p:sp>
    </p:spTree>
    <p:extLst>
      <p:ext uri="{BB962C8B-B14F-4D97-AF65-F5344CB8AC3E}">
        <p14:creationId xmlns:p14="http://schemas.microsoft.com/office/powerpoint/2010/main" val="23682787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Rot="1" noChangeArrowheads="1"/>
          </p:cNvSpPr>
          <p:nvPr>
            <p:ph type="title"/>
          </p:nvPr>
        </p:nvSpPr>
        <p:spPr/>
        <p:txBody>
          <a:bodyPr/>
          <a:lstStyle/>
          <a:p>
            <a:r>
              <a:rPr lang="en-US"/>
              <a:t>Karakteristik</a:t>
            </a:r>
          </a:p>
        </p:txBody>
      </p:sp>
      <p:graphicFrame>
        <p:nvGraphicFramePr>
          <p:cNvPr id="15432" name="Group 72"/>
          <p:cNvGraphicFramePr>
            <a:graphicFrameLocks noGrp="1"/>
          </p:cNvGraphicFramePr>
          <p:nvPr>
            <p:ph sz="half" idx="2"/>
          </p:nvPr>
        </p:nvGraphicFramePr>
        <p:xfrm>
          <a:off x="2286000" y="1981201"/>
          <a:ext cx="7696200" cy="2620965"/>
        </p:xfrm>
        <a:graphic>
          <a:graphicData uri="http://schemas.openxmlformats.org/drawingml/2006/table">
            <a:tbl>
              <a:tblPr/>
              <a:tblGrid>
                <a:gridCol w="26670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295400">
                  <a:extLst>
                    <a:ext uri="{9D8B030D-6E8A-4147-A177-3AD203B41FA5}">
                      <a16:colId xmlns:a16="http://schemas.microsoft.com/office/drawing/2014/main" val="20003"/>
                    </a:ext>
                  </a:extLst>
                </a:gridCol>
                <a:gridCol w="1295400">
                  <a:extLst>
                    <a:ext uri="{9D8B030D-6E8A-4147-A177-3AD203B41FA5}">
                      <a16:colId xmlns:a16="http://schemas.microsoft.com/office/drawing/2014/main" val="20004"/>
                    </a:ext>
                  </a:extLst>
                </a:gridCol>
              </a:tblGrid>
              <a:tr h="436563">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1" i="0" u="none" strike="noStrike" cap="none" normalizeH="0" baseline="0" smtClean="0">
                          <a:ln>
                            <a:noFill/>
                          </a:ln>
                          <a:solidFill>
                            <a:schemeClr val="tx1"/>
                          </a:solidFill>
                          <a:effectLst>
                            <a:outerShdw blurRad="38100" dist="38100" dir="2700000" algn="tl">
                              <a:srgbClr val="C0C0C0"/>
                            </a:outerShdw>
                          </a:effectLst>
                          <a:latin typeface="Garamond" pitchFamily="18" charset="0"/>
                        </a:rPr>
                        <a:t>Parameter</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1" i="0" u="none" strike="noStrike" cap="none" normalizeH="0" baseline="0" smtClean="0">
                          <a:ln>
                            <a:noFill/>
                          </a:ln>
                          <a:solidFill>
                            <a:schemeClr val="tx1"/>
                          </a:solidFill>
                          <a:effectLst>
                            <a:outerShdw blurRad="38100" dist="38100" dir="2700000" algn="tl">
                              <a:srgbClr val="C0C0C0"/>
                            </a:outerShdw>
                          </a:effectLst>
                          <a:latin typeface="Garamond" pitchFamily="18" charset="0"/>
                        </a:rPr>
                        <a:t>Ideal</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1" i="0" u="none" strike="noStrike" cap="none" normalizeH="0" baseline="0" smtClean="0">
                          <a:ln>
                            <a:noFill/>
                          </a:ln>
                          <a:solidFill>
                            <a:schemeClr val="tx1"/>
                          </a:solidFill>
                          <a:effectLst>
                            <a:outerShdw blurRad="38100" dist="38100" dir="2700000" algn="tl">
                              <a:srgbClr val="C0C0C0"/>
                            </a:outerShdw>
                          </a:effectLst>
                          <a:latin typeface="Garamond" pitchFamily="18" charset="0"/>
                        </a:rPr>
                        <a:t>LM741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1" i="0" u="none" strike="noStrike" cap="none" normalizeH="0" baseline="0" smtClean="0">
                          <a:ln>
                            <a:noFill/>
                          </a:ln>
                          <a:solidFill>
                            <a:schemeClr val="tx1"/>
                          </a:solidFill>
                          <a:effectLst>
                            <a:outerShdw blurRad="38100" dist="38100" dir="2700000" algn="tl">
                              <a:srgbClr val="C0C0C0"/>
                            </a:outerShdw>
                          </a:effectLst>
                          <a:latin typeface="Garamond" pitchFamily="18" charset="0"/>
                        </a:rPr>
                        <a:t>LF347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1" i="0" u="none" strike="noStrike" cap="none" normalizeH="0" baseline="0" smtClean="0">
                          <a:ln>
                            <a:noFill/>
                          </a:ln>
                          <a:solidFill>
                            <a:schemeClr val="tx1"/>
                          </a:solidFill>
                          <a:effectLst>
                            <a:outerShdw blurRad="38100" dist="38100" dir="2700000" algn="tl">
                              <a:srgbClr val="C0C0C0"/>
                            </a:outerShdw>
                          </a:effectLst>
                          <a:latin typeface="Garamond" pitchFamily="18" charset="0"/>
                        </a:rPr>
                        <a:t>LM318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36563">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Open-loop Gain (A</a:t>
                      </a:r>
                      <a:r>
                        <a:rPr kumimoji="0" lang="en-US" sz="2000" b="0" i="0" u="none" strike="noStrike" cap="none" normalizeH="0" baseline="-25000" smtClean="0">
                          <a:ln>
                            <a:noFill/>
                          </a:ln>
                          <a:solidFill>
                            <a:schemeClr val="tx1"/>
                          </a:solidFill>
                          <a:effectLst>
                            <a:outerShdw blurRad="38100" dist="38100" dir="2700000" algn="tl">
                              <a:srgbClr val="C0C0C0"/>
                            </a:outerShdw>
                          </a:effectLst>
                          <a:latin typeface="Garamond" pitchFamily="18" charset="0"/>
                        </a:rPr>
                        <a:t>OL</a:t>
                      </a: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2 . 10</a:t>
                      </a:r>
                      <a:r>
                        <a:rPr kumimoji="0" lang="en-US" sz="2000" b="0" i="0" u="none" strike="noStrike" cap="none" normalizeH="0" baseline="30000" smtClean="0">
                          <a:ln>
                            <a:noFill/>
                          </a:ln>
                          <a:solidFill>
                            <a:schemeClr val="tx1"/>
                          </a:solidFill>
                          <a:effectLst>
                            <a:outerShdw blurRad="38100" dist="38100" dir="2700000" algn="tl">
                              <a:srgbClr val="C0C0C0"/>
                            </a:outerShdw>
                          </a:effectLst>
                          <a:latin typeface="Garamond" pitchFamily="18"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10</a:t>
                      </a:r>
                      <a:r>
                        <a:rPr kumimoji="0" lang="en-US" sz="2000" b="0" i="0" u="none" strike="noStrike" cap="none" normalizeH="0" baseline="30000" smtClean="0">
                          <a:ln>
                            <a:noFill/>
                          </a:ln>
                          <a:solidFill>
                            <a:schemeClr val="tx1"/>
                          </a:solidFill>
                          <a:effectLst>
                            <a:outerShdw blurRad="38100" dist="38100" dir="2700000" algn="tl">
                              <a:srgbClr val="C0C0C0"/>
                            </a:outerShdw>
                          </a:effectLst>
                          <a:latin typeface="Garamond" pitchFamily="18"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2 . 10</a:t>
                      </a:r>
                      <a:r>
                        <a:rPr kumimoji="0" lang="en-US" sz="2000" b="0" i="0" u="none" strike="noStrike" cap="none" normalizeH="0" baseline="30000" smtClean="0">
                          <a:ln>
                            <a:noFill/>
                          </a:ln>
                          <a:solidFill>
                            <a:schemeClr val="tx1"/>
                          </a:solidFill>
                          <a:effectLst>
                            <a:outerShdw blurRad="38100" dist="38100" dir="2700000" algn="tl">
                              <a:srgbClr val="C0C0C0"/>
                            </a:outerShdw>
                          </a:effectLst>
                          <a:latin typeface="Garamond" pitchFamily="18" charset="0"/>
                        </a:rPr>
                        <a:t>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8150">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Input Resistance (R</a:t>
                      </a:r>
                      <a:r>
                        <a:rPr kumimoji="0" lang="en-US" sz="2000" b="0" i="0" u="none" strike="noStrike" cap="none" normalizeH="0" baseline="-25000" smtClean="0">
                          <a:ln>
                            <a:noFill/>
                          </a:ln>
                          <a:solidFill>
                            <a:schemeClr val="tx1"/>
                          </a:solidFill>
                          <a:effectLst>
                            <a:outerShdw blurRad="38100" dist="38100" dir="2700000" algn="tl">
                              <a:srgbClr val="C0C0C0"/>
                            </a:outerShdw>
                          </a:effectLst>
                          <a:latin typeface="Garamond" pitchFamily="18" charset="0"/>
                        </a:rPr>
                        <a:t>in</a:t>
                      </a: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 </a:t>
                      </a:r>
                      <a:r>
                        <a:rPr kumimoji="0" lang="el-GR" sz="2000" b="0" i="0" u="none" strike="noStrike" cap="none" normalizeH="0" baseline="0" smtClean="0">
                          <a:ln>
                            <a:noFill/>
                          </a:ln>
                          <a:solidFill>
                            <a:schemeClr val="tx1"/>
                          </a:solidFill>
                          <a:effectLst>
                            <a:outerShdw blurRad="38100" dist="38100" dir="2700000" algn="tl">
                              <a:srgbClr val="C0C0C0"/>
                            </a:outerShdw>
                          </a:effectLst>
                          <a:latin typeface="Arial" charset="0"/>
                          <a:cs typeface="Arial" charset="0"/>
                        </a:rPr>
                        <a:t>Ω</a:t>
                      </a:r>
                      <a:endPar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2 M </a:t>
                      </a:r>
                      <a:r>
                        <a:rPr kumimoji="0" lang="el-GR" sz="2000" b="0" i="0" u="none" strike="noStrike" cap="none" normalizeH="0" baseline="0" smtClean="0">
                          <a:ln>
                            <a:noFill/>
                          </a:ln>
                          <a:solidFill>
                            <a:schemeClr val="tx1"/>
                          </a:solidFill>
                          <a:effectLst>
                            <a:outerShdw blurRad="38100" dist="38100" dir="2700000" algn="tl">
                              <a:srgbClr val="C0C0C0"/>
                            </a:outerShdw>
                          </a:effectLst>
                          <a:latin typeface="Arial" charset="0"/>
                          <a:cs typeface="Arial" charset="0"/>
                        </a:rPr>
                        <a:t>Ω</a:t>
                      </a:r>
                      <a:endParaRPr kumimoji="0" lang="en-US" sz="2000" b="0" i="0" u="none" strike="noStrike" cap="none" normalizeH="0" baseline="0" smtClean="0">
                        <a:ln>
                          <a:noFill/>
                        </a:ln>
                        <a:solidFill>
                          <a:schemeClr val="tx1"/>
                        </a:solidFill>
                        <a:effectLst>
                          <a:outerShdw blurRad="38100" dist="38100" dir="2700000" algn="tl">
                            <a:srgbClr val="C0C0C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10</a:t>
                      </a:r>
                      <a:r>
                        <a:rPr kumimoji="0" lang="en-US" sz="2000" b="0" i="0" u="none" strike="noStrike" cap="none" normalizeH="0" baseline="30000" smtClean="0">
                          <a:ln>
                            <a:noFill/>
                          </a:ln>
                          <a:solidFill>
                            <a:schemeClr val="tx1"/>
                          </a:solidFill>
                          <a:effectLst>
                            <a:outerShdw blurRad="38100" dist="38100" dir="2700000" algn="tl">
                              <a:srgbClr val="C0C0C0"/>
                            </a:outerShdw>
                          </a:effectLst>
                          <a:latin typeface="Garamond" pitchFamily="18" charset="0"/>
                        </a:rPr>
                        <a:t>12</a:t>
                      </a: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 </a:t>
                      </a:r>
                      <a:r>
                        <a:rPr kumimoji="0" lang="el-GR" sz="2000" b="0" i="0" u="none" strike="noStrike" cap="none" normalizeH="0" baseline="0" smtClean="0">
                          <a:ln>
                            <a:noFill/>
                          </a:ln>
                          <a:solidFill>
                            <a:schemeClr val="tx1"/>
                          </a:solidFill>
                          <a:effectLst>
                            <a:outerShdw blurRad="38100" dist="38100" dir="2700000" algn="tl">
                              <a:srgbClr val="C0C0C0"/>
                            </a:outerShdw>
                          </a:effectLst>
                          <a:latin typeface="Arial" charset="0"/>
                          <a:cs typeface="Arial" charset="0"/>
                        </a:rPr>
                        <a:t>Ω</a:t>
                      </a:r>
                      <a:endParaRPr kumimoji="0" lang="en-US" sz="2000" b="0" i="0" u="none" strike="noStrike" cap="none" normalizeH="0" baseline="0" smtClean="0">
                        <a:ln>
                          <a:noFill/>
                        </a:ln>
                        <a:solidFill>
                          <a:schemeClr val="tx1"/>
                        </a:solidFill>
                        <a:effectLst>
                          <a:outerShdw blurRad="38100" dist="38100" dir="2700000" algn="tl">
                            <a:srgbClr val="C0C0C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3 M </a:t>
                      </a:r>
                      <a:r>
                        <a:rPr kumimoji="0" lang="el-GR" sz="2000" b="0" i="0" u="none" strike="noStrike" cap="none" normalizeH="0" baseline="0" smtClean="0">
                          <a:ln>
                            <a:noFill/>
                          </a:ln>
                          <a:solidFill>
                            <a:schemeClr val="tx1"/>
                          </a:solidFill>
                          <a:effectLst>
                            <a:outerShdw blurRad="38100" dist="38100" dir="2700000" algn="tl">
                              <a:srgbClr val="C0C0C0"/>
                            </a:outerShdw>
                          </a:effectLst>
                          <a:latin typeface="Arial" charset="0"/>
                          <a:cs typeface="Arial" charset="0"/>
                        </a:rPr>
                        <a:t>Ω</a:t>
                      </a:r>
                      <a:endParaRPr kumimoji="0" lang="en-US" sz="2000" b="0" i="0" u="none" strike="noStrike" cap="none" normalizeH="0" baseline="0" smtClean="0">
                        <a:ln>
                          <a:noFill/>
                        </a:ln>
                        <a:solidFill>
                          <a:schemeClr val="tx1"/>
                        </a:solidFill>
                        <a:effectLst>
                          <a:outerShdw blurRad="38100" dist="38100" dir="2700000" algn="tl">
                            <a:srgbClr val="C0C0C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36563">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Output Resistance (R</a:t>
                      </a:r>
                      <a:r>
                        <a:rPr kumimoji="0" lang="en-US" sz="2000" b="0" i="0" u="none" strike="noStrike" cap="none" normalizeH="0" baseline="-25000" smtClean="0">
                          <a:ln>
                            <a:noFill/>
                          </a:ln>
                          <a:solidFill>
                            <a:schemeClr val="tx1"/>
                          </a:solidFill>
                          <a:effectLst>
                            <a:outerShdw blurRad="38100" dist="38100" dir="2700000" algn="tl">
                              <a:srgbClr val="C0C0C0"/>
                            </a:outerShdw>
                          </a:effectLst>
                          <a:latin typeface="Garamond" pitchFamily="18" charset="0"/>
                        </a:rPr>
                        <a:t>o</a:t>
                      </a: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0 </a:t>
                      </a:r>
                      <a:r>
                        <a:rPr kumimoji="0" lang="el-GR" sz="2000" b="0" i="0" u="none" strike="noStrike" cap="none" normalizeH="0" baseline="0" smtClean="0">
                          <a:ln>
                            <a:noFill/>
                          </a:ln>
                          <a:solidFill>
                            <a:schemeClr val="tx1"/>
                          </a:solidFill>
                          <a:effectLst>
                            <a:outerShdw blurRad="38100" dist="38100" dir="2700000" algn="tl">
                              <a:srgbClr val="C0C0C0"/>
                            </a:outerShdw>
                          </a:effectLst>
                          <a:latin typeface="Arial" charset="0"/>
                          <a:cs typeface="Arial" charset="0"/>
                        </a:rPr>
                        <a:t>Ω</a:t>
                      </a:r>
                      <a:endParaRPr kumimoji="0" lang="en-US" sz="2000" b="0" i="0" u="none" strike="noStrike" cap="none" normalizeH="0" baseline="0" smtClean="0">
                        <a:ln>
                          <a:noFill/>
                        </a:ln>
                        <a:solidFill>
                          <a:schemeClr val="tx1"/>
                        </a:solidFill>
                        <a:effectLst>
                          <a:outerShdw blurRad="38100" dist="38100" dir="2700000" algn="tl">
                            <a:srgbClr val="C0C0C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75 </a:t>
                      </a:r>
                      <a:r>
                        <a:rPr kumimoji="0" lang="el-GR" sz="2000" b="0" i="0" u="none" strike="noStrike" cap="none" normalizeH="0" baseline="0" smtClean="0">
                          <a:ln>
                            <a:noFill/>
                          </a:ln>
                          <a:solidFill>
                            <a:schemeClr val="tx1"/>
                          </a:solidFill>
                          <a:effectLst>
                            <a:outerShdw blurRad="38100" dist="38100" dir="2700000" algn="tl">
                              <a:srgbClr val="C0C0C0"/>
                            </a:outerShdw>
                          </a:effectLst>
                          <a:latin typeface="Arial" charset="0"/>
                          <a:cs typeface="Arial" charset="0"/>
                        </a:rPr>
                        <a:t>Ω</a:t>
                      </a:r>
                      <a:endParaRPr kumimoji="0" lang="en-US" sz="2000" b="0" i="0" u="none" strike="noStrike" cap="none" normalizeH="0" baseline="0" smtClean="0">
                        <a:ln>
                          <a:noFill/>
                        </a:ln>
                        <a:solidFill>
                          <a:schemeClr val="tx1"/>
                        </a:solidFill>
                        <a:effectLst>
                          <a:outerShdw blurRad="38100" dist="38100" dir="2700000" algn="tl">
                            <a:srgbClr val="C0C0C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75 </a:t>
                      </a:r>
                      <a:r>
                        <a:rPr kumimoji="0" lang="el-GR" sz="2000" b="0" i="0" u="none" strike="noStrike" cap="none" normalizeH="0" baseline="0" smtClean="0">
                          <a:ln>
                            <a:noFill/>
                          </a:ln>
                          <a:solidFill>
                            <a:schemeClr val="tx1"/>
                          </a:solidFill>
                          <a:effectLst>
                            <a:outerShdw blurRad="38100" dist="38100" dir="2700000" algn="tl">
                              <a:srgbClr val="C0C0C0"/>
                            </a:outerShdw>
                          </a:effectLst>
                          <a:latin typeface="Arial" charset="0"/>
                          <a:cs typeface="Arial" charset="0"/>
                        </a:rPr>
                        <a:t>Ω</a:t>
                      </a:r>
                      <a:endParaRPr kumimoji="0" lang="en-US" sz="2000" b="0" i="0" u="none" strike="noStrike" cap="none" normalizeH="0" baseline="0" smtClean="0">
                        <a:ln>
                          <a:noFill/>
                        </a:ln>
                        <a:solidFill>
                          <a:schemeClr val="tx1"/>
                        </a:solidFill>
                        <a:effectLst>
                          <a:outerShdw blurRad="38100" dist="38100" dir="2700000" algn="tl">
                            <a:srgbClr val="C0C0C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75 </a:t>
                      </a:r>
                      <a:r>
                        <a:rPr kumimoji="0" lang="el-GR" sz="2000" b="0" i="0" u="none" strike="noStrike" cap="none" normalizeH="0" baseline="0" smtClean="0">
                          <a:ln>
                            <a:noFill/>
                          </a:ln>
                          <a:solidFill>
                            <a:schemeClr val="tx1"/>
                          </a:solidFill>
                          <a:effectLst>
                            <a:outerShdw blurRad="38100" dist="38100" dir="2700000" algn="tl">
                              <a:srgbClr val="C0C0C0"/>
                            </a:outerShdw>
                          </a:effectLst>
                          <a:latin typeface="Arial" charset="0"/>
                          <a:cs typeface="Arial" charset="0"/>
                        </a:rPr>
                        <a:t>Ω</a:t>
                      </a:r>
                      <a:endParaRPr kumimoji="0" lang="en-US" sz="2000" b="0" i="0" u="none" strike="noStrike" cap="none" normalizeH="0" baseline="0" smtClean="0">
                        <a:ln>
                          <a:noFill/>
                        </a:ln>
                        <a:solidFill>
                          <a:schemeClr val="tx1"/>
                        </a:solidFill>
                        <a:effectLst>
                          <a:outerShdw blurRad="38100" dist="38100" dir="2700000" algn="tl">
                            <a:srgbClr val="C0C0C0"/>
                          </a:outerShdw>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36563">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Gain Bandwidth Product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 Hz</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1 MHz</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4 MHz</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15 MHz</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36563">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CMRR</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90 dB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100 dB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70000"/>
                        <a:buFont typeface="Wingdings" pitchFamily="2" charset="2"/>
                        <a:buNone/>
                        <a:tabLst/>
                      </a:pPr>
                      <a:r>
                        <a:rPr kumimoji="0" lang="en-US" sz="2000" b="0" i="0" u="none" strike="noStrike" cap="none" normalizeH="0" baseline="0" smtClean="0">
                          <a:ln>
                            <a:noFill/>
                          </a:ln>
                          <a:solidFill>
                            <a:schemeClr val="tx1"/>
                          </a:solidFill>
                          <a:effectLst>
                            <a:outerShdw blurRad="38100" dist="38100" dir="2700000" algn="tl">
                              <a:srgbClr val="C0C0C0"/>
                            </a:outerShdw>
                          </a:effectLst>
                          <a:latin typeface="Garamond" pitchFamily="18" charset="0"/>
                        </a:rPr>
                        <a:t>100 dB</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4" name="Slide Number Placeholder 3"/>
          <p:cNvSpPr>
            <a:spLocks noGrp="1"/>
          </p:cNvSpPr>
          <p:nvPr>
            <p:ph type="sldNum" sz="quarter" idx="4294967295"/>
          </p:nvPr>
        </p:nvSpPr>
        <p:spPr/>
        <p:txBody>
          <a:bodyPr>
            <a:normAutofit/>
          </a:bodyPr>
          <a:lstStyle/>
          <a:p>
            <a:fld id="{30FF78D7-7CA0-44FD-8733-19F49D683D81}" type="slidenum">
              <a:rPr lang="en-US" smtClean="0"/>
              <a:pPr/>
              <a:t>6</a:t>
            </a:fld>
            <a:endParaRPr lang="en-US"/>
          </a:p>
        </p:txBody>
      </p:sp>
      <p:sp>
        <p:nvSpPr>
          <p:cNvPr id="7" name="Rectangle 6"/>
          <p:cNvSpPr/>
          <p:nvPr/>
        </p:nvSpPr>
        <p:spPr>
          <a:xfrm>
            <a:off x="2286000" y="4876801"/>
            <a:ext cx="7924800" cy="646331"/>
          </a:xfrm>
          <a:prstGeom prst="rect">
            <a:avLst/>
          </a:prstGeom>
        </p:spPr>
        <p:txBody>
          <a:bodyPr wrap="square">
            <a:spAutoFit/>
          </a:bodyPr>
          <a:lstStyle/>
          <a:p>
            <a:r>
              <a:rPr lang="en-US" i="1" dirty="0"/>
              <a:t>common-mode rejection ratio</a:t>
            </a:r>
            <a:r>
              <a:rPr lang="en-US" dirty="0"/>
              <a:t> (</a:t>
            </a:r>
            <a:r>
              <a:rPr lang="en-US" i="1" dirty="0"/>
              <a:t>CMRR</a:t>
            </a:r>
            <a:r>
              <a:rPr lang="en-US" dirty="0"/>
              <a:t>) </a:t>
            </a:r>
            <a:r>
              <a:rPr lang="en-US" dirty="0" err="1"/>
              <a:t>adalah</a:t>
            </a:r>
            <a:r>
              <a:rPr lang="en-US" dirty="0"/>
              <a:t> </a:t>
            </a:r>
            <a:r>
              <a:rPr lang="en-US" dirty="0" err="1"/>
              <a:t>kecenderungan</a:t>
            </a:r>
            <a:r>
              <a:rPr lang="en-US" dirty="0"/>
              <a:t> </a:t>
            </a:r>
            <a:r>
              <a:rPr lang="en-US" dirty="0" err="1"/>
              <a:t>dari</a:t>
            </a:r>
            <a:r>
              <a:rPr lang="en-US" dirty="0"/>
              <a:t> </a:t>
            </a:r>
            <a:r>
              <a:rPr lang="en-US" dirty="0" err="1"/>
              <a:t>perangkat</a:t>
            </a:r>
            <a:r>
              <a:rPr lang="en-US" dirty="0"/>
              <a:t> </a:t>
            </a:r>
            <a:r>
              <a:rPr lang="en-US" dirty="0" err="1"/>
              <a:t>untuk</a:t>
            </a:r>
            <a:r>
              <a:rPr lang="en-US" dirty="0"/>
              <a:t> </a:t>
            </a:r>
            <a:r>
              <a:rPr lang="en-US" dirty="0" err="1"/>
              <a:t>menolak</a:t>
            </a:r>
            <a:r>
              <a:rPr lang="en-US" dirty="0"/>
              <a:t> input </a:t>
            </a:r>
            <a:r>
              <a:rPr lang="en-US" dirty="0" err="1"/>
              <a:t>sinyal</a:t>
            </a:r>
            <a:r>
              <a:rPr lang="en-US" dirty="0"/>
              <a:t> </a:t>
            </a:r>
            <a:r>
              <a:rPr lang="en-US" dirty="0" err="1"/>
              <a:t>sama</a:t>
            </a:r>
            <a:r>
              <a:rPr lang="en-US" dirty="0"/>
              <a:t> </a:t>
            </a:r>
            <a:r>
              <a:rPr lang="en-US" dirty="0" err="1"/>
              <a:t>untuk</a:t>
            </a:r>
            <a:r>
              <a:rPr lang="en-US" dirty="0"/>
              <a:t> </a:t>
            </a:r>
            <a:r>
              <a:rPr lang="en-US" dirty="0" err="1"/>
              <a:t>kedua</a:t>
            </a:r>
            <a:r>
              <a:rPr lang="en-US" dirty="0"/>
              <a:t> lead </a:t>
            </a:r>
            <a:r>
              <a:rPr lang="en-US" dirty="0" err="1"/>
              <a:t>masukan</a:t>
            </a:r>
            <a:endParaRPr lang="en-US" dirty="0"/>
          </a:p>
        </p:txBody>
      </p:sp>
    </p:spTree>
    <p:extLst>
      <p:ext uri="{BB962C8B-B14F-4D97-AF65-F5344CB8AC3E}">
        <p14:creationId xmlns:p14="http://schemas.microsoft.com/office/powerpoint/2010/main" val="161304338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Rot="1" noChangeArrowheads="1"/>
          </p:cNvSpPr>
          <p:nvPr>
            <p:ph type="title"/>
          </p:nvPr>
        </p:nvSpPr>
        <p:spPr/>
        <p:txBody>
          <a:bodyPr/>
          <a:lstStyle/>
          <a:p>
            <a:r>
              <a:rPr lang="en-US"/>
              <a:t>Keluaran</a:t>
            </a:r>
          </a:p>
        </p:txBody>
      </p:sp>
      <p:sp>
        <p:nvSpPr>
          <p:cNvPr id="18435" name="Rectangle 3"/>
          <p:cNvSpPr>
            <a:spLocks noGrp="1" noChangeArrowheads="1"/>
          </p:cNvSpPr>
          <p:nvPr>
            <p:ph type="body" sz="half" idx="1"/>
          </p:nvPr>
        </p:nvSpPr>
        <p:spPr>
          <a:xfrm>
            <a:off x="2057400" y="1828800"/>
            <a:ext cx="4038600" cy="2743200"/>
          </a:xfrm>
        </p:spPr>
        <p:txBody>
          <a:bodyPr>
            <a:normAutofit lnSpcReduction="10000"/>
          </a:bodyPr>
          <a:lstStyle/>
          <a:p>
            <a:r>
              <a:rPr lang="en-US" dirty="0" err="1"/>
              <a:t>Tegangan</a:t>
            </a:r>
            <a:r>
              <a:rPr lang="en-US" dirty="0"/>
              <a:t> </a:t>
            </a:r>
            <a:r>
              <a:rPr lang="en-US" dirty="0" err="1"/>
              <a:t>keluaran</a:t>
            </a:r>
            <a:r>
              <a:rPr lang="en-US" dirty="0"/>
              <a:t> </a:t>
            </a:r>
            <a:r>
              <a:rPr lang="en-US" dirty="0" err="1"/>
              <a:t>tak</a:t>
            </a:r>
            <a:r>
              <a:rPr lang="en-US" dirty="0"/>
              <a:t> </a:t>
            </a:r>
            <a:r>
              <a:rPr lang="en-US" dirty="0" err="1"/>
              <a:t>kan</a:t>
            </a:r>
            <a:r>
              <a:rPr lang="en-US" dirty="0"/>
              <a:t> </a:t>
            </a:r>
            <a:r>
              <a:rPr lang="en-US" dirty="0" err="1"/>
              <a:t>pernah</a:t>
            </a:r>
            <a:r>
              <a:rPr lang="en-US" dirty="0"/>
              <a:t> </a:t>
            </a:r>
            <a:r>
              <a:rPr lang="en-US" dirty="0" err="1"/>
              <a:t>melampaui</a:t>
            </a:r>
            <a:r>
              <a:rPr lang="en-US" dirty="0"/>
              <a:t> V</a:t>
            </a:r>
            <a:r>
              <a:rPr lang="en-US" baseline="-25000" dirty="0"/>
              <a:t>CC</a:t>
            </a:r>
            <a:r>
              <a:rPr lang="en-US" dirty="0"/>
              <a:t>.</a:t>
            </a:r>
          </a:p>
          <a:p>
            <a:r>
              <a:rPr lang="en-US" dirty="0" err="1"/>
              <a:t>Keluaran</a:t>
            </a:r>
            <a:r>
              <a:rPr lang="en-US" dirty="0"/>
              <a:t> </a:t>
            </a:r>
            <a:r>
              <a:rPr lang="en-US" dirty="0" err="1"/>
              <a:t>hanya</a:t>
            </a:r>
            <a:r>
              <a:rPr lang="en-US" dirty="0"/>
              <a:t> </a:t>
            </a:r>
            <a:r>
              <a:rPr lang="en-US" dirty="0" err="1"/>
              <a:t>sampai</a:t>
            </a:r>
            <a:r>
              <a:rPr lang="en-US" dirty="0"/>
              <a:t> </a:t>
            </a:r>
            <a:r>
              <a:rPr lang="en-US" dirty="0" err="1"/>
              <a:t>ke</a:t>
            </a:r>
            <a:r>
              <a:rPr lang="en-US" dirty="0"/>
              <a:t> </a:t>
            </a:r>
            <a:r>
              <a:rPr lang="en-US" dirty="0" err="1"/>
              <a:t>tegangan</a:t>
            </a:r>
            <a:r>
              <a:rPr lang="en-US" dirty="0"/>
              <a:t> </a:t>
            </a:r>
            <a:r>
              <a:rPr lang="en-US" dirty="0" err="1"/>
              <a:t>saturasi</a:t>
            </a:r>
            <a:r>
              <a:rPr lang="en-US" dirty="0"/>
              <a:t> </a:t>
            </a:r>
            <a:r>
              <a:rPr lang="en-US" dirty="0" err="1"/>
              <a:t>yaitu</a:t>
            </a:r>
            <a:r>
              <a:rPr lang="en-US" dirty="0"/>
              <a:t> 1 </a:t>
            </a:r>
            <a:r>
              <a:rPr lang="en-US" dirty="0" err="1"/>
              <a:t>atau</a:t>
            </a:r>
            <a:r>
              <a:rPr lang="en-US" dirty="0"/>
              <a:t> 2V </a:t>
            </a:r>
            <a:r>
              <a:rPr lang="en-US" dirty="0" err="1"/>
              <a:t>dibawah</a:t>
            </a:r>
            <a:r>
              <a:rPr lang="en-US" dirty="0"/>
              <a:t> V</a:t>
            </a:r>
            <a:r>
              <a:rPr lang="en-US" baseline="-25000" dirty="0"/>
              <a:t>CC</a:t>
            </a:r>
            <a:r>
              <a:rPr lang="en-US" dirty="0"/>
              <a:t>. </a:t>
            </a:r>
          </a:p>
        </p:txBody>
      </p:sp>
      <p:pic>
        <p:nvPicPr>
          <p:cNvPr id="1843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200" y="2133600"/>
            <a:ext cx="3733800" cy="1797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18437" name="Object 5"/>
          <p:cNvGraphicFramePr>
            <a:graphicFrameLocks noGrp="1" noChangeAspect="1"/>
          </p:cNvGraphicFramePr>
          <p:nvPr>
            <p:ph sz="half" idx="2"/>
          </p:nvPr>
        </p:nvGraphicFramePr>
        <p:xfrm>
          <a:off x="2743200" y="4648200"/>
          <a:ext cx="2438400" cy="1035050"/>
        </p:xfrm>
        <a:graphic>
          <a:graphicData uri="http://schemas.openxmlformats.org/presentationml/2006/ole">
            <mc:AlternateContent xmlns:mc="http://schemas.openxmlformats.org/markup-compatibility/2006">
              <mc:Choice xmlns:v="urn:schemas-microsoft-com:vml" Requires="v">
                <p:oleObj spid="_x0000_s1030" name="Equation" r:id="rId4" imgW="926698" imgH="393529" progId="Equation.3">
                  <p:embed/>
                </p:oleObj>
              </mc:Choice>
              <mc:Fallback>
                <p:oleObj name="Equation" r:id="rId4" imgW="926698" imgH="393529" progId="Equation.3">
                  <p:embed/>
                  <p:pic>
                    <p:nvPicPr>
                      <p:cNvPr id="18437"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43200" y="4648200"/>
                        <a:ext cx="2438400" cy="1035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Slide Number Placeholder 3"/>
          <p:cNvSpPr>
            <a:spLocks noGrp="1"/>
          </p:cNvSpPr>
          <p:nvPr>
            <p:ph type="sldNum" sz="quarter" idx="11"/>
          </p:nvPr>
        </p:nvSpPr>
        <p:spPr/>
        <p:txBody>
          <a:bodyPr/>
          <a:lstStyle/>
          <a:p>
            <a:fld id="{63672217-76C2-4848-958E-84381210B462}" type="slidenum">
              <a:rPr lang="en-US" smtClean="0"/>
              <a:pPr/>
              <a:t>7</a:t>
            </a:fld>
            <a:endParaRPr lang="en-US"/>
          </a:p>
        </p:txBody>
      </p:sp>
    </p:spTree>
    <p:extLst>
      <p:ext uri="{BB962C8B-B14F-4D97-AF65-F5344CB8AC3E}">
        <p14:creationId xmlns:p14="http://schemas.microsoft.com/office/powerpoint/2010/main" val="125907548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Rot="1" noChangeArrowheads="1"/>
          </p:cNvSpPr>
          <p:nvPr>
            <p:ph type="title"/>
          </p:nvPr>
        </p:nvSpPr>
        <p:spPr/>
        <p:txBody>
          <a:bodyPr/>
          <a:lstStyle/>
          <a:p>
            <a:r>
              <a:rPr lang="en-US"/>
              <a:t>Operasi Kalang Terbuka</a:t>
            </a:r>
          </a:p>
        </p:txBody>
      </p:sp>
      <p:sp>
        <p:nvSpPr>
          <p:cNvPr id="20483" name="Rectangle 3"/>
          <p:cNvSpPr>
            <a:spLocks noGrp="1" noChangeArrowheads="1"/>
          </p:cNvSpPr>
          <p:nvPr>
            <p:ph type="body" sz="half" idx="1"/>
          </p:nvPr>
        </p:nvSpPr>
        <p:spPr>
          <a:xfrm>
            <a:off x="1981200" y="1600200"/>
            <a:ext cx="7924800" cy="2895600"/>
          </a:xfrm>
        </p:spPr>
        <p:txBody>
          <a:bodyPr/>
          <a:lstStyle/>
          <a:p>
            <a:r>
              <a:rPr lang="en-US" sz="2400" dirty="0" err="1"/>
              <a:t>Berfungsi</a:t>
            </a:r>
            <a:r>
              <a:rPr lang="en-US" sz="2400" dirty="0"/>
              <a:t> </a:t>
            </a:r>
            <a:r>
              <a:rPr lang="en-US" sz="2400" dirty="0" err="1"/>
              <a:t>sebagai</a:t>
            </a:r>
            <a:r>
              <a:rPr lang="en-US" sz="2400" dirty="0"/>
              <a:t> </a:t>
            </a:r>
            <a:r>
              <a:rPr lang="en-US" sz="2400" dirty="0" err="1"/>
              <a:t>komparator</a:t>
            </a:r>
            <a:endParaRPr lang="en-US" sz="2400" dirty="0"/>
          </a:p>
          <a:p>
            <a:pPr lvl="1"/>
            <a:r>
              <a:rPr lang="en-US" sz="2100" dirty="0" err="1"/>
              <a:t>Tegangan</a:t>
            </a:r>
            <a:r>
              <a:rPr lang="en-US" sz="2100" dirty="0"/>
              <a:t> output </a:t>
            </a:r>
            <a:r>
              <a:rPr lang="en-US" sz="2100" dirty="0" err="1"/>
              <a:t>adalah</a:t>
            </a:r>
            <a:r>
              <a:rPr lang="en-US" sz="2100" dirty="0"/>
              <a:t> +</a:t>
            </a:r>
            <a:r>
              <a:rPr lang="en-US" sz="2100" dirty="0" err="1"/>
              <a:t>Vsat</a:t>
            </a:r>
            <a:r>
              <a:rPr lang="en-US" sz="2100" dirty="0"/>
              <a:t> </a:t>
            </a:r>
            <a:r>
              <a:rPr lang="en-US" sz="2100" dirty="0" err="1"/>
              <a:t>jika</a:t>
            </a:r>
            <a:r>
              <a:rPr lang="en-US" sz="2100" dirty="0"/>
              <a:t> </a:t>
            </a:r>
            <a:r>
              <a:rPr lang="en-US" sz="2100" dirty="0" err="1"/>
              <a:t>tegangan</a:t>
            </a:r>
            <a:r>
              <a:rPr lang="en-US" sz="2100" dirty="0"/>
              <a:t> input non-inverting </a:t>
            </a:r>
            <a:r>
              <a:rPr lang="en-US" sz="2100" dirty="0" err="1"/>
              <a:t>lebih</a:t>
            </a:r>
            <a:r>
              <a:rPr lang="en-US" sz="2100" dirty="0"/>
              <a:t> </a:t>
            </a:r>
            <a:r>
              <a:rPr lang="en-US" sz="2100" dirty="0" err="1"/>
              <a:t>tinggi</a:t>
            </a:r>
            <a:r>
              <a:rPr lang="en-US" sz="2100" dirty="0"/>
              <a:t> </a:t>
            </a:r>
            <a:r>
              <a:rPr lang="en-US" sz="2100" dirty="0" err="1"/>
              <a:t>dari</a:t>
            </a:r>
            <a:r>
              <a:rPr lang="en-US" sz="2100" dirty="0"/>
              <a:t> </a:t>
            </a:r>
            <a:r>
              <a:rPr lang="en-US" sz="2100" dirty="0" err="1"/>
              <a:t>tegangan</a:t>
            </a:r>
            <a:r>
              <a:rPr lang="en-US" sz="2100" dirty="0"/>
              <a:t> input inverting</a:t>
            </a:r>
          </a:p>
          <a:p>
            <a:pPr lvl="1"/>
            <a:r>
              <a:rPr lang="en-US" sz="2100" dirty="0" err="1"/>
              <a:t>Demikian</a:t>
            </a:r>
            <a:r>
              <a:rPr lang="en-US" sz="2100" dirty="0"/>
              <a:t> </a:t>
            </a:r>
            <a:r>
              <a:rPr lang="en-US" sz="2100" dirty="0" err="1"/>
              <a:t>juga</a:t>
            </a:r>
            <a:r>
              <a:rPr lang="en-US" sz="2100" dirty="0"/>
              <a:t>, </a:t>
            </a:r>
            <a:r>
              <a:rPr lang="en-US" sz="2100" dirty="0" err="1"/>
              <a:t>tegangan</a:t>
            </a:r>
            <a:r>
              <a:rPr lang="en-US" sz="2100" dirty="0"/>
              <a:t> output </a:t>
            </a:r>
            <a:r>
              <a:rPr lang="en-US" sz="2100" dirty="0" err="1"/>
              <a:t>adalah</a:t>
            </a:r>
            <a:r>
              <a:rPr lang="en-US" sz="2100" dirty="0"/>
              <a:t> –</a:t>
            </a:r>
            <a:r>
              <a:rPr lang="en-US" sz="2100" dirty="0" err="1"/>
              <a:t>Vsat</a:t>
            </a:r>
            <a:r>
              <a:rPr lang="en-US" sz="2100" dirty="0"/>
              <a:t> </a:t>
            </a:r>
            <a:r>
              <a:rPr lang="en-US" sz="2100" dirty="0" err="1"/>
              <a:t>jika</a:t>
            </a:r>
            <a:r>
              <a:rPr lang="en-US" sz="2100" dirty="0"/>
              <a:t> </a:t>
            </a:r>
            <a:r>
              <a:rPr lang="en-US" sz="2100" dirty="0" err="1"/>
              <a:t>tegangan</a:t>
            </a:r>
            <a:r>
              <a:rPr lang="en-US" sz="2100" dirty="0"/>
              <a:t> input non-inverting </a:t>
            </a:r>
            <a:r>
              <a:rPr lang="en-US" sz="2100" dirty="0" err="1"/>
              <a:t>lebih</a:t>
            </a:r>
            <a:r>
              <a:rPr lang="en-US" sz="2100" dirty="0"/>
              <a:t> </a:t>
            </a:r>
            <a:r>
              <a:rPr lang="en-US" sz="2100" dirty="0" err="1"/>
              <a:t>rendah</a:t>
            </a:r>
            <a:r>
              <a:rPr lang="en-US" sz="2100" dirty="0"/>
              <a:t> </a:t>
            </a:r>
            <a:r>
              <a:rPr lang="en-US" sz="2100" dirty="0" err="1"/>
              <a:t>dari</a:t>
            </a:r>
            <a:r>
              <a:rPr lang="en-US" sz="2100" dirty="0"/>
              <a:t> </a:t>
            </a:r>
            <a:r>
              <a:rPr lang="en-US" sz="2100" dirty="0" err="1"/>
              <a:t>tegangan</a:t>
            </a:r>
            <a:r>
              <a:rPr lang="en-US" sz="2100" dirty="0"/>
              <a:t> input inverting </a:t>
            </a:r>
          </a:p>
        </p:txBody>
      </p:sp>
      <p:graphicFrame>
        <p:nvGraphicFramePr>
          <p:cNvPr id="20484" name="Object 4"/>
          <p:cNvGraphicFramePr>
            <a:graphicFrameLocks noGrp="1" noChangeAspect="1"/>
          </p:cNvGraphicFramePr>
          <p:nvPr>
            <p:ph sz="half" idx="2"/>
          </p:nvPr>
        </p:nvGraphicFramePr>
        <p:xfrm>
          <a:off x="4114800" y="3886201"/>
          <a:ext cx="3048000" cy="1198563"/>
        </p:xfrm>
        <a:graphic>
          <a:graphicData uri="http://schemas.openxmlformats.org/presentationml/2006/ole">
            <mc:AlternateContent xmlns:mc="http://schemas.openxmlformats.org/markup-compatibility/2006">
              <mc:Choice xmlns:v="urn:schemas-microsoft-com:vml" Requires="v">
                <p:oleObj spid="_x0000_s2054" name="Equation" r:id="rId3" imgW="1129810" imgH="444307" progId="Equation.DSMT4">
                  <p:embed/>
                </p:oleObj>
              </mc:Choice>
              <mc:Fallback>
                <p:oleObj name="Equation" r:id="rId3" imgW="1129810" imgH="444307" progId="Equation.DSMT4">
                  <p:embed/>
                  <p:pic>
                    <p:nvPicPr>
                      <p:cNvPr id="20484"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14800" y="3886201"/>
                        <a:ext cx="3048000" cy="1198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Slide Number Placeholder 3"/>
          <p:cNvSpPr>
            <a:spLocks noGrp="1"/>
          </p:cNvSpPr>
          <p:nvPr>
            <p:ph type="sldNum" sz="quarter" idx="11"/>
          </p:nvPr>
        </p:nvSpPr>
        <p:spPr/>
        <p:txBody>
          <a:bodyPr/>
          <a:lstStyle/>
          <a:p>
            <a:fld id="{63672217-76C2-4848-958E-84381210B462}" type="slidenum">
              <a:rPr lang="en-US" smtClean="0"/>
              <a:pPr/>
              <a:t>8</a:t>
            </a:fld>
            <a:endParaRPr lang="en-US"/>
          </a:p>
        </p:txBody>
      </p:sp>
    </p:spTree>
    <p:extLst>
      <p:ext uri="{BB962C8B-B14F-4D97-AF65-F5344CB8AC3E}">
        <p14:creationId xmlns:p14="http://schemas.microsoft.com/office/powerpoint/2010/main" val="56996887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4" name="Rectangle 4"/>
          <p:cNvSpPr>
            <a:spLocks noGrp="1" noRot="1" noChangeArrowheads="1"/>
          </p:cNvSpPr>
          <p:nvPr>
            <p:ph type="title"/>
          </p:nvPr>
        </p:nvSpPr>
        <p:spPr/>
        <p:txBody>
          <a:bodyPr/>
          <a:lstStyle/>
          <a:p>
            <a:r>
              <a:rPr lang="en-US"/>
              <a:t>Kalang Tertutup</a:t>
            </a:r>
          </a:p>
        </p:txBody>
      </p:sp>
      <p:pic>
        <p:nvPicPr>
          <p:cNvPr id="35845" name="Picture 5"/>
          <p:cNvPicPr>
            <a:picLocks noGrp="1" noChangeAspect="1" noChangeArrowheads="1"/>
          </p:cNvPicPr>
          <p:nvPr>
            <p:ph sz="quarter" idx="1"/>
          </p:nvPr>
        </p:nvPicPr>
        <p:blipFill>
          <a:blip r:embed="rId3">
            <a:extLst>
              <a:ext uri="{28A0092B-C50C-407E-A947-70E740481C1C}">
                <a14:useLocalDpi xmlns:a14="http://schemas.microsoft.com/office/drawing/2010/main" val="0"/>
              </a:ext>
            </a:extLst>
          </a:blip>
          <a:srcRect/>
          <a:stretch>
            <a:fillRect/>
          </a:stretch>
        </p:blipFill>
        <p:spPr>
          <a:xfrm>
            <a:off x="4343400" y="1447801"/>
            <a:ext cx="3595688" cy="2054225"/>
          </a:xfrm>
        </p:spPr>
      </p:pic>
      <p:sp>
        <p:nvSpPr>
          <p:cNvPr id="35846" name="Rectangle 6"/>
          <p:cNvSpPr>
            <a:spLocks noGrp="1" noChangeArrowheads="1"/>
          </p:cNvSpPr>
          <p:nvPr>
            <p:ph type="body" sz="half" idx="3"/>
          </p:nvPr>
        </p:nvSpPr>
        <p:spPr>
          <a:xfrm>
            <a:off x="1981200" y="3581400"/>
            <a:ext cx="8229600" cy="1524000"/>
          </a:xfrm>
        </p:spPr>
        <p:txBody>
          <a:bodyPr>
            <a:normAutofit lnSpcReduction="10000"/>
          </a:bodyPr>
          <a:lstStyle/>
          <a:p>
            <a:pPr>
              <a:lnSpc>
                <a:spcPct val="90000"/>
              </a:lnSpc>
            </a:pPr>
            <a:r>
              <a:rPr lang="en-US" sz="2400" dirty="0" err="1"/>
              <a:t>Salah</a:t>
            </a:r>
            <a:r>
              <a:rPr lang="en-US" sz="2400" dirty="0"/>
              <a:t> </a:t>
            </a:r>
            <a:r>
              <a:rPr lang="en-US" sz="2400" dirty="0" err="1"/>
              <a:t>satu</a:t>
            </a:r>
            <a:r>
              <a:rPr lang="en-US" sz="2400" dirty="0"/>
              <a:t> </a:t>
            </a:r>
            <a:r>
              <a:rPr lang="en-US" sz="2400" dirty="0" err="1"/>
              <a:t>karakteristik</a:t>
            </a:r>
            <a:r>
              <a:rPr lang="en-US" sz="2400" dirty="0"/>
              <a:t> Op-amp </a:t>
            </a:r>
            <a:r>
              <a:rPr lang="en-US" sz="2400" dirty="0" err="1"/>
              <a:t>adalah</a:t>
            </a:r>
            <a:r>
              <a:rPr lang="en-US" sz="2400" dirty="0"/>
              <a:t> </a:t>
            </a:r>
            <a:r>
              <a:rPr lang="en-US" sz="2400" dirty="0" err="1"/>
              <a:t>tegangan</a:t>
            </a:r>
            <a:r>
              <a:rPr lang="en-US" sz="2400" dirty="0"/>
              <a:t> input (</a:t>
            </a:r>
            <a:r>
              <a:rPr lang="en-US" sz="2400" dirty="0" err="1"/>
              <a:t>antar</a:t>
            </a:r>
            <a:r>
              <a:rPr lang="en-US" sz="2400" dirty="0"/>
              <a:t> terminal input) yang </a:t>
            </a:r>
            <a:r>
              <a:rPr lang="en-US" sz="2400" dirty="0" err="1"/>
              <a:t>sangat</a:t>
            </a:r>
            <a:r>
              <a:rPr lang="en-US" sz="2400" dirty="0"/>
              <a:t> </a:t>
            </a:r>
            <a:r>
              <a:rPr lang="en-US" sz="2400" dirty="0" err="1"/>
              <a:t>kecil</a:t>
            </a:r>
            <a:r>
              <a:rPr lang="en-US" sz="2400" dirty="0"/>
              <a:t>.</a:t>
            </a:r>
          </a:p>
          <a:p>
            <a:pPr>
              <a:lnSpc>
                <a:spcPct val="90000"/>
              </a:lnSpc>
            </a:pPr>
            <a:r>
              <a:rPr lang="en-US" sz="2400" dirty="0"/>
              <a:t> Dan </a:t>
            </a:r>
            <a:r>
              <a:rPr lang="en-US" sz="2400" dirty="0" err="1"/>
              <a:t>resistansi</a:t>
            </a:r>
            <a:r>
              <a:rPr lang="en-US" sz="2400" dirty="0"/>
              <a:t> input yang </a:t>
            </a:r>
            <a:r>
              <a:rPr lang="en-US" sz="2400" dirty="0" err="1"/>
              <a:t>sangat</a:t>
            </a:r>
            <a:r>
              <a:rPr lang="en-US" sz="2400" dirty="0"/>
              <a:t> </a:t>
            </a:r>
            <a:r>
              <a:rPr lang="en-US" sz="2400" dirty="0" err="1"/>
              <a:t>besar</a:t>
            </a:r>
            <a:r>
              <a:rPr lang="en-US" sz="2400" dirty="0"/>
              <a:t> </a:t>
            </a:r>
            <a:r>
              <a:rPr lang="en-US" sz="2400" dirty="0" err="1"/>
              <a:t>menyebabkan</a:t>
            </a:r>
            <a:r>
              <a:rPr lang="en-US" sz="2400" dirty="0"/>
              <a:t> </a:t>
            </a:r>
            <a:r>
              <a:rPr lang="en-US" sz="2400" dirty="0" err="1"/>
              <a:t>tidak</a:t>
            </a:r>
            <a:r>
              <a:rPr lang="en-US" sz="2400" dirty="0"/>
              <a:t> </a:t>
            </a:r>
            <a:r>
              <a:rPr lang="en-US" sz="2400" dirty="0" err="1"/>
              <a:t>adanya</a:t>
            </a:r>
            <a:r>
              <a:rPr lang="en-US" sz="2400" dirty="0"/>
              <a:t> </a:t>
            </a:r>
            <a:r>
              <a:rPr lang="en-US" sz="2400" dirty="0" err="1"/>
              <a:t>arus</a:t>
            </a:r>
            <a:r>
              <a:rPr lang="en-US" sz="2400" dirty="0"/>
              <a:t> yang </a:t>
            </a:r>
            <a:r>
              <a:rPr lang="en-US" sz="2400" dirty="0" err="1"/>
              <a:t>mengalir</a:t>
            </a:r>
            <a:r>
              <a:rPr lang="en-US" sz="2400" dirty="0"/>
              <a:t>, </a:t>
            </a:r>
            <a:r>
              <a:rPr lang="en-US" sz="2400" dirty="0" err="1"/>
              <a:t>sehingga</a:t>
            </a:r>
            <a:endParaRPr lang="en-US" sz="2400" dirty="0"/>
          </a:p>
        </p:txBody>
      </p:sp>
      <p:graphicFrame>
        <p:nvGraphicFramePr>
          <p:cNvPr id="35847" name="Object 7"/>
          <p:cNvGraphicFramePr>
            <a:graphicFrameLocks noGrp="1" noChangeAspect="1"/>
          </p:cNvGraphicFramePr>
          <p:nvPr>
            <p:ph sz="quarter" idx="2"/>
          </p:nvPr>
        </p:nvGraphicFramePr>
        <p:xfrm>
          <a:off x="4038601" y="5205412"/>
          <a:ext cx="974725" cy="1119188"/>
        </p:xfrm>
        <a:graphic>
          <a:graphicData uri="http://schemas.openxmlformats.org/presentationml/2006/ole">
            <mc:AlternateContent xmlns:mc="http://schemas.openxmlformats.org/markup-compatibility/2006">
              <mc:Choice xmlns:v="urn:schemas-microsoft-com:vml" Requires="v">
                <p:oleObj spid="_x0000_s3078" name="Equation" r:id="rId4" imgW="342751" imgH="393529" progId="Equation.3">
                  <p:embed/>
                </p:oleObj>
              </mc:Choice>
              <mc:Fallback>
                <p:oleObj name="Equation" r:id="rId4" imgW="342751" imgH="393529" progId="Equation.3">
                  <p:embed/>
                  <p:pic>
                    <p:nvPicPr>
                      <p:cNvPr id="35847"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38601" y="5205412"/>
                        <a:ext cx="974725" cy="1119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Slide Number Placeholder 6"/>
          <p:cNvSpPr>
            <a:spLocks noGrp="1"/>
          </p:cNvSpPr>
          <p:nvPr>
            <p:ph type="sldNum" sz="quarter" idx="11"/>
          </p:nvPr>
        </p:nvSpPr>
        <p:spPr/>
        <p:txBody>
          <a:bodyPr/>
          <a:lstStyle/>
          <a:p>
            <a:fld id="{03C54592-212B-4FA3-B840-EC95D5B568CD}" type="slidenum">
              <a:rPr lang="en-US" smtClean="0"/>
              <a:pPr/>
              <a:t>9</a:t>
            </a:fld>
            <a:endParaRPr lang="en-US"/>
          </a:p>
        </p:txBody>
      </p:sp>
    </p:spTree>
    <p:extLst>
      <p:ext uri="{BB962C8B-B14F-4D97-AF65-F5344CB8AC3E}">
        <p14:creationId xmlns:p14="http://schemas.microsoft.com/office/powerpoint/2010/main" val="86221749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Rot="1" noChangeArrowheads="1"/>
          </p:cNvSpPr>
          <p:nvPr>
            <p:ph type="title"/>
          </p:nvPr>
        </p:nvSpPr>
        <p:spPr/>
        <p:txBody>
          <a:bodyPr/>
          <a:lstStyle/>
          <a:p>
            <a:r>
              <a:rPr lang="en-US"/>
              <a:t>Virtual Short Virtual Ground</a:t>
            </a:r>
          </a:p>
        </p:txBody>
      </p:sp>
      <p:sp>
        <p:nvSpPr>
          <p:cNvPr id="37891" name="Rectangle 3"/>
          <p:cNvSpPr>
            <a:spLocks noGrp="1" noChangeArrowheads="1"/>
          </p:cNvSpPr>
          <p:nvPr>
            <p:ph type="body" idx="1"/>
          </p:nvPr>
        </p:nvSpPr>
        <p:spPr>
          <a:xfrm>
            <a:off x="1981200" y="1600200"/>
            <a:ext cx="8229600" cy="3657600"/>
          </a:xfrm>
        </p:spPr>
        <p:txBody>
          <a:bodyPr>
            <a:normAutofit/>
          </a:bodyPr>
          <a:lstStyle/>
          <a:p>
            <a:pPr>
              <a:lnSpc>
                <a:spcPct val="90000"/>
              </a:lnSpc>
            </a:pPr>
            <a:r>
              <a:rPr lang="en-US" sz="2400"/>
              <a:t>Kedua persamaan (vi=0 dan ii=0) mengasumsikan bahwa kedua terminal input seolah-olah terhubung langsung (virtual short), yang mana baik tegangan maupun arus sangat2 mendekati nol</a:t>
            </a:r>
          </a:p>
          <a:p>
            <a:pPr>
              <a:lnSpc>
                <a:spcPct val="90000"/>
              </a:lnSpc>
            </a:pPr>
            <a:r>
              <a:rPr lang="en-US" sz="2400"/>
              <a:t>Karena adanya virtual short, maka kaki inverting seolah-olah terhubung ke ground (virtual ground). </a:t>
            </a:r>
          </a:p>
          <a:p>
            <a:pPr>
              <a:lnSpc>
                <a:spcPct val="90000"/>
              </a:lnSpc>
            </a:pPr>
            <a:r>
              <a:rPr lang="en-US" sz="2400"/>
              <a:t>Catatan bahwa meski kaki non-inverting tak terhubung langsung ke ground, dalam arti ada resistor diantaranya, namun tak ada arus mengalir melewati resistor tersebut. Sehingga tegangan resistor adalah nol. Maka kaki inverting tetap saja pada kondisi virtual ground.</a:t>
            </a:r>
          </a:p>
        </p:txBody>
      </p:sp>
      <p:sp>
        <p:nvSpPr>
          <p:cNvPr id="5" name="Slide Number Placeholder 4"/>
          <p:cNvSpPr>
            <a:spLocks noGrp="1"/>
          </p:cNvSpPr>
          <p:nvPr>
            <p:ph type="sldNum" sz="quarter" idx="12"/>
          </p:nvPr>
        </p:nvSpPr>
        <p:spPr/>
        <p:txBody>
          <a:bodyPr>
            <a:normAutofit/>
          </a:bodyPr>
          <a:lstStyle/>
          <a:p>
            <a:fld id="{30FF78D7-7CA0-44FD-8733-19F49D683D81}" type="slidenum">
              <a:rPr lang="en-US" smtClean="0"/>
              <a:pPr/>
              <a:t>10</a:t>
            </a:fld>
            <a:endParaRPr lang="en-US"/>
          </a:p>
        </p:txBody>
      </p:sp>
    </p:spTree>
    <p:extLst>
      <p:ext uri="{BB962C8B-B14F-4D97-AF65-F5344CB8AC3E}">
        <p14:creationId xmlns:p14="http://schemas.microsoft.com/office/powerpoint/2010/main" val="157699002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4"/>
          <p:cNvSpPr>
            <a:spLocks noGrp="1" noRot="1" noChangeArrowheads="1"/>
          </p:cNvSpPr>
          <p:nvPr>
            <p:ph type="title"/>
          </p:nvPr>
        </p:nvSpPr>
        <p:spPr/>
        <p:txBody>
          <a:bodyPr>
            <a:normAutofit/>
          </a:bodyPr>
          <a:lstStyle/>
          <a:p>
            <a:r>
              <a:rPr lang="en-US" dirty="0" err="1"/>
              <a:t>Penguat</a:t>
            </a:r>
            <a:r>
              <a:rPr lang="en-US" dirty="0"/>
              <a:t> </a:t>
            </a:r>
            <a:r>
              <a:rPr lang="en-US" dirty="0" err="1" smtClean="0"/>
              <a:t>Membalik</a:t>
            </a:r>
            <a:r>
              <a:rPr lang="en-US" dirty="0" smtClean="0"/>
              <a:t> ( Inverting OP-AMP)</a:t>
            </a:r>
            <a:endParaRPr lang="en-US" dirty="0"/>
          </a:p>
        </p:txBody>
      </p:sp>
      <p:graphicFrame>
        <p:nvGraphicFramePr>
          <p:cNvPr id="39941" name="Object 5"/>
          <p:cNvGraphicFramePr>
            <a:graphicFrameLocks noGrp="1" noChangeAspect="1"/>
          </p:cNvGraphicFramePr>
          <p:nvPr>
            <p:ph sz="quarter" idx="1"/>
          </p:nvPr>
        </p:nvGraphicFramePr>
        <p:xfrm>
          <a:off x="2327536" y="1600200"/>
          <a:ext cx="3920864" cy="2214562"/>
        </p:xfrm>
        <a:graphic>
          <a:graphicData uri="http://schemas.openxmlformats.org/presentationml/2006/ole">
            <mc:AlternateContent xmlns:mc="http://schemas.openxmlformats.org/markup-compatibility/2006">
              <mc:Choice xmlns:v="urn:schemas-microsoft-com:vml" Requires="v">
                <p:oleObj spid="_x0000_s4110" name="Image" r:id="rId3" imgW="2946032" imgH="1663492" progId="">
                  <p:embed/>
                </p:oleObj>
              </mc:Choice>
              <mc:Fallback>
                <p:oleObj name="Image" r:id="rId3" imgW="2946032" imgH="1663492" progId="">
                  <p:embed/>
                  <p:pic>
                    <p:nvPicPr>
                      <p:cNvPr id="39941"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27536" y="1600200"/>
                        <a:ext cx="3920864" cy="22145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9942" name="Rectangle 6"/>
          <p:cNvSpPr>
            <a:spLocks noGrp="1" noChangeArrowheads="1"/>
          </p:cNvSpPr>
          <p:nvPr>
            <p:ph type="body" sz="half" idx="3"/>
          </p:nvPr>
        </p:nvSpPr>
        <p:spPr/>
        <p:txBody>
          <a:bodyPr/>
          <a:lstStyle/>
          <a:p>
            <a:r>
              <a:rPr lang="en-US"/>
              <a:t> </a:t>
            </a:r>
            <a:r>
              <a:rPr lang="en-US" i="1"/>
              <a:t>i</a:t>
            </a:r>
            <a:r>
              <a:rPr lang="en-US" i="1" baseline="-25000"/>
              <a:t>i</a:t>
            </a:r>
            <a:r>
              <a:rPr lang="en-US" i="1"/>
              <a:t>=0, maka i</a:t>
            </a:r>
            <a:r>
              <a:rPr lang="en-US" i="1" baseline="-25000"/>
              <a:t>2</a:t>
            </a:r>
            <a:r>
              <a:rPr lang="en-US" i="1"/>
              <a:t>=i</a:t>
            </a:r>
            <a:r>
              <a:rPr lang="en-US" i="1" baseline="-25000"/>
              <a:t>1</a:t>
            </a:r>
            <a:r>
              <a:rPr lang="en-US" i="1"/>
              <a:t> . Dan v</a:t>
            </a:r>
            <a:r>
              <a:rPr lang="en-US" i="1" baseline="-25000"/>
              <a:t>i</a:t>
            </a:r>
            <a:r>
              <a:rPr lang="en-US" i="1"/>
              <a:t>=0</a:t>
            </a:r>
          </a:p>
        </p:txBody>
      </p:sp>
      <p:pic>
        <p:nvPicPr>
          <p:cNvPr id="39943"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77000" y="1981200"/>
            <a:ext cx="3739660" cy="175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39944" name="Object 8"/>
          <p:cNvGraphicFramePr>
            <a:graphicFrameLocks noGrp="1" noChangeAspect="1"/>
          </p:cNvGraphicFramePr>
          <p:nvPr>
            <p:ph sz="quarter" idx="2"/>
          </p:nvPr>
        </p:nvGraphicFramePr>
        <p:xfrm>
          <a:off x="3048000" y="4724400"/>
          <a:ext cx="1119188" cy="1347788"/>
        </p:xfrm>
        <a:graphic>
          <a:graphicData uri="http://schemas.openxmlformats.org/presentationml/2006/ole">
            <mc:AlternateContent xmlns:mc="http://schemas.openxmlformats.org/markup-compatibility/2006">
              <mc:Choice xmlns:v="urn:schemas-microsoft-com:vml" Requires="v">
                <p:oleObj spid="_x0000_s4111" name="Equation" r:id="rId6" imgW="622030" imgH="748975" progId="Equation.3">
                  <p:embed/>
                </p:oleObj>
              </mc:Choice>
              <mc:Fallback>
                <p:oleObj name="Equation" r:id="rId6" imgW="622030" imgH="748975" progId="Equation.3">
                  <p:embed/>
                  <p:pic>
                    <p:nvPicPr>
                      <p:cNvPr id="39944"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48000" y="4724400"/>
                        <a:ext cx="1119188" cy="13477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9946" name="Object 10"/>
          <p:cNvGraphicFramePr>
            <a:graphicFrameLocks noChangeAspect="1"/>
          </p:cNvGraphicFramePr>
          <p:nvPr/>
        </p:nvGraphicFramePr>
        <p:xfrm>
          <a:off x="6400800" y="4267200"/>
          <a:ext cx="1550988" cy="1905000"/>
        </p:xfrm>
        <a:graphic>
          <a:graphicData uri="http://schemas.openxmlformats.org/presentationml/2006/ole">
            <mc:AlternateContent xmlns:mc="http://schemas.openxmlformats.org/markup-compatibility/2006">
              <mc:Choice xmlns:v="urn:schemas-microsoft-com:vml" Requires="v">
                <p:oleObj spid="_x0000_s4112" name="Equation" r:id="rId8" imgW="609600" imgH="749300" progId="Equation.3">
                  <p:embed/>
                </p:oleObj>
              </mc:Choice>
              <mc:Fallback>
                <p:oleObj name="Equation" r:id="rId8" imgW="609600" imgH="749300" progId="Equation.3">
                  <p:embed/>
                  <p:pic>
                    <p:nvPicPr>
                      <p:cNvPr id="39946" name="Object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400800" y="4267200"/>
                        <a:ext cx="1550988" cy="1905000"/>
                      </a:xfrm>
                      <a:prstGeom prst="rect">
                        <a:avLst/>
                      </a:prstGeom>
                      <a:solidFill>
                        <a:srgbClr val="C0C0C0"/>
                      </a:solidFill>
                    </p:spPr>
                  </p:pic>
                </p:oleObj>
              </mc:Fallback>
            </mc:AlternateContent>
          </a:graphicData>
        </a:graphic>
      </p:graphicFrame>
      <p:sp>
        <p:nvSpPr>
          <p:cNvPr id="9" name="Slide Number Placeholder 8"/>
          <p:cNvSpPr>
            <a:spLocks noGrp="1"/>
          </p:cNvSpPr>
          <p:nvPr>
            <p:ph type="sldNum" sz="quarter" idx="11"/>
          </p:nvPr>
        </p:nvSpPr>
        <p:spPr/>
        <p:txBody>
          <a:bodyPr/>
          <a:lstStyle/>
          <a:p>
            <a:fld id="{03C54592-212B-4FA3-B840-EC95D5B568CD}" type="slidenum">
              <a:rPr lang="en-US" smtClean="0"/>
              <a:pPr/>
              <a:t>11</a:t>
            </a:fld>
            <a:endParaRPr lang="en-US"/>
          </a:p>
        </p:txBody>
      </p:sp>
    </p:spTree>
    <p:extLst>
      <p:ext uri="{BB962C8B-B14F-4D97-AF65-F5344CB8AC3E}">
        <p14:creationId xmlns:p14="http://schemas.microsoft.com/office/powerpoint/2010/main" val="38806655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Rot="1" noChangeArrowheads="1"/>
          </p:cNvSpPr>
          <p:nvPr>
            <p:ph type="title"/>
          </p:nvPr>
        </p:nvSpPr>
        <p:spPr/>
        <p:txBody>
          <a:bodyPr>
            <a:normAutofit/>
          </a:bodyPr>
          <a:lstStyle/>
          <a:p>
            <a:r>
              <a:rPr lang="en-US" dirty="0" err="1"/>
              <a:t>Penguat</a:t>
            </a:r>
            <a:r>
              <a:rPr lang="en-US" dirty="0"/>
              <a:t> </a:t>
            </a:r>
            <a:r>
              <a:rPr lang="en-US" dirty="0" err="1"/>
              <a:t>Membalik</a:t>
            </a:r>
            <a:r>
              <a:rPr lang="en-US" dirty="0"/>
              <a:t> ( Inverting OP-AMP)</a:t>
            </a:r>
          </a:p>
        </p:txBody>
      </p:sp>
      <p:sp>
        <p:nvSpPr>
          <p:cNvPr id="43011" name="Rectangle 3"/>
          <p:cNvSpPr>
            <a:spLocks noGrp="1" noChangeArrowheads="1"/>
          </p:cNvSpPr>
          <p:nvPr>
            <p:ph type="body" sz="half" idx="1"/>
          </p:nvPr>
        </p:nvSpPr>
        <p:spPr>
          <a:xfrm>
            <a:off x="1981200" y="1600200"/>
            <a:ext cx="8153400" cy="3505200"/>
          </a:xfrm>
        </p:spPr>
        <p:txBody>
          <a:bodyPr>
            <a:normAutofit lnSpcReduction="10000"/>
          </a:bodyPr>
          <a:lstStyle/>
          <a:p>
            <a:pPr>
              <a:lnSpc>
                <a:spcPct val="90000"/>
              </a:lnSpc>
            </a:pPr>
            <a:r>
              <a:rPr lang="en-US" sz="2400"/>
              <a:t>Input resistance</a:t>
            </a:r>
          </a:p>
          <a:p>
            <a:pPr lvl="1">
              <a:lnSpc>
                <a:spcPct val="90000"/>
              </a:lnSpc>
            </a:pPr>
            <a:r>
              <a:rPr lang="en-US" sz="2000"/>
              <a:t>Karena terminal inverting dalam kondisi virtual ground, maka input resistance yg terlihat dari sumber (vs) adalah Rs. </a:t>
            </a:r>
          </a:p>
          <a:p>
            <a:pPr>
              <a:lnSpc>
                <a:spcPct val="90000"/>
              </a:lnSpc>
            </a:pPr>
            <a:r>
              <a:rPr lang="en-US" sz="2400"/>
              <a:t>Output resistance</a:t>
            </a:r>
          </a:p>
          <a:p>
            <a:pPr lvl="1">
              <a:lnSpc>
                <a:spcPct val="90000"/>
              </a:lnSpc>
            </a:pPr>
            <a:r>
              <a:rPr lang="en-US" sz="2000"/>
              <a:t>Output resistance rangkaian yg terlihat dari beban adalah mendekati nol</a:t>
            </a:r>
          </a:p>
          <a:p>
            <a:pPr>
              <a:lnSpc>
                <a:spcPct val="90000"/>
              </a:lnSpc>
            </a:pPr>
            <a:r>
              <a:rPr lang="en-US" sz="2400"/>
              <a:t>Bandwidth:</a:t>
            </a:r>
          </a:p>
          <a:p>
            <a:pPr lvl="1">
              <a:lnSpc>
                <a:spcPct val="90000"/>
              </a:lnSpc>
            </a:pPr>
            <a:r>
              <a:rPr lang="en-US" sz="2000" b="1"/>
              <a:t>Gain-Bandwidth</a:t>
            </a:r>
            <a:r>
              <a:rPr lang="en-US" sz="2000"/>
              <a:t> Product (GBW) Op-amp, disebut juga satuan (unity) gain bandwidth, diberikan di dalam data sheets. Sebagai contoh Op-amp 741adalah 1 MHz, maka bandwidth op-amp dapat dihitung dengan rumus</a:t>
            </a:r>
          </a:p>
        </p:txBody>
      </p:sp>
      <p:graphicFrame>
        <p:nvGraphicFramePr>
          <p:cNvPr id="43012" name="Object 4"/>
          <p:cNvGraphicFramePr>
            <a:graphicFrameLocks noGrp="1" noChangeAspect="1"/>
          </p:cNvGraphicFramePr>
          <p:nvPr>
            <p:ph sz="half" idx="2"/>
          </p:nvPr>
        </p:nvGraphicFramePr>
        <p:xfrm>
          <a:off x="4724400" y="4910139"/>
          <a:ext cx="1905000" cy="1038225"/>
        </p:xfrm>
        <a:graphic>
          <a:graphicData uri="http://schemas.openxmlformats.org/presentationml/2006/ole">
            <mc:AlternateContent xmlns:mc="http://schemas.openxmlformats.org/markup-compatibility/2006">
              <mc:Choice xmlns:v="urn:schemas-microsoft-com:vml" Requires="v">
                <p:oleObj spid="_x0000_s5126" name="Equation" r:id="rId3" imgW="698500" imgH="381000" progId="Equation.3">
                  <p:embed/>
                </p:oleObj>
              </mc:Choice>
              <mc:Fallback>
                <p:oleObj name="Equation" r:id="rId3" imgW="698500" imgH="381000" progId="Equation.3">
                  <p:embed/>
                  <p:pic>
                    <p:nvPicPr>
                      <p:cNvPr id="43012"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24400" y="4910139"/>
                        <a:ext cx="1905000" cy="1038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Slide Number Placeholder 5"/>
          <p:cNvSpPr>
            <a:spLocks noGrp="1"/>
          </p:cNvSpPr>
          <p:nvPr>
            <p:ph type="sldNum" sz="quarter" idx="11"/>
          </p:nvPr>
        </p:nvSpPr>
        <p:spPr/>
        <p:txBody>
          <a:bodyPr/>
          <a:lstStyle/>
          <a:p>
            <a:fld id="{63672217-76C2-4848-958E-84381210B462}" type="slidenum">
              <a:rPr lang="en-US" smtClean="0"/>
              <a:pPr/>
              <a:t>12</a:t>
            </a:fld>
            <a:endParaRPr lang="en-US"/>
          </a:p>
        </p:txBody>
      </p:sp>
    </p:spTree>
    <p:extLst>
      <p:ext uri="{BB962C8B-B14F-4D97-AF65-F5344CB8AC3E}">
        <p14:creationId xmlns:p14="http://schemas.microsoft.com/office/powerpoint/2010/main" val="428808703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8" name="Rectangle 4"/>
          <p:cNvSpPr>
            <a:spLocks noGrp="1" noRot="1" noChangeArrowheads="1"/>
          </p:cNvSpPr>
          <p:nvPr>
            <p:ph type="title"/>
          </p:nvPr>
        </p:nvSpPr>
        <p:spPr/>
        <p:txBody>
          <a:bodyPr>
            <a:normAutofit/>
          </a:bodyPr>
          <a:lstStyle/>
          <a:p>
            <a:r>
              <a:rPr lang="en-US" sz="3200" dirty="0" err="1"/>
              <a:t>Penguat</a:t>
            </a:r>
            <a:r>
              <a:rPr lang="en-US" sz="3200" dirty="0"/>
              <a:t> </a:t>
            </a:r>
            <a:r>
              <a:rPr lang="en-US" sz="3200" dirty="0" err="1"/>
              <a:t>Tak</a:t>
            </a:r>
            <a:r>
              <a:rPr lang="en-US" sz="3200" dirty="0"/>
              <a:t> </a:t>
            </a:r>
            <a:r>
              <a:rPr lang="en-US" sz="3200" dirty="0" err="1"/>
              <a:t>Membalik</a:t>
            </a:r>
            <a:r>
              <a:rPr lang="en-US" sz="3200" dirty="0"/>
              <a:t> (Non-Inverting OP_AMP)</a:t>
            </a:r>
          </a:p>
        </p:txBody>
      </p:sp>
      <p:graphicFrame>
        <p:nvGraphicFramePr>
          <p:cNvPr id="47109" name="Object 5"/>
          <p:cNvGraphicFramePr>
            <a:graphicFrameLocks noGrp="1" noChangeAspect="1"/>
          </p:cNvGraphicFramePr>
          <p:nvPr>
            <p:ph sz="half" idx="1"/>
            <p:extLst/>
          </p:nvPr>
        </p:nvGraphicFramePr>
        <p:xfrm>
          <a:off x="2133601" y="1524000"/>
          <a:ext cx="3532757" cy="2819400"/>
        </p:xfrm>
        <a:graphic>
          <a:graphicData uri="http://schemas.openxmlformats.org/presentationml/2006/ole">
            <mc:AlternateContent xmlns:mc="http://schemas.openxmlformats.org/markup-compatibility/2006">
              <mc:Choice xmlns:v="urn:schemas-microsoft-com:vml" Requires="v">
                <p:oleObj spid="_x0000_s6150" name="Image" r:id="rId3" imgW="2539683" imgH="1917460" progId="">
                  <p:embed/>
                </p:oleObj>
              </mc:Choice>
              <mc:Fallback>
                <p:oleObj name="Image" r:id="rId3" imgW="2539683" imgH="1917460" progId="">
                  <p:embed/>
                  <p:pic>
                    <p:nvPicPr>
                      <p:cNvPr id="47109"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3601" y="1524000"/>
                        <a:ext cx="3532757" cy="2819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47111"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19800" y="1600200"/>
            <a:ext cx="4206240"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7112"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10200" y="3657600"/>
            <a:ext cx="4495800" cy="259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Slide Number Placeholder 6"/>
          <p:cNvSpPr>
            <a:spLocks noGrp="1"/>
          </p:cNvSpPr>
          <p:nvPr>
            <p:ph type="sldNum" sz="quarter" idx="11"/>
          </p:nvPr>
        </p:nvSpPr>
        <p:spPr/>
        <p:txBody>
          <a:bodyPr/>
          <a:lstStyle/>
          <a:p>
            <a:fld id="{B6D43BF7-D0E7-4944-9DE7-B9C291B847CF}" type="slidenum">
              <a:rPr lang="en-US" smtClean="0"/>
              <a:pPr/>
              <a:t>13</a:t>
            </a:fld>
            <a:endParaRPr lang="en-US"/>
          </a:p>
        </p:txBody>
      </p:sp>
    </p:spTree>
    <p:extLst>
      <p:ext uri="{BB962C8B-B14F-4D97-AF65-F5344CB8AC3E}">
        <p14:creationId xmlns:p14="http://schemas.microsoft.com/office/powerpoint/2010/main" val="76387340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8" name="Rectangle 6"/>
          <p:cNvSpPr>
            <a:spLocks noGrp="1" noRot="1" noChangeArrowheads="1"/>
          </p:cNvSpPr>
          <p:nvPr>
            <p:ph type="title"/>
          </p:nvPr>
        </p:nvSpPr>
        <p:spPr/>
        <p:txBody>
          <a:bodyPr>
            <a:normAutofit/>
          </a:bodyPr>
          <a:lstStyle/>
          <a:p>
            <a:r>
              <a:rPr lang="en-US" sz="3200" dirty="0" err="1"/>
              <a:t>Penguat</a:t>
            </a:r>
            <a:r>
              <a:rPr lang="en-US" sz="3200" dirty="0"/>
              <a:t> </a:t>
            </a:r>
            <a:r>
              <a:rPr lang="en-US" sz="3200" dirty="0" err="1"/>
              <a:t>Tak</a:t>
            </a:r>
            <a:r>
              <a:rPr lang="en-US" sz="3200" dirty="0"/>
              <a:t> </a:t>
            </a:r>
            <a:r>
              <a:rPr lang="en-US" sz="3200" dirty="0" err="1"/>
              <a:t>Membalik</a:t>
            </a:r>
            <a:r>
              <a:rPr lang="en-US" sz="3200" dirty="0"/>
              <a:t> (Non-Inverting OP_AMP)</a:t>
            </a:r>
          </a:p>
        </p:txBody>
      </p:sp>
      <p:sp>
        <p:nvSpPr>
          <p:cNvPr id="49156" name="Rectangle 4"/>
          <p:cNvSpPr>
            <a:spLocks noGrp="1" noChangeArrowheads="1"/>
          </p:cNvSpPr>
          <p:nvPr>
            <p:ph type="body" sz="half" idx="1"/>
          </p:nvPr>
        </p:nvSpPr>
        <p:spPr>
          <a:noFill/>
          <a:ln/>
        </p:spPr>
        <p:txBody>
          <a:bodyPr/>
          <a:lstStyle/>
          <a:p>
            <a:r>
              <a:rPr lang="en-US">
                <a:effectLst/>
              </a:rPr>
              <a:t>Input resistance</a:t>
            </a:r>
          </a:p>
          <a:p>
            <a:pPr lvl="1"/>
            <a:r>
              <a:rPr lang="en-US">
                <a:effectLst/>
              </a:rPr>
              <a:t>Ri ≈ ∞</a:t>
            </a:r>
          </a:p>
          <a:p>
            <a:r>
              <a:rPr lang="en-US">
                <a:effectLst/>
              </a:rPr>
              <a:t>Output resistance</a:t>
            </a:r>
          </a:p>
          <a:p>
            <a:pPr lvl="1"/>
            <a:r>
              <a:rPr lang="en-US">
                <a:effectLst/>
              </a:rPr>
              <a:t>Ro ≈ 0</a:t>
            </a:r>
          </a:p>
          <a:p>
            <a:r>
              <a:rPr lang="en-US">
                <a:effectLst/>
              </a:rPr>
              <a:t>Bandwidth:</a:t>
            </a:r>
          </a:p>
        </p:txBody>
      </p:sp>
      <p:graphicFrame>
        <p:nvGraphicFramePr>
          <p:cNvPr id="49157" name="Object 5"/>
          <p:cNvGraphicFramePr>
            <a:graphicFrameLocks noGrp="1" noChangeAspect="1"/>
          </p:cNvGraphicFramePr>
          <p:nvPr>
            <p:ph sz="half" idx="2"/>
          </p:nvPr>
        </p:nvGraphicFramePr>
        <p:xfrm>
          <a:off x="4800600" y="4419600"/>
          <a:ext cx="2286000" cy="1150938"/>
        </p:xfrm>
        <a:graphic>
          <a:graphicData uri="http://schemas.openxmlformats.org/presentationml/2006/ole">
            <mc:AlternateContent xmlns:mc="http://schemas.openxmlformats.org/markup-compatibility/2006">
              <mc:Choice xmlns:v="urn:schemas-microsoft-com:vml" Requires="v">
                <p:oleObj spid="_x0000_s7174" name="Equation" r:id="rId3" imgW="698500" imgH="381000" progId="Equation.3">
                  <p:embed/>
                </p:oleObj>
              </mc:Choice>
              <mc:Fallback>
                <p:oleObj name="Equation" r:id="rId3" imgW="698500" imgH="381000" progId="Equation.3">
                  <p:embed/>
                  <p:pic>
                    <p:nvPicPr>
                      <p:cNvPr id="49157"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0600" y="4419600"/>
                        <a:ext cx="2286000" cy="11509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Slide Number Placeholder 5"/>
          <p:cNvSpPr>
            <a:spLocks noGrp="1"/>
          </p:cNvSpPr>
          <p:nvPr>
            <p:ph type="sldNum" sz="quarter" idx="11"/>
          </p:nvPr>
        </p:nvSpPr>
        <p:spPr/>
        <p:txBody>
          <a:bodyPr/>
          <a:lstStyle/>
          <a:p>
            <a:fld id="{63672217-76C2-4848-958E-84381210B462}" type="slidenum">
              <a:rPr lang="en-US" smtClean="0"/>
              <a:pPr/>
              <a:t>14</a:t>
            </a:fld>
            <a:endParaRPr lang="en-US"/>
          </a:p>
        </p:txBody>
      </p:sp>
    </p:spTree>
    <p:extLst>
      <p:ext uri="{BB962C8B-B14F-4D97-AF65-F5344CB8AC3E}">
        <p14:creationId xmlns:p14="http://schemas.microsoft.com/office/powerpoint/2010/main" val="343198469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4" name="Rectangle 4"/>
          <p:cNvSpPr>
            <a:spLocks noGrp="1" noRot="1" noChangeArrowheads="1"/>
          </p:cNvSpPr>
          <p:nvPr>
            <p:ph type="title"/>
          </p:nvPr>
        </p:nvSpPr>
        <p:spPr/>
        <p:txBody>
          <a:bodyPr/>
          <a:lstStyle/>
          <a:p>
            <a:r>
              <a:rPr lang="en-US" dirty="0" err="1"/>
              <a:t>Penguat</a:t>
            </a:r>
            <a:r>
              <a:rPr lang="en-US" dirty="0"/>
              <a:t> </a:t>
            </a:r>
            <a:r>
              <a:rPr lang="en-US" dirty="0" err="1" smtClean="0"/>
              <a:t>Satuan</a:t>
            </a:r>
            <a:r>
              <a:rPr lang="en-US" dirty="0" smtClean="0"/>
              <a:t> (Voltage Follower)</a:t>
            </a:r>
            <a:endParaRPr lang="en-US" dirty="0"/>
          </a:p>
        </p:txBody>
      </p:sp>
      <p:pic>
        <p:nvPicPr>
          <p:cNvPr id="51205" name="Picture 5"/>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1981200" y="1600200"/>
            <a:ext cx="3801525" cy="2057400"/>
          </a:xfrm>
        </p:spPr>
      </p:pic>
      <p:pic>
        <p:nvPicPr>
          <p:cNvPr id="51206" name="Picture 6"/>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2514600" y="3938588"/>
            <a:ext cx="2998176" cy="1624012"/>
          </a:xfrm>
        </p:spPr>
      </p:pic>
      <p:pic>
        <p:nvPicPr>
          <p:cNvPr id="51208"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05600" y="2057400"/>
            <a:ext cx="2286000" cy="13182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09" name="Picture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77000" y="3657600"/>
            <a:ext cx="2209800" cy="1328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Slide Number Placeholder 7"/>
          <p:cNvSpPr>
            <a:spLocks noGrp="1"/>
          </p:cNvSpPr>
          <p:nvPr>
            <p:ph type="sldNum" sz="quarter" idx="11"/>
          </p:nvPr>
        </p:nvSpPr>
        <p:spPr/>
        <p:txBody>
          <a:bodyPr/>
          <a:lstStyle/>
          <a:p>
            <a:fld id="{091A799F-0FD1-4875-87E1-BE8F197F8A05}" type="slidenum">
              <a:rPr lang="en-US" smtClean="0"/>
              <a:pPr/>
              <a:t>15</a:t>
            </a:fld>
            <a:endParaRPr lang="en-US"/>
          </a:p>
        </p:txBody>
      </p:sp>
    </p:spTree>
    <p:extLst>
      <p:ext uri="{BB962C8B-B14F-4D97-AF65-F5344CB8AC3E}">
        <p14:creationId xmlns:p14="http://schemas.microsoft.com/office/powerpoint/2010/main" val="271099228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2" name="Rectangle 4"/>
          <p:cNvSpPr>
            <a:spLocks noGrp="1" noRot="1" noChangeArrowheads="1"/>
          </p:cNvSpPr>
          <p:nvPr>
            <p:ph type="title" sz="quarter"/>
          </p:nvPr>
        </p:nvSpPr>
        <p:spPr>
          <a:xfrm>
            <a:off x="1981200" y="274638"/>
            <a:ext cx="8229600" cy="944562"/>
          </a:xfrm>
        </p:spPr>
        <p:txBody>
          <a:bodyPr>
            <a:normAutofit fontScale="90000"/>
          </a:bodyPr>
          <a:lstStyle/>
          <a:p>
            <a:r>
              <a:rPr lang="en-US" sz="3200" dirty="0" err="1"/>
              <a:t>Penguat</a:t>
            </a:r>
            <a:r>
              <a:rPr lang="en-US" sz="3200" dirty="0"/>
              <a:t> </a:t>
            </a:r>
            <a:r>
              <a:rPr lang="en-US" sz="3200" dirty="0" err="1"/>
              <a:t>Penjumlah</a:t>
            </a:r>
            <a:r>
              <a:rPr lang="en-US" sz="3200" dirty="0"/>
              <a:t> </a:t>
            </a:r>
            <a:r>
              <a:rPr lang="en-US" sz="3200" dirty="0" err="1"/>
              <a:t>Membalik</a:t>
            </a:r>
            <a:r>
              <a:rPr lang="en-US" sz="3200" dirty="0"/>
              <a:t/>
            </a:r>
            <a:br>
              <a:rPr lang="en-US" sz="3200" dirty="0"/>
            </a:br>
            <a:r>
              <a:rPr lang="en-US" sz="3200" dirty="0"/>
              <a:t>(Summing Amplifier </a:t>
            </a:r>
            <a:r>
              <a:rPr lang="en-US" sz="3200" dirty="0" err="1"/>
              <a:t>di</a:t>
            </a:r>
            <a:r>
              <a:rPr lang="en-US" sz="3200" dirty="0"/>
              <a:t> inverting) </a:t>
            </a:r>
          </a:p>
        </p:txBody>
      </p:sp>
      <p:pic>
        <p:nvPicPr>
          <p:cNvPr id="53253" name="Picture 5"/>
          <p:cNvPicPr>
            <a:picLocks noGrp="1" noChangeAspect="1" noChangeArrowheads="1"/>
          </p:cNvPicPr>
          <p:nvPr>
            <p:ph sz="quarter" idx="1"/>
          </p:nvPr>
        </p:nvPicPr>
        <p:blipFill>
          <a:blip r:embed="rId3">
            <a:extLst>
              <a:ext uri="{28A0092B-C50C-407E-A947-70E740481C1C}">
                <a14:useLocalDpi xmlns:a14="http://schemas.microsoft.com/office/drawing/2010/main" val="0"/>
              </a:ext>
            </a:extLst>
          </a:blip>
          <a:srcRect/>
          <a:stretch>
            <a:fillRect/>
          </a:stretch>
        </p:blipFill>
        <p:spPr/>
      </p:pic>
      <p:pic>
        <p:nvPicPr>
          <p:cNvPr id="53255" name="Picture 7"/>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2209800" y="4038600"/>
            <a:ext cx="3276600" cy="2286000"/>
          </a:xfrm>
        </p:spPr>
      </p:pic>
      <p:graphicFrame>
        <p:nvGraphicFramePr>
          <p:cNvPr id="7" name="Object 6"/>
          <p:cNvGraphicFramePr>
            <a:graphicFrameLocks noChangeAspect="1"/>
          </p:cNvGraphicFramePr>
          <p:nvPr/>
        </p:nvGraphicFramePr>
        <p:xfrm>
          <a:off x="5638801" y="3632200"/>
          <a:ext cx="4556125" cy="2490788"/>
        </p:xfrm>
        <a:graphic>
          <a:graphicData uri="http://schemas.openxmlformats.org/presentationml/2006/ole">
            <mc:AlternateContent xmlns:mc="http://schemas.openxmlformats.org/markup-compatibility/2006">
              <mc:Choice xmlns:v="urn:schemas-microsoft-com:vml" Requires="v">
                <p:oleObj spid="_x0000_s8198" name="Equation" r:id="rId5" imgW="2044440" imgH="1117440" progId="Equation.DSMT4">
                  <p:embed/>
                </p:oleObj>
              </mc:Choice>
              <mc:Fallback>
                <p:oleObj name="Equation" r:id="rId5" imgW="2044440" imgH="1117440" progId="Equation.DSMT4">
                  <p:embed/>
                  <p:pic>
                    <p:nvPicPr>
                      <p:cNvPr id="7"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38801" y="3632200"/>
                        <a:ext cx="4556125" cy="24907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Slide Number Placeholder 8"/>
          <p:cNvSpPr>
            <a:spLocks noGrp="1"/>
          </p:cNvSpPr>
          <p:nvPr>
            <p:ph type="sldNum" sz="quarter" idx="11"/>
          </p:nvPr>
        </p:nvSpPr>
        <p:spPr/>
        <p:txBody>
          <a:bodyPr/>
          <a:lstStyle/>
          <a:p>
            <a:fld id="{F7A2EDAB-DCB2-471C-8E12-878E18D4A728}" type="slidenum">
              <a:rPr lang="en-US" smtClean="0"/>
              <a:pPr/>
              <a:t>16</a:t>
            </a:fld>
            <a:endParaRPr lang="en-US"/>
          </a:p>
        </p:txBody>
      </p:sp>
    </p:spTree>
    <p:extLst>
      <p:ext uri="{BB962C8B-B14F-4D97-AF65-F5344CB8AC3E}">
        <p14:creationId xmlns:p14="http://schemas.microsoft.com/office/powerpoint/2010/main" val="157141398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sz="quarter"/>
          </p:nvPr>
        </p:nvSpPr>
        <p:spPr>
          <a:xfrm>
            <a:off x="1981200" y="274638"/>
            <a:ext cx="8229600" cy="868362"/>
          </a:xfrm>
        </p:spPr>
        <p:txBody>
          <a:bodyPr>
            <a:noAutofit/>
          </a:bodyPr>
          <a:lstStyle/>
          <a:p>
            <a:r>
              <a:rPr lang="en-US" sz="2800" dirty="0" err="1"/>
              <a:t>Penguat</a:t>
            </a:r>
            <a:r>
              <a:rPr lang="en-US" sz="2800" dirty="0"/>
              <a:t> </a:t>
            </a:r>
            <a:r>
              <a:rPr lang="en-US" sz="2800" dirty="0" err="1"/>
              <a:t>Penjumlah</a:t>
            </a:r>
            <a:r>
              <a:rPr lang="en-US" sz="2800" dirty="0"/>
              <a:t> </a:t>
            </a:r>
            <a:r>
              <a:rPr lang="en-US" sz="2800" dirty="0" err="1"/>
              <a:t>Membalik</a:t>
            </a:r>
            <a:r>
              <a:rPr lang="en-US" sz="2800" dirty="0"/>
              <a:t/>
            </a:r>
            <a:br>
              <a:rPr lang="en-US" sz="2800" dirty="0"/>
            </a:br>
            <a:r>
              <a:rPr lang="en-US" sz="2800" dirty="0"/>
              <a:t>(Summing Amplifier </a:t>
            </a:r>
            <a:r>
              <a:rPr lang="en-US" sz="2800" dirty="0" err="1"/>
              <a:t>di</a:t>
            </a:r>
            <a:r>
              <a:rPr lang="en-US" sz="2800" dirty="0"/>
              <a:t> inverting) </a:t>
            </a:r>
          </a:p>
        </p:txBody>
      </p:sp>
      <p:sp>
        <p:nvSpPr>
          <p:cNvPr id="5" name="Content Placeholder 4"/>
          <p:cNvSpPr>
            <a:spLocks noGrp="1"/>
          </p:cNvSpPr>
          <p:nvPr>
            <p:ph sz="quarter" idx="3"/>
          </p:nvPr>
        </p:nvSpPr>
        <p:spPr>
          <a:xfrm>
            <a:off x="1981200" y="1600200"/>
            <a:ext cx="8305800" cy="4800600"/>
          </a:xfrm>
        </p:spPr>
        <p:txBody>
          <a:bodyPr>
            <a:normAutofit/>
          </a:bodyPr>
          <a:lstStyle/>
          <a:p>
            <a:r>
              <a:rPr lang="en-US" b="1" u="sng" dirty="0" err="1" smtClean="0"/>
              <a:t>catatan</a:t>
            </a:r>
            <a:r>
              <a:rPr lang="en-US" b="1" u="sng" dirty="0" smtClean="0"/>
              <a:t> </a:t>
            </a:r>
            <a:r>
              <a:rPr lang="en-US" dirty="0" smtClean="0"/>
              <a:t>:</a:t>
            </a:r>
          </a:p>
          <a:p>
            <a:pPr marL="346075" indent="-346075">
              <a:buFont typeface="+mj-lt"/>
              <a:buAutoNum type="arabicPeriod"/>
            </a:pPr>
            <a:r>
              <a:rPr lang="en-US" sz="1800" dirty="0" err="1"/>
              <a:t>Jika</a:t>
            </a:r>
            <a:r>
              <a:rPr lang="en-US" sz="1800" dirty="0"/>
              <a:t> </a:t>
            </a:r>
            <a:r>
              <a:rPr lang="en-US" sz="1800" dirty="0" err="1"/>
              <a:t>Rin</a:t>
            </a:r>
            <a:r>
              <a:rPr lang="en-US" sz="1800" dirty="0"/>
              <a:t> </a:t>
            </a:r>
            <a:r>
              <a:rPr lang="en-US" sz="1800" dirty="0" err="1"/>
              <a:t>pada</a:t>
            </a:r>
            <a:r>
              <a:rPr lang="en-US" sz="1800" dirty="0"/>
              <a:t> </a:t>
            </a:r>
            <a:r>
              <a:rPr lang="en-US" sz="1800" dirty="0" err="1"/>
              <a:t>masing-masing</a:t>
            </a:r>
            <a:r>
              <a:rPr lang="en-US" sz="1800" dirty="0"/>
              <a:t> </a:t>
            </a:r>
            <a:r>
              <a:rPr lang="en-US" sz="1800" dirty="0" err="1"/>
              <a:t>tegangan</a:t>
            </a:r>
            <a:r>
              <a:rPr lang="en-US" sz="1800" dirty="0"/>
              <a:t> </a:t>
            </a:r>
            <a:r>
              <a:rPr lang="en-US" sz="1800" dirty="0" err="1"/>
              <a:t>nilainya</a:t>
            </a:r>
            <a:r>
              <a:rPr lang="en-US" sz="1800" dirty="0"/>
              <a:t> </a:t>
            </a:r>
            <a:r>
              <a:rPr lang="en-US" sz="1800" dirty="0" err="1"/>
              <a:t>berbeda</a:t>
            </a:r>
            <a:r>
              <a:rPr lang="en-US" sz="1800" dirty="0"/>
              <a:t> </a:t>
            </a:r>
            <a:r>
              <a:rPr lang="en-US" sz="1800" dirty="0" err="1"/>
              <a:t>yaitu</a:t>
            </a:r>
            <a:r>
              <a:rPr lang="en-US" sz="1800" dirty="0"/>
              <a:t> </a:t>
            </a:r>
            <a:r>
              <a:rPr lang="en-US" sz="1800" dirty="0" err="1"/>
              <a:t>Rin</a:t>
            </a:r>
            <a:r>
              <a:rPr lang="en-US" sz="1800" dirty="0"/>
              <a:t> </a:t>
            </a:r>
            <a:r>
              <a:rPr lang="en-US" sz="1800" dirty="0" err="1"/>
              <a:t>pada</a:t>
            </a:r>
            <a:r>
              <a:rPr lang="en-US" sz="1800" dirty="0"/>
              <a:t> V1 = R1, </a:t>
            </a:r>
            <a:r>
              <a:rPr lang="en-US" sz="1800" dirty="0" err="1"/>
              <a:t>Rin</a:t>
            </a:r>
            <a:r>
              <a:rPr lang="en-US" sz="1800" dirty="0"/>
              <a:t> </a:t>
            </a:r>
            <a:r>
              <a:rPr lang="en-US" sz="1800" dirty="0" err="1"/>
              <a:t>pada</a:t>
            </a:r>
            <a:r>
              <a:rPr lang="en-US" sz="1800" dirty="0"/>
              <a:t> V2 = R2 </a:t>
            </a:r>
            <a:r>
              <a:rPr lang="en-US" sz="1800" dirty="0" err="1"/>
              <a:t>dan</a:t>
            </a:r>
            <a:r>
              <a:rPr lang="en-US" sz="1800" dirty="0"/>
              <a:t> </a:t>
            </a:r>
            <a:r>
              <a:rPr lang="en-US" sz="1800" dirty="0" err="1"/>
              <a:t>Rin</a:t>
            </a:r>
            <a:r>
              <a:rPr lang="en-US" sz="1800" dirty="0"/>
              <a:t> </a:t>
            </a:r>
            <a:r>
              <a:rPr lang="en-US" sz="1800" dirty="0" err="1"/>
              <a:t>pada</a:t>
            </a:r>
            <a:r>
              <a:rPr lang="en-US" sz="1800" dirty="0"/>
              <a:t> </a:t>
            </a:r>
            <a:r>
              <a:rPr lang="en-US" sz="1800" dirty="0" err="1"/>
              <a:t>Vn</a:t>
            </a:r>
            <a:r>
              <a:rPr lang="en-US" sz="1800" dirty="0"/>
              <a:t> = </a:t>
            </a:r>
            <a:r>
              <a:rPr lang="en-US" sz="1800" dirty="0" err="1"/>
              <a:t>Rn</a:t>
            </a:r>
            <a:r>
              <a:rPr lang="en-US" sz="1800" dirty="0"/>
              <a:t> </a:t>
            </a:r>
            <a:r>
              <a:rPr lang="en-US" sz="1800" dirty="0" err="1"/>
              <a:t>dan</a:t>
            </a:r>
            <a:r>
              <a:rPr lang="en-US" sz="1800" dirty="0"/>
              <a:t> V1 = V2  =</a:t>
            </a:r>
            <a:r>
              <a:rPr lang="en-US" sz="1800" dirty="0" err="1"/>
              <a:t>Vn</a:t>
            </a:r>
            <a:r>
              <a:rPr lang="en-US" sz="1800" dirty="0"/>
              <a:t> = Vin </a:t>
            </a:r>
            <a:r>
              <a:rPr lang="en-US" sz="1800" dirty="0" err="1"/>
              <a:t>maka</a:t>
            </a:r>
            <a:r>
              <a:rPr lang="en-US" sz="1800" dirty="0"/>
              <a:t> </a:t>
            </a:r>
            <a:r>
              <a:rPr lang="en-US" sz="1800" dirty="0" err="1"/>
              <a:t>persamaan</a:t>
            </a:r>
            <a:r>
              <a:rPr lang="en-US" sz="1800" dirty="0"/>
              <a:t> </a:t>
            </a:r>
            <a:r>
              <a:rPr lang="en-US" sz="1800" dirty="0" err="1"/>
              <a:t>diatas</a:t>
            </a:r>
            <a:r>
              <a:rPr lang="en-US" sz="1800" dirty="0"/>
              <a:t> </a:t>
            </a:r>
            <a:r>
              <a:rPr lang="en-US" sz="1800" dirty="0" err="1"/>
              <a:t>menjadi</a:t>
            </a:r>
            <a:r>
              <a:rPr lang="en-US" sz="1800" dirty="0"/>
              <a:t>:</a:t>
            </a:r>
          </a:p>
          <a:p>
            <a:pPr marL="346075" indent="-346075">
              <a:buFont typeface="+mj-lt"/>
              <a:buAutoNum type="arabicPeriod"/>
            </a:pPr>
            <a:endParaRPr lang="en-US" sz="1800" dirty="0"/>
          </a:p>
          <a:p>
            <a:pPr marL="346075" indent="-346075">
              <a:buFont typeface="+mj-lt"/>
              <a:buAutoNum type="arabicPeriod"/>
            </a:pPr>
            <a:endParaRPr lang="en-US" sz="1800" dirty="0"/>
          </a:p>
          <a:p>
            <a:pPr marL="346075" indent="-346075">
              <a:buFont typeface="+mj-lt"/>
              <a:buAutoNum type="arabicPeriod"/>
            </a:pPr>
            <a:endParaRPr lang="en-US" sz="1800" dirty="0"/>
          </a:p>
          <a:p>
            <a:pPr marL="346075" indent="-346075">
              <a:buFont typeface="+mj-lt"/>
              <a:buAutoNum type="arabicPeriod"/>
            </a:pPr>
            <a:r>
              <a:rPr lang="en-US" sz="1800" dirty="0" err="1"/>
              <a:t>Jika</a:t>
            </a:r>
            <a:r>
              <a:rPr lang="en-US" sz="1800" dirty="0"/>
              <a:t> </a:t>
            </a:r>
            <a:r>
              <a:rPr lang="en-US" sz="1800" dirty="0" err="1"/>
              <a:t>Rin</a:t>
            </a:r>
            <a:r>
              <a:rPr lang="en-US" sz="1800" dirty="0"/>
              <a:t> </a:t>
            </a:r>
            <a:r>
              <a:rPr lang="en-US" sz="1800" dirty="0" err="1"/>
              <a:t>pada</a:t>
            </a:r>
            <a:r>
              <a:rPr lang="en-US" sz="1800" dirty="0"/>
              <a:t> </a:t>
            </a:r>
            <a:r>
              <a:rPr lang="en-US" sz="1800" dirty="0" err="1"/>
              <a:t>masing-masing</a:t>
            </a:r>
            <a:r>
              <a:rPr lang="en-US" sz="1800" dirty="0"/>
              <a:t> </a:t>
            </a:r>
            <a:r>
              <a:rPr lang="en-US" sz="1800" dirty="0" err="1"/>
              <a:t>tegangan</a:t>
            </a:r>
            <a:r>
              <a:rPr lang="en-US" sz="1800" dirty="0"/>
              <a:t> </a:t>
            </a:r>
            <a:r>
              <a:rPr lang="en-US" sz="1800" dirty="0" err="1"/>
              <a:t>nilainya</a:t>
            </a:r>
            <a:r>
              <a:rPr lang="en-US" sz="1800" dirty="0"/>
              <a:t> </a:t>
            </a:r>
            <a:r>
              <a:rPr lang="en-US" sz="1800" dirty="0" err="1"/>
              <a:t>sama</a:t>
            </a:r>
            <a:r>
              <a:rPr lang="en-US" sz="1800" dirty="0"/>
              <a:t> </a:t>
            </a:r>
            <a:r>
              <a:rPr lang="en-US" sz="1800" dirty="0" err="1"/>
              <a:t>yaitu</a:t>
            </a:r>
            <a:r>
              <a:rPr lang="en-US" sz="1800" dirty="0"/>
              <a:t> </a:t>
            </a:r>
            <a:r>
              <a:rPr lang="en-US" sz="1800" dirty="0" err="1"/>
              <a:t>Rin</a:t>
            </a:r>
            <a:r>
              <a:rPr lang="en-US" sz="1800" dirty="0"/>
              <a:t> </a:t>
            </a:r>
            <a:r>
              <a:rPr lang="en-US" sz="1800" dirty="0" err="1"/>
              <a:t>pada</a:t>
            </a:r>
            <a:r>
              <a:rPr lang="en-US" sz="1800" dirty="0"/>
              <a:t> V1 = R </a:t>
            </a:r>
            <a:r>
              <a:rPr lang="en-US" sz="1800" dirty="0" err="1"/>
              <a:t>pada</a:t>
            </a:r>
            <a:r>
              <a:rPr lang="en-US" sz="1800" dirty="0"/>
              <a:t> V2 = R </a:t>
            </a:r>
            <a:r>
              <a:rPr lang="en-US" sz="1800" dirty="0" err="1"/>
              <a:t>pada</a:t>
            </a:r>
            <a:r>
              <a:rPr lang="en-US" sz="1800" dirty="0"/>
              <a:t> </a:t>
            </a:r>
            <a:r>
              <a:rPr lang="en-US" sz="1800" dirty="0" err="1"/>
              <a:t>Vn</a:t>
            </a:r>
            <a:r>
              <a:rPr lang="en-US" sz="1800" dirty="0"/>
              <a:t> = R  </a:t>
            </a:r>
            <a:r>
              <a:rPr lang="en-US" sz="1800" dirty="0" err="1"/>
              <a:t>atau</a:t>
            </a:r>
            <a:r>
              <a:rPr lang="en-US" sz="1800" dirty="0"/>
              <a:t> (R1 = R2 = </a:t>
            </a:r>
            <a:r>
              <a:rPr lang="en-US" sz="1800" dirty="0" err="1"/>
              <a:t>Rn</a:t>
            </a:r>
            <a:r>
              <a:rPr lang="en-US" sz="1800" dirty="0"/>
              <a:t> = R)  </a:t>
            </a:r>
            <a:r>
              <a:rPr lang="en-US" sz="1800" dirty="0" err="1"/>
              <a:t>dan</a:t>
            </a:r>
            <a:r>
              <a:rPr lang="en-US" sz="1800" dirty="0"/>
              <a:t> </a:t>
            </a:r>
            <a:r>
              <a:rPr lang="en-US" sz="1800" dirty="0" err="1"/>
              <a:t>Vsumber</a:t>
            </a:r>
            <a:r>
              <a:rPr lang="en-US" sz="1800" dirty="0"/>
              <a:t> </a:t>
            </a:r>
            <a:r>
              <a:rPr lang="en-US" sz="1800" dirty="0" err="1"/>
              <a:t>berbeda</a:t>
            </a:r>
            <a:r>
              <a:rPr lang="en-US" sz="1800" dirty="0"/>
              <a:t> </a:t>
            </a:r>
            <a:r>
              <a:rPr lang="en-US" sz="1800" dirty="0" err="1"/>
              <a:t>maka</a:t>
            </a:r>
            <a:r>
              <a:rPr lang="en-US" sz="1800" dirty="0"/>
              <a:t> </a:t>
            </a:r>
            <a:r>
              <a:rPr lang="en-US" sz="1800" dirty="0" err="1"/>
              <a:t>persamaan</a:t>
            </a:r>
            <a:r>
              <a:rPr lang="en-US" sz="1800" dirty="0"/>
              <a:t> </a:t>
            </a:r>
            <a:r>
              <a:rPr lang="en-US" sz="1800" dirty="0" err="1"/>
              <a:t>diatas</a:t>
            </a:r>
            <a:r>
              <a:rPr lang="en-US" sz="1800" dirty="0"/>
              <a:t> </a:t>
            </a:r>
            <a:r>
              <a:rPr lang="en-US" sz="1800" dirty="0" err="1"/>
              <a:t>menjadi</a:t>
            </a:r>
            <a:r>
              <a:rPr lang="en-US" sz="1800" dirty="0"/>
              <a:t>:</a:t>
            </a:r>
          </a:p>
          <a:p>
            <a:pPr marL="346075" indent="-346075">
              <a:buFont typeface="+mj-lt"/>
              <a:buAutoNum type="arabicPeriod"/>
            </a:pPr>
            <a:endParaRPr lang="en-US" sz="1800" dirty="0"/>
          </a:p>
          <a:p>
            <a:pPr marL="346075" indent="-346075">
              <a:buFont typeface="+mj-lt"/>
              <a:buAutoNum type="arabicPeriod"/>
            </a:pPr>
            <a:endParaRPr lang="en-US" sz="1800" dirty="0"/>
          </a:p>
          <a:p>
            <a:pPr>
              <a:buNone/>
            </a:pPr>
            <a:r>
              <a:rPr lang="en-US" dirty="0" smtClean="0"/>
              <a:t>	 </a:t>
            </a:r>
          </a:p>
          <a:p>
            <a:endParaRPr lang="en-US" dirty="0"/>
          </a:p>
        </p:txBody>
      </p:sp>
      <p:sp>
        <p:nvSpPr>
          <p:cNvPr id="8" name="Slide Number Placeholder 7"/>
          <p:cNvSpPr>
            <a:spLocks noGrp="1"/>
          </p:cNvSpPr>
          <p:nvPr>
            <p:ph type="sldNum" sz="quarter" idx="11"/>
          </p:nvPr>
        </p:nvSpPr>
        <p:spPr/>
        <p:txBody>
          <a:bodyPr/>
          <a:lstStyle/>
          <a:p>
            <a:fld id="{F7A2EDAB-DCB2-471C-8E12-878E18D4A728}" type="slidenum">
              <a:rPr lang="en-US" smtClean="0"/>
              <a:pPr/>
              <a:t>17</a:t>
            </a:fld>
            <a:endParaRPr lang="en-US"/>
          </a:p>
        </p:txBody>
      </p:sp>
      <p:sp>
        <p:nvSpPr>
          <p:cNvPr id="40962" name="Rectangle 2"/>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0964" name="Rectangle 4"/>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40963" name="Object 3"/>
          <p:cNvGraphicFramePr>
            <a:graphicFrameLocks noChangeAspect="1"/>
          </p:cNvGraphicFramePr>
          <p:nvPr/>
        </p:nvGraphicFramePr>
        <p:xfrm>
          <a:off x="3810001" y="3124200"/>
          <a:ext cx="3578289" cy="990600"/>
        </p:xfrm>
        <a:graphic>
          <a:graphicData uri="http://schemas.openxmlformats.org/presentationml/2006/ole">
            <mc:AlternateContent xmlns:mc="http://schemas.openxmlformats.org/markup-compatibility/2006">
              <mc:Choice xmlns:v="urn:schemas-microsoft-com:vml" Requires="v">
                <p:oleObj spid="_x0000_s9226" name="Equation" r:id="rId3" imgW="1688760" imgH="457200" progId="Equation.DSMT4">
                  <p:embed/>
                </p:oleObj>
              </mc:Choice>
              <mc:Fallback>
                <p:oleObj name="Equation" r:id="rId3" imgW="1688760" imgH="457200" progId="Equation.DSMT4">
                  <p:embed/>
                  <p:pic>
                    <p:nvPicPr>
                      <p:cNvPr id="40963"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1" y="3124200"/>
                        <a:ext cx="3578289" cy="990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0966" name="Rectangle 6"/>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40965" name="Object 5"/>
          <p:cNvGraphicFramePr>
            <a:graphicFrameLocks noChangeAspect="1"/>
          </p:cNvGraphicFramePr>
          <p:nvPr/>
        </p:nvGraphicFramePr>
        <p:xfrm>
          <a:off x="3262314" y="5226050"/>
          <a:ext cx="3381375" cy="946150"/>
        </p:xfrm>
        <a:graphic>
          <a:graphicData uri="http://schemas.openxmlformats.org/presentationml/2006/ole">
            <mc:AlternateContent xmlns:mc="http://schemas.openxmlformats.org/markup-compatibility/2006">
              <mc:Choice xmlns:v="urn:schemas-microsoft-com:vml" Requires="v">
                <p:oleObj spid="_x0000_s9227" name="Equation" r:id="rId5" imgW="1498320" imgH="419040" progId="Equation.DSMT4">
                  <p:embed/>
                </p:oleObj>
              </mc:Choice>
              <mc:Fallback>
                <p:oleObj name="Equation" r:id="rId5" imgW="1498320" imgH="419040" progId="Equation.DSMT4">
                  <p:embed/>
                  <p:pic>
                    <p:nvPicPr>
                      <p:cNvPr id="40965"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62314" y="5226050"/>
                        <a:ext cx="3381375" cy="946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47177447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sz="quarter"/>
          </p:nvPr>
        </p:nvSpPr>
        <p:spPr>
          <a:xfrm>
            <a:off x="1981200" y="274638"/>
            <a:ext cx="8229600" cy="868362"/>
          </a:xfrm>
        </p:spPr>
        <p:txBody>
          <a:bodyPr>
            <a:noAutofit/>
          </a:bodyPr>
          <a:lstStyle/>
          <a:p>
            <a:r>
              <a:rPr lang="en-US" sz="2800" dirty="0" err="1"/>
              <a:t>Penguat</a:t>
            </a:r>
            <a:r>
              <a:rPr lang="en-US" sz="2800" dirty="0"/>
              <a:t> </a:t>
            </a:r>
            <a:r>
              <a:rPr lang="en-US" sz="2800" dirty="0" err="1"/>
              <a:t>Penjumlah</a:t>
            </a:r>
            <a:r>
              <a:rPr lang="en-US" sz="2800" dirty="0"/>
              <a:t> </a:t>
            </a:r>
            <a:r>
              <a:rPr lang="en-US" sz="2800" dirty="0" err="1"/>
              <a:t>Membalik</a:t>
            </a:r>
            <a:r>
              <a:rPr lang="en-US" sz="2800" dirty="0"/>
              <a:t/>
            </a:r>
            <a:br>
              <a:rPr lang="en-US" sz="2800" dirty="0"/>
            </a:br>
            <a:r>
              <a:rPr lang="en-US" sz="2800" dirty="0"/>
              <a:t>(Summing Amplifier </a:t>
            </a:r>
            <a:r>
              <a:rPr lang="en-US" sz="2800" dirty="0" err="1"/>
              <a:t>di</a:t>
            </a:r>
            <a:r>
              <a:rPr lang="en-US" sz="2800" dirty="0"/>
              <a:t> inverting) </a:t>
            </a:r>
          </a:p>
        </p:txBody>
      </p:sp>
      <p:sp>
        <p:nvSpPr>
          <p:cNvPr id="5" name="Content Placeholder 4"/>
          <p:cNvSpPr>
            <a:spLocks noGrp="1"/>
          </p:cNvSpPr>
          <p:nvPr>
            <p:ph sz="quarter" idx="3"/>
          </p:nvPr>
        </p:nvSpPr>
        <p:spPr>
          <a:xfrm>
            <a:off x="1981200" y="1600201"/>
            <a:ext cx="8305800" cy="4525963"/>
          </a:xfrm>
        </p:spPr>
        <p:txBody>
          <a:bodyPr>
            <a:normAutofit/>
          </a:bodyPr>
          <a:lstStyle/>
          <a:p>
            <a:r>
              <a:rPr lang="en-US" b="1" u="sng" dirty="0" err="1" smtClean="0"/>
              <a:t>catatan</a:t>
            </a:r>
            <a:r>
              <a:rPr lang="en-US" b="1" u="sng" dirty="0" smtClean="0"/>
              <a:t> </a:t>
            </a:r>
            <a:r>
              <a:rPr lang="en-US" dirty="0" smtClean="0"/>
              <a:t>:</a:t>
            </a:r>
          </a:p>
          <a:p>
            <a:pPr marL="346075" indent="-346075">
              <a:buFont typeface="+mj-lt"/>
              <a:buAutoNum type="arabicPeriod" startAt="3"/>
            </a:pPr>
            <a:r>
              <a:rPr lang="en-US" sz="1800" dirty="0" err="1"/>
              <a:t>Jika</a:t>
            </a:r>
            <a:r>
              <a:rPr lang="en-US" sz="1800" dirty="0"/>
              <a:t> Vin = V1 = V2 = </a:t>
            </a:r>
            <a:r>
              <a:rPr lang="en-US" sz="1800" dirty="0" err="1"/>
              <a:t>Vn</a:t>
            </a:r>
            <a:r>
              <a:rPr lang="en-US" sz="1800" dirty="0"/>
              <a:t> , R1≠R2≠Rn </a:t>
            </a:r>
            <a:r>
              <a:rPr lang="en-US" sz="1800" dirty="0" err="1"/>
              <a:t>maka</a:t>
            </a:r>
            <a:r>
              <a:rPr lang="en-US" sz="1800" dirty="0"/>
              <a:t> </a:t>
            </a:r>
            <a:r>
              <a:rPr lang="en-US" sz="1800" dirty="0" err="1"/>
              <a:t>persamaan</a:t>
            </a:r>
            <a:r>
              <a:rPr lang="en-US" sz="1800" dirty="0"/>
              <a:t> </a:t>
            </a:r>
            <a:r>
              <a:rPr lang="en-US" sz="1800" dirty="0" err="1"/>
              <a:t>untuk</a:t>
            </a:r>
            <a:r>
              <a:rPr lang="en-US" sz="1800" dirty="0"/>
              <a:t> summing amplifier </a:t>
            </a:r>
            <a:r>
              <a:rPr lang="en-US" sz="1800" dirty="0" err="1"/>
              <a:t>adalah</a:t>
            </a:r>
            <a:r>
              <a:rPr lang="en-US" sz="1800" dirty="0"/>
              <a:t>:</a:t>
            </a:r>
          </a:p>
          <a:p>
            <a:pPr marL="346075" indent="-346075">
              <a:buFont typeface="+mj-lt"/>
              <a:buAutoNum type="arabicPeriod" startAt="3"/>
            </a:pPr>
            <a:endParaRPr lang="en-US" sz="1800" dirty="0"/>
          </a:p>
          <a:p>
            <a:pPr marL="346075" indent="-346075">
              <a:buFont typeface="+mj-lt"/>
              <a:buAutoNum type="arabicPeriod" startAt="3"/>
            </a:pPr>
            <a:endParaRPr lang="en-US" sz="1800" dirty="0"/>
          </a:p>
          <a:p>
            <a:pPr marL="346075" indent="-346075">
              <a:buFont typeface="+mj-lt"/>
              <a:buAutoNum type="arabicPeriod" startAt="3"/>
            </a:pPr>
            <a:r>
              <a:rPr lang="en-US" sz="1800" dirty="0" err="1"/>
              <a:t>Jika</a:t>
            </a:r>
            <a:r>
              <a:rPr lang="en-US" sz="1800" dirty="0"/>
              <a:t> Vin = V1 = V2 = </a:t>
            </a:r>
            <a:r>
              <a:rPr lang="en-US" sz="1800" dirty="0" err="1"/>
              <a:t>Vn</a:t>
            </a:r>
            <a:r>
              <a:rPr lang="en-US" sz="1800" dirty="0"/>
              <a:t> </a:t>
            </a:r>
            <a:r>
              <a:rPr lang="en-US" sz="1800" dirty="0" err="1"/>
              <a:t>dan</a:t>
            </a:r>
            <a:r>
              <a:rPr lang="en-US" sz="1800" dirty="0"/>
              <a:t> </a:t>
            </a:r>
            <a:r>
              <a:rPr lang="en-US" sz="1800" dirty="0" err="1"/>
              <a:t>Rin</a:t>
            </a:r>
            <a:r>
              <a:rPr lang="en-US" sz="1800" dirty="0"/>
              <a:t> = R1 = R2 = </a:t>
            </a:r>
            <a:r>
              <a:rPr lang="en-US" sz="1800" dirty="0" err="1"/>
              <a:t>Rn</a:t>
            </a:r>
            <a:r>
              <a:rPr lang="en-US" sz="1800" dirty="0"/>
              <a:t> </a:t>
            </a:r>
            <a:r>
              <a:rPr lang="en-US" sz="1800" dirty="0" err="1"/>
              <a:t>maka</a:t>
            </a:r>
            <a:r>
              <a:rPr lang="en-US" sz="1800" dirty="0"/>
              <a:t> </a:t>
            </a:r>
            <a:r>
              <a:rPr lang="en-US" sz="1800" dirty="0" err="1"/>
              <a:t>persamaan</a:t>
            </a:r>
            <a:r>
              <a:rPr lang="en-US" sz="1800" dirty="0"/>
              <a:t> </a:t>
            </a:r>
            <a:r>
              <a:rPr lang="en-US" sz="1800" dirty="0" err="1"/>
              <a:t>untuk</a:t>
            </a:r>
            <a:r>
              <a:rPr lang="en-US" sz="1800" dirty="0"/>
              <a:t> summing amplifier </a:t>
            </a:r>
            <a:r>
              <a:rPr lang="en-US" sz="1800" dirty="0" err="1"/>
              <a:t>adalah</a:t>
            </a:r>
            <a:r>
              <a:rPr lang="en-US" sz="1800" dirty="0"/>
              <a:t>:</a:t>
            </a:r>
          </a:p>
          <a:p>
            <a:pPr marL="346075" indent="-346075">
              <a:buFont typeface="+mj-lt"/>
              <a:buAutoNum type="arabicPeriod" startAt="3"/>
            </a:pPr>
            <a:endParaRPr lang="en-US" sz="1800" dirty="0"/>
          </a:p>
          <a:p>
            <a:pPr marL="346075" indent="-346075">
              <a:buFont typeface="+mj-lt"/>
              <a:buAutoNum type="arabicPeriod" startAt="3"/>
            </a:pPr>
            <a:endParaRPr lang="en-US" sz="1800" dirty="0"/>
          </a:p>
          <a:p>
            <a:pPr marL="346075" indent="-346075">
              <a:buFont typeface="+mj-lt"/>
              <a:buAutoNum type="arabicPeriod" startAt="3"/>
            </a:pPr>
            <a:r>
              <a:rPr lang="en-US" sz="1800" dirty="0" err="1"/>
              <a:t>Penguatan</a:t>
            </a:r>
            <a:r>
              <a:rPr lang="en-US" sz="1800" dirty="0"/>
              <a:t> </a:t>
            </a:r>
            <a:r>
              <a:rPr lang="en-US" sz="1800" dirty="0" err="1"/>
              <a:t>untuk</a:t>
            </a:r>
            <a:r>
              <a:rPr lang="en-US" sz="1800" dirty="0"/>
              <a:t> </a:t>
            </a:r>
            <a:r>
              <a:rPr lang="en-US" sz="1800" dirty="0" err="1"/>
              <a:t>rangkaian</a:t>
            </a:r>
            <a:r>
              <a:rPr lang="en-US" sz="1800" dirty="0"/>
              <a:t> summing amplifier </a:t>
            </a:r>
            <a:r>
              <a:rPr lang="en-US" sz="1800" dirty="0" err="1"/>
              <a:t>diatas</a:t>
            </a:r>
            <a:r>
              <a:rPr lang="en-US" sz="1800" dirty="0"/>
              <a:t> </a:t>
            </a:r>
            <a:r>
              <a:rPr lang="en-US" sz="1800" dirty="0" err="1"/>
              <a:t>adalah</a:t>
            </a:r>
            <a:r>
              <a:rPr lang="en-US" sz="1800" dirty="0"/>
              <a:t>:</a:t>
            </a:r>
          </a:p>
          <a:p>
            <a:pPr>
              <a:buNone/>
            </a:pPr>
            <a:r>
              <a:rPr lang="en-US" dirty="0" smtClean="0"/>
              <a:t>	 </a:t>
            </a:r>
          </a:p>
          <a:p>
            <a:endParaRPr lang="en-US" dirty="0"/>
          </a:p>
        </p:txBody>
      </p:sp>
      <p:sp>
        <p:nvSpPr>
          <p:cNvPr id="8" name="Slide Number Placeholder 7"/>
          <p:cNvSpPr>
            <a:spLocks noGrp="1"/>
          </p:cNvSpPr>
          <p:nvPr>
            <p:ph type="sldNum" sz="quarter" idx="11"/>
          </p:nvPr>
        </p:nvSpPr>
        <p:spPr/>
        <p:txBody>
          <a:bodyPr/>
          <a:lstStyle/>
          <a:p>
            <a:fld id="{F7A2EDAB-DCB2-471C-8E12-878E18D4A728}" type="slidenum">
              <a:rPr lang="en-US" smtClean="0"/>
              <a:pPr/>
              <a:t>18</a:t>
            </a:fld>
            <a:endParaRPr lang="en-US"/>
          </a:p>
        </p:txBody>
      </p:sp>
      <p:sp>
        <p:nvSpPr>
          <p:cNvPr id="40962" name="Rectangle 2"/>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40961" name="Object 1"/>
          <p:cNvGraphicFramePr>
            <a:graphicFrameLocks noChangeAspect="1"/>
          </p:cNvGraphicFramePr>
          <p:nvPr/>
        </p:nvGraphicFramePr>
        <p:xfrm>
          <a:off x="2657475" y="5337176"/>
          <a:ext cx="4059238" cy="758825"/>
        </p:xfrm>
        <a:graphic>
          <a:graphicData uri="http://schemas.openxmlformats.org/presentationml/2006/ole">
            <mc:AlternateContent xmlns:mc="http://schemas.openxmlformats.org/markup-compatibility/2006">
              <mc:Choice xmlns:v="urn:schemas-microsoft-com:vml" Requires="v">
                <p:oleObj spid="_x0000_s10254" name="Equation" r:id="rId3" imgW="2489040" imgH="457200" progId="Equation.DSMT4">
                  <p:embed/>
                </p:oleObj>
              </mc:Choice>
              <mc:Fallback>
                <p:oleObj name="Equation" r:id="rId3" imgW="2489040" imgH="457200" progId="Equation.DSMT4">
                  <p:embed/>
                  <p:pic>
                    <p:nvPicPr>
                      <p:cNvPr id="40961"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57475" y="5337176"/>
                        <a:ext cx="4059238" cy="758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8132" name="Rectangle 4"/>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8134" name="Rectangle 6"/>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48133" name="Object 5"/>
          <p:cNvGraphicFramePr>
            <a:graphicFrameLocks noChangeAspect="1"/>
          </p:cNvGraphicFramePr>
          <p:nvPr/>
        </p:nvGraphicFramePr>
        <p:xfrm>
          <a:off x="3810001" y="2590800"/>
          <a:ext cx="2752529" cy="762000"/>
        </p:xfrm>
        <a:graphic>
          <a:graphicData uri="http://schemas.openxmlformats.org/presentationml/2006/ole">
            <mc:AlternateContent xmlns:mc="http://schemas.openxmlformats.org/markup-compatibility/2006">
              <mc:Choice xmlns:v="urn:schemas-microsoft-com:vml" Requires="v">
                <p:oleObj spid="_x0000_s10255" name="Equation" r:id="rId5" imgW="1688760" imgH="457200" progId="Equation.DSMT4">
                  <p:embed/>
                </p:oleObj>
              </mc:Choice>
              <mc:Fallback>
                <p:oleObj name="Equation" r:id="rId5" imgW="1688760" imgH="457200" progId="Equation.DSMT4">
                  <p:embed/>
                  <p:pic>
                    <p:nvPicPr>
                      <p:cNvPr id="48133"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10001" y="2590800"/>
                        <a:ext cx="2752529" cy="762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8136" name="Rectangle 8"/>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48135" name="Object 7"/>
          <p:cNvGraphicFramePr>
            <a:graphicFrameLocks noChangeAspect="1"/>
          </p:cNvGraphicFramePr>
          <p:nvPr/>
        </p:nvGraphicFramePr>
        <p:xfrm>
          <a:off x="4423062" y="3886200"/>
          <a:ext cx="2130138" cy="762000"/>
        </p:xfrm>
        <a:graphic>
          <a:graphicData uri="http://schemas.openxmlformats.org/presentationml/2006/ole">
            <mc:AlternateContent xmlns:mc="http://schemas.openxmlformats.org/markup-compatibility/2006">
              <mc:Choice xmlns:v="urn:schemas-microsoft-com:vml" Requires="v">
                <p:oleObj spid="_x0000_s10256" name="Equation" r:id="rId7" imgW="1180588" imgH="418918" progId="Equation.DSMT4">
                  <p:embed/>
                </p:oleObj>
              </mc:Choice>
              <mc:Fallback>
                <p:oleObj name="Equation" r:id="rId7" imgW="1180588" imgH="418918" progId="Equation.DSMT4">
                  <p:embed/>
                  <p:pic>
                    <p:nvPicPr>
                      <p:cNvPr id="48135"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23062" y="3886200"/>
                        <a:ext cx="2130138" cy="762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56322267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0" name="Rectangle 4"/>
          <p:cNvSpPr>
            <a:spLocks noGrp="1" noRot="1" noChangeArrowheads="1"/>
          </p:cNvSpPr>
          <p:nvPr>
            <p:ph type="title"/>
          </p:nvPr>
        </p:nvSpPr>
        <p:spPr/>
        <p:txBody>
          <a:bodyPr>
            <a:normAutofit/>
          </a:bodyPr>
          <a:lstStyle/>
          <a:p>
            <a:r>
              <a:rPr lang="en-US" sz="3200" dirty="0" err="1"/>
              <a:t>Penguat</a:t>
            </a:r>
            <a:r>
              <a:rPr lang="en-US" sz="3200" dirty="0"/>
              <a:t> </a:t>
            </a:r>
            <a:r>
              <a:rPr lang="en-US" sz="3200" dirty="0" err="1"/>
              <a:t>Penjumlah</a:t>
            </a:r>
            <a:r>
              <a:rPr lang="en-US" sz="3200" dirty="0"/>
              <a:t> </a:t>
            </a:r>
            <a:r>
              <a:rPr lang="en-US" sz="3200" dirty="0" err="1"/>
              <a:t>Tak</a:t>
            </a:r>
            <a:r>
              <a:rPr lang="en-US" sz="3200" dirty="0"/>
              <a:t> </a:t>
            </a:r>
            <a:r>
              <a:rPr lang="en-US" sz="3200" dirty="0" err="1"/>
              <a:t>Membalik</a:t>
            </a:r>
            <a:r>
              <a:rPr lang="en-US" sz="3200" dirty="0"/>
              <a:t/>
            </a:r>
            <a:br>
              <a:rPr lang="en-US" sz="3200" dirty="0"/>
            </a:br>
            <a:r>
              <a:rPr lang="en-US" sz="3200" dirty="0"/>
              <a:t>(Summing Amplifier di non-Inverting)</a:t>
            </a:r>
          </a:p>
        </p:txBody>
      </p:sp>
      <p:pic>
        <p:nvPicPr>
          <p:cNvPr id="55301" name="Picture 5"/>
          <p:cNvPicPr>
            <a:picLocks noGrp="1" noChangeAspect="1" noChangeArrowheads="1"/>
          </p:cNvPicPr>
          <p:nvPr>
            <p:ph sz="quarter" idx="1"/>
          </p:nvPr>
        </p:nvPicPr>
        <p:blipFill>
          <a:blip r:embed="rId3">
            <a:extLst>
              <a:ext uri="{28A0092B-C50C-407E-A947-70E740481C1C}">
                <a14:useLocalDpi xmlns:a14="http://schemas.microsoft.com/office/drawing/2010/main" val="0"/>
              </a:ext>
            </a:extLst>
          </a:blip>
          <a:srcRect/>
          <a:stretch>
            <a:fillRect/>
          </a:stretch>
        </p:blipFill>
        <p:spPr>
          <a:xfrm>
            <a:off x="3810000" y="1676400"/>
            <a:ext cx="4572001" cy="2474704"/>
          </a:xfrm>
        </p:spPr>
      </p:pic>
      <p:sp>
        <p:nvSpPr>
          <p:cNvPr id="6" name="Slide Number Placeholder 5"/>
          <p:cNvSpPr>
            <a:spLocks noGrp="1"/>
          </p:cNvSpPr>
          <p:nvPr>
            <p:ph type="sldNum" sz="quarter" idx="11"/>
          </p:nvPr>
        </p:nvSpPr>
        <p:spPr/>
        <p:txBody>
          <a:bodyPr/>
          <a:lstStyle/>
          <a:p>
            <a:fld id="{201AEAA9-8C65-42A5-8C90-A2F54C079198}" type="slidenum">
              <a:rPr lang="en-US" smtClean="0"/>
              <a:pPr/>
              <a:t>19</a:t>
            </a:fld>
            <a:endParaRPr lang="en-US"/>
          </a:p>
        </p:txBody>
      </p:sp>
      <p:graphicFrame>
        <p:nvGraphicFramePr>
          <p:cNvPr id="7" name="Object 6"/>
          <p:cNvGraphicFramePr>
            <a:graphicFrameLocks noChangeAspect="1"/>
          </p:cNvGraphicFramePr>
          <p:nvPr/>
        </p:nvGraphicFramePr>
        <p:xfrm>
          <a:off x="3505201" y="4572000"/>
          <a:ext cx="5522259" cy="1066800"/>
        </p:xfrm>
        <a:graphic>
          <a:graphicData uri="http://schemas.openxmlformats.org/presentationml/2006/ole">
            <mc:AlternateContent xmlns:mc="http://schemas.openxmlformats.org/markup-compatibility/2006">
              <mc:Choice xmlns:v="urn:schemas-microsoft-com:vml" Requires="v">
                <p:oleObj spid="_x0000_s11270" name="Equation" r:id="rId4" imgW="2234880" imgH="431640" progId="Equation.DSMT4">
                  <p:embed/>
                </p:oleObj>
              </mc:Choice>
              <mc:Fallback>
                <p:oleObj name="Equation" r:id="rId4" imgW="2234880" imgH="431640" progId="Equation.DSMT4">
                  <p:embed/>
                  <p:pic>
                    <p:nvPicPr>
                      <p:cNvPr id="7"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05201" y="4572000"/>
                        <a:ext cx="5522259" cy="1066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02797365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Rot="1" noChangeArrowheads="1"/>
          </p:cNvSpPr>
          <p:nvPr>
            <p:ph type="title"/>
          </p:nvPr>
        </p:nvSpPr>
        <p:spPr/>
        <p:txBody>
          <a:bodyPr>
            <a:normAutofit/>
          </a:bodyPr>
          <a:lstStyle/>
          <a:p>
            <a:r>
              <a:rPr lang="en-US" sz="3200" dirty="0" err="1"/>
              <a:t>Penguat</a:t>
            </a:r>
            <a:r>
              <a:rPr lang="en-US" sz="3200" dirty="0"/>
              <a:t> </a:t>
            </a:r>
            <a:r>
              <a:rPr lang="en-US" sz="3200" dirty="0" err="1"/>
              <a:t>Pengurang</a:t>
            </a:r>
            <a:r>
              <a:rPr lang="en-US" sz="3200" dirty="0"/>
              <a:t/>
            </a:r>
            <a:br>
              <a:rPr lang="en-US" sz="3200" dirty="0"/>
            </a:br>
            <a:r>
              <a:rPr lang="en-US" sz="3200" dirty="0"/>
              <a:t>(</a:t>
            </a:r>
            <a:r>
              <a:rPr lang="en-US" sz="3200" dirty="0" err="1"/>
              <a:t>Differensial</a:t>
            </a:r>
            <a:r>
              <a:rPr lang="en-US" sz="3200" dirty="0"/>
              <a:t> Amplifier)</a:t>
            </a:r>
          </a:p>
        </p:txBody>
      </p:sp>
      <p:sp>
        <p:nvSpPr>
          <p:cNvPr id="6" name="Slide Number Placeholder 5"/>
          <p:cNvSpPr>
            <a:spLocks noGrp="1"/>
          </p:cNvSpPr>
          <p:nvPr>
            <p:ph type="sldNum" sz="quarter" idx="11"/>
          </p:nvPr>
        </p:nvSpPr>
        <p:spPr/>
        <p:txBody>
          <a:bodyPr/>
          <a:lstStyle/>
          <a:p>
            <a:fld id="{B6D43BF7-D0E7-4944-9DE7-B9C291B847CF}" type="slidenum">
              <a:rPr lang="en-US" smtClean="0"/>
              <a:pPr/>
              <a:t>20</a:t>
            </a:fld>
            <a:endParaRPr lang="en-US"/>
          </a:p>
        </p:txBody>
      </p:sp>
      <p:graphicFrame>
        <p:nvGraphicFramePr>
          <p:cNvPr id="7" name="Object 6"/>
          <p:cNvGraphicFramePr>
            <a:graphicFrameLocks noChangeAspect="1"/>
          </p:cNvGraphicFramePr>
          <p:nvPr/>
        </p:nvGraphicFramePr>
        <p:xfrm>
          <a:off x="5854700" y="3314700"/>
          <a:ext cx="482600" cy="228600"/>
        </p:xfrm>
        <a:graphic>
          <a:graphicData uri="http://schemas.openxmlformats.org/presentationml/2006/ole">
            <mc:AlternateContent xmlns:mc="http://schemas.openxmlformats.org/markup-compatibility/2006">
              <mc:Choice xmlns:v="urn:schemas-microsoft-com:vml" Requires="v">
                <p:oleObj spid="_x0000_s12298" name="Equation" r:id="rId3" imgW="482400" imgH="228600" progId="Equation.DSMT4">
                  <p:embed/>
                </p:oleObj>
              </mc:Choice>
              <mc:Fallback>
                <p:oleObj name="Equation" r:id="rId3" imgW="482400" imgH="228600" progId="Equation.DSMT4">
                  <p:embed/>
                  <p:pic>
                    <p:nvPicPr>
                      <p:cNvPr id="7"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54700" y="3314700"/>
                        <a:ext cx="482600" cy="228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9" name="Picture 8" descr="Differential Amplifier Circuit"/>
          <p:cNvPicPr/>
          <p:nvPr/>
        </p:nvPicPr>
        <p:blipFill>
          <a:blip r:embed="rId5">
            <a:extLst>
              <a:ext uri="{28A0092B-C50C-407E-A947-70E740481C1C}">
                <a14:useLocalDpi xmlns:a14="http://schemas.microsoft.com/office/drawing/2010/main" val="0"/>
              </a:ext>
            </a:extLst>
          </a:blip>
          <a:srcRect/>
          <a:stretch>
            <a:fillRect/>
          </a:stretch>
        </p:blipFill>
        <p:spPr bwMode="auto">
          <a:xfrm>
            <a:off x="4114800" y="1676400"/>
            <a:ext cx="3581400" cy="2057400"/>
          </a:xfrm>
          <a:prstGeom prst="rect">
            <a:avLst/>
          </a:prstGeom>
          <a:noFill/>
          <a:ln>
            <a:noFill/>
          </a:ln>
        </p:spPr>
      </p:pic>
      <p:sp>
        <p:nvSpPr>
          <p:cNvPr id="45059" name="Rectangle 3"/>
          <p:cNvSpPr>
            <a:spLocks noChangeArrowheads="1"/>
          </p:cNvSpPr>
          <p:nvPr/>
        </p:nvSpPr>
        <p:spPr bwMode="auto">
          <a:xfrm>
            <a:off x="2057400" y="4114800"/>
            <a:ext cx="7620000" cy="338554"/>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just" fontAlgn="base">
              <a:spcBef>
                <a:spcPct val="0"/>
              </a:spcBef>
              <a:spcAft>
                <a:spcPct val="0"/>
              </a:spcAft>
            </a:pPr>
            <a:r>
              <a:rPr lang="en-US" sz="1600" dirty="0" err="1">
                <a:latin typeface="Calibri" pitchFamily="34" charset="0"/>
                <a:ea typeface="Calibri" pitchFamily="34" charset="0"/>
                <a:cs typeface="Calibri" pitchFamily="34" charset="0"/>
              </a:rPr>
              <a:t>Maka</a:t>
            </a:r>
            <a:r>
              <a:rPr lang="en-US" sz="1600" dirty="0">
                <a:latin typeface="Calibri" pitchFamily="34" charset="0"/>
                <a:ea typeface="Calibri" pitchFamily="34" charset="0"/>
                <a:cs typeface="Calibri" pitchFamily="34" charset="0"/>
              </a:rPr>
              <a:t> </a:t>
            </a:r>
            <a:r>
              <a:rPr lang="en-US" sz="1600" dirty="0" err="1">
                <a:latin typeface="Calibri" pitchFamily="34" charset="0"/>
                <a:ea typeface="Calibri" pitchFamily="34" charset="0"/>
                <a:cs typeface="Calibri" pitchFamily="34" charset="0"/>
              </a:rPr>
              <a:t>rumus</a:t>
            </a:r>
            <a:r>
              <a:rPr lang="en-US" sz="1600" dirty="0">
                <a:latin typeface="Calibri" pitchFamily="34" charset="0"/>
                <a:ea typeface="Calibri" pitchFamily="34" charset="0"/>
                <a:cs typeface="Calibri" pitchFamily="34" charset="0"/>
              </a:rPr>
              <a:t> </a:t>
            </a:r>
            <a:r>
              <a:rPr lang="en-US" sz="1600" dirty="0" err="1">
                <a:latin typeface="Calibri" pitchFamily="34" charset="0"/>
                <a:ea typeface="Calibri" pitchFamily="34" charset="0"/>
                <a:cs typeface="Calibri" pitchFamily="34" charset="0"/>
              </a:rPr>
              <a:t>untuk</a:t>
            </a:r>
            <a:r>
              <a:rPr lang="en-US" sz="1600" dirty="0">
                <a:latin typeface="Calibri" pitchFamily="34" charset="0"/>
                <a:ea typeface="Calibri" pitchFamily="34" charset="0"/>
                <a:cs typeface="Calibri" pitchFamily="34" charset="0"/>
              </a:rPr>
              <a:t> </a:t>
            </a:r>
            <a:r>
              <a:rPr lang="en-US" sz="1600" dirty="0" err="1">
                <a:latin typeface="Calibri" pitchFamily="34" charset="0"/>
                <a:ea typeface="Calibri" pitchFamily="34" charset="0"/>
                <a:cs typeface="Calibri" pitchFamily="34" charset="0"/>
              </a:rPr>
              <a:t>mencari</a:t>
            </a:r>
            <a:r>
              <a:rPr lang="en-US" sz="1600" dirty="0">
                <a:latin typeface="Calibri" pitchFamily="34" charset="0"/>
                <a:ea typeface="Calibri" pitchFamily="34" charset="0"/>
                <a:cs typeface="Calibri" pitchFamily="34" charset="0"/>
              </a:rPr>
              <a:t> </a:t>
            </a:r>
            <a:r>
              <a:rPr lang="en-US" sz="1600" dirty="0" err="1">
                <a:latin typeface="Calibri" pitchFamily="34" charset="0"/>
                <a:ea typeface="Calibri" pitchFamily="34" charset="0"/>
                <a:cs typeface="Calibri" pitchFamily="34" charset="0"/>
              </a:rPr>
              <a:t>Vout</a:t>
            </a:r>
            <a:r>
              <a:rPr lang="en-US" sz="1600" dirty="0">
                <a:latin typeface="Calibri" pitchFamily="34" charset="0"/>
                <a:ea typeface="Calibri" pitchFamily="34" charset="0"/>
                <a:cs typeface="Calibri" pitchFamily="34" charset="0"/>
              </a:rPr>
              <a:t> </a:t>
            </a:r>
            <a:r>
              <a:rPr lang="en-US" sz="1600" dirty="0" err="1">
                <a:latin typeface="Calibri" pitchFamily="34" charset="0"/>
                <a:ea typeface="Calibri" pitchFamily="34" charset="0"/>
                <a:cs typeface="Calibri" pitchFamily="34" charset="0"/>
              </a:rPr>
              <a:t>pada</a:t>
            </a:r>
            <a:r>
              <a:rPr lang="en-US" sz="1600" dirty="0">
                <a:latin typeface="Calibri" pitchFamily="34" charset="0"/>
                <a:ea typeface="Calibri" pitchFamily="34" charset="0"/>
                <a:cs typeface="Calibri" pitchFamily="34" charset="0"/>
              </a:rPr>
              <a:t> </a:t>
            </a:r>
            <a:r>
              <a:rPr lang="en-US" sz="1600" dirty="0" err="1">
                <a:latin typeface="Calibri" pitchFamily="34" charset="0"/>
                <a:ea typeface="Calibri" pitchFamily="34" charset="0"/>
                <a:cs typeface="Calibri" pitchFamily="34" charset="0"/>
              </a:rPr>
              <a:t>rangkaian</a:t>
            </a:r>
            <a:r>
              <a:rPr lang="en-US" sz="1600" dirty="0">
                <a:latin typeface="Calibri" pitchFamily="34" charset="0"/>
                <a:ea typeface="Calibri" pitchFamily="34" charset="0"/>
                <a:cs typeface="Calibri" pitchFamily="34" charset="0"/>
              </a:rPr>
              <a:t> </a:t>
            </a:r>
            <a:r>
              <a:rPr lang="en-US" sz="1600" dirty="0" err="1">
                <a:latin typeface="Calibri" pitchFamily="34" charset="0"/>
                <a:ea typeface="Calibri" pitchFamily="34" charset="0"/>
                <a:cs typeface="Calibri" pitchFamily="34" charset="0"/>
              </a:rPr>
              <a:t>Differensial</a:t>
            </a:r>
            <a:r>
              <a:rPr lang="en-US" sz="1600" dirty="0">
                <a:latin typeface="Calibri" pitchFamily="34" charset="0"/>
                <a:ea typeface="Calibri" pitchFamily="34" charset="0"/>
                <a:cs typeface="Calibri" pitchFamily="34" charset="0"/>
              </a:rPr>
              <a:t> amplifier </a:t>
            </a:r>
            <a:r>
              <a:rPr lang="en-US" sz="1600" dirty="0" err="1">
                <a:latin typeface="Calibri" pitchFamily="34" charset="0"/>
                <a:ea typeface="Calibri" pitchFamily="34" charset="0"/>
                <a:cs typeface="Calibri" pitchFamily="34" charset="0"/>
              </a:rPr>
              <a:t>adalah</a:t>
            </a:r>
            <a:r>
              <a:rPr lang="en-US" sz="1600" dirty="0">
                <a:latin typeface="Calibri" pitchFamily="34" charset="0"/>
                <a:ea typeface="Calibri" pitchFamily="34" charset="0"/>
                <a:cs typeface="Calibri" pitchFamily="34" charset="0"/>
              </a:rPr>
              <a:t>:</a:t>
            </a:r>
            <a:endParaRPr lang="en-US" sz="1600" dirty="0">
              <a:latin typeface="Arial" pitchFamily="34" charset="0"/>
              <a:cs typeface="Arial" pitchFamily="34" charset="0"/>
            </a:endParaRPr>
          </a:p>
        </p:txBody>
      </p:sp>
      <p:sp>
        <p:nvSpPr>
          <p:cNvPr id="45061" name="Rectangle 5"/>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45060" name="Object 4"/>
          <p:cNvGraphicFramePr>
            <a:graphicFrameLocks noChangeAspect="1"/>
          </p:cNvGraphicFramePr>
          <p:nvPr/>
        </p:nvGraphicFramePr>
        <p:xfrm>
          <a:off x="2590801" y="4724400"/>
          <a:ext cx="5171661" cy="1066800"/>
        </p:xfrm>
        <a:graphic>
          <a:graphicData uri="http://schemas.openxmlformats.org/presentationml/2006/ole">
            <mc:AlternateContent xmlns:mc="http://schemas.openxmlformats.org/markup-compatibility/2006">
              <mc:Choice xmlns:v="urn:schemas-microsoft-com:vml" Requires="v">
                <p:oleObj spid="_x0000_s12299" name="Equation" r:id="rId6" imgW="2120900" imgH="431800" progId="Equation.DSMT4">
                  <p:embed/>
                </p:oleObj>
              </mc:Choice>
              <mc:Fallback>
                <p:oleObj name="Equation" r:id="rId6" imgW="2120900" imgH="431800" progId="Equation.DSMT4">
                  <p:embed/>
                  <p:pic>
                    <p:nvPicPr>
                      <p:cNvPr id="4506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90801" y="4724400"/>
                        <a:ext cx="5171661" cy="1066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58219092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Rot="1" noChangeArrowheads="1"/>
          </p:cNvSpPr>
          <p:nvPr>
            <p:ph type="title"/>
          </p:nvPr>
        </p:nvSpPr>
        <p:spPr/>
        <p:txBody>
          <a:bodyPr>
            <a:normAutofit/>
          </a:bodyPr>
          <a:lstStyle/>
          <a:p>
            <a:r>
              <a:rPr lang="en-US" sz="3200" dirty="0" err="1"/>
              <a:t>Penguat</a:t>
            </a:r>
            <a:r>
              <a:rPr lang="en-US" sz="3200" dirty="0"/>
              <a:t> </a:t>
            </a:r>
            <a:r>
              <a:rPr lang="en-US" sz="3200" dirty="0" err="1"/>
              <a:t>Pengurang</a:t>
            </a:r>
            <a:r>
              <a:rPr lang="en-US" sz="3200" dirty="0"/>
              <a:t/>
            </a:r>
            <a:br>
              <a:rPr lang="en-US" sz="3200" dirty="0"/>
            </a:br>
            <a:r>
              <a:rPr lang="en-US" sz="3200" dirty="0"/>
              <a:t>(</a:t>
            </a:r>
            <a:r>
              <a:rPr lang="en-US" sz="3200" dirty="0" err="1"/>
              <a:t>Differensial</a:t>
            </a:r>
            <a:r>
              <a:rPr lang="en-US" sz="3200" dirty="0"/>
              <a:t> Amplifier)</a:t>
            </a:r>
          </a:p>
        </p:txBody>
      </p:sp>
      <p:sp>
        <p:nvSpPr>
          <p:cNvPr id="6" name="Slide Number Placeholder 5"/>
          <p:cNvSpPr>
            <a:spLocks noGrp="1"/>
          </p:cNvSpPr>
          <p:nvPr>
            <p:ph type="sldNum" sz="quarter" idx="11"/>
          </p:nvPr>
        </p:nvSpPr>
        <p:spPr/>
        <p:txBody>
          <a:bodyPr/>
          <a:lstStyle/>
          <a:p>
            <a:fld id="{B6D43BF7-D0E7-4944-9DE7-B9C291B847CF}" type="slidenum">
              <a:rPr lang="en-US" smtClean="0"/>
              <a:pPr/>
              <a:t>21</a:t>
            </a:fld>
            <a:endParaRPr lang="en-US"/>
          </a:p>
        </p:txBody>
      </p:sp>
      <p:sp>
        <p:nvSpPr>
          <p:cNvPr id="45061" name="Rectangle 5"/>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9156" name="Rectangle 4"/>
          <p:cNvSpPr>
            <a:spLocks noChangeArrowheads="1"/>
          </p:cNvSpPr>
          <p:nvPr/>
        </p:nvSpPr>
        <p:spPr bwMode="auto">
          <a:xfrm>
            <a:off x="1752600" y="1676400"/>
            <a:ext cx="7696200" cy="36933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algn="just" fontAlgn="base">
              <a:spcBef>
                <a:spcPct val="0"/>
              </a:spcBef>
              <a:spcAft>
                <a:spcPct val="0"/>
              </a:spcAft>
            </a:pPr>
            <a:r>
              <a:rPr lang="en-US" dirty="0" err="1">
                <a:latin typeface="Calibri" pitchFamily="34" charset="0"/>
                <a:ea typeface="Calibri" pitchFamily="34" charset="0"/>
                <a:cs typeface="Calibri" pitchFamily="34" charset="0"/>
              </a:rPr>
              <a:t>Ketika</a:t>
            </a:r>
            <a:r>
              <a:rPr lang="en-US" dirty="0">
                <a:latin typeface="Calibri" pitchFamily="34" charset="0"/>
                <a:ea typeface="Calibri" pitchFamily="34" charset="0"/>
                <a:cs typeface="Calibri" pitchFamily="34" charset="0"/>
              </a:rPr>
              <a:t> R1 = R3 </a:t>
            </a:r>
            <a:r>
              <a:rPr lang="en-US" dirty="0" err="1">
                <a:latin typeface="Calibri" pitchFamily="34" charset="0"/>
                <a:ea typeface="Calibri" pitchFamily="34" charset="0"/>
                <a:cs typeface="Calibri" pitchFamily="34" charset="0"/>
              </a:rPr>
              <a:t>dan</a:t>
            </a:r>
            <a:r>
              <a:rPr lang="en-US" dirty="0">
                <a:latin typeface="Calibri" pitchFamily="34" charset="0"/>
                <a:ea typeface="Calibri" pitchFamily="34" charset="0"/>
                <a:cs typeface="Calibri" pitchFamily="34" charset="0"/>
              </a:rPr>
              <a:t> R2 = R4  </a:t>
            </a:r>
            <a:r>
              <a:rPr lang="en-US" dirty="0" err="1">
                <a:latin typeface="Calibri" pitchFamily="34" charset="0"/>
                <a:ea typeface="Calibri" pitchFamily="34" charset="0"/>
                <a:cs typeface="Calibri" pitchFamily="34" charset="0"/>
              </a:rPr>
              <a:t>maka</a:t>
            </a:r>
            <a:r>
              <a:rPr lang="en-US" dirty="0">
                <a:latin typeface="Calibri" pitchFamily="34" charset="0"/>
                <a:ea typeface="Calibri" pitchFamily="34" charset="0"/>
                <a:cs typeface="Calibri" pitchFamily="34" charset="0"/>
              </a:rPr>
              <a:t> </a:t>
            </a:r>
            <a:r>
              <a:rPr lang="en-US" dirty="0" err="1">
                <a:latin typeface="Calibri" pitchFamily="34" charset="0"/>
                <a:ea typeface="Calibri" pitchFamily="34" charset="0"/>
                <a:cs typeface="Calibri" pitchFamily="34" charset="0"/>
              </a:rPr>
              <a:t>rumus</a:t>
            </a:r>
            <a:r>
              <a:rPr lang="en-US" dirty="0">
                <a:latin typeface="Calibri" pitchFamily="34" charset="0"/>
                <a:ea typeface="Calibri" pitchFamily="34" charset="0"/>
                <a:cs typeface="Calibri" pitchFamily="34" charset="0"/>
              </a:rPr>
              <a:t> </a:t>
            </a:r>
            <a:r>
              <a:rPr lang="en-US" dirty="0" err="1">
                <a:latin typeface="Calibri" pitchFamily="34" charset="0"/>
                <a:ea typeface="Calibri" pitchFamily="34" charset="0"/>
                <a:cs typeface="Calibri" pitchFamily="34" charset="0"/>
              </a:rPr>
              <a:t>diatas</a:t>
            </a:r>
            <a:r>
              <a:rPr lang="en-US" dirty="0">
                <a:latin typeface="Calibri" pitchFamily="34" charset="0"/>
                <a:ea typeface="Calibri" pitchFamily="34" charset="0"/>
                <a:cs typeface="Calibri" pitchFamily="34" charset="0"/>
              </a:rPr>
              <a:t> </a:t>
            </a:r>
            <a:r>
              <a:rPr lang="en-US" dirty="0" err="1">
                <a:latin typeface="Calibri" pitchFamily="34" charset="0"/>
                <a:ea typeface="Calibri" pitchFamily="34" charset="0"/>
                <a:cs typeface="Calibri" pitchFamily="34" charset="0"/>
              </a:rPr>
              <a:t>menjadi</a:t>
            </a:r>
            <a:r>
              <a:rPr lang="en-US" dirty="0">
                <a:latin typeface="Calibri" pitchFamily="34" charset="0"/>
                <a:ea typeface="Calibri" pitchFamily="34" charset="0"/>
                <a:cs typeface="Calibri" pitchFamily="34" charset="0"/>
              </a:rPr>
              <a:t>:</a:t>
            </a:r>
            <a:endParaRPr lang="en-US" dirty="0">
              <a:latin typeface="Arial" pitchFamily="34" charset="0"/>
              <a:cs typeface="Arial" pitchFamily="34" charset="0"/>
            </a:endParaRPr>
          </a:p>
        </p:txBody>
      </p:sp>
      <p:sp>
        <p:nvSpPr>
          <p:cNvPr id="49158" name="Rectangle 6"/>
          <p:cNvSpPr>
            <a:spLocks noChangeArrowheads="1"/>
          </p:cNvSpPr>
          <p:nvPr/>
        </p:nvSpPr>
        <p:spPr bwMode="auto">
          <a:xfrm>
            <a:off x="1524001" y="-184666"/>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49157" name="Object 5"/>
          <p:cNvGraphicFramePr>
            <a:graphicFrameLocks noChangeAspect="1"/>
          </p:cNvGraphicFramePr>
          <p:nvPr/>
        </p:nvGraphicFramePr>
        <p:xfrm>
          <a:off x="1981200" y="2209800"/>
          <a:ext cx="4038600" cy="4038600"/>
        </p:xfrm>
        <a:graphic>
          <a:graphicData uri="http://schemas.openxmlformats.org/presentationml/2006/ole">
            <mc:AlternateContent xmlns:mc="http://schemas.openxmlformats.org/markup-compatibility/2006">
              <mc:Choice xmlns:v="urn:schemas-microsoft-com:vml" Requires="v">
                <p:oleObj spid="_x0000_s13318" name="Equation" r:id="rId3" imgW="2235200" imgH="2222500" progId="Equation.DSMT4">
                  <p:embed/>
                </p:oleObj>
              </mc:Choice>
              <mc:Fallback>
                <p:oleObj name="Equation" r:id="rId3" imgW="2235200" imgH="2222500" progId="Equation.DSMT4">
                  <p:embed/>
                  <p:pic>
                    <p:nvPicPr>
                      <p:cNvPr id="49157"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1200" y="2209800"/>
                        <a:ext cx="4038600" cy="4038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40061366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Rot="1" noChangeArrowheads="1"/>
          </p:cNvSpPr>
          <p:nvPr>
            <p:ph type="title"/>
          </p:nvPr>
        </p:nvSpPr>
        <p:spPr/>
        <p:txBody>
          <a:bodyPr/>
          <a:lstStyle/>
          <a:p>
            <a:r>
              <a:rPr lang="en-US"/>
              <a:t>Integrator</a:t>
            </a:r>
          </a:p>
        </p:txBody>
      </p:sp>
      <p:pic>
        <p:nvPicPr>
          <p:cNvPr id="59396" name="Picture 4"/>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2133600" y="1524002"/>
            <a:ext cx="3657600" cy="1752599"/>
          </a:xfrm>
        </p:spPr>
      </p:pic>
      <p:pic>
        <p:nvPicPr>
          <p:cNvPr id="59398"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4648200"/>
            <a:ext cx="3129531"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9399"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81601" y="4419600"/>
            <a:ext cx="2579627" cy="198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Slide Number Placeholder 6"/>
          <p:cNvSpPr>
            <a:spLocks noGrp="1"/>
          </p:cNvSpPr>
          <p:nvPr>
            <p:ph type="sldNum" sz="quarter" idx="4294967295"/>
          </p:nvPr>
        </p:nvSpPr>
        <p:spPr/>
        <p:txBody>
          <a:bodyPr>
            <a:normAutofit/>
          </a:bodyPr>
          <a:lstStyle/>
          <a:p>
            <a:fld id="{30FF78D7-7CA0-44FD-8733-19F49D683D81}" type="slidenum">
              <a:rPr lang="en-US" smtClean="0"/>
              <a:pPr/>
              <a:t>22</a:t>
            </a:fld>
            <a:endParaRPr lang="en-US"/>
          </a:p>
        </p:txBody>
      </p:sp>
      <p:sp>
        <p:nvSpPr>
          <p:cNvPr id="8" name="Rectangle 7"/>
          <p:cNvSpPr/>
          <p:nvPr/>
        </p:nvSpPr>
        <p:spPr>
          <a:xfrm>
            <a:off x="1752600" y="3276601"/>
            <a:ext cx="5181600" cy="1200329"/>
          </a:xfrm>
          <a:prstGeom prst="rect">
            <a:avLst/>
          </a:prstGeom>
        </p:spPr>
        <p:txBody>
          <a:bodyPr wrap="square">
            <a:spAutoFit/>
          </a:bodyPr>
          <a:lstStyle/>
          <a:p>
            <a:pPr algn="just"/>
            <a:r>
              <a:rPr lang="en-US" dirty="0" err="1"/>
              <a:t>Fungsi</a:t>
            </a:r>
            <a:r>
              <a:rPr lang="en-US" dirty="0"/>
              <a:t> </a:t>
            </a:r>
            <a:r>
              <a:rPr lang="en-US" dirty="0" err="1"/>
              <a:t>dari</a:t>
            </a:r>
            <a:r>
              <a:rPr lang="en-US" dirty="0"/>
              <a:t> </a:t>
            </a:r>
            <a:r>
              <a:rPr lang="en-US" dirty="0" err="1"/>
              <a:t>rangkaian</a:t>
            </a:r>
            <a:r>
              <a:rPr lang="en-US" dirty="0"/>
              <a:t> integrator </a:t>
            </a:r>
            <a:r>
              <a:rPr lang="en-US" dirty="0" err="1"/>
              <a:t>adalah</a:t>
            </a:r>
            <a:r>
              <a:rPr lang="en-US" dirty="0"/>
              <a:t> </a:t>
            </a:r>
            <a:r>
              <a:rPr lang="en-US" dirty="0" err="1"/>
              <a:t>sebagai</a:t>
            </a:r>
            <a:r>
              <a:rPr lang="en-US" dirty="0"/>
              <a:t> </a:t>
            </a:r>
            <a:r>
              <a:rPr lang="en-US" dirty="0" err="1"/>
              <a:t>pengubah</a:t>
            </a:r>
            <a:r>
              <a:rPr lang="en-US" dirty="0"/>
              <a:t> </a:t>
            </a:r>
            <a:r>
              <a:rPr lang="en-US" dirty="0" err="1"/>
              <a:t>tegangan</a:t>
            </a:r>
            <a:r>
              <a:rPr lang="en-US" dirty="0"/>
              <a:t> </a:t>
            </a:r>
            <a:r>
              <a:rPr lang="en-US" dirty="0" err="1"/>
              <a:t>kotak</a:t>
            </a:r>
            <a:r>
              <a:rPr lang="en-US" dirty="0"/>
              <a:t> </a:t>
            </a:r>
            <a:r>
              <a:rPr lang="en-US" dirty="0" err="1"/>
              <a:t>menjadi</a:t>
            </a:r>
            <a:r>
              <a:rPr lang="en-US" dirty="0"/>
              <a:t> </a:t>
            </a:r>
            <a:r>
              <a:rPr lang="en-US" dirty="0" err="1"/>
              <a:t>tegangan</a:t>
            </a:r>
            <a:r>
              <a:rPr lang="en-US" dirty="0"/>
              <a:t> </a:t>
            </a:r>
            <a:r>
              <a:rPr lang="en-US" dirty="0" err="1"/>
              <a:t>segitiga</a:t>
            </a:r>
            <a:r>
              <a:rPr lang="en-US" dirty="0"/>
              <a:t>, </a:t>
            </a:r>
            <a:r>
              <a:rPr lang="en-US" dirty="0" err="1"/>
              <a:t>atau</a:t>
            </a:r>
            <a:r>
              <a:rPr lang="en-US" dirty="0"/>
              <a:t> </a:t>
            </a:r>
            <a:r>
              <a:rPr lang="en-US" dirty="0" err="1"/>
              <a:t>dapat</a:t>
            </a:r>
            <a:r>
              <a:rPr lang="en-US" dirty="0"/>
              <a:t> </a:t>
            </a:r>
            <a:r>
              <a:rPr lang="en-US" dirty="0" err="1"/>
              <a:t>juga</a:t>
            </a:r>
            <a:r>
              <a:rPr lang="en-US" dirty="0"/>
              <a:t> </a:t>
            </a:r>
            <a:r>
              <a:rPr lang="en-US" dirty="0" err="1"/>
              <a:t>digunakan</a:t>
            </a:r>
            <a:r>
              <a:rPr lang="en-US" dirty="0"/>
              <a:t> </a:t>
            </a:r>
            <a:r>
              <a:rPr lang="en-US" dirty="0" err="1"/>
              <a:t>sebagai</a:t>
            </a:r>
            <a:r>
              <a:rPr lang="en-US" dirty="0"/>
              <a:t> </a:t>
            </a:r>
            <a:r>
              <a:rPr lang="en-US" dirty="0" err="1"/>
              <a:t>rangkaian</a:t>
            </a:r>
            <a:r>
              <a:rPr lang="en-US" dirty="0"/>
              <a:t> filter lulus </a:t>
            </a:r>
            <a:r>
              <a:rPr lang="en-US" dirty="0" err="1"/>
              <a:t>bawah</a:t>
            </a:r>
            <a:r>
              <a:rPr lang="en-US" dirty="0"/>
              <a:t>- LPF (low pass filter) </a:t>
            </a:r>
          </a:p>
        </p:txBody>
      </p:sp>
      <p:pic>
        <p:nvPicPr>
          <p:cNvPr id="61442" name="Picture 2"/>
          <p:cNvPicPr>
            <a:picLocks noChangeAspect="1" noChangeArrowheads="1"/>
          </p:cNvPicPr>
          <p:nvPr/>
        </p:nvPicPr>
        <p:blipFill>
          <a:blip r:embed="rId5"/>
          <a:srcRect/>
          <a:stretch>
            <a:fillRect/>
          </a:stretch>
        </p:blipFill>
        <p:spPr bwMode="auto">
          <a:xfrm>
            <a:off x="7467600" y="1513114"/>
            <a:ext cx="2819400" cy="3058886"/>
          </a:xfrm>
          <a:prstGeom prst="rect">
            <a:avLst/>
          </a:prstGeom>
          <a:noFill/>
          <a:ln w="9525">
            <a:noFill/>
            <a:miter lim="800000"/>
            <a:headEnd/>
            <a:tailEnd/>
          </a:ln>
          <a:effectLst/>
        </p:spPr>
      </p:pic>
    </p:spTree>
    <p:extLst>
      <p:ext uri="{BB962C8B-B14F-4D97-AF65-F5344CB8AC3E}">
        <p14:creationId xmlns:p14="http://schemas.microsoft.com/office/powerpoint/2010/main" val="165517031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4" name="Rectangle 4"/>
          <p:cNvSpPr>
            <a:spLocks noGrp="1" noRot="1" noChangeArrowheads="1"/>
          </p:cNvSpPr>
          <p:nvPr>
            <p:ph type="title" sz="quarter"/>
          </p:nvPr>
        </p:nvSpPr>
        <p:spPr/>
        <p:txBody>
          <a:bodyPr/>
          <a:lstStyle/>
          <a:p>
            <a:r>
              <a:rPr lang="en-US"/>
              <a:t>Practical Integrator</a:t>
            </a:r>
          </a:p>
        </p:txBody>
      </p:sp>
      <p:pic>
        <p:nvPicPr>
          <p:cNvPr id="61445" name="Picture 5"/>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p:pic>
      <p:pic>
        <p:nvPicPr>
          <p:cNvPr id="61446" name="Picture 6"/>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7162800" y="2057400"/>
            <a:ext cx="2438400" cy="1320800"/>
          </a:xfrm>
        </p:spPr>
      </p:pic>
      <p:pic>
        <p:nvPicPr>
          <p:cNvPr id="61449"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62800" y="3505200"/>
            <a:ext cx="2396358" cy="144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Slide Number Placeholder 6"/>
          <p:cNvSpPr>
            <a:spLocks noGrp="1"/>
          </p:cNvSpPr>
          <p:nvPr>
            <p:ph type="sldNum" sz="quarter" idx="11"/>
          </p:nvPr>
        </p:nvSpPr>
        <p:spPr/>
        <p:txBody>
          <a:bodyPr/>
          <a:lstStyle/>
          <a:p>
            <a:fld id="{F7A2EDAB-DCB2-471C-8E12-878E18D4A728}" type="slidenum">
              <a:rPr lang="en-US" smtClean="0"/>
              <a:pPr/>
              <a:t>23</a:t>
            </a:fld>
            <a:endParaRPr lang="en-US"/>
          </a:p>
        </p:txBody>
      </p:sp>
    </p:spTree>
    <p:extLst>
      <p:ext uri="{BB962C8B-B14F-4D97-AF65-F5344CB8AC3E}">
        <p14:creationId xmlns:p14="http://schemas.microsoft.com/office/powerpoint/2010/main" val="364508931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5" name="Rectangle 7"/>
          <p:cNvSpPr>
            <a:spLocks noGrp="1" noRot="1" noChangeArrowheads="1"/>
          </p:cNvSpPr>
          <p:nvPr>
            <p:ph type="title"/>
          </p:nvPr>
        </p:nvSpPr>
        <p:spPr/>
        <p:txBody>
          <a:bodyPr/>
          <a:lstStyle/>
          <a:p>
            <a:r>
              <a:rPr lang="en-US"/>
              <a:t>Differensiator</a:t>
            </a:r>
          </a:p>
        </p:txBody>
      </p:sp>
      <p:pic>
        <p:nvPicPr>
          <p:cNvPr id="63496" name="Picture 8"/>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1981200" y="1600200"/>
            <a:ext cx="4038600" cy="1524000"/>
          </a:xfrm>
        </p:spPr>
      </p:pic>
      <p:pic>
        <p:nvPicPr>
          <p:cNvPr id="63497" name="Picture 9"/>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1828800" y="4648200"/>
            <a:ext cx="2895600" cy="1568450"/>
          </a:xfrm>
        </p:spPr>
      </p:pic>
      <p:pic>
        <p:nvPicPr>
          <p:cNvPr id="63499" name="Picture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76800" y="4495800"/>
            <a:ext cx="2260492" cy="182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Slide Number Placeholder 6"/>
          <p:cNvSpPr>
            <a:spLocks noGrp="1"/>
          </p:cNvSpPr>
          <p:nvPr>
            <p:ph type="sldNum" sz="quarter" idx="11"/>
          </p:nvPr>
        </p:nvSpPr>
        <p:spPr/>
        <p:txBody>
          <a:bodyPr/>
          <a:lstStyle/>
          <a:p>
            <a:fld id="{201AEAA9-8C65-42A5-8C90-A2F54C079198}" type="slidenum">
              <a:rPr lang="en-US" smtClean="0"/>
              <a:pPr/>
              <a:t>24</a:t>
            </a:fld>
            <a:endParaRPr lang="en-US"/>
          </a:p>
        </p:txBody>
      </p:sp>
      <p:sp>
        <p:nvSpPr>
          <p:cNvPr id="8" name="Rectangle 7"/>
          <p:cNvSpPr/>
          <p:nvPr/>
        </p:nvSpPr>
        <p:spPr>
          <a:xfrm>
            <a:off x="1752600" y="3200401"/>
            <a:ext cx="5334000" cy="1200329"/>
          </a:xfrm>
          <a:prstGeom prst="rect">
            <a:avLst/>
          </a:prstGeom>
        </p:spPr>
        <p:txBody>
          <a:bodyPr wrap="square">
            <a:spAutoFit/>
          </a:bodyPr>
          <a:lstStyle/>
          <a:p>
            <a:pPr algn="just"/>
            <a:r>
              <a:rPr lang="en-US" dirty="0" err="1"/>
              <a:t>Fungsi</a:t>
            </a:r>
            <a:r>
              <a:rPr lang="en-US" dirty="0"/>
              <a:t> </a:t>
            </a:r>
            <a:r>
              <a:rPr lang="en-US" dirty="0" err="1"/>
              <a:t>dari</a:t>
            </a:r>
            <a:r>
              <a:rPr lang="en-US" dirty="0"/>
              <a:t> </a:t>
            </a:r>
            <a:r>
              <a:rPr lang="en-US" dirty="0" err="1"/>
              <a:t>rangkaian</a:t>
            </a:r>
            <a:r>
              <a:rPr lang="en-US" dirty="0"/>
              <a:t> </a:t>
            </a:r>
            <a:r>
              <a:rPr lang="en-US" dirty="0" err="1"/>
              <a:t>diferensiator</a:t>
            </a:r>
            <a:r>
              <a:rPr lang="en-US" dirty="0"/>
              <a:t> </a:t>
            </a:r>
            <a:r>
              <a:rPr lang="en-US" dirty="0" err="1"/>
              <a:t>adalah</a:t>
            </a:r>
            <a:r>
              <a:rPr lang="en-US" dirty="0"/>
              <a:t> </a:t>
            </a:r>
            <a:r>
              <a:rPr lang="en-US" dirty="0" err="1"/>
              <a:t>untukmengubah</a:t>
            </a:r>
            <a:r>
              <a:rPr lang="en-US" dirty="0"/>
              <a:t> </a:t>
            </a:r>
            <a:r>
              <a:rPr lang="en-US" dirty="0" err="1"/>
              <a:t>tegangan</a:t>
            </a:r>
            <a:r>
              <a:rPr lang="en-US" dirty="0"/>
              <a:t> </a:t>
            </a:r>
            <a:r>
              <a:rPr lang="en-US" dirty="0" err="1"/>
              <a:t>segitiga</a:t>
            </a:r>
            <a:r>
              <a:rPr lang="en-US" dirty="0"/>
              <a:t> </a:t>
            </a:r>
            <a:r>
              <a:rPr lang="en-US" dirty="0" err="1"/>
              <a:t>menjadi</a:t>
            </a:r>
            <a:r>
              <a:rPr lang="en-US" dirty="0"/>
              <a:t> </a:t>
            </a:r>
            <a:r>
              <a:rPr lang="en-US" dirty="0" err="1"/>
              <a:t>tegangan</a:t>
            </a:r>
            <a:r>
              <a:rPr lang="en-US" dirty="0"/>
              <a:t> </a:t>
            </a:r>
            <a:r>
              <a:rPr lang="en-US" dirty="0" err="1"/>
              <a:t>persegi</a:t>
            </a:r>
            <a:r>
              <a:rPr lang="en-US" dirty="0"/>
              <a:t> (</a:t>
            </a:r>
            <a:r>
              <a:rPr lang="en-US" dirty="0" err="1"/>
              <a:t>kotak</a:t>
            </a:r>
            <a:r>
              <a:rPr lang="en-US" dirty="0"/>
              <a:t>), </a:t>
            </a:r>
            <a:r>
              <a:rPr lang="en-US" dirty="0" err="1"/>
              <a:t>ataudapat</a:t>
            </a:r>
            <a:r>
              <a:rPr lang="en-US" dirty="0"/>
              <a:t> </a:t>
            </a:r>
            <a:r>
              <a:rPr lang="en-US" dirty="0" err="1"/>
              <a:t>juga</a:t>
            </a:r>
            <a:r>
              <a:rPr lang="en-US" dirty="0"/>
              <a:t> </a:t>
            </a:r>
            <a:r>
              <a:rPr lang="en-US" dirty="0" err="1"/>
              <a:t>digunakan</a:t>
            </a:r>
            <a:r>
              <a:rPr lang="en-US" dirty="0"/>
              <a:t> </a:t>
            </a:r>
            <a:r>
              <a:rPr lang="en-US" dirty="0" err="1"/>
              <a:t>sebagai</a:t>
            </a:r>
            <a:r>
              <a:rPr lang="en-US" dirty="0"/>
              <a:t> </a:t>
            </a:r>
            <a:r>
              <a:rPr lang="en-US" dirty="0" err="1"/>
              <a:t>rangkaian</a:t>
            </a:r>
            <a:r>
              <a:rPr lang="en-US" dirty="0"/>
              <a:t> filter lulus </a:t>
            </a:r>
            <a:r>
              <a:rPr lang="en-US" dirty="0" err="1"/>
              <a:t>atas</a:t>
            </a:r>
            <a:r>
              <a:rPr lang="en-US" dirty="0"/>
              <a:t>-HPF-high pass filter.</a:t>
            </a:r>
          </a:p>
        </p:txBody>
      </p:sp>
      <p:pic>
        <p:nvPicPr>
          <p:cNvPr id="59393" name="Picture 1"/>
          <p:cNvPicPr>
            <a:picLocks noChangeAspect="1" noChangeArrowheads="1"/>
          </p:cNvPicPr>
          <p:nvPr/>
        </p:nvPicPr>
        <p:blipFill>
          <a:blip r:embed="rId5"/>
          <a:srcRect/>
          <a:stretch>
            <a:fillRect/>
          </a:stretch>
        </p:blipFill>
        <p:spPr bwMode="auto">
          <a:xfrm>
            <a:off x="7391400" y="1676401"/>
            <a:ext cx="3048000" cy="3802035"/>
          </a:xfrm>
          <a:prstGeom prst="rect">
            <a:avLst/>
          </a:prstGeom>
          <a:noFill/>
          <a:ln w="9525">
            <a:noFill/>
            <a:miter lim="800000"/>
            <a:headEnd/>
            <a:tailEnd/>
          </a:ln>
          <a:effectLst/>
        </p:spPr>
      </p:pic>
    </p:spTree>
    <p:extLst>
      <p:ext uri="{BB962C8B-B14F-4D97-AF65-F5344CB8AC3E}">
        <p14:creationId xmlns:p14="http://schemas.microsoft.com/office/powerpoint/2010/main" val="269552486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u="sng" dirty="0" err="1" smtClean="0"/>
              <a:t>Contoh</a:t>
            </a:r>
            <a:r>
              <a:rPr lang="en-US" b="1" u="sng" dirty="0" smtClean="0"/>
              <a:t> </a:t>
            </a:r>
            <a:r>
              <a:rPr lang="en-US" b="1" u="sng" dirty="0" err="1" smtClean="0"/>
              <a:t>soal</a:t>
            </a:r>
            <a:r>
              <a:rPr lang="en-US" b="1" u="sng" dirty="0" smtClean="0"/>
              <a:t> 1: </a:t>
            </a:r>
            <a:endParaRPr lang="en-US" dirty="0"/>
          </a:p>
        </p:txBody>
      </p:sp>
      <p:sp>
        <p:nvSpPr>
          <p:cNvPr id="6" name="Slide Number Placeholder 5"/>
          <p:cNvSpPr>
            <a:spLocks noGrp="1"/>
          </p:cNvSpPr>
          <p:nvPr>
            <p:ph type="sldNum" sz="quarter" idx="11"/>
          </p:nvPr>
        </p:nvSpPr>
        <p:spPr/>
        <p:txBody>
          <a:bodyPr/>
          <a:lstStyle/>
          <a:p>
            <a:fld id="{201AEAA9-8C65-42A5-8C90-A2F54C079198}" type="slidenum">
              <a:rPr lang="en-US" smtClean="0"/>
              <a:pPr/>
              <a:t>25</a:t>
            </a:fld>
            <a:endParaRPr lang="en-US"/>
          </a:p>
        </p:txBody>
      </p:sp>
      <p:pic>
        <p:nvPicPr>
          <p:cNvPr id="7" name="Picture 6" descr="Summing Op-amp Circuit"/>
          <p:cNvPicPr/>
          <p:nvPr/>
        </p:nvPicPr>
        <p:blipFill>
          <a:blip r:embed="rId2">
            <a:extLst>
              <a:ext uri="{28A0092B-C50C-407E-A947-70E740481C1C}">
                <a14:useLocalDpi xmlns:a14="http://schemas.microsoft.com/office/drawing/2010/main" val="0"/>
              </a:ext>
            </a:extLst>
          </a:blip>
          <a:srcRect/>
          <a:stretch>
            <a:fillRect/>
          </a:stretch>
        </p:blipFill>
        <p:spPr bwMode="auto">
          <a:xfrm>
            <a:off x="1981200" y="1600200"/>
            <a:ext cx="3276600" cy="2286000"/>
          </a:xfrm>
          <a:prstGeom prst="rect">
            <a:avLst/>
          </a:prstGeom>
          <a:noFill/>
          <a:ln>
            <a:noFill/>
          </a:ln>
        </p:spPr>
      </p:pic>
      <p:sp>
        <p:nvSpPr>
          <p:cNvPr id="8" name="Content Placeholder 4"/>
          <p:cNvSpPr>
            <a:spLocks noGrp="1"/>
          </p:cNvSpPr>
          <p:nvPr>
            <p:ph sz="half" idx="3"/>
          </p:nvPr>
        </p:nvSpPr>
        <p:spPr>
          <a:xfrm>
            <a:off x="1981200" y="3810000"/>
            <a:ext cx="3429000" cy="2057400"/>
          </a:xfrm>
        </p:spPr>
        <p:txBody>
          <a:bodyPr/>
          <a:lstStyle/>
          <a:p>
            <a:pPr>
              <a:buNone/>
            </a:pPr>
            <a:r>
              <a:rPr lang="en-US" sz="2000" dirty="0" err="1"/>
              <a:t>Jika</a:t>
            </a:r>
            <a:r>
              <a:rPr lang="en-US" sz="2000" dirty="0"/>
              <a:t> V</a:t>
            </a:r>
            <a:r>
              <a:rPr lang="en-US" sz="2000" baseline="-25000" dirty="0"/>
              <a:t>1</a:t>
            </a:r>
            <a:r>
              <a:rPr lang="en-US" sz="2000" dirty="0"/>
              <a:t> = 2mV, V</a:t>
            </a:r>
            <a:r>
              <a:rPr lang="en-US" sz="2000" baseline="-25000" dirty="0"/>
              <a:t>2</a:t>
            </a:r>
            <a:r>
              <a:rPr lang="en-US" sz="2000" dirty="0"/>
              <a:t> = 5mV, R</a:t>
            </a:r>
            <a:r>
              <a:rPr lang="en-US" sz="2000" baseline="-25000" dirty="0"/>
              <a:t>1</a:t>
            </a:r>
            <a:r>
              <a:rPr lang="en-US" sz="2000" dirty="0"/>
              <a:t>=1KΩ, R</a:t>
            </a:r>
            <a:r>
              <a:rPr lang="en-US" sz="2000" baseline="-25000" dirty="0"/>
              <a:t>2</a:t>
            </a:r>
            <a:r>
              <a:rPr lang="en-US" sz="2000" dirty="0"/>
              <a:t> = 2KΩ, R</a:t>
            </a:r>
            <a:r>
              <a:rPr lang="en-US" sz="2000" baseline="-25000" dirty="0"/>
              <a:t>F</a:t>
            </a:r>
            <a:r>
              <a:rPr lang="en-US" sz="2000" dirty="0"/>
              <a:t> = 10KΩ </a:t>
            </a:r>
            <a:r>
              <a:rPr lang="en-US" sz="2000" dirty="0" err="1"/>
              <a:t>maka</a:t>
            </a:r>
            <a:r>
              <a:rPr lang="en-US" sz="2000" dirty="0"/>
              <a:t> </a:t>
            </a:r>
            <a:r>
              <a:rPr lang="en-US" sz="2000" dirty="0" err="1"/>
              <a:t>Vout</a:t>
            </a:r>
            <a:r>
              <a:rPr lang="en-US" sz="2000" dirty="0"/>
              <a:t> =…?</a:t>
            </a:r>
          </a:p>
          <a:p>
            <a:endParaRPr lang="en-US" dirty="0"/>
          </a:p>
        </p:txBody>
      </p:sp>
      <p:pic>
        <p:nvPicPr>
          <p:cNvPr id="50178" name="Picture 2"/>
          <p:cNvPicPr>
            <a:picLocks noChangeAspect="1" noChangeArrowheads="1"/>
          </p:cNvPicPr>
          <p:nvPr/>
        </p:nvPicPr>
        <p:blipFill>
          <a:blip r:embed="rId3"/>
          <a:srcRect/>
          <a:stretch>
            <a:fillRect/>
          </a:stretch>
        </p:blipFill>
        <p:spPr bwMode="auto">
          <a:xfrm>
            <a:off x="5288420" y="1828800"/>
            <a:ext cx="4998580" cy="3581400"/>
          </a:xfrm>
          <a:prstGeom prst="rect">
            <a:avLst/>
          </a:prstGeom>
          <a:noFill/>
          <a:ln w="9525">
            <a:solidFill>
              <a:schemeClr val="accent1"/>
            </a:solidFill>
            <a:miter lim="800000"/>
            <a:headEnd/>
            <a:tailEnd/>
          </a:ln>
          <a:effectLst/>
        </p:spPr>
      </p:pic>
    </p:spTree>
    <p:extLst>
      <p:ext uri="{BB962C8B-B14F-4D97-AF65-F5344CB8AC3E}">
        <p14:creationId xmlns:p14="http://schemas.microsoft.com/office/powerpoint/2010/main" val="1349732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0178"/>
                                        </p:tgtEl>
                                        <p:attrNameLst>
                                          <p:attrName>style.visibility</p:attrName>
                                        </p:attrNameLst>
                                      </p:cBhvr>
                                      <p:to>
                                        <p:strVal val="visible"/>
                                      </p:to>
                                    </p:set>
                                    <p:animEffect transition="in" filter="blinds(horizontal)">
                                      <p:cBhvr>
                                        <p:cTn id="7" dur="500"/>
                                        <p:tgtEl>
                                          <p:spTgt spid="501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u="sng" dirty="0" err="1" smtClean="0"/>
              <a:t>Contoh</a:t>
            </a:r>
            <a:r>
              <a:rPr lang="en-US" b="1" u="sng" dirty="0" smtClean="0"/>
              <a:t> </a:t>
            </a:r>
            <a:r>
              <a:rPr lang="en-US" b="1" u="sng" dirty="0" err="1" smtClean="0"/>
              <a:t>soal</a:t>
            </a:r>
            <a:r>
              <a:rPr lang="en-US" b="1" u="sng" dirty="0" smtClean="0"/>
              <a:t> 2: </a:t>
            </a:r>
            <a:endParaRPr lang="en-US" dirty="0"/>
          </a:p>
        </p:txBody>
      </p:sp>
      <p:sp>
        <p:nvSpPr>
          <p:cNvPr id="6" name="Slide Number Placeholder 5"/>
          <p:cNvSpPr>
            <a:spLocks noGrp="1"/>
          </p:cNvSpPr>
          <p:nvPr>
            <p:ph type="sldNum" sz="quarter" idx="11"/>
          </p:nvPr>
        </p:nvSpPr>
        <p:spPr/>
        <p:txBody>
          <a:bodyPr/>
          <a:lstStyle/>
          <a:p>
            <a:fld id="{201AEAA9-8C65-42A5-8C90-A2F54C079198}" type="slidenum">
              <a:rPr lang="en-US" smtClean="0"/>
              <a:pPr/>
              <a:t>26</a:t>
            </a:fld>
            <a:endParaRPr lang="en-US"/>
          </a:p>
        </p:txBody>
      </p:sp>
      <p:sp>
        <p:nvSpPr>
          <p:cNvPr id="8" name="Content Placeholder 4"/>
          <p:cNvSpPr>
            <a:spLocks noGrp="1"/>
          </p:cNvSpPr>
          <p:nvPr>
            <p:ph sz="half" idx="3"/>
          </p:nvPr>
        </p:nvSpPr>
        <p:spPr>
          <a:xfrm>
            <a:off x="1981200" y="5562600"/>
            <a:ext cx="3962400" cy="762000"/>
          </a:xfrm>
        </p:spPr>
        <p:txBody>
          <a:bodyPr>
            <a:normAutofit/>
          </a:bodyPr>
          <a:lstStyle/>
          <a:p>
            <a:pPr>
              <a:buNone/>
            </a:pPr>
            <a:r>
              <a:rPr lang="en-US" sz="1800" dirty="0" err="1"/>
              <a:t>Diketahui</a:t>
            </a:r>
            <a:r>
              <a:rPr lang="en-US" sz="1800" dirty="0"/>
              <a:t>: R</a:t>
            </a:r>
            <a:r>
              <a:rPr lang="en-US" sz="1800" baseline="-25000" dirty="0"/>
              <a:t>1</a:t>
            </a:r>
            <a:r>
              <a:rPr lang="en-US" sz="1800" dirty="0"/>
              <a:t> = 2KΩ, </a:t>
            </a:r>
            <a:r>
              <a:rPr lang="en-US" sz="1800" dirty="0" err="1"/>
              <a:t>R</a:t>
            </a:r>
            <a:r>
              <a:rPr lang="en-US" sz="1800" baseline="-25000" dirty="0" err="1"/>
              <a:t>f</a:t>
            </a:r>
            <a:r>
              <a:rPr lang="en-US" sz="1800" dirty="0"/>
              <a:t> = 10KΩ</a:t>
            </a:r>
          </a:p>
          <a:p>
            <a:pPr>
              <a:buNone/>
            </a:pPr>
            <a:r>
              <a:rPr lang="en-US" sz="1800" dirty="0"/>
              <a:t>V</a:t>
            </a:r>
            <a:r>
              <a:rPr lang="en-US" sz="1800" baseline="-25000" dirty="0"/>
              <a:t>1 </a:t>
            </a:r>
            <a:r>
              <a:rPr lang="en-US" sz="1800" dirty="0"/>
              <a:t>= 100mV, V</a:t>
            </a:r>
            <a:r>
              <a:rPr lang="en-US" sz="1800" baseline="-25000" dirty="0"/>
              <a:t>2 </a:t>
            </a:r>
            <a:r>
              <a:rPr lang="en-US" sz="1800" dirty="0"/>
              <a:t>= 200mV; </a:t>
            </a:r>
            <a:r>
              <a:rPr lang="en-US" sz="1800" dirty="0" err="1"/>
              <a:t>Vout</a:t>
            </a:r>
            <a:r>
              <a:rPr lang="en-US" sz="1800" dirty="0"/>
              <a:t>=…?</a:t>
            </a:r>
          </a:p>
          <a:p>
            <a:endParaRPr lang="en-US" dirty="0"/>
          </a:p>
        </p:txBody>
      </p:sp>
      <p:pic>
        <p:nvPicPr>
          <p:cNvPr id="9" name="Picture 8"/>
          <p:cNvPicPr/>
          <p:nvPr/>
        </p:nvPicPr>
        <p:blipFill>
          <a:blip r:embed="rId2"/>
          <a:stretch>
            <a:fillRect/>
          </a:stretch>
        </p:blipFill>
        <p:spPr>
          <a:xfrm>
            <a:off x="1670998" y="1524000"/>
            <a:ext cx="4501202" cy="3810000"/>
          </a:xfrm>
          <a:prstGeom prst="rect">
            <a:avLst/>
          </a:prstGeom>
        </p:spPr>
      </p:pic>
      <p:pic>
        <p:nvPicPr>
          <p:cNvPr id="51203" name="Picture 3"/>
          <p:cNvPicPr>
            <a:picLocks noChangeAspect="1" noChangeArrowheads="1"/>
          </p:cNvPicPr>
          <p:nvPr/>
        </p:nvPicPr>
        <p:blipFill>
          <a:blip r:embed="rId3"/>
          <a:srcRect/>
          <a:stretch>
            <a:fillRect/>
          </a:stretch>
        </p:blipFill>
        <p:spPr bwMode="auto">
          <a:xfrm>
            <a:off x="6629400" y="2057400"/>
            <a:ext cx="3732028" cy="4114800"/>
          </a:xfrm>
          <a:prstGeom prst="rect">
            <a:avLst/>
          </a:prstGeom>
          <a:noFill/>
          <a:ln w="9525">
            <a:noFill/>
            <a:miter lim="800000"/>
            <a:headEnd/>
            <a:tailEnd/>
          </a:ln>
          <a:effectLst/>
        </p:spPr>
      </p:pic>
    </p:spTree>
    <p:extLst>
      <p:ext uri="{BB962C8B-B14F-4D97-AF65-F5344CB8AC3E}">
        <p14:creationId xmlns:p14="http://schemas.microsoft.com/office/powerpoint/2010/main" val="882957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51203"/>
                                        </p:tgtEl>
                                        <p:attrNameLst>
                                          <p:attrName>style.visibility</p:attrName>
                                        </p:attrNameLst>
                                      </p:cBhvr>
                                      <p:to>
                                        <p:strVal val="visible"/>
                                      </p:to>
                                    </p:set>
                                    <p:animEffect transition="in" filter="box(in)">
                                      <p:cBhvr>
                                        <p:cTn id="7" dur="500"/>
                                        <p:tgtEl>
                                          <p:spTgt spid="512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u="sng" dirty="0" err="1" smtClean="0"/>
              <a:t>Contoh</a:t>
            </a:r>
            <a:r>
              <a:rPr lang="en-US" b="1" u="sng" dirty="0" smtClean="0"/>
              <a:t> </a:t>
            </a:r>
            <a:r>
              <a:rPr lang="en-US" b="1" u="sng" dirty="0" err="1" smtClean="0"/>
              <a:t>soal</a:t>
            </a:r>
            <a:r>
              <a:rPr lang="en-US" b="1" u="sng" dirty="0" smtClean="0"/>
              <a:t> 3: </a:t>
            </a:r>
            <a:endParaRPr lang="en-US" dirty="0"/>
          </a:p>
        </p:txBody>
      </p:sp>
      <p:sp>
        <p:nvSpPr>
          <p:cNvPr id="6" name="Slide Number Placeholder 5"/>
          <p:cNvSpPr>
            <a:spLocks noGrp="1"/>
          </p:cNvSpPr>
          <p:nvPr>
            <p:ph type="sldNum" sz="quarter" idx="11"/>
          </p:nvPr>
        </p:nvSpPr>
        <p:spPr/>
        <p:txBody>
          <a:bodyPr/>
          <a:lstStyle/>
          <a:p>
            <a:fld id="{201AEAA9-8C65-42A5-8C90-A2F54C079198}" type="slidenum">
              <a:rPr lang="en-US" smtClean="0"/>
              <a:pPr/>
              <a:t>27</a:t>
            </a:fld>
            <a:endParaRPr lang="en-US"/>
          </a:p>
        </p:txBody>
      </p:sp>
      <p:sp>
        <p:nvSpPr>
          <p:cNvPr id="8" name="Content Placeholder 4"/>
          <p:cNvSpPr>
            <a:spLocks noGrp="1"/>
          </p:cNvSpPr>
          <p:nvPr>
            <p:ph sz="half" idx="3"/>
          </p:nvPr>
        </p:nvSpPr>
        <p:spPr>
          <a:xfrm>
            <a:off x="1981200" y="5562600"/>
            <a:ext cx="3962400" cy="762000"/>
          </a:xfrm>
        </p:spPr>
        <p:txBody>
          <a:bodyPr>
            <a:normAutofit/>
          </a:bodyPr>
          <a:lstStyle/>
          <a:p>
            <a:pPr>
              <a:buNone/>
            </a:pPr>
            <a:r>
              <a:rPr lang="en-US" sz="1800" dirty="0" err="1"/>
              <a:t>Diketahui</a:t>
            </a:r>
            <a:r>
              <a:rPr lang="en-US" sz="1800" dirty="0"/>
              <a:t>: R</a:t>
            </a:r>
            <a:r>
              <a:rPr lang="en-US" sz="1800" baseline="-25000" dirty="0"/>
              <a:t>1</a:t>
            </a:r>
            <a:r>
              <a:rPr lang="en-US" sz="1800" dirty="0"/>
              <a:t> = 2KΩ, </a:t>
            </a:r>
            <a:r>
              <a:rPr lang="en-US" sz="1800" dirty="0" err="1"/>
              <a:t>R</a:t>
            </a:r>
            <a:r>
              <a:rPr lang="en-US" sz="1800" baseline="-25000" dirty="0" err="1"/>
              <a:t>f</a:t>
            </a:r>
            <a:r>
              <a:rPr lang="en-US" sz="1800" dirty="0"/>
              <a:t> = 10KΩ</a:t>
            </a:r>
          </a:p>
          <a:p>
            <a:pPr>
              <a:buNone/>
            </a:pPr>
            <a:r>
              <a:rPr lang="en-US" sz="1800" dirty="0"/>
              <a:t>V</a:t>
            </a:r>
            <a:r>
              <a:rPr lang="en-US" sz="1800" baseline="-25000" dirty="0"/>
              <a:t>1 </a:t>
            </a:r>
            <a:r>
              <a:rPr lang="en-US" sz="1800" dirty="0"/>
              <a:t>= 100mV, V</a:t>
            </a:r>
            <a:r>
              <a:rPr lang="en-US" sz="1800" baseline="-25000" dirty="0"/>
              <a:t>2 </a:t>
            </a:r>
            <a:r>
              <a:rPr lang="en-US" sz="1800" dirty="0"/>
              <a:t>= 200mV; </a:t>
            </a:r>
            <a:r>
              <a:rPr lang="en-US" sz="1800" dirty="0" err="1"/>
              <a:t>Vout</a:t>
            </a:r>
            <a:r>
              <a:rPr lang="en-US" sz="1800" dirty="0"/>
              <a:t>=…?</a:t>
            </a:r>
          </a:p>
          <a:p>
            <a:endParaRPr lang="en-US" dirty="0"/>
          </a:p>
        </p:txBody>
      </p:sp>
      <p:pic>
        <p:nvPicPr>
          <p:cNvPr id="9" name="Picture 8"/>
          <p:cNvPicPr/>
          <p:nvPr/>
        </p:nvPicPr>
        <p:blipFill>
          <a:blip r:embed="rId2"/>
          <a:stretch>
            <a:fillRect/>
          </a:stretch>
        </p:blipFill>
        <p:spPr>
          <a:xfrm>
            <a:off x="1670998" y="1524000"/>
            <a:ext cx="4501202" cy="3810000"/>
          </a:xfrm>
          <a:prstGeom prst="rect">
            <a:avLst/>
          </a:prstGeom>
        </p:spPr>
      </p:pic>
      <p:pic>
        <p:nvPicPr>
          <p:cNvPr id="51203" name="Picture 3"/>
          <p:cNvPicPr>
            <a:picLocks noChangeAspect="1" noChangeArrowheads="1"/>
          </p:cNvPicPr>
          <p:nvPr/>
        </p:nvPicPr>
        <p:blipFill>
          <a:blip r:embed="rId3"/>
          <a:srcRect/>
          <a:stretch>
            <a:fillRect/>
          </a:stretch>
        </p:blipFill>
        <p:spPr bwMode="auto">
          <a:xfrm>
            <a:off x="6629400" y="2057400"/>
            <a:ext cx="3732028" cy="4114800"/>
          </a:xfrm>
          <a:prstGeom prst="rect">
            <a:avLst/>
          </a:prstGeom>
          <a:noFill/>
          <a:ln w="9525">
            <a:noFill/>
            <a:miter lim="800000"/>
            <a:headEnd/>
            <a:tailEnd/>
          </a:ln>
          <a:effectLst/>
        </p:spPr>
      </p:pic>
    </p:spTree>
    <p:extLst>
      <p:ext uri="{BB962C8B-B14F-4D97-AF65-F5344CB8AC3E}">
        <p14:creationId xmlns:p14="http://schemas.microsoft.com/office/powerpoint/2010/main" val="2461035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51203"/>
                                        </p:tgtEl>
                                        <p:attrNameLst>
                                          <p:attrName>style.visibility</p:attrName>
                                        </p:attrNameLst>
                                      </p:cBhvr>
                                      <p:to>
                                        <p:strVal val="visible"/>
                                      </p:to>
                                    </p:set>
                                    <p:animEffect transition="in" filter="box(in)">
                                      <p:cBhvr>
                                        <p:cTn id="7" dur="500"/>
                                        <p:tgtEl>
                                          <p:spTgt spid="512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Rectangle 4"/>
          <p:cNvSpPr>
            <a:spLocks noGrp="1" noRot="1" noChangeArrowheads="1"/>
          </p:cNvSpPr>
          <p:nvPr>
            <p:ph type="title"/>
          </p:nvPr>
        </p:nvSpPr>
        <p:spPr/>
        <p:txBody>
          <a:bodyPr/>
          <a:lstStyle/>
          <a:p>
            <a:r>
              <a:rPr lang="en-US"/>
              <a:t>Comparator</a:t>
            </a:r>
          </a:p>
        </p:txBody>
      </p:sp>
      <p:sp>
        <p:nvSpPr>
          <p:cNvPr id="7" name="Slide Number Placeholder 6"/>
          <p:cNvSpPr>
            <a:spLocks noGrp="1"/>
          </p:cNvSpPr>
          <p:nvPr>
            <p:ph type="sldNum" sz="quarter" idx="11"/>
          </p:nvPr>
        </p:nvSpPr>
        <p:spPr/>
        <p:txBody>
          <a:bodyPr/>
          <a:lstStyle/>
          <a:p>
            <a:fld id="{7BE6430B-D41A-4F4B-986B-D268072AE718}" type="slidenum">
              <a:rPr lang="en-US" smtClean="0"/>
              <a:pPr/>
              <a:t>28</a:t>
            </a:fld>
            <a:endParaRPr lang="en-US"/>
          </a:p>
        </p:txBody>
      </p:sp>
      <p:sp>
        <p:nvSpPr>
          <p:cNvPr id="8" name="Content Placeholder 7"/>
          <p:cNvSpPr>
            <a:spLocks noGrp="1"/>
          </p:cNvSpPr>
          <p:nvPr>
            <p:ph sz="half" idx="1"/>
          </p:nvPr>
        </p:nvSpPr>
        <p:spPr>
          <a:xfrm>
            <a:off x="1981200" y="1600201"/>
            <a:ext cx="8382000" cy="4648199"/>
          </a:xfrm>
        </p:spPr>
        <p:txBody>
          <a:bodyPr>
            <a:normAutofit/>
          </a:bodyPr>
          <a:lstStyle/>
          <a:p>
            <a:r>
              <a:rPr lang="en-US" sz="2000" dirty="0"/>
              <a:t>Comparator </a:t>
            </a:r>
            <a:r>
              <a:rPr lang="en-US" sz="2000" dirty="0" err="1"/>
              <a:t>adalah</a:t>
            </a:r>
            <a:r>
              <a:rPr lang="en-US" sz="2000" dirty="0"/>
              <a:t> </a:t>
            </a:r>
            <a:r>
              <a:rPr lang="en-US" sz="2000" dirty="0" err="1"/>
              <a:t>penggunaan</a:t>
            </a:r>
            <a:r>
              <a:rPr lang="en-US" sz="2000" dirty="0"/>
              <a:t> op amp </a:t>
            </a:r>
            <a:r>
              <a:rPr lang="en-US" sz="2000" dirty="0" err="1"/>
              <a:t>sebagai</a:t>
            </a:r>
            <a:r>
              <a:rPr lang="en-US" sz="2000" dirty="0"/>
              <a:t> </a:t>
            </a:r>
            <a:r>
              <a:rPr lang="en-US" sz="2000" dirty="0" err="1"/>
              <a:t>pembanding</a:t>
            </a:r>
            <a:r>
              <a:rPr lang="en-US" sz="2000" dirty="0"/>
              <a:t> </a:t>
            </a:r>
            <a:r>
              <a:rPr lang="en-US" sz="2000" dirty="0" err="1"/>
              <a:t>antara</a:t>
            </a:r>
            <a:r>
              <a:rPr lang="en-US" sz="2000" dirty="0"/>
              <a:t> </a:t>
            </a:r>
            <a:r>
              <a:rPr lang="en-US" sz="2000" dirty="0" err="1"/>
              <a:t>tegangan</a:t>
            </a:r>
            <a:r>
              <a:rPr lang="en-US" sz="2000" dirty="0"/>
              <a:t> yang </a:t>
            </a:r>
            <a:r>
              <a:rPr lang="en-US" sz="2000" dirty="0" err="1"/>
              <a:t>masuk</a:t>
            </a:r>
            <a:r>
              <a:rPr lang="en-US" sz="2000" dirty="0"/>
              <a:t> </a:t>
            </a:r>
            <a:r>
              <a:rPr lang="en-US" sz="2000" dirty="0" err="1"/>
              <a:t>pada</a:t>
            </a:r>
            <a:r>
              <a:rPr lang="en-US" sz="2000" dirty="0"/>
              <a:t> input (+) </a:t>
            </a:r>
            <a:r>
              <a:rPr lang="en-US" sz="2000" dirty="0" err="1"/>
              <a:t>dan</a:t>
            </a:r>
            <a:r>
              <a:rPr lang="en-US" sz="2000" dirty="0"/>
              <a:t> input (-).</a:t>
            </a:r>
          </a:p>
          <a:p>
            <a:r>
              <a:rPr lang="en-US" sz="2000" dirty="0" err="1"/>
              <a:t>Jika</a:t>
            </a:r>
            <a:r>
              <a:rPr lang="en-US" sz="2000" dirty="0"/>
              <a:t> input (+) </a:t>
            </a:r>
            <a:r>
              <a:rPr lang="en-US" sz="2000" dirty="0" err="1"/>
              <a:t>lebih</a:t>
            </a:r>
            <a:r>
              <a:rPr lang="en-US" sz="2000" dirty="0"/>
              <a:t> </a:t>
            </a:r>
            <a:r>
              <a:rPr lang="en-US" sz="2000" dirty="0" err="1"/>
              <a:t>tinggi</a:t>
            </a:r>
            <a:r>
              <a:rPr lang="en-US" sz="2000" dirty="0"/>
              <a:t> </a:t>
            </a:r>
            <a:r>
              <a:rPr lang="en-US" sz="2000" dirty="0" err="1"/>
              <a:t>dari</a:t>
            </a:r>
            <a:r>
              <a:rPr lang="en-US" sz="2000" dirty="0"/>
              <a:t> input (-) </a:t>
            </a:r>
            <a:r>
              <a:rPr lang="en-US" sz="2000" dirty="0" err="1"/>
              <a:t>maka</a:t>
            </a:r>
            <a:r>
              <a:rPr lang="en-US" sz="2000" dirty="0"/>
              <a:t> op amp </a:t>
            </a:r>
            <a:r>
              <a:rPr lang="en-US" sz="2000" dirty="0" err="1"/>
              <a:t>akan</a:t>
            </a:r>
            <a:r>
              <a:rPr lang="en-US" sz="2000" dirty="0"/>
              <a:t> </a:t>
            </a:r>
            <a:r>
              <a:rPr lang="en-US" sz="2000" dirty="0" err="1"/>
              <a:t>mengeluarkan</a:t>
            </a:r>
            <a:r>
              <a:rPr lang="en-US" sz="2000" dirty="0"/>
              <a:t> </a:t>
            </a:r>
            <a:r>
              <a:rPr lang="en-US" sz="2000" dirty="0" err="1"/>
              <a:t>tegangan</a:t>
            </a:r>
            <a:r>
              <a:rPr lang="en-US" sz="2000" dirty="0"/>
              <a:t> </a:t>
            </a:r>
            <a:r>
              <a:rPr lang="en-US" sz="2000" dirty="0" err="1"/>
              <a:t>positif</a:t>
            </a:r>
            <a:r>
              <a:rPr lang="en-US" sz="2000" dirty="0"/>
              <a:t> </a:t>
            </a:r>
            <a:r>
              <a:rPr lang="en-US" sz="2000" dirty="0" err="1"/>
              <a:t>dan</a:t>
            </a:r>
            <a:endParaRPr lang="en-US" sz="2000" dirty="0"/>
          </a:p>
          <a:p>
            <a:r>
              <a:rPr lang="en-US" sz="2000" dirty="0"/>
              <a:t> </a:t>
            </a:r>
            <a:r>
              <a:rPr lang="en-US" sz="2000" dirty="0" err="1"/>
              <a:t>jika</a:t>
            </a:r>
            <a:r>
              <a:rPr lang="en-US" sz="2000" dirty="0"/>
              <a:t> input (-) </a:t>
            </a:r>
            <a:r>
              <a:rPr lang="en-US" sz="2000" dirty="0" err="1"/>
              <a:t>lebih</a:t>
            </a:r>
            <a:r>
              <a:rPr lang="en-US" sz="2000" dirty="0"/>
              <a:t> </a:t>
            </a:r>
            <a:r>
              <a:rPr lang="en-US" sz="2000" dirty="0" err="1"/>
              <a:t>tinggi</a:t>
            </a:r>
            <a:r>
              <a:rPr lang="en-US" sz="2000" dirty="0"/>
              <a:t> </a:t>
            </a:r>
            <a:r>
              <a:rPr lang="en-US" sz="2000" dirty="0" err="1"/>
              <a:t>dari</a:t>
            </a:r>
            <a:r>
              <a:rPr lang="en-US" sz="2000" dirty="0"/>
              <a:t> input (+) </a:t>
            </a:r>
            <a:r>
              <a:rPr lang="en-US" sz="2000" dirty="0" err="1"/>
              <a:t>maka</a:t>
            </a:r>
            <a:r>
              <a:rPr lang="en-US" sz="2000" dirty="0"/>
              <a:t> op amp </a:t>
            </a:r>
            <a:r>
              <a:rPr lang="en-US" sz="2000" dirty="0" err="1"/>
              <a:t>akan</a:t>
            </a:r>
            <a:r>
              <a:rPr lang="en-US" sz="2000" dirty="0"/>
              <a:t> </a:t>
            </a:r>
            <a:r>
              <a:rPr lang="en-US" sz="2000" dirty="0" err="1"/>
              <a:t>mengeluarkan</a:t>
            </a:r>
            <a:r>
              <a:rPr lang="en-US" sz="2000" dirty="0"/>
              <a:t> </a:t>
            </a:r>
            <a:r>
              <a:rPr lang="en-US" sz="2000" dirty="0" err="1"/>
              <a:t>tegangan</a:t>
            </a:r>
            <a:r>
              <a:rPr lang="en-US" sz="2000" dirty="0"/>
              <a:t> </a:t>
            </a:r>
            <a:r>
              <a:rPr lang="en-US" sz="2000" dirty="0" err="1"/>
              <a:t>negatif</a:t>
            </a:r>
            <a:r>
              <a:rPr lang="en-US" sz="2000" dirty="0"/>
              <a:t>. </a:t>
            </a:r>
          </a:p>
          <a:p>
            <a:r>
              <a:rPr lang="en-US" sz="2000" dirty="0" err="1"/>
              <a:t>Dengan</a:t>
            </a:r>
            <a:r>
              <a:rPr lang="en-US" sz="2000" dirty="0"/>
              <a:t> </a:t>
            </a:r>
            <a:r>
              <a:rPr lang="en-US" sz="2000" dirty="0" err="1"/>
              <a:t>demikian</a:t>
            </a:r>
            <a:r>
              <a:rPr lang="en-US" sz="2000" dirty="0"/>
              <a:t> op amp </a:t>
            </a:r>
            <a:r>
              <a:rPr lang="en-US" sz="2000" dirty="0" err="1"/>
              <a:t>dapat</a:t>
            </a:r>
            <a:r>
              <a:rPr lang="en-US" sz="2000" dirty="0"/>
              <a:t> </a:t>
            </a:r>
            <a:r>
              <a:rPr lang="en-US" sz="2000" dirty="0" err="1"/>
              <a:t>dipakai</a:t>
            </a:r>
            <a:r>
              <a:rPr lang="en-US" sz="2000" dirty="0"/>
              <a:t> </a:t>
            </a:r>
            <a:r>
              <a:rPr lang="en-US" sz="2000" dirty="0" err="1"/>
              <a:t>untuk</a:t>
            </a:r>
            <a:r>
              <a:rPr lang="en-US" sz="2000" dirty="0"/>
              <a:t> </a:t>
            </a:r>
            <a:r>
              <a:rPr lang="en-US" sz="2000" dirty="0" err="1"/>
              <a:t>membandingkan</a:t>
            </a:r>
            <a:r>
              <a:rPr lang="en-US" sz="2000" dirty="0"/>
              <a:t> </a:t>
            </a:r>
            <a:r>
              <a:rPr lang="en-US" sz="2000" dirty="0" err="1"/>
              <a:t>dua</a:t>
            </a:r>
            <a:r>
              <a:rPr lang="en-US" sz="2000" dirty="0"/>
              <a:t> </a:t>
            </a:r>
            <a:r>
              <a:rPr lang="en-US" sz="2000" dirty="0" err="1"/>
              <a:t>buah</a:t>
            </a:r>
            <a:r>
              <a:rPr lang="en-US" sz="2000" dirty="0"/>
              <a:t> </a:t>
            </a:r>
            <a:r>
              <a:rPr lang="en-US" sz="2000" dirty="0" err="1"/>
              <a:t>tegangan</a:t>
            </a:r>
            <a:r>
              <a:rPr lang="en-US" sz="2000" dirty="0"/>
              <a:t> yang </a:t>
            </a:r>
            <a:r>
              <a:rPr lang="en-US" sz="2000" dirty="0" err="1"/>
              <a:t>berbeda</a:t>
            </a:r>
            <a:r>
              <a:rPr lang="en-US" sz="2000" dirty="0"/>
              <a:t>.</a:t>
            </a:r>
          </a:p>
          <a:p>
            <a:r>
              <a:rPr lang="en-US" sz="2000" dirty="0"/>
              <a:t> V</a:t>
            </a:r>
            <a:r>
              <a:rPr lang="en-US" sz="2000" baseline="-25000" dirty="0"/>
              <a:t>1(+)</a:t>
            </a:r>
            <a:r>
              <a:rPr lang="en-US" sz="2000" dirty="0"/>
              <a:t> = input non-inverting, V</a:t>
            </a:r>
            <a:r>
              <a:rPr lang="en-US" sz="2000" baseline="-25000" dirty="0"/>
              <a:t>2(-)</a:t>
            </a:r>
            <a:r>
              <a:rPr lang="en-US" sz="2000" dirty="0"/>
              <a:t> = input inverting.</a:t>
            </a:r>
          </a:p>
          <a:p>
            <a:endParaRPr lang="en-US" dirty="0"/>
          </a:p>
        </p:txBody>
      </p:sp>
      <p:pic>
        <p:nvPicPr>
          <p:cNvPr id="11" name="Picture 10"/>
          <p:cNvPicPr/>
          <p:nvPr/>
        </p:nvPicPr>
        <p:blipFill>
          <a:blip r:embed="rId2">
            <a:extLst>
              <a:ext uri="{28A0092B-C50C-407E-A947-70E740481C1C}">
                <a14:useLocalDpi xmlns:a14="http://schemas.microsoft.com/office/drawing/2010/main" val="0"/>
              </a:ext>
            </a:extLst>
          </a:blip>
          <a:srcRect/>
          <a:stretch>
            <a:fillRect/>
          </a:stretch>
        </p:blipFill>
        <p:spPr bwMode="auto">
          <a:xfrm>
            <a:off x="2667000" y="5029200"/>
            <a:ext cx="2438400" cy="990600"/>
          </a:xfrm>
          <a:prstGeom prst="rect">
            <a:avLst/>
          </a:prstGeom>
          <a:noFill/>
          <a:ln>
            <a:noFill/>
          </a:ln>
        </p:spPr>
      </p:pic>
    </p:spTree>
    <p:extLst>
      <p:ext uri="{BB962C8B-B14F-4D97-AF65-F5344CB8AC3E}">
        <p14:creationId xmlns:p14="http://schemas.microsoft.com/office/powerpoint/2010/main" val="14375351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Rectangle 4"/>
          <p:cNvSpPr>
            <a:spLocks noGrp="1" noRot="1" noChangeArrowheads="1"/>
          </p:cNvSpPr>
          <p:nvPr>
            <p:ph type="title"/>
          </p:nvPr>
        </p:nvSpPr>
        <p:spPr/>
        <p:txBody>
          <a:bodyPr/>
          <a:lstStyle/>
          <a:p>
            <a:r>
              <a:rPr lang="en-US"/>
              <a:t>Comparator</a:t>
            </a:r>
          </a:p>
        </p:txBody>
      </p:sp>
      <p:pic>
        <p:nvPicPr>
          <p:cNvPr id="22533" name="Picture 5"/>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a:xfrm>
            <a:off x="2286000" y="2514601"/>
            <a:ext cx="3352800" cy="2214563"/>
          </a:xfrm>
        </p:spPr>
      </p:pic>
      <p:pic>
        <p:nvPicPr>
          <p:cNvPr id="22534" name="Picture 6"/>
          <p:cNvPicPr>
            <a:picLocks noGrp="1" noChangeAspect="1" noChangeArrowheads="1"/>
          </p:cNvPicPr>
          <p:nvPr>
            <p:ph sz="quarter" idx="2"/>
          </p:nvPr>
        </p:nvPicPr>
        <p:blipFill>
          <a:blip r:embed="rId4">
            <a:extLst>
              <a:ext uri="{28A0092B-C50C-407E-A947-70E740481C1C}">
                <a14:useLocalDpi xmlns:a14="http://schemas.microsoft.com/office/drawing/2010/main" val="0"/>
              </a:ext>
            </a:extLst>
          </a:blip>
          <a:srcRect/>
          <a:stretch>
            <a:fillRect/>
          </a:stretch>
        </p:blipFill>
        <p:spPr>
          <a:xfrm>
            <a:off x="6248401" y="2209800"/>
            <a:ext cx="3148013" cy="3505200"/>
          </a:xfrm>
        </p:spPr>
      </p:pic>
      <p:graphicFrame>
        <p:nvGraphicFramePr>
          <p:cNvPr id="22536" name="Object 8"/>
          <p:cNvGraphicFramePr>
            <a:graphicFrameLocks noGrp="1" noChangeAspect="1"/>
          </p:cNvGraphicFramePr>
          <p:nvPr>
            <p:ph sz="quarter" idx="3"/>
          </p:nvPr>
        </p:nvGraphicFramePr>
        <p:xfrm>
          <a:off x="2438400" y="5105400"/>
          <a:ext cx="2743200" cy="711200"/>
        </p:xfrm>
        <a:graphic>
          <a:graphicData uri="http://schemas.openxmlformats.org/presentationml/2006/ole">
            <mc:AlternateContent xmlns:mc="http://schemas.openxmlformats.org/markup-compatibility/2006">
              <mc:Choice xmlns:v="urn:schemas-microsoft-com:vml" Requires="v">
                <p:oleObj spid="_x0000_s14342" name="Equation" r:id="rId5" imgW="1371600" imgH="355600" progId="Equation.3">
                  <p:embed/>
                </p:oleObj>
              </mc:Choice>
              <mc:Fallback>
                <p:oleObj name="Equation" r:id="rId5" imgW="1371600" imgH="355600" progId="Equation.3">
                  <p:embed/>
                  <p:pic>
                    <p:nvPicPr>
                      <p:cNvPr id="22536"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38400" y="5105400"/>
                        <a:ext cx="2743200" cy="711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Slide Number Placeholder 6"/>
          <p:cNvSpPr>
            <a:spLocks noGrp="1"/>
          </p:cNvSpPr>
          <p:nvPr>
            <p:ph type="sldNum" sz="quarter" idx="11"/>
          </p:nvPr>
        </p:nvSpPr>
        <p:spPr/>
        <p:txBody>
          <a:bodyPr/>
          <a:lstStyle/>
          <a:p>
            <a:fld id="{7BE6430B-D41A-4F4B-986B-D268072AE718}" type="slidenum">
              <a:rPr lang="en-US" smtClean="0"/>
              <a:pPr/>
              <a:t>29</a:t>
            </a:fld>
            <a:endParaRPr lang="en-US"/>
          </a:p>
        </p:txBody>
      </p:sp>
    </p:spTree>
    <p:extLst>
      <p:ext uri="{BB962C8B-B14F-4D97-AF65-F5344CB8AC3E}">
        <p14:creationId xmlns:p14="http://schemas.microsoft.com/office/powerpoint/2010/main" val="39010139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Contoh</a:t>
            </a:r>
            <a:r>
              <a:rPr lang="en-US" dirty="0" smtClean="0"/>
              <a:t> soal4:</a:t>
            </a:r>
            <a:endParaRPr lang="en-US" dirty="0"/>
          </a:p>
        </p:txBody>
      </p:sp>
      <p:sp>
        <p:nvSpPr>
          <p:cNvPr id="3" name="Content Placeholder 2"/>
          <p:cNvSpPr>
            <a:spLocks noGrp="1"/>
          </p:cNvSpPr>
          <p:nvPr>
            <p:ph sz="half" idx="1"/>
          </p:nvPr>
        </p:nvSpPr>
        <p:spPr>
          <a:xfrm>
            <a:off x="1981200" y="1600201"/>
            <a:ext cx="8382000" cy="4525963"/>
          </a:xfrm>
        </p:spPr>
        <p:txBody>
          <a:bodyPr>
            <a:normAutofit/>
          </a:bodyPr>
          <a:lstStyle/>
          <a:p>
            <a:r>
              <a:rPr lang="en-US" sz="1800" dirty="0" err="1"/>
              <a:t>Contoh</a:t>
            </a:r>
            <a:r>
              <a:rPr lang="en-US" sz="1800" dirty="0"/>
              <a:t> </a:t>
            </a:r>
            <a:r>
              <a:rPr lang="en-US" sz="1800" dirty="0" err="1"/>
              <a:t>rangkaian</a:t>
            </a:r>
            <a:r>
              <a:rPr lang="en-US" sz="1800" dirty="0"/>
              <a:t> comparator </a:t>
            </a:r>
            <a:r>
              <a:rPr lang="en-US" sz="1800" dirty="0" err="1"/>
              <a:t>dengan</a:t>
            </a:r>
            <a:r>
              <a:rPr lang="en-US" sz="1800" dirty="0"/>
              <a:t> </a:t>
            </a:r>
            <a:r>
              <a:rPr lang="en-US" sz="1800" dirty="0" err="1"/>
              <a:t>nilai</a:t>
            </a:r>
            <a:r>
              <a:rPr lang="en-US" sz="1800" dirty="0"/>
              <a:t> V</a:t>
            </a:r>
            <a:r>
              <a:rPr lang="en-US" sz="1800" baseline="-25000" dirty="0"/>
              <a:t>1 </a:t>
            </a:r>
            <a:r>
              <a:rPr lang="en-US" sz="1800" dirty="0"/>
              <a:t>= 3V </a:t>
            </a:r>
            <a:r>
              <a:rPr lang="en-US" sz="1800" dirty="0" err="1"/>
              <a:t>dan</a:t>
            </a:r>
            <a:r>
              <a:rPr lang="en-US" sz="1800" dirty="0"/>
              <a:t> V</a:t>
            </a:r>
            <a:r>
              <a:rPr lang="en-US" sz="1800" baseline="-25000" dirty="0"/>
              <a:t>2</a:t>
            </a:r>
            <a:r>
              <a:rPr lang="en-US" sz="1800" dirty="0"/>
              <a:t> = 2V, V</a:t>
            </a:r>
            <a:r>
              <a:rPr lang="en-US" sz="1800" baseline="-25000" dirty="0"/>
              <a:t>1</a:t>
            </a:r>
            <a:r>
              <a:rPr lang="en-US" sz="1800" dirty="0"/>
              <a:t> &gt; V</a:t>
            </a:r>
            <a:r>
              <a:rPr lang="en-US" sz="1800" baseline="-25000" dirty="0"/>
              <a:t>2</a:t>
            </a:r>
            <a:r>
              <a:rPr lang="en-US" sz="1800" dirty="0"/>
              <a:t> </a:t>
            </a:r>
            <a:r>
              <a:rPr lang="en-US" sz="1800" dirty="0" err="1"/>
              <a:t>dan</a:t>
            </a:r>
            <a:r>
              <a:rPr lang="en-US" sz="1800" dirty="0"/>
              <a:t> V</a:t>
            </a:r>
            <a:r>
              <a:rPr lang="en-US" sz="1800" baseline="-25000" dirty="0"/>
              <a:t>1</a:t>
            </a:r>
            <a:r>
              <a:rPr lang="en-US" sz="1800" dirty="0"/>
              <a:t> </a:t>
            </a:r>
            <a:r>
              <a:rPr lang="en-US" sz="1800" dirty="0" err="1"/>
              <a:t>terhubung</a:t>
            </a:r>
            <a:r>
              <a:rPr lang="en-US" sz="1800" dirty="0"/>
              <a:t> </a:t>
            </a:r>
            <a:r>
              <a:rPr lang="en-US" sz="1800" dirty="0" err="1"/>
              <a:t>ke</a:t>
            </a:r>
            <a:r>
              <a:rPr lang="en-US" sz="1800" dirty="0"/>
              <a:t> kaki inverting Op-Amp </a:t>
            </a:r>
            <a:r>
              <a:rPr lang="en-US" sz="1800" dirty="0" err="1"/>
              <a:t>sehingga</a:t>
            </a:r>
            <a:r>
              <a:rPr lang="en-US" sz="1800" dirty="0"/>
              <a:t> </a:t>
            </a:r>
            <a:r>
              <a:rPr lang="en-US" sz="1800" dirty="0" err="1"/>
              <a:t>tegangan</a:t>
            </a:r>
            <a:r>
              <a:rPr lang="en-US" sz="1800" dirty="0"/>
              <a:t> </a:t>
            </a:r>
            <a:r>
              <a:rPr lang="en-US" sz="1800" dirty="0" err="1"/>
              <a:t>sumber</a:t>
            </a:r>
            <a:r>
              <a:rPr lang="en-US" sz="1800" dirty="0"/>
              <a:t> yang </a:t>
            </a:r>
            <a:r>
              <a:rPr lang="en-US" sz="1800" dirty="0" err="1"/>
              <a:t>dikeluarkan</a:t>
            </a:r>
            <a:r>
              <a:rPr lang="en-US" sz="1800" dirty="0"/>
              <a:t> </a:t>
            </a:r>
            <a:r>
              <a:rPr lang="en-US" sz="1800" dirty="0" err="1"/>
              <a:t>adalah</a:t>
            </a:r>
            <a:r>
              <a:rPr lang="en-US" sz="1800" dirty="0"/>
              <a:t> Vs-= - 12 V, </a:t>
            </a:r>
            <a:r>
              <a:rPr lang="en-US" sz="1800" dirty="0" err="1"/>
              <a:t>perbedaan</a:t>
            </a:r>
            <a:r>
              <a:rPr lang="en-US" sz="1800" dirty="0"/>
              <a:t> </a:t>
            </a:r>
            <a:r>
              <a:rPr lang="en-US" sz="1800" dirty="0" err="1"/>
              <a:t>hasil</a:t>
            </a:r>
            <a:r>
              <a:rPr lang="en-US" sz="1800" dirty="0"/>
              <a:t> </a:t>
            </a:r>
            <a:r>
              <a:rPr lang="en-US" sz="1800" dirty="0" err="1"/>
              <a:t>perhitungan</a:t>
            </a:r>
            <a:r>
              <a:rPr lang="en-US" sz="1800" dirty="0"/>
              <a:t> </a:t>
            </a:r>
            <a:r>
              <a:rPr lang="en-US" sz="1800" dirty="0" err="1"/>
              <a:t>dan</a:t>
            </a:r>
            <a:r>
              <a:rPr lang="en-US" sz="1800" dirty="0"/>
              <a:t> </a:t>
            </a:r>
            <a:r>
              <a:rPr lang="en-US" sz="1800" dirty="0" err="1"/>
              <a:t>alat</a:t>
            </a:r>
            <a:r>
              <a:rPr lang="en-US" sz="1800" dirty="0"/>
              <a:t> </a:t>
            </a:r>
            <a:r>
              <a:rPr lang="en-US" sz="1800" dirty="0" err="1"/>
              <a:t>dikarenakan</a:t>
            </a:r>
            <a:r>
              <a:rPr lang="en-US" sz="1800" dirty="0"/>
              <a:t> </a:t>
            </a:r>
            <a:r>
              <a:rPr lang="en-US" sz="1800" dirty="0" err="1"/>
              <a:t>adanya</a:t>
            </a:r>
            <a:r>
              <a:rPr lang="en-US" sz="1800" dirty="0"/>
              <a:t> </a:t>
            </a:r>
            <a:r>
              <a:rPr lang="en-US" sz="1800" dirty="0" err="1"/>
              <a:t>hambatan</a:t>
            </a:r>
            <a:r>
              <a:rPr lang="en-US" sz="1800" dirty="0"/>
              <a:t> </a:t>
            </a:r>
            <a:r>
              <a:rPr lang="en-US" sz="1800" dirty="0" err="1"/>
              <a:t>dalam</a:t>
            </a:r>
            <a:r>
              <a:rPr lang="en-US" sz="1800" dirty="0"/>
              <a:t> </a:t>
            </a:r>
            <a:r>
              <a:rPr lang="en-US" sz="1800" dirty="0" err="1"/>
              <a:t>pada</a:t>
            </a:r>
            <a:r>
              <a:rPr lang="en-US" sz="1800" dirty="0"/>
              <a:t> OP-Amp.</a:t>
            </a:r>
          </a:p>
          <a:p>
            <a:endParaRPr lang="en-US" dirty="0"/>
          </a:p>
        </p:txBody>
      </p:sp>
      <p:sp>
        <p:nvSpPr>
          <p:cNvPr id="6" name="Slide Number Placeholder 5"/>
          <p:cNvSpPr>
            <a:spLocks noGrp="1"/>
          </p:cNvSpPr>
          <p:nvPr>
            <p:ph type="sldNum" sz="quarter" idx="11"/>
          </p:nvPr>
        </p:nvSpPr>
        <p:spPr/>
        <p:txBody>
          <a:bodyPr/>
          <a:lstStyle/>
          <a:p>
            <a:fld id="{7BE6430B-D41A-4F4B-986B-D268072AE718}" type="slidenum">
              <a:rPr lang="en-US" smtClean="0"/>
              <a:pPr/>
              <a:t>30</a:t>
            </a:fld>
            <a:endParaRPr lang="en-US"/>
          </a:p>
        </p:txBody>
      </p:sp>
      <p:pic>
        <p:nvPicPr>
          <p:cNvPr id="7" name="Picture 6"/>
          <p:cNvPicPr/>
          <p:nvPr/>
        </p:nvPicPr>
        <p:blipFill>
          <a:blip r:embed="rId2">
            <a:extLst>
              <a:ext uri="{28A0092B-C50C-407E-A947-70E740481C1C}">
                <a14:useLocalDpi xmlns:a14="http://schemas.microsoft.com/office/drawing/2010/main" val="0"/>
              </a:ext>
            </a:extLst>
          </a:blip>
          <a:srcRect/>
          <a:stretch>
            <a:fillRect/>
          </a:stretch>
        </p:blipFill>
        <p:spPr bwMode="auto">
          <a:xfrm>
            <a:off x="2362200" y="2743200"/>
            <a:ext cx="6019800" cy="2895600"/>
          </a:xfrm>
          <a:prstGeom prst="rect">
            <a:avLst/>
          </a:prstGeom>
          <a:noFill/>
          <a:ln>
            <a:noFill/>
          </a:ln>
        </p:spPr>
      </p:pic>
    </p:spTree>
    <p:extLst>
      <p:ext uri="{BB962C8B-B14F-4D97-AF65-F5344CB8AC3E}">
        <p14:creationId xmlns:p14="http://schemas.microsoft.com/office/powerpoint/2010/main" val="128889574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Contoh</a:t>
            </a:r>
            <a:r>
              <a:rPr lang="en-US" dirty="0" smtClean="0"/>
              <a:t> soal5:</a:t>
            </a:r>
            <a:endParaRPr lang="en-US" dirty="0"/>
          </a:p>
        </p:txBody>
      </p:sp>
      <p:sp>
        <p:nvSpPr>
          <p:cNvPr id="3" name="Content Placeholder 2"/>
          <p:cNvSpPr>
            <a:spLocks noGrp="1"/>
          </p:cNvSpPr>
          <p:nvPr>
            <p:ph sz="half" idx="1"/>
          </p:nvPr>
        </p:nvSpPr>
        <p:spPr>
          <a:xfrm>
            <a:off x="1981200" y="1600201"/>
            <a:ext cx="8382000" cy="4525963"/>
          </a:xfrm>
        </p:spPr>
        <p:txBody>
          <a:bodyPr>
            <a:normAutofit/>
          </a:bodyPr>
          <a:lstStyle/>
          <a:p>
            <a:r>
              <a:rPr lang="en-US" sz="1800" dirty="0" err="1"/>
              <a:t>Contoh</a:t>
            </a:r>
            <a:r>
              <a:rPr lang="en-US" sz="1800" dirty="0"/>
              <a:t> </a:t>
            </a:r>
            <a:r>
              <a:rPr lang="en-US" sz="1800" dirty="0" err="1"/>
              <a:t>rangkaian</a:t>
            </a:r>
            <a:r>
              <a:rPr lang="en-US" sz="1800" dirty="0"/>
              <a:t> comparator </a:t>
            </a:r>
            <a:r>
              <a:rPr lang="en-US" sz="1800" dirty="0" err="1"/>
              <a:t>dengan</a:t>
            </a:r>
            <a:r>
              <a:rPr lang="en-US" sz="1800" dirty="0"/>
              <a:t> </a:t>
            </a:r>
            <a:r>
              <a:rPr lang="en-US" sz="1800" dirty="0" err="1"/>
              <a:t>nilai</a:t>
            </a:r>
            <a:r>
              <a:rPr lang="en-US" sz="1800" dirty="0"/>
              <a:t> V</a:t>
            </a:r>
            <a:r>
              <a:rPr lang="en-US" sz="1800" baseline="-25000" dirty="0"/>
              <a:t>1 </a:t>
            </a:r>
            <a:r>
              <a:rPr lang="en-US" sz="1800" dirty="0"/>
              <a:t>= 3V </a:t>
            </a:r>
            <a:r>
              <a:rPr lang="en-US" sz="1800" dirty="0" err="1"/>
              <a:t>dan</a:t>
            </a:r>
            <a:r>
              <a:rPr lang="en-US" sz="1800" dirty="0"/>
              <a:t> V</a:t>
            </a:r>
            <a:r>
              <a:rPr lang="en-US" sz="1800" baseline="-25000" dirty="0"/>
              <a:t>2</a:t>
            </a:r>
            <a:r>
              <a:rPr lang="en-US" sz="1800" dirty="0"/>
              <a:t> = 5V . V</a:t>
            </a:r>
            <a:r>
              <a:rPr lang="en-US" sz="1800" baseline="-25000" dirty="0"/>
              <a:t>2</a:t>
            </a:r>
            <a:r>
              <a:rPr lang="en-US" sz="1800" dirty="0"/>
              <a:t> &gt; V</a:t>
            </a:r>
            <a:r>
              <a:rPr lang="en-US" sz="1800" baseline="-25000" dirty="0"/>
              <a:t>1 </a:t>
            </a:r>
            <a:r>
              <a:rPr lang="en-US" sz="1800" dirty="0" err="1"/>
              <a:t>dan</a:t>
            </a:r>
            <a:r>
              <a:rPr lang="en-US" sz="1800" dirty="0"/>
              <a:t> V</a:t>
            </a:r>
            <a:r>
              <a:rPr lang="en-US" sz="1800" baseline="-25000" dirty="0"/>
              <a:t>2</a:t>
            </a:r>
            <a:r>
              <a:rPr lang="en-US" sz="1800" dirty="0"/>
              <a:t> </a:t>
            </a:r>
            <a:r>
              <a:rPr lang="en-US" sz="1800" dirty="0" err="1"/>
              <a:t>terhubung</a:t>
            </a:r>
            <a:r>
              <a:rPr lang="en-US" sz="1800" dirty="0"/>
              <a:t> </a:t>
            </a:r>
            <a:r>
              <a:rPr lang="en-US" sz="1800" dirty="0" err="1"/>
              <a:t>ke</a:t>
            </a:r>
            <a:r>
              <a:rPr lang="en-US" sz="1800" dirty="0"/>
              <a:t> kaki non-inverting Op-Amp </a:t>
            </a:r>
            <a:r>
              <a:rPr lang="en-US" sz="1800" dirty="0" err="1"/>
              <a:t>sehingga</a:t>
            </a:r>
            <a:r>
              <a:rPr lang="en-US" sz="1800" dirty="0"/>
              <a:t> </a:t>
            </a:r>
            <a:r>
              <a:rPr lang="en-US" sz="1800" dirty="0" err="1"/>
              <a:t>tegangan</a:t>
            </a:r>
            <a:r>
              <a:rPr lang="en-US" sz="1800" dirty="0"/>
              <a:t> </a:t>
            </a:r>
            <a:r>
              <a:rPr lang="en-US" sz="1800" dirty="0" err="1"/>
              <a:t>sumber</a:t>
            </a:r>
            <a:r>
              <a:rPr lang="en-US" sz="1800" dirty="0"/>
              <a:t> yang </a:t>
            </a:r>
            <a:r>
              <a:rPr lang="en-US" sz="1800" dirty="0" err="1"/>
              <a:t>dikeluarkan</a:t>
            </a:r>
            <a:r>
              <a:rPr lang="en-US" sz="1800" dirty="0"/>
              <a:t> </a:t>
            </a:r>
            <a:r>
              <a:rPr lang="en-US" sz="1800" dirty="0" err="1"/>
              <a:t>adalah</a:t>
            </a:r>
            <a:r>
              <a:rPr lang="en-US" sz="1800" dirty="0"/>
              <a:t> Vs+= 12 V, </a:t>
            </a:r>
            <a:r>
              <a:rPr lang="en-US" sz="1800" dirty="0" err="1"/>
              <a:t>perbedaan</a:t>
            </a:r>
            <a:r>
              <a:rPr lang="en-US" sz="1800" dirty="0"/>
              <a:t> </a:t>
            </a:r>
            <a:r>
              <a:rPr lang="en-US" sz="1800" dirty="0" err="1"/>
              <a:t>hasil</a:t>
            </a:r>
            <a:r>
              <a:rPr lang="en-US" sz="1800" dirty="0"/>
              <a:t> </a:t>
            </a:r>
            <a:r>
              <a:rPr lang="en-US" sz="1800" dirty="0" err="1"/>
              <a:t>perhitungan</a:t>
            </a:r>
            <a:r>
              <a:rPr lang="en-US" sz="1800" dirty="0"/>
              <a:t> </a:t>
            </a:r>
            <a:r>
              <a:rPr lang="en-US" sz="1800" dirty="0" err="1"/>
              <a:t>dan</a:t>
            </a:r>
            <a:r>
              <a:rPr lang="en-US" sz="1800" dirty="0"/>
              <a:t> </a:t>
            </a:r>
            <a:r>
              <a:rPr lang="en-US" sz="1800" dirty="0" err="1"/>
              <a:t>alat</a:t>
            </a:r>
            <a:r>
              <a:rPr lang="en-US" sz="1800" dirty="0"/>
              <a:t> </a:t>
            </a:r>
            <a:r>
              <a:rPr lang="en-US" sz="1800" dirty="0" err="1"/>
              <a:t>dikarenakan</a:t>
            </a:r>
            <a:r>
              <a:rPr lang="en-US" sz="1800" dirty="0"/>
              <a:t> </a:t>
            </a:r>
            <a:r>
              <a:rPr lang="en-US" sz="1800" dirty="0" err="1"/>
              <a:t>adanya</a:t>
            </a:r>
            <a:r>
              <a:rPr lang="en-US" sz="1800" dirty="0"/>
              <a:t> </a:t>
            </a:r>
            <a:r>
              <a:rPr lang="en-US" sz="1800" dirty="0" err="1"/>
              <a:t>hambatan</a:t>
            </a:r>
            <a:r>
              <a:rPr lang="en-US" sz="1800" dirty="0"/>
              <a:t> </a:t>
            </a:r>
            <a:r>
              <a:rPr lang="en-US" sz="1800" dirty="0" err="1"/>
              <a:t>dalam</a:t>
            </a:r>
            <a:r>
              <a:rPr lang="en-US" sz="1800" dirty="0"/>
              <a:t> </a:t>
            </a:r>
            <a:r>
              <a:rPr lang="en-US" sz="1800" dirty="0" err="1"/>
              <a:t>pada</a:t>
            </a:r>
            <a:r>
              <a:rPr lang="en-US" sz="1800" dirty="0"/>
              <a:t> OP-Amp.</a:t>
            </a:r>
          </a:p>
          <a:p>
            <a:endParaRPr lang="en-US" dirty="0"/>
          </a:p>
        </p:txBody>
      </p:sp>
      <p:sp>
        <p:nvSpPr>
          <p:cNvPr id="6" name="Slide Number Placeholder 5"/>
          <p:cNvSpPr>
            <a:spLocks noGrp="1"/>
          </p:cNvSpPr>
          <p:nvPr>
            <p:ph type="sldNum" sz="quarter" idx="11"/>
          </p:nvPr>
        </p:nvSpPr>
        <p:spPr/>
        <p:txBody>
          <a:bodyPr/>
          <a:lstStyle/>
          <a:p>
            <a:fld id="{7BE6430B-D41A-4F4B-986B-D268072AE718}" type="slidenum">
              <a:rPr lang="en-US" smtClean="0"/>
              <a:pPr/>
              <a:t>31</a:t>
            </a:fld>
            <a:endParaRPr lang="en-US"/>
          </a:p>
        </p:txBody>
      </p:sp>
      <p:pic>
        <p:nvPicPr>
          <p:cNvPr id="8" name="Picture 7"/>
          <p:cNvPicPr/>
          <p:nvPr/>
        </p:nvPicPr>
        <p:blipFill>
          <a:blip r:embed="rId2">
            <a:extLst>
              <a:ext uri="{28A0092B-C50C-407E-A947-70E740481C1C}">
                <a14:useLocalDpi xmlns:a14="http://schemas.microsoft.com/office/drawing/2010/main" val="0"/>
              </a:ext>
            </a:extLst>
          </a:blip>
          <a:srcRect/>
          <a:stretch>
            <a:fillRect/>
          </a:stretch>
        </p:blipFill>
        <p:spPr bwMode="auto">
          <a:xfrm>
            <a:off x="2362200" y="3048000"/>
            <a:ext cx="6324600" cy="3124200"/>
          </a:xfrm>
          <a:prstGeom prst="rect">
            <a:avLst/>
          </a:prstGeom>
          <a:noFill/>
          <a:ln>
            <a:noFill/>
          </a:ln>
        </p:spPr>
      </p:pic>
    </p:spTree>
    <p:extLst>
      <p:ext uri="{BB962C8B-B14F-4D97-AF65-F5344CB8AC3E}">
        <p14:creationId xmlns:p14="http://schemas.microsoft.com/office/powerpoint/2010/main" val="154233529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Contoh</a:t>
            </a:r>
            <a:r>
              <a:rPr lang="en-US" dirty="0" smtClean="0"/>
              <a:t> soal6:</a:t>
            </a:r>
            <a:endParaRPr lang="en-US" dirty="0"/>
          </a:p>
        </p:txBody>
      </p:sp>
      <p:sp>
        <p:nvSpPr>
          <p:cNvPr id="3" name="Content Placeholder 2"/>
          <p:cNvSpPr>
            <a:spLocks noGrp="1"/>
          </p:cNvSpPr>
          <p:nvPr>
            <p:ph sz="half" idx="1"/>
          </p:nvPr>
        </p:nvSpPr>
        <p:spPr>
          <a:xfrm>
            <a:off x="1981200" y="1600201"/>
            <a:ext cx="8382000" cy="4525963"/>
          </a:xfrm>
        </p:spPr>
        <p:txBody>
          <a:bodyPr>
            <a:normAutofit/>
          </a:bodyPr>
          <a:lstStyle/>
          <a:p>
            <a:r>
              <a:rPr lang="en-US" sz="1800" dirty="0" err="1"/>
              <a:t>Contoh</a:t>
            </a:r>
            <a:r>
              <a:rPr lang="en-US" sz="1800" dirty="0"/>
              <a:t> </a:t>
            </a:r>
            <a:r>
              <a:rPr lang="en-US" sz="1800" dirty="0" err="1"/>
              <a:t>rangkaian</a:t>
            </a:r>
            <a:r>
              <a:rPr lang="en-US" sz="1800" dirty="0"/>
              <a:t> comparator </a:t>
            </a:r>
            <a:r>
              <a:rPr lang="en-US" sz="1800" dirty="0" err="1"/>
              <a:t>dengan</a:t>
            </a:r>
            <a:r>
              <a:rPr lang="en-US" sz="1800" dirty="0"/>
              <a:t> </a:t>
            </a:r>
            <a:r>
              <a:rPr lang="en-US" sz="1800" dirty="0" err="1"/>
              <a:t>nilai</a:t>
            </a:r>
            <a:r>
              <a:rPr lang="en-US" sz="1800" dirty="0"/>
              <a:t> V</a:t>
            </a:r>
            <a:r>
              <a:rPr lang="en-US" sz="1800" baseline="-25000" dirty="0"/>
              <a:t>1 </a:t>
            </a:r>
            <a:r>
              <a:rPr lang="en-US" sz="1800" dirty="0"/>
              <a:t>=V</a:t>
            </a:r>
            <a:r>
              <a:rPr lang="en-US" sz="1800" baseline="-25000" dirty="0"/>
              <a:t>2</a:t>
            </a:r>
            <a:r>
              <a:rPr lang="en-US" sz="1800" dirty="0"/>
              <a:t> = 12V</a:t>
            </a:r>
          </a:p>
          <a:p>
            <a:pPr>
              <a:buNone/>
            </a:pPr>
            <a:endParaRPr lang="en-US" dirty="0"/>
          </a:p>
        </p:txBody>
      </p:sp>
      <p:sp>
        <p:nvSpPr>
          <p:cNvPr id="6" name="Slide Number Placeholder 5"/>
          <p:cNvSpPr>
            <a:spLocks noGrp="1"/>
          </p:cNvSpPr>
          <p:nvPr>
            <p:ph type="sldNum" sz="quarter" idx="11"/>
          </p:nvPr>
        </p:nvSpPr>
        <p:spPr/>
        <p:txBody>
          <a:bodyPr/>
          <a:lstStyle/>
          <a:p>
            <a:fld id="{7BE6430B-D41A-4F4B-986B-D268072AE718}" type="slidenum">
              <a:rPr lang="en-US" smtClean="0"/>
              <a:pPr/>
              <a:t>32</a:t>
            </a:fld>
            <a:endParaRPr lang="en-US"/>
          </a:p>
        </p:txBody>
      </p:sp>
      <p:pic>
        <p:nvPicPr>
          <p:cNvPr id="7" name="Picture 6"/>
          <p:cNvPicPr/>
          <p:nvPr/>
        </p:nvPicPr>
        <p:blipFill>
          <a:blip r:embed="rId2">
            <a:extLst>
              <a:ext uri="{28A0092B-C50C-407E-A947-70E740481C1C}">
                <a14:useLocalDpi xmlns:a14="http://schemas.microsoft.com/office/drawing/2010/main" val="0"/>
              </a:ext>
            </a:extLst>
          </a:blip>
          <a:srcRect/>
          <a:stretch>
            <a:fillRect/>
          </a:stretch>
        </p:blipFill>
        <p:spPr bwMode="auto">
          <a:xfrm>
            <a:off x="2286000" y="2286000"/>
            <a:ext cx="4191000" cy="3505200"/>
          </a:xfrm>
          <a:prstGeom prst="rect">
            <a:avLst/>
          </a:prstGeom>
          <a:noFill/>
          <a:ln>
            <a:noFill/>
          </a:ln>
        </p:spPr>
      </p:pic>
      <p:sp>
        <p:nvSpPr>
          <p:cNvPr id="53250" name="Text Box 18"/>
          <p:cNvSpPr txBox="1">
            <a:spLocks noChangeArrowheads="1"/>
          </p:cNvSpPr>
          <p:nvPr/>
        </p:nvSpPr>
        <p:spPr bwMode="auto">
          <a:xfrm>
            <a:off x="6858000" y="2667000"/>
            <a:ext cx="3200400" cy="1905000"/>
          </a:xfrm>
          <a:prstGeom prst="rect">
            <a:avLst/>
          </a:prstGeom>
          <a:solidFill>
            <a:srgbClr val="FFFFFF"/>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algn="just" fontAlgn="base">
              <a:spcBef>
                <a:spcPct val="0"/>
              </a:spcBef>
              <a:spcAft>
                <a:spcPts val="1000"/>
              </a:spcAft>
            </a:pPr>
            <a:r>
              <a:rPr lang="en-US" dirty="0" err="1">
                <a:latin typeface="Calibri" pitchFamily="34" charset="0"/>
                <a:cs typeface="Arial" pitchFamily="34" charset="0"/>
              </a:rPr>
              <a:t>Jika</a:t>
            </a:r>
            <a:r>
              <a:rPr lang="en-US" dirty="0">
                <a:latin typeface="Calibri" pitchFamily="34" charset="0"/>
                <a:cs typeface="Arial" pitchFamily="34" charset="0"/>
              </a:rPr>
              <a:t> V</a:t>
            </a:r>
            <a:r>
              <a:rPr lang="en-US" baseline="-25000" dirty="0">
                <a:latin typeface="Calibri" pitchFamily="34" charset="0"/>
                <a:cs typeface="Arial" pitchFamily="34" charset="0"/>
              </a:rPr>
              <a:t>in</a:t>
            </a:r>
            <a:r>
              <a:rPr lang="en-US" dirty="0">
                <a:latin typeface="Calibri" pitchFamily="34" charset="0"/>
                <a:cs typeface="Arial" pitchFamily="34" charset="0"/>
              </a:rPr>
              <a:t> </a:t>
            </a:r>
            <a:r>
              <a:rPr lang="en-US" dirty="0" err="1">
                <a:latin typeface="Calibri" pitchFamily="34" charset="0"/>
                <a:cs typeface="Arial" pitchFamily="34" charset="0"/>
              </a:rPr>
              <a:t>bernilai</a:t>
            </a:r>
            <a:r>
              <a:rPr lang="en-US" dirty="0">
                <a:latin typeface="Calibri" pitchFamily="34" charset="0"/>
                <a:cs typeface="Arial" pitchFamily="34" charset="0"/>
              </a:rPr>
              <a:t> </a:t>
            </a:r>
            <a:r>
              <a:rPr lang="en-US" dirty="0" err="1">
                <a:latin typeface="Calibri" pitchFamily="34" charset="0"/>
                <a:cs typeface="Arial" pitchFamily="34" charset="0"/>
              </a:rPr>
              <a:t>sama</a:t>
            </a:r>
            <a:r>
              <a:rPr lang="en-US" dirty="0">
                <a:latin typeface="Calibri" pitchFamily="34" charset="0"/>
                <a:cs typeface="Arial" pitchFamily="34" charset="0"/>
              </a:rPr>
              <a:t> </a:t>
            </a:r>
            <a:r>
              <a:rPr lang="en-US" dirty="0" err="1">
                <a:latin typeface="Calibri" pitchFamily="34" charset="0"/>
                <a:cs typeface="Arial" pitchFamily="34" charset="0"/>
              </a:rPr>
              <a:t>besar</a:t>
            </a:r>
            <a:r>
              <a:rPr lang="en-US" dirty="0">
                <a:latin typeface="Calibri" pitchFamily="34" charset="0"/>
                <a:cs typeface="Arial" pitchFamily="34" charset="0"/>
              </a:rPr>
              <a:t> </a:t>
            </a:r>
            <a:r>
              <a:rPr lang="en-US" dirty="0" err="1">
                <a:latin typeface="Calibri" pitchFamily="34" charset="0"/>
                <a:cs typeface="Arial" pitchFamily="34" charset="0"/>
              </a:rPr>
              <a:t>dengan</a:t>
            </a:r>
            <a:r>
              <a:rPr lang="en-US" dirty="0">
                <a:latin typeface="Calibri" pitchFamily="34" charset="0"/>
                <a:cs typeface="Arial" pitchFamily="34" charset="0"/>
              </a:rPr>
              <a:t> V</a:t>
            </a:r>
            <a:r>
              <a:rPr lang="en-US" baseline="-25000" dirty="0">
                <a:latin typeface="Calibri" pitchFamily="34" charset="0"/>
                <a:cs typeface="Arial" pitchFamily="34" charset="0"/>
              </a:rPr>
              <a:t>s</a:t>
            </a:r>
            <a:r>
              <a:rPr lang="en-US" dirty="0">
                <a:latin typeface="Calibri" pitchFamily="34" charset="0"/>
                <a:cs typeface="Arial" pitchFamily="34" charset="0"/>
              </a:rPr>
              <a:t> </a:t>
            </a:r>
            <a:r>
              <a:rPr lang="en-US" dirty="0" err="1">
                <a:latin typeface="Calibri" pitchFamily="34" charset="0"/>
                <a:cs typeface="Arial" pitchFamily="34" charset="0"/>
              </a:rPr>
              <a:t>maka</a:t>
            </a:r>
            <a:r>
              <a:rPr lang="en-US" dirty="0">
                <a:latin typeface="Calibri" pitchFamily="34" charset="0"/>
                <a:cs typeface="Arial" pitchFamily="34" charset="0"/>
              </a:rPr>
              <a:t> </a:t>
            </a:r>
            <a:r>
              <a:rPr lang="en-US" dirty="0" err="1">
                <a:latin typeface="Calibri" pitchFamily="34" charset="0"/>
                <a:cs typeface="Arial" pitchFamily="34" charset="0"/>
              </a:rPr>
              <a:t>V</a:t>
            </a:r>
            <a:r>
              <a:rPr lang="en-US" baseline="-25000" dirty="0" err="1">
                <a:latin typeface="Calibri" pitchFamily="34" charset="0"/>
                <a:cs typeface="Arial" pitchFamily="34" charset="0"/>
              </a:rPr>
              <a:t>out</a:t>
            </a:r>
            <a:r>
              <a:rPr lang="en-US" dirty="0">
                <a:latin typeface="Calibri" pitchFamily="34" charset="0"/>
                <a:cs typeface="Arial" pitchFamily="34" charset="0"/>
              </a:rPr>
              <a:t> </a:t>
            </a:r>
            <a:r>
              <a:rPr lang="en-US" dirty="0" err="1">
                <a:latin typeface="Calibri" pitchFamily="34" charset="0"/>
                <a:cs typeface="Arial" pitchFamily="34" charset="0"/>
              </a:rPr>
              <a:t>akan</a:t>
            </a:r>
            <a:r>
              <a:rPr lang="en-US" dirty="0">
                <a:latin typeface="Calibri" pitchFamily="34" charset="0"/>
                <a:cs typeface="Arial" pitchFamily="34" charset="0"/>
              </a:rPr>
              <a:t> </a:t>
            </a:r>
            <a:r>
              <a:rPr lang="en-US" dirty="0" err="1">
                <a:latin typeface="Calibri" pitchFamily="34" charset="0"/>
                <a:cs typeface="Arial" pitchFamily="34" charset="0"/>
              </a:rPr>
              <a:t>memilih</a:t>
            </a:r>
            <a:r>
              <a:rPr lang="en-US" dirty="0">
                <a:latin typeface="Calibri" pitchFamily="34" charset="0"/>
                <a:cs typeface="Arial" pitchFamily="34" charset="0"/>
              </a:rPr>
              <a:t> V</a:t>
            </a:r>
            <a:r>
              <a:rPr lang="en-US" baseline="-25000" dirty="0">
                <a:latin typeface="Calibri" pitchFamily="34" charset="0"/>
                <a:cs typeface="Arial" pitchFamily="34" charset="0"/>
              </a:rPr>
              <a:t>in</a:t>
            </a:r>
            <a:r>
              <a:rPr lang="en-US" dirty="0">
                <a:latin typeface="Calibri" pitchFamily="34" charset="0"/>
                <a:cs typeface="Arial" pitchFamily="34" charset="0"/>
              </a:rPr>
              <a:t> yang </a:t>
            </a:r>
            <a:r>
              <a:rPr lang="en-US" dirty="0" err="1">
                <a:latin typeface="Calibri" pitchFamily="34" charset="0"/>
                <a:cs typeface="Arial" pitchFamily="34" charset="0"/>
              </a:rPr>
              <a:t>memiliki</a:t>
            </a:r>
            <a:r>
              <a:rPr lang="en-US" dirty="0">
                <a:latin typeface="Calibri" pitchFamily="34" charset="0"/>
                <a:cs typeface="Arial" pitchFamily="34" charset="0"/>
              </a:rPr>
              <a:t> </a:t>
            </a:r>
            <a:r>
              <a:rPr lang="en-US" dirty="0" err="1">
                <a:latin typeface="Calibri" pitchFamily="34" charset="0"/>
                <a:cs typeface="Arial" pitchFamily="34" charset="0"/>
              </a:rPr>
              <a:t>nilai</a:t>
            </a:r>
            <a:r>
              <a:rPr lang="en-US" dirty="0">
                <a:latin typeface="Calibri" pitchFamily="34" charset="0"/>
                <a:cs typeface="Arial" pitchFamily="34" charset="0"/>
              </a:rPr>
              <a:t> </a:t>
            </a:r>
            <a:r>
              <a:rPr lang="en-US" dirty="0" err="1">
                <a:latin typeface="Calibri" pitchFamily="34" charset="0"/>
                <a:cs typeface="Arial" pitchFamily="34" charset="0"/>
              </a:rPr>
              <a:t>hambatan</a:t>
            </a:r>
            <a:r>
              <a:rPr lang="en-US" dirty="0">
                <a:latin typeface="Calibri" pitchFamily="34" charset="0"/>
                <a:cs typeface="Arial" pitchFamily="34" charset="0"/>
              </a:rPr>
              <a:t> yang </a:t>
            </a:r>
            <a:r>
              <a:rPr lang="en-US" dirty="0" err="1">
                <a:latin typeface="Calibri" pitchFamily="34" charset="0"/>
                <a:cs typeface="Arial" pitchFamily="34" charset="0"/>
              </a:rPr>
              <a:t>lebih</a:t>
            </a:r>
            <a:r>
              <a:rPr lang="en-US" dirty="0">
                <a:latin typeface="Calibri" pitchFamily="34" charset="0"/>
                <a:cs typeface="Arial" pitchFamily="34" charset="0"/>
              </a:rPr>
              <a:t> </a:t>
            </a:r>
            <a:r>
              <a:rPr lang="en-US" dirty="0" err="1">
                <a:latin typeface="Calibri" pitchFamily="34" charset="0"/>
                <a:cs typeface="Arial" pitchFamily="34" charset="0"/>
              </a:rPr>
              <a:t>kecil</a:t>
            </a:r>
            <a:r>
              <a:rPr lang="en-US" dirty="0">
                <a:latin typeface="Calibri" pitchFamily="34" charset="0"/>
                <a:cs typeface="Arial" pitchFamily="34" charset="0"/>
              </a:rPr>
              <a:t>.</a:t>
            </a:r>
            <a:endParaRPr lang="en-US" dirty="0">
              <a:latin typeface="Arial" pitchFamily="34" charset="0"/>
              <a:cs typeface="Arial" pitchFamily="34" charset="0"/>
            </a:endParaRPr>
          </a:p>
        </p:txBody>
      </p:sp>
    </p:spTree>
    <p:extLst>
      <p:ext uri="{BB962C8B-B14F-4D97-AF65-F5344CB8AC3E}">
        <p14:creationId xmlns:p14="http://schemas.microsoft.com/office/powerpoint/2010/main" val="1318336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3250"/>
                                        </p:tgtEl>
                                        <p:attrNameLst>
                                          <p:attrName>style.visibility</p:attrName>
                                        </p:attrNameLst>
                                      </p:cBhvr>
                                      <p:to>
                                        <p:strVal val="visible"/>
                                      </p:to>
                                    </p:set>
                                    <p:anim calcmode="lin" valueType="num">
                                      <p:cBhvr additive="base">
                                        <p:cTn id="7" dur="500" fill="hold"/>
                                        <p:tgtEl>
                                          <p:spTgt spid="53250"/>
                                        </p:tgtEl>
                                        <p:attrNameLst>
                                          <p:attrName>ppt_x</p:attrName>
                                        </p:attrNameLst>
                                      </p:cBhvr>
                                      <p:tavLst>
                                        <p:tav tm="0">
                                          <p:val>
                                            <p:strVal val="#ppt_x"/>
                                          </p:val>
                                        </p:tav>
                                        <p:tav tm="100000">
                                          <p:val>
                                            <p:strVal val="#ppt_x"/>
                                          </p:val>
                                        </p:tav>
                                      </p:tavLst>
                                    </p:anim>
                                    <p:anim calcmode="lin" valueType="num">
                                      <p:cBhvr additive="base">
                                        <p:cTn id="8" dur="500" fill="hold"/>
                                        <p:tgtEl>
                                          <p:spTgt spid="5325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0"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Tugas</a:t>
            </a:r>
            <a:endParaRPr lang="en-US" dirty="0"/>
          </a:p>
        </p:txBody>
      </p:sp>
      <p:sp>
        <p:nvSpPr>
          <p:cNvPr id="6" name="Slide Number Placeholder 5"/>
          <p:cNvSpPr>
            <a:spLocks noGrp="1"/>
          </p:cNvSpPr>
          <p:nvPr>
            <p:ph type="sldNum" sz="quarter" idx="11"/>
          </p:nvPr>
        </p:nvSpPr>
        <p:spPr/>
        <p:txBody>
          <a:bodyPr/>
          <a:lstStyle/>
          <a:p>
            <a:fld id="{201AEAA9-8C65-42A5-8C90-A2F54C079198}" type="slidenum">
              <a:rPr lang="en-US" smtClean="0"/>
              <a:pPr/>
              <a:t>33</a:t>
            </a:fld>
            <a:endParaRPr lang="en-US"/>
          </a:p>
        </p:txBody>
      </p:sp>
      <p:pic>
        <p:nvPicPr>
          <p:cNvPr id="55298" name="Picture 2"/>
          <p:cNvPicPr>
            <a:picLocks noChangeAspect="1" noChangeArrowheads="1"/>
          </p:cNvPicPr>
          <p:nvPr/>
        </p:nvPicPr>
        <p:blipFill>
          <a:blip r:embed="rId2"/>
          <a:srcRect/>
          <a:stretch>
            <a:fillRect/>
          </a:stretch>
        </p:blipFill>
        <p:spPr bwMode="auto">
          <a:xfrm>
            <a:off x="2057400" y="1656794"/>
            <a:ext cx="7543800" cy="4896407"/>
          </a:xfrm>
          <a:prstGeom prst="rect">
            <a:avLst/>
          </a:prstGeom>
          <a:noFill/>
          <a:ln w="9525">
            <a:noFill/>
            <a:miter lim="800000"/>
            <a:headEnd/>
            <a:tailEnd/>
          </a:ln>
          <a:effectLst/>
        </p:spPr>
      </p:pic>
    </p:spTree>
    <p:extLst>
      <p:ext uri="{BB962C8B-B14F-4D97-AF65-F5344CB8AC3E}">
        <p14:creationId xmlns:p14="http://schemas.microsoft.com/office/powerpoint/2010/main" val="184354487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Tugas</a:t>
            </a:r>
            <a:endParaRPr lang="en-US" dirty="0"/>
          </a:p>
        </p:txBody>
      </p:sp>
      <p:sp>
        <p:nvSpPr>
          <p:cNvPr id="6" name="Slide Number Placeholder 5"/>
          <p:cNvSpPr>
            <a:spLocks noGrp="1"/>
          </p:cNvSpPr>
          <p:nvPr>
            <p:ph type="sldNum" sz="quarter" idx="11"/>
          </p:nvPr>
        </p:nvSpPr>
        <p:spPr/>
        <p:txBody>
          <a:bodyPr/>
          <a:lstStyle/>
          <a:p>
            <a:fld id="{201AEAA9-8C65-42A5-8C90-A2F54C079198}" type="slidenum">
              <a:rPr lang="en-US" smtClean="0"/>
              <a:pPr/>
              <a:t>34</a:t>
            </a:fld>
            <a:endParaRPr lang="en-US"/>
          </a:p>
        </p:txBody>
      </p:sp>
      <p:sp>
        <p:nvSpPr>
          <p:cNvPr id="56321" name="Rectangle 1"/>
          <p:cNvSpPr>
            <a:spLocks noChangeArrowheads="1"/>
          </p:cNvSpPr>
          <p:nvPr/>
        </p:nvSpPr>
        <p:spPr bwMode="auto">
          <a:xfrm>
            <a:off x="1828800" y="1676401"/>
            <a:ext cx="8229600" cy="46166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fontAlgn="base">
              <a:spcBef>
                <a:spcPct val="0"/>
              </a:spcBef>
              <a:spcAft>
                <a:spcPct val="0"/>
              </a:spcAft>
            </a:pPr>
            <a:r>
              <a:rPr lang="en-US" sz="2400" dirty="0">
                <a:latin typeface="Calibri" pitchFamily="34" charset="0"/>
                <a:ea typeface="Calibri" pitchFamily="34" charset="0"/>
                <a:cs typeface="Calibri" pitchFamily="34" charset="0"/>
              </a:rPr>
              <a:t>3.Hitunglah </a:t>
            </a:r>
            <a:r>
              <a:rPr lang="en-US" sz="2400" dirty="0" err="1">
                <a:latin typeface="Calibri" pitchFamily="34" charset="0"/>
                <a:ea typeface="Calibri" pitchFamily="34" charset="0"/>
                <a:cs typeface="Calibri" pitchFamily="34" charset="0"/>
              </a:rPr>
              <a:t>Vot</a:t>
            </a:r>
            <a:r>
              <a:rPr lang="en-US" sz="2400" dirty="0">
                <a:latin typeface="Calibri" pitchFamily="34" charset="0"/>
                <a:ea typeface="Calibri" pitchFamily="34" charset="0"/>
                <a:cs typeface="Calibri" pitchFamily="34" charset="0"/>
              </a:rPr>
              <a:t> </a:t>
            </a:r>
            <a:r>
              <a:rPr lang="en-US" sz="2400" dirty="0" err="1">
                <a:latin typeface="Calibri" pitchFamily="34" charset="0"/>
                <a:ea typeface="Calibri" pitchFamily="34" charset="0"/>
                <a:cs typeface="Calibri" pitchFamily="34" charset="0"/>
              </a:rPr>
              <a:t>dari</a:t>
            </a:r>
            <a:r>
              <a:rPr lang="en-US" sz="2400" dirty="0">
                <a:latin typeface="Calibri" pitchFamily="34" charset="0"/>
                <a:ea typeface="Calibri" pitchFamily="34" charset="0"/>
                <a:cs typeface="Calibri" pitchFamily="34" charset="0"/>
              </a:rPr>
              <a:t> </a:t>
            </a:r>
            <a:r>
              <a:rPr lang="en-US" sz="2400" dirty="0" err="1">
                <a:latin typeface="Calibri" pitchFamily="34" charset="0"/>
                <a:ea typeface="Calibri" pitchFamily="34" charset="0"/>
                <a:cs typeface="Calibri" pitchFamily="34" charset="0"/>
              </a:rPr>
              <a:t>rangkaian</a:t>
            </a:r>
            <a:r>
              <a:rPr lang="en-US" sz="2400" dirty="0">
                <a:latin typeface="Calibri" pitchFamily="34" charset="0"/>
                <a:ea typeface="Calibri" pitchFamily="34" charset="0"/>
                <a:cs typeface="Calibri" pitchFamily="34" charset="0"/>
              </a:rPr>
              <a:t> summing amplifier </a:t>
            </a:r>
            <a:r>
              <a:rPr lang="en-US" sz="2400" dirty="0" err="1">
                <a:latin typeface="Calibri" pitchFamily="34" charset="0"/>
                <a:ea typeface="Calibri" pitchFamily="34" charset="0"/>
                <a:cs typeface="Calibri" pitchFamily="34" charset="0"/>
              </a:rPr>
              <a:t>berikut</a:t>
            </a:r>
            <a:r>
              <a:rPr lang="en-US" sz="2400" dirty="0">
                <a:latin typeface="Calibri" pitchFamily="34" charset="0"/>
                <a:ea typeface="Calibri" pitchFamily="34" charset="0"/>
                <a:cs typeface="Calibri" pitchFamily="34" charset="0"/>
              </a:rPr>
              <a:t>:</a:t>
            </a:r>
            <a:endParaRPr lang="en-US" sz="2400" dirty="0">
              <a:latin typeface="Arial" pitchFamily="34" charset="0"/>
              <a:cs typeface="Arial" pitchFamily="34" charset="0"/>
            </a:endParaRPr>
          </a:p>
        </p:txBody>
      </p:sp>
      <p:pic>
        <p:nvPicPr>
          <p:cNvPr id="7" name="Picture 6"/>
          <p:cNvPicPr/>
          <p:nvPr/>
        </p:nvPicPr>
        <p:blipFill>
          <a:blip r:embed="rId2"/>
          <a:stretch>
            <a:fillRect/>
          </a:stretch>
        </p:blipFill>
        <p:spPr>
          <a:xfrm>
            <a:off x="2286000" y="2209800"/>
            <a:ext cx="6400800" cy="3657600"/>
          </a:xfrm>
          <a:prstGeom prst="rect">
            <a:avLst/>
          </a:prstGeom>
        </p:spPr>
      </p:pic>
    </p:spTree>
    <p:extLst>
      <p:ext uri="{BB962C8B-B14F-4D97-AF65-F5344CB8AC3E}">
        <p14:creationId xmlns:p14="http://schemas.microsoft.com/office/powerpoint/2010/main" val="354203666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Tugas</a:t>
            </a:r>
            <a:endParaRPr lang="en-US" dirty="0"/>
          </a:p>
        </p:txBody>
      </p:sp>
      <p:sp>
        <p:nvSpPr>
          <p:cNvPr id="6" name="Slide Number Placeholder 5"/>
          <p:cNvSpPr>
            <a:spLocks noGrp="1"/>
          </p:cNvSpPr>
          <p:nvPr>
            <p:ph type="sldNum" sz="quarter" idx="11"/>
          </p:nvPr>
        </p:nvSpPr>
        <p:spPr/>
        <p:txBody>
          <a:bodyPr/>
          <a:lstStyle/>
          <a:p>
            <a:fld id="{201AEAA9-8C65-42A5-8C90-A2F54C079198}" type="slidenum">
              <a:rPr lang="en-US" smtClean="0"/>
              <a:pPr/>
              <a:t>35</a:t>
            </a:fld>
            <a:endParaRPr lang="en-US"/>
          </a:p>
        </p:txBody>
      </p:sp>
      <p:sp>
        <p:nvSpPr>
          <p:cNvPr id="56321" name="Rectangle 1"/>
          <p:cNvSpPr>
            <a:spLocks noChangeArrowheads="1"/>
          </p:cNvSpPr>
          <p:nvPr/>
        </p:nvSpPr>
        <p:spPr bwMode="auto">
          <a:xfrm>
            <a:off x="1828800" y="1676401"/>
            <a:ext cx="8229600" cy="83099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fontAlgn="base">
              <a:spcBef>
                <a:spcPct val="0"/>
              </a:spcBef>
              <a:spcAft>
                <a:spcPct val="0"/>
              </a:spcAft>
            </a:pPr>
            <a:r>
              <a:rPr lang="en-US" sz="2400" dirty="0">
                <a:latin typeface="Calibri" pitchFamily="34" charset="0"/>
                <a:ea typeface="Calibri" pitchFamily="34" charset="0"/>
                <a:cs typeface="Calibri" pitchFamily="34" charset="0"/>
              </a:rPr>
              <a:t>4. </a:t>
            </a:r>
            <a:r>
              <a:rPr lang="en-US" sz="2400" dirty="0" err="1"/>
              <a:t>Hitunglah</a:t>
            </a:r>
            <a:r>
              <a:rPr lang="en-US" sz="2400" dirty="0"/>
              <a:t> </a:t>
            </a:r>
            <a:r>
              <a:rPr lang="en-US" sz="2400" dirty="0" err="1"/>
              <a:t>Vout</a:t>
            </a:r>
            <a:r>
              <a:rPr lang="en-US" sz="2400" dirty="0"/>
              <a:t> </a:t>
            </a:r>
            <a:r>
              <a:rPr lang="en-US" sz="2400" dirty="0" err="1"/>
              <a:t>dari</a:t>
            </a:r>
            <a:r>
              <a:rPr lang="en-US" sz="2400" dirty="0"/>
              <a:t> </a:t>
            </a:r>
            <a:r>
              <a:rPr lang="en-US" sz="2400" dirty="0" err="1"/>
              <a:t>rangkaian</a:t>
            </a:r>
            <a:r>
              <a:rPr lang="en-US" sz="2400" dirty="0"/>
              <a:t> </a:t>
            </a:r>
            <a:r>
              <a:rPr lang="en-US" sz="2400" dirty="0" err="1"/>
              <a:t>differensial</a:t>
            </a:r>
            <a:r>
              <a:rPr lang="en-US" sz="2400" dirty="0"/>
              <a:t> amplifier </a:t>
            </a:r>
            <a:r>
              <a:rPr lang="en-US" sz="2400" dirty="0" err="1"/>
              <a:t>atau</a:t>
            </a:r>
            <a:r>
              <a:rPr lang="en-US" sz="2400" dirty="0"/>
              <a:t> </a:t>
            </a:r>
            <a:r>
              <a:rPr lang="en-US" sz="2400" dirty="0" err="1"/>
              <a:t>rangkaian</a:t>
            </a:r>
            <a:r>
              <a:rPr lang="en-US" sz="2400" dirty="0"/>
              <a:t> </a:t>
            </a:r>
            <a:r>
              <a:rPr lang="en-US" sz="2400" dirty="0" err="1"/>
              <a:t>penguat</a:t>
            </a:r>
            <a:r>
              <a:rPr lang="en-US" sz="2400" dirty="0"/>
              <a:t> </a:t>
            </a:r>
            <a:r>
              <a:rPr lang="en-US" sz="2400" dirty="0" err="1"/>
              <a:t>selisih</a:t>
            </a:r>
            <a:r>
              <a:rPr lang="en-US" sz="2400" dirty="0"/>
              <a:t> </a:t>
            </a:r>
            <a:r>
              <a:rPr lang="en-US" sz="2400" dirty="0" err="1"/>
              <a:t>dari</a:t>
            </a:r>
            <a:r>
              <a:rPr lang="en-US" sz="2400" dirty="0"/>
              <a:t> </a:t>
            </a:r>
            <a:r>
              <a:rPr lang="en-US" sz="2400" dirty="0" err="1"/>
              <a:t>rangkaian</a:t>
            </a:r>
            <a:r>
              <a:rPr lang="en-US" sz="2400" dirty="0"/>
              <a:t> </a:t>
            </a:r>
            <a:r>
              <a:rPr lang="en-US" sz="2400" dirty="0" err="1"/>
              <a:t>berikut</a:t>
            </a:r>
            <a:r>
              <a:rPr lang="en-US" sz="2400" dirty="0"/>
              <a:t>:</a:t>
            </a:r>
          </a:p>
        </p:txBody>
      </p:sp>
      <p:pic>
        <p:nvPicPr>
          <p:cNvPr id="8" name="Picture 7"/>
          <p:cNvPicPr/>
          <p:nvPr/>
        </p:nvPicPr>
        <p:blipFill>
          <a:blip r:embed="rId2">
            <a:extLst>
              <a:ext uri="{28A0092B-C50C-407E-A947-70E740481C1C}">
                <a14:useLocalDpi xmlns:a14="http://schemas.microsoft.com/office/drawing/2010/main" val="0"/>
              </a:ext>
            </a:extLst>
          </a:blip>
          <a:stretch>
            <a:fillRect/>
          </a:stretch>
        </p:blipFill>
        <p:spPr>
          <a:xfrm>
            <a:off x="2971800" y="2819400"/>
            <a:ext cx="5562600" cy="3200400"/>
          </a:xfrm>
          <a:prstGeom prst="rect">
            <a:avLst/>
          </a:prstGeom>
        </p:spPr>
      </p:pic>
    </p:spTree>
    <p:extLst>
      <p:ext uri="{BB962C8B-B14F-4D97-AF65-F5344CB8AC3E}">
        <p14:creationId xmlns:p14="http://schemas.microsoft.com/office/powerpoint/2010/main" val="2870556426"/>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Tugas</a:t>
            </a:r>
            <a:endParaRPr lang="en-US" dirty="0"/>
          </a:p>
        </p:txBody>
      </p:sp>
      <p:sp>
        <p:nvSpPr>
          <p:cNvPr id="6" name="Slide Number Placeholder 5"/>
          <p:cNvSpPr>
            <a:spLocks noGrp="1"/>
          </p:cNvSpPr>
          <p:nvPr>
            <p:ph type="sldNum" sz="quarter" idx="11"/>
          </p:nvPr>
        </p:nvSpPr>
        <p:spPr/>
        <p:txBody>
          <a:bodyPr/>
          <a:lstStyle/>
          <a:p>
            <a:fld id="{201AEAA9-8C65-42A5-8C90-A2F54C079198}" type="slidenum">
              <a:rPr lang="en-US" smtClean="0"/>
              <a:pPr/>
              <a:t>36</a:t>
            </a:fld>
            <a:endParaRPr lang="en-US"/>
          </a:p>
        </p:txBody>
      </p:sp>
      <p:sp>
        <p:nvSpPr>
          <p:cNvPr id="56321" name="Rectangle 1"/>
          <p:cNvSpPr>
            <a:spLocks noChangeArrowheads="1"/>
          </p:cNvSpPr>
          <p:nvPr/>
        </p:nvSpPr>
        <p:spPr bwMode="auto">
          <a:xfrm>
            <a:off x="1828800" y="1676401"/>
            <a:ext cx="8229600" cy="83099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fontAlgn="base">
              <a:spcBef>
                <a:spcPct val="0"/>
              </a:spcBef>
              <a:spcAft>
                <a:spcPct val="0"/>
              </a:spcAft>
            </a:pPr>
            <a:r>
              <a:rPr lang="en-US" sz="2400" dirty="0">
                <a:latin typeface="Calibri" pitchFamily="34" charset="0"/>
                <a:ea typeface="Calibri" pitchFamily="34" charset="0"/>
                <a:cs typeface="Calibri" pitchFamily="34" charset="0"/>
              </a:rPr>
              <a:t>5. </a:t>
            </a:r>
            <a:r>
              <a:rPr lang="en-US" sz="2400" dirty="0" err="1"/>
              <a:t>Hitunglah</a:t>
            </a:r>
            <a:r>
              <a:rPr lang="en-US" sz="2400" dirty="0"/>
              <a:t> </a:t>
            </a:r>
            <a:r>
              <a:rPr lang="en-US" sz="2400" dirty="0" err="1"/>
              <a:t>Vout</a:t>
            </a:r>
            <a:r>
              <a:rPr lang="en-US" sz="2400" dirty="0"/>
              <a:t> </a:t>
            </a:r>
            <a:r>
              <a:rPr lang="en-US" sz="2400" dirty="0" err="1"/>
              <a:t>dari</a:t>
            </a:r>
            <a:r>
              <a:rPr lang="en-US" sz="2400" dirty="0"/>
              <a:t> </a:t>
            </a:r>
            <a:r>
              <a:rPr lang="en-US" sz="2400" dirty="0" err="1"/>
              <a:t>rangkaian</a:t>
            </a:r>
            <a:r>
              <a:rPr lang="en-US" sz="2400" dirty="0"/>
              <a:t> </a:t>
            </a:r>
            <a:r>
              <a:rPr lang="en-US" sz="2400" dirty="0" err="1"/>
              <a:t>differensial</a:t>
            </a:r>
            <a:r>
              <a:rPr lang="en-US" sz="2400" dirty="0"/>
              <a:t> amplifier </a:t>
            </a:r>
            <a:r>
              <a:rPr lang="en-US" sz="2400" dirty="0" err="1"/>
              <a:t>atau</a:t>
            </a:r>
            <a:r>
              <a:rPr lang="en-US" sz="2400" dirty="0"/>
              <a:t> </a:t>
            </a:r>
            <a:r>
              <a:rPr lang="en-US" sz="2400" dirty="0" err="1"/>
              <a:t>rangkaian</a:t>
            </a:r>
            <a:r>
              <a:rPr lang="en-US" sz="2400" dirty="0"/>
              <a:t> </a:t>
            </a:r>
            <a:r>
              <a:rPr lang="en-US" sz="2400" dirty="0" err="1"/>
              <a:t>penguat</a:t>
            </a:r>
            <a:r>
              <a:rPr lang="en-US" sz="2400" dirty="0"/>
              <a:t> </a:t>
            </a:r>
            <a:r>
              <a:rPr lang="en-US" sz="2400" dirty="0" err="1"/>
              <a:t>selisih</a:t>
            </a:r>
            <a:r>
              <a:rPr lang="en-US" sz="2400" dirty="0"/>
              <a:t> </a:t>
            </a:r>
            <a:r>
              <a:rPr lang="en-US" sz="2400" dirty="0" err="1"/>
              <a:t>dari</a:t>
            </a:r>
            <a:r>
              <a:rPr lang="en-US" sz="2400" dirty="0"/>
              <a:t> </a:t>
            </a:r>
            <a:r>
              <a:rPr lang="en-US" sz="2400" dirty="0" err="1"/>
              <a:t>rangkaian</a:t>
            </a:r>
            <a:r>
              <a:rPr lang="en-US" sz="2400" dirty="0"/>
              <a:t> </a:t>
            </a:r>
            <a:r>
              <a:rPr lang="en-US" sz="2400" dirty="0" err="1"/>
              <a:t>berikut</a:t>
            </a:r>
            <a:r>
              <a:rPr lang="en-US" sz="2400" dirty="0"/>
              <a:t>:</a:t>
            </a:r>
          </a:p>
        </p:txBody>
      </p:sp>
      <p:pic>
        <p:nvPicPr>
          <p:cNvPr id="7" name="Picture 6"/>
          <p:cNvPicPr/>
          <p:nvPr/>
        </p:nvPicPr>
        <p:blipFill>
          <a:blip r:embed="rId2"/>
          <a:stretch>
            <a:fillRect/>
          </a:stretch>
        </p:blipFill>
        <p:spPr>
          <a:xfrm>
            <a:off x="2514600" y="2590800"/>
            <a:ext cx="4800600" cy="3581400"/>
          </a:xfrm>
          <a:prstGeom prst="rect">
            <a:avLst/>
          </a:prstGeom>
        </p:spPr>
      </p:pic>
    </p:spTree>
    <p:extLst>
      <p:ext uri="{BB962C8B-B14F-4D97-AF65-F5344CB8AC3E}">
        <p14:creationId xmlns:p14="http://schemas.microsoft.com/office/powerpoint/2010/main" val="377305600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Tugas</a:t>
            </a:r>
            <a:endParaRPr lang="en-US" dirty="0"/>
          </a:p>
        </p:txBody>
      </p:sp>
      <p:sp>
        <p:nvSpPr>
          <p:cNvPr id="6" name="Slide Number Placeholder 5"/>
          <p:cNvSpPr>
            <a:spLocks noGrp="1"/>
          </p:cNvSpPr>
          <p:nvPr>
            <p:ph type="sldNum" sz="quarter" idx="11"/>
          </p:nvPr>
        </p:nvSpPr>
        <p:spPr/>
        <p:txBody>
          <a:bodyPr/>
          <a:lstStyle/>
          <a:p>
            <a:fld id="{201AEAA9-8C65-42A5-8C90-A2F54C079198}" type="slidenum">
              <a:rPr lang="en-US" smtClean="0"/>
              <a:pPr/>
              <a:t>37</a:t>
            </a:fld>
            <a:endParaRPr lang="en-US"/>
          </a:p>
        </p:txBody>
      </p:sp>
      <p:sp>
        <p:nvSpPr>
          <p:cNvPr id="56321" name="Rectangle 1"/>
          <p:cNvSpPr>
            <a:spLocks noChangeArrowheads="1"/>
          </p:cNvSpPr>
          <p:nvPr/>
        </p:nvSpPr>
        <p:spPr bwMode="auto">
          <a:xfrm>
            <a:off x="1828800" y="1861066"/>
            <a:ext cx="8229600" cy="120032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fontAlgn="base">
              <a:spcBef>
                <a:spcPct val="0"/>
              </a:spcBef>
              <a:spcAft>
                <a:spcPct val="0"/>
              </a:spcAft>
            </a:pPr>
            <a:r>
              <a:rPr lang="en-US" sz="2400" dirty="0">
                <a:latin typeface="Calibri" pitchFamily="34" charset="0"/>
                <a:ea typeface="Calibri" pitchFamily="34" charset="0"/>
                <a:cs typeface="Calibri" pitchFamily="34" charset="0"/>
              </a:rPr>
              <a:t>6.</a:t>
            </a:r>
            <a:r>
              <a:rPr lang="en-US" sz="2400" dirty="0"/>
              <a:t> </a:t>
            </a:r>
            <a:r>
              <a:rPr lang="en-US" sz="2400" dirty="0" err="1"/>
              <a:t>Carilah</a:t>
            </a:r>
            <a:r>
              <a:rPr lang="en-US" sz="2400" dirty="0"/>
              <a:t> </a:t>
            </a:r>
            <a:r>
              <a:rPr lang="en-US" sz="2400" dirty="0" err="1"/>
              <a:t>Rumus</a:t>
            </a:r>
            <a:r>
              <a:rPr lang="en-US" sz="2400" dirty="0"/>
              <a:t> </a:t>
            </a:r>
            <a:r>
              <a:rPr lang="en-US" sz="2400" dirty="0" err="1"/>
              <a:t>Vout</a:t>
            </a:r>
            <a:r>
              <a:rPr lang="en-US" sz="2400" dirty="0"/>
              <a:t> </a:t>
            </a:r>
            <a:r>
              <a:rPr lang="en-US" sz="2400" dirty="0" err="1"/>
              <a:t>untuk</a:t>
            </a:r>
            <a:r>
              <a:rPr lang="en-US" sz="2400" dirty="0"/>
              <a:t> </a:t>
            </a:r>
            <a:r>
              <a:rPr lang="en-US" sz="2400" dirty="0" err="1"/>
              <a:t>rangkaian</a:t>
            </a:r>
            <a:r>
              <a:rPr lang="en-US" sz="2400" dirty="0"/>
              <a:t> </a:t>
            </a:r>
            <a:r>
              <a:rPr lang="en-US" sz="2400" dirty="0" err="1"/>
              <a:t>berikut</a:t>
            </a:r>
            <a:r>
              <a:rPr lang="en-US" sz="2400" dirty="0"/>
              <a:t> :</a:t>
            </a:r>
          </a:p>
          <a:p>
            <a:pPr fontAlgn="base">
              <a:spcBef>
                <a:spcPct val="0"/>
              </a:spcBef>
              <a:spcAft>
                <a:spcPct val="0"/>
              </a:spcAft>
            </a:pPr>
            <a:r>
              <a:rPr lang="en-US" sz="2400" dirty="0" err="1"/>
              <a:t>Jika</a:t>
            </a:r>
            <a:r>
              <a:rPr lang="en-US" sz="2400" dirty="0"/>
              <a:t> </a:t>
            </a:r>
            <a:r>
              <a:rPr lang="en-US" sz="2400" dirty="0" err="1"/>
              <a:t>diketahui</a:t>
            </a:r>
            <a:r>
              <a:rPr lang="en-US" sz="2400" dirty="0"/>
              <a:t>: R</a:t>
            </a:r>
            <a:r>
              <a:rPr lang="en-US" sz="2400" baseline="-25000" dirty="0"/>
              <a:t>1 </a:t>
            </a:r>
            <a:r>
              <a:rPr lang="en-US" sz="2400" dirty="0"/>
              <a:t>= R</a:t>
            </a:r>
            <a:r>
              <a:rPr lang="en-US" sz="2400" baseline="-25000" dirty="0"/>
              <a:t>3 </a:t>
            </a:r>
            <a:r>
              <a:rPr lang="en-US" sz="2400" dirty="0"/>
              <a:t>= 2KΩ ; R</a:t>
            </a:r>
            <a:r>
              <a:rPr lang="en-US" sz="2400" baseline="-25000" dirty="0"/>
              <a:t>2</a:t>
            </a:r>
            <a:r>
              <a:rPr lang="en-US" sz="2400" dirty="0"/>
              <a:t> = R</a:t>
            </a:r>
            <a:r>
              <a:rPr lang="en-US" sz="2400" baseline="-25000" dirty="0"/>
              <a:t>4</a:t>
            </a:r>
            <a:r>
              <a:rPr lang="en-US" sz="2400" dirty="0"/>
              <a:t> = 4KΩ ; V</a:t>
            </a:r>
            <a:r>
              <a:rPr lang="en-US" sz="2400" baseline="-25000" dirty="0"/>
              <a:t>1</a:t>
            </a:r>
            <a:r>
              <a:rPr lang="en-US" sz="2400" dirty="0"/>
              <a:t>=6V ; V</a:t>
            </a:r>
            <a:r>
              <a:rPr lang="en-US" sz="2400" baseline="-25000" dirty="0"/>
              <a:t>2</a:t>
            </a:r>
            <a:r>
              <a:rPr lang="en-US" sz="2400" dirty="0"/>
              <a:t> = 7V</a:t>
            </a:r>
          </a:p>
          <a:p>
            <a:pPr lvl="0" fontAlgn="base">
              <a:spcBef>
                <a:spcPct val="0"/>
              </a:spcBef>
              <a:spcAft>
                <a:spcPct val="0"/>
              </a:spcAft>
            </a:pPr>
            <a:endParaRPr lang="en-US" sz="2400" dirty="0"/>
          </a:p>
        </p:txBody>
      </p:sp>
      <p:pic>
        <p:nvPicPr>
          <p:cNvPr id="8" name="Picture 7"/>
          <p:cNvPicPr/>
          <p:nvPr/>
        </p:nvPicPr>
        <p:blipFill>
          <a:blip r:embed="rId2"/>
          <a:stretch>
            <a:fillRect/>
          </a:stretch>
        </p:blipFill>
        <p:spPr>
          <a:xfrm>
            <a:off x="3048000" y="2819400"/>
            <a:ext cx="5562600" cy="3886200"/>
          </a:xfrm>
          <a:prstGeom prst="rect">
            <a:avLst/>
          </a:prstGeom>
        </p:spPr>
      </p:pic>
    </p:spTree>
    <p:extLst>
      <p:ext uri="{BB962C8B-B14F-4D97-AF65-F5344CB8AC3E}">
        <p14:creationId xmlns:p14="http://schemas.microsoft.com/office/powerpoint/2010/main" val="341005133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Tugas</a:t>
            </a:r>
            <a:endParaRPr lang="en-US" dirty="0"/>
          </a:p>
        </p:txBody>
      </p:sp>
      <p:sp>
        <p:nvSpPr>
          <p:cNvPr id="6" name="Slide Number Placeholder 5"/>
          <p:cNvSpPr>
            <a:spLocks noGrp="1"/>
          </p:cNvSpPr>
          <p:nvPr>
            <p:ph type="sldNum" sz="quarter" idx="11"/>
          </p:nvPr>
        </p:nvSpPr>
        <p:spPr/>
        <p:txBody>
          <a:bodyPr/>
          <a:lstStyle/>
          <a:p>
            <a:fld id="{201AEAA9-8C65-42A5-8C90-A2F54C079198}" type="slidenum">
              <a:rPr lang="en-US" smtClean="0"/>
              <a:pPr/>
              <a:t>38</a:t>
            </a:fld>
            <a:endParaRPr lang="en-US"/>
          </a:p>
        </p:txBody>
      </p:sp>
      <p:sp>
        <p:nvSpPr>
          <p:cNvPr id="56321" name="Rectangle 1"/>
          <p:cNvSpPr>
            <a:spLocks noChangeArrowheads="1"/>
          </p:cNvSpPr>
          <p:nvPr/>
        </p:nvSpPr>
        <p:spPr bwMode="auto">
          <a:xfrm>
            <a:off x="1828800" y="1676401"/>
            <a:ext cx="8229600" cy="83099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fontAlgn="base">
              <a:spcBef>
                <a:spcPct val="0"/>
              </a:spcBef>
              <a:spcAft>
                <a:spcPct val="0"/>
              </a:spcAft>
            </a:pPr>
            <a:r>
              <a:rPr lang="en-US" sz="2400" dirty="0">
                <a:latin typeface="Calibri" pitchFamily="34" charset="0"/>
                <a:ea typeface="Calibri" pitchFamily="34" charset="0"/>
                <a:cs typeface="Calibri" pitchFamily="34" charset="0"/>
              </a:rPr>
              <a:t>8.</a:t>
            </a:r>
            <a:r>
              <a:rPr lang="en-US" sz="2400" dirty="0"/>
              <a:t> </a:t>
            </a:r>
            <a:r>
              <a:rPr lang="en-US" sz="2400" dirty="0" err="1"/>
              <a:t>Carilah</a:t>
            </a:r>
            <a:r>
              <a:rPr lang="en-US" sz="2400" dirty="0"/>
              <a:t> </a:t>
            </a:r>
            <a:r>
              <a:rPr lang="en-US" sz="2400" dirty="0" err="1"/>
              <a:t>rumus</a:t>
            </a:r>
            <a:r>
              <a:rPr lang="en-US" sz="2400" dirty="0"/>
              <a:t> </a:t>
            </a:r>
            <a:r>
              <a:rPr lang="en-US" sz="2400" dirty="0" err="1"/>
              <a:t>Vout</a:t>
            </a:r>
            <a:r>
              <a:rPr lang="en-US" sz="2400" dirty="0"/>
              <a:t> </a:t>
            </a:r>
            <a:r>
              <a:rPr lang="en-US" sz="2400" dirty="0" err="1"/>
              <a:t>untuk</a:t>
            </a:r>
            <a:r>
              <a:rPr lang="en-US" sz="2400" dirty="0"/>
              <a:t> </a:t>
            </a:r>
            <a:r>
              <a:rPr lang="en-US" sz="2400" dirty="0" err="1"/>
              <a:t>rangkaian</a:t>
            </a:r>
            <a:r>
              <a:rPr lang="en-US" sz="2400" dirty="0"/>
              <a:t> </a:t>
            </a:r>
            <a:r>
              <a:rPr lang="en-US" sz="2400" dirty="0" err="1"/>
              <a:t>berikut</a:t>
            </a:r>
            <a:r>
              <a:rPr lang="en-US" sz="2400" dirty="0"/>
              <a:t>, </a:t>
            </a:r>
            <a:r>
              <a:rPr lang="en-US" sz="2400" dirty="0" err="1"/>
              <a:t>Jika</a:t>
            </a:r>
            <a:r>
              <a:rPr lang="en-US" sz="2400" dirty="0"/>
              <a:t> </a:t>
            </a:r>
            <a:r>
              <a:rPr lang="en-US" sz="2400" dirty="0" err="1"/>
              <a:t>diketahui</a:t>
            </a:r>
            <a:r>
              <a:rPr lang="en-US" sz="2400" dirty="0"/>
              <a:t> R</a:t>
            </a:r>
            <a:r>
              <a:rPr lang="en-US" sz="2400" baseline="-25000" dirty="0"/>
              <a:t>1</a:t>
            </a:r>
            <a:r>
              <a:rPr lang="en-US" sz="2400" dirty="0"/>
              <a:t>=R</a:t>
            </a:r>
            <a:r>
              <a:rPr lang="en-US" sz="2400" baseline="-25000" dirty="0"/>
              <a:t>2</a:t>
            </a:r>
            <a:r>
              <a:rPr lang="en-US" sz="2400" dirty="0"/>
              <a:t>=R</a:t>
            </a:r>
            <a:r>
              <a:rPr lang="en-US" sz="2400" baseline="-25000" dirty="0"/>
              <a:t>3</a:t>
            </a:r>
            <a:r>
              <a:rPr lang="en-US" sz="2400" dirty="0"/>
              <a:t>=R</a:t>
            </a:r>
            <a:r>
              <a:rPr lang="en-US" sz="2400" baseline="-25000" dirty="0"/>
              <a:t>4</a:t>
            </a:r>
            <a:r>
              <a:rPr lang="en-US" sz="2400" dirty="0"/>
              <a:t>=R</a:t>
            </a:r>
            <a:r>
              <a:rPr lang="en-US" sz="2400" baseline="-25000" dirty="0"/>
              <a:t>5</a:t>
            </a:r>
            <a:r>
              <a:rPr lang="en-US" sz="2400" dirty="0"/>
              <a:t>=R </a:t>
            </a:r>
          </a:p>
        </p:txBody>
      </p:sp>
      <p:pic>
        <p:nvPicPr>
          <p:cNvPr id="9" name="Picture 8"/>
          <p:cNvPicPr/>
          <p:nvPr/>
        </p:nvPicPr>
        <p:blipFill>
          <a:blip r:embed="rId2"/>
          <a:stretch>
            <a:fillRect/>
          </a:stretch>
        </p:blipFill>
        <p:spPr>
          <a:xfrm>
            <a:off x="2667000" y="2590800"/>
            <a:ext cx="6705600" cy="3657600"/>
          </a:xfrm>
          <a:prstGeom prst="rect">
            <a:avLst/>
          </a:prstGeom>
        </p:spPr>
      </p:pic>
    </p:spTree>
    <p:extLst>
      <p:ext uri="{BB962C8B-B14F-4D97-AF65-F5344CB8AC3E}">
        <p14:creationId xmlns:p14="http://schemas.microsoft.com/office/powerpoint/2010/main" val="315025262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Tugas</a:t>
            </a:r>
            <a:endParaRPr lang="en-US" dirty="0"/>
          </a:p>
        </p:txBody>
      </p:sp>
      <p:sp>
        <p:nvSpPr>
          <p:cNvPr id="6" name="Slide Number Placeholder 5"/>
          <p:cNvSpPr>
            <a:spLocks noGrp="1"/>
          </p:cNvSpPr>
          <p:nvPr>
            <p:ph type="sldNum" sz="quarter" idx="11"/>
          </p:nvPr>
        </p:nvSpPr>
        <p:spPr/>
        <p:txBody>
          <a:bodyPr/>
          <a:lstStyle/>
          <a:p>
            <a:fld id="{201AEAA9-8C65-42A5-8C90-A2F54C079198}" type="slidenum">
              <a:rPr lang="en-US" smtClean="0"/>
              <a:pPr/>
              <a:t>39</a:t>
            </a:fld>
            <a:endParaRPr lang="en-US"/>
          </a:p>
        </p:txBody>
      </p:sp>
      <p:sp>
        <p:nvSpPr>
          <p:cNvPr id="56321" name="Rectangle 1"/>
          <p:cNvSpPr>
            <a:spLocks noChangeArrowheads="1"/>
          </p:cNvSpPr>
          <p:nvPr/>
        </p:nvSpPr>
        <p:spPr bwMode="auto">
          <a:xfrm>
            <a:off x="1828800" y="1676401"/>
            <a:ext cx="8229600" cy="46166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fontAlgn="base">
              <a:spcBef>
                <a:spcPct val="0"/>
              </a:spcBef>
              <a:spcAft>
                <a:spcPct val="0"/>
              </a:spcAft>
            </a:pPr>
            <a:r>
              <a:rPr lang="en-US" sz="2400" dirty="0">
                <a:latin typeface="Calibri" pitchFamily="34" charset="0"/>
                <a:ea typeface="Calibri" pitchFamily="34" charset="0"/>
                <a:cs typeface="Calibri" pitchFamily="34" charset="0"/>
              </a:rPr>
              <a:t>9.</a:t>
            </a:r>
            <a:r>
              <a:rPr lang="en-US" sz="2400" dirty="0"/>
              <a:t> </a:t>
            </a:r>
            <a:r>
              <a:rPr lang="en-US" sz="2400" dirty="0" err="1"/>
              <a:t>Carilah</a:t>
            </a:r>
            <a:r>
              <a:rPr lang="en-US" sz="2400" dirty="0"/>
              <a:t> </a:t>
            </a:r>
            <a:r>
              <a:rPr lang="en-US" sz="2400" dirty="0" err="1"/>
              <a:t>rumus</a:t>
            </a:r>
            <a:r>
              <a:rPr lang="en-US" sz="2400" dirty="0"/>
              <a:t> </a:t>
            </a:r>
            <a:r>
              <a:rPr lang="en-US" sz="2400" dirty="0" err="1"/>
              <a:t>Vout</a:t>
            </a:r>
            <a:r>
              <a:rPr lang="en-US" sz="2400" dirty="0"/>
              <a:t> </a:t>
            </a:r>
            <a:r>
              <a:rPr lang="en-US" sz="2400" dirty="0" err="1"/>
              <a:t>untuk</a:t>
            </a:r>
            <a:r>
              <a:rPr lang="en-US" sz="2400" dirty="0"/>
              <a:t> </a:t>
            </a:r>
            <a:r>
              <a:rPr lang="en-US" sz="2400" dirty="0" err="1"/>
              <a:t>rangkaian</a:t>
            </a:r>
            <a:r>
              <a:rPr lang="en-US" sz="2400" dirty="0"/>
              <a:t> </a:t>
            </a:r>
            <a:r>
              <a:rPr lang="en-US" sz="2400" dirty="0" err="1"/>
              <a:t>berikut</a:t>
            </a:r>
            <a:r>
              <a:rPr lang="en-US" sz="2400" dirty="0"/>
              <a:t> :</a:t>
            </a:r>
          </a:p>
        </p:txBody>
      </p:sp>
      <p:pic>
        <p:nvPicPr>
          <p:cNvPr id="7" name="Picture 6"/>
          <p:cNvPicPr/>
          <p:nvPr/>
        </p:nvPicPr>
        <p:blipFill>
          <a:blip r:embed="rId2"/>
          <a:stretch>
            <a:fillRect/>
          </a:stretch>
        </p:blipFill>
        <p:spPr>
          <a:xfrm>
            <a:off x="2438400" y="2362200"/>
            <a:ext cx="6553200" cy="3810000"/>
          </a:xfrm>
          <a:prstGeom prst="rect">
            <a:avLst/>
          </a:prstGeom>
        </p:spPr>
      </p:pic>
    </p:spTree>
    <p:extLst>
      <p:ext uri="{BB962C8B-B14F-4D97-AF65-F5344CB8AC3E}">
        <p14:creationId xmlns:p14="http://schemas.microsoft.com/office/powerpoint/2010/main" val="4034249590"/>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Tugas</a:t>
            </a:r>
            <a:endParaRPr lang="en-US" dirty="0"/>
          </a:p>
        </p:txBody>
      </p:sp>
      <p:sp>
        <p:nvSpPr>
          <p:cNvPr id="6" name="Slide Number Placeholder 5"/>
          <p:cNvSpPr>
            <a:spLocks noGrp="1"/>
          </p:cNvSpPr>
          <p:nvPr>
            <p:ph type="sldNum" sz="quarter" idx="11"/>
          </p:nvPr>
        </p:nvSpPr>
        <p:spPr/>
        <p:txBody>
          <a:bodyPr/>
          <a:lstStyle/>
          <a:p>
            <a:fld id="{201AEAA9-8C65-42A5-8C90-A2F54C079198}" type="slidenum">
              <a:rPr lang="en-US" smtClean="0"/>
              <a:pPr/>
              <a:t>40</a:t>
            </a:fld>
            <a:endParaRPr lang="en-US"/>
          </a:p>
        </p:txBody>
      </p:sp>
      <p:sp>
        <p:nvSpPr>
          <p:cNvPr id="56321" name="Rectangle 1"/>
          <p:cNvSpPr>
            <a:spLocks noChangeArrowheads="1"/>
          </p:cNvSpPr>
          <p:nvPr/>
        </p:nvSpPr>
        <p:spPr bwMode="auto">
          <a:xfrm>
            <a:off x="1828800" y="1676401"/>
            <a:ext cx="8610600" cy="83099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fontAlgn="base">
              <a:spcBef>
                <a:spcPct val="0"/>
              </a:spcBef>
              <a:spcAft>
                <a:spcPct val="0"/>
              </a:spcAft>
            </a:pPr>
            <a:r>
              <a:rPr lang="en-US" sz="2400" dirty="0">
                <a:latin typeface="Calibri" pitchFamily="34" charset="0"/>
                <a:ea typeface="Calibri" pitchFamily="34" charset="0"/>
                <a:cs typeface="Calibri" pitchFamily="34" charset="0"/>
              </a:rPr>
              <a:t>10.</a:t>
            </a:r>
            <a:r>
              <a:rPr lang="en-US" sz="2400" dirty="0"/>
              <a:t> </a:t>
            </a:r>
            <a:r>
              <a:rPr lang="en-US" sz="2400" dirty="0" err="1"/>
              <a:t>Berapa</a:t>
            </a:r>
            <a:r>
              <a:rPr lang="en-US" sz="2400" dirty="0"/>
              <a:t> Av </a:t>
            </a:r>
            <a:r>
              <a:rPr lang="en-US" sz="2400" dirty="0" err="1"/>
              <a:t>dan</a:t>
            </a:r>
            <a:r>
              <a:rPr lang="en-US" sz="2400" dirty="0"/>
              <a:t> </a:t>
            </a:r>
            <a:r>
              <a:rPr lang="en-US" sz="2400" dirty="0" err="1"/>
              <a:t>Vout</a:t>
            </a:r>
            <a:r>
              <a:rPr lang="en-US" sz="2400" dirty="0"/>
              <a:t> </a:t>
            </a:r>
            <a:r>
              <a:rPr lang="en-US" sz="2400" dirty="0" err="1"/>
              <a:t>dari</a:t>
            </a:r>
            <a:r>
              <a:rPr lang="en-US" sz="2400" dirty="0"/>
              <a:t> </a:t>
            </a:r>
            <a:r>
              <a:rPr lang="en-US" sz="2400" dirty="0" err="1"/>
              <a:t>rangkaian</a:t>
            </a:r>
            <a:r>
              <a:rPr lang="en-US" sz="2400" dirty="0"/>
              <a:t> </a:t>
            </a:r>
            <a:r>
              <a:rPr lang="en-US" sz="2400" dirty="0" err="1"/>
              <a:t>diatas</a:t>
            </a:r>
            <a:r>
              <a:rPr lang="en-US" sz="2400" dirty="0"/>
              <a:t> (</a:t>
            </a:r>
            <a:r>
              <a:rPr lang="en-US" sz="2400" dirty="0" err="1"/>
              <a:t>gunakan</a:t>
            </a:r>
            <a:r>
              <a:rPr lang="en-US" sz="2400" dirty="0"/>
              <a:t> model π </a:t>
            </a:r>
            <a:r>
              <a:rPr lang="en-US" sz="2400" dirty="0" err="1"/>
              <a:t>dan</a:t>
            </a:r>
            <a:r>
              <a:rPr lang="en-US" sz="2400" dirty="0"/>
              <a:t> model T) </a:t>
            </a:r>
            <a:r>
              <a:rPr lang="en-US" sz="2400" dirty="0" err="1"/>
              <a:t>jika</a:t>
            </a:r>
            <a:r>
              <a:rPr lang="en-US" sz="2400" dirty="0"/>
              <a:t> β=200 </a:t>
            </a:r>
            <a:r>
              <a:rPr lang="en-US" sz="2400" dirty="0" err="1"/>
              <a:t>dan</a:t>
            </a:r>
            <a:r>
              <a:rPr lang="en-US" sz="2400" dirty="0"/>
              <a:t> </a:t>
            </a:r>
            <a:r>
              <a:rPr lang="en-US" sz="2400" dirty="0" err="1"/>
              <a:t>Vbe</a:t>
            </a:r>
            <a:r>
              <a:rPr lang="en-US" sz="2400" dirty="0"/>
              <a:t>=0.7V?</a:t>
            </a:r>
          </a:p>
        </p:txBody>
      </p:sp>
      <p:pic>
        <p:nvPicPr>
          <p:cNvPr id="8" name="Picture 7"/>
          <p:cNvPicPr/>
          <p:nvPr/>
        </p:nvPicPr>
        <p:blipFill>
          <a:blip r:embed="rId2"/>
          <a:stretch>
            <a:fillRect/>
          </a:stretch>
        </p:blipFill>
        <p:spPr>
          <a:xfrm>
            <a:off x="2590800" y="2590800"/>
            <a:ext cx="6172200" cy="3810000"/>
          </a:xfrm>
          <a:prstGeom prst="rect">
            <a:avLst/>
          </a:prstGeom>
        </p:spPr>
      </p:pic>
    </p:spTree>
    <p:extLst>
      <p:ext uri="{BB962C8B-B14F-4D97-AF65-F5344CB8AC3E}">
        <p14:creationId xmlns:p14="http://schemas.microsoft.com/office/powerpoint/2010/main" val="399977443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Tugas</a:t>
            </a:r>
            <a:endParaRPr lang="en-US" dirty="0"/>
          </a:p>
        </p:txBody>
      </p:sp>
      <p:sp>
        <p:nvSpPr>
          <p:cNvPr id="6" name="Slide Number Placeholder 5"/>
          <p:cNvSpPr>
            <a:spLocks noGrp="1"/>
          </p:cNvSpPr>
          <p:nvPr>
            <p:ph type="sldNum" sz="quarter" idx="11"/>
          </p:nvPr>
        </p:nvSpPr>
        <p:spPr/>
        <p:txBody>
          <a:bodyPr/>
          <a:lstStyle/>
          <a:p>
            <a:fld id="{201AEAA9-8C65-42A5-8C90-A2F54C079198}" type="slidenum">
              <a:rPr lang="en-US" smtClean="0"/>
              <a:pPr/>
              <a:t>41</a:t>
            </a:fld>
            <a:endParaRPr lang="en-US"/>
          </a:p>
        </p:txBody>
      </p:sp>
      <p:sp>
        <p:nvSpPr>
          <p:cNvPr id="56321" name="Rectangle 1"/>
          <p:cNvSpPr>
            <a:spLocks noChangeArrowheads="1"/>
          </p:cNvSpPr>
          <p:nvPr/>
        </p:nvSpPr>
        <p:spPr bwMode="auto">
          <a:xfrm>
            <a:off x="1828800" y="1676401"/>
            <a:ext cx="8610600" cy="46166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fontAlgn="base">
              <a:spcBef>
                <a:spcPct val="0"/>
              </a:spcBef>
              <a:spcAft>
                <a:spcPct val="0"/>
              </a:spcAft>
            </a:pPr>
            <a:r>
              <a:rPr lang="en-US" sz="2400" dirty="0">
                <a:latin typeface="Calibri" pitchFamily="34" charset="0"/>
                <a:ea typeface="Calibri" pitchFamily="34" charset="0"/>
                <a:cs typeface="Calibri" pitchFamily="34" charset="0"/>
              </a:rPr>
              <a:t>11.</a:t>
            </a:r>
            <a:r>
              <a:rPr lang="en-US" sz="2400" dirty="0"/>
              <a:t> </a:t>
            </a:r>
            <a:r>
              <a:rPr lang="en-US" sz="2400" dirty="0" err="1"/>
              <a:t>Tentukan</a:t>
            </a:r>
            <a:r>
              <a:rPr lang="en-US" sz="2400" dirty="0"/>
              <a:t> </a:t>
            </a:r>
            <a:r>
              <a:rPr lang="en-US" sz="2400" dirty="0" err="1"/>
              <a:t>Zin</a:t>
            </a:r>
            <a:r>
              <a:rPr lang="en-US" sz="2400" dirty="0"/>
              <a:t>(base), </a:t>
            </a:r>
            <a:r>
              <a:rPr lang="en-US" sz="2400" dirty="0" err="1"/>
              <a:t>Zin</a:t>
            </a:r>
            <a:r>
              <a:rPr lang="en-US" sz="2400" dirty="0"/>
              <a:t>, Av </a:t>
            </a:r>
            <a:r>
              <a:rPr lang="en-US" sz="2400" dirty="0" err="1"/>
              <a:t>dan</a:t>
            </a:r>
            <a:r>
              <a:rPr lang="en-US" sz="2400" dirty="0"/>
              <a:t> </a:t>
            </a:r>
            <a:r>
              <a:rPr lang="en-US" sz="2400" dirty="0" err="1"/>
              <a:t>Vout</a:t>
            </a:r>
            <a:r>
              <a:rPr lang="en-US" sz="2400" dirty="0"/>
              <a:t>  </a:t>
            </a:r>
            <a:r>
              <a:rPr lang="en-US" sz="2400" dirty="0" err="1"/>
              <a:t>jika</a:t>
            </a:r>
            <a:r>
              <a:rPr lang="en-US" sz="2400" dirty="0"/>
              <a:t> Vin=5 </a:t>
            </a:r>
            <a:r>
              <a:rPr lang="en-US" sz="2400" dirty="0" err="1"/>
              <a:t>mv</a:t>
            </a:r>
            <a:r>
              <a:rPr lang="en-US" sz="2400" dirty="0"/>
              <a:t>?</a:t>
            </a:r>
          </a:p>
        </p:txBody>
      </p:sp>
      <p:pic>
        <p:nvPicPr>
          <p:cNvPr id="7" name="Picture 6"/>
          <p:cNvPicPr/>
          <p:nvPr/>
        </p:nvPicPr>
        <p:blipFill>
          <a:blip r:embed="rId2">
            <a:extLst>
              <a:ext uri="{28A0092B-C50C-407E-A947-70E740481C1C}">
                <a14:useLocalDpi xmlns:a14="http://schemas.microsoft.com/office/drawing/2010/main" val="0"/>
              </a:ext>
            </a:extLst>
          </a:blip>
          <a:srcRect/>
          <a:stretch>
            <a:fillRect/>
          </a:stretch>
        </p:blipFill>
        <p:spPr bwMode="auto">
          <a:xfrm>
            <a:off x="2743200" y="2514600"/>
            <a:ext cx="5715000" cy="3429000"/>
          </a:xfrm>
          <a:prstGeom prst="rect">
            <a:avLst/>
          </a:prstGeom>
          <a:noFill/>
          <a:ln>
            <a:noFill/>
          </a:ln>
        </p:spPr>
      </p:pic>
    </p:spTree>
    <p:extLst>
      <p:ext uri="{BB962C8B-B14F-4D97-AF65-F5344CB8AC3E}">
        <p14:creationId xmlns:p14="http://schemas.microsoft.com/office/powerpoint/2010/main" val="2075225723"/>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Subtitle 2"/>
          <p:cNvSpPr txBox="1">
            <a:spLocks/>
          </p:cNvSpPr>
          <p:nvPr/>
        </p:nvSpPr>
        <p:spPr>
          <a:xfrm>
            <a:off x="1104646" y="3817180"/>
            <a:ext cx="5178582" cy="165576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indent="-285750" algn="just">
              <a:buFontTx/>
              <a:buChar char="-"/>
            </a:pPr>
            <a:endParaRPr lang="en-US" sz="1600" dirty="0">
              <a:latin typeface="Times New Roman" panose="02020603050405020304" pitchFamily="18" charset="0"/>
              <a:cs typeface="Times New Roman" panose="02020603050405020304" pitchFamily="18" charset="0"/>
            </a:endParaRPr>
          </a:p>
        </p:txBody>
      </p:sp>
      <p:sp>
        <p:nvSpPr>
          <p:cNvPr id="9" name="TextBox 8"/>
          <p:cNvSpPr txBox="1"/>
          <p:nvPr/>
        </p:nvSpPr>
        <p:spPr>
          <a:xfrm>
            <a:off x="7592048" y="4424926"/>
            <a:ext cx="4376174" cy="1723549"/>
          </a:xfrm>
          <a:prstGeom prst="rect">
            <a:avLst/>
          </a:prstGeom>
          <a:noFill/>
        </p:spPr>
        <p:txBody>
          <a:bodyPr wrap="square" rtlCol="0">
            <a:spAutoFit/>
          </a:bodyPr>
          <a:lstStyle/>
          <a:p>
            <a:r>
              <a:rPr lang="en-US" sz="6600" dirty="0">
                <a:latin typeface="Edwardian Script ITC" panose="030303020407070D0804" pitchFamily="66" charset="0"/>
              </a:rPr>
              <a:t>Thank You !!</a:t>
            </a:r>
          </a:p>
          <a:p>
            <a:pPr algn="ctr"/>
            <a:r>
              <a:rPr lang="en-US" sz="4000" dirty="0">
                <a:latin typeface="Edwardian Script ITC" panose="030303020407070D0804" pitchFamily="66" charset="0"/>
              </a:rPr>
              <a:t> </a:t>
            </a:r>
          </a:p>
        </p:txBody>
      </p:sp>
      <p:sp>
        <p:nvSpPr>
          <p:cNvPr id="8" name="Rectangle 7"/>
          <p:cNvSpPr/>
          <p:nvPr/>
        </p:nvSpPr>
        <p:spPr>
          <a:xfrm>
            <a:off x="9507866" y="6056142"/>
            <a:ext cx="2613761" cy="230832"/>
          </a:xfrm>
          <a:prstGeom prst="rect">
            <a:avLst/>
          </a:prstGeom>
        </p:spPr>
        <p:txBody>
          <a:bodyPr wrap="square">
            <a:spAutoFit/>
          </a:bodyPr>
          <a:lstStyle/>
          <a:p>
            <a:r>
              <a:rPr lang="en-US" sz="900" dirty="0"/>
              <a:t>https://www.youtube.com/@AmelOline/videos</a:t>
            </a:r>
          </a:p>
        </p:txBody>
      </p:sp>
      <p:sp>
        <p:nvSpPr>
          <p:cNvPr id="10" name="Rectangle 9"/>
          <p:cNvSpPr/>
          <p:nvPr/>
        </p:nvSpPr>
        <p:spPr>
          <a:xfrm>
            <a:off x="10344774" y="5917643"/>
            <a:ext cx="1623448" cy="230832"/>
          </a:xfrm>
          <a:prstGeom prst="rect">
            <a:avLst/>
          </a:prstGeom>
        </p:spPr>
        <p:txBody>
          <a:bodyPr wrap="square">
            <a:spAutoFit/>
          </a:bodyPr>
          <a:lstStyle/>
          <a:p>
            <a:r>
              <a:rPr lang="en-US" sz="900" dirty="0"/>
              <a:t>https://github.com/siagianp</a:t>
            </a:r>
          </a:p>
        </p:txBody>
      </p:sp>
      <p:sp>
        <p:nvSpPr>
          <p:cNvPr id="11" name="Rectangle 10"/>
          <p:cNvSpPr/>
          <p:nvPr/>
        </p:nvSpPr>
        <p:spPr>
          <a:xfrm>
            <a:off x="8531473" y="6194642"/>
            <a:ext cx="3667194" cy="230832"/>
          </a:xfrm>
          <a:prstGeom prst="rect">
            <a:avLst/>
          </a:prstGeom>
        </p:spPr>
        <p:txBody>
          <a:bodyPr wrap="square">
            <a:spAutoFit/>
          </a:bodyPr>
          <a:lstStyle/>
          <a:p>
            <a:r>
              <a:rPr lang="en-US" sz="900" dirty="0"/>
              <a:t>https://github.com/amelcharolinesgn2/IoT_simulator-mqtt-NodeRed</a:t>
            </a:r>
          </a:p>
        </p:txBody>
      </p:sp>
      <p:sp>
        <p:nvSpPr>
          <p:cNvPr id="12" name="Rectangle 11"/>
          <p:cNvSpPr/>
          <p:nvPr/>
        </p:nvSpPr>
        <p:spPr>
          <a:xfrm>
            <a:off x="8977163" y="6333141"/>
            <a:ext cx="3204723" cy="230832"/>
          </a:xfrm>
          <a:prstGeom prst="rect">
            <a:avLst/>
          </a:prstGeom>
        </p:spPr>
        <p:txBody>
          <a:bodyPr wrap="none">
            <a:spAutoFit/>
          </a:bodyPr>
          <a:lstStyle/>
          <a:p>
            <a:r>
              <a:rPr lang="en-US" sz="900" dirty="0"/>
              <a:t>https://github.com/amelcharolinesgn2/Cloud-Infrastructures</a:t>
            </a:r>
          </a:p>
        </p:txBody>
      </p:sp>
      <p:sp>
        <p:nvSpPr>
          <p:cNvPr id="13" name="Rectangle 12"/>
          <p:cNvSpPr/>
          <p:nvPr/>
        </p:nvSpPr>
        <p:spPr>
          <a:xfrm>
            <a:off x="8444566" y="6506265"/>
            <a:ext cx="3839513" cy="230832"/>
          </a:xfrm>
          <a:prstGeom prst="rect">
            <a:avLst/>
          </a:prstGeom>
        </p:spPr>
        <p:txBody>
          <a:bodyPr wrap="none">
            <a:spAutoFit/>
          </a:bodyPr>
          <a:lstStyle/>
          <a:p>
            <a:r>
              <a:rPr lang="en-US" sz="900" dirty="0"/>
              <a:t>https://github.com/amelcharolinesgn2/ClouD-Infrastructure-SISKA-2025</a:t>
            </a:r>
          </a:p>
        </p:txBody>
      </p:sp>
      <p:grpSp>
        <p:nvGrpSpPr>
          <p:cNvPr id="15" name="Group 14"/>
          <p:cNvGrpSpPr/>
          <p:nvPr/>
        </p:nvGrpSpPr>
        <p:grpSpPr>
          <a:xfrm>
            <a:off x="54496" y="359621"/>
            <a:ext cx="4804363" cy="2463094"/>
            <a:chOff x="54496" y="359621"/>
            <a:chExt cx="4804363" cy="2463094"/>
          </a:xfrm>
        </p:grpSpPr>
        <p:pic>
          <p:nvPicPr>
            <p:cNvPr id="16" name="Picture 15"/>
            <p:cNvPicPr>
              <a:picLocks noChangeAspect="1"/>
            </p:cNvPicPr>
            <p:nvPr/>
          </p:nvPicPr>
          <p:blipFill>
            <a:blip r:embed="rId3"/>
            <a:stretch>
              <a:fillRect/>
            </a:stretch>
          </p:blipFill>
          <p:spPr>
            <a:xfrm>
              <a:off x="235105" y="1901987"/>
              <a:ext cx="3104181" cy="263526"/>
            </a:xfrm>
            <a:prstGeom prst="rect">
              <a:avLst/>
            </a:prstGeom>
          </p:spPr>
        </p:pic>
        <p:sp>
          <p:nvSpPr>
            <p:cNvPr id="17" name="Title 4">
              <a:extLst>
                <a:ext uri="{FF2B5EF4-FFF2-40B4-BE49-F238E27FC236}">
                  <a16:creationId xmlns:a16="http://schemas.microsoft.com/office/drawing/2014/main" id="{27228BAE-048B-681E-DD8D-BD96B22560E0}"/>
                </a:ext>
              </a:extLst>
            </p:cNvPr>
            <p:cNvSpPr txBox="1">
              <a:spLocks/>
            </p:cNvSpPr>
            <p:nvPr/>
          </p:nvSpPr>
          <p:spPr>
            <a:xfrm>
              <a:off x="54496" y="1922610"/>
              <a:ext cx="4804363" cy="900105"/>
            </a:xfrm>
            <a:prstGeom prst="rect">
              <a:avLst/>
            </a:prstGeom>
          </p:spPr>
          <p:txBody>
            <a:bodyPr vert="horz" lIns="91440" tIns="45720" rIns="91440" bIns="45720" rtlCol="0" anchor="b">
              <a:normAutofit fontScale="9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dirty="0" smtClean="0">
                  <a:solidFill>
                    <a:schemeClr val="accent1">
                      <a:lumMod val="75000"/>
                    </a:schemeClr>
                  </a:solidFill>
                </a:rPr>
                <a:t>Computer </a:t>
              </a:r>
              <a:r>
                <a:rPr lang="en-US" dirty="0" smtClean="0">
                  <a:solidFill>
                    <a:srgbClr val="00B0F0"/>
                  </a:solidFill>
                </a:rPr>
                <a:t>Vision</a:t>
              </a:r>
              <a:endParaRPr lang="en-US" dirty="0">
                <a:solidFill>
                  <a:srgbClr val="00B0F0"/>
                </a:solidFill>
              </a:endParaRPr>
            </a:p>
          </p:txBody>
        </p:sp>
        <p:grpSp>
          <p:nvGrpSpPr>
            <p:cNvPr id="18" name="Group 17">
              <a:extLst>
                <a:ext uri="{FF2B5EF4-FFF2-40B4-BE49-F238E27FC236}">
                  <a16:creationId xmlns:a16="http://schemas.microsoft.com/office/drawing/2014/main" id="{2AABCB87-2ECC-4C03-B5BB-6EE11C8A4485}"/>
                </a:ext>
              </a:extLst>
            </p:cNvPr>
            <p:cNvGrpSpPr/>
            <p:nvPr/>
          </p:nvGrpSpPr>
          <p:grpSpPr>
            <a:xfrm>
              <a:off x="89638" y="359621"/>
              <a:ext cx="3064025" cy="1516520"/>
              <a:chOff x="4853562" y="1589418"/>
              <a:chExt cx="2609520" cy="1291565"/>
            </a:xfrm>
          </p:grpSpPr>
          <p:sp>
            <p:nvSpPr>
              <p:cNvPr id="25" name="Freeform 24">
                <a:extLst>
                  <a:ext uri="{FF2B5EF4-FFF2-40B4-BE49-F238E27FC236}">
                    <a16:creationId xmlns:a16="http://schemas.microsoft.com/office/drawing/2014/main" id="{03546B24-FABC-4B2A-A80F-B03654D56A7D}"/>
                  </a:ext>
                </a:extLst>
              </p:cNvPr>
              <p:cNvSpPr>
                <a:spLocks noChangeAspect="1"/>
              </p:cNvSpPr>
              <p:nvPr/>
            </p:nvSpPr>
            <p:spPr>
              <a:xfrm flipH="1">
                <a:off x="4853562" y="1589418"/>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a:solidFill>
                    <a:schemeClr val="tx1"/>
                  </a:solidFill>
                </a:endParaRPr>
              </a:p>
            </p:txBody>
          </p:sp>
          <p:sp>
            <p:nvSpPr>
              <p:cNvPr id="26" name="Freeform 25">
                <a:extLst>
                  <a:ext uri="{FF2B5EF4-FFF2-40B4-BE49-F238E27FC236}">
                    <a16:creationId xmlns:a16="http://schemas.microsoft.com/office/drawing/2014/main" id="{02E1A011-CDEA-4BBC-B725-C88AF5464891}"/>
                  </a:ext>
                </a:extLst>
              </p:cNvPr>
              <p:cNvSpPr>
                <a:spLocks noChangeAspect="1"/>
              </p:cNvSpPr>
              <p:nvPr/>
            </p:nvSpPr>
            <p:spPr>
              <a:xfrm flipH="1">
                <a:off x="5230834" y="1678285"/>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ko-KR" altLang="en-US" sz="3601" dirty="0">
                  <a:solidFill>
                    <a:schemeClr val="tx1"/>
                  </a:solidFill>
                </a:endParaRPr>
              </a:p>
            </p:txBody>
          </p:sp>
        </p:grpSp>
        <p:grpSp>
          <p:nvGrpSpPr>
            <p:cNvPr id="19" name="Group 18">
              <a:extLst>
                <a:ext uri="{FF2B5EF4-FFF2-40B4-BE49-F238E27FC236}">
                  <a16:creationId xmlns:a16="http://schemas.microsoft.com/office/drawing/2014/main" id="{AB8BC7BC-BF58-402E-9A69-AA9226DE7CAA}"/>
                </a:ext>
              </a:extLst>
            </p:cNvPr>
            <p:cNvGrpSpPr/>
            <p:nvPr/>
          </p:nvGrpSpPr>
          <p:grpSpPr>
            <a:xfrm>
              <a:off x="1356703" y="883096"/>
              <a:ext cx="1334145" cy="620384"/>
              <a:chOff x="7729280" y="2195997"/>
              <a:chExt cx="2143740" cy="996849"/>
            </a:xfrm>
            <a:solidFill>
              <a:schemeClr val="accent6"/>
            </a:solidFill>
          </p:grpSpPr>
          <p:sp>
            <p:nvSpPr>
              <p:cNvPr id="23" name="Freeform: Shape 66">
                <a:extLst>
                  <a:ext uri="{FF2B5EF4-FFF2-40B4-BE49-F238E27FC236}">
                    <a16:creationId xmlns:a16="http://schemas.microsoft.com/office/drawing/2014/main" id="{2A081543-B9FF-49B1-8EEF-ABDF5438EDCD}"/>
                  </a:ext>
                </a:extLst>
              </p:cNvPr>
              <p:cNvSpPr/>
              <p:nvPr/>
            </p:nvSpPr>
            <p:spPr>
              <a:xfrm>
                <a:off x="7729280" y="2195997"/>
                <a:ext cx="2143740" cy="996849"/>
              </a:xfrm>
              <a:custGeom>
                <a:avLst/>
                <a:gdLst/>
                <a:ahLst/>
                <a:cxnLst/>
                <a:rect l="l" t="t" r="r" b="b"/>
                <a:pathLst>
                  <a:path w="1862733" h="866179">
                    <a:moveTo>
                      <a:pt x="794147" y="204787"/>
                    </a:moveTo>
                    <a:cubicBezTo>
                      <a:pt x="745605" y="204787"/>
                      <a:pt x="701637" y="218416"/>
                      <a:pt x="662244" y="245673"/>
                    </a:cubicBezTo>
                    <a:cubicBezTo>
                      <a:pt x="622851" y="272930"/>
                      <a:pt x="594798" y="309240"/>
                      <a:pt x="578086" y="354601"/>
                    </a:cubicBezTo>
                    <a:cubicBezTo>
                      <a:pt x="568536" y="380467"/>
                      <a:pt x="563761" y="406729"/>
                      <a:pt x="563761" y="433387"/>
                    </a:cubicBezTo>
                    <a:cubicBezTo>
                      <a:pt x="563761" y="488299"/>
                      <a:pt x="582064" y="537440"/>
                      <a:pt x="618670" y="580811"/>
                    </a:cubicBezTo>
                    <a:cubicBezTo>
                      <a:pt x="664031" y="634532"/>
                      <a:pt x="722524" y="661392"/>
                      <a:pt x="794147" y="661392"/>
                    </a:cubicBezTo>
                    <a:cubicBezTo>
                      <a:pt x="865771" y="661392"/>
                      <a:pt x="924462" y="634733"/>
                      <a:pt x="970220" y="581415"/>
                    </a:cubicBezTo>
                    <a:cubicBezTo>
                      <a:pt x="1006826" y="538838"/>
                      <a:pt x="1025128" y="489496"/>
                      <a:pt x="1025128" y="433387"/>
                    </a:cubicBezTo>
                    <a:cubicBezTo>
                      <a:pt x="1025128" y="376088"/>
                      <a:pt x="1006826" y="326547"/>
                      <a:pt x="970220" y="284764"/>
                    </a:cubicBezTo>
                    <a:cubicBezTo>
                      <a:pt x="923265" y="231446"/>
                      <a:pt x="864574" y="204787"/>
                      <a:pt x="794147" y="204787"/>
                    </a:cubicBezTo>
                    <a:close/>
                    <a:moveTo>
                      <a:pt x="1304330" y="24408"/>
                    </a:moveTo>
                    <a:lnTo>
                      <a:pt x="1862733" y="24408"/>
                    </a:lnTo>
                    <a:lnTo>
                      <a:pt x="1862733" y="200620"/>
                    </a:lnTo>
                    <a:lnTo>
                      <a:pt x="1687711" y="200620"/>
                    </a:lnTo>
                    <a:lnTo>
                      <a:pt x="1687711" y="837009"/>
                    </a:lnTo>
                    <a:lnTo>
                      <a:pt x="1476375" y="837009"/>
                    </a:lnTo>
                    <a:lnTo>
                      <a:pt x="1476375" y="200620"/>
                    </a:lnTo>
                    <a:lnTo>
                      <a:pt x="1304330" y="200620"/>
                    </a:lnTo>
                    <a:close/>
                    <a:moveTo>
                      <a:pt x="0" y="24408"/>
                    </a:moveTo>
                    <a:lnTo>
                      <a:pt x="211336" y="24408"/>
                    </a:lnTo>
                    <a:lnTo>
                      <a:pt x="211336" y="837009"/>
                    </a:lnTo>
                    <a:lnTo>
                      <a:pt x="0" y="837009"/>
                    </a:lnTo>
                    <a:close/>
                    <a:moveTo>
                      <a:pt x="794147" y="0"/>
                    </a:moveTo>
                    <a:cubicBezTo>
                      <a:pt x="937022" y="0"/>
                      <a:pt x="1050330" y="47426"/>
                      <a:pt x="1134071" y="142280"/>
                    </a:cubicBezTo>
                    <a:cubicBezTo>
                      <a:pt x="1207493" y="225623"/>
                      <a:pt x="1244204" y="322659"/>
                      <a:pt x="1244204" y="433387"/>
                    </a:cubicBezTo>
                    <a:cubicBezTo>
                      <a:pt x="1244204" y="543719"/>
                      <a:pt x="1207493" y="640556"/>
                      <a:pt x="1134071" y="723900"/>
                    </a:cubicBezTo>
                    <a:cubicBezTo>
                      <a:pt x="1050330" y="818753"/>
                      <a:pt x="937022" y="866179"/>
                      <a:pt x="794147" y="866179"/>
                    </a:cubicBezTo>
                    <a:cubicBezTo>
                      <a:pt x="651669" y="866179"/>
                      <a:pt x="538560" y="818753"/>
                      <a:pt x="454819" y="723900"/>
                    </a:cubicBezTo>
                    <a:cubicBezTo>
                      <a:pt x="381397" y="640556"/>
                      <a:pt x="344686" y="543719"/>
                      <a:pt x="344686" y="433387"/>
                    </a:cubicBezTo>
                    <a:cubicBezTo>
                      <a:pt x="344686" y="382984"/>
                      <a:pt x="354608" y="331291"/>
                      <a:pt x="374452" y="278308"/>
                    </a:cubicBezTo>
                    <a:cubicBezTo>
                      <a:pt x="394296" y="225326"/>
                      <a:pt x="420886" y="179983"/>
                      <a:pt x="454224" y="142280"/>
                    </a:cubicBezTo>
                    <a:cubicBezTo>
                      <a:pt x="537964" y="47426"/>
                      <a:pt x="651272" y="0"/>
                      <a:pt x="794147" y="0"/>
                    </a:cubicBezTo>
                    <a:close/>
                  </a:path>
                </a:pathLst>
              </a:cu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dirty="0"/>
              </a:p>
            </p:txBody>
          </p:sp>
          <p:sp>
            <p:nvSpPr>
              <p:cNvPr id="24" name="Freeform: Shape 67">
                <a:extLst>
                  <a:ext uri="{FF2B5EF4-FFF2-40B4-BE49-F238E27FC236}">
                    <a16:creationId xmlns:a16="http://schemas.microsoft.com/office/drawing/2014/main" id="{275D1FAA-C13F-4A6B-BA37-7704CFB7ADCD}"/>
                  </a:ext>
                </a:extLst>
              </p:cNvPr>
              <p:cNvSpPr/>
              <p:nvPr/>
            </p:nvSpPr>
            <p:spPr>
              <a:xfrm>
                <a:off x="8421007" y="2543552"/>
                <a:ext cx="443936" cy="326800"/>
              </a:xfrm>
              <a:custGeom>
                <a:avLst/>
                <a:gdLst>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788485 w 3738080"/>
                  <a:gd name="connsiteY5" fmla="*/ 1841061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624294 w 3738080"/>
                  <a:gd name="connsiteY5" fmla="*/ 1992174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1858846 w 3738080"/>
                  <a:gd name="connsiteY5" fmla="*/ 1306247 h 2751770"/>
                  <a:gd name="connsiteX6" fmla="*/ 2645621 w 3738080"/>
                  <a:gd name="connsiteY6" fmla="*/ 1504218 h 2751770"/>
                  <a:gd name="connsiteX7" fmla="*/ 2795575 w 3738080"/>
                  <a:gd name="connsiteY7" fmla="*/ 1757331 h 2751770"/>
                  <a:gd name="connsiteX8" fmla="*/ 2539052 w 3738080"/>
                  <a:gd name="connsiteY8" fmla="*/ 1841672 h 2751770"/>
                  <a:gd name="connsiteX9" fmla="*/ 1353947 w 3738080"/>
                  <a:gd name="connsiteY9" fmla="*/ 1778974 h 2751770"/>
                  <a:gd name="connsiteX10" fmla="*/ 982333 w 3738080"/>
                  <a:gd name="connsiteY10" fmla="*/ 1780833 h 2751770"/>
                  <a:gd name="connsiteX11" fmla="*/ 966756 w 3738080"/>
                  <a:gd name="connsiteY11" fmla="*/ 1667407 h 2751770"/>
                  <a:gd name="connsiteX12" fmla="*/ 1217540 w 3738080"/>
                  <a:gd name="connsiteY12" fmla="*/ 1445700 h 2751770"/>
                  <a:gd name="connsiteX13" fmla="*/ 1858846 w 3738080"/>
                  <a:gd name="connsiteY13" fmla="*/ 1306247 h 2751770"/>
                  <a:gd name="connsiteX14" fmla="*/ 1828129 w 3738080"/>
                  <a:gd name="connsiteY14" fmla="*/ 650059 h 2751770"/>
                  <a:gd name="connsiteX15" fmla="*/ 3108200 w 3738080"/>
                  <a:gd name="connsiteY15" fmla="*/ 1008980 h 2751770"/>
                  <a:gd name="connsiteX16" fmla="*/ 3258155 w 3738080"/>
                  <a:gd name="connsiteY16" fmla="*/ 1319033 h 2751770"/>
                  <a:gd name="connsiteX17" fmla="*/ 2937692 w 3738080"/>
                  <a:gd name="connsiteY17" fmla="*/ 1304637 h 2751770"/>
                  <a:gd name="connsiteX18" fmla="*/ 763561 w 3738080"/>
                  <a:gd name="connsiteY18" fmla="*/ 1325535 h 2751770"/>
                  <a:gd name="connsiteX19" fmla="*/ 464412 w 3738080"/>
                  <a:gd name="connsiteY19" fmla="*/ 1278813 h 2751770"/>
                  <a:gd name="connsiteX20" fmla="*/ 450482 w 3738080"/>
                  <a:gd name="connsiteY20" fmla="*/ 1202928 h 2751770"/>
                  <a:gd name="connsiteX21" fmla="*/ 622892 w 3738080"/>
                  <a:gd name="connsiteY21" fmla="*/ 1008979 h 2751770"/>
                  <a:gd name="connsiteX22" fmla="*/ 1828129 w 3738080"/>
                  <a:gd name="connsiteY22" fmla="*/ 650059 h 2751770"/>
                  <a:gd name="connsiteX23" fmla="*/ 1764313 w 3738080"/>
                  <a:gd name="connsiteY23" fmla="*/ 591 h 2751770"/>
                  <a:gd name="connsiteX24" fmla="*/ 3559697 w 3738080"/>
                  <a:gd name="connsiteY24" fmla="*/ 547180 h 2751770"/>
                  <a:gd name="connsiteX25" fmla="*/ 3709650 w 3738080"/>
                  <a:gd name="connsiteY25" fmla="*/ 882310 h 2751770"/>
                  <a:gd name="connsiteX26" fmla="*/ 3367875 w 3738080"/>
                  <a:gd name="connsiteY26" fmla="*/ 834477 h 2751770"/>
                  <a:gd name="connsiteX27" fmla="*/ 318417 w 3738080"/>
                  <a:gd name="connsiteY27" fmla="*/ 884635 h 2751770"/>
                  <a:gd name="connsiteX28" fmla="*/ 19267 w 3738080"/>
                  <a:gd name="connsiteY28" fmla="*/ 846272 h 2751770"/>
                  <a:gd name="connsiteX29" fmla="*/ 275 w 3738080"/>
                  <a:gd name="connsiteY29" fmla="*/ 760137 h 2751770"/>
                  <a:gd name="connsiteX30" fmla="*/ 173484 w 3738080"/>
                  <a:gd name="connsiteY30" fmla="*/ 547180 h 2751770"/>
                  <a:gd name="connsiteX31" fmla="*/ 1764313 w 3738080"/>
                  <a:gd name="connsiteY31" fmla="*/ 591 h 275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738080" h="2751770">
                    <a:moveTo>
                      <a:pt x="1869041" y="1997576"/>
                    </a:moveTo>
                    <a:cubicBezTo>
                      <a:pt x="2077306" y="1997576"/>
                      <a:pt x="2246138" y="2166408"/>
                      <a:pt x="2246138" y="2374673"/>
                    </a:cubicBezTo>
                    <a:cubicBezTo>
                      <a:pt x="2246138" y="2582938"/>
                      <a:pt x="2077306" y="2751770"/>
                      <a:pt x="1869041" y="2751770"/>
                    </a:cubicBezTo>
                    <a:cubicBezTo>
                      <a:pt x="1660776" y="2751770"/>
                      <a:pt x="1491944" y="2582938"/>
                      <a:pt x="1491944" y="2374673"/>
                    </a:cubicBezTo>
                    <a:cubicBezTo>
                      <a:pt x="1491944" y="2166408"/>
                      <a:pt x="1660776" y="1997576"/>
                      <a:pt x="1869041" y="1997576"/>
                    </a:cubicBezTo>
                    <a:close/>
                    <a:moveTo>
                      <a:pt x="1858846" y="1306247"/>
                    </a:moveTo>
                    <a:cubicBezTo>
                      <a:pt x="2165924" y="1301758"/>
                      <a:pt x="2404940" y="1399722"/>
                      <a:pt x="2645621" y="1504218"/>
                    </a:cubicBezTo>
                    <a:cubicBezTo>
                      <a:pt x="2813424" y="1597955"/>
                      <a:pt x="2823993" y="1678797"/>
                      <a:pt x="2795575" y="1757331"/>
                    </a:cubicBezTo>
                    <a:cubicBezTo>
                      <a:pt x="2761471" y="1842158"/>
                      <a:pt x="2685239" y="1908552"/>
                      <a:pt x="2539052" y="1841672"/>
                    </a:cubicBezTo>
                    <a:cubicBezTo>
                      <a:pt x="2347207" y="1684231"/>
                      <a:pt x="1733351" y="1556050"/>
                      <a:pt x="1353947" y="1778974"/>
                    </a:cubicBezTo>
                    <a:cubicBezTo>
                      <a:pt x="1250080" y="1855218"/>
                      <a:pt x="1037749" y="1915097"/>
                      <a:pt x="982333" y="1780833"/>
                    </a:cubicBezTo>
                    <a:cubicBezTo>
                      <a:pt x="968480" y="1736637"/>
                      <a:pt x="963386" y="1699601"/>
                      <a:pt x="966756" y="1667407"/>
                    </a:cubicBezTo>
                    <a:cubicBezTo>
                      <a:pt x="976866" y="1570822"/>
                      <a:pt x="1063141" y="1517802"/>
                      <a:pt x="1217540" y="1445700"/>
                    </a:cubicBezTo>
                    <a:cubicBezTo>
                      <a:pt x="1465851" y="1348519"/>
                      <a:pt x="1674601" y="1308942"/>
                      <a:pt x="1858846" y="1306247"/>
                    </a:cubicBezTo>
                    <a:close/>
                    <a:moveTo>
                      <a:pt x="1828129" y="650059"/>
                    </a:moveTo>
                    <a:cubicBezTo>
                      <a:pt x="2445754" y="646836"/>
                      <a:pt x="2937662" y="894034"/>
                      <a:pt x="3108200" y="1008980"/>
                    </a:cubicBezTo>
                    <a:cubicBezTo>
                      <a:pt x="3228810" y="1075858"/>
                      <a:pt x="3343409" y="1171509"/>
                      <a:pt x="3258155" y="1319033"/>
                    </a:cubicBezTo>
                    <a:cubicBezTo>
                      <a:pt x="3134282" y="1435449"/>
                      <a:pt x="3057301" y="1393031"/>
                      <a:pt x="2937692" y="1304637"/>
                    </a:cubicBezTo>
                    <a:cubicBezTo>
                      <a:pt x="2647778" y="1191783"/>
                      <a:pt x="2008321" y="619142"/>
                      <a:pt x="763561" y="1325535"/>
                    </a:cubicBezTo>
                    <a:cubicBezTo>
                      <a:pt x="621636" y="1425852"/>
                      <a:pt x="511304" y="1376178"/>
                      <a:pt x="464412" y="1278813"/>
                    </a:cubicBezTo>
                    <a:cubicBezTo>
                      <a:pt x="452398" y="1252494"/>
                      <a:pt x="448110" y="1227223"/>
                      <a:pt x="450482" y="1202928"/>
                    </a:cubicBezTo>
                    <a:cubicBezTo>
                      <a:pt x="457599" y="1130049"/>
                      <a:pt x="524660" y="1065987"/>
                      <a:pt x="622892" y="1008979"/>
                    </a:cubicBezTo>
                    <a:cubicBezTo>
                      <a:pt x="1041721" y="744082"/>
                      <a:pt x="1457554" y="651995"/>
                      <a:pt x="1828129" y="650059"/>
                    </a:cubicBezTo>
                    <a:close/>
                    <a:moveTo>
                      <a:pt x="1764313" y="591"/>
                    </a:moveTo>
                    <a:cubicBezTo>
                      <a:pt x="2430887" y="-13278"/>
                      <a:pt x="3056659" y="218017"/>
                      <a:pt x="3559697" y="547180"/>
                    </a:cubicBezTo>
                    <a:cubicBezTo>
                      <a:pt x="3671781" y="597338"/>
                      <a:pt x="3794905" y="759863"/>
                      <a:pt x="3709650" y="882310"/>
                    </a:cubicBezTo>
                    <a:cubicBezTo>
                      <a:pt x="3594303" y="984791"/>
                      <a:pt x="3449118" y="907547"/>
                      <a:pt x="3367875" y="834477"/>
                    </a:cubicBezTo>
                    <a:cubicBezTo>
                      <a:pt x="3193985" y="725799"/>
                      <a:pt x="1920315" y="-235561"/>
                      <a:pt x="318417" y="884635"/>
                    </a:cubicBezTo>
                    <a:cubicBezTo>
                      <a:pt x="189280" y="993311"/>
                      <a:pt x="70419" y="922739"/>
                      <a:pt x="19267" y="846272"/>
                    </a:cubicBezTo>
                    <a:cubicBezTo>
                      <a:pt x="4410" y="817516"/>
                      <a:pt x="-1388" y="788500"/>
                      <a:pt x="275" y="760137"/>
                    </a:cubicBezTo>
                    <a:cubicBezTo>
                      <a:pt x="5260" y="675044"/>
                      <a:pt x="77384" y="595829"/>
                      <a:pt x="173484" y="547180"/>
                    </a:cubicBezTo>
                    <a:cubicBezTo>
                      <a:pt x="702741" y="170471"/>
                      <a:pt x="1245868" y="11376"/>
                      <a:pt x="1764313" y="591"/>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20" name="Subtitle 2">
              <a:extLst>
                <a:ext uri="{FF2B5EF4-FFF2-40B4-BE49-F238E27FC236}">
                  <a16:creationId xmlns:a16="http://schemas.microsoft.com/office/drawing/2014/main" id="{53858C97-DA2F-8866-47CC-CDF4077BBF9D}"/>
                </a:ext>
              </a:extLst>
            </p:cNvPr>
            <p:cNvSpPr txBox="1">
              <a:spLocks/>
            </p:cNvSpPr>
            <p:nvPr/>
          </p:nvSpPr>
          <p:spPr>
            <a:xfrm>
              <a:off x="1727403" y="1099395"/>
              <a:ext cx="729275" cy="203382"/>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600" dirty="0" smtClean="0">
                  <a:solidFill>
                    <a:srgbClr val="7030A0"/>
                  </a:solidFill>
                </a:rPr>
                <a:t>PDS</a:t>
              </a:r>
              <a:endParaRPr lang="en-US" sz="1600" dirty="0">
                <a:solidFill>
                  <a:srgbClr val="7030A0"/>
                </a:solidFill>
              </a:endParaRPr>
            </a:p>
          </p:txBody>
        </p:sp>
        <p:sp>
          <p:nvSpPr>
            <p:cNvPr id="21" name="Title 4">
              <a:extLst>
                <a:ext uri="{FF2B5EF4-FFF2-40B4-BE49-F238E27FC236}">
                  <a16:creationId xmlns:a16="http://schemas.microsoft.com/office/drawing/2014/main" id="{27228BAE-048B-681E-DD8D-BD96B22560E0}"/>
                </a:ext>
              </a:extLst>
            </p:cNvPr>
            <p:cNvSpPr txBox="1">
              <a:spLocks/>
            </p:cNvSpPr>
            <p:nvPr/>
          </p:nvSpPr>
          <p:spPr>
            <a:xfrm>
              <a:off x="788714" y="1452073"/>
              <a:ext cx="938689" cy="470538"/>
            </a:xfrm>
            <a:prstGeom prst="rect">
              <a:avLst/>
            </a:prstGeom>
            <a:solidFill>
              <a:schemeClr val="bg1"/>
            </a:solidFill>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2800" dirty="0" smtClean="0">
                  <a:solidFill>
                    <a:schemeClr val="accent5">
                      <a:lumMod val="50000"/>
                    </a:schemeClr>
                  </a:solidFill>
                </a:rPr>
                <a:t>SDN</a:t>
              </a:r>
              <a:endParaRPr lang="en-US" sz="2800" dirty="0">
                <a:solidFill>
                  <a:schemeClr val="accent5">
                    <a:lumMod val="50000"/>
                  </a:schemeClr>
                </a:solidFill>
              </a:endParaRPr>
            </a:p>
          </p:txBody>
        </p:sp>
        <p:sp>
          <p:nvSpPr>
            <p:cNvPr id="22" name="Title 4">
              <a:extLst>
                <a:ext uri="{FF2B5EF4-FFF2-40B4-BE49-F238E27FC236}">
                  <a16:creationId xmlns:a16="http://schemas.microsoft.com/office/drawing/2014/main" id="{27228BAE-048B-681E-DD8D-BD96B22560E0}"/>
                </a:ext>
              </a:extLst>
            </p:cNvPr>
            <p:cNvSpPr txBox="1">
              <a:spLocks/>
            </p:cNvSpPr>
            <p:nvPr/>
          </p:nvSpPr>
          <p:spPr>
            <a:xfrm>
              <a:off x="1449719" y="1352665"/>
              <a:ext cx="928870" cy="581223"/>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2800" dirty="0" smtClean="0">
                  <a:solidFill>
                    <a:schemeClr val="accent1">
                      <a:lumMod val="75000"/>
                    </a:schemeClr>
                  </a:solidFill>
                </a:rPr>
                <a:t>NFV</a:t>
              </a:r>
              <a:endParaRPr lang="en-US" sz="2800" dirty="0">
                <a:solidFill>
                  <a:schemeClr val="accent1">
                    <a:lumMod val="75000"/>
                  </a:schemeClr>
                </a:solidFill>
              </a:endParaRPr>
            </a:p>
          </p:txBody>
        </p:sp>
      </p:grpSp>
    </p:spTree>
    <p:extLst>
      <p:ext uri="{BB962C8B-B14F-4D97-AF65-F5344CB8AC3E}">
        <p14:creationId xmlns:p14="http://schemas.microsoft.com/office/powerpoint/2010/main" val="80013096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Referensi</a:t>
            </a:r>
            <a:endParaRPr lang="en-US" dirty="0"/>
          </a:p>
        </p:txBody>
      </p:sp>
      <p:sp>
        <p:nvSpPr>
          <p:cNvPr id="3" name="Content Placeholder 2"/>
          <p:cNvSpPr>
            <a:spLocks noGrp="1"/>
          </p:cNvSpPr>
          <p:nvPr>
            <p:ph sz="quarter" idx="1"/>
          </p:nvPr>
        </p:nvSpPr>
        <p:spPr>
          <a:xfrm>
            <a:off x="1981200" y="1600200"/>
            <a:ext cx="8305800" cy="4724400"/>
          </a:xfrm>
        </p:spPr>
        <p:txBody>
          <a:bodyPr>
            <a:normAutofit fontScale="70000" lnSpcReduction="20000"/>
          </a:bodyPr>
          <a:lstStyle/>
          <a:p>
            <a:r>
              <a:rPr lang="en-US" dirty="0" err="1" smtClean="0">
                <a:solidFill>
                  <a:schemeClr val="bg1">
                    <a:lumMod val="95000"/>
                  </a:schemeClr>
                </a:solidFill>
              </a:rPr>
              <a:t>modul</a:t>
            </a:r>
            <a:r>
              <a:rPr lang="en-US" dirty="0" smtClean="0">
                <a:solidFill>
                  <a:schemeClr val="bg1">
                    <a:lumMod val="95000"/>
                  </a:schemeClr>
                </a:solidFill>
              </a:rPr>
              <a:t> </a:t>
            </a:r>
            <a:r>
              <a:rPr lang="en-US" dirty="0" err="1" smtClean="0">
                <a:solidFill>
                  <a:schemeClr val="bg1">
                    <a:lumMod val="95000"/>
                  </a:schemeClr>
                </a:solidFill>
              </a:rPr>
              <a:t>praktikum</a:t>
            </a:r>
            <a:r>
              <a:rPr lang="en-US" dirty="0" smtClean="0">
                <a:solidFill>
                  <a:schemeClr val="bg1">
                    <a:lumMod val="95000"/>
                  </a:schemeClr>
                </a:solidFill>
              </a:rPr>
              <a:t> </a:t>
            </a:r>
            <a:r>
              <a:rPr lang="en-US" dirty="0" err="1" smtClean="0">
                <a:solidFill>
                  <a:schemeClr val="bg1">
                    <a:lumMod val="95000"/>
                  </a:schemeClr>
                </a:solidFill>
              </a:rPr>
              <a:t>elektronika</a:t>
            </a:r>
            <a:r>
              <a:rPr lang="en-US" dirty="0" smtClean="0">
                <a:solidFill>
                  <a:schemeClr val="bg1">
                    <a:lumMod val="95000"/>
                  </a:schemeClr>
                </a:solidFill>
              </a:rPr>
              <a:t> </a:t>
            </a:r>
            <a:r>
              <a:rPr lang="en-US" dirty="0" err="1" smtClean="0">
                <a:solidFill>
                  <a:schemeClr val="bg1">
                    <a:lumMod val="95000"/>
                  </a:schemeClr>
                </a:solidFill>
              </a:rPr>
              <a:t>lanjut</a:t>
            </a:r>
            <a:endParaRPr lang="en-US" dirty="0" smtClean="0">
              <a:solidFill>
                <a:schemeClr val="bg1">
                  <a:lumMod val="95000"/>
                </a:schemeClr>
              </a:solidFill>
            </a:endParaRPr>
          </a:p>
          <a:p>
            <a:r>
              <a:rPr lang="en-US" dirty="0" err="1" smtClean="0">
                <a:solidFill>
                  <a:schemeClr val="bg1">
                    <a:lumMod val="95000"/>
                  </a:schemeClr>
                </a:solidFill>
              </a:rPr>
              <a:t>buku</a:t>
            </a:r>
            <a:r>
              <a:rPr lang="en-US" dirty="0" smtClean="0">
                <a:solidFill>
                  <a:schemeClr val="bg1">
                    <a:lumMod val="95000"/>
                  </a:schemeClr>
                </a:solidFill>
              </a:rPr>
              <a:t> </a:t>
            </a:r>
            <a:r>
              <a:rPr lang="en-US" dirty="0" err="1" smtClean="0">
                <a:solidFill>
                  <a:schemeClr val="bg1">
                    <a:lumMod val="95000"/>
                  </a:schemeClr>
                </a:solidFill>
              </a:rPr>
              <a:t>malvino</a:t>
            </a:r>
            <a:r>
              <a:rPr lang="en-US" dirty="0" smtClean="0">
                <a:solidFill>
                  <a:schemeClr val="bg1">
                    <a:lumMod val="95000"/>
                  </a:schemeClr>
                </a:solidFill>
              </a:rPr>
              <a:t> </a:t>
            </a:r>
            <a:r>
              <a:rPr lang="en-US" dirty="0" err="1" smtClean="0">
                <a:solidFill>
                  <a:schemeClr val="bg1">
                    <a:lumMod val="95000"/>
                  </a:schemeClr>
                </a:solidFill>
              </a:rPr>
              <a:t>bab</a:t>
            </a:r>
            <a:r>
              <a:rPr lang="en-US" dirty="0" smtClean="0">
                <a:solidFill>
                  <a:schemeClr val="bg1">
                    <a:lumMod val="95000"/>
                  </a:schemeClr>
                </a:solidFill>
              </a:rPr>
              <a:t> </a:t>
            </a:r>
            <a:r>
              <a:rPr lang="en-US" dirty="0" err="1" smtClean="0">
                <a:solidFill>
                  <a:schemeClr val="bg1">
                    <a:lumMod val="95000"/>
                  </a:schemeClr>
                </a:solidFill>
              </a:rPr>
              <a:t>differensial</a:t>
            </a:r>
            <a:r>
              <a:rPr lang="en-US" dirty="0" smtClean="0">
                <a:solidFill>
                  <a:schemeClr val="bg1">
                    <a:lumMod val="95000"/>
                  </a:schemeClr>
                </a:solidFill>
              </a:rPr>
              <a:t> amplifier </a:t>
            </a:r>
            <a:r>
              <a:rPr lang="en-US" dirty="0" err="1" smtClean="0">
                <a:solidFill>
                  <a:schemeClr val="bg1">
                    <a:lumMod val="95000"/>
                  </a:schemeClr>
                </a:solidFill>
              </a:rPr>
              <a:t>dan</a:t>
            </a:r>
            <a:r>
              <a:rPr lang="en-US" dirty="0" smtClean="0">
                <a:solidFill>
                  <a:schemeClr val="bg1">
                    <a:lumMod val="95000"/>
                  </a:schemeClr>
                </a:solidFill>
              </a:rPr>
              <a:t> </a:t>
            </a:r>
            <a:r>
              <a:rPr lang="en-US" dirty="0" err="1" smtClean="0">
                <a:solidFill>
                  <a:schemeClr val="bg1">
                    <a:lumMod val="95000"/>
                  </a:schemeClr>
                </a:solidFill>
              </a:rPr>
              <a:t>operasional</a:t>
            </a:r>
            <a:r>
              <a:rPr lang="en-US" dirty="0" smtClean="0">
                <a:solidFill>
                  <a:schemeClr val="bg1">
                    <a:lumMod val="95000"/>
                  </a:schemeClr>
                </a:solidFill>
              </a:rPr>
              <a:t> amplifier.</a:t>
            </a:r>
          </a:p>
          <a:p>
            <a:r>
              <a:rPr lang="en-US" u="sng" dirty="0" smtClean="0">
                <a:solidFill>
                  <a:schemeClr val="bg1">
                    <a:lumMod val="95000"/>
                  </a:schemeClr>
                </a:solidFill>
                <a:hlinkClick r:id="rId2"/>
              </a:rPr>
              <a:t>http://id.wikipedia.org/wiki/Berkas:Op-Amp_Comparator.svg</a:t>
            </a:r>
            <a:endParaRPr lang="en-US" dirty="0" smtClean="0">
              <a:solidFill>
                <a:schemeClr val="bg1">
                  <a:lumMod val="95000"/>
                </a:schemeClr>
              </a:solidFill>
            </a:endParaRPr>
          </a:p>
          <a:p>
            <a:r>
              <a:rPr lang="en-US" u="sng" dirty="0" smtClean="0">
                <a:solidFill>
                  <a:schemeClr val="bg1">
                    <a:lumMod val="95000"/>
                  </a:schemeClr>
                </a:solidFill>
                <a:hlinkClick r:id="rId3"/>
              </a:rPr>
              <a:t>http://www.electronics-tutorials.ws/opamp/opamp_4.html</a:t>
            </a:r>
            <a:r>
              <a:rPr lang="en-US" dirty="0" smtClean="0">
                <a:solidFill>
                  <a:schemeClr val="bg1">
                    <a:lumMod val="95000"/>
                  </a:schemeClr>
                </a:solidFill>
              </a:rPr>
              <a:t> </a:t>
            </a:r>
          </a:p>
          <a:p>
            <a:r>
              <a:rPr lang="en-US" sz="3200" dirty="0" err="1">
                <a:solidFill>
                  <a:schemeClr val="bg1">
                    <a:lumMod val="95000"/>
                  </a:schemeClr>
                </a:solidFill>
              </a:rPr>
              <a:t>Bahan</a:t>
            </a:r>
            <a:r>
              <a:rPr lang="en-US" sz="3200" dirty="0">
                <a:solidFill>
                  <a:schemeClr val="bg1">
                    <a:lumMod val="95000"/>
                  </a:schemeClr>
                </a:solidFill>
              </a:rPr>
              <a:t> Ajar </a:t>
            </a:r>
            <a:r>
              <a:rPr lang="en-US" sz="3200" dirty="0" err="1">
                <a:solidFill>
                  <a:schemeClr val="bg1">
                    <a:lumMod val="95000"/>
                  </a:schemeClr>
                </a:solidFill>
              </a:rPr>
              <a:t>Operasional</a:t>
            </a:r>
            <a:r>
              <a:rPr lang="en-US" sz="3200" dirty="0">
                <a:solidFill>
                  <a:schemeClr val="bg1">
                    <a:lumMod val="95000"/>
                  </a:schemeClr>
                </a:solidFill>
              </a:rPr>
              <a:t> Amplifier </a:t>
            </a:r>
            <a:r>
              <a:rPr lang="en-US" sz="3200" dirty="0" err="1">
                <a:solidFill>
                  <a:schemeClr val="bg1">
                    <a:lumMod val="95000"/>
                  </a:schemeClr>
                </a:solidFill>
              </a:rPr>
              <a:t>oleh</a:t>
            </a:r>
            <a:r>
              <a:rPr lang="en-US" sz="3200" dirty="0">
                <a:solidFill>
                  <a:schemeClr val="bg1">
                    <a:lumMod val="95000"/>
                  </a:schemeClr>
                </a:solidFill>
              </a:rPr>
              <a:t> Dr. </a:t>
            </a:r>
            <a:r>
              <a:rPr lang="en-US" sz="3200" dirty="0" err="1">
                <a:solidFill>
                  <a:schemeClr val="bg1">
                    <a:lumMod val="95000"/>
                  </a:schemeClr>
                </a:solidFill>
              </a:rPr>
              <a:t>Risanuri</a:t>
            </a:r>
            <a:r>
              <a:rPr lang="en-US" sz="3200" dirty="0">
                <a:solidFill>
                  <a:schemeClr val="bg1">
                    <a:lumMod val="95000"/>
                  </a:schemeClr>
                </a:solidFill>
              </a:rPr>
              <a:t> </a:t>
            </a:r>
            <a:r>
              <a:rPr lang="en-US" sz="3200" dirty="0" err="1">
                <a:solidFill>
                  <a:schemeClr val="bg1">
                    <a:lumMod val="95000"/>
                  </a:schemeClr>
                </a:solidFill>
              </a:rPr>
              <a:t>Hidayat</a:t>
            </a:r>
            <a:endParaRPr lang="en-US" sz="3200" dirty="0">
              <a:solidFill>
                <a:schemeClr val="bg1">
                  <a:lumMod val="95000"/>
                </a:schemeClr>
              </a:solidFill>
            </a:endParaRPr>
          </a:p>
          <a:p>
            <a:r>
              <a:rPr lang="en-US" sz="3200" dirty="0">
                <a:solidFill>
                  <a:schemeClr val="bg1">
                    <a:lumMod val="95000"/>
                  </a:schemeClr>
                </a:solidFill>
              </a:rPr>
              <a:t>http://josuru.blogspot.com/2009/06/pengertian-op-ampoperational-amplifier.html</a:t>
            </a:r>
          </a:p>
          <a:p>
            <a:r>
              <a:rPr lang="en-US" sz="3200" dirty="0">
                <a:solidFill>
                  <a:schemeClr val="bg1">
                    <a:lumMod val="95000"/>
                  </a:schemeClr>
                </a:solidFill>
              </a:rPr>
              <a:t>http://www.google.co.id/imgres?q=IC+OP-AMP+741&amp;um=1&amp;hl=id&amp;client=firefox-a&amp;sa=G&amp;rls=org.mozilla:en-US:official&amp;biw=1366&amp;bih=645&amp;tbm=isch&amp;tbnid=hrB_8kPECASzgM:&amp;imgrefurl=http://angrian.wordpress.com/2010/03/09/gambar-ic-741/&amp;docid=Z9XIb9282gipDM&amp;imgurl=http://angrian.files.wordpress.com/2010/03/ic741-op-amp-tr1.jpg&amp;w=129&amp;h=125&amp;ei=Tk1jT9joKcrLrQei59G9Bw&amp;zoom=1</a:t>
            </a:r>
          </a:p>
          <a:p>
            <a:r>
              <a:rPr lang="en-US" sz="3200" dirty="0">
                <a:solidFill>
                  <a:schemeClr val="bg1">
                    <a:lumMod val="95000"/>
                  </a:schemeClr>
                </a:solidFill>
              </a:rPr>
              <a:t>http://www.scribd.com/doc/51889770/13/Rangkaian-Integrator-dan-Diferensiator</a:t>
            </a:r>
          </a:p>
        </p:txBody>
      </p:sp>
      <p:sp>
        <p:nvSpPr>
          <p:cNvPr id="6" name="Slide Number Placeholder 5"/>
          <p:cNvSpPr>
            <a:spLocks noGrp="1"/>
          </p:cNvSpPr>
          <p:nvPr>
            <p:ph type="sldNum" sz="quarter" idx="11"/>
          </p:nvPr>
        </p:nvSpPr>
        <p:spPr/>
        <p:txBody>
          <a:bodyPr/>
          <a:lstStyle/>
          <a:p>
            <a:fld id="{201AEAA9-8C65-42A5-8C90-A2F54C079198}" type="slidenum">
              <a:rPr lang="en-US" smtClean="0"/>
              <a:pPr/>
              <a:t>43</a:t>
            </a:fld>
            <a:endParaRPr lang="en-US"/>
          </a:p>
        </p:txBody>
      </p:sp>
    </p:spTree>
    <p:extLst>
      <p:ext uri="{BB962C8B-B14F-4D97-AF65-F5344CB8AC3E}">
        <p14:creationId xmlns:p14="http://schemas.microsoft.com/office/powerpoint/2010/main" val="58530120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34708</TotalTime>
  <Words>1374</Words>
  <Application>Microsoft Office PowerPoint</Application>
  <PresentationFormat>Widescreen</PresentationFormat>
  <Paragraphs>221</Paragraphs>
  <Slides>43</Slides>
  <Notes>2</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2</vt:i4>
      </vt:variant>
      <vt:variant>
        <vt:lpstr>Slide Titles</vt:lpstr>
      </vt:variant>
      <vt:variant>
        <vt:i4>43</vt:i4>
      </vt:variant>
    </vt:vector>
  </HeadingPairs>
  <TitlesOfParts>
    <vt:vector size="54" baseType="lpstr">
      <vt:lpstr>맑은 고딕</vt:lpstr>
      <vt:lpstr>Arial</vt:lpstr>
      <vt:lpstr>Calibri</vt:lpstr>
      <vt:lpstr>Calibri Light</vt:lpstr>
      <vt:lpstr>Edwardian Script ITC</vt:lpstr>
      <vt:lpstr>Garamond</vt:lpstr>
      <vt:lpstr>Times New Roman</vt:lpstr>
      <vt:lpstr>Wingdings</vt:lpstr>
      <vt:lpstr>Office Theme</vt:lpstr>
      <vt:lpstr>Equation</vt:lpstr>
      <vt:lpstr>Image</vt:lpstr>
      <vt:lpstr>PowerPoint Presentation</vt:lpstr>
      <vt:lpstr>What is a OP-AMP?</vt:lpstr>
      <vt:lpstr>Operasional Amplifier (OP-AMP)</vt:lpstr>
      <vt:lpstr>Simbol</vt:lpstr>
      <vt:lpstr>Karakteristik</vt:lpstr>
      <vt:lpstr>Karakteristik</vt:lpstr>
      <vt:lpstr>Keluaran</vt:lpstr>
      <vt:lpstr>Operasi Kalang Terbuka</vt:lpstr>
      <vt:lpstr>Kalang Tertutup</vt:lpstr>
      <vt:lpstr>Virtual Short Virtual Ground</vt:lpstr>
      <vt:lpstr>Penguat Membalik ( Inverting OP-AMP)</vt:lpstr>
      <vt:lpstr>Penguat Membalik ( Inverting OP-AMP)</vt:lpstr>
      <vt:lpstr>Penguat Tak Membalik (Non-Inverting OP_AMP)</vt:lpstr>
      <vt:lpstr>Penguat Tak Membalik (Non-Inverting OP_AMP)</vt:lpstr>
      <vt:lpstr>Penguat Satuan (Voltage Follower)</vt:lpstr>
      <vt:lpstr>Penguat Penjumlah Membalik (Summing Amplifier di inverting) </vt:lpstr>
      <vt:lpstr>Penguat Penjumlah Membalik (Summing Amplifier di inverting) </vt:lpstr>
      <vt:lpstr>Penguat Penjumlah Membalik (Summing Amplifier di inverting) </vt:lpstr>
      <vt:lpstr>Penguat Penjumlah Tak Membalik (Summing Amplifier di non-Inverting)</vt:lpstr>
      <vt:lpstr>Penguat Pengurang (Differensial Amplifier)</vt:lpstr>
      <vt:lpstr>Penguat Pengurang (Differensial Amplifier)</vt:lpstr>
      <vt:lpstr>Integrator</vt:lpstr>
      <vt:lpstr>Practical Integrator</vt:lpstr>
      <vt:lpstr>Differensiator</vt:lpstr>
      <vt:lpstr>Contoh soal 1: </vt:lpstr>
      <vt:lpstr>Contoh soal 2: </vt:lpstr>
      <vt:lpstr>Contoh soal 3: </vt:lpstr>
      <vt:lpstr>Comparator</vt:lpstr>
      <vt:lpstr>Comparator</vt:lpstr>
      <vt:lpstr>Contoh soal4:</vt:lpstr>
      <vt:lpstr>Contoh soal5:</vt:lpstr>
      <vt:lpstr>Contoh soal6:</vt:lpstr>
      <vt:lpstr>Tugas</vt:lpstr>
      <vt:lpstr>Tugas</vt:lpstr>
      <vt:lpstr>Tugas</vt:lpstr>
      <vt:lpstr>Tugas</vt:lpstr>
      <vt:lpstr>Tugas</vt:lpstr>
      <vt:lpstr>Tugas</vt:lpstr>
      <vt:lpstr>Tugas</vt:lpstr>
      <vt:lpstr>Tugas</vt:lpstr>
      <vt:lpstr>Tugas</vt:lpstr>
      <vt:lpstr>PowerPoint Presentation</vt:lpstr>
      <vt:lpstr>Referensi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Fish Tracking, Counting, and Behaviour Analysis in Digital Aquaculture</dc:title>
  <dc:creator>pds</dc:creator>
  <cp:lastModifiedBy>Gde</cp:lastModifiedBy>
  <cp:revision>91</cp:revision>
  <dcterms:created xsi:type="dcterms:W3CDTF">2024-10-22T07:52:57Z</dcterms:created>
  <dcterms:modified xsi:type="dcterms:W3CDTF">2026-03-25T01:18:58Z</dcterms:modified>
</cp:coreProperties>
</file>