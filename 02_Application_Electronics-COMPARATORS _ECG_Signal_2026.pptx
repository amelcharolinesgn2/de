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64" r:id="rId2"/>
    <p:sldId id="280" r:id="rId3"/>
    <p:sldId id="281" r:id="rId4"/>
    <p:sldId id="282" r:id="rId5"/>
    <p:sldId id="283" r:id="rId6"/>
    <p:sldId id="284" r:id="rId7"/>
    <p:sldId id="285" r:id="rId8"/>
    <p:sldId id="286" r:id="rId9"/>
    <p:sldId id="287" r:id="rId10"/>
    <p:sldId id="288" r:id="rId11"/>
    <p:sldId id="289"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302" r:id="rId25"/>
    <p:sldId id="303" r:id="rId26"/>
    <p:sldId id="304" r:id="rId27"/>
    <p:sldId id="305" r:id="rId28"/>
    <p:sldId id="306" r:id="rId29"/>
    <p:sldId id="307" r:id="rId30"/>
    <p:sldId id="308" r:id="rId31"/>
    <p:sldId id="309" r:id="rId32"/>
    <p:sldId id="310" r:id="rId33"/>
    <p:sldId id="311" r:id="rId34"/>
    <p:sldId id="312" r:id="rId35"/>
    <p:sldId id="313" r:id="rId36"/>
    <p:sldId id="314" r:id="rId37"/>
    <p:sldId id="315" r:id="rId38"/>
    <p:sldId id="316" r:id="rId39"/>
    <p:sldId id="317" r:id="rId40"/>
    <p:sldId id="318" r:id="rId41"/>
    <p:sldId id="319" r:id="rId42"/>
    <p:sldId id="320" r:id="rId43"/>
    <p:sldId id="321" r:id="rId44"/>
    <p:sldId id="322" r:id="rId45"/>
    <p:sldId id="323" r:id="rId46"/>
    <p:sldId id="324" r:id="rId47"/>
    <p:sldId id="325" r:id="rId48"/>
    <p:sldId id="326" r:id="rId49"/>
    <p:sldId id="327" r:id="rId50"/>
    <p:sldId id="328" r:id="rId51"/>
    <p:sldId id="329" r:id="rId52"/>
    <p:sldId id="330" r:id="rId53"/>
    <p:sldId id="331" r:id="rId54"/>
    <p:sldId id="332" r:id="rId55"/>
    <p:sldId id="333" r:id="rId56"/>
    <p:sldId id="334" r:id="rId57"/>
    <p:sldId id="335" r:id="rId58"/>
    <p:sldId id="336" r:id="rId59"/>
    <p:sldId id="337" r:id="rId60"/>
    <p:sldId id="338" r:id="rId61"/>
    <p:sldId id="339" r:id="rId62"/>
    <p:sldId id="340" r:id="rId63"/>
    <p:sldId id="341" r:id="rId64"/>
    <p:sldId id="342" r:id="rId65"/>
    <p:sldId id="278"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59" autoAdjust="0"/>
    <p:restoredTop sz="72042" autoAdjust="0"/>
  </p:normalViewPr>
  <p:slideViewPr>
    <p:cSldViewPr snapToGrid="0">
      <p:cViewPr varScale="1">
        <p:scale>
          <a:sx n="59" d="100"/>
          <a:sy n="59" d="100"/>
        </p:scale>
        <p:origin x="10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10.2_Aplikasi:</a:t>
          </a:r>
          <a:r>
            <a:rPr lang="en-US" b="1" dirty="0" smtClean="0">
              <a:cs typeface="Calibri Light"/>
            </a:rPr>
            <a:t> COMPARATORS </a:t>
          </a:r>
          <a:r>
            <a:rPr lang="en-US" b="1" dirty="0" smtClean="0"/>
            <a:t>ELECTROCARDIOGRAM (ECG)</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simple5" qsCatId="simple" csTypeId="urn:microsoft.com/office/officeart/2005/8/colors/accent2_2" csCatId="accent2" phldr="1"/>
      <dgm:spPr/>
      <dgm:t>
        <a:bodyPr/>
        <a:lstStyle/>
        <a:p>
          <a:endParaRPr lang="en-US"/>
        </a:p>
      </dgm:t>
    </dgm:pt>
    <dgm:pt modelId="{D8FDBA16-E463-462A-B396-7080D4852B10}">
      <dgm:prSet/>
      <dgm:spPr/>
      <dgm:t>
        <a:bodyPr/>
        <a:lstStyle/>
        <a:p>
          <a:pPr rtl="0"/>
          <a:r>
            <a:rPr lang="en-US" b="1" dirty="0" smtClean="0"/>
            <a:t>ELECTROCARDIOGRAM (ECG)</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EDA63F-AE32-496E-8E66-E478F211F11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9EB0B8A-5C0B-4166-8D16-FF1997508029}">
      <dgm:prSet/>
      <dgm:spPr/>
      <dgm:t>
        <a:bodyPr/>
        <a:lstStyle/>
        <a:p>
          <a:pPr rtl="0"/>
          <a:r>
            <a:rPr lang="en-US" smtClean="0"/>
            <a:t>A technique of recording bioelectric currents generated by the heart.</a:t>
          </a:r>
          <a:endParaRPr lang="en-US"/>
        </a:p>
      </dgm:t>
    </dgm:pt>
    <dgm:pt modelId="{85E9C54F-EB0A-4593-AD16-6FBBD241A516}" type="parTrans" cxnId="{FE47C86F-31EE-444D-868C-3942651278EF}">
      <dgm:prSet/>
      <dgm:spPr/>
      <dgm:t>
        <a:bodyPr/>
        <a:lstStyle/>
        <a:p>
          <a:endParaRPr lang="en-US"/>
        </a:p>
      </dgm:t>
    </dgm:pt>
    <dgm:pt modelId="{FBDC01B1-6451-488A-AB5C-81E4036A2C0B}" type="sibTrans" cxnId="{FE47C86F-31EE-444D-868C-3942651278EF}">
      <dgm:prSet/>
      <dgm:spPr/>
      <dgm:t>
        <a:bodyPr/>
        <a:lstStyle/>
        <a:p>
          <a:endParaRPr lang="en-US"/>
        </a:p>
      </dgm:t>
    </dgm:pt>
    <dgm:pt modelId="{E2EE9108-CB9F-4090-97C5-EED3EEF35B2B}">
      <dgm:prSet/>
      <dgm:spPr/>
      <dgm:t>
        <a:bodyPr/>
        <a:lstStyle/>
        <a:p>
          <a:pPr rtl="0"/>
          <a:r>
            <a:rPr lang="en-US" smtClean="0"/>
            <a:t>It records any problems with the heart’s rhythm, and the conduction of the heart beat through the heart which may be affected by underlying heart disease.</a:t>
          </a:r>
          <a:endParaRPr lang="en-US"/>
        </a:p>
      </dgm:t>
    </dgm:pt>
    <dgm:pt modelId="{3AD462ED-5B28-4B8C-A354-A0ACDC20BC41}" type="parTrans" cxnId="{B477731B-D201-4772-8981-AEE0763B81EF}">
      <dgm:prSet/>
      <dgm:spPr/>
      <dgm:t>
        <a:bodyPr/>
        <a:lstStyle/>
        <a:p>
          <a:endParaRPr lang="en-US"/>
        </a:p>
      </dgm:t>
    </dgm:pt>
    <dgm:pt modelId="{BFC0B6D0-5F06-45B9-99AE-FF1FB6B84991}" type="sibTrans" cxnId="{B477731B-D201-4772-8981-AEE0763B81EF}">
      <dgm:prSet/>
      <dgm:spPr/>
      <dgm:t>
        <a:bodyPr/>
        <a:lstStyle/>
        <a:p>
          <a:endParaRPr lang="en-US"/>
        </a:p>
      </dgm:t>
    </dgm:pt>
    <dgm:pt modelId="{ADDF3CFF-6242-4682-91B6-375A33945DCF}" type="pres">
      <dgm:prSet presAssocID="{DCEDA63F-AE32-496E-8E66-E478F211F119}" presName="linear" presStyleCnt="0">
        <dgm:presLayoutVars>
          <dgm:animLvl val="lvl"/>
          <dgm:resizeHandles val="exact"/>
        </dgm:presLayoutVars>
      </dgm:prSet>
      <dgm:spPr/>
      <dgm:t>
        <a:bodyPr/>
        <a:lstStyle/>
        <a:p>
          <a:endParaRPr lang="en-US"/>
        </a:p>
      </dgm:t>
    </dgm:pt>
    <dgm:pt modelId="{87EA0E3D-AC2C-4105-AAED-0BE552074F8D}" type="pres">
      <dgm:prSet presAssocID="{99EB0B8A-5C0B-4166-8D16-FF1997508029}" presName="parentText" presStyleLbl="node1" presStyleIdx="0" presStyleCnt="2">
        <dgm:presLayoutVars>
          <dgm:chMax val="0"/>
          <dgm:bulletEnabled val="1"/>
        </dgm:presLayoutVars>
      </dgm:prSet>
      <dgm:spPr/>
      <dgm:t>
        <a:bodyPr/>
        <a:lstStyle/>
        <a:p>
          <a:endParaRPr lang="en-US"/>
        </a:p>
      </dgm:t>
    </dgm:pt>
    <dgm:pt modelId="{3A26F59D-90EA-449A-BD6C-168C145E424A}" type="pres">
      <dgm:prSet presAssocID="{FBDC01B1-6451-488A-AB5C-81E4036A2C0B}" presName="spacer" presStyleCnt="0"/>
      <dgm:spPr/>
    </dgm:pt>
    <dgm:pt modelId="{C0D7B1ED-ADD1-4981-923E-A7FC75C7C36C}" type="pres">
      <dgm:prSet presAssocID="{E2EE9108-CB9F-4090-97C5-EED3EEF35B2B}" presName="parentText" presStyleLbl="node1" presStyleIdx="1" presStyleCnt="2">
        <dgm:presLayoutVars>
          <dgm:chMax val="0"/>
          <dgm:bulletEnabled val="1"/>
        </dgm:presLayoutVars>
      </dgm:prSet>
      <dgm:spPr/>
      <dgm:t>
        <a:bodyPr/>
        <a:lstStyle/>
        <a:p>
          <a:endParaRPr lang="en-US"/>
        </a:p>
      </dgm:t>
    </dgm:pt>
  </dgm:ptLst>
  <dgm:cxnLst>
    <dgm:cxn modelId="{BC3ECBDC-9692-4769-BC82-CB1599B676F4}" type="presOf" srcId="{E2EE9108-CB9F-4090-97C5-EED3EEF35B2B}" destId="{C0D7B1ED-ADD1-4981-923E-A7FC75C7C36C}" srcOrd="0" destOrd="0" presId="urn:microsoft.com/office/officeart/2005/8/layout/vList2"/>
    <dgm:cxn modelId="{B477731B-D201-4772-8981-AEE0763B81EF}" srcId="{DCEDA63F-AE32-496E-8E66-E478F211F119}" destId="{E2EE9108-CB9F-4090-97C5-EED3EEF35B2B}" srcOrd="1" destOrd="0" parTransId="{3AD462ED-5B28-4B8C-A354-A0ACDC20BC41}" sibTransId="{BFC0B6D0-5F06-45B9-99AE-FF1FB6B84991}"/>
    <dgm:cxn modelId="{D22E0DD7-6C24-4714-8DE7-27CBB2BF7A68}" type="presOf" srcId="{99EB0B8A-5C0B-4166-8D16-FF1997508029}" destId="{87EA0E3D-AC2C-4105-AAED-0BE552074F8D}" srcOrd="0" destOrd="0" presId="urn:microsoft.com/office/officeart/2005/8/layout/vList2"/>
    <dgm:cxn modelId="{FE47C86F-31EE-444D-868C-3942651278EF}" srcId="{DCEDA63F-AE32-496E-8E66-E478F211F119}" destId="{99EB0B8A-5C0B-4166-8D16-FF1997508029}" srcOrd="0" destOrd="0" parTransId="{85E9C54F-EB0A-4593-AD16-6FBBD241A516}" sibTransId="{FBDC01B1-6451-488A-AB5C-81E4036A2C0B}"/>
    <dgm:cxn modelId="{19C28481-D504-414B-92E5-293CC27D1F03}" type="presOf" srcId="{DCEDA63F-AE32-496E-8E66-E478F211F119}" destId="{ADDF3CFF-6242-4682-91B6-375A33945DCF}" srcOrd="0" destOrd="0" presId="urn:microsoft.com/office/officeart/2005/8/layout/vList2"/>
    <dgm:cxn modelId="{EE1EB118-8BAD-475A-9921-BB47449209D7}" type="presParOf" srcId="{ADDF3CFF-6242-4682-91B6-375A33945DCF}" destId="{87EA0E3D-AC2C-4105-AAED-0BE552074F8D}" srcOrd="0" destOrd="0" presId="urn:microsoft.com/office/officeart/2005/8/layout/vList2"/>
    <dgm:cxn modelId="{9F42B58E-D154-4045-A230-E0199DE84FE6}" type="presParOf" srcId="{ADDF3CFF-6242-4682-91B6-375A33945DCF}" destId="{3A26F59D-90EA-449A-BD6C-168C145E424A}" srcOrd="1" destOrd="0" presId="urn:microsoft.com/office/officeart/2005/8/layout/vList2"/>
    <dgm:cxn modelId="{AC3E8BCA-A2AE-40C2-935E-D96BC4FF3B62}" type="presParOf" srcId="{ADDF3CFF-6242-4682-91B6-375A33945DCF}" destId="{C0D7B1ED-ADD1-4981-923E-A7FC75C7C36C}"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C2C87C6-70E3-43D9-92E0-9450B56B4DEF}"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B7477FE7-D162-4C45-AADC-CAD1E6A048E0}">
      <dgm:prSet/>
      <dgm:spPr/>
      <dgm:t>
        <a:bodyPr/>
        <a:lstStyle/>
        <a:p>
          <a:pPr rtl="0"/>
          <a:r>
            <a:rPr lang="en-US" smtClean="0"/>
            <a:t>Up to 12 self-adhesive electrodes will be attached to the selected locations on the skin(limbs and chest).</a:t>
          </a:r>
          <a:endParaRPr lang="en-US"/>
        </a:p>
      </dgm:t>
    </dgm:pt>
    <dgm:pt modelId="{1215119E-B686-45F5-B543-277C594ACC6D}" type="parTrans" cxnId="{B4C22A00-0C69-4816-84A8-9C64DCD561CB}">
      <dgm:prSet/>
      <dgm:spPr/>
      <dgm:t>
        <a:bodyPr/>
        <a:lstStyle/>
        <a:p>
          <a:endParaRPr lang="en-US"/>
        </a:p>
      </dgm:t>
    </dgm:pt>
    <dgm:pt modelId="{4E71599F-420A-43B3-81F3-0AEE6DEF0E60}" type="sibTrans" cxnId="{B4C22A00-0C69-4816-84A8-9C64DCD561CB}">
      <dgm:prSet/>
      <dgm:spPr/>
      <dgm:t>
        <a:bodyPr/>
        <a:lstStyle/>
        <a:p>
          <a:endParaRPr lang="en-US"/>
        </a:p>
      </dgm:t>
    </dgm:pt>
    <dgm:pt modelId="{C5982743-AAA8-4C46-8CD3-ACACD2D0B022}">
      <dgm:prSet/>
      <dgm:spPr/>
      <dgm:t>
        <a:bodyPr/>
        <a:lstStyle/>
        <a:p>
          <a:pPr rtl="0"/>
          <a:r>
            <a:rPr lang="en-US" dirty="0" smtClean="0"/>
            <a:t>At rest, across the cell </a:t>
          </a:r>
          <a:r>
            <a:rPr lang="en-US" dirty="0" err="1" smtClean="0"/>
            <a:t>membrane,each</a:t>
          </a:r>
          <a:r>
            <a:rPr lang="en-US" dirty="0" smtClean="0"/>
            <a:t> heart muscle has a negative charge, called the membrane potential.</a:t>
          </a:r>
          <a:endParaRPr lang="en-US" dirty="0"/>
        </a:p>
      </dgm:t>
    </dgm:pt>
    <dgm:pt modelId="{70263221-4F7C-4FEE-992B-A0A786B810AE}" type="parTrans" cxnId="{70DF50DD-137E-40B3-8994-B82110DB87B5}">
      <dgm:prSet/>
      <dgm:spPr/>
      <dgm:t>
        <a:bodyPr/>
        <a:lstStyle/>
        <a:p>
          <a:endParaRPr lang="en-US"/>
        </a:p>
      </dgm:t>
    </dgm:pt>
    <dgm:pt modelId="{E08C0EE4-7846-49D8-A41F-C5AB410F2981}" type="sibTrans" cxnId="{70DF50DD-137E-40B3-8994-B82110DB87B5}">
      <dgm:prSet/>
      <dgm:spPr/>
      <dgm:t>
        <a:bodyPr/>
        <a:lstStyle/>
        <a:p>
          <a:endParaRPr lang="en-US"/>
        </a:p>
      </dgm:t>
    </dgm:pt>
    <dgm:pt modelId="{FD1B55F2-1414-4ECA-9FB5-E923EE514A5B}">
      <dgm:prSet/>
      <dgm:spPr/>
      <dgm:t>
        <a:bodyPr/>
        <a:lstStyle/>
        <a:p>
          <a:pPr rtl="0"/>
          <a:r>
            <a:rPr lang="en-US" smtClean="0"/>
            <a:t>Decreasing this negative charge towards zero, via influx of the +ve cations, Na+ and Ca++,is called depolarisation, which activates the mechanisms in the cell that cause it to contract.</a:t>
          </a:r>
          <a:endParaRPr lang="en-US"/>
        </a:p>
      </dgm:t>
    </dgm:pt>
    <dgm:pt modelId="{627E284C-BCEC-4E0C-AEB3-FCFDA59552DD}" type="parTrans" cxnId="{E36EB36E-41F1-4267-A1A4-D51A23AD5957}">
      <dgm:prSet/>
      <dgm:spPr/>
      <dgm:t>
        <a:bodyPr/>
        <a:lstStyle/>
        <a:p>
          <a:endParaRPr lang="en-US"/>
        </a:p>
      </dgm:t>
    </dgm:pt>
    <dgm:pt modelId="{7BFAE3E4-6DA0-4FEB-A8B9-D4F6F50B3783}" type="sibTrans" cxnId="{E36EB36E-41F1-4267-A1A4-D51A23AD5957}">
      <dgm:prSet/>
      <dgm:spPr/>
      <dgm:t>
        <a:bodyPr/>
        <a:lstStyle/>
        <a:p>
          <a:endParaRPr lang="en-US"/>
        </a:p>
      </dgm:t>
    </dgm:pt>
    <dgm:pt modelId="{05D59D54-016A-4CDB-89C9-41291F2B09ED}">
      <dgm:prSet/>
      <dgm:spPr/>
      <dgm:t>
        <a:bodyPr/>
        <a:lstStyle/>
        <a:p>
          <a:pPr rtl="0"/>
          <a:r>
            <a:rPr lang="en-US" dirty="0" smtClean="0"/>
            <a:t>A healthy heart will have an orderly progression of a wave of </a:t>
          </a:r>
          <a:r>
            <a:rPr lang="en-US" dirty="0" err="1" smtClean="0"/>
            <a:t>depolarisation,during</a:t>
          </a:r>
          <a:r>
            <a:rPr lang="en-US" dirty="0" smtClean="0"/>
            <a:t> each heart beat.</a:t>
          </a:r>
          <a:endParaRPr lang="en-US" dirty="0"/>
        </a:p>
      </dgm:t>
    </dgm:pt>
    <dgm:pt modelId="{D27A8C0E-02D9-4A0F-847A-E1B8EA263C18}" type="parTrans" cxnId="{831D9DEC-DB6F-40FC-94E8-F11FAB9371A6}">
      <dgm:prSet/>
      <dgm:spPr/>
      <dgm:t>
        <a:bodyPr/>
        <a:lstStyle/>
        <a:p>
          <a:endParaRPr lang="en-US"/>
        </a:p>
      </dgm:t>
    </dgm:pt>
    <dgm:pt modelId="{141EC503-ECDB-47E7-B65B-BE0CC962D362}" type="sibTrans" cxnId="{831D9DEC-DB6F-40FC-94E8-F11FAB9371A6}">
      <dgm:prSet/>
      <dgm:spPr/>
      <dgm:t>
        <a:bodyPr/>
        <a:lstStyle/>
        <a:p>
          <a:endParaRPr lang="en-US"/>
        </a:p>
      </dgm:t>
    </dgm:pt>
    <dgm:pt modelId="{A1D81D8A-A407-4582-8BB2-4B5D23CD64AE}">
      <dgm:prSet/>
      <dgm:spPr/>
      <dgm:t>
        <a:bodyPr/>
        <a:lstStyle/>
        <a:p>
          <a:pPr rtl="0"/>
          <a:r>
            <a:rPr lang="en-US" dirty="0" smtClean="0"/>
            <a:t>This is detected as tiny rises and falls in the voltage between two electrodes placed on either side of the heart which is displayed as a wavy line either on a screen or on paper.</a:t>
          </a:r>
          <a:endParaRPr lang="en-US" dirty="0"/>
        </a:p>
      </dgm:t>
    </dgm:pt>
    <dgm:pt modelId="{80F55B8E-5FFF-4BDE-8143-E363665221A8}" type="parTrans" cxnId="{793E99E7-A2E5-4EAE-8FA9-7E9B765B640E}">
      <dgm:prSet/>
      <dgm:spPr/>
      <dgm:t>
        <a:bodyPr/>
        <a:lstStyle/>
        <a:p>
          <a:endParaRPr lang="en-US"/>
        </a:p>
      </dgm:t>
    </dgm:pt>
    <dgm:pt modelId="{69E3EAF2-1544-474F-8FEB-C8D331C2B941}" type="sibTrans" cxnId="{793E99E7-A2E5-4EAE-8FA9-7E9B765B640E}">
      <dgm:prSet/>
      <dgm:spPr/>
      <dgm:t>
        <a:bodyPr/>
        <a:lstStyle/>
        <a:p>
          <a:endParaRPr lang="en-US"/>
        </a:p>
      </dgm:t>
    </dgm:pt>
    <dgm:pt modelId="{F4BA24F8-3823-49B3-8EA3-02C2FD6A29D1}">
      <dgm:prSet/>
      <dgm:spPr/>
      <dgm:t>
        <a:bodyPr/>
        <a:lstStyle/>
        <a:p>
          <a:pPr rtl="0"/>
          <a:r>
            <a:rPr lang="en-US" smtClean="0"/>
            <a:t>This display indicates the overall rhythm of the heart and weaknesses in different parts of the heart muscle.</a:t>
          </a:r>
          <a:endParaRPr lang="en-US"/>
        </a:p>
      </dgm:t>
    </dgm:pt>
    <dgm:pt modelId="{60B6947C-0753-4B71-9214-F2DB5CFC32CC}" type="parTrans" cxnId="{0901808C-6040-408D-ACAB-071346B6AF4B}">
      <dgm:prSet/>
      <dgm:spPr/>
      <dgm:t>
        <a:bodyPr/>
        <a:lstStyle/>
        <a:p>
          <a:endParaRPr lang="en-US"/>
        </a:p>
      </dgm:t>
    </dgm:pt>
    <dgm:pt modelId="{0B4CBB76-B36D-4E8C-8E94-ACA779367898}" type="sibTrans" cxnId="{0901808C-6040-408D-ACAB-071346B6AF4B}">
      <dgm:prSet/>
      <dgm:spPr/>
      <dgm:t>
        <a:bodyPr/>
        <a:lstStyle/>
        <a:p>
          <a:endParaRPr lang="en-US"/>
        </a:p>
      </dgm:t>
    </dgm:pt>
    <dgm:pt modelId="{D613D4FD-B1A2-4EBE-9D39-FF5E266FF5CB}" type="pres">
      <dgm:prSet presAssocID="{7C2C87C6-70E3-43D9-92E0-9450B56B4DEF}" presName="linear" presStyleCnt="0">
        <dgm:presLayoutVars>
          <dgm:animLvl val="lvl"/>
          <dgm:resizeHandles val="exact"/>
        </dgm:presLayoutVars>
      </dgm:prSet>
      <dgm:spPr/>
      <dgm:t>
        <a:bodyPr/>
        <a:lstStyle/>
        <a:p>
          <a:endParaRPr lang="en-US"/>
        </a:p>
      </dgm:t>
    </dgm:pt>
    <dgm:pt modelId="{76377427-DB8A-4A2B-8B03-EB24218B46ED}" type="pres">
      <dgm:prSet presAssocID="{B7477FE7-D162-4C45-AADC-CAD1E6A048E0}" presName="parentText" presStyleLbl="node1" presStyleIdx="0" presStyleCnt="6">
        <dgm:presLayoutVars>
          <dgm:chMax val="0"/>
          <dgm:bulletEnabled val="1"/>
        </dgm:presLayoutVars>
      </dgm:prSet>
      <dgm:spPr/>
      <dgm:t>
        <a:bodyPr/>
        <a:lstStyle/>
        <a:p>
          <a:endParaRPr lang="en-US"/>
        </a:p>
      </dgm:t>
    </dgm:pt>
    <dgm:pt modelId="{F102A58D-A2F7-46BC-9A10-64067F23CD32}" type="pres">
      <dgm:prSet presAssocID="{4E71599F-420A-43B3-81F3-0AEE6DEF0E60}" presName="spacer" presStyleCnt="0"/>
      <dgm:spPr/>
    </dgm:pt>
    <dgm:pt modelId="{0EB75B34-DFB7-41F0-B185-355C7FE9A772}" type="pres">
      <dgm:prSet presAssocID="{C5982743-AAA8-4C46-8CD3-ACACD2D0B022}" presName="parentText" presStyleLbl="node1" presStyleIdx="1" presStyleCnt="6">
        <dgm:presLayoutVars>
          <dgm:chMax val="0"/>
          <dgm:bulletEnabled val="1"/>
        </dgm:presLayoutVars>
      </dgm:prSet>
      <dgm:spPr/>
      <dgm:t>
        <a:bodyPr/>
        <a:lstStyle/>
        <a:p>
          <a:endParaRPr lang="en-US"/>
        </a:p>
      </dgm:t>
    </dgm:pt>
    <dgm:pt modelId="{1A580D60-FE5B-4D5C-A6DD-46C652119CE4}" type="pres">
      <dgm:prSet presAssocID="{E08C0EE4-7846-49D8-A41F-C5AB410F2981}" presName="spacer" presStyleCnt="0"/>
      <dgm:spPr/>
    </dgm:pt>
    <dgm:pt modelId="{9BDC6D87-AC53-4729-A603-3C90EA3414C5}" type="pres">
      <dgm:prSet presAssocID="{FD1B55F2-1414-4ECA-9FB5-E923EE514A5B}" presName="parentText" presStyleLbl="node1" presStyleIdx="2" presStyleCnt="6">
        <dgm:presLayoutVars>
          <dgm:chMax val="0"/>
          <dgm:bulletEnabled val="1"/>
        </dgm:presLayoutVars>
      </dgm:prSet>
      <dgm:spPr/>
      <dgm:t>
        <a:bodyPr/>
        <a:lstStyle/>
        <a:p>
          <a:endParaRPr lang="en-US"/>
        </a:p>
      </dgm:t>
    </dgm:pt>
    <dgm:pt modelId="{09378BE7-2AF5-448C-A71A-31BE0F1095DE}" type="pres">
      <dgm:prSet presAssocID="{7BFAE3E4-6DA0-4FEB-A8B9-D4F6F50B3783}" presName="spacer" presStyleCnt="0"/>
      <dgm:spPr/>
    </dgm:pt>
    <dgm:pt modelId="{F33BE31C-31FC-47D7-AF28-00E0C658FA7B}" type="pres">
      <dgm:prSet presAssocID="{05D59D54-016A-4CDB-89C9-41291F2B09ED}" presName="parentText" presStyleLbl="node1" presStyleIdx="3" presStyleCnt="6">
        <dgm:presLayoutVars>
          <dgm:chMax val="0"/>
          <dgm:bulletEnabled val="1"/>
        </dgm:presLayoutVars>
      </dgm:prSet>
      <dgm:spPr/>
      <dgm:t>
        <a:bodyPr/>
        <a:lstStyle/>
        <a:p>
          <a:endParaRPr lang="en-US"/>
        </a:p>
      </dgm:t>
    </dgm:pt>
    <dgm:pt modelId="{B5860820-E5B8-4DF5-8146-EF5F9D86A6F8}" type="pres">
      <dgm:prSet presAssocID="{141EC503-ECDB-47E7-B65B-BE0CC962D362}" presName="spacer" presStyleCnt="0"/>
      <dgm:spPr/>
    </dgm:pt>
    <dgm:pt modelId="{346B08ED-62A3-4110-A7BC-7FD60C655A5B}" type="pres">
      <dgm:prSet presAssocID="{A1D81D8A-A407-4582-8BB2-4B5D23CD64AE}" presName="parentText" presStyleLbl="node1" presStyleIdx="4" presStyleCnt="6">
        <dgm:presLayoutVars>
          <dgm:chMax val="0"/>
          <dgm:bulletEnabled val="1"/>
        </dgm:presLayoutVars>
      </dgm:prSet>
      <dgm:spPr/>
      <dgm:t>
        <a:bodyPr/>
        <a:lstStyle/>
        <a:p>
          <a:endParaRPr lang="en-US"/>
        </a:p>
      </dgm:t>
    </dgm:pt>
    <dgm:pt modelId="{210D14A0-9DB5-4DF4-8A2E-89219748DC7A}" type="pres">
      <dgm:prSet presAssocID="{69E3EAF2-1544-474F-8FEB-C8D331C2B941}" presName="spacer" presStyleCnt="0"/>
      <dgm:spPr/>
    </dgm:pt>
    <dgm:pt modelId="{9430DAE9-BA32-49FC-A0FF-781B43E827B0}" type="pres">
      <dgm:prSet presAssocID="{F4BA24F8-3823-49B3-8EA3-02C2FD6A29D1}" presName="parentText" presStyleLbl="node1" presStyleIdx="5" presStyleCnt="6">
        <dgm:presLayoutVars>
          <dgm:chMax val="0"/>
          <dgm:bulletEnabled val="1"/>
        </dgm:presLayoutVars>
      </dgm:prSet>
      <dgm:spPr/>
      <dgm:t>
        <a:bodyPr/>
        <a:lstStyle/>
        <a:p>
          <a:endParaRPr lang="en-US"/>
        </a:p>
      </dgm:t>
    </dgm:pt>
  </dgm:ptLst>
  <dgm:cxnLst>
    <dgm:cxn modelId="{5000DB86-2CC5-4EE4-97F4-3B4F3D3782C4}" type="presOf" srcId="{B7477FE7-D162-4C45-AADC-CAD1E6A048E0}" destId="{76377427-DB8A-4A2B-8B03-EB24218B46ED}" srcOrd="0" destOrd="0" presId="urn:microsoft.com/office/officeart/2005/8/layout/vList2"/>
    <dgm:cxn modelId="{B69E2125-C885-428A-93A2-8F76B73A092B}" type="presOf" srcId="{C5982743-AAA8-4C46-8CD3-ACACD2D0B022}" destId="{0EB75B34-DFB7-41F0-B185-355C7FE9A772}" srcOrd="0" destOrd="0" presId="urn:microsoft.com/office/officeart/2005/8/layout/vList2"/>
    <dgm:cxn modelId="{E36EB36E-41F1-4267-A1A4-D51A23AD5957}" srcId="{7C2C87C6-70E3-43D9-92E0-9450B56B4DEF}" destId="{FD1B55F2-1414-4ECA-9FB5-E923EE514A5B}" srcOrd="2" destOrd="0" parTransId="{627E284C-BCEC-4E0C-AEB3-FCFDA59552DD}" sibTransId="{7BFAE3E4-6DA0-4FEB-A8B9-D4F6F50B3783}"/>
    <dgm:cxn modelId="{8F20D92B-9380-4ED2-85A0-8C8664D820D5}" type="presOf" srcId="{05D59D54-016A-4CDB-89C9-41291F2B09ED}" destId="{F33BE31C-31FC-47D7-AF28-00E0C658FA7B}" srcOrd="0" destOrd="0" presId="urn:microsoft.com/office/officeart/2005/8/layout/vList2"/>
    <dgm:cxn modelId="{70DF50DD-137E-40B3-8994-B82110DB87B5}" srcId="{7C2C87C6-70E3-43D9-92E0-9450B56B4DEF}" destId="{C5982743-AAA8-4C46-8CD3-ACACD2D0B022}" srcOrd="1" destOrd="0" parTransId="{70263221-4F7C-4FEE-992B-A0A786B810AE}" sibTransId="{E08C0EE4-7846-49D8-A41F-C5AB410F2981}"/>
    <dgm:cxn modelId="{4D839DA2-7780-495E-9F0A-F52477E379AB}" type="presOf" srcId="{7C2C87C6-70E3-43D9-92E0-9450B56B4DEF}" destId="{D613D4FD-B1A2-4EBE-9D39-FF5E266FF5CB}" srcOrd="0" destOrd="0" presId="urn:microsoft.com/office/officeart/2005/8/layout/vList2"/>
    <dgm:cxn modelId="{25BCAAA3-2740-438A-B8DC-8A36CF7C61BD}" type="presOf" srcId="{FD1B55F2-1414-4ECA-9FB5-E923EE514A5B}" destId="{9BDC6D87-AC53-4729-A603-3C90EA3414C5}" srcOrd="0" destOrd="0" presId="urn:microsoft.com/office/officeart/2005/8/layout/vList2"/>
    <dgm:cxn modelId="{831D9DEC-DB6F-40FC-94E8-F11FAB9371A6}" srcId="{7C2C87C6-70E3-43D9-92E0-9450B56B4DEF}" destId="{05D59D54-016A-4CDB-89C9-41291F2B09ED}" srcOrd="3" destOrd="0" parTransId="{D27A8C0E-02D9-4A0F-847A-E1B8EA263C18}" sibTransId="{141EC503-ECDB-47E7-B65B-BE0CC962D362}"/>
    <dgm:cxn modelId="{793E99E7-A2E5-4EAE-8FA9-7E9B765B640E}" srcId="{7C2C87C6-70E3-43D9-92E0-9450B56B4DEF}" destId="{A1D81D8A-A407-4582-8BB2-4B5D23CD64AE}" srcOrd="4" destOrd="0" parTransId="{80F55B8E-5FFF-4BDE-8143-E363665221A8}" sibTransId="{69E3EAF2-1544-474F-8FEB-C8D331C2B941}"/>
    <dgm:cxn modelId="{B4C22A00-0C69-4816-84A8-9C64DCD561CB}" srcId="{7C2C87C6-70E3-43D9-92E0-9450B56B4DEF}" destId="{B7477FE7-D162-4C45-AADC-CAD1E6A048E0}" srcOrd="0" destOrd="0" parTransId="{1215119E-B686-45F5-B543-277C594ACC6D}" sibTransId="{4E71599F-420A-43B3-81F3-0AEE6DEF0E60}"/>
    <dgm:cxn modelId="{E00223FA-02CF-43CB-A70B-50B022D6A85E}" type="presOf" srcId="{F4BA24F8-3823-49B3-8EA3-02C2FD6A29D1}" destId="{9430DAE9-BA32-49FC-A0FF-781B43E827B0}" srcOrd="0" destOrd="0" presId="urn:microsoft.com/office/officeart/2005/8/layout/vList2"/>
    <dgm:cxn modelId="{0901808C-6040-408D-ACAB-071346B6AF4B}" srcId="{7C2C87C6-70E3-43D9-92E0-9450B56B4DEF}" destId="{F4BA24F8-3823-49B3-8EA3-02C2FD6A29D1}" srcOrd="5" destOrd="0" parTransId="{60B6947C-0753-4B71-9214-F2DB5CFC32CC}" sibTransId="{0B4CBB76-B36D-4E8C-8E94-ACA779367898}"/>
    <dgm:cxn modelId="{B3D5968A-9851-49CB-9D7D-715A8A83EA84}" type="presOf" srcId="{A1D81D8A-A407-4582-8BB2-4B5D23CD64AE}" destId="{346B08ED-62A3-4110-A7BC-7FD60C655A5B}" srcOrd="0" destOrd="0" presId="urn:microsoft.com/office/officeart/2005/8/layout/vList2"/>
    <dgm:cxn modelId="{21E481AC-E926-40A1-9A2F-208252B8D4AC}" type="presParOf" srcId="{D613D4FD-B1A2-4EBE-9D39-FF5E266FF5CB}" destId="{76377427-DB8A-4A2B-8B03-EB24218B46ED}" srcOrd="0" destOrd="0" presId="urn:microsoft.com/office/officeart/2005/8/layout/vList2"/>
    <dgm:cxn modelId="{0B01217C-21E0-4272-9348-3FC6B09A60EF}" type="presParOf" srcId="{D613D4FD-B1A2-4EBE-9D39-FF5E266FF5CB}" destId="{F102A58D-A2F7-46BC-9A10-64067F23CD32}" srcOrd="1" destOrd="0" presId="urn:microsoft.com/office/officeart/2005/8/layout/vList2"/>
    <dgm:cxn modelId="{684B75F4-6E67-4341-B5DC-54208265D098}" type="presParOf" srcId="{D613D4FD-B1A2-4EBE-9D39-FF5E266FF5CB}" destId="{0EB75B34-DFB7-41F0-B185-355C7FE9A772}" srcOrd="2" destOrd="0" presId="urn:microsoft.com/office/officeart/2005/8/layout/vList2"/>
    <dgm:cxn modelId="{ABDCA733-3D67-4839-94FE-721BB8CF237F}" type="presParOf" srcId="{D613D4FD-B1A2-4EBE-9D39-FF5E266FF5CB}" destId="{1A580D60-FE5B-4D5C-A6DD-46C652119CE4}" srcOrd="3" destOrd="0" presId="urn:microsoft.com/office/officeart/2005/8/layout/vList2"/>
    <dgm:cxn modelId="{DC95CE18-5733-4BBE-B6B5-2E191B93DD1A}" type="presParOf" srcId="{D613D4FD-B1A2-4EBE-9D39-FF5E266FF5CB}" destId="{9BDC6D87-AC53-4729-A603-3C90EA3414C5}" srcOrd="4" destOrd="0" presId="urn:microsoft.com/office/officeart/2005/8/layout/vList2"/>
    <dgm:cxn modelId="{C8322613-3580-4FE5-B4A2-682EDC1F79FC}" type="presParOf" srcId="{D613D4FD-B1A2-4EBE-9D39-FF5E266FF5CB}" destId="{09378BE7-2AF5-448C-A71A-31BE0F1095DE}" srcOrd="5" destOrd="0" presId="urn:microsoft.com/office/officeart/2005/8/layout/vList2"/>
    <dgm:cxn modelId="{A7C8DC4B-3108-46CD-A3F9-2943A3AD2520}" type="presParOf" srcId="{D613D4FD-B1A2-4EBE-9D39-FF5E266FF5CB}" destId="{F33BE31C-31FC-47D7-AF28-00E0C658FA7B}" srcOrd="6" destOrd="0" presId="urn:microsoft.com/office/officeart/2005/8/layout/vList2"/>
    <dgm:cxn modelId="{E361F68E-8276-4BFC-8E8A-2A02541D5847}" type="presParOf" srcId="{D613D4FD-B1A2-4EBE-9D39-FF5E266FF5CB}" destId="{B5860820-E5B8-4DF5-8146-EF5F9D86A6F8}" srcOrd="7" destOrd="0" presId="urn:microsoft.com/office/officeart/2005/8/layout/vList2"/>
    <dgm:cxn modelId="{3B090662-7BC0-45E1-8B1B-DA18264745FE}" type="presParOf" srcId="{D613D4FD-B1A2-4EBE-9D39-FF5E266FF5CB}" destId="{346B08ED-62A3-4110-A7BC-7FD60C655A5B}" srcOrd="8" destOrd="0" presId="urn:microsoft.com/office/officeart/2005/8/layout/vList2"/>
    <dgm:cxn modelId="{FABA9108-58EB-4284-99DD-746CD7DB1A01}" type="presParOf" srcId="{D613D4FD-B1A2-4EBE-9D39-FF5E266FF5CB}" destId="{210D14A0-9DB5-4DF4-8A2E-89219748DC7A}" srcOrd="9" destOrd="0" presId="urn:microsoft.com/office/officeart/2005/8/layout/vList2"/>
    <dgm:cxn modelId="{D3CF9BF3-8A7D-4557-850D-CDCA297C71BA}" type="presParOf" srcId="{D613D4FD-B1A2-4EBE-9D39-FF5E266FF5CB}" destId="{9430DAE9-BA32-49FC-A0FF-781B43E827B0}"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96ACCAF-E2CE-49A6-A6D7-BBC8FD757BD9}"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FB2FC836-6934-4582-8582-B03C5C65D3FB}">
      <dgm:prSet/>
      <dgm:spPr/>
      <dgm:t>
        <a:bodyPr/>
        <a:lstStyle/>
        <a:p>
          <a:pPr rtl="0"/>
          <a:r>
            <a:rPr lang="en-US" dirty="0" smtClean="0"/>
            <a:t>-The ECG signal consists of low amplitude voltages in the presence of high amplitude offsets and  noise.</a:t>
          </a:r>
          <a:endParaRPr lang="en-US" dirty="0"/>
        </a:p>
      </dgm:t>
    </dgm:pt>
    <dgm:pt modelId="{C47A55CF-0A54-40EF-B97F-DFE955836C46}" type="parTrans" cxnId="{C03D7829-9EB0-4FC7-8838-0EEC50EAAC84}">
      <dgm:prSet/>
      <dgm:spPr/>
      <dgm:t>
        <a:bodyPr/>
        <a:lstStyle/>
        <a:p>
          <a:endParaRPr lang="en-US"/>
        </a:p>
      </dgm:t>
    </dgm:pt>
    <dgm:pt modelId="{651ADBFA-972F-46D7-BC6E-0D13622092E2}" type="sibTrans" cxnId="{C03D7829-9EB0-4FC7-8838-0EEC50EAAC84}">
      <dgm:prSet/>
      <dgm:spPr/>
      <dgm:t>
        <a:bodyPr/>
        <a:lstStyle/>
        <a:p>
          <a:endParaRPr lang="en-US"/>
        </a:p>
      </dgm:t>
    </dgm:pt>
    <dgm:pt modelId="{F5329E9C-0B37-4624-868D-D7DA9B2067A9}">
      <dgm:prSet/>
      <dgm:spPr/>
      <dgm:t>
        <a:bodyPr/>
        <a:lstStyle/>
        <a:p>
          <a:pPr rtl="0"/>
          <a:r>
            <a:rPr lang="en-US" dirty="0" smtClean="0"/>
            <a:t>-The large offsets present in the system are due to </a:t>
          </a:r>
          <a:r>
            <a:rPr lang="en-US" dirty="0" err="1" smtClean="0"/>
            <a:t>halfcell</a:t>
          </a:r>
          <a:r>
            <a:rPr lang="en-US" dirty="0" smtClean="0"/>
            <a:t> potential developed at the electrodes.</a:t>
          </a:r>
          <a:endParaRPr lang="en-US" dirty="0"/>
        </a:p>
      </dgm:t>
    </dgm:pt>
    <dgm:pt modelId="{FD7B0222-CB19-4A2D-8545-2C3468E9FCA1}" type="parTrans" cxnId="{B00F5DE6-179A-4636-8EFA-C3BACEE05E87}">
      <dgm:prSet/>
      <dgm:spPr/>
      <dgm:t>
        <a:bodyPr/>
        <a:lstStyle/>
        <a:p>
          <a:endParaRPr lang="en-US"/>
        </a:p>
      </dgm:t>
    </dgm:pt>
    <dgm:pt modelId="{CC162AC7-E16B-4685-805B-27F368D91F5F}" type="sibTrans" cxnId="{B00F5DE6-179A-4636-8EFA-C3BACEE05E87}">
      <dgm:prSet/>
      <dgm:spPr/>
      <dgm:t>
        <a:bodyPr/>
        <a:lstStyle/>
        <a:p>
          <a:endParaRPr lang="en-US"/>
        </a:p>
      </dgm:t>
    </dgm:pt>
    <dgm:pt modelId="{AD957B2A-1034-4523-8C24-E1766713A240}">
      <dgm:prSet/>
      <dgm:spPr/>
      <dgm:t>
        <a:bodyPr/>
        <a:lstStyle/>
        <a:p>
          <a:pPr rtl="0"/>
          <a:r>
            <a:rPr lang="en-US" smtClean="0"/>
            <a:t>-Ag/AgCl(Silver-silverchloride) is the common electrode used in ECG systems and has a maximum offset voltage of  +/- 300 mV.</a:t>
          </a:r>
          <a:endParaRPr lang="en-US"/>
        </a:p>
      </dgm:t>
    </dgm:pt>
    <dgm:pt modelId="{560877A8-D868-4D16-9422-BEC91486AA82}" type="parTrans" cxnId="{39EC4584-0826-48DE-ABE1-F90FC8923175}">
      <dgm:prSet/>
      <dgm:spPr/>
      <dgm:t>
        <a:bodyPr/>
        <a:lstStyle/>
        <a:p>
          <a:endParaRPr lang="en-US"/>
        </a:p>
      </dgm:t>
    </dgm:pt>
    <dgm:pt modelId="{9B6C1D08-73AD-4B42-93B4-31C8BB4A4F1B}" type="sibTrans" cxnId="{39EC4584-0826-48DE-ABE1-F90FC8923175}">
      <dgm:prSet/>
      <dgm:spPr/>
      <dgm:t>
        <a:bodyPr/>
        <a:lstStyle/>
        <a:p>
          <a:endParaRPr lang="en-US"/>
        </a:p>
      </dgm:t>
    </dgm:pt>
    <dgm:pt modelId="{9D0B3449-4619-4006-BE35-53D2C7117D95}">
      <dgm:prSet/>
      <dgm:spPr/>
      <dgm:t>
        <a:bodyPr/>
        <a:lstStyle/>
        <a:p>
          <a:pPr rtl="0"/>
          <a:r>
            <a:rPr lang="en-US" smtClean="0"/>
            <a:t>-The actual desired signal is +/- 0.5 mV superimposed on the electrode offset.</a:t>
          </a:r>
          <a:endParaRPr lang="en-US"/>
        </a:p>
      </dgm:t>
    </dgm:pt>
    <dgm:pt modelId="{6DD7A83E-1C02-4E72-BEC0-733D2158B17D}" type="parTrans" cxnId="{EE1460C5-C284-4A4F-A615-53B7FB71BC14}">
      <dgm:prSet/>
      <dgm:spPr/>
      <dgm:t>
        <a:bodyPr/>
        <a:lstStyle/>
        <a:p>
          <a:endParaRPr lang="en-US"/>
        </a:p>
      </dgm:t>
    </dgm:pt>
    <dgm:pt modelId="{247C0D47-52C1-4900-B5F3-CC2B56E5B75B}" type="sibTrans" cxnId="{EE1460C5-C284-4A4F-A615-53B7FB71BC14}">
      <dgm:prSet/>
      <dgm:spPr/>
      <dgm:t>
        <a:bodyPr/>
        <a:lstStyle/>
        <a:p>
          <a:endParaRPr lang="en-US"/>
        </a:p>
      </dgm:t>
    </dgm:pt>
    <dgm:pt modelId="{0C4A5E34-BDB9-4438-89DF-CC6F9BB34259}">
      <dgm:prSet/>
      <dgm:spPr/>
      <dgm:t>
        <a:bodyPr/>
        <a:lstStyle/>
        <a:p>
          <a:pPr rtl="0"/>
          <a:r>
            <a:rPr lang="en-US" smtClean="0"/>
            <a:t>-In addition, the system also picks up the 50/60 Hz noise from the power lines which forms the common mode signal.</a:t>
          </a:r>
          <a:endParaRPr lang="en-US"/>
        </a:p>
      </dgm:t>
    </dgm:pt>
    <dgm:pt modelId="{8A457071-6259-4F32-BD62-FFFB3756379C}" type="parTrans" cxnId="{64AC115C-8BFF-4E18-8CE5-4F0A8952FFB7}">
      <dgm:prSet/>
      <dgm:spPr/>
      <dgm:t>
        <a:bodyPr/>
        <a:lstStyle/>
        <a:p>
          <a:endParaRPr lang="en-US"/>
        </a:p>
      </dgm:t>
    </dgm:pt>
    <dgm:pt modelId="{01594F29-3506-4730-B409-6F7D6E074A6E}" type="sibTrans" cxnId="{64AC115C-8BFF-4E18-8CE5-4F0A8952FFB7}">
      <dgm:prSet/>
      <dgm:spPr/>
      <dgm:t>
        <a:bodyPr/>
        <a:lstStyle/>
        <a:p>
          <a:endParaRPr lang="en-US"/>
        </a:p>
      </dgm:t>
    </dgm:pt>
    <dgm:pt modelId="{F0EB9C28-50E5-4BD6-ABAB-0C65DDD1DB78}">
      <dgm:prSet/>
      <dgm:spPr/>
      <dgm:t>
        <a:bodyPr/>
        <a:lstStyle/>
        <a:p>
          <a:pPr rtl="0"/>
          <a:r>
            <a:rPr lang="en-US" dirty="0" smtClean="0"/>
            <a:t>-The amplitude of the power line noise may be very high . So, it has to be filtered. </a:t>
          </a:r>
          <a:endParaRPr lang="en-US" dirty="0"/>
        </a:p>
      </dgm:t>
    </dgm:pt>
    <dgm:pt modelId="{92A6FCB1-B8CE-4F51-BDC7-121F07274DC0}" type="parTrans" cxnId="{910F6092-02F5-4620-B710-D06086B66483}">
      <dgm:prSet/>
      <dgm:spPr/>
      <dgm:t>
        <a:bodyPr/>
        <a:lstStyle/>
        <a:p>
          <a:endParaRPr lang="en-US"/>
        </a:p>
      </dgm:t>
    </dgm:pt>
    <dgm:pt modelId="{EA13E188-FB96-4603-867C-D8C595F82F87}" type="sibTrans" cxnId="{910F6092-02F5-4620-B710-D06086B66483}">
      <dgm:prSet/>
      <dgm:spPr/>
      <dgm:t>
        <a:bodyPr/>
        <a:lstStyle/>
        <a:p>
          <a:endParaRPr lang="en-US"/>
        </a:p>
      </dgm:t>
    </dgm:pt>
    <dgm:pt modelId="{BDD3FD8A-83F2-4810-BFA8-1530DB42DA8E}" type="pres">
      <dgm:prSet presAssocID="{196ACCAF-E2CE-49A6-A6D7-BBC8FD757BD9}" presName="linear" presStyleCnt="0">
        <dgm:presLayoutVars>
          <dgm:animLvl val="lvl"/>
          <dgm:resizeHandles val="exact"/>
        </dgm:presLayoutVars>
      </dgm:prSet>
      <dgm:spPr/>
      <dgm:t>
        <a:bodyPr/>
        <a:lstStyle/>
        <a:p>
          <a:endParaRPr lang="en-US"/>
        </a:p>
      </dgm:t>
    </dgm:pt>
    <dgm:pt modelId="{3421D1D7-FC99-4305-A9B5-80E1C20ED8DE}" type="pres">
      <dgm:prSet presAssocID="{FB2FC836-6934-4582-8582-B03C5C65D3FB}" presName="parentText" presStyleLbl="node1" presStyleIdx="0" presStyleCnt="6">
        <dgm:presLayoutVars>
          <dgm:chMax val="0"/>
          <dgm:bulletEnabled val="1"/>
        </dgm:presLayoutVars>
      </dgm:prSet>
      <dgm:spPr/>
      <dgm:t>
        <a:bodyPr/>
        <a:lstStyle/>
        <a:p>
          <a:endParaRPr lang="en-US"/>
        </a:p>
      </dgm:t>
    </dgm:pt>
    <dgm:pt modelId="{A58857E3-22ED-4EB1-9C57-3D57989836C7}" type="pres">
      <dgm:prSet presAssocID="{651ADBFA-972F-46D7-BC6E-0D13622092E2}" presName="spacer" presStyleCnt="0"/>
      <dgm:spPr/>
    </dgm:pt>
    <dgm:pt modelId="{812263AC-04D2-49D3-A476-23FAE51CD148}" type="pres">
      <dgm:prSet presAssocID="{F5329E9C-0B37-4624-868D-D7DA9B2067A9}" presName="parentText" presStyleLbl="node1" presStyleIdx="1" presStyleCnt="6">
        <dgm:presLayoutVars>
          <dgm:chMax val="0"/>
          <dgm:bulletEnabled val="1"/>
        </dgm:presLayoutVars>
      </dgm:prSet>
      <dgm:spPr/>
      <dgm:t>
        <a:bodyPr/>
        <a:lstStyle/>
        <a:p>
          <a:endParaRPr lang="en-US"/>
        </a:p>
      </dgm:t>
    </dgm:pt>
    <dgm:pt modelId="{31C01E29-4A90-4467-A345-F196F00FD69E}" type="pres">
      <dgm:prSet presAssocID="{CC162AC7-E16B-4685-805B-27F368D91F5F}" presName="spacer" presStyleCnt="0"/>
      <dgm:spPr/>
    </dgm:pt>
    <dgm:pt modelId="{AC682CC5-66DF-4132-A378-BF082EF94B6C}" type="pres">
      <dgm:prSet presAssocID="{AD957B2A-1034-4523-8C24-E1766713A240}" presName="parentText" presStyleLbl="node1" presStyleIdx="2" presStyleCnt="6">
        <dgm:presLayoutVars>
          <dgm:chMax val="0"/>
          <dgm:bulletEnabled val="1"/>
        </dgm:presLayoutVars>
      </dgm:prSet>
      <dgm:spPr/>
      <dgm:t>
        <a:bodyPr/>
        <a:lstStyle/>
        <a:p>
          <a:endParaRPr lang="en-US"/>
        </a:p>
      </dgm:t>
    </dgm:pt>
    <dgm:pt modelId="{FE317DCA-7E87-4EB0-AAC9-8EB36D40CB94}" type="pres">
      <dgm:prSet presAssocID="{9B6C1D08-73AD-4B42-93B4-31C8BB4A4F1B}" presName="spacer" presStyleCnt="0"/>
      <dgm:spPr/>
    </dgm:pt>
    <dgm:pt modelId="{84DE1C47-31C9-4006-95D3-C2F3765883A5}" type="pres">
      <dgm:prSet presAssocID="{9D0B3449-4619-4006-BE35-53D2C7117D95}" presName="parentText" presStyleLbl="node1" presStyleIdx="3" presStyleCnt="6">
        <dgm:presLayoutVars>
          <dgm:chMax val="0"/>
          <dgm:bulletEnabled val="1"/>
        </dgm:presLayoutVars>
      </dgm:prSet>
      <dgm:spPr/>
      <dgm:t>
        <a:bodyPr/>
        <a:lstStyle/>
        <a:p>
          <a:endParaRPr lang="en-US"/>
        </a:p>
      </dgm:t>
    </dgm:pt>
    <dgm:pt modelId="{F0481454-1FE4-4342-A61F-52DD1BB76ABF}" type="pres">
      <dgm:prSet presAssocID="{247C0D47-52C1-4900-B5F3-CC2B56E5B75B}" presName="spacer" presStyleCnt="0"/>
      <dgm:spPr/>
    </dgm:pt>
    <dgm:pt modelId="{CDAD82C7-1DBB-4DD5-A713-4925C56AD2BB}" type="pres">
      <dgm:prSet presAssocID="{0C4A5E34-BDB9-4438-89DF-CC6F9BB34259}" presName="parentText" presStyleLbl="node1" presStyleIdx="4" presStyleCnt="6">
        <dgm:presLayoutVars>
          <dgm:chMax val="0"/>
          <dgm:bulletEnabled val="1"/>
        </dgm:presLayoutVars>
      </dgm:prSet>
      <dgm:spPr/>
      <dgm:t>
        <a:bodyPr/>
        <a:lstStyle/>
        <a:p>
          <a:endParaRPr lang="en-US"/>
        </a:p>
      </dgm:t>
    </dgm:pt>
    <dgm:pt modelId="{61E0D75E-F489-4DAA-B0FF-40207FB7FCC0}" type="pres">
      <dgm:prSet presAssocID="{01594F29-3506-4730-B409-6F7D6E074A6E}" presName="spacer" presStyleCnt="0"/>
      <dgm:spPr/>
    </dgm:pt>
    <dgm:pt modelId="{DBB61A7D-971E-4F0A-99CE-D1FF4CA310A8}" type="pres">
      <dgm:prSet presAssocID="{F0EB9C28-50E5-4BD6-ABAB-0C65DDD1DB78}" presName="parentText" presStyleLbl="node1" presStyleIdx="5" presStyleCnt="6">
        <dgm:presLayoutVars>
          <dgm:chMax val="0"/>
          <dgm:bulletEnabled val="1"/>
        </dgm:presLayoutVars>
      </dgm:prSet>
      <dgm:spPr/>
      <dgm:t>
        <a:bodyPr/>
        <a:lstStyle/>
        <a:p>
          <a:endParaRPr lang="en-US"/>
        </a:p>
      </dgm:t>
    </dgm:pt>
  </dgm:ptLst>
  <dgm:cxnLst>
    <dgm:cxn modelId="{A84436EA-62E6-4D3D-B2D3-E690DD0C7D62}" type="presOf" srcId="{AD957B2A-1034-4523-8C24-E1766713A240}" destId="{AC682CC5-66DF-4132-A378-BF082EF94B6C}" srcOrd="0" destOrd="0" presId="urn:microsoft.com/office/officeart/2005/8/layout/vList2"/>
    <dgm:cxn modelId="{DDFA48B8-8C97-459F-B310-ABAA2600656F}" type="presOf" srcId="{F5329E9C-0B37-4624-868D-D7DA9B2067A9}" destId="{812263AC-04D2-49D3-A476-23FAE51CD148}" srcOrd="0" destOrd="0" presId="urn:microsoft.com/office/officeart/2005/8/layout/vList2"/>
    <dgm:cxn modelId="{39EC4584-0826-48DE-ABE1-F90FC8923175}" srcId="{196ACCAF-E2CE-49A6-A6D7-BBC8FD757BD9}" destId="{AD957B2A-1034-4523-8C24-E1766713A240}" srcOrd="2" destOrd="0" parTransId="{560877A8-D868-4D16-9422-BEC91486AA82}" sibTransId="{9B6C1D08-73AD-4B42-93B4-31C8BB4A4F1B}"/>
    <dgm:cxn modelId="{C03D7829-9EB0-4FC7-8838-0EEC50EAAC84}" srcId="{196ACCAF-E2CE-49A6-A6D7-BBC8FD757BD9}" destId="{FB2FC836-6934-4582-8582-B03C5C65D3FB}" srcOrd="0" destOrd="0" parTransId="{C47A55CF-0A54-40EF-B97F-DFE955836C46}" sibTransId="{651ADBFA-972F-46D7-BC6E-0D13622092E2}"/>
    <dgm:cxn modelId="{910F6092-02F5-4620-B710-D06086B66483}" srcId="{196ACCAF-E2CE-49A6-A6D7-BBC8FD757BD9}" destId="{F0EB9C28-50E5-4BD6-ABAB-0C65DDD1DB78}" srcOrd="5" destOrd="0" parTransId="{92A6FCB1-B8CE-4F51-BDC7-121F07274DC0}" sibTransId="{EA13E188-FB96-4603-867C-D8C595F82F87}"/>
    <dgm:cxn modelId="{E47842F8-97FA-41F3-85E1-359790059306}" type="presOf" srcId="{196ACCAF-E2CE-49A6-A6D7-BBC8FD757BD9}" destId="{BDD3FD8A-83F2-4810-BFA8-1530DB42DA8E}" srcOrd="0" destOrd="0" presId="urn:microsoft.com/office/officeart/2005/8/layout/vList2"/>
    <dgm:cxn modelId="{1E482229-18E0-476D-B319-0794312F0F89}" type="presOf" srcId="{9D0B3449-4619-4006-BE35-53D2C7117D95}" destId="{84DE1C47-31C9-4006-95D3-C2F3765883A5}" srcOrd="0" destOrd="0" presId="urn:microsoft.com/office/officeart/2005/8/layout/vList2"/>
    <dgm:cxn modelId="{F9CE8ADD-BFBA-457C-8EC9-3C08C74A0E87}" type="presOf" srcId="{0C4A5E34-BDB9-4438-89DF-CC6F9BB34259}" destId="{CDAD82C7-1DBB-4DD5-A713-4925C56AD2BB}" srcOrd="0" destOrd="0" presId="urn:microsoft.com/office/officeart/2005/8/layout/vList2"/>
    <dgm:cxn modelId="{45FECF15-9084-4684-94E8-5E460934D224}" type="presOf" srcId="{FB2FC836-6934-4582-8582-B03C5C65D3FB}" destId="{3421D1D7-FC99-4305-A9B5-80E1C20ED8DE}" srcOrd="0" destOrd="0" presId="urn:microsoft.com/office/officeart/2005/8/layout/vList2"/>
    <dgm:cxn modelId="{B00F5DE6-179A-4636-8EFA-C3BACEE05E87}" srcId="{196ACCAF-E2CE-49A6-A6D7-BBC8FD757BD9}" destId="{F5329E9C-0B37-4624-868D-D7DA9B2067A9}" srcOrd="1" destOrd="0" parTransId="{FD7B0222-CB19-4A2D-8545-2C3468E9FCA1}" sibTransId="{CC162AC7-E16B-4685-805B-27F368D91F5F}"/>
    <dgm:cxn modelId="{EE1460C5-C284-4A4F-A615-53B7FB71BC14}" srcId="{196ACCAF-E2CE-49A6-A6D7-BBC8FD757BD9}" destId="{9D0B3449-4619-4006-BE35-53D2C7117D95}" srcOrd="3" destOrd="0" parTransId="{6DD7A83E-1C02-4E72-BEC0-733D2158B17D}" sibTransId="{247C0D47-52C1-4900-B5F3-CC2B56E5B75B}"/>
    <dgm:cxn modelId="{64AC115C-8BFF-4E18-8CE5-4F0A8952FFB7}" srcId="{196ACCAF-E2CE-49A6-A6D7-BBC8FD757BD9}" destId="{0C4A5E34-BDB9-4438-89DF-CC6F9BB34259}" srcOrd="4" destOrd="0" parTransId="{8A457071-6259-4F32-BD62-FFFB3756379C}" sibTransId="{01594F29-3506-4730-B409-6F7D6E074A6E}"/>
    <dgm:cxn modelId="{0EB165C9-BFB2-47F7-9955-637D0CD45D3D}" type="presOf" srcId="{F0EB9C28-50E5-4BD6-ABAB-0C65DDD1DB78}" destId="{DBB61A7D-971E-4F0A-99CE-D1FF4CA310A8}" srcOrd="0" destOrd="0" presId="urn:microsoft.com/office/officeart/2005/8/layout/vList2"/>
    <dgm:cxn modelId="{F747013A-B2CB-484F-8E2E-F2C9C765F0EC}" type="presParOf" srcId="{BDD3FD8A-83F2-4810-BFA8-1530DB42DA8E}" destId="{3421D1D7-FC99-4305-A9B5-80E1C20ED8DE}" srcOrd="0" destOrd="0" presId="urn:microsoft.com/office/officeart/2005/8/layout/vList2"/>
    <dgm:cxn modelId="{2DE93263-2A0C-49D9-A6A4-035E9D3770D3}" type="presParOf" srcId="{BDD3FD8A-83F2-4810-BFA8-1530DB42DA8E}" destId="{A58857E3-22ED-4EB1-9C57-3D57989836C7}" srcOrd="1" destOrd="0" presId="urn:microsoft.com/office/officeart/2005/8/layout/vList2"/>
    <dgm:cxn modelId="{D517EE07-37A3-4496-8930-CA96353AFE9C}" type="presParOf" srcId="{BDD3FD8A-83F2-4810-BFA8-1530DB42DA8E}" destId="{812263AC-04D2-49D3-A476-23FAE51CD148}" srcOrd="2" destOrd="0" presId="urn:microsoft.com/office/officeart/2005/8/layout/vList2"/>
    <dgm:cxn modelId="{72008B56-BCF3-47B7-85E7-1E7F21A518C9}" type="presParOf" srcId="{BDD3FD8A-83F2-4810-BFA8-1530DB42DA8E}" destId="{31C01E29-4A90-4467-A345-F196F00FD69E}" srcOrd="3" destOrd="0" presId="urn:microsoft.com/office/officeart/2005/8/layout/vList2"/>
    <dgm:cxn modelId="{F8BA738F-CB12-405F-BA09-22282111D866}" type="presParOf" srcId="{BDD3FD8A-83F2-4810-BFA8-1530DB42DA8E}" destId="{AC682CC5-66DF-4132-A378-BF082EF94B6C}" srcOrd="4" destOrd="0" presId="urn:microsoft.com/office/officeart/2005/8/layout/vList2"/>
    <dgm:cxn modelId="{880B0374-43B7-473B-B82A-F67CE2E0733E}" type="presParOf" srcId="{BDD3FD8A-83F2-4810-BFA8-1530DB42DA8E}" destId="{FE317DCA-7E87-4EB0-AAC9-8EB36D40CB94}" srcOrd="5" destOrd="0" presId="urn:microsoft.com/office/officeart/2005/8/layout/vList2"/>
    <dgm:cxn modelId="{45685C7F-796E-45E8-9BF4-8313C3ECA461}" type="presParOf" srcId="{BDD3FD8A-83F2-4810-BFA8-1530DB42DA8E}" destId="{84DE1C47-31C9-4006-95D3-C2F3765883A5}" srcOrd="6" destOrd="0" presId="urn:microsoft.com/office/officeart/2005/8/layout/vList2"/>
    <dgm:cxn modelId="{295082AB-45BB-4B8A-A81A-526B14A16EC4}" type="presParOf" srcId="{BDD3FD8A-83F2-4810-BFA8-1530DB42DA8E}" destId="{F0481454-1FE4-4342-A61F-52DD1BB76ABF}" srcOrd="7" destOrd="0" presId="urn:microsoft.com/office/officeart/2005/8/layout/vList2"/>
    <dgm:cxn modelId="{FE370E43-52F3-495D-ABBF-28BE5AE78C01}" type="presParOf" srcId="{BDD3FD8A-83F2-4810-BFA8-1530DB42DA8E}" destId="{CDAD82C7-1DBB-4DD5-A713-4925C56AD2BB}" srcOrd="8" destOrd="0" presId="urn:microsoft.com/office/officeart/2005/8/layout/vList2"/>
    <dgm:cxn modelId="{964922F0-3BE2-41F1-80CD-5C3238D655E8}" type="presParOf" srcId="{BDD3FD8A-83F2-4810-BFA8-1530DB42DA8E}" destId="{61E0D75E-F489-4DAA-B0FF-40207FB7FCC0}" srcOrd="9" destOrd="0" presId="urn:microsoft.com/office/officeart/2005/8/layout/vList2"/>
    <dgm:cxn modelId="{D85957A5-8FDA-43B5-B52F-703D8C9C0F5D}" type="presParOf" srcId="{BDD3FD8A-83F2-4810-BFA8-1530DB42DA8E}" destId="{DBB61A7D-971E-4F0A-99CE-D1FF4CA310A8}"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1DCBA0B-356C-4C0A-A3FC-6433C0ECFA9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6A03FA4D-DAFC-4C8B-A9B5-2B1121D70325}">
      <dgm:prSet/>
      <dgm:spPr/>
      <dgm:t>
        <a:bodyPr/>
        <a:lstStyle/>
        <a:p>
          <a:pPr rtl="0"/>
          <a:r>
            <a:rPr lang="en-US" smtClean="0"/>
            <a:t>-Analog front-end processing forms an important part of the ECG system since it needs to distinguish noise and the desired signal which is of small amplitude.</a:t>
          </a:r>
          <a:endParaRPr lang="en-US"/>
        </a:p>
      </dgm:t>
    </dgm:pt>
    <dgm:pt modelId="{DE300A13-572D-46BF-85AF-9A873DB03279}" type="parTrans" cxnId="{71EFD165-9FF3-4DCF-8E02-1A4A421947E4}">
      <dgm:prSet/>
      <dgm:spPr/>
      <dgm:t>
        <a:bodyPr/>
        <a:lstStyle/>
        <a:p>
          <a:endParaRPr lang="en-US"/>
        </a:p>
      </dgm:t>
    </dgm:pt>
    <dgm:pt modelId="{E6642521-C89C-4364-88B8-2E61A069621B}" type="sibTrans" cxnId="{71EFD165-9FF3-4DCF-8E02-1A4A421947E4}">
      <dgm:prSet/>
      <dgm:spPr/>
      <dgm:t>
        <a:bodyPr/>
        <a:lstStyle/>
        <a:p>
          <a:endParaRPr lang="en-US"/>
        </a:p>
      </dgm:t>
    </dgm:pt>
    <dgm:pt modelId="{D7B938D2-D9D9-4CF7-B37F-391693C22E9F}">
      <dgm:prSet/>
      <dgm:spPr/>
      <dgm:t>
        <a:bodyPr/>
        <a:lstStyle/>
        <a:p>
          <a:pPr rtl="0"/>
          <a:r>
            <a:rPr lang="en-US" smtClean="0"/>
            <a:t>-The front end processing circuitry consists of an instrumentation amplifier which reduces the common mode signal.</a:t>
          </a:r>
          <a:endParaRPr lang="en-US"/>
        </a:p>
      </dgm:t>
    </dgm:pt>
    <dgm:pt modelId="{F8C80384-19A6-45C9-96C4-22F67FE332A7}" type="parTrans" cxnId="{D89746CE-A9C4-48F3-B1C4-C59BBBA1D394}">
      <dgm:prSet/>
      <dgm:spPr/>
      <dgm:t>
        <a:bodyPr/>
        <a:lstStyle/>
        <a:p>
          <a:endParaRPr lang="en-US"/>
        </a:p>
      </dgm:t>
    </dgm:pt>
    <dgm:pt modelId="{C35ED155-54A9-49D4-B27B-3F73669EC706}" type="sibTrans" cxnId="{D89746CE-A9C4-48F3-B1C4-C59BBBA1D394}">
      <dgm:prSet/>
      <dgm:spPr/>
      <dgm:t>
        <a:bodyPr/>
        <a:lstStyle/>
        <a:p>
          <a:endParaRPr lang="en-US"/>
        </a:p>
      </dgm:t>
    </dgm:pt>
    <dgm:pt modelId="{A4D18AFC-B288-409F-993B-D8A5D2E40452}">
      <dgm:prSet/>
      <dgm:spPr/>
      <dgm:t>
        <a:bodyPr/>
        <a:lstStyle/>
        <a:p>
          <a:pPr rtl="0"/>
          <a:r>
            <a:rPr lang="en-US" dirty="0" smtClean="0"/>
            <a:t>-Instrumentation amplifiers that operate on +/- 5V are commonly used to take advantage of the large input voltage range.</a:t>
          </a:r>
          <a:endParaRPr lang="en-US" dirty="0"/>
        </a:p>
      </dgm:t>
    </dgm:pt>
    <dgm:pt modelId="{12EC0A34-C90B-4B66-BE0E-9DD30BFC3D37}" type="parTrans" cxnId="{90D7E1B1-4C2E-4F2A-8CC0-AB8E65DC054C}">
      <dgm:prSet/>
      <dgm:spPr/>
      <dgm:t>
        <a:bodyPr/>
        <a:lstStyle/>
        <a:p>
          <a:endParaRPr lang="en-US"/>
        </a:p>
      </dgm:t>
    </dgm:pt>
    <dgm:pt modelId="{BC4044F8-87A5-4A62-9254-C49C7537EFA5}" type="sibTrans" cxnId="{90D7E1B1-4C2E-4F2A-8CC0-AB8E65DC054C}">
      <dgm:prSet/>
      <dgm:spPr/>
      <dgm:t>
        <a:bodyPr/>
        <a:lstStyle/>
        <a:p>
          <a:endParaRPr lang="en-US"/>
        </a:p>
      </dgm:t>
    </dgm:pt>
    <dgm:pt modelId="{E21CD0C8-74EA-4E05-9843-E09F1595E368}">
      <dgm:prSet/>
      <dgm:spPr/>
      <dgm:t>
        <a:bodyPr/>
        <a:lstStyle/>
        <a:p>
          <a:pPr rtl="0"/>
          <a:r>
            <a:rPr lang="en-US" smtClean="0"/>
            <a:t>-The instrumentation amplifiers should have high input impedance since the skin resistance could be very large.</a:t>
          </a:r>
          <a:endParaRPr lang="en-US"/>
        </a:p>
      </dgm:t>
    </dgm:pt>
    <dgm:pt modelId="{07239571-AAEB-45E0-A9AB-028B985375D7}" type="parTrans" cxnId="{F6576524-1312-4FCA-AF19-13BC39620DDA}">
      <dgm:prSet/>
      <dgm:spPr/>
      <dgm:t>
        <a:bodyPr/>
        <a:lstStyle/>
        <a:p>
          <a:endParaRPr lang="en-US"/>
        </a:p>
      </dgm:t>
    </dgm:pt>
    <dgm:pt modelId="{EE1B2CFF-0F39-4E79-AF3A-C360A15A0384}" type="sibTrans" cxnId="{F6576524-1312-4FCA-AF19-13BC39620DDA}">
      <dgm:prSet/>
      <dgm:spPr/>
      <dgm:t>
        <a:bodyPr/>
        <a:lstStyle/>
        <a:p>
          <a:endParaRPr lang="en-US"/>
        </a:p>
      </dgm:t>
    </dgm:pt>
    <dgm:pt modelId="{9DD8A993-355C-4E50-918B-D8418C907577}">
      <dgm:prSet/>
      <dgm:spPr/>
      <dgm:t>
        <a:bodyPr/>
        <a:lstStyle/>
        <a:p>
          <a:pPr rtl="0"/>
          <a:r>
            <a:rPr lang="en-US" smtClean="0"/>
            <a:t>-Operational amplifiers are needed for signal conditioning for the ECG device.</a:t>
          </a:r>
          <a:endParaRPr lang="en-US"/>
        </a:p>
      </dgm:t>
    </dgm:pt>
    <dgm:pt modelId="{C79251F0-29C0-4627-B61D-7739A24C2C06}" type="parTrans" cxnId="{A61EE9F5-B667-4732-863A-E3A8F25E386A}">
      <dgm:prSet/>
      <dgm:spPr/>
      <dgm:t>
        <a:bodyPr/>
        <a:lstStyle/>
        <a:p>
          <a:endParaRPr lang="en-US"/>
        </a:p>
      </dgm:t>
    </dgm:pt>
    <dgm:pt modelId="{F3C4CA86-FCA7-4AE8-8ED5-907119166BC3}" type="sibTrans" cxnId="{A61EE9F5-B667-4732-863A-E3A8F25E386A}">
      <dgm:prSet/>
      <dgm:spPr/>
      <dgm:t>
        <a:bodyPr/>
        <a:lstStyle/>
        <a:p>
          <a:endParaRPr lang="en-US"/>
        </a:p>
      </dgm:t>
    </dgm:pt>
    <dgm:pt modelId="{3A1EF3DC-381A-461A-A9C9-332A6AAA971D}">
      <dgm:prSet/>
      <dgm:spPr/>
      <dgm:t>
        <a:bodyPr/>
        <a:lstStyle/>
        <a:p>
          <a:pPr rtl="0"/>
          <a:r>
            <a:rPr lang="en-US" smtClean="0"/>
            <a:t>-The signal chain for the acquisition system consists of instrumentation amplifiers, filters implemented through op-amps, and ACD s.</a:t>
          </a:r>
          <a:endParaRPr lang="en-US"/>
        </a:p>
      </dgm:t>
    </dgm:pt>
    <dgm:pt modelId="{F4CF6F50-978D-42F4-9B06-6A34772BFBBD}" type="parTrans" cxnId="{1490AF33-E47C-49F5-B80E-67A222259118}">
      <dgm:prSet/>
      <dgm:spPr/>
      <dgm:t>
        <a:bodyPr/>
        <a:lstStyle/>
        <a:p>
          <a:endParaRPr lang="en-US"/>
        </a:p>
      </dgm:t>
    </dgm:pt>
    <dgm:pt modelId="{E894A43F-948E-400C-AE37-5B1D3CA0978B}" type="sibTrans" cxnId="{1490AF33-E47C-49F5-B80E-67A222259118}">
      <dgm:prSet/>
      <dgm:spPr/>
      <dgm:t>
        <a:bodyPr/>
        <a:lstStyle/>
        <a:p>
          <a:endParaRPr lang="en-US"/>
        </a:p>
      </dgm:t>
    </dgm:pt>
    <dgm:pt modelId="{D6259234-EEF9-4774-B0CD-889DDBBD6D2A}" type="pres">
      <dgm:prSet presAssocID="{F1DCBA0B-356C-4C0A-A3FC-6433C0ECFA9B}" presName="linear" presStyleCnt="0">
        <dgm:presLayoutVars>
          <dgm:animLvl val="lvl"/>
          <dgm:resizeHandles val="exact"/>
        </dgm:presLayoutVars>
      </dgm:prSet>
      <dgm:spPr/>
      <dgm:t>
        <a:bodyPr/>
        <a:lstStyle/>
        <a:p>
          <a:endParaRPr lang="en-US"/>
        </a:p>
      </dgm:t>
    </dgm:pt>
    <dgm:pt modelId="{7184C925-B911-449B-BEAE-324D9C07C3D1}" type="pres">
      <dgm:prSet presAssocID="{6A03FA4D-DAFC-4C8B-A9B5-2B1121D70325}" presName="parentText" presStyleLbl="node1" presStyleIdx="0" presStyleCnt="6">
        <dgm:presLayoutVars>
          <dgm:chMax val="0"/>
          <dgm:bulletEnabled val="1"/>
        </dgm:presLayoutVars>
      </dgm:prSet>
      <dgm:spPr/>
      <dgm:t>
        <a:bodyPr/>
        <a:lstStyle/>
        <a:p>
          <a:endParaRPr lang="en-US"/>
        </a:p>
      </dgm:t>
    </dgm:pt>
    <dgm:pt modelId="{47CD1011-7091-4C5C-89B6-7DC0EEEBA226}" type="pres">
      <dgm:prSet presAssocID="{E6642521-C89C-4364-88B8-2E61A069621B}" presName="spacer" presStyleCnt="0"/>
      <dgm:spPr/>
    </dgm:pt>
    <dgm:pt modelId="{D8E02B4F-C77B-44E8-A478-B82EBC78571B}" type="pres">
      <dgm:prSet presAssocID="{D7B938D2-D9D9-4CF7-B37F-391693C22E9F}" presName="parentText" presStyleLbl="node1" presStyleIdx="1" presStyleCnt="6">
        <dgm:presLayoutVars>
          <dgm:chMax val="0"/>
          <dgm:bulletEnabled val="1"/>
        </dgm:presLayoutVars>
      </dgm:prSet>
      <dgm:spPr/>
      <dgm:t>
        <a:bodyPr/>
        <a:lstStyle/>
        <a:p>
          <a:endParaRPr lang="en-US"/>
        </a:p>
      </dgm:t>
    </dgm:pt>
    <dgm:pt modelId="{9CEA62CD-1E65-474D-A884-E3564E3A775B}" type="pres">
      <dgm:prSet presAssocID="{C35ED155-54A9-49D4-B27B-3F73669EC706}" presName="spacer" presStyleCnt="0"/>
      <dgm:spPr/>
    </dgm:pt>
    <dgm:pt modelId="{EBC35FBB-9E8A-42B2-BF90-0FF27D2CB6C3}" type="pres">
      <dgm:prSet presAssocID="{A4D18AFC-B288-409F-993B-D8A5D2E40452}" presName="parentText" presStyleLbl="node1" presStyleIdx="2" presStyleCnt="6">
        <dgm:presLayoutVars>
          <dgm:chMax val="0"/>
          <dgm:bulletEnabled val="1"/>
        </dgm:presLayoutVars>
      </dgm:prSet>
      <dgm:spPr/>
      <dgm:t>
        <a:bodyPr/>
        <a:lstStyle/>
        <a:p>
          <a:endParaRPr lang="en-US"/>
        </a:p>
      </dgm:t>
    </dgm:pt>
    <dgm:pt modelId="{DC95746A-F7AC-4A4F-B7AA-DC06E1866404}" type="pres">
      <dgm:prSet presAssocID="{BC4044F8-87A5-4A62-9254-C49C7537EFA5}" presName="spacer" presStyleCnt="0"/>
      <dgm:spPr/>
    </dgm:pt>
    <dgm:pt modelId="{34D9CA57-FB31-4848-835E-7EDFDFBA8772}" type="pres">
      <dgm:prSet presAssocID="{E21CD0C8-74EA-4E05-9843-E09F1595E368}" presName="parentText" presStyleLbl="node1" presStyleIdx="3" presStyleCnt="6">
        <dgm:presLayoutVars>
          <dgm:chMax val="0"/>
          <dgm:bulletEnabled val="1"/>
        </dgm:presLayoutVars>
      </dgm:prSet>
      <dgm:spPr/>
      <dgm:t>
        <a:bodyPr/>
        <a:lstStyle/>
        <a:p>
          <a:endParaRPr lang="en-US"/>
        </a:p>
      </dgm:t>
    </dgm:pt>
    <dgm:pt modelId="{39509083-5F47-4B98-9CDB-3A7E5B083746}" type="pres">
      <dgm:prSet presAssocID="{EE1B2CFF-0F39-4E79-AF3A-C360A15A0384}" presName="spacer" presStyleCnt="0"/>
      <dgm:spPr/>
    </dgm:pt>
    <dgm:pt modelId="{66CEC3F4-59E6-4DA0-9E91-92551D3D15CA}" type="pres">
      <dgm:prSet presAssocID="{9DD8A993-355C-4E50-918B-D8418C907577}" presName="parentText" presStyleLbl="node1" presStyleIdx="4" presStyleCnt="6">
        <dgm:presLayoutVars>
          <dgm:chMax val="0"/>
          <dgm:bulletEnabled val="1"/>
        </dgm:presLayoutVars>
      </dgm:prSet>
      <dgm:spPr/>
      <dgm:t>
        <a:bodyPr/>
        <a:lstStyle/>
        <a:p>
          <a:endParaRPr lang="en-US"/>
        </a:p>
      </dgm:t>
    </dgm:pt>
    <dgm:pt modelId="{0A62EC32-EC6E-4B71-8F5E-07D929CE41F4}" type="pres">
      <dgm:prSet presAssocID="{F3C4CA86-FCA7-4AE8-8ED5-907119166BC3}" presName="spacer" presStyleCnt="0"/>
      <dgm:spPr/>
    </dgm:pt>
    <dgm:pt modelId="{507C2CF9-38AF-4996-B35B-60AA34BBC741}" type="pres">
      <dgm:prSet presAssocID="{3A1EF3DC-381A-461A-A9C9-332A6AAA971D}" presName="parentText" presStyleLbl="node1" presStyleIdx="5" presStyleCnt="6">
        <dgm:presLayoutVars>
          <dgm:chMax val="0"/>
          <dgm:bulletEnabled val="1"/>
        </dgm:presLayoutVars>
      </dgm:prSet>
      <dgm:spPr/>
      <dgm:t>
        <a:bodyPr/>
        <a:lstStyle/>
        <a:p>
          <a:endParaRPr lang="en-US"/>
        </a:p>
      </dgm:t>
    </dgm:pt>
  </dgm:ptLst>
  <dgm:cxnLst>
    <dgm:cxn modelId="{8D0730A8-8652-42DA-BF9D-8A16BBC4B5DC}" type="presOf" srcId="{3A1EF3DC-381A-461A-A9C9-332A6AAA971D}" destId="{507C2CF9-38AF-4996-B35B-60AA34BBC741}" srcOrd="0" destOrd="0" presId="urn:microsoft.com/office/officeart/2005/8/layout/vList2"/>
    <dgm:cxn modelId="{E06490B8-5E67-45CA-8DB1-7B88EB6BA932}" type="presOf" srcId="{D7B938D2-D9D9-4CF7-B37F-391693C22E9F}" destId="{D8E02B4F-C77B-44E8-A478-B82EBC78571B}" srcOrd="0" destOrd="0" presId="urn:microsoft.com/office/officeart/2005/8/layout/vList2"/>
    <dgm:cxn modelId="{D89746CE-A9C4-48F3-B1C4-C59BBBA1D394}" srcId="{F1DCBA0B-356C-4C0A-A3FC-6433C0ECFA9B}" destId="{D7B938D2-D9D9-4CF7-B37F-391693C22E9F}" srcOrd="1" destOrd="0" parTransId="{F8C80384-19A6-45C9-96C4-22F67FE332A7}" sibTransId="{C35ED155-54A9-49D4-B27B-3F73669EC706}"/>
    <dgm:cxn modelId="{A1AE820C-E1AE-400B-945C-B652764D58CF}" type="presOf" srcId="{A4D18AFC-B288-409F-993B-D8A5D2E40452}" destId="{EBC35FBB-9E8A-42B2-BF90-0FF27D2CB6C3}" srcOrd="0" destOrd="0" presId="urn:microsoft.com/office/officeart/2005/8/layout/vList2"/>
    <dgm:cxn modelId="{F6576524-1312-4FCA-AF19-13BC39620DDA}" srcId="{F1DCBA0B-356C-4C0A-A3FC-6433C0ECFA9B}" destId="{E21CD0C8-74EA-4E05-9843-E09F1595E368}" srcOrd="3" destOrd="0" parTransId="{07239571-AAEB-45E0-A9AB-028B985375D7}" sibTransId="{EE1B2CFF-0F39-4E79-AF3A-C360A15A0384}"/>
    <dgm:cxn modelId="{1479F02F-E7A0-46BC-9989-4A06AEB60F3E}" type="presOf" srcId="{E21CD0C8-74EA-4E05-9843-E09F1595E368}" destId="{34D9CA57-FB31-4848-835E-7EDFDFBA8772}" srcOrd="0" destOrd="0" presId="urn:microsoft.com/office/officeart/2005/8/layout/vList2"/>
    <dgm:cxn modelId="{01BADB71-263B-4855-BFD0-F70BCCE595C2}" type="presOf" srcId="{9DD8A993-355C-4E50-918B-D8418C907577}" destId="{66CEC3F4-59E6-4DA0-9E91-92551D3D15CA}" srcOrd="0" destOrd="0" presId="urn:microsoft.com/office/officeart/2005/8/layout/vList2"/>
    <dgm:cxn modelId="{1F9D2E51-0569-4BBD-83E3-58E32ACA39CF}" type="presOf" srcId="{6A03FA4D-DAFC-4C8B-A9B5-2B1121D70325}" destId="{7184C925-B911-449B-BEAE-324D9C07C3D1}" srcOrd="0" destOrd="0" presId="urn:microsoft.com/office/officeart/2005/8/layout/vList2"/>
    <dgm:cxn modelId="{1490AF33-E47C-49F5-B80E-67A222259118}" srcId="{F1DCBA0B-356C-4C0A-A3FC-6433C0ECFA9B}" destId="{3A1EF3DC-381A-461A-A9C9-332A6AAA971D}" srcOrd="5" destOrd="0" parTransId="{F4CF6F50-978D-42F4-9B06-6A34772BFBBD}" sibTransId="{E894A43F-948E-400C-AE37-5B1D3CA0978B}"/>
    <dgm:cxn modelId="{A61EE9F5-B667-4732-863A-E3A8F25E386A}" srcId="{F1DCBA0B-356C-4C0A-A3FC-6433C0ECFA9B}" destId="{9DD8A993-355C-4E50-918B-D8418C907577}" srcOrd="4" destOrd="0" parTransId="{C79251F0-29C0-4627-B61D-7739A24C2C06}" sibTransId="{F3C4CA86-FCA7-4AE8-8ED5-907119166BC3}"/>
    <dgm:cxn modelId="{71EFD165-9FF3-4DCF-8E02-1A4A421947E4}" srcId="{F1DCBA0B-356C-4C0A-A3FC-6433C0ECFA9B}" destId="{6A03FA4D-DAFC-4C8B-A9B5-2B1121D70325}" srcOrd="0" destOrd="0" parTransId="{DE300A13-572D-46BF-85AF-9A873DB03279}" sibTransId="{E6642521-C89C-4364-88B8-2E61A069621B}"/>
    <dgm:cxn modelId="{D25584DD-C3AD-4505-A7AE-50207C89D677}" type="presOf" srcId="{F1DCBA0B-356C-4C0A-A3FC-6433C0ECFA9B}" destId="{D6259234-EEF9-4774-B0CD-889DDBBD6D2A}" srcOrd="0" destOrd="0" presId="urn:microsoft.com/office/officeart/2005/8/layout/vList2"/>
    <dgm:cxn modelId="{90D7E1B1-4C2E-4F2A-8CC0-AB8E65DC054C}" srcId="{F1DCBA0B-356C-4C0A-A3FC-6433C0ECFA9B}" destId="{A4D18AFC-B288-409F-993B-D8A5D2E40452}" srcOrd="2" destOrd="0" parTransId="{12EC0A34-C90B-4B66-BE0E-9DD30BFC3D37}" sibTransId="{BC4044F8-87A5-4A62-9254-C49C7537EFA5}"/>
    <dgm:cxn modelId="{DCD15663-C292-47D4-991B-B8CD45535B2F}" type="presParOf" srcId="{D6259234-EEF9-4774-B0CD-889DDBBD6D2A}" destId="{7184C925-B911-449B-BEAE-324D9C07C3D1}" srcOrd="0" destOrd="0" presId="urn:microsoft.com/office/officeart/2005/8/layout/vList2"/>
    <dgm:cxn modelId="{D0365739-B528-41C4-BE2F-1DC3AC92F43C}" type="presParOf" srcId="{D6259234-EEF9-4774-B0CD-889DDBBD6D2A}" destId="{47CD1011-7091-4C5C-89B6-7DC0EEEBA226}" srcOrd="1" destOrd="0" presId="urn:microsoft.com/office/officeart/2005/8/layout/vList2"/>
    <dgm:cxn modelId="{6980D412-6BEC-44F7-85F2-9055132832C1}" type="presParOf" srcId="{D6259234-EEF9-4774-B0CD-889DDBBD6D2A}" destId="{D8E02B4F-C77B-44E8-A478-B82EBC78571B}" srcOrd="2" destOrd="0" presId="urn:microsoft.com/office/officeart/2005/8/layout/vList2"/>
    <dgm:cxn modelId="{B6BF7AC2-B069-4CB1-A78F-01F0B16DD95C}" type="presParOf" srcId="{D6259234-EEF9-4774-B0CD-889DDBBD6D2A}" destId="{9CEA62CD-1E65-474D-A884-E3564E3A775B}" srcOrd="3" destOrd="0" presId="urn:microsoft.com/office/officeart/2005/8/layout/vList2"/>
    <dgm:cxn modelId="{FE552AE6-30FB-4DAF-8016-3E68AFE0C14F}" type="presParOf" srcId="{D6259234-EEF9-4774-B0CD-889DDBBD6D2A}" destId="{EBC35FBB-9E8A-42B2-BF90-0FF27D2CB6C3}" srcOrd="4" destOrd="0" presId="urn:microsoft.com/office/officeart/2005/8/layout/vList2"/>
    <dgm:cxn modelId="{D5ABBEDF-F077-4710-B2F6-DB3488FA784B}" type="presParOf" srcId="{D6259234-EEF9-4774-B0CD-889DDBBD6D2A}" destId="{DC95746A-F7AC-4A4F-B7AA-DC06E1866404}" srcOrd="5" destOrd="0" presId="urn:microsoft.com/office/officeart/2005/8/layout/vList2"/>
    <dgm:cxn modelId="{205B26B2-D32B-4D18-ABBD-5AB1C8328067}" type="presParOf" srcId="{D6259234-EEF9-4774-B0CD-889DDBBD6D2A}" destId="{34D9CA57-FB31-4848-835E-7EDFDFBA8772}" srcOrd="6" destOrd="0" presId="urn:microsoft.com/office/officeart/2005/8/layout/vList2"/>
    <dgm:cxn modelId="{F45D68F0-7046-4AFB-9994-8CE9EC26EDD0}" type="presParOf" srcId="{D6259234-EEF9-4774-B0CD-889DDBBD6D2A}" destId="{39509083-5F47-4B98-9CDB-3A7E5B083746}" srcOrd="7" destOrd="0" presId="urn:microsoft.com/office/officeart/2005/8/layout/vList2"/>
    <dgm:cxn modelId="{7AF5D2F6-F4FC-4E97-B6B0-F03226CAC015}" type="presParOf" srcId="{D6259234-EEF9-4774-B0CD-889DDBBD6D2A}" destId="{66CEC3F4-59E6-4DA0-9E91-92551D3D15CA}" srcOrd="8" destOrd="0" presId="urn:microsoft.com/office/officeart/2005/8/layout/vList2"/>
    <dgm:cxn modelId="{24E623EB-5060-49B9-A9B5-7831A16B34BB}" type="presParOf" srcId="{D6259234-EEF9-4774-B0CD-889DDBBD6D2A}" destId="{0A62EC32-EC6E-4B71-8F5E-07D929CE41F4}" srcOrd="9" destOrd="0" presId="urn:microsoft.com/office/officeart/2005/8/layout/vList2"/>
    <dgm:cxn modelId="{619E7608-96D4-4541-9C18-86D1570581E6}" type="presParOf" srcId="{D6259234-EEF9-4774-B0CD-889DDBBD6D2A}" destId="{507C2CF9-38AF-4996-B35B-60AA34BBC741}"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B64C16E-5346-4CE7-BC6D-B6E384BB4527}"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A63EF93-3E9A-4AD0-B700-C1F9F9717247}">
      <dgm:prSet/>
      <dgm:spPr/>
      <dgm:t>
        <a:bodyPr/>
        <a:lstStyle/>
        <a:p>
          <a:pPr rtl="0"/>
          <a:r>
            <a:rPr lang="en-US" smtClean="0"/>
            <a:t>To remove the wideband noises you can use the wavelet denoise express VI.</a:t>
          </a:r>
          <a:endParaRPr lang="en-US"/>
        </a:p>
      </dgm:t>
    </dgm:pt>
    <dgm:pt modelId="{100C0369-CD4B-4068-8ECC-78281ACC1BF7}" type="parTrans" cxnId="{B4E10ED8-CADE-4CF7-B7BC-1841192D5C50}">
      <dgm:prSet/>
      <dgm:spPr/>
      <dgm:t>
        <a:bodyPr/>
        <a:lstStyle/>
        <a:p>
          <a:endParaRPr lang="en-US"/>
        </a:p>
      </dgm:t>
    </dgm:pt>
    <dgm:pt modelId="{A34BDEC4-1C14-4903-9B5C-A36045A9E06D}" type="sibTrans" cxnId="{B4E10ED8-CADE-4CF7-B7BC-1841192D5C50}">
      <dgm:prSet/>
      <dgm:spPr/>
      <dgm:t>
        <a:bodyPr/>
        <a:lstStyle/>
        <a:p>
          <a:endParaRPr lang="en-US"/>
        </a:p>
      </dgm:t>
    </dgm:pt>
    <dgm:pt modelId="{CA27B95F-FA52-4B59-BE96-17D52170806F}">
      <dgm:prSet/>
      <dgm:spPr/>
      <dgm:t>
        <a:bodyPr/>
        <a:lstStyle/>
        <a:p>
          <a:pPr rtl="0"/>
          <a:r>
            <a:rPr lang="en-US" dirty="0" smtClean="0"/>
            <a:t>The </a:t>
          </a:r>
          <a:r>
            <a:rPr lang="en-US" dirty="0" err="1" smtClean="0"/>
            <a:t>LabVIEW</a:t>
          </a:r>
          <a:r>
            <a:rPr lang="en-US" dirty="0" smtClean="0"/>
            <a:t> based higher level express VI decomposes the ECG signal into </a:t>
          </a:r>
          <a:r>
            <a:rPr lang="en-US" dirty="0" err="1" smtClean="0"/>
            <a:t>into</a:t>
          </a:r>
          <a:r>
            <a:rPr lang="en-US" dirty="0" smtClean="0"/>
            <a:t> several </a:t>
          </a:r>
          <a:r>
            <a:rPr lang="en-US" dirty="0" err="1" smtClean="0"/>
            <a:t>subbands</a:t>
          </a:r>
          <a:r>
            <a:rPr lang="en-US" dirty="0" smtClean="0"/>
            <a:t> by applying the wavelet transform , and then modifies each wavelet coefficient by applying a threshold or shrinkage function and finally reconstructs the </a:t>
          </a:r>
          <a:r>
            <a:rPr lang="en-US" dirty="0" err="1" smtClean="0"/>
            <a:t>denoised</a:t>
          </a:r>
          <a:r>
            <a:rPr lang="en-US" dirty="0" smtClean="0"/>
            <a:t> signal.</a:t>
          </a:r>
          <a:endParaRPr lang="en-US" dirty="0"/>
        </a:p>
      </dgm:t>
    </dgm:pt>
    <dgm:pt modelId="{C9BF8E9D-6E82-428D-BC82-7DF91A7F98BB}" type="parTrans" cxnId="{5A6E7FFC-7C8A-420F-BC51-AAFB6C13D683}">
      <dgm:prSet/>
      <dgm:spPr/>
      <dgm:t>
        <a:bodyPr/>
        <a:lstStyle/>
        <a:p>
          <a:endParaRPr lang="en-US"/>
        </a:p>
      </dgm:t>
    </dgm:pt>
    <dgm:pt modelId="{778FD103-3C37-481F-86A6-83E721300F8F}" type="sibTrans" cxnId="{5A6E7FFC-7C8A-420F-BC51-AAFB6C13D683}">
      <dgm:prSet/>
      <dgm:spPr/>
      <dgm:t>
        <a:bodyPr/>
        <a:lstStyle/>
        <a:p>
          <a:endParaRPr lang="en-US"/>
        </a:p>
      </dgm:t>
    </dgm:pt>
    <dgm:pt modelId="{B4B088EC-4B7B-43EA-8FB6-14B7301E134B}" type="pres">
      <dgm:prSet presAssocID="{FB64C16E-5346-4CE7-BC6D-B6E384BB4527}" presName="linear" presStyleCnt="0">
        <dgm:presLayoutVars>
          <dgm:animLvl val="lvl"/>
          <dgm:resizeHandles val="exact"/>
        </dgm:presLayoutVars>
      </dgm:prSet>
      <dgm:spPr/>
      <dgm:t>
        <a:bodyPr/>
        <a:lstStyle/>
        <a:p>
          <a:endParaRPr lang="en-US"/>
        </a:p>
      </dgm:t>
    </dgm:pt>
    <dgm:pt modelId="{7919E929-6954-44CF-A0C0-7280F95264FA}" type="pres">
      <dgm:prSet presAssocID="{EA63EF93-3E9A-4AD0-B700-C1F9F9717247}" presName="parentText" presStyleLbl="node1" presStyleIdx="0" presStyleCnt="2">
        <dgm:presLayoutVars>
          <dgm:chMax val="0"/>
          <dgm:bulletEnabled val="1"/>
        </dgm:presLayoutVars>
      </dgm:prSet>
      <dgm:spPr/>
      <dgm:t>
        <a:bodyPr/>
        <a:lstStyle/>
        <a:p>
          <a:endParaRPr lang="en-US"/>
        </a:p>
      </dgm:t>
    </dgm:pt>
    <dgm:pt modelId="{9E013B69-CB6B-4DBE-B24B-28B329D51A64}" type="pres">
      <dgm:prSet presAssocID="{A34BDEC4-1C14-4903-9B5C-A36045A9E06D}" presName="spacer" presStyleCnt="0"/>
      <dgm:spPr/>
    </dgm:pt>
    <dgm:pt modelId="{F7D526B8-F0CD-4E3B-8B18-2808BC1253D1}" type="pres">
      <dgm:prSet presAssocID="{CA27B95F-FA52-4B59-BE96-17D52170806F}" presName="parentText" presStyleLbl="node1" presStyleIdx="1" presStyleCnt="2">
        <dgm:presLayoutVars>
          <dgm:chMax val="0"/>
          <dgm:bulletEnabled val="1"/>
        </dgm:presLayoutVars>
      </dgm:prSet>
      <dgm:spPr/>
      <dgm:t>
        <a:bodyPr/>
        <a:lstStyle/>
        <a:p>
          <a:endParaRPr lang="en-US"/>
        </a:p>
      </dgm:t>
    </dgm:pt>
  </dgm:ptLst>
  <dgm:cxnLst>
    <dgm:cxn modelId="{0523E550-6D5D-438D-A070-7102904E20CE}" type="presOf" srcId="{EA63EF93-3E9A-4AD0-B700-C1F9F9717247}" destId="{7919E929-6954-44CF-A0C0-7280F95264FA}" srcOrd="0" destOrd="0" presId="urn:microsoft.com/office/officeart/2005/8/layout/vList2"/>
    <dgm:cxn modelId="{DB681D2D-A9F9-46D1-8FF5-1E25A050C59E}" type="presOf" srcId="{CA27B95F-FA52-4B59-BE96-17D52170806F}" destId="{F7D526B8-F0CD-4E3B-8B18-2808BC1253D1}" srcOrd="0" destOrd="0" presId="urn:microsoft.com/office/officeart/2005/8/layout/vList2"/>
    <dgm:cxn modelId="{57C37181-265A-440C-A55B-4FC9977C2870}" type="presOf" srcId="{FB64C16E-5346-4CE7-BC6D-B6E384BB4527}" destId="{B4B088EC-4B7B-43EA-8FB6-14B7301E134B}" srcOrd="0" destOrd="0" presId="urn:microsoft.com/office/officeart/2005/8/layout/vList2"/>
    <dgm:cxn modelId="{B4E10ED8-CADE-4CF7-B7BC-1841192D5C50}" srcId="{FB64C16E-5346-4CE7-BC6D-B6E384BB4527}" destId="{EA63EF93-3E9A-4AD0-B700-C1F9F9717247}" srcOrd="0" destOrd="0" parTransId="{100C0369-CD4B-4068-8ECC-78281ACC1BF7}" sibTransId="{A34BDEC4-1C14-4903-9B5C-A36045A9E06D}"/>
    <dgm:cxn modelId="{5A6E7FFC-7C8A-420F-BC51-AAFB6C13D683}" srcId="{FB64C16E-5346-4CE7-BC6D-B6E384BB4527}" destId="{CA27B95F-FA52-4B59-BE96-17D52170806F}" srcOrd="1" destOrd="0" parTransId="{C9BF8E9D-6E82-428D-BC82-7DF91A7F98BB}" sibTransId="{778FD103-3C37-481F-86A6-83E721300F8F}"/>
    <dgm:cxn modelId="{6CA611F4-D84D-4738-8E64-8AE335F8DA95}" type="presParOf" srcId="{B4B088EC-4B7B-43EA-8FB6-14B7301E134B}" destId="{7919E929-6954-44CF-A0C0-7280F95264FA}" srcOrd="0" destOrd="0" presId="urn:microsoft.com/office/officeart/2005/8/layout/vList2"/>
    <dgm:cxn modelId="{026E74FB-9352-4952-A959-C39BFF23D19A}" type="presParOf" srcId="{B4B088EC-4B7B-43EA-8FB6-14B7301E134B}" destId="{9E013B69-CB6B-4DBE-B24B-28B329D51A64}" srcOrd="1" destOrd="0" presId="urn:microsoft.com/office/officeart/2005/8/layout/vList2"/>
    <dgm:cxn modelId="{489C8A18-3A97-4E04-9178-41AFA2F05F41}" type="presParOf" srcId="{B4B088EC-4B7B-43EA-8FB6-14B7301E134B}" destId="{F7D526B8-F0CD-4E3B-8B18-2808BC1253D1}"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86C40FA-7E22-49F7-84E8-49F46D99318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22D3D2D-54B3-4E7D-BA32-8247730C229A}">
      <dgm:prSet/>
      <dgm:spPr/>
      <dgm:t>
        <a:bodyPr/>
        <a:lstStyle/>
        <a:p>
          <a:pPr rtl="0"/>
          <a:r>
            <a:rPr lang="en-US" smtClean="0"/>
            <a:t>Baseline wandering usually comes from the respiration at frequencies between 0.15 Hz and 0.3 Hz, and you can suppress it by a high pass filter.</a:t>
          </a:r>
          <a:endParaRPr lang="en-US"/>
        </a:p>
      </dgm:t>
    </dgm:pt>
    <dgm:pt modelId="{4C1F12A3-2A7F-4608-B418-195AFEC0C684}" type="parTrans" cxnId="{ABE13B21-1EA8-4238-87E6-4847C5A8DE4B}">
      <dgm:prSet/>
      <dgm:spPr/>
      <dgm:t>
        <a:bodyPr/>
        <a:lstStyle/>
        <a:p>
          <a:endParaRPr lang="en-US"/>
        </a:p>
      </dgm:t>
    </dgm:pt>
    <dgm:pt modelId="{217547E6-9432-4C03-AC96-539AA5B24434}" type="sibTrans" cxnId="{ABE13B21-1EA8-4238-87E6-4847C5A8DE4B}">
      <dgm:prSet/>
      <dgm:spPr/>
      <dgm:t>
        <a:bodyPr/>
        <a:lstStyle/>
        <a:p>
          <a:endParaRPr lang="en-US"/>
        </a:p>
      </dgm:t>
    </dgm:pt>
    <dgm:pt modelId="{79B14996-5E31-4B43-8B32-881A6CF89F87}">
      <dgm:prSet/>
      <dgm:spPr/>
      <dgm:t>
        <a:bodyPr/>
        <a:lstStyle/>
        <a:p>
          <a:pPr rtl="0"/>
          <a:r>
            <a:rPr lang="en-US" smtClean="0"/>
            <a:t>Wavelet transform also can be used to remove baseline wandering by eliminating the trend of the ECG signal.</a:t>
          </a:r>
          <a:endParaRPr lang="en-US"/>
        </a:p>
      </dgm:t>
    </dgm:pt>
    <dgm:pt modelId="{63241C51-85C9-43C5-9497-6155BF23D773}" type="parTrans" cxnId="{4387827C-60DB-4D00-809D-A97425E2DC29}">
      <dgm:prSet/>
      <dgm:spPr/>
      <dgm:t>
        <a:bodyPr/>
        <a:lstStyle/>
        <a:p>
          <a:endParaRPr lang="en-US"/>
        </a:p>
      </dgm:t>
    </dgm:pt>
    <dgm:pt modelId="{7D4A1F01-E998-47B3-A2A3-4853652E7916}" type="sibTrans" cxnId="{4387827C-60DB-4D00-809D-A97425E2DC29}">
      <dgm:prSet/>
      <dgm:spPr/>
      <dgm:t>
        <a:bodyPr/>
        <a:lstStyle/>
        <a:p>
          <a:endParaRPr lang="en-US"/>
        </a:p>
      </dgm:t>
    </dgm:pt>
    <dgm:pt modelId="{01255AF1-CE8F-4EED-982A-04112023904B}">
      <dgm:prSet/>
      <dgm:spPr/>
      <dgm:t>
        <a:bodyPr/>
        <a:lstStyle/>
        <a:p>
          <a:pPr rtl="0"/>
          <a:r>
            <a:rPr lang="en-US" smtClean="0"/>
            <a:t>Below figure shows the original ECG signal and the resulting ECG signals processed by the digital filter-based and the wavelet transform based approaches.</a:t>
          </a:r>
          <a:endParaRPr lang="en-US"/>
        </a:p>
      </dgm:t>
    </dgm:pt>
    <dgm:pt modelId="{F5BCE247-742B-46E1-B714-CF01221DF6F4}" type="parTrans" cxnId="{AC113ECF-94E6-4CF1-A51C-D6F3588D9D71}">
      <dgm:prSet/>
      <dgm:spPr/>
      <dgm:t>
        <a:bodyPr/>
        <a:lstStyle/>
        <a:p>
          <a:endParaRPr lang="en-US"/>
        </a:p>
      </dgm:t>
    </dgm:pt>
    <dgm:pt modelId="{1EC7C65A-43B3-44F4-802D-A7CA0E13379B}" type="sibTrans" cxnId="{AC113ECF-94E6-4CF1-A51C-D6F3588D9D71}">
      <dgm:prSet/>
      <dgm:spPr/>
      <dgm:t>
        <a:bodyPr/>
        <a:lstStyle/>
        <a:p>
          <a:endParaRPr lang="en-US"/>
        </a:p>
      </dgm:t>
    </dgm:pt>
    <dgm:pt modelId="{361790AB-D531-4805-B474-C0188AB5F720}">
      <dgm:prSet/>
      <dgm:spPr/>
      <dgm:t>
        <a:bodyPr/>
        <a:lstStyle/>
        <a:p>
          <a:pPr rtl="0"/>
          <a:r>
            <a:rPr lang="en-US" smtClean="0"/>
            <a:t>The resulting ECG signals contain little baseline wandering information but retain the main characteristics of the original ECG signal.</a:t>
          </a:r>
          <a:endParaRPr lang="en-US"/>
        </a:p>
      </dgm:t>
    </dgm:pt>
    <dgm:pt modelId="{B9D9046E-B841-4717-AA02-B23BA77981EC}" type="parTrans" cxnId="{32C1610C-85ED-4192-8D09-44742C1CF208}">
      <dgm:prSet/>
      <dgm:spPr/>
      <dgm:t>
        <a:bodyPr/>
        <a:lstStyle/>
        <a:p>
          <a:endParaRPr lang="en-US"/>
        </a:p>
      </dgm:t>
    </dgm:pt>
    <dgm:pt modelId="{49D4932A-F806-42EC-AC59-57DF9B4853D3}" type="sibTrans" cxnId="{32C1610C-85ED-4192-8D09-44742C1CF208}">
      <dgm:prSet/>
      <dgm:spPr/>
      <dgm:t>
        <a:bodyPr/>
        <a:lstStyle/>
        <a:p>
          <a:endParaRPr lang="en-US"/>
        </a:p>
      </dgm:t>
    </dgm:pt>
    <dgm:pt modelId="{4DA42403-7F1D-43E7-BBF2-CAE130F568BA}">
      <dgm:prSet/>
      <dgm:spPr/>
      <dgm:t>
        <a:bodyPr/>
        <a:lstStyle/>
        <a:p>
          <a:pPr rtl="0"/>
          <a:r>
            <a:rPr lang="en-US" smtClean="0"/>
            <a:t>Wavelet transform based approach is better because this approach introduces no latency and less distortions than the digital filter based approach. </a:t>
          </a:r>
          <a:endParaRPr lang="en-US"/>
        </a:p>
      </dgm:t>
    </dgm:pt>
    <dgm:pt modelId="{8A1A0015-3A9F-4D19-BEA4-62C694C1F38F}" type="parTrans" cxnId="{810A1FDC-2E14-4AFB-92C6-A0283C0336BE}">
      <dgm:prSet/>
      <dgm:spPr/>
      <dgm:t>
        <a:bodyPr/>
        <a:lstStyle/>
        <a:p>
          <a:endParaRPr lang="en-US"/>
        </a:p>
      </dgm:t>
    </dgm:pt>
    <dgm:pt modelId="{5D201040-A888-47B2-9EDA-C290C1351D95}" type="sibTrans" cxnId="{810A1FDC-2E14-4AFB-92C6-A0283C0336BE}">
      <dgm:prSet/>
      <dgm:spPr/>
      <dgm:t>
        <a:bodyPr/>
        <a:lstStyle/>
        <a:p>
          <a:endParaRPr lang="en-US"/>
        </a:p>
      </dgm:t>
    </dgm:pt>
    <dgm:pt modelId="{A67E6386-DEFD-412B-A588-22D5600A300E}" type="pres">
      <dgm:prSet presAssocID="{B86C40FA-7E22-49F7-84E8-49F46D99318F}" presName="linear" presStyleCnt="0">
        <dgm:presLayoutVars>
          <dgm:animLvl val="lvl"/>
          <dgm:resizeHandles val="exact"/>
        </dgm:presLayoutVars>
      </dgm:prSet>
      <dgm:spPr/>
      <dgm:t>
        <a:bodyPr/>
        <a:lstStyle/>
        <a:p>
          <a:endParaRPr lang="en-US"/>
        </a:p>
      </dgm:t>
    </dgm:pt>
    <dgm:pt modelId="{7346D7B6-C3BD-4E0C-9666-9D42B114FC4B}" type="pres">
      <dgm:prSet presAssocID="{922D3D2D-54B3-4E7D-BA32-8247730C229A}" presName="parentText" presStyleLbl="node1" presStyleIdx="0" presStyleCnt="5">
        <dgm:presLayoutVars>
          <dgm:chMax val="0"/>
          <dgm:bulletEnabled val="1"/>
        </dgm:presLayoutVars>
      </dgm:prSet>
      <dgm:spPr/>
      <dgm:t>
        <a:bodyPr/>
        <a:lstStyle/>
        <a:p>
          <a:endParaRPr lang="en-US"/>
        </a:p>
      </dgm:t>
    </dgm:pt>
    <dgm:pt modelId="{DC34144C-D0F5-4E82-900C-543D3D6340A6}" type="pres">
      <dgm:prSet presAssocID="{217547E6-9432-4C03-AC96-539AA5B24434}" presName="spacer" presStyleCnt="0"/>
      <dgm:spPr/>
    </dgm:pt>
    <dgm:pt modelId="{E3325CBA-A70D-4F1B-85FE-A4942B4B8F77}" type="pres">
      <dgm:prSet presAssocID="{79B14996-5E31-4B43-8B32-881A6CF89F87}" presName="parentText" presStyleLbl="node1" presStyleIdx="1" presStyleCnt="5">
        <dgm:presLayoutVars>
          <dgm:chMax val="0"/>
          <dgm:bulletEnabled val="1"/>
        </dgm:presLayoutVars>
      </dgm:prSet>
      <dgm:spPr/>
      <dgm:t>
        <a:bodyPr/>
        <a:lstStyle/>
        <a:p>
          <a:endParaRPr lang="en-US"/>
        </a:p>
      </dgm:t>
    </dgm:pt>
    <dgm:pt modelId="{F60D6715-521E-4A8F-B1F5-62CB1A982CC2}" type="pres">
      <dgm:prSet presAssocID="{7D4A1F01-E998-47B3-A2A3-4853652E7916}" presName="spacer" presStyleCnt="0"/>
      <dgm:spPr/>
    </dgm:pt>
    <dgm:pt modelId="{909798CB-497B-4364-A0E4-92425659ECD2}" type="pres">
      <dgm:prSet presAssocID="{01255AF1-CE8F-4EED-982A-04112023904B}" presName="parentText" presStyleLbl="node1" presStyleIdx="2" presStyleCnt="5">
        <dgm:presLayoutVars>
          <dgm:chMax val="0"/>
          <dgm:bulletEnabled val="1"/>
        </dgm:presLayoutVars>
      </dgm:prSet>
      <dgm:spPr/>
      <dgm:t>
        <a:bodyPr/>
        <a:lstStyle/>
        <a:p>
          <a:endParaRPr lang="en-US"/>
        </a:p>
      </dgm:t>
    </dgm:pt>
    <dgm:pt modelId="{B4D2B637-3D81-4925-86BC-346EAA22902C}" type="pres">
      <dgm:prSet presAssocID="{1EC7C65A-43B3-44F4-802D-A7CA0E13379B}" presName="spacer" presStyleCnt="0"/>
      <dgm:spPr/>
    </dgm:pt>
    <dgm:pt modelId="{CF645C79-5494-42BA-948D-D3197A02EE47}" type="pres">
      <dgm:prSet presAssocID="{361790AB-D531-4805-B474-C0188AB5F720}" presName="parentText" presStyleLbl="node1" presStyleIdx="3" presStyleCnt="5">
        <dgm:presLayoutVars>
          <dgm:chMax val="0"/>
          <dgm:bulletEnabled val="1"/>
        </dgm:presLayoutVars>
      </dgm:prSet>
      <dgm:spPr/>
      <dgm:t>
        <a:bodyPr/>
        <a:lstStyle/>
        <a:p>
          <a:endParaRPr lang="en-US"/>
        </a:p>
      </dgm:t>
    </dgm:pt>
    <dgm:pt modelId="{87CBCC56-C9AF-498F-BE81-84A841F69F29}" type="pres">
      <dgm:prSet presAssocID="{49D4932A-F806-42EC-AC59-57DF9B4853D3}" presName="spacer" presStyleCnt="0"/>
      <dgm:spPr/>
    </dgm:pt>
    <dgm:pt modelId="{DCE3810B-7704-4644-B6F1-E1FE3E0FC1E8}" type="pres">
      <dgm:prSet presAssocID="{4DA42403-7F1D-43E7-BBF2-CAE130F568BA}" presName="parentText" presStyleLbl="node1" presStyleIdx="4" presStyleCnt="5">
        <dgm:presLayoutVars>
          <dgm:chMax val="0"/>
          <dgm:bulletEnabled val="1"/>
        </dgm:presLayoutVars>
      </dgm:prSet>
      <dgm:spPr/>
      <dgm:t>
        <a:bodyPr/>
        <a:lstStyle/>
        <a:p>
          <a:endParaRPr lang="en-US"/>
        </a:p>
      </dgm:t>
    </dgm:pt>
  </dgm:ptLst>
  <dgm:cxnLst>
    <dgm:cxn modelId="{90E4393B-CA4A-4814-B8D3-3DFA132481DD}" type="presOf" srcId="{922D3D2D-54B3-4E7D-BA32-8247730C229A}" destId="{7346D7B6-C3BD-4E0C-9666-9D42B114FC4B}" srcOrd="0" destOrd="0" presId="urn:microsoft.com/office/officeart/2005/8/layout/vList2"/>
    <dgm:cxn modelId="{ABE13B21-1EA8-4238-87E6-4847C5A8DE4B}" srcId="{B86C40FA-7E22-49F7-84E8-49F46D99318F}" destId="{922D3D2D-54B3-4E7D-BA32-8247730C229A}" srcOrd="0" destOrd="0" parTransId="{4C1F12A3-2A7F-4608-B418-195AFEC0C684}" sibTransId="{217547E6-9432-4C03-AC96-539AA5B24434}"/>
    <dgm:cxn modelId="{8EA6588E-3616-41FA-8175-21CE269D0704}" type="presOf" srcId="{79B14996-5E31-4B43-8B32-881A6CF89F87}" destId="{E3325CBA-A70D-4F1B-85FE-A4942B4B8F77}" srcOrd="0" destOrd="0" presId="urn:microsoft.com/office/officeart/2005/8/layout/vList2"/>
    <dgm:cxn modelId="{32C1610C-85ED-4192-8D09-44742C1CF208}" srcId="{B86C40FA-7E22-49F7-84E8-49F46D99318F}" destId="{361790AB-D531-4805-B474-C0188AB5F720}" srcOrd="3" destOrd="0" parTransId="{B9D9046E-B841-4717-AA02-B23BA77981EC}" sibTransId="{49D4932A-F806-42EC-AC59-57DF9B4853D3}"/>
    <dgm:cxn modelId="{F67370F6-B87B-4C87-9A45-283141283EB0}" type="presOf" srcId="{4DA42403-7F1D-43E7-BBF2-CAE130F568BA}" destId="{DCE3810B-7704-4644-B6F1-E1FE3E0FC1E8}" srcOrd="0" destOrd="0" presId="urn:microsoft.com/office/officeart/2005/8/layout/vList2"/>
    <dgm:cxn modelId="{AC113ECF-94E6-4CF1-A51C-D6F3588D9D71}" srcId="{B86C40FA-7E22-49F7-84E8-49F46D99318F}" destId="{01255AF1-CE8F-4EED-982A-04112023904B}" srcOrd="2" destOrd="0" parTransId="{F5BCE247-742B-46E1-B714-CF01221DF6F4}" sibTransId="{1EC7C65A-43B3-44F4-802D-A7CA0E13379B}"/>
    <dgm:cxn modelId="{4282814A-2210-4F10-B851-EE0C17ED9B49}" type="presOf" srcId="{B86C40FA-7E22-49F7-84E8-49F46D99318F}" destId="{A67E6386-DEFD-412B-A588-22D5600A300E}" srcOrd="0" destOrd="0" presId="urn:microsoft.com/office/officeart/2005/8/layout/vList2"/>
    <dgm:cxn modelId="{810A1FDC-2E14-4AFB-92C6-A0283C0336BE}" srcId="{B86C40FA-7E22-49F7-84E8-49F46D99318F}" destId="{4DA42403-7F1D-43E7-BBF2-CAE130F568BA}" srcOrd="4" destOrd="0" parTransId="{8A1A0015-3A9F-4D19-BEA4-62C694C1F38F}" sibTransId="{5D201040-A888-47B2-9EDA-C290C1351D95}"/>
    <dgm:cxn modelId="{FE468B4F-9A06-4432-A005-B87A7D196315}" type="presOf" srcId="{01255AF1-CE8F-4EED-982A-04112023904B}" destId="{909798CB-497B-4364-A0E4-92425659ECD2}" srcOrd="0" destOrd="0" presId="urn:microsoft.com/office/officeart/2005/8/layout/vList2"/>
    <dgm:cxn modelId="{4288A1D3-644E-4DFB-8530-5286F0619092}" type="presOf" srcId="{361790AB-D531-4805-B474-C0188AB5F720}" destId="{CF645C79-5494-42BA-948D-D3197A02EE47}" srcOrd="0" destOrd="0" presId="urn:microsoft.com/office/officeart/2005/8/layout/vList2"/>
    <dgm:cxn modelId="{4387827C-60DB-4D00-809D-A97425E2DC29}" srcId="{B86C40FA-7E22-49F7-84E8-49F46D99318F}" destId="{79B14996-5E31-4B43-8B32-881A6CF89F87}" srcOrd="1" destOrd="0" parTransId="{63241C51-85C9-43C5-9497-6155BF23D773}" sibTransId="{7D4A1F01-E998-47B3-A2A3-4853652E7916}"/>
    <dgm:cxn modelId="{1782D758-B516-4889-9F70-3F2F0CFB9238}" type="presParOf" srcId="{A67E6386-DEFD-412B-A588-22D5600A300E}" destId="{7346D7B6-C3BD-4E0C-9666-9D42B114FC4B}" srcOrd="0" destOrd="0" presId="urn:microsoft.com/office/officeart/2005/8/layout/vList2"/>
    <dgm:cxn modelId="{C5F4452F-BCE9-4E49-8960-9CC0097E6DEC}" type="presParOf" srcId="{A67E6386-DEFD-412B-A588-22D5600A300E}" destId="{DC34144C-D0F5-4E82-900C-543D3D6340A6}" srcOrd="1" destOrd="0" presId="urn:microsoft.com/office/officeart/2005/8/layout/vList2"/>
    <dgm:cxn modelId="{FD22212B-C62E-416E-B50D-5AB85E4E559D}" type="presParOf" srcId="{A67E6386-DEFD-412B-A588-22D5600A300E}" destId="{E3325CBA-A70D-4F1B-85FE-A4942B4B8F77}" srcOrd="2" destOrd="0" presId="urn:microsoft.com/office/officeart/2005/8/layout/vList2"/>
    <dgm:cxn modelId="{4483F286-C13B-4016-8A9C-D9D1C6DF15A6}" type="presParOf" srcId="{A67E6386-DEFD-412B-A588-22D5600A300E}" destId="{F60D6715-521E-4A8F-B1F5-62CB1A982CC2}" srcOrd="3" destOrd="0" presId="urn:microsoft.com/office/officeart/2005/8/layout/vList2"/>
    <dgm:cxn modelId="{54BE7FD9-FFCC-4D5A-8A0D-11358E38F29A}" type="presParOf" srcId="{A67E6386-DEFD-412B-A588-22D5600A300E}" destId="{909798CB-497B-4364-A0E4-92425659ECD2}" srcOrd="4" destOrd="0" presId="urn:microsoft.com/office/officeart/2005/8/layout/vList2"/>
    <dgm:cxn modelId="{1CAE7E48-A80D-4074-B8C7-7923E97939D2}" type="presParOf" srcId="{A67E6386-DEFD-412B-A588-22D5600A300E}" destId="{B4D2B637-3D81-4925-86BC-346EAA22902C}" srcOrd="5" destOrd="0" presId="urn:microsoft.com/office/officeart/2005/8/layout/vList2"/>
    <dgm:cxn modelId="{C429C986-324A-4983-B7C6-70A13E68BAF4}" type="presParOf" srcId="{A67E6386-DEFD-412B-A588-22D5600A300E}" destId="{CF645C79-5494-42BA-948D-D3197A02EE47}" srcOrd="6" destOrd="0" presId="urn:microsoft.com/office/officeart/2005/8/layout/vList2"/>
    <dgm:cxn modelId="{ADC4E40A-A15F-418D-ACBD-CACCBFB0A09B}" type="presParOf" srcId="{A67E6386-DEFD-412B-A588-22D5600A300E}" destId="{87CBCC56-C9AF-498F-BE81-84A841F69F29}" srcOrd="7" destOrd="0" presId="urn:microsoft.com/office/officeart/2005/8/layout/vList2"/>
    <dgm:cxn modelId="{298A2A1F-4244-4036-BB11-9F7B1906EB32}" type="presParOf" srcId="{A67E6386-DEFD-412B-A588-22D5600A300E}" destId="{DCE3810B-7704-4644-B6F1-E1FE3E0FC1E8}"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simple5" qsCatId="simple" csTypeId="urn:microsoft.com/office/officeart/2005/8/colors/accent2_2" csCatId="accent2" phldr="1"/>
      <dgm:spPr/>
      <dgm:t>
        <a:bodyPr/>
        <a:lstStyle/>
        <a:p>
          <a:endParaRPr lang="en-US"/>
        </a:p>
      </dgm:t>
    </dgm:pt>
    <dgm:pt modelId="{D8FDBA16-E463-462A-B396-7080D4852B10}">
      <dgm:prSet/>
      <dgm:spPr/>
      <dgm:t>
        <a:bodyPr/>
        <a:lstStyle/>
        <a:p>
          <a:pPr rtl="0"/>
          <a:r>
            <a:rPr lang="en-US" b="1" dirty="0" smtClean="0"/>
            <a:t>ELECTROCARDIOGRAM (ECG)</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95250" tIns="95250" rIns="95250" bIns="95250" numCol="1" spcCol="1270" anchor="ctr" anchorCtr="0">
          <a:noAutofit/>
        </a:bodyPr>
        <a:lstStyle/>
        <a:p>
          <a:pPr lvl="0" algn="l" defTabSz="1111250" rtl="0">
            <a:lnSpc>
              <a:spcPct val="90000"/>
            </a:lnSpc>
            <a:spcBef>
              <a:spcPct val="0"/>
            </a:spcBef>
            <a:spcAft>
              <a:spcPct val="35000"/>
            </a:spcAft>
          </a:pPr>
          <a:r>
            <a:rPr lang="en-US" sz="2500" b="1" kern="1200" dirty="0" smtClean="0"/>
            <a:t>10.2_Aplikasi:</a:t>
          </a:r>
          <a:r>
            <a:rPr lang="en-US" sz="2500" b="1" kern="1200" dirty="0" smtClean="0">
              <a:cs typeface="Calibri Light"/>
            </a:rPr>
            <a:t> COMPARATORS </a:t>
          </a:r>
          <a:r>
            <a:rPr lang="en-US" sz="2500" b="1" kern="1200" dirty="0" smtClean="0"/>
            <a:t>ELECTROCARDIOGRAM (ECG)</a:t>
          </a:r>
          <a:endParaRPr lang="en-US" sz="2500" kern="1200" dirty="0"/>
        </a:p>
      </dsp:txBody>
      <dsp:txXfrm>
        <a:off x="457199" y="0"/>
        <a:ext cx="8255379" cy="9143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0DAA3CF-D6D9-4A12-B5E8-9D3BDC3303B6}">
      <dsp:nvSpPr>
        <dsp:cNvPr id="0" name=""/>
        <dsp:cNvSpPr/>
      </dsp:nvSpPr>
      <dsp:spPr>
        <a:xfrm>
          <a:off x="457199" y="0"/>
          <a:ext cx="7772400"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ctr" defTabSz="1866900" rtl="0">
            <a:lnSpc>
              <a:spcPct val="90000"/>
            </a:lnSpc>
            <a:spcBef>
              <a:spcPct val="0"/>
            </a:spcBef>
            <a:spcAft>
              <a:spcPct val="35000"/>
            </a:spcAft>
          </a:pPr>
          <a:r>
            <a:rPr lang="en-US" sz="4200" b="1" kern="1200" dirty="0" smtClean="0"/>
            <a:t>ELECTROCARDIOGRAM (ECG)</a:t>
          </a:r>
          <a:endParaRPr lang="en-US" sz="4200" kern="1200" dirty="0"/>
        </a:p>
      </dsp:txBody>
      <dsp:txXfrm>
        <a:off x="457199" y="0"/>
        <a:ext cx="7772400" cy="9143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EA0E3D-AC2C-4105-AAED-0BE552074F8D}">
      <dsp:nvSpPr>
        <dsp:cNvPr id="0" name=""/>
        <dsp:cNvSpPr/>
      </dsp:nvSpPr>
      <dsp:spPr>
        <a:xfrm>
          <a:off x="0" y="35201"/>
          <a:ext cx="7924800" cy="59587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smtClean="0"/>
            <a:t>A technique of recording bioelectric currents generated by the heart.</a:t>
          </a:r>
          <a:endParaRPr lang="en-US" sz="1500" kern="1200"/>
        </a:p>
      </dsp:txBody>
      <dsp:txXfrm>
        <a:off x="29088" y="64289"/>
        <a:ext cx="7866624" cy="537701"/>
      </dsp:txXfrm>
    </dsp:sp>
    <dsp:sp modelId="{C0D7B1ED-ADD1-4981-923E-A7FC75C7C36C}">
      <dsp:nvSpPr>
        <dsp:cNvPr id="0" name=""/>
        <dsp:cNvSpPr/>
      </dsp:nvSpPr>
      <dsp:spPr>
        <a:xfrm>
          <a:off x="0" y="674278"/>
          <a:ext cx="7924800" cy="595877"/>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smtClean="0"/>
            <a:t>It records any problems with the heart’s rhythm, and the conduction of the heart beat through the heart which may be affected by underlying heart disease.</a:t>
          </a:r>
          <a:endParaRPr lang="en-US" sz="1500" kern="1200"/>
        </a:p>
      </dsp:txBody>
      <dsp:txXfrm>
        <a:off x="29088" y="703366"/>
        <a:ext cx="7866624" cy="53770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377427-DB8A-4A2B-8B03-EB24218B46ED}">
      <dsp:nvSpPr>
        <dsp:cNvPr id="0" name=""/>
        <dsp:cNvSpPr/>
      </dsp:nvSpPr>
      <dsp:spPr>
        <a:xfrm>
          <a:off x="0" y="494579"/>
          <a:ext cx="7315200" cy="5967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smtClean="0"/>
            <a:t>Up to 12 self-adhesive electrodes will be attached to the selected locations on the skin(limbs and chest).</a:t>
          </a:r>
          <a:endParaRPr lang="en-US" sz="1500" kern="1200"/>
        </a:p>
      </dsp:txBody>
      <dsp:txXfrm>
        <a:off x="29128" y="523707"/>
        <a:ext cx="7256944" cy="538444"/>
      </dsp:txXfrm>
    </dsp:sp>
    <dsp:sp modelId="{0EB75B34-DFB7-41F0-B185-355C7FE9A772}">
      <dsp:nvSpPr>
        <dsp:cNvPr id="0" name=""/>
        <dsp:cNvSpPr/>
      </dsp:nvSpPr>
      <dsp:spPr>
        <a:xfrm>
          <a:off x="0" y="1134479"/>
          <a:ext cx="7315200" cy="596700"/>
        </a:xfrm>
        <a:prstGeom prst="roundRect">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dirty="0" smtClean="0"/>
            <a:t>At rest, across the cell </a:t>
          </a:r>
          <a:r>
            <a:rPr lang="en-US" sz="1500" kern="1200" dirty="0" err="1" smtClean="0"/>
            <a:t>membrane,each</a:t>
          </a:r>
          <a:r>
            <a:rPr lang="en-US" sz="1500" kern="1200" dirty="0" smtClean="0"/>
            <a:t> heart muscle has a negative charge, called the membrane potential.</a:t>
          </a:r>
          <a:endParaRPr lang="en-US" sz="1500" kern="1200" dirty="0"/>
        </a:p>
      </dsp:txBody>
      <dsp:txXfrm>
        <a:off x="29128" y="1163607"/>
        <a:ext cx="7256944" cy="538444"/>
      </dsp:txXfrm>
    </dsp:sp>
    <dsp:sp modelId="{9BDC6D87-AC53-4729-A603-3C90EA3414C5}">
      <dsp:nvSpPr>
        <dsp:cNvPr id="0" name=""/>
        <dsp:cNvSpPr/>
      </dsp:nvSpPr>
      <dsp:spPr>
        <a:xfrm>
          <a:off x="0" y="1774379"/>
          <a:ext cx="7315200" cy="596700"/>
        </a:xfrm>
        <a:prstGeom prst="roundRect">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smtClean="0"/>
            <a:t>Decreasing this negative charge towards zero, via influx of the +ve cations, Na+ and Ca++,is called depolarisation, which activates the mechanisms in the cell that cause it to contract.</a:t>
          </a:r>
          <a:endParaRPr lang="en-US" sz="1500" kern="1200"/>
        </a:p>
      </dsp:txBody>
      <dsp:txXfrm>
        <a:off x="29128" y="1803507"/>
        <a:ext cx="7256944" cy="538444"/>
      </dsp:txXfrm>
    </dsp:sp>
    <dsp:sp modelId="{F33BE31C-31FC-47D7-AF28-00E0C658FA7B}">
      <dsp:nvSpPr>
        <dsp:cNvPr id="0" name=""/>
        <dsp:cNvSpPr/>
      </dsp:nvSpPr>
      <dsp:spPr>
        <a:xfrm>
          <a:off x="0" y="2414280"/>
          <a:ext cx="7315200" cy="596700"/>
        </a:xfrm>
        <a:prstGeom prst="roundRect">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dirty="0" smtClean="0"/>
            <a:t>A healthy heart will have an orderly progression of a wave of </a:t>
          </a:r>
          <a:r>
            <a:rPr lang="en-US" sz="1500" kern="1200" dirty="0" err="1" smtClean="0"/>
            <a:t>depolarisation,during</a:t>
          </a:r>
          <a:r>
            <a:rPr lang="en-US" sz="1500" kern="1200" dirty="0" smtClean="0"/>
            <a:t> each heart beat.</a:t>
          </a:r>
          <a:endParaRPr lang="en-US" sz="1500" kern="1200" dirty="0"/>
        </a:p>
      </dsp:txBody>
      <dsp:txXfrm>
        <a:off x="29128" y="2443408"/>
        <a:ext cx="7256944" cy="538444"/>
      </dsp:txXfrm>
    </dsp:sp>
    <dsp:sp modelId="{346B08ED-62A3-4110-A7BC-7FD60C655A5B}">
      <dsp:nvSpPr>
        <dsp:cNvPr id="0" name=""/>
        <dsp:cNvSpPr/>
      </dsp:nvSpPr>
      <dsp:spPr>
        <a:xfrm>
          <a:off x="0" y="3054180"/>
          <a:ext cx="7315200" cy="596700"/>
        </a:xfrm>
        <a:prstGeom prst="roundRect">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dirty="0" smtClean="0"/>
            <a:t>This is detected as tiny rises and falls in the voltage between two electrodes placed on either side of the heart which is displayed as a wavy line either on a screen or on paper.</a:t>
          </a:r>
          <a:endParaRPr lang="en-US" sz="1500" kern="1200" dirty="0"/>
        </a:p>
      </dsp:txBody>
      <dsp:txXfrm>
        <a:off x="29128" y="3083308"/>
        <a:ext cx="7256944" cy="538444"/>
      </dsp:txXfrm>
    </dsp:sp>
    <dsp:sp modelId="{9430DAE9-BA32-49FC-A0FF-781B43E827B0}">
      <dsp:nvSpPr>
        <dsp:cNvPr id="0" name=""/>
        <dsp:cNvSpPr/>
      </dsp:nvSpPr>
      <dsp:spPr>
        <a:xfrm>
          <a:off x="0" y="3694080"/>
          <a:ext cx="7315200" cy="59670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smtClean="0"/>
            <a:t>This display indicates the overall rhythm of the heart and weaknesses in different parts of the heart muscle.</a:t>
          </a:r>
          <a:endParaRPr lang="en-US" sz="1500" kern="1200"/>
        </a:p>
      </dsp:txBody>
      <dsp:txXfrm>
        <a:off x="29128" y="3723208"/>
        <a:ext cx="7256944" cy="53844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1D1D7-FC99-4305-A9B5-80E1C20ED8DE}">
      <dsp:nvSpPr>
        <dsp:cNvPr id="0" name=""/>
        <dsp:cNvSpPr/>
      </dsp:nvSpPr>
      <dsp:spPr>
        <a:xfrm>
          <a:off x="0" y="114960"/>
          <a:ext cx="7315200" cy="7160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smtClean="0"/>
            <a:t>-The ECG signal consists of low amplitude voltages in the presence of high amplitude offsets and  noise.</a:t>
          </a:r>
          <a:endParaRPr lang="en-US" sz="1800" kern="1200" dirty="0"/>
        </a:p>
      </dsp:txBody>
      <dsp:txXfrm>
        <a:off x="34954" y="149914"/>
        <a:ext cx="7245292" cy="646132"/>
      </dsp:txXfrm>
    </dsp:sp>
    <dsp:sp modelId="{812263AC-04D2-49D3-A476-23FAE51CD148}">
      <dsp:nvSpPr>
        <dsp:cNvPr id="0" name=""/>
        <dsp:cNvSpPr/>
      </dsp:nvSpPr>
      <dsp:spPr>
        <a:xfrm>
          <a:off x="0" y="882840"/>
          <a:ext cx="7315200" cy="716040"/>
        </a:xfrm>
        <a:prstGeom prst="roundRect">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smtClean="0"/>
            <a:t>-The large offsets present in the system are due to </a:t>
          </a:r>
          <a:r>
            <a:rPr lang="en-US" sz="1800" kern="1200" dirty="0" err="1" smtClean="0"/>
            <a:t>halfcell</a:t>
          </a:r>
          <a:r>
            <a:rPr lang="en-US" sz="1800" kern="1200" dirty="0" smtClean="0"/>
            <a:t> potential developed at the electrodes.</a:t>
          </a:r>
          <a:endParaRPr lang="en-US" sz="1800" kern="1200" dirty="0"/>
        </a:p>
      </dsp:txBody>
      <dsp:txXfrm>
        <a:off x="34954" y="917794"/>
        <a:ext cx="7245292" cy="646132"/>
      </dsp:txXfrm>
    </dsp:sp>
    <dsp:sp modelId="{AC682CC5-66DF-4132-A378-BF082EF94B6C}">
      <dsp:nvSpPr>
        <dsp:cNvPr id="0" name=""/>
        <dsp:cNvSpPr/>
      </dsp:nvSpPr>
      <dsp:spPr>
        <a:xfrm>
          <a:off x="0" y="1650720"/>
          <a:ext cx="7315200" cy="716040"/>
        </a:xfrm>
        <a:prstGeom prst="roundRect">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smtClean="0"/>
            <a:t>-Ag/AgCl(Silver-silverchloride) is the common electrode used in ECG systems and has a maximum offset voltage of  +/- 300 mV.</a:t>
          </a:r>
          <a:endParaRPr lang="en-US" sz="1800" kern="1200"/>
        </a:p>
      </dsp:txBody>
      <dsp:txXfrm>
        <a:off x="34954" y="1685674"/>
        <a:ext cx="7245292" cy="646132"/>
      </dsp:txXfrm>
    </dsp:sp>
    <dsp:sp modelId="{84DE1C47-31C9-4006-95D3-C2F3765883A5}">
      <dsp:nvSpPr>
        <dsp:cNvPr id="0" name=""/>
        <dsp:cNvSpPr/>
      </dsp:nvSpPr>
      <dsp:spPr>
        <a:xfrm>
          <a:off x="0" y="2418600"/>
          <a:ext cx="7315200" cy="716040"/>
        </a:xfrm>
        <a:prstGeom prst="roundRect">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smtClean="0"/>
            <a:t>-The actual desired signal is +/- 0.5 mV superimposed on the electrode offset.</a:t>
          </a:r>
          <a:endParaRPr lang="en-US" sz="1800" kern="1200"/>
        </a:p>
      </dsp:txBody>
      <dsp:txXfrm>
        <a:off x="34954" y="2453554"/>
        <a:ext cx="7245292" cy="646132"/>
      </dsp:txXfrm>
    </dsp:sp>
    <dsp:sp modelId="{CDAD82C7-1DBB-4DD5-A713-4925C56AD2BB}">
      <dsp:nvSpPr>
        <dsp:cNvPr id="0" name=""/>
        <dsp:cNvSpPr/>
      </dsp:nvSpPr>
      <dsp:spPr>
        <a:xfrm>
          <a:off x="0" y="3186480"/>
          <a:ext cx="7315200" cy="716040"/>
        </a:xfrm>
        <a:prstGeom prst="roundRect">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smtClean="0"/>
            <a:t>-In addition, the system also picks up the 50/60 Hz noise from the power lines which forms the common mode signal.</a:t>
          </a:r>
          <a:endParaRPr lang="en-US" sz="1800" kern="1200"/>
        </a:p>
      </dsp:txBody>
      <dsp:txXfrm>
        <a:off x="34954" y="3221434"/>
        <a:ext cx="7245292" cy="646132"/>
      </dsp:txXfrm>
    </dsp:sp>
    <dsp:sp modelId="{DBB61A7D-971E-4F0A-99CE-D1FF4CA310A8}">
      <dsp:nvSpPr>
        <dsp:cNvPr id="0" name=""/>
        <dsp:cNvSpPr/>
      </dsp:nvSpPr>
      <dsp:spPr>
        <a:xfrm>
          <a:off x="0" y="3954360"/>
          <a:ext cx="7315200" cy="71604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smtClean="0"/>
            <a:t>-The amplitude of the power line noise may be very high . So, it has to be filtered. </a:t>
          </a:r>
          <a:endParaRPr lang="en-US" sz="1800" kern="1200" dirty="0"/>
        </a:p>
      </dsp:txBody>
      <dsp:txXfrm>
        <a:off x="34954" y="3989314"/>
        <a:ext cx="7245292" cy="64613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84C925-B911-449B-BEAE-324D9C07C3D1}">
      <dsp:nvSpPr>
        <dsp:cNvPr id="0" name=""/>
        <dsp:cNvSpPr/>
      </dsp:nvSpPr>
      <dsp:spPr>
        <a:xfrm>
          <a:off x="0" y="553920"/>
          <a:ext cx="7162800" cy="6762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-Analog front-end processing forms an important part of the ECG system since it needs to distinguish noise and the desired signal which is of small amplitude.</a:t>
          </a:r>
          <a:endParaRPr lang="en-US" sz="1700" kern="1200"/>
        </a:p>
      </dsp:txBody>
      <dsp:txXfrm>
        <a:off x="33012" y="586932"/>
        <a:ext cx="7096776" cy="610236"/>
      </dsp:txXfrm>
    </dsp:sp>
    <dsp:sp modelId="{D8E02B4F-C77B-44E8-A478-B82EBC78571B}">
      <dsp:nvSpPr>
        <dsp:cNvPr id="0" name=""/>
        <dsp:cNvSpPr/>
      </dsp:nvSpPr>
      <dsp:spPr>
        <a:xfrm>
          <a:off x="0" y="1279140"/>
          <a:ext cx="7162800" cy="676260"/>
        </a:xfrm>
        <a:prstGeom prst="roundRect">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-The front end processing circuitry consists of an instrumentation amplifier which reduces the common mode signal.</a:t>
          </a:r>
          <a:endParaRPr lang="en-US" sz="1700" kern="1200"/>
        </a:p>
      </dsp:txBody>
      <dsp:txXfrm>
        <a:off x="33012" y="1312152"/>
        <a:ext cx="7096776" cy="610236"/>
      </dsp:txXfrm>
    </dsp:sp>
    <dsp:sp modelId="{EBC35FBB-9E8A-42B2-BF90-0FF27D2CB6C3}">
      <dsp:nvSpPr>
        <dsp:cNvPr id="0" name=""/>
        <dsp:cNvSpPr/>
      </dsp:nvSpPr>
      <dsp:spPr>
        <a:xfrm>
          <a:off x="0" y="2004360"/>
          <a:ext cx="7162800" cy="676260"/>
        </a:xfrm>
        <a:prstGeom prst="roundRect">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dirty="0" smtClean="0"/>
            <a:t>-Instrumentation amplifiers that operate on +/- 5V are commonly used to take advantage of the large input voltage range.</a:t>
          </a:r>
          <a:endParaRPr lang="en-US" sz="1700" kern="1200" dirty="0"/>
        </a:p>
      </dsp:txBody>
      <dsp:txXfrm>
        <a:off x="33012" y="2037372"/>
        <a:ext cx="7096776" cy="610236"/>
      </dsp:txXfrm>
    </dsp:sp>
    <dsp:sp modelId="{34D9CA57-FB31-4848-835E-7EDFDFBA8772}">
      <dsp:nvSpPr>
        <dsp:cNvPr id="0" name=""/>
        <dsp:cNvSpPr/>
      </dsp:nvSpPr>
      <dsp:spPr>
        <a:xfrm>
          <a:off x="0" y="2729580"/>
          <a:ext cx="7162800" cy="676260"/>
        </a:xfrm>
        <a:prstGeom prst="roundRect">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-The instrumentation amplifiers should have high input impedance since the skin resistance could be very large.</a:t>
          </a:r>
          <a:endParaRPr lang="en-US" sz="1700" kern="1200"/>
        </a:p>
      </dsp:txBody>
      <dsp:txXfrm>
        <a:off x="33012" y="2762592"/>
        <a:ext cx="7096776" cy="610236"/>
      </dsp:txXfrm>
    </dsp:sp>
    <dsp:sp modelId="{66CEC3F4-59E6-4DA0-9E91-92551D3D15CA}">
      <dsp:nvSpPr>
        <dsp:cNvPr id="0" name=""/>
        <dsp:cNvSpPr/>
      </dsp:nvSpPr>
      <dsp:spPr>
        <a:xfrm>
          <a:off x="0" y="3454800"/>
          <a:ext cx="7162800" cy="676260"/>
        </a:xfrm>
        <a:prstGeom prst="roundRect">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-Operational amplifiers are needed for signal conditioning for the ECG device.</a:t>
          </a:r>
          <a:endParaRPr lang="en-US" sz="1700" kern="1200"/>
        </a:p>
      </dsp:txBody>
      <dsp:txXfrm>
        <a:off x="33012" y="3487812"/>
        <a:ext cx="7096776" cy="610236"/>
      </dsp:txXfrm>
    </dsp:sp>
    <dsp:sp modelId="{507C2CF9-38AF-4996-B35B-60AA34BBC741}">
      <dsp:nvSpPr>
        <dsp:cNvPr id="0" name=""/>
        <dsp:cNvSpPr/>
      </dsp:nvSpPr>
      <dsp:spPr>
        <a:xfrm>
          <a:off x="0" y="4180020"/>
          <a:ext cx="7162800" cy="67626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-The signal chain for the acquisition system consists of instrumentation amplifiers, filters implemented through op-amps, and ACD s.</a:t>
          </a:r>
          <a:endParaRPr lang="en-US" sz="1700" kern="1200"/>
        </a:p>
      </dsp:txBody>
      <dsp:txXfrm>
        <a:off x="33012" y="4213032"/>
        <a:ext cx="7096776" cy="61023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19E929-6954-44CF-A0C0-7280F95264FA}">
      <dsp:nvSpPr>
        <dsp:cNvPr id="0" name=""/>
        <dsp:cNvSpPr/>
      </dsp:nvSpPr>
      <dsp:spPr>
        <a:xfrm>
          <a:off x="0" y="213219"/>
          <a:ext cx="7565882" cy="83197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smtClean="0"/>
            <a:t>To remove the wideband noises you can use the wavelet denoise express VI.</a:t>
          </a:r>
          <a:endParaRPr lang="en-US" sz="1500" kern="1200"/>
        </a:p>
      </dsp:txBody>
      <dsp:txXfrm>
        <a:off x="40614" y="253833"/>
        <a:ext cx="7484654" cy="750751"/>
      </dsp:txXfrm>
    </dsp:sp>
    <dsp:sp modelId="{F7D526B8-F0CD-4E3B-8B18-2808BC1253D1}">
      <dsp:nvSpPr>
        <dsp:cNvPr id="0" name=""/>
        <dsp:cNvSpPr/>
      </dsp:nvSpPr>
      <dsp:spPr>
        <a:xfrm>
          <a:off x="0" y="1088399"/>
          <a:ext cx="7565882" cy="831979"/>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dirty="0" smtClean="0"/>
            <a:t>The </a:t>
          </a:r>
          <a:r>
            <a:rPr lang="en-US" sz="1500" kern="1200" dirty="0" err="1" smtClean="0"/>
            <a:t>LabVIEW</a:t>
          </a:r>
          <a:r>
            <a:rPr lang="en-US" sz="1500" kern="1200" dirty="0" smtClean="0"/>
            <a:t> based higher level express VI decomposes the ECG signal into </a:t>
          </a:r>
          <a:r>
            <a:rPr lang="en-US" sz="1500" kern="1200" dirty="0" err="1" smtClean="0"/>
            <a:t>into</a:t>
          </a:r>
          <a:r>
            <a:rPr lang="en-US" sz="1500" kern="1200" dirty="0" smtClean="0"/>
            <a:t> several </a:t>
          </a:r>
          <a:r>
            <a:rPr lang="en-US" sz="1500" kern="1200" dirty="0" err="1" smtClean="0"/>
            <a:t>subbands</a:t>
          </a:r>
          <a:r>
            <a:rPr lang="en-US" sz="1500" kern="1200" dirty="0" smtClean="0"/>
            <a:t> by applying the wavelet transform , and then modifies each wavelet coefficient by applying a threshold or shrinkage function and finally reconstructs the </a:t>
          </a:r>
          <a:r>
            <a:rPr lang="en-US" sz="1500" kern="1200" dirty="0" err="1" smtClean="0"/>
            <a:t>denoised</a:t>
          </a:r>
          <a:r>
            <a:rPr lang="en-US" sz="1500" kern="1200" dirty="0" smtClean="0"/>
            <a:t> signal.</a:t>
          </a:r>
          <a:endParaRPr lang="en-US" sz="1500" kern="1200" dirty="0"/>
        </a:p>
      </dsp:txBody>
      <dsp:txXfrm>
        <a:off x="40614" y="1129013"/>
        <a:ext cx="7484654" cy="75075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46D7B6-C3BD-4E0C-9666-9D42B114FC4B}">
      <dsp:nvSpPr>
        <dsp:cNvPr id="0" name=""/>
        <dsp:cNvSpPr/>
      </dsp:nvSpPr>
      <dsp:spPr>
        <a:xfrm>
          <a:off x="0" y="709320"/>
          <a:ext cx="7315200" cy="6364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Baseline wandering usually comes from the respiration at frequencies between 0.15 Hz and 0.3 Hz, and you can suppress it by a high pass filter.</a:t>
          </a:r>
          <a:endParaRPr lang="en-US" sz="1600" kern="1200"/>
        </a:p>
      </dsp:txBody>
      <dsp:txXfrm>
        <a:off x="31070" y="740390"/>
        <a:ext cx="7253060" cy="574340"/>
      </dsp:txXfrm>
    </dsp:sp>
    <dsp:sp modelId="{E3325CBA-A70D-4F1B-85FE-A4942B4B8F77}">
      <dsp:nvSpPr>
        <dsp:cNvPr id="0" name=""/>
        <dsp:cNvSpPr/>
      </dsp:nvSpPr>
      <dsp:spPr>
        <a:xfrm>
          <a:off x="0" y="1391880"/>
          <a:ext cx="7315200" cy="636480"/>
        </a:xfrm>
        <a:prstGeom prst="roundRect">
          <a:avLst/>
        </a:prstGeom>
        <a:solidFill>
          <a:schemeClr val="accent2">
            <a:hueOff val="-363841"/>
            <a:satOff val="-20982"/>
            <a:lumOff val="2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Wavelet transform also can be used to remove baseline wandering by eliminating the trend of the ECG signal.</a:t>
          </a:r>
          <a:endParaRPr lang="en-US" sz="1600" kern="1200"/>
        </a:p>
      </dsp:txBody>
      <dsp:txXfrm>
        <a:off x="31070" y="1422950"/>
        <a:ext cx="7253060" cy="574340"/>
      </dsp:txXfrm>
    </dsp:sp>
    <dsp:sp modelId="{909798CB-497B-4364-A0E4-92425659ECD2}">
      <dsp:nvSpPr>
        <dsp:cNvPr id="0" name=""/>
        <dsp:cNvSpPr/>
      </dsp:nvSpPr>
      <dsp:spPr>
        <a:xfrm>
          <a:off x="0" y="2074440"/>
          <a:ext cx="7315200" cy="636480"/>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Below figure shows the original ECG signal and the resulting ECG signals processed by the digital filter-based and the wavelet transform based approaches.</a:t>
          </a:r>
          <a:endParaRPr lang="en-US" sz="1600" kern="1200"/>
        </a:p>
      </dsp:txBody>
      <dsp:txXfrm>
        <a:off x="31070" y="2105510"/>
        <a:ext cx="7253060" cy="574340"/>
      </dsp:txXfrm>
    </dsp:sp>
    <dsp:sp modelId="{CF645C79-5494-42BA-948D-D3197A02EE47}">
      <dsp:nvSpPr>
        <dsp:cNvPr id="0" name=""/>
        <dsp:cNvSpPr/>
      </dsp:nvSpPr>
      <dsp:spPr>
        <a:xfrm>
          <a:off x="0" y="2757000"/>
          <a:ext cx="7315200" cy="636480"/>
        </a:xfrm>
        <a:prstGeom prst="roundRect">
          <a:avLst/>
        </a:prstGeom>
        <a:solidFill>
          <a:schemeClr val="accent2">
            <a:hueOff val="-1091522"/>
            <a:satOff val="-62946"/>
            <a:lumOff val="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The resulting ECG signals contain little baseline wandering information but retain the main characteristics of the original ECG signal.</a:t>
          </a:r>
          <a:endParaRPr lang="en-US" sz="1600" kern="1200"/>
        </a:p>
      </dsp:txBody>
      <dsp:txXfrm>
        <a:off x="31070" y="2788070"/>
        <a:ext cx="7253060" cy="574340"/>
      </dsp:txXfrm>
    </dsp:sp>
    <dsp:sp modelId="{DCE3810B-7704-4644-B6F1-E1FE3E0FC1E8}">
      <dsp:nvSpPr>
        <dsp:cNvPr id="0" name=""/>
        <dsp:cNvSpPr/>
      </dsp:nvSpPr>
      <dsp:spPr>
        <a:xfrm>
          <a:off x="0" y="3439560"/>
          <a:ext cx="7315200" cy="63648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Wavelet transform based approach is better because this approach introduces no latency and less distortions than the digital filter based approach. </a:t>
          </a:r>
          <a:endParaRPr lang="en-US" sz="1600" kern="1200"/>
        </a:p>
      </dsp:txBody>
      <dsp:txXfrm>
        <a:off x="31070" y="3470630"/>
        <a:ext cx="7253060" cy="57434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0DAA3CF-D6D9-4A12-B5E8-9D3BDC3303B6}">
      <dsp:nvSpPr>
        <dsp:cNvPr id="0" name=""/>
        <dsp:cNvSpPr/>
      </dsp:nvSpPr>
      <dsp:spPr>
        <a:xfrm>
          <a:off x="457199" y="0"/>
          <a:ext cx="7772400"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ctr" defTabSz="1866900" rtl="0">
            <a:lnSpc>
              <a:spcPct val="90000"/>
            </a:lnSpc>
            <a:spcBef>
              <a:spcPct val="0"/>
            </a:spcBef>
            <a:spcAft>
              <a:spcPct val="35000"/>
            </a:spcAft>
          </a:pPr>
          <a:r>
            <a:rPr lang="en-US" sz="4200" b="1" kern="1200" dirty="0" smtClean="0"/>
            <a:t>ELECTROCARDIOGRAM (ECG)</a:t>
          </a:r>
          <a:endParaRPr lang="en-US" sz="4200" kern="1200" dirty="0"/>
        </a:p>
      </dsp:txBody>
      <dsp:txXfrm>
        <a:off x="457199" y="0"/>
        <a:ext cx="7772400" cy="914399"/>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5D0C7D-798A-44DC-AC41-FEC01C38F0EB}" type="datetimeFigureOut">
              <a:rPr lang="en-US" smtClean="0"/>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1A1DE6-A801-4746-9FC0-8352D20A3103}" type="slidenum">
              <a:rPr lang="en-US" smtClean="0"/>
              <a:t>‹#›</a:t>
            </a:fld>
            <a:endParaRPr lang="en-US"/>
          </a:p>
        </p:txBody>
      </p:sp>
    </p:spTree>
    <p:extLst>
      <p:ext uri="{BB962C8B-B14F-4D97-AF65-F5344CB8AC3E}">
        <p14:creationId xmlns:p14="http://schemas.microsoft.com/office/powerpoint/2010/main" val="2859593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http://www.sophphx.caltech.edu/Physics_5/Experiment_6.pdf</a:t>
            </a:r>
          </a:p>
          <a:p>
            <a:endParaRPr lang="en-US" dirty="0" smtClean="0"/>
          </a:p>
          <a:p>
            <a:r>
              <a:rPr lang="en-US" dirty="0" smtClean="0"/>
              <a:t>https://ocw.mit.edu/ans7870/RES/RES.6-010/MITRES_6-010S13_comchaptrs.pdf</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884784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C77EA2CC-FABD-466D-82E8-AC953C7EC0CC}" type="slidenum">
              <a:rPr lang="en-US" smtClean="0"/>
              <a:t>65</a:t>
            </a:fld>
            <a:endParaRPr lang="en-US"/>
          </a:p>
        </p:txBody>
      </p:sp>
    </p:spTree>
    <p:extLst>
      <p:ext uri="{BB962C8B-B14F-4D97-AF65-F5344CB8AC3E}">
        <p14:creationId xmlns:p14="http://schemas.microsoft.com/office/powerpoint/2010/main" val="4087328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88409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622034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46888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7BBB5D1-B60B-4B38-B17E-7765EA145201}"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944396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7BBB5D1-B60B-4B38-B17E-7765EA145201}"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022342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7BBB5D1-B60B-4B38-B17E-7765EA145201}"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362084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BBB5D1-B60B-4B38-B17E-7765EA145201}"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56292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775841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201192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073669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979566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0"/>
            <a:ext cx="5384800" cy="4495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495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09600" y="6248400"/>
            <a:ext cx="2844800" cy="457200"/>
          </a:xfrm>
        </p:spPr>
        <p:txBody>
          <a:bodyPr/>
          <a:lstStyle>
            <a:lvl1pPr>
              <a:defRPr/>
            </a:lvl1pPr>
          </a:lstStyle>
          <a:p>
            <a:endParaRPr lang="en-US" alt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ltLang="en-US"/>
          </a:p>
        </p:txBody>
      </p:sp>
      <p:sp>
        <p:nvSpPr>
          <p:cNvPr id="7" name="Slide Number Placeholder 6"/>
          <p:cNvSpPr>
            <a:spLocks noGrp="1"/>
          </p:cNvSpPr>
          <p:nvPr>
            <p:ph type="sldNum" sz="quarter" idx="12"/>
          </p:nvPr>
        </p:nvSpPr>
        <p:spPr>
          <a:xfrm>
            <a:off x="8737600" y="6248400"/>
            <a:ext cx="2844800" cy="457200"/>
          </a:xfrm>
        </p:spPr>
        <p:txBody>
          <a:bodyPr/>
          <a:lstStyle>
            <a:lvl1pPr>
              <a:defRPr/>
            </a:lvl1pPr>
          </a:lstStyle>
          <a:p>
            <a:fld id="{6804A7E8-D262-4076-9CAD-B7C6BCF935A6}" type="slidenum">
              <a:rPr lang="en-US" altLang="en-US"/>
              <a:pPr/>
              <a:t>‹#›</a:t>
            </a:fld>
            <a:endParaRPr lang="en-US" altLang="en-US"/>
          </a:p>
        </p:txBody>
      </p:sp>
    </p:spTree>
    <p:extLst>
      <p:ext uri="{BB962C8B-B14F-4D97-AF65-F5344CB8AC3E}">
        <p14:creationId xmlns:p14="http://schemas.microsoft.com/office/powerpoint/2010/main" val="10814419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0"/>
            <a:ext cx="10972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09600" y="3938589"/>
            <a:ext cx="10972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09600" y="6245225"/>
            <a:ext cx="2844800" cy="476250"/>
          </a:xfrm>
        </p:spPr>
        <p:txBody>
          <a:bodyPr/>
          <a:lstStyle>
            <a:lvl1pPr>
              <a:defRPr/>
            </a:lvl1pPr>
          </a:lstStyle>
          <a:p>
            <a:fld id="{F47CDE24-9066-4186-8356-7C98E76EB770}" type="datetimeFigureOut">
              <a:rPr lang="en-US" smtClean="0"/>
              <a:t>3/17/2026</a:t>
            </a:fld>
            <a:endParaRPr lang="en-US"/>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5225"/>
            <a:ext cx="2844800" cy="476250"/>
          </a:xfrm>
        </p:spPr>
        <p:txBody>
          <a:bodyPr/>
          <a:lstStyle>
            <a:lvl1pPr>
              <a:defRPr/>
            </a:lvl1pPr>
          </a:lstStyle>
          <a:p>
            <a:fld id="{8C2D4023-F991-4AAD-8961-7A35BC15804D}" type="slidenum">
              <a:rPr lang="en-US" smtClean="0"/>
              <a:t>‹#›</a:t>
            </a:fld>
            <a:endParaRPr lang="en-US"/>
          </a:p>
        </p:txBody>
      </p:sp>
      <p:pic>
        <p:nvPicPr>
          <p:cNvPr id="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344" y="6172201"/>
            <a:ext cx="829056" cy="641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8323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BBB5D1-B60B-4B38-B17E-7765EA145201}" type="datetimeFigureOut">
              <a:rPr lang="en-US" smtClean="0"/>
              <a:t>3/17/2026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F42857-403A-4A86-BF79-9A4C4603A143}" type="slidenum">
              <a:rPr lang="en-US" smtClean="0"/>
              <a:t>‹#›</a:t>
            </a:fld>
            <a:endParaRPr lang="en-US"/>
          </a:p>
        </p:txBody>
      </p:sp>
    </p:spTree>
    <p:extLst>
      <p:ext uri="{BB962C8B-B14F-4D97-AF65-F5344CB8AC3E}">
        <p14:creationId xmlns:p14="http://schemas.microsoft.com/office/powerpoint/2010/main" val="2655898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2.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2.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image" Target="../media/image15.jpeg"/><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12.xml"/><Relationship Id="rId4" Type="http://schemas.openxmlformats.org/officeDocument/2006/relationships/image" Target="../media/image29.jpeg"/></Relationships>
</file>

<file path=ppt/slides/_rels/slide1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12.xml"/><Relationship Id="rId4" Type="http://schemas.openxmlformats.org/officeDocument/2006/relationships/image" Target="../media/image37.jpeg"/></Relationships>
</file>

<file path=ppt/slides/_rels/slide2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png"/><Relationship Id="rId1" Type="http://schemas.openxmlformats.org/officeDocument/2006/relationships/slideLayout" Target="../slideLayouts/slideLayout12.xml"/><Relationship Id="rId4" Type="http://schemas.openxmlformats.org/officeDocument/2006/relationships/image" Target="../media/image42.jpeg"/></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8" Type="http://schemas.openxmlformats.org/officeDocument/2006/relationships/hyperlink" Target="http://kettle.cs.berkeley.edu/health05/uploads/6/TaiyoYudenEYMF2CAMM-XX.pdf" TargetMode="External"/><Relationship Id="rId3" Type="http://schemas.openxmlformats.org/officeDocument/2006/relationships/hyperlink" Target="http://kettle.cs.berkeley.edu/health05/uploads/6/CSRbluecore3data.pdf" TargetMode="External"/><Relationship Id="rId7" Type="http://schemas.openxmlformats.org/officeDocument/2006/relationships/hyperlink" Target="http://kettle.cs.berkeley.edu/health05/uploads/6/Free2MoveF2M03AC2DSS.pdf" TargetMode="External"/><Relationship Id="rId2" Type="http://schemas.openxmlformats.org/officeDocument/2006/relationships/hyperlink" Target="http://kettle.cs.berkeley.edu/health05/uploads/6/CSRbluecore2data.pdf" TargetMode="External"/><Relationship Id="rId1" Type="http://schemas.openxmlformats.org/officeDocument/2006/relationships/slideLayout" Target="../slideLayouts/slideLayout12.xml"/><Relationship Id="rId6" Type="http://schemas.openxmlformats.org/officeDocument/2006/relationships/hyperlink" Target="http://kettle.cs.berkeley.edu/health05/uploads/6/BroadcomBCM2037.pdf" TargetMode="External"/><Relationship Id="rId11" Type="http://schemas.openxmlformats.org/officeDocument/2006/relationships/hyperlink" Target="http://kettle.cs.berkeley.edu/health05/uploads/6/WRAP_THOR_2022.pdf" TargetMode="External"/><Relationship Id="rId5" Type="http://schemas.openxmlformats.org/officeDocument/2006/relationships/hyperlink" Target="http://kettle.cs.berkeley.edu/health05/uploads/6/BroadcomBCM2040.pdf" TargetMode="External"/><Relationship Id="rId10" Type="http://schemas.openxmlformats.org/officeDocument/2006/relationships/hyperlink" Target="http://kettle.cs.berkeley.edu/health05/uploads/6/Free2moveF2M03C1.pdf" TargetMode="External"/><Relationship Id="rId4" Type="http://schemas.openxmlformats.org/officeDocument/2006/relationships/hyperlink" Target="http://kettle.cs.berkeley.edu/health05/uploads/6/CSRbluecore4data.pdf" TargetMode="External"/><Relationship Id="rId9" Type="http://schemas.openxmlformats.org/officeDocument/2006/relationships/hyperlink" Target="http://kettle.cs.berkeley.edu/health05/uploads/6/BlueGigaWT12.pdf"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5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hyperlink" Target="http://www.ni.com/white-paper/6349/en" TargetMode="Externa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www.ni.com/white-paper/6349/en" TargetMode="Externa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2.png"/><Relationship Id="rId7" Type="http://schemas.openxmlformats.org/officeDocument/2006/relationships/diagramColors" Target="../diagrams/colors9.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ubtitle 2"/>
          <p:cNvSpPr txBox="1">
            <a:spLocks/>
          </p:cNvSpPr>
          <p:nvPr/>
        </p:nvSpPr>
        <p:spPr>
          <a:xfrm>
            <a:off x="5038473" y="1264112"/>
            <a:ext cx="5287688" cy="5210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solidFill>
                <a:srgbClr val="00B0F0"/>
              </a:solidFill>
            </a:endParaRPr>
          </a:p>
        </p:txBody>
      </p:sp>
      <p:grpSp>
        <p:nvGrpSpPr>
          <p:cNvPr id="20" name="Group 19"/>
          <p:cNvGrpSpPr/>
          <p:nvPr/>
        </p:nvGrpSpPr>
        <p:grpSpPr>
          <a:xfrm>
            <a:off x="234110" y="395322"/>
            <a:ext cx="4804363" cy="2463094"/>
            <a:chOff x="54496" y="359621"/>
            <a:chExt cx="4804363" cy="2463094"/>
          </a:xfrm>
        </p:grpSpPr>
        <p:pic>
          <p:nvPicPr>
            <p:cNvPr id="19" name="Picture 18"/>
            <p:cNvPicPr>
              <a:picLocks noChangeAspect="1"/>
            </p:cNvPicPr>
            <p:nvPr/>
          </p:nvPicPr>
          <p:blipFill>
            <a:blip r:embed="rId3"/>
            <a:stretch>
              <a:fillRect/>
            </a:stretch>
          </p:blipFill>
          <p:spPr>
            <a:xfrm>
              <a:off x="235105" y="1901987"/>
              <a:ext cx="3104181" cy="263526"/>
            </a:xfrm>
            <a:prstGeom prst="rect">
              <a:avLst/>
            </a:prstGeom>
          </p:spPr>
        </p:pic>
        <p:sp>
          <p:nvSpPr>
            <p:cNvPr id="6"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7" name="Group 6">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8" name="Freeform 7">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9" name="Freeform 8">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0" name="Group 9">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17"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18"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
        <p:nvSpPr>
          <p:cNvPr id="22" name="Rectangle 21"/>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23" name="Rectangle 22"/>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24" name="Rectangle 23"/>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25" name="Rectangle 24"/>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26" name="Rectangle 25"/>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graphicFrame>
        <p:nvGraphicFramePr>
          <p:cNvPr id="21" name="Diagram 20"/>
          <p:cNvGraphicFramePr/>
          <p:nvPr>
            <p:extLst>
              <p:ext uri="{D42A27DB-BD31-4B8C-83A1-F6EECF244321}">
                <p14:modId xmlns:p14="http://schemas.microsoft.com/office/powerpoint/2010/main" val="2909784227"/>
              </p:ext>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7" name="Pie 26"/>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spTree>
    <p:extLst>
      <p:ext uri="{BB962C8B-B14F-4D97-AF65-F5344CB8AC3E}">
        <p14:creationId xmlns:p14="http://schemas.microsoft.com/office/powerpoint/2010/main" val="38640026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title"/>
          </p:nvPr>
        </p:nvSpPr>
        <p:spPr/>
        <p:txBody>
          <a:bodyPr/>
          <a:lstStyle/>
          <a:p>
            <a:pPr algn="l"/>
            <a:r>
              <a:rPr lang="en-US" altLang="en-US" sz="4000" dirty="0" smtClean="0"/>
              <a:t>Outline:</a:t>
            </a:r>
            <a:endParaRPr lang="en-US" altLang="en-US" sz="4000" dirty="0"/>
          </a:p>
        </p:txBody>
      </p:sp>
      <p:sp>
        <p:nvSpPr>
          <p:cNvPr id="435203" name="Rectangle 3"/>
          <p:cNvSpPr>
            <a:spLocks noGrp="1" noChangeArrowheads="1"/>
          </p:cNvSpPr>
          <p:nvPr>
            <p:ph type="body" sz="half" idx="1"/>
          </p:nvPr>
        </p:nvSpPr>
        <p:spPr>
          <a:xfrm>
            <a:off x="1981200" y="1447800"/>
            <a:ext cx="8229600" cy="4876800"/>
          </a:xfrm>
        </p:spPr>
        <p:txBody>
          <a:bodyPr/>
          <a:lstStyle/>
          <a:p>
            <a:pPr marL="400050" indent="-400050">
              <a:buNone/>
            </a:pPr>
            <a:r>
              <a:rPr lang="en-US" altLang="en-US" sz="2400" dirty="0"/>
              <a:t>Sensing for health:</a:t>
            </a:r>
          </a:p>
          <a:p>
            <a:pPr marL="400050" indent="-400050"/>
            <a:r>
              <a:rPr lang="en-US" altLang="en-US" sz="2400" dirty="0"/>
              <a:t>Vital signs sensors</a:t>
            </a:r>
          </a:p>
          <a:p>
            <a:pPr marL="400050" indent="-400050"/>
            <a:r>
              <a:rPr lang="en-US" altLang="en-US" sz="2400" dirty="0"/>
              <a:t>Disease sensors</a:t>
            </a:r>
          </a:p>
          <a:p>
            <a:pPr marL="400050" indent="-400050"/>
            <a:r>
              <a:rPr lang="en-US" altLang="en-US" sz="2400" dirty="0"/>
              <a:t>Environmental sensing (mention only)</a:t>
            </a:r>
          </a:p>
          <a:p>
            <a:pPr marL="400050" indent="-400050">
              <a:buNone/>
            </a:pPr>
            <a:endParaRPr lang="en-US" altLang="en-US" sz="2400" dirty="0"/>
          </a:p>
          <a:p>
            <a:pPr marL="400050" indent="-400050">
              <a:buNone/>
            </a:pPr>
            <a:r>
              <a:rPr lang="en-US" altLang="en-US" sz="2400" dirty="0"/>
              <a:t>Networking: </a:t>
            </a:r>
          </a:p>
          <a:p>
            <a:pPr marL="400050" indent="-400050"/>
            <a:r>
              <a:rPr lang="en-US" altLang="en-US" sz="2400" dirty="0"/>
              <a:t>Requirements for health sensing</a:t>
            </a:r>
          </a:p>
          <a:p>
            <a:pPr marL="400050" indent="-400050"/>
            <a:r>
              <a:rPr lang="en-US" altLang="en-US" sz="2400" dirty="0"/>
              <a:t>Wired (serial/USB) and wireless (Bluetooth) systems for sensing, cell phones etc.</a:t>
            </a:r>
          </a:p>
        </p:txBody>
      </p:sp>
      <p:graphicFrame>
        <p:nvGraphicFramePr>
          <p:cNvPr id="4" name="Diagram 3"/>
          <p:cNvGraphicFramePr/>
          <p:nvPr>
            <p:extLst>
              <p:ext uri="{D42A27DB-BD31-4B8C-83A1-F6EECF244321}">
                <p14:modId xmlns:p14="http://schemas.microsoft.com/office/powerpoint/2010/main" val="1593706113"/>
              </p:ext>
            </p:extLst>
          </p:nvPr>
        </p:nvGraphicFramePr>
        <p:xfrm>
          <a:off x="1981200" y="5655129"/>
          <a:ext cx="8229600" cy="914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Pie 4"/>
          <p:cNvSpPr/>
          <p:nvPr/>
        </p:nvSpPr>
        <p:spPr>
          <a:xfrm rot="10600249">
            <a:off x="9753600" y="5655127"/>
            <a:ext cx="914399" cy="914399"/>
          </a:xfrm>
          <a:prstGeom prst="pie">
            <a:avLst>
              <a:gd name="adj1" fmla="val 5400000"/>
              <a:gd name="adj2" fmla="val 16200000"/>
            </a:avLst>
          </a:pr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sp>
    </p:spTree>
    <p:extLst>
      <p:ext uri="{BB962C8B-B14F-4D97-AF65-F5344CB8AC3E}">
        <p14:creationId xmlns:p14="http://schemas.microsoft.com/office/powerpoint/2010/main" val="1594732468"/>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p:txBody>
          <a:bodyPr/>
          <a:lstStyle/>
          <a:p>
            <a:pPr algn="l"/>
            <a:r>
              <a:rPr lang="en-US" altLang="en-US" sz="4000"/>
              <a:t>Vital Signs/Basic Health sensing</a:t>
            </a:r>
          </a:p>
        </p:txBody>
      </p:sp>
      <p:sp>
        <p:nvSpPr>
          <p:cNvPr id="393219" name="Rectangle 3"/>
          <p:cNvSpPr>
            <a:spLocks noGrp="1" noChangeArrowheads="1"/>
          </p:cNvSpPr>
          <p:nvPr>
            <p:ph type="body" sz="half" idx="1"/>
          </p:nvPr>
        </p:nvSpPr>
        <p:spPr>
          <a:xfrm>
            <a:off x="1981200" y="1447800"/>
            <a:ext cx="8229600" cy="4876800"/>
          </a:xfrm>
        </p:spPr>
        <p:txBody>
          <a:bodyPr/>
          <a:lstStyle/>
          <a:p>
            <a:pPr marL="400050" indent="-400050">
              <a:buNone/>
            </a:pPr>
            <a:r>
              <a:rPr lang="en-US" altLang="en-US" sz="2400"/>
              <a:t>Vital Signs:</a:t>
            </a:r>
          </a:p>
          <a:p>
            <a:pPr marL="400050" indent="-400050"/>
            <a:r>
              <a:rPr lang="en-US" altLang="en-US" sz="2400"/>
              <a:t>Body temperature</a:t>
            </a:r>
          </a:p>
          <a:p>
            <a:pPr marL="400050" indent="-400050"/>
            <a:r>
              <a:rPr lang="en-US" altLang="en-US" sz="2400"/>
              <a:t>Blood pressure</a:t>
            </a:r>
          </a:p>
          <a:p>
            <a:pPr marL="400050" indent="-400050"/>
            <a:r>
              <a:rPr lang="en-US" altLang="en-US" sz="2400"/>
              <a:t>Pulse (pressure)</a:t>
            </a:r>
          </a:p>
          <a:p>
            <a:pPr marL="400050" indent="-400050"/>
            <a:r>
              <a:rPr lang="en-US" altLang="en-US" sz="2400"/>
              <a:t>Pulse (oximetry)</a:t>
            </a:r>
          </a:p>
          <a:p>
            <a:pPr marL="400050" indent="-400050"/>
            <a:r>
              <a:rPr lang="en-US" altLang="en-US" sz="2400"/>
              <a:t>Pulse (ECG electrical)</a:t>
            </a:r>
          </a:p>
          <a:p>
            <a:pPr marL="400050" indent="-400050"/>
            <a:r>
              <a:rPr lang="en-US" altLang="en-US" sz="2400"/>
              <a:t>Stethoscope (acoustic chest measurements)</a:t>
            </a:r>
          </a:p>
          <a:p>
            <a:pPr marL="400050" indent="-400050"/>
            <a:r>
              <a:rPr lang="en-US" altLang="en-US" sz="2400"/>
              <a:t>Pedometers (walking, running)</a:t>
            </a:r>
          </a:p>
          <a:p>
            <a:pPr marL="400050" indent="-400050"/>
            <a:r>
              <a:rPr lang="en-US" altLang="en-US" sz="2400"/>
              <a:t>Weight/Body fat</a:t>
            </a:r>
          </a:p>
        </p:txBody>
      </p:sp>
    </p:spTree>
    <p:extLst>
      <p:ext uri="{BB962C8B-B14F-4D97-AF65-F5344CB8AC3E}">
        <p14:creationId xmlns:p14="http://schemas.microsoft.com/office/powerpoint/2010/main" val="3750273687"/>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pPr algn="l"/>
            <a:r>
              <a:rPr lang="en-US" altLang="en-US" sz="4000"/>
              <a:t>Disease Monitoring</a:t>
            </a:r>
          </a:p>
        </p:txBody>
      </p:sp>
      <p:sp>
        <p:nvSpPr>
          <p:cNvPr id="411651" name="Rectangle 3"/>
          <p:cNvSpPr>
            <a:spLocks noGrp="1" noChangeArrowheads="1"/>
          </p:cNvSpPr>
          <p:nvPr>
            <p:ph type="body" sz="half" idx="1"/>
          </p:nvPr>
        </p:nvSpPr>
        <p:spPr>
          <a:xfrm>
            <a:off x="1981200" y="1447800"/>
            <a:ext cx="8229600" cy="4876800"/>
          </a:xfrm>
        </p:spPr>
        <p:txBody>
          <a:bodyPr/>
          <a:lstStyle/>
          <a:p>
            <a:pPr marL="400050" indent="-400050"/>
            <a:r>
              <a:rPr lang="en-US" altLang="en-US" sz="2400"/>
              <a:t>Asthma</a:t>
            </a:r>
          </a:p>
          <a:p>
            <a:pPr marL="400050" indent="-400050"/>
            <a:r>
              <a:rPr lang="en-US" altLang="en-US" sz="2400"/>
              <a:t>Diabetes</a:t>
            </a:r>
          </a:p>
          <a:p>
            <a:pPr marL="1081088" lvl="1" indent="-457200"/>
            <a:r>
              <a:rPr lang="en-US" altLang="en-US" sz="2000"/>
              <a:t>Blood Glucose</a:t>
            </a:r>
          </a:p>
          <a:p>
            <a:pPr marL="1081088" lvl="1" indent="-457200"/>
            <a:r>
              <a:rPr lang="en-US" altLang="en-US" sz="2000"/>
              <a:t>Non-invasive methods</a:t>
            </a:r>
          </a:p>
          <a:p>
            <a:pPr marL="400050" indent="-400050"/>
            <a:r>
              <a:rPr lang="en-US" altLang="en-US" sz="2400"/>
              <a:t>Heart problems – EKG monitoring</a:t>
            </a:r>
          </a:p>
        </p:txBody>
      </p:sp>
    </p:spTree>
    <p:extLst>
      <p:ext uri="{BB962C8B-B14F-4D97-AF65-F5344CB8AC3E}">
        <p14:creationId xmlns:p14="http://schemas.microsoft.com/office/powerpoint/2010/main" val="1889195052"/>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pPr algn="l"/>
            <a:r>
              <a:rPr lang="en-US" altLang="en-US" sz="4000"/>
              <a:t>Environmental Sensing (later)</a:t>
            </a:r>
          </a:p>
        </p:txBody>
      </p:sp>
      <p:sp>
        <p:nvSpPr>
          <p:cNvPr id="419843" name="Rectangle 3"/>
          <p:cNvSpPr>
            <a:spLocks noGrp="1" noChangeArrowheads="1"/>
          </p:cNvSpPr>
          <p:nvPr>
            <p:ph type="body" sz="half" idx="1"/>
          </p:nvPr>
        </p:nvSpPr>
        <p:spPr>
          <a:xfrm>
            <a:off x="1981200" y="1447800"/>
            <a:ext cx="8229600" cy="4876800"/>
          </a:xfrm>
        </p:spPr>
        <p:txBody>
          <a:bodyPr/>
          <a:lstStyle/>
          <a:p>
            <a:pPr marL="400050" indent="-400050"/>
            <a:r>
              <a:rPr lang="en-US" altLang="en-US" sz="2400"/>
              <a:t>Air Quality</a:t>
            </a:r>
          </a:p>
          <a:p>
            <a:pPr marL="1081088" lvl="1" indent="-457200"/>
            <a:r>
              <a:rPr lang="en-US" altLang="en-US" sz="2000"/>
              <a:t>Particulate matter</a:t>
            </a:r>
          </a:p>
          <a:p>
            <a:pPr marL="1081088" lvl="1" indent="-457200"/>
            <a:r>
              <a:rPr lang="en-US" altLang="en-US" sz="2000"/>
              <a:t>Sulfur oxides</a:t>
            </a:r>
          </a:p>
          <a:p>
            <a:pPr marL="1081088" lvl="1" indent="-457200"/>
            <a:r>
              <a:rPr lang="en-US" altLang="en-US" sz="2000"/>
              <a:t>CO</a:t>
            </a:r>
          </a:p>
          <a:p>
            <a:pPr marL="1081088" lvl="1" indent="-457200"/>
            <a:r>
              <a:rPr lang="en-US" altLang="en-US" sz="2000"/>
              <a:t>CO</a:t>
            </a:r>
            <a:r>
              <a:rPr lang="en-US" altLang="en-US" sz="2000" baseline="-25000"/>
              <a:t>2</a:t>
            </a:r>
            <a:r>
              <a:rPr lang="en-US" altLang="en-US" sz="2000"/>
              <a:t>, Nitrogen oxides, hydrocarbons… </a:t>
            </a:r>
          </a:p>
          <a:p>
            <a:pPr marL="400050" indent="-400050"/>
            <a:r>
              <a:rPr lang="en-US" altLang="en-US" sz="2400"/>
              <a:t>Water Quality</a:t>
            </a:r>
          </a:p>
          <a:p>
            <a:pPr marL="1081088" lvl="1" indent="-457200"/>
            <a:r>
              <a:rPr lang="en-US" altLang="en-US" sz="2000"/>
              <a:t>Bacteria: Typhoid, Cholera, E-coli</a:t>
            </a:r>
          </a:p>
          <a:p>
            <a:pPr marL="1081088" lvl="1" indent="-457200"/>
            <a:r>
              <a:rPr lang="en-US" altLang="en-US" sz="2000"/>
              <a:t>Protozoa: Cryptosporidium and Giardia</a:t>
            </a:r>
          </a:p>
          <a:p>
            <a:pPr marL="1081088" lvl="1" indent="-457200"/>
            <a:r>
              <a:rPr lang="en-US" altLang="en-US" sz="2000"/>
              <a:t>Viruses: Hepatitis, many types of diarrhoea</a:t>
            </a:r>
          </a:p>
          <a:p>
            <a:pPr marL="1081088" lvl="1" indent="-457200"/>
            <a:r>
              <a:rPr lang="en-US" altLang="en-US" sz="2000"/>
              <a:t>Helminths: Parasitic worms, Ascariasis, Hookworm</a:t>
            </a:r>
          </a:p>
          <a:p>
            <a:pPr marL="1081088" lvl="1" indent="-457200"/>
            <a:r>
              <a:rPr lang="en-US" altLang="en-US" sz="2000"/>
              <a:t>Arsenic: responsible for &gt; 200,000 deaths/year</a:t>
            </a:r>
          </a:p>
        </p:txBody>
      </p:sp>
    </p:spTree>
    <p:extLst>
      <p:ext uri="{BB962C8B-B14F-4D97-AF65-F5344CB8AC3E}">
        <p14:creationId xmlns:p14="http://schemas.microsoft.com/office/powerpoint/2010/main" val="1433041943"/>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pPr algn="l"/>
            <a:r>
              <a:rPr lang="en-US" altLang="en-US" sz="4000"/>
              <a:t>Basic Health - Temperature sensors</a:t>
            </a:r>
          </a:p>
        </p:txBody>
      </p:sp>
      <p:sp>
        <p:nvSpPr>
          <p:cNvPr id="396291" name="Rectangle 3"/>
          <p:cNvSpPr>
            <a:spLocks noGrp="1" noChangeArrowheads="1"/>
          </p:cNvSpPr>
          <p:nvPr>
            <p:ph type="body" sz="half" idx="1"/>
          </p:nvPr>
        </p:nvSpPr>
        <p:spPr>
          <a:xfrm>
            <a:off x="1981200" y="1447800"/>
            <a:ext cx="8229600" cy="4876800"/>
          </a:xfrm>
        </p:spPr>
        <p:txBody>
          <a:bodyPr/>
          <a:lstStyle/>
          <a:p>
            <a:pPr marL="0" indent="0">
              <a:buNone/>
            </a:pPr>
            <a:r>
              <a:rPr lang="en-US" altLang="en-US" sz="2400"/>
              <a:t>Simplest form of sensor. Quite a few of these on the market, several have PC interfaces.</a:t>
            </a:r>
          </a:p>
          <a:p>
            <a:pPr marL="0" indent="0">
              <a:buNone/>
            </a:pPr>
            <a:endParaRPr lang="en-US" altLang="en-US" sz="2400"/>
          </a:p>
          <a:p>
            <a:pPr marL="0" indent="0">
              <a:buNone/>
            </a:pPr>
            <a:r>
              <a:rPr lang="en-US" altLang="en-US" sz="2400"/>
              <a:t>Electronic versions use small thermal </a:t>
            </a:r>
            <a:br>
              <a:rPr lang="en-US" altLang="en-US" sz="2400"/>
            </a:br>
            <a:r>
              <a:rPr lang="en-US" altLang="en-US" sz="2400"/>
              <a:t>sensing elements – fast response. </a:t>
            </a:r>
          </a:p>
          <a:p>
            <a:pPr marL="0" indent="0">
              <a:buNone/>
            </a:pPr>
            <a:endParaRPr lang="en-US" altLang="en-US" sz="2400"/>
          </a:p>
        </p:txBody>
      </p:sp>
      <p:pic>
        <p:nvPicPr>
          <p:cNvPr id="396292" name="Picture 4" descr="omron_mc5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3401" y="2895600"/>
            <a:ext cx="1560513" cy="2286000"/>
          </a:xfrm>
          <a:prstGeom prst="rect">
            <a:avLst/>
          </a:prstGeom>
          <a:noFill/>
          <a:extLst>
            <a:ext uri="{909E8E84-426E-40DD-AFC4-6F175D3DCCD1}">
              <a14:hiddenFill xmlns:a14="http://schemas.microsoft.com/office/drawing/2010/main">
                <a:solidFill>
                  <a:srgbClr val="FFFFFF"/>
                </a:solidFill>
              </a14:hiddenFill>
            </a:ext>
          </a:extLst>
        </p:spPr>
      </p:pic>
      <p:pic>
        <p:nvPicPr>
          <p:cNvPr id="396293" name="Picture 5" descr="PS2131_XL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4191001"/>
            <a:ext cx="4470400" cy="1374775"/>
          </a:xfrm>
          <a:prstGeom prst="rect">
            <a:avLst/>
          </a:prstGeom>
          <a:noFill/>
          <a:extLst>
            <a:ext uri="{909E8E84-426E-40DD-AFC4-6F175D3DCCD1}">
              <a14:hiddenFill xmlns:a14="http://schemas.microsoft.com/office/drawing/2010/main">
                <a:solidFill>
                  <a:srgbClr val="FFFFFF"/>
                </a:solidFill>
              </a14:hiddenFill>
            </a:ext>
          </a:extLst>
        </p:spPr>
      </p:pic>
      <p:sp>
        <p:nvSpPr>
          <p:cNvPr id="396294" name="Text Box 6"/>
          <p:cNvSpPr txBox="1">
            <a:spLocks noChangeArrowheads="1"/>
          </p:cNvSpPr>
          <p:nvPr/>
        </p:nvSpPr>
        <p:spPr bwMode="auto">
          <a:xfrm>
            <a:off x="7620001" y="5486400"/>
            <a:ext cx="23853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Omron thermometer</a:t>
            </a:r>
          </a:p>
        </p:txBody>
      </p:sp>
      <p:sp>
        <p:nvSpPr>
          <p:cNvPr id="396295" name="Text Box 7"/>
          <p:cNvSpPr txBox="1">
            <a:spLocks noChangeArrowheads="1"/>
          </p:cNvSpPr>
          <p:nvPr/>
        </p:nvSpPr>
        <p:spPr bwMode="auto">
          <a:xfrm>
            <a:off x="2362201" y="5867400"/>
            <a:ext cx="30474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Pasco PasPort temp. sensor</a:t>
            </a:r>
          </a:p>
        </p:txBody>
      </p:sp>
    </p:spTree>
    <p:extLst>
      <p:ext uri="{BB962C8B-B14F-4D97-AF65-F5344CB8AC3E}">
        <p14:creationId xmlns:p14="http://schemas.microsoft.com/office/powerpoint/2010/main" val="4123897953"/>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Grp="1" noChangeArrowheads="1"/>
          </p:cNvSpPr>
          <p:nvPr>
            <p:ph type="title"/>
          </p:nvPr>
        </p:nvSpPr>
        <p:spPr/>
        <p:txBody>
          <a:bodyPr/>
          <a:lstStyle/>
          <a:p>
            <a:pPr algn="l"/>
            <a:r>
              <a:rPr lang="en-US" altLang="en-US" sz="4000"/>
              <a:t>Blood Pressure Monitors</a:t>
            </a:r>
          </a:p>
        </p:txBody>
      </p:sp>
      <p:sp>
        <p:nvSpPr>
          <p:cNvPr id="399363" name="Rectangle 3"/>
          <p:cNvSpPr>
            <a:spLocks noGrp="1" noChangeArrowheads="1"/>
          </p:cNvSpPr>
          <p:nvPr>
            <p:ph type="body" sz="half" idx="1"/>
          </p:nvPr>
        </p:nvSpPr>
        <p:spPr>
          <a:xfrm>
            <a:off x="1981200" y="1447800"/>
            <a:ext cx="8229600" cy="4876800"/>
          </a:xfrm>
        </p:spPr>
        <p:txBody>
          <a:bodyPr/>
          <a:lstStyle/>
          <a:p>
            <a:pPr marL="0" indent="0">
              <a:buNone/>
            </a:pPr>
            <a:r>
              <a:rPr lang="en-US" altLang="en-US" sz="2400"/>
              <a:t>The most accurate versions are arm cuff models. </a:t>
            </a:r>
          </a:p>
          <a:p>
            <a:pPr marL="0" indent="0">
              <a:buNone/>
            </a:pPr>
            <a:r>
              <a:rPr lang="en-US" altLang="en-US" sz="2400"/>
              <a:t>There are also finger, or wrist-style models. But location relative to heart height is critical. Latest wrist models include smart sensing to position at the correct height. </a:t>
            </a:r>
          </a:p>
          <a:p>
            <a:pPr marL="0" indent="0">
              <a:buNone/>
            </a:pPr>
            <a:endParaRPr lang="en-US" altLang="en-US" sz="2400"/>
          </a:p>
          <a:p>
            <a:pPr marL="0" indent="0">
              <a:buNone/>
            </a:pPr>
            <a:endParaRPr lang="en-US" altLang="en-US" sz="2400"/>
          </a:p>
          <a:p>
            <a:pPr marL="0" indent="0">
              <a:buNone/>
            </a:pPr>
            <a:r>
              <a:rPr lang="en-US" altLang="en-US" sz="2400"/>
              <a:t> </a:t>
            </a:r>
          </a:p>
        </p:txBody>
      </p:sp>
      <p:pic>
        <p:nvPicPr>
          <p:cNvPr id="399365" name="Picture 5" descr="hem6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352800"/>
            <a:ext cx="2743200" cy="2660650"/>
          </a:xfrm>
          <a:prstGeom prst="rect">
            <a:avLst/>
          </a:prstGeom>
          <a:noFill/>
          <a:extLst>
            <a:ext uri="{909E8E84-426E-40DD-AFC4-6F175D3DCCD1}">
              <a14:hiddenFill xmlns:a14="http://schemas.microsoft.com/office/drawing/2010/main">
                <a:solidFill>
                  <a:srgbClr val="FFFFFF"/>
                </a:solidFill>
              </a14:hiddenFill>
            </a:ext>
          </a:extLst>
        </p:spPr>
      </p:pic>
      <p:pic>
        <p:nvPicPr>
          <p:cNvPr id="399366" name="Picture 6" descr="hem705it_p04"/>
          <p:cNvPicPr>
            <a:picLocks noChangeAspect="1" noChangeArrowheads="1"/>
          </p:cNvPicPr>
          <p:nvPr/>
        </p:nvPicPr>
        <p:blipFill>
          <a:blip r:embed="rId3">
            <a:extLst>
              <a:ext uri="{28A0092B-C50C-407E-A947-70E740481C1C}">
                <a14:useLocalDpi xmlns:a14="http://schemas.microsoft.com/office/drawing/2010/main" val="0"/>
              </a:ext>
            </a:extLst>
          </a:blip>
          <a:srcRect t="7692"/>
          <a:stretch>
            <a:fillRect/>
          </a:stretch>
        </p:blipFill>
        <p:spPr bwMode="auto">
          <a:xfrm>
            <a:off x="4953000" y="3352800"/>
            <a:ext cx="2306638" cy="2667000"/>
          </a:xfrm>
          <a:prstGeom prst="rect">
            <a:avLst/>
          </a:prstGeom>
          <a:noFill/>
          <a:extLst>
            <a:ext uri="{909E8E84-426E-40DD-AFC4-6F175D3DCCD1}">
              <a14:hiddenFill xmlns:a14="http://schemas.microsoft.com/office/drawing/2010/main">
                <a:solidFill>
                  <a:srgbClr val="FFFFFF"/>
                </a:solidFill>
              </a14:hiddenFill>
            </a:ext>
          </a:extLst>
        </p:spPr>
      </p:pic>
      <p:pic>
        <p:nvPicPr>
          <p:cNvPr id="399367" name="Picture 7" descr="B00005M06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7600" y="3352800"/>
            <a:ext cx="2667000" cy="2667000"/>
          </a:xfrm>
          <a:prstGeom prst="rect">
            <a:avLst/>
          </a:prstGeom>
          <a:noFill/>
          <a:extLst>
            <a:ext uri="{909E8E84-426E-40DD-AFC4-6F175D3DCCD1}">
              <a14:hiddenFill xmlns:a14="http://schemas.microsoft.com/office/drawing/2010/main">
                <a:solidFill>
                  <a:srgbClr val="FFFFFF"/>
                </a:solidFill>
              </a14:hiddenFill>
            </a:ext>
          </a:extLst>
        </p:spPr>
      </p:pic>
      <p:sp>
        <p:nvSpPr>
          <p:cNvPr id="399368" name="Text Box 8"/>
          <p:cNvSpPr txBox="1">
            <a:spLocks noChangeArrowheads="1"/>
          </p:cNvSpPr>
          <p:nvPr/>
        </p:nvSpPr>
        <p:spPr bwMode="auto">
          <a:xfrm>
            <a:off x="4038601" y="6096000"/>
            <a:ext cx="39666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Omron wrist, arm and finger models</a:t>
            </a:r>
          </a:p>
        </p:txBody>
      </p:sp>
    </p:spTree>
    <p:extLst>
      <p:ext uri="{BB962C8B-B14F-4D97-AF65-F5344CB8AC3E}">
        <p14:creationId xmlns:p14="http://schemas.microsoft.com/office/powerpoint/2010/main" val="1166917291"/>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algn="l"/>
            <a:r>
              <a:rPr lang="en-US" altLang="en-US" sz="4000"/>
              <a:t>Pulse pressure sensing</a:t>
            </a:r>
          </a:p>
        </p:txBody>
      </p:sp>
      <p:sp>
        <p:nvSpPr>
          <p:cNvPr id="400387" name="Rectangle 3"/>
          <p:cNvSpPr>
            <a:spLocks noGrp="1" noChangeArrowheads="1"/>
          </p:cNvSpPr>
          <p:nvPr>
            <p:ph type="body" sz="half" idx="1"/>
          </p:nvPr>
        </p:nvSpPr>
        <p:spPr>
          <a:xfrm>
            <a:off x="1981200" y="1447800"/>
            <a:ext cx="8229600" cy="4876800"/>
          </a:xfrm>
        </p:spPr>
        <p:txBody>
          <a:bodyPr/>
          <a:lstStyle/>
          <a:p>
            <a:pPr marL="0" indent="0">
              <a:buNone/>
            </a:pPr>
            <a:r>
              <a:rPr lang="en-US" altLang="en-US" sz="2400"/>
              <a:t>Pulse sensing is normally done by blood pressure monitors, but they require high pressure inflation – enough to halt blood flow – and are not suitable for continuous monitoring.</a:t>
            </a:r>
          </a:p>
          <a:p>
            <a:pPr marL="0" indent="0">
              <a:buNone/>
            </a:pPr>
            <a:endParaRPr lang="en-US" altLang="en-US" sz="2400"/>
          </a:p>
          <a:p>
            <a:pPr marL="0" indent="0">
              <a:buNone/>
            </a:pPr>
            <a:r>
              <a:rPr lang="en-US" altLang="en-US" sz="2400"/>
              <a:t>Continuous pressure monitoring can be done on many parts of the body, e.g. the waist: </a:t>
            </a:r>
          </a:p>
        </p:txBody>
      </p:sp>
      <p:pic>
        <p:nvPicPr>
          <p:cNvPr id="400391" name="Picture 7" descr="waist-pul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4191000"/>
            <a:ext cx="2438400" cy="2266950"/>
          </a:xfrm>
          <a:prstGeom prst="rect">
            <a:avLst/>
          </a:prstGeom>
          <a:noFill/>
          <a:extLst>
            <a:ext uri="{909E8E84-426E-40DD-AFC4-6F175D3DCCD1}">
              <a14:hiddenFill xmlns:a14="http://schemas.microsoft.com/office/drawing/2010/main">
                <a:solidFill>
                  <a:srgbClr val="FFFFFF"/>
                </a:solidFill>
              </a14:hiddenFill>
            </a:ext>
          </a:extLst>
        </p:spPr>
      </p:pic>
      <p:sp>
        <p:nvSpPr>
          <p:cNvPr id="400392" name="Text Box 8"/>
          <p:cNvSpPr txBox="1">
            <a:spLocks noChangeArrowheads="1"/>
          </p:cNvSpPr>
          <p:nvPr/>
        </p:nvSpPr>
        <p:spPr bwMode="auto">
          <a:xfrm>
            <a:off x="3962400" y="5410201"/>
            <a:ext cx="3530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t>Vernier respiration belt</a:t>
            </a:r>
          </a:p>
        </p:txBody>
      </p:sp>
    </p:spTree>
    <p:extLst>
      <p:ext uri="{BB962C8B-B14F-4D97-AF65-F5344CB8AC3E}">
        <p14:creationId xmlns:p14="http://schemas.microsoft.com/office/powerpoint/2010/main" val="3662461887"/>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pPr algn="l"/>
            <a:r>
              <a:rPr lang="en-US" altLang="en-US" sz="4000"/>
              <a:t>Pulse oximetry</a:t>
            </a:r>
          </a:p>
        </p:txBody>
      </p:sp>
      <p:sp>
        <p:nvSpPr>
          <p:cNvPr id="401411" name="Rectangle 3"/>
          <p:cNvSpPr>
            <a:spLocks noGrp="1" noChangeArrowheads="1"/>
          </p:cNvSpPr>
          <p:nvPr>
            <p:ph type="body" sz="half" idx="1"/>
          </p:nvPr>
        </p:nvSpPr>
        <p:spPr>
          <a:xfrm>
            <a:off x="1981200" y="1447800"/>
            <a:ext cx="8229600" cy="4876800"/>
          </a:xfrm>
        </p:spPr>
        <p:txBody>
          <a:bodyPr/>
          <a:lstStyle/>
          <a:p>
            <a:pPr marL="0" indent="0">
              <a:buNone/>
            </a:pPr>
            <a:r>
              <a:rPr lang="en-US" altLang="en-US" sz="2400"/>
              <a:t>Pulse oximetry. A light source/sensor on a finger senses light transmission at 650nm and 805nm. </a:t>
            </a:r>
          </a:p>
          <a:p>
            <a:pPr marL="0" indent="0">
              <a:buNone/>
            </a:pPr>
            <a:r>
              <a:rPr lang="en-US" altLang="en-US" sz="2400"/>
              <a:t>These wavelengths are absorbed selectively by oxygenated and non-oxygenated blood.</a:t>
            </a:r>
          </a:p>
          <a:p>
            <a:pPr marL="0" indent="0">
              <a:buNone/>
            </a:pPr>
            <a:r>
              <a:rPr lang="en-US" altLang="en-US" sz="2400"/>
              <a:t>An oximeter signal varies at</a:t>
            </a:r>
            <a:br>
              <a:rPr lang="en-US" altLang="en-US" sz="2400"/>
            </a:br>
            <a:r>
              <a:rPr lang="en-US" altLang="en-US" sz="2400"/>
              <a:t>pulse rate. </a:t>
            </a:r>
          </a:p>
        </p:txBody>
      </p:sp>
      <p:pic>
        <p:nvPicPr>
          <p:cNvPr id="401414" name="Picture 6" descr="Puls"/>
          <p:cNvPicPr>
            <a:picLocks noChangeAspect="1" noChangeArrowheads="1"/>
          </p:cNvPicPr>
          <p:nvPr/>
        </p:nvPicPr>
        <p:blipFill>
          <a:blip r:embed="rId2">
            <a:extLst>
              <a:ext uri="{28A0092B-C50C-407E-A947-70E740481C1C}">
                <a14:useLocalDpi xmlns:a14="http://schemas.microsoft.com/office/drawing/2010/main" val="0"/>
              </a:ext>
            </a:extLst>
          </a:blip>
          <a:srcRect l="14285" t="11565" r="16327" b="23129"/>
          <a:stretch>
            <a:fillRect/>
          </a:stretch>
        </p:blipFill>
        <p:spPr bwMode="auto">
          <a:xfrm>
            <a:off x="2133600" y="4033838"/>
            <a:ext cx="3352800" cy="2366962"/>
          </a:xfrm>
          <a:prstGeom prst="rect">
            <a:avLst/>
          </a:prstGeom>
          <a:noFill/>
          <a:extLst>
            <a:ext uri="{909E8E84-426E-40DD-AFC4-6F175D3DCCD1}">
              <a14:hiddenFill xmlns:a14="http://schemas.microsoft.com/office/drawing/2010/main">
                <a:solidFill>
                  <a:srgbClr val="FFFFFF"/>
                </a:solidFill>
              </a14:hiddenFill>
            </a:ext>
          </a:extLst>
        </p:spPr>
      </p:pic>
      <p:pic>
        <p:nvPicPr>
          <p:cNvPr id="401419" name="Picture 11" descr="Image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819401"/>
            <a:ext cx="3886200" cy="3673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7384883"/>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pPr algn="l"/>
            <a:r>
              <a:rPr lang="en-US" altLang="en-US" sz="4000"/>
              <a:t>ECG-based heart rate</a:t>
            </a:r>
          </a:p>
        </p:txBody>
      </p:sp>
      <p:sp>
        <p:nvSpPr>
          <p:cNvPr id="405507" name="Rectangle 3"/>
          <p:cNvSpPr>
            <a:spLocks noGrp="1" noChangeArrowheads="1"/>
          </p:cNvSpPr>
          <p:nvPr>
            <p:ph type="body" sz="half" idx="1"/>
          </p:nvPr>
        </p:nvSpPr>
        <p:spPr>
          <a:xfrm>
            <a:off x="1981200" y="1447800"/>
            <a:ext cx="8229600" cy="4876800"/>
          </a:xfrm>
        </p:spPr>
        <p:txBody>
          <a:bodyPr/>
          <a:lstStyle/>
          <a:p>
            <a:pPr marL="0" indent="0">
              <a:buNone/>
            </a:pPr>
            <a:r>
              <a:rPr lang="en-US" altLang="en-US" sz="2400"/>
              <a:t>Electrical signals can be used to determine heart rate. Polar makes several of these devices with wireless interfaces, and the raw data can be captured and used in exercise monitoring. </a:t>
            </a:r>
          </a:p>
        </p:txBody>
      </p:sp>
      <p:pic>
        <p:nvPicPr>
          <p:cNvPr id="405512" name="Picture 8" descr="PS2129_XL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581400"/>
            <a:ext cx="4572000" cy="1703388"/>
          </a:xfrm>
          <a:prstGeom prst="rect">
            <a:avLst/>
          </a:prstGeom>
          <a:noFill/>
          <a:extLst>
            <a:ext uri="{909E8E84-426E-40DD-AFC4-6F175D3DCCD1}">
              <a14:hiddenFill xmlns:a14="http://schemas.microsoft.com/office/drawing/2010/main">
                <a:solidFill>
                  <a:srgbClr val="FFFFFF"/>
                </a:solidFill>
              </a14:hiddenFill>
            </a:ext>
          </a:extLst>
        </p:spPr>
      </p:pic>
      <p:sp>
        <p:nvSpPr>
          <p:cNvPr id="405513" name="Text Box 9"/>
          <p:cNvSpPr txBox="1">
            <a:spLocks noChangeArrowheads="1"/>
          </p:cNvSpPr>
          <p:nvPr/>
        </p:nvSpPr>
        <p:spPr bwMode="auto">
          <a:xfrm>
            <a:off x="2057401" y="5486400"/>
            <a:ext cx="46342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Polar/PasPort wireless exercise ECG sensor</a:t>
            </a:r>
          </a:p>
        </p:txBody>
      </p:sp>
      <p:pic>
        <p:nvPicPr>
          <p:cNvPr id="405514" name="Picture 10" descr="E600-mid-b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000" y="2895600"/>
            <a:ext cx="1335088" cy="1612900"/>
          </a:xfrm>
          <a:prstGeom prst="rect">
            <a:avLst/>
          </a:prstGeom>
          <a:noFill/>
          <a:extLst>
            <a:ext uri="{909E8E84-426E-40DD-AFC4-6F175D3DCCD1}">
              <a14:hiddenFill xmlns:a14="http://schemas.microsoft.com/office/drawing/2010/main">
                <a:solidFill>
                  <a:srgbClr val="FFFFFF"/>
                </a:solidFill>
              </a14:hiddenFill>
            </a:ext>
          </a:extLst>
        </p:spPr>
      </p:pic>
      <p:pic>
        <p:nvPicPr>
          <p:cNvPr id="405515" name="Picture 11" descr="i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200" y="4953000"/>
            <a:ext cx="1219200" cy="915988"/>
          </a:xfrm>
          <a:prstGeom prst="rect">
            <a:avLst/>
          </a:prstGeom>
          <a:noFill/>
          <a:extLst>
            <a:ext uri="{909E8E84-426E-40DD-AFC4-6F175D3DCCD1}">
              <a14:hiddenFill xmlns:a14="http://schemas.microsoft.com/office/drawing/2010/main">
                <a:solidFill>
                  <a:srgbClr val="FFFFFF"/>
                </a:solidFill>
              </a14:hiddenFill>
            </a:ext>
          </a:extLst>
        </p:spPr>
      </p:pic>
      <p:sp>
        <p:nvSpPr>
          <p:cNvPr id="405516" name="Text Box 12"/>
          <p:cNvSpPr txBox="1">
            <a:spLocks noChangeArrowheads="1"/>
          </p:cNvSpPr>
          <p:nvPr/>
        </p:nvSpPr>
        <p:spPr bwMode="auto">
          <a:xfrm>
            <a:off x="7239000" y="4495800"/>
            <a:ext cx="27662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Polar E600 wrist monitor</a:t>
            </a:r>
          </a:p>
        </p:txBody>
      </p:sp>
      <p:sp>
        <p:nvSpPr>
          <p:cNvPr id="405517" name="Text Box 13"/>
          <p:cNvSpPr txBox="1">
            <a:spLocks noChangeArrowheads="1"/>
          </p:cNvSpPr>
          <p:nvPr/>
        </p:nvSpPr>
        <p:spPr bwMode="auto">
          <a:xfrm>
            <a:off x="7451726" y="6026150"/>
            <a:ext cx="23350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Polar IR/PC interface</a:t>
            </a:r>
          </a:p>
        </p:txBody>
      </p:sp>
    </p:spTree>
    <p:extLst>
      <p:ext uri="{BB962C8B-B14F-4D97-AF65-F5344CB8AC3E}">
        <p14:creationId xmlns:p14="http://schemas.microsoft.com/office/powerpoint/2010/main" val="2996932789"/>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ChangeArrowheads="1"/>
          </p:cNvSpPr>
          <p:nvPr>
            <p:ph type="title"/>
          </p:nvPr>
        </p:nvSpPr>
        <p:spPr/>
        <p:txBody>
          <a:bodyPr/>
          <a:lstStyle/>
          <a:p>
            <a:pPr algn="l"/>
            <a:r>
              <a:rPr lang="en-US" altLang="en-US" sz="4000"/>
              <a:t>Electronic Stethoscopes</a:t>
            </a:r>
          </a:p>
        </p:txBody>
      </p:sp>
      <p:sp>
        <p:nvSpPr>
          <p:cNvPr id="404483" name="Rectangle 3"/>
          <p:cNvSpPr>
            <a:spLocks noGrp="1" noChangeArrowheads="1"/>
          </p:cNvSpPr>
          <p:nvPr>
            <p:ph type="body" sz="half" idx="1"/>
          </p:nvPr>
        </p:nvSpPr>
        <p:spPr>
          <a:xfrm>
            <a:off x="1981200" y="1447800"/>
            <a:ext cx="8229600" cy="4876800"/>
          </a:xfrm>
        </p:spPr>
        <p:txBody>
          <a:bodyPr/>
          <a:lstStyle/>
          <a:p>
            <a:pPr marL="0" indent="0">
              <a:buNone/>
            </a:pPr>
            <a:r>
              <a:rPr lang="en-US" altLang="en-US" sz="2400"/>
              <a:t>A sound transducer connected to a stethoscope head is a very convenient form of the traditional stethoscope. </a:t>
            </a:r>
            <a:br>
              <a:rPr lang="en-US" altLang="en-US" sz="2400"/>
            </a:br>
            <a:r>
              <a:rPr lang="en-US" altLang="en-US" sz="2400"/>
              <a:t>The electronic version can provide amplification, recording, and minimizes artifacts due to cord contact with clothing etc.  </a:t>
            </a:r>
          </a:p>
        </p:txBody>
      </p:sp>
      <p:pic>
        <p:nvPicPr>
          <p:cNvPr id="404487" name="Picture 7" descr="IntelHealth"/>
          <p:cNvPicPr>
            <a:picLocks noChangeAspect="1" noChangeArrowheads="1"/>
          </p:cNvPicPr>
          <p:nvPr/>
        </p:nvPicPr>
        <p:blipFill>
          <a:blip r:embed="rId2">
            <a:extLst>
              <a:ext uri="{28A0092B-C50C-407E-A947-70E740481C1C}">
                <a14:useLocalDpi xmlns:a14="http://schemas.microsoft.com/office/drawing/2010/main" val="0"/>
              </a:ext>
            </a:extLst>
          </a:blip>
          <a:srcRect l="18182" t="10255" r="29546" b="7692"/>
          <a:stretch>
            <a:fillRect/>
          </a:stretch>
        </p:blipFill>
        <p:spPr bwMode="auto">
          <a:xfrm>
            <a:off x="4365626" y="3276600"/>
            <a:ext cx="2847975" cy="2971800"/>
          </a:xfrm>
          <a:prstGeom prst="rect">
            <a:avLst/>
          </a:prstGeom>
          <a:noFill/>
          <a:extLst>
            <a:ext uri="{909E8E84-426E-40DD-AFC4-6F175D3DCCD1}">
              <a14:hiddenFill xmlns:a14="http://schemas.microsoft.com/office/drawing/2010/main">
                <a:solidFill>
                  <a:srgbClr val="FFFFFF"/>
                </a:solidFill>
              </a14:hiddenFill>
            </a:ext>
          </a:extLst>
        </p:spPr>
      </p:pic>
      <p:sp>
        <p:nvSpPr>
          <p:cNvPr id="404488" name="Text Box 8"/>
          <p:cNvSpPr txBox="1">
            <a:spLocks noChangeArrowheads="1"/>
          </p:cNvSpPr>
          <p:nvPr/>
        </p:nvSpPr>
        <p:spPr bwMode="auto">
          <a:xfrm>
            <a:off x="2133600" y="4343400"/>
            <a:ext cx="182229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Intel Physician’s</a:t>
            </a:r>
            <a:br>
              <a:rPr lang="en-US" altLang="en-US" sz="2000"/>
            </a:br>
            <a:r>
              <a:rPr lang="en-US" altLang="en-US" sz="2000"/>
              <a:t>Tablet</a:t>
            </a:r>
          </a:p>
        </p:txBody>
      </p:sp>
      <p:sp>
        <p:nvSpPr>
          <p:cNvPr id="404489" name="Text Box 9"/>
          <p:cNvSpPr txBox="1">
            <a:spLocks noChangeArrowheads="1"/>
          </p:cNvSpPr>
          <p:nvPr/>
        </p:nvSpPr>
        <p:spPr bwMode="auto">
          <a:xfrm>
            <a:off x="7620001" y="3505200"/>
            <a:ext cx="232544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Wireless (Bluetooth)</a:t>
            </a:r>
            <a:br>
              <a:rPr lang="en-US" altLang="en-US" sz="2000"/>
            </a:br>
            <a:r>
              <a:rPr lang="en-US" altLang="en-US" sz="2000"/>
              <a:t>Stethoscope Head</a:t>
            </a:r>
          </a:p>
        </p:txBody>
      </p:sp>
      <p:sp>
        <p:nvSpPr>
          <p:cNvPr id="404490" name="Line 10"/>
          <p:cNvSpPr>
            <a:spLocks noChangeShapeType="1"/>
          </p:cNvSpPr>
          <p:nvPr/>
        </p:nvSpPr>
        <p:spPr bwMode="auto">
          <a:xfrm flipH="1">
            <a:off x="7026275" y="3727450"/>
            <a:ext cx="533400" cy="0"/>
          </a:xfrm>
          <a:prstGeom prst="line">
            <a:avLst/>
          </a:prstGeom>
          <a:noFill/>
          <a:ln w="381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088114717"/>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p:txBody>
          <a:bodyPr/>
          <a:lstStyle/>
          <a:p>
            <a:pPr algn="l"/>
            <a:r>
              <a:rPr lang="en-US" altLang="en-US" sz="4000"/>
              <a:t>Exercise pedometers</a:t>
            </a:r>
          </a:p>
        </p:txBody>
      </p:sp>
      <p:sp>
        <p:nvSpPr>
          <p:cNvPr id="407555" name="Rectangle 3"/>
          <p:cNvSpPr>
            <a:spLocks noGrp="1" noChangeArrowheads="1"/>
          </p:cNvSpPr>
          <p:nvPr>
            <p:ph type="body" sz="half" idx="1"/>
          </p:nvPr>
        </p:nvSpPr>
        <p:spPr>
          <a:xfrm>
            <a:off x="1981200" y="1371600"/>
            <a:ext cx="8229600" cy="4495800"/>
          </a:xfrm>
        </p:spPr>
        <p:txBody>
          <a:bodyPr/>
          <a:lstStyle/>
          <a:p>
            <a:pPr marL="0" indent="0">
              <a:buNone/>
            </a:pPr>
            <a:r>
              <a:rPr lang="en-US" altLang="en-US" sz="2400"/>
              <a:t>Accelerometer-based sensors detect </a:t>
            </a:r>
            <a:br>
              <a:rPr lang="en-US" altLang="en-US" sz="2400"/>
            </a:br>
            <a:r>
              <a:rPr lang="en-US" altLang="en-US" sz="2400"/>
              <a:t>leg motion. Sensor typically mounted </a:t>
            </a:r>
            <a:br>
              <a:rPr lang="en-US" altLang="en-US" sz="2400"/>
            </a:br>
            <a:r>
              <a:rPr lang="en-US" altLang="en-US" sz="2400"/>
              <a:t>in the shoe or at the waist.</a:t>
            </a:r>
          </a:p>
          <a:p>
            <a:pPr marL="0" indent="0">
              <a:buNone/>
            </a:pPr>
            <a:endParaRPr lang="en-US" altLang="en-US" sz="2000"/>
          </a:p>
          <a:p>
            <a:pPr marL="0" indent="0">
              <a:buNone/>
            </a:pPr>
            <a:r>
              <a:rPr lang="en-US" altLang="en-US" sz="2400"/>
              <a:t>Suunto’s T6, Footpod and X9i</a:t>
            </a:r>
          </a:p>
          <a:p>
            <a:pPr marL="0" indent="0">
              <a:buNone/>
            </a:pPr>
            <a:endParaRPr lang="en-US" altLang="en-US"/>
          </a:p>
          <a:p>
            <a:pPr marL="0" indent="0">
              <a:buNone/>
            </a:pPr>
            <a:endParaRPr lang="en-US" altLang="en-US"/>
          </a:p>
          <a:p>
            <a:pPr marL="0" indent="0">
              <a:buNone/>
            </a:pPr>
            <a:endParaRPr lang="en-US" altLang="en-US"/>
          </a:p>
          <a:p>
            <a:pPr marL="0" indent="0">
              <a:buNone/>
            </a:pPr>
            <a:endParaRPr lang="en-US" altLang="en-US"/>
          </a:p>
          <a:p>
            <a:pPr marL="0" indent="0">
              <a:buNone/>
            </a:pPr>
            <a:r>
              <a:rPr lang="en-US" altLang="en-US" sz="2400"/>
              <a:t>Fitsense pacer and bodylan</a:t>
            </a:r>
          </a:p>
        </p:txBody>
      </p:sp>
      <p:pic>
        <p:nvPicPr>
          <p:cNvPr id="407556" name="Picture 4" descr="footpod_micro_14aab"/>
          <p:cNvPicPr>
            <a:picLocks noChangeAspect="1" noChangeArrowheads="1"/>
          </p:cNvPicPr>
          <p:nvPr/>
        </p:nvPicPr>
        <p:blipFill>
          <a:blip r:embed="rId2">
            <a:extLst>
              <a:ext uri="{28A0092B-C50C-407E-A947-70E740481C1C}">
                <a14:useLocalDpi xmlns:a14="http://schemas.microsoft.com/office/drawing/2010/main" val="0"/>
              </a:ext>
            </a:extLst>
          </a:blip>
          <a:srcRect t="18750" b="25000"/>
          <a:stretch>
            <a:fillRect/>
          </a:stretch>
        </p:blipFill>
        <p:spPr bwMode="auto">
          <a:xfrm>
            <a:off x="4343400" y="3505201"/>
            <a:ext cx="1219200" cy="963613"/>
          </a:xfrm>
          <a:prstGeom prst="rect">
            <a:avLst/>
          </a:prstGeom>
          <a:noFill/>
          <a:extLst>
            <a:ext uri="{909E8E84-426E-40DD-AFC4-6F175D3DCCD1}">
              <a14:hiddenFill xmlns:a14="http://schemas.microsoft.com/office/drawing/2010/main">
                <a:solidFill>
                  <a:srgbClr val="FFFFFF"/>
                </a:solidFill>
              </a14:hiddenFill>
            </a:ext>
          </a:extLst>
        </p:spPr>
      </p:pic>
      <p:pic>
        <p:nvPicPr>
          <p:cNvPr id="407557" name="Picture 5" descr="t6_large_1226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505200"/>
            <a:ext cx="1905000" cy="1295400"/>
          </a:xfrm>
          <a:prstGeom prst="rect">
            <a:avLst/>
          </a:prstGeom>
          <a:noFill/>
          <a:extLst>
            <a:ext uri="{909E8E84-426E-40DD-AFC4-6F175D3DCCD1}">
              <a14:hiddenFill xmlns:a14="http://schemas.microsoft.com/office/drawing/2010/main">
                <a:solidFill>
                  <a:srgbClr val="FFFFFF"/>
                </a:solidFill>
              </a14:hiddenFill>
            </a:ext>
          </a:extLst>
        </p:spPr>
      </p:pic>
      <p:pic>
        <p:nvPicPr>
          <p:cNvPr id="407558" name="Picture 6" descr="X9i_m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3352800"/>
            <a:ext cx="11811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407559" name="Picture 7" descr="pacer%20blu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7400" y="5181601"/>
            <a:ext cx="1447800" cy="1287463"/>
          </a:xfrm>
          <a:prstGeom prst="rect">
            <a:avLst/>
          </a:prstGeom>
          <a:noFill/>
          <a:extLst>
            <a:ext uri="{909E8E84-426E-40DD-AFC4-6F175D3DCCD1}">
              <a14:hiddenFill xmlns:a14="http://schemas.microsoft.com/office/drawing/2010/main">
                <a:solidFill>
                  <a:srgbClr val="FFFFFF"/>
                </a:solidFill>
              </a14:hiddenFill>
            </a:ext>
          </a:extLst>
        </p:spPr>
      </p:pic>
      <p:pic>
        <p:nvPicPr>
          <p:cNvPr id="407560" name="Picture 8" descr="ProductNetLinkFloat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0" y="5181600"/>
            <a:ext cx="1828800" cy="1169988"/>
          </a:xfrm>
          <a:prstGeom prst="rect">
            <a:avLst/>
          </a:prstGeom>
          <a:noFill/>
          <a:extLst>
            <a:ext uri="{909E8E84-426E-40DD-AFC4-6F175D3DCCD1}">
              <a14:hiddenFill xmlns:a14="http://schemas.microsoft.com/office/drawing/2010/main">
                <a:solidFill>
                  <a:srgbClr val="FFFFFF"/>
                </a:solidFill>
              </a14:hiddenFill>
            </a:ext>
          </a:extLst>
        </p:spPr>
      </p:pic>
      <p:pic>
        <p:nvPicPr>
          <p:cNvPr id="407561" name="Picture 9" descr="omronpedo"/>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58201" y="228600"/>
            <a:ext cx="1673225" cy="1905000"/>
          </a:xfrm>
          <a:prstGeom prst="rect">
            <a:avLst/>
          </a:prstGeom>
          <a:noFill/>
          <a:extLst>
            <a:ext uri="{909E8E84-426E-40DD-AFC4-6F175D3DCCD1}">
              <a14:hiddenFill xmlns:a14="http://schemas.microsoft.com/office/drawing/2010/main">
                <a:solidFill>
                  <a:srgbClr val="FFFFFF"/>
                </a:solidFill>
              </a14:hiddenFill>
            </a:ext>
          </a:extLst>
        </p:spPr>
      </p:pic>
      <p:sp>
        <p:nvSpPr>
          <p:cNvPr id="407562" name="Text Box 10"/>
          <p:cNvSpPr txBox="1">
            <a:spLocks noChangeArrowheads="1"/>
          </p:cNvSpPr>
          <p:nvPr/>
        </p:nvSpPr>
        <p:spPr bwMode="auto">
          <a:xfrm>
            <a:off x="7315200" y="533400"/>
            <a:ext cx="1100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Omron</a:t>
            </a:r>
          </a:p>
        </p:txBody>
      </p:sp>
      <p:pic>
        <p:nvPicPr>
          <p:cNvPr id="407563" name="Picture 11" descr="armband_on_arm"/>
          <p:cNvPicPr>
            <a:picLocks noChangeAspect="1" noChangeArrowheads="1"/>
          </p:cNvPicPr>
          <p:nvPr/>
        </p:nvPicPr>
        <p:blipFill>
          <a:blip r:embed="rId8">
            <a:extLst>
              <a:ext uri="{28A0092B-C50C-407E-A947-70E740481C1C}">
                <a14:useLocalDpi xmlns:a14="http://schemas.microsoft.com/office/drawing/2010/main" val="0"/>
              </a:ext>
            </a:extLst>
          </a:blip>
          <a:srcRect l="13365" t="16304" r="10966" b="8696"/>
          <a:stretch>
            <a:fillRect/>
          </a:stretch>
        </p:blipFill>
        <p:spPr bwMode="auto">
          <a:xfrm>
            <a:off x="8458200" y="2438400"/>
            <a:ext cx="1752600" cy="1752600"/>
          </a:xfrm>
          <a:prstGeom prst="rect">
            <a:avLst/>
          </a:prstGeom>
          <a:noFill/>
          <a:extLst>
            <a:ext uri="{909E8E84-426E-40DD-AFC4-6F175D3DCCD1}">
              <a14:hiddenFill xmlns:a14="http://schemas.microsoft.com/office/drawing/2010/main">
                <a:solidFill>
                  <a:srgbClr val="FFFFFF"/>
                </a:solidFill>
              </a14:hiddenFill>
            </a:ext>
          </a:extLst>
        </p:spPr>
      </p:pic>
      <p:sp>
        <p:nvSpPr>
          <p:cNvPr id="407564" name="Text Box 12"/>
          <p:cNvSpPr txBox="1">
            <a:spLocks noChangeArrowheads="1"/>
          </p:cNvSpPr>
          <p:nvPr/>
        </p:nvSpPr>
        <p:spPr bwMode="auto">
          <a:xfrm>
            <a:off x="7010401" y="2362201"/>
            <a:ext cx="14779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BodyMedia </a:t>
            </a:r>
            <a:br>
              <a:rPr lang="en-US" altLang="en-US" sz="2000"/>
            </a:br>
            <a:r>
              <a:rPr lang="en-US" altLang="en-US" sz="2000"/>
              <a:t>BodyBugg</a:t>
            </a:r>
          </a:p>
        </p:txBody>
      </p:sp>
    </p:spTree>
    <p:extLst>
      <p:ext uri="{BB962C8B-B14F-4D97-AF65-F5344CB8AC3E}">
        <p14:creationId xmlns:p14="http://schemas.microsoft.com/office/powerpoint/2010/main" val="1255330909"/>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p:txBody>
          <a:bodyPr/>
          <a:lstStyle/>
          <a:p>
            <a:pPr algn="l"/>
            <a:r>
              <a:rPr lang="en-US" altLang="en-US" sz="4000"/>
              <a:t>Electronic Weight/Body fat Scales</a:t>
            </a:r>
          </a:p>
        </p:txBody>
      </p:sp>
      <p:sp>
        <p:nvSpPr>
          <p:cNvPr id="408579" name="Rectangle 3"/>
          <p:cNvSpPr>
            <a:spLocks noGrp="1" noChangeArrowheads="1"/>
          </p:cNvSpPr>
          <p:nvPr>
            <p:ph type="body" sz="half" idx="1"/>
          </p:nvPr>
        </p:nvSpPr>
        <p:spPr>
          <a:xfrm>
            <a:off x="1981200" y="1371600"/>
            <a:ext cx="8229600" cy="4495800"/>
          </a:xfrm>
        </p:spPr>
        <p:txBody>
          <a:bodyPr/>
          <a:lstStyle/>
          <a:p>
            <a:pPr marL="0" indent="0">
              <a:buNone/>
            </a:pPr>
            <a:r>
              <a:rPr lang="en-US" altLang="en-US" sz="2400"/>
              <a:t>There are several weight scales on the market with digital interfaces. Tanita developed a scheme called BIA to estimate body fat as well, and several other manufacturers followed suit. BIA is “Bioelectrical Impedance Analysis”.</a:t>
            </a:r>
            <a:endParaRPr lang="en-US" altLang="en-US" sz="2000"/>
          </a:p>
        </p:txBody>
      </p:sp>
      <p:pic>
        <p:nvPicPr>
          <p:cNvPr id="408587" name="Picture 11" descr="lifesource_sca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276600"/>
            <a:ext cx="2933700" cy="2266950"/>
          </a:xfrm>
          <a:prstGeom prst="rect">
            <a:avLst/>
          </a:prstGeom>
          <a:noFill/>
          <a:extLst>
            <a:ext uri="{909E8E84-426E-40DD-AFC4-6F175D3DCCD1}">
              <a14:hiddenFill xmlns:a14="http://schemas.microsoft.com/office/drawing/2010/main">
                <a:solidFill>
                  <a:srgbClr val="FFFFFF"/>
                </a:solidFill>
              </a14:hiddenFill>
            </a:ext>
          </a:extLst>
        </p:spPr>
      </p:pic>
      <p:sp>
        <p:nvSpPr>
          <p:cNvPr id="408588" name="Text Box 12"/>
          <p:cNvSpPr txBox="1">
            <a:spLocks noChangeArrowheads="1"/>
          </p:cNvSpPr>
          <p:nvPr/>
        </p:nvSpPr>
        <p:spPr bwMode="auto">
          <a:xfrm>
            <a:off x="1981201" y="5715000"/>
            <a:ext cx="358335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A&amp;D Lifesource scale with RS232</a:t>
            </a:r>
          </a:p>
        </p:txBody>
      </p:sp>
      <p:pic>
        <p:nvPicPr>
          <p:cNvPr id="408589" name="Picture 13" descr="tanit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3214689"/>
            <a:ext cx="2819400" cy="2359025"/>
          </a:xfrm>
          <a:prstGeom prst="rect">
            <a:avLst/>
          </a:prstGeom>
          <a:noFill/>
          <a:extLst>
            <a:ext uri="{909E8E84-426E-40DD-AFC4-6F175D3DCCD1}">
              <a14:hiddenFill xmlns:a14="http://schemas.microsoft.com/office/drawing/2010/main">
                <a:solidFill>
                  <a:srgbClr val="FFFFFF"/>
                </a:solidFill>
              </a14:hiddenFill>
            </a:ext>
          </a:extLst>
        </p:spPr>
      </p:pic>
      <p:sp>
        <p:nvSpPr>
          <p:cNvPr id="408590" name="Text Box 14"/>
          <p:cNvSpPr txBox="1">
            <a:spLocks noChangeArrowheads="1"/>
          </p:cNvSpPr>
          <p:nvPr/>
        </p:nvSpPr>
        <p:spPr bwMode="auto">
          <a:xfrm>
            <a:off x="6705601" y="5715000"/>
            <a:ext cx="23064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Tanita body fat scale</a:t>
            </a:r>
          </a:p>
        </p:txBody>
      </p:sp>
    </p:spTree>
    <p:extLst>
      <p:ext uri="{BB962C8B-B14F-4D97-AF65-F5344CB8AC3E}">
        <p14:creationId xmlns:p14="http://schemas.microsoft.com/office/powerpoint/2010/main" val="3618888079"/>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p:txBody>
          <a:bodyPr/>
          <a:lstStyle/>
          <a:p>
            <a:pPr algn="l"/>
            <a:r>
              <a:rPr lang="en-US" altLang="en-US" sz="4000"/>
              <a:t>Disease Monitoring - Asthma</a:t>
            </a:r>
          </a:p>
        </p:txBody>
      </p:sp>
      <p:sp>
        <p:nvSpPr>
          <p:cNvPr id="412675" name="Rectangle 3"/>
          <p:cNvSpPr>
            <a:spLocks noGrp="1" noChangeArrowheads="1"/>
          </p:cNvSpPr>
          <p:nvPr>
            <p:ph type="body" sz="half" idx="1"/>
          </p:nvPr>
        </p:nvSpPr>
        <p:spPr>
          <a:xfrm>
            <a:off x="1981200" y="1447800"/>
            <a:ext cx="8229600" cy="4876800"/>
          </a:xfrm>
        </p:spPr>
        <p:txBody>
          <a:bodyPr>
            <a:normAutofit lnSpcReduction="10000"/>
          </a:bodyPr>
          <a:lstStyle/>
          <a:p>
            <a:pPr marL="0" indent="0">
              <a:buNone/>
            </a:pPr>
            <a:r>
              <a:rPr lang="en-US" altLang="en-US" sz="2400"/>
              <a:t>The Lancet paper in the readings argues that regular cell phones can be used for Asthma breath monitoring.</a:t>
            </a:r>
          </a:p>
          <a:p>
            <a:pPr marL="0" indent="0">
              <a:buNone/>
            </a:pPr>
            <a:endParaRPr lang="en-US" altLang="en-US" sz="2400"/>
          </a:p>
          <a:p>
            <a:pPr marL="0" indent="0">
              <a:buNone/>
            </a:pPr>
            <a:r>
              <a:rPr lang="en-US" altLang="en-US" sz="2400"/>
              <a:t>Ideas: </a:t>
            </a:r>
          </a:p>
          <a:p>
            <a:pPr marL="0" indent="0">
              <a:buNone/>
            </a:pPr>
            <a:r>
              <a:rPr lang="en-US" altLang="en-US" sz="2400"/>
              <a:t>a regular cell phone can be held against the throat,</a:t>
            </a:r>
          </a:p>
          <a:p>
            <a:pPr marL="0" indent="0">
              <a:buNone/>
            </a:pPr>
            <a:r>
              <a:rPr lang="en-US" altLang="en-US" sz="2400"/>
              <a:t>Or a dedicated wireless microphone could be attached near the throat for full-time monitoring. </a:t>
            </a:r>
          </a:p>
          <a:p>
            <a:pPr marL="0" indent="0">
              <a:buNone/>
            </a:pPr>
            <a:endParaRPr lang="en-US" altLang="en-US" sz="2400"/>
          </a:p>
          <a:p>
            <a:pPr marL="0" indent="0">
              <a:buNone/>
            </a:pPr>
            <a:r>
              <a:rPr lang="en-US" altLang="en-US" sz="2400"/>
              <a:t>Wireless headsets are an option, or</a:t>
            </a:r>
            <a:br>
              <a:rPr lang="en-US" altLang="en-US" sz="2400"/>
            </a:br>
            <a:r>
              <a:rPr lang="en-US" altLang="en-US" sz="2400"/>
              <a:t>dedicated microphones…</a:t>
            </a:r>
            <a:br>
              <a:rPr lang="en-US" altLang="en-US" sz="2400"/>
            </a:br>
            <a:r>
              <a:rPr lang="en-US" altLang="en-US" sz="2400"/>
              <a:t>Jabra, Motorola, etc.</a:t>
            </a:r>
          </a:p>
          <a:p>
            <a:pPr marL="0" indent="0">
              <a:buNone/>
            </a:pPr>
            <a:r>
              <a:rPr lang="en-US" altLang="en-US" sz="2400"/>
              <a:t> </a:t>
            </a:r>
          </a:p>
        </p:txBody>
      </p:sp>
      <p:pic>
        <p:nvPicPr>
          <p:cNvPr id="412676" name="Picture 4" descr="bluemi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200" y="4114800"/>
            <a:ext cx="2362200"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3180491"/>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pPr algn="l"/>
            <a:r>
              <a:rPr lang="en-US" altLang="en-US" sz="4000"/>
              <a:t>Asthma - Breathing monitors</a:t>
            </a:r>
          </a:p>
        </p:txBody>
      </p:sp>
      <p:sp>
        <p:nvSpPr>
          <p:cNvPr id="413699" name="Rectangle 3"/>
          <p:cNvSpPr>
            <a:spLocks noGrp="1" noChangeArrowheads="1"/>
          </p:cNvSpPr>
          <p:nvPr>
            <p:ph type="body" sz="half" idx="1"/>
          </p:nvPr>
        </p:nvSpPr>
        <p:spPr>
          <a:xfrm>
            <a:off x="1981200" y="1295400"/>
            <a:ext cx="8229600" cy="4876800"/>
          </a:xfrm>
        </p:spPr>
        <p:txBody>
          <a:bodyPr/>
          <a:lstStyle/>
          <a:p>
            <a:pPr marL="0" indent="0">
              <a:buNone/>
            </a:pPr>
            <a:r>
              <a:rPr lang="en-US" altLang="en-US" sz="2400"/>
              <a:t>Spirometers directly measure breath flow. They can be used for live measurements into a PC.</a:t>
            </a:r>
          </a:p>
        </p:txBody>
      </p:sp>
      <p:pic>
        <p:nvPicPr>
          <p:cNvPr id="413700" name="Picture 4" descr="Spir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2209800"/>
            <a:ext cx="3095625" cy="3429000"/>
          </a:xfrm>
          <a:prstGeom prst="rect">
            <a:avLst/>
          </a:prstGeom>
          <a:noFill/>
          <a:extLst>
            <a:ext uri="{909E8E84-426E-40DD-AFC4-6F175D3DCCD1}">
              <a14:hiddenFill xmlns:a14="http://schemas.microsoft.com/office/drawing/2010/main">
                <a:solidFill>
                  <a:srgbClr val="FFFFFF"/>
                </a:solidFill>
              </a14:hiddenFill>
            </a:ext>
          </a:extLst>
        </p:spPr>
      </p:pic>
      <p:pic>
        <p:nvPicPr>
          <p:cNvPr id="413701" name="Picture 5" descr="spiro-grap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290763"/>
            <a:ext cx="3581400" cy="3403600"/>
          </a:xfrm>
          <a:prstGeom prst="rect">
            <a:avLst/>
          </a:prstGeom>
          <a:noFill/>
          <a:extLst>
            <a:ext uri="{909E8E84-426E-40DD-AFC4-6F175D3DCCD1}">
              <a14:hiddenFill xmlns:a14="http://schemas.microsoft.com/office/drawing/2010/main">
                <a:solidFill>
                  <a:srgbClr val="FFFFFF"/>
                </a:solidFill>
              </a14:hiddenFill>
            </a:ext>
          </a:extLst>
        </p:spPr>
      </p:pic>
      <p:sp>
        <p:nvSpPr>
          <p:cNvPr id="413702" name="Text Box 6"/>
          <p:cNvSpPr txBox="1">
            <a:spLocks noChangeArrowheads="1"/>
          </p:cNvSpPr>
          <p:nvPr/>
        </p:nvSpPr>
        <p:spPr bwMode="auto">
          <a:xfrm>
            <a:off x="2590801" y="5791200"/>
            <a:ext cx="217226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Vernier Spirometer</a:t>
            </a:r>
          </a:p>
        </p:txBody>
      </p:sp>
    </p:spTree>
    <p:extLst>
      <p:ext uri="{BB962C8B-B14F-4D97-AF65-F5344CB8AC3E}">
        <p14:creationId xmlns:p14="http://schemas.microsoft.com/office/powerpoint/2010/main" val="1734710436"/>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p:cNvSpPr>
            <a:spLocks noGrp="1" noChangeArrowheads="1"/>
          </p:cNvSpPr>
          <p:nvPr>
            <p:ph type="title"/>
          </p:nvPr>
        </p:nvSpPr>
        <p:spPr/>
        <p:txBody>
          <a:bodyPr/>
          <a:lstStyle/>
          <a:p>
            <a:pPr algn="l"/>
            <a:r>
              <a:rPr lang="en-US" altLang="en-US" sz="4000"/>
              <a:t>Asthma - Breathing monitors</a:t>
            </a:r>
          </a:p>
        </p:txBody>
      </p:sp>
      <p:sp>
        <p:nvSpPr>
          <p:cNvPr id="414723" name="Rectangle 3"/>
          <p:cNvSpPr>
            <a:spLocks noGrp="1" noChangeArrowheads="1"/>
          </p:cNvSpPr>
          <p:nvPr>
            <p:ph type="body" sz="half" idx="1"/>
          </p:nvPr>
        </p:nvSpPr>
        <p:spPr>
          <a:xfrm>
            <a:off x="1981200" y="1295400"/>
            <a:ext cx="8229600" cy="4876800"/>
          </a:xfrm>
        </p:spPr>
        <p:txBody>
          <a:bodyPr/>
          <a:lstStyle/>
          <a:p>
            <a:pPr marL="0" indent="0">
              <a:buNone/>
            </a:pPr>
            <a:r>
              <a:rPr lang="en-US" altLang="en-US" sz="2400"/>
              <a:t>Electronic flow meters that store readings are very useful for Asthma diaries. It has been shown that children door a poor job of manually maintaining their diaries. </a:t>
            </a:r>
          </a:p>
          <a:p>
            <a:pPr marL="0" indent="0">
              <a:buNone/>
            </a:pPr>
            <a:endParaRPr lang="en-US" altLang="en-US" sz="2400"/>
          </a:p>
          <a:p>
            <a:pPr marL="0" indent="0">
              <a:buNone/>
            </a:pPr>
            <a:endParaRPr lang="en-US" altLang="en-US" sz="2400"/>
          </a:p>
          <a:p>
            <a:pPr marL="0" indent="0">
              <a:buNone/>
            </a:pPr>
            <a:r>
              <a:rPr lang="en-US" altLang="en-US" sz="2400"/>
              <a:t> </a:t>
            </a:r>
          </a:p>
        </p:txBody>
      </p:sp>
      <p:pic>
        <p:nvPicPr>
          <p:cNvPr id="414727" name="Picture 7" descr="kokofl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1" y="3429000"/>
            <a:ext cx="1624013" cy="2209800"/>
          </a:xfrm>
          <a:prstGeom prst="rect">
            <a:avLst/>
          </a:prstGeom>
          <a:noFill/>
          <a:extLst>
            <a:ext uri="{909E8E84-426E-40DD-AFC4-6F175D3DCCD1}">
              <a14:hiddenFill xmlns:a14="http://schemas.microsoft.com/office/drawing/2010/main">
                <a:solidFill>
                  <a:srgbClr val="FFFFFF"/>
                </a:solidFill>
              </a14:hiddenFill>
            </a:ext>
          </a:extLst>
        </p:spPr>
      </p:pic>
      <p:sp>
        <p:nvSpPr>
          <p:cNvPr id="414728" name="Text Box 8"/>
          <p:cNvSpPr txBox="1">
            <a:spLocks noChangeArrowheads="1"/>
          </p:cNvSpPr>
          <p:nvPr/>
        </p:nvSpPr>
        <p:spPr bwMode="auto">
          <a:xfrm>
            <a:off x="2057401" y="5715000"/>
            <a:ext cx="269580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Ferraris Koko electronic,</a:t>
            </a:r>
          </a:p>
          <a:p>
            <a:r>
              <a:rPr lang="en-US" altLang="en-US" sz="2000"/>
              <a:t>recording flow meter</a:t>
            </a:r>
          </a:p>
        </p:txBody>
      </p:sp>
      <p:pic>
        <p:nvPicPr>
          <p:cNvPr id="414729" name="Picture 9" descr="l_SpiroUSB"/>
          <p:cNvPicPr>
            <a:picLocks noChangeAspect="1" noChangeArrowheads="1"/>
          </p:cNvPicPr>
          <p:nvPr/>
        </p:nvPicPr>
        <p:blipFill>
          <a:blip r:embed="rId3">
            <a:extLst>
              <a:ext uri="{28A0092B-C50C-407E-A947-70E740481C1C}">
                <a14:useLocalDpi xmlns:a14="http://schemas.microsoft.com/office/drawing/2010/main" val="0"/>
              </a:ext>
            </a:extLst>
          </a:blip>
          <a:srcRect l="18533" t="35687" r="13513"/>
          <a:stretch>
            <a:fillRect/>
          </a:stretch>
        </p:blipFill>
        <p:spPr bwMode="auto">
          <a:xfrm>
            <a:off x="4876800" y="3429000"/>
            <a:ext cx="2209800" cy="2171700"/>
          </a:xfrm>
          <a:prstGeom prst="rect">
            <a:avLst/>
          </a:prstGeom>
          <a:noFill/>
          <a:extLst>
            <a:ext uri="{909E8E84-426E-40DD-AFC4-6F175D3DCCD1}">
              <a14:hiddenFill xmlns:a14="http://schemas.microsoft.com/office/drawing/2010/main">
                <a:solidFill>
                  <a:srgbClr val="FFFFFF"/>
                </a:solidFill>
              </a14:hiddenFill>
            </a:ext>
          </a:extLst>
        </p:spPr>
      </p:pic>
      <p:sp>
        <p:nvSpPr>
          <p:cNvPr id="414730" name="Text Box 10"/>
          <p:cNvSpPr txBox="1">
            <a:spLocks noChangeArrowheads="1"/>
          </p:cNvSpPr>
          <p:nvPr/>
        </p:nvSpPr>
        <p:spPr bwMode="auto">
          <a:xfrm>
            <a:off x="4495800" y="2667000"/>
            <a:ext cx="262373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Micromedical SpiroUSB</a:t>
            </a:r>
            <a:br>
              <a:rPr lang="en-US" altLang="en-US" sz="2000"/>
            </a:br>
            <a:r>
              <a:rPr lang="en-US" altLang="en-US" sz="2000"/>
              <a:t>Spirometer</a:t>
            </a:r>
          </a:p>
        </p:txBody>
      </p:sp>
      <p:pic>
        <p:nvPicPr>
          <p:cNvPr id="414731" name="Picture 11" descr="l_MicroDiarycard"/>
          <p:cNvPicPr>
            <a:picLocks noChangeAspect="1" noChangeArrowheads="1"/>
          </p:cNvPicPr>
          <p:nvPr/>
        </p:nvPicPr>
        <p:blipFill>
          <a:blip r:embed="rId4">
            <a:extLst>
              <a:ext uri="{28A0092B-C50C-407E-A947-70E740481C1C}">
                <a14:useLocalDpi xmlns:a14="http://schemas.microsoft.com/office/drawing/2010/main" val="0"/>
              </a:ext>
            </a:extLst>
          </a:blip>
          <a:srcRect l="12355" r="13513"/>
          <a:stretch>
            <a:fillRect/>
          </a:stretch>
        </p:blipFill>
        <p:spPr bwMode="auto">
          <a:xfrm>
            <a:off x="7620001" y="3048000"/>
            <a:ext cx="2005013" cy="2609850"/>
          </a:xfrm>
          <a:prstGeom prst="rect">
            <a:avLst/>
          </a:prstGeom>
          <a:noFill/>
          <a:extLst>
            <a:ext uri="{909E8E84-426E-40DD-AFC4-6F175D3DCCD1}">
              <a14:hiddenFill xmlns:a14="http://schemas.microsoft.com/office/drawing/2010/main">
                <a:solidFill>
                  <a:srgbClr val="FFFFFF"/>
                </a:solidFill>
              </a14:hiddenFill>
            </a:ext>
          </a:extLst>
        </p:spPr>
      </p:pic>
      <p:sp>
        <p:nvSpPr>
          <p:cNvPr id="414732" name="Text Box 12"/>
          <p:cNvSpPr txBox="1">
            <a:spLocks noChangeArrowheads="1"/>
          </p:cNvSpPr>
          <p:nvPr/>
        </p:nvSpPr>
        <p:spPr bwMode="auto">
          <a:xfrm>
            <a:off x="7010400" y="5791201"/>
            <a:ext cx="34226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Micromedical MicroDiaryCard</a:t>
            </a:r>
            <a:br>
              <a:rPr lang="en-US" altLang="en-US" sz="2000"/>
            </a:br>
            <a:r>
              <a:rPr lang="en-US" altLang="en-US" sz="2000"/>
              <a:t>recording Spirometer</a:t>
            </a:r>
          </a:p>
        </p:txBody>
      </p:sp>
    </p:spTree>
    <p:extLst>
      <p:ext uri="{BB962C8B-B14F-4D97-AF65-F5344CB8AC3E}">
        <p14:creationId xmlns:p14="http://schemas.microsoft.com/office/powerpoint/2010/main" val="2128202510"/>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ChangeArrowheads="1"/>
          </p:cNvSpPr>
          <p:nvPr>
            <p:ph type="title"/>
          </p:nvPr>
        </p:nvSpPr>
        <p:spPr/>
        <p:txBody>
          <a:bodyPr/>
          <a:lstStyle/>
          <a:p>
            <a:pPr algn="l"/>
            <a:r>
              <a:rPr lang="en-US" altLang="en-US"/>
              <a:t>Diabetes</a:t>
            </a:r>
          </a:p>
        </p:txBody>
      </p:sp>
      <p:sp>
        <p:nvSpPr>
          <p:cNvPr id="415747" name="Rectangle 3"/>
          <p:cNvSpPr>
            <a:spLocks noGrp="1" noChangeArrowheads="1"/>
          </p:cNvSpPr>
          <p:nvPr>
            <p:ph type="body" sz="half" idx="1"/>
          </p:nvPr>
        </p:nvSpPr>
        <p:spPr>
          <a:xfrm>
            <a:off x="1981200" y="1447800"/>
            <a:ext cx="8229600" cy="4876800"/>
          </a:xfrm>
        </p:spPr>
        <p:txBody>
          <a:bodyPr/>
          <a:lstStyle/>
          <a:p>
            <a:pPr marL="0" indent="0">
              <a:buNone/>
            </a:pPr>
            <a:r>
              <a:rPr lang="en-US" altLang="en-US" sz="2400"/>
              <a:t>The most direct method is blood glucose measurement. A small blood sample is taken by piercing a finger or arm, and analyzed in a handheld meter. </a:t>
            </a:r>
          </a:p>
        </p:txBody>
      </p:sp>
      <p:pic>
        <p:nvPicPr>
          <p:cNvPr id="415754" name="Picture 10" descr="lifescan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3352800"/>
            <a:ext cx="1506538" cy="2108200"/>
          </a:xfrm>
          <a:prstGeom prst="rect">
            <a:avLst/>
          </a:prstGeom>
          <a:noFill/>
          <a:extLst>
            <a:ext uri="{909E8E84-426E-40DD-AFC4-6F175D3DCCD1}">
              <a14:hiddenFill xmlns:a14="http://schemas.microsoft.com/office/drawing/2010/main">
                <a:solidFill>
                  <a:srgbClr val="FFFFFF"/>
                </a:solidFill>
              </a14:hiddenFill>
            </a:ext>
          </a:extLst>
        </p:spPr>
      </p:pic>
      <p:pic>
        <p:nvPicPr>
          <p:cNvPr id="415755" name="Picture 11" descr="lifesca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895600"/>
            <a:ext cx="1428750" cy="2686050"/>
          </a:xfrm>
          <a:prstGeom prst="rect">
            <a:avLst/>
          </a:prstGeom>
          <a:noFill/>
          <a:extLst>
            <a:ext uri="{909E8E84-426E-40DD-AFC4-6F175D3DCCD1}">
              <a14:hiddenFill xmlns:a14="http://schemas.microsoft.com/office/drawing/2010/main">
                <a:solidFill>
                  <a:srgbClr val="FFFFFF"/>
                </a:solidFill>
              </a14:hiddenFill>
            </a:ext>
          </a:extLst>
        </p:spPr>
      </p:pic>
      <p:pic>
        <p:nvPicPr>
          <p:cNvPr id="415756" name="Picture 12" descr="lifescan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3276600"/>
            <a:ext cx="1714500" cy="2171700"/>
          </a:xfrm>
          <a:prstGeom prst="rect">
            <a:avLst/>
          </a:prstGeom>
          <a:noFill/>
          <a:extLst>
            <a:ext uri="{909E8E84-426E-40DD-AFC4-6F175D3DCCD1}">
              <a14:hiddenFill xmlns:a14="http://schemas.microsoft.com/office/drawing/2010/main">
                <a:solidFill>
                  <a:srgbClr val="FFFFFF"/>
                </a:solidFill>
              </a14:hiddenFill>
            </a:ext>
          </a:extLst>
        </p:spPr>
      </p:pic>
      <p:sp>
        <p:nvSpPr>
          <p:cNvPr id="415757" name="Text Box 13"/>
          <p:cNvSpPr txBox="1">
            <a:spLocks noChangeArrowheads="1"/>
          </p:cNvSpPr>
          <p:nvPr/>
        </p:nvSpPr>
        <p:spPr bwMode="auto">
          <a:xfrm>
            <a:off x="2209801" y="5715000"/>
            <a:ext cx="692510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LifeScan OneTouch blood glucose meters. All of these support PC</a:t>
            </a:r>
            <a:br>
              <a:rPr lang="en-US" altLang="en-US" sz="2000"/>
            </a:br>
            <a:r>
              <a:rPr lang="en-US" altLang="en-US" sz="2000"/>
              <a:t>uploads via a serial (RS232) cable.</a:t>
            </a:r>
          </a:p>
        </p:txBody>
      </p:sp>
    </p:spTree>
    <p:extLst>
      <p:ext uri="{BB962C8B-B14F-4D97-AF65-F5344CB8AC3E}">
        <p14:creationId xmlns:p14="http://schemas.microsoft.com/office/powerpoint/2010/main" val="399738921"/>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lstStyle/>
          <a:p>
            <a:pPr algn="l"/>
            <a:r>
              <a:rPr lang="en-US" altLang="en-US" sz="4000"/>
              <a:t>Diabetes – non-invasive methods</a:t>
            </a:r>
          </a:p>
        </p:txBody>
      </p:sp>
      <p:sp>
        <p:nvSpPr>
          <p:cNvPr id="416771" name="Rectangle 3"/>
          <p:cNvSpPr>
            <a:spLocks noGrp="1" noChangeArrowheads="1"/>
          </p:cNvSpPr>
          <p:nvPr>
            <p:ph type="body" sz="half" idx="1"/>
          </p:nvPr>
        </p:nvSpPr>
        <p:spPr>
          <a:xfrm>
            <a:off x="1981200" y="1447800"/>
            <a:ext cx="8229600" cy="4876800"/>
          </a:xfrm>
        </p:spPr>
        <p:txBody>
          <a:bodyPr/>
          <a:lstStyle/>
          <a:p>
            <a:pPr>
              <a:buFont typeface="Wingdings" panose="05000000000000000000" pitchFamily="2" charset="2"/>
              <a:buNone/>
            </a:pPr>
            <a:r>
              <a:rPr lang="en-US" altLang="en-US" sz="2400"/>
              <a:t>The Glucowatch uses a method called “reverse iontophoresis” – a small voltage is applied to the skin which draws out intercellular fluid (with glucose in it). The fluid reacts with a gel in a disposable pad, and causes another electrical signal that measures glucose.</a:t>
            </a:r>
          </a:p>
          <a:p>
            <a:r>
              <a:rPr lang="en-US" altLang="en-US" sz="2400"/>
              <a:t>Received FDA approval in 2002</a:t>
            </a:r>
          </a:p>
          <a:p>
            <a:r>
              <a:rPr lang="en-US" altLang="en-US" sz="2400"/>
              <a:t>Extremely valuable for high-risk patients</a:t>
            </a:r>
          </a:p>
          <a:p>
            <a:r>
              <a:rPr lang="en-US" altLang="en-US" sz="2400"/>
              <a:t>But readings affected by many factors,</a:t>
            </a:r>
            <a:br>
              <a:rPr lang="en-US" altLang="en-US" sz="2400"/>
            </a:br>
            <a:r>
              <a:rPr lang="en-US" altLang="en-US" sz="2400"/>
              <a:t>perspiration etc., not for everyone</a:t>
            </a:r>
          </a:p>
          <a:p>
            <a:r>
              <a:rPr lang="en-US" altLang="en-US" sz="2400"/>
              <a:t>Requires (expensive) replaceable pads</a:t>
            </a:r>
          </a:p>
          <a:p>
            <a:r>
              <a:rPr lang="en-US" altLang="en-US" sz="2400"/>
              <a:t>Company (Cygnus) sold this year </a:t>
            </a:r>
            <a:br>
              <a:rPr lang="en-US" altLang="en-US" sz="2400"/>
            </a:br>
            <a:r>
              <a:rPr lang="en-US" altLang="en-US" sz="2400"/>
              <a:t>– device future uncertain</a:t>
            </a:r>
          </a:p>
        </p:txBody>
      </p:sp>
      <p:pic>
        <p:nvPicPr>
          <p:cNvPr id="416776" name="Picture 8" descr="Glucowatch"/>
          <p:cNvPicPr>
            <a:picLocks noChangeAspect="1" noChangeArrowheads="1"/>
          </p:cNvPicPr>
          <p:nvPr/>
        </p:nvPicPr>
        <p:blipFill>
          <a:blip r:embed="rId2">
            <a:extLst>
              <a:ext uri="{28A0092B-C50C-407E-A947-70E740481C1C}">
                <a14:useLocalDpi xmlns:a14="http://schemas.microsoft.com/office/drawing/2010/main" val="0"/>
              </a:ext>
            </a:extLst>
          </a:blip>
          <a:srcRect l="16129"/>
          <a:stretch>
            <a:fillRect/>
          </a:stretch>
        </p:blipFill>
        <p:spPr bwMode="auto">
          <a:xfrm>
            <a:off x="7924800" y="3449639"/>
            <a:ext cx="2438400" cy="2325687"/>
          </a:xfrm>
          <a:prstGeom prst="rect">
            <a:avLst/>
          </a:prstGeom>
          <a:noFill/>
          <a:extLst>
            <a:ext uri="{909E8E84-426E-40DD-AFC4-6F175D3DCCD1}">
              <a14:hiddenFill xmlns:a14="http://schemas.microsoft.com/office/drawing/2010/main">
                <a:solidFill>
                  <a:srgbClr val="FFFFFF"/>
                </a:solidFill>
              </a14:hiddenFill>
            </a:ext>
          </a:extLst>
        </p:spPr>
      </p:pic>
      <p:sp>
        <p:nvSpPr>
          <p:cNvPr id="416777" name="Text Box 9"/>
          <p:cNvSpPr txBox="1">
            <a:spLocks noChangeArrowheads="1"/>
          </p:cNvSpPr>
          <p:nvPr/>
        </p:nvSpPr>
        <p:spPr bwMode="auto">
          <a:xfrm>
            <a:off x="8305801" y="5867400"/>
            <a:ext cx="175849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Glucowatch G2</a:t>
            </a:r>
          </a:p>
        </p:txBody>
      </p:sp>
    </p:spTree>
    <p:extLst>
      <p:ext uri="{BB962C8B-B14F-4D97-AF65-F5344CB8AC3E}">
        <p14:creationId xmlns:p14="http://schemas.microsoft.com/office/powerpoint/2010/main" val="2235526329"/>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pPr algn="l"/>
            <a:r>
              <a:rPr lang="en-US" altLang="en-US"/>
              <a:t>Diabetes – permanent monitors</a:t>
            </a:r>
          </a:p>
        </p:txBody>
      </p:sp>
      <p:sp>
        <p:nvSpPr>
          <p:cNvPr id="417795" name="Rectangle 3"/>
          <p:cNvSpPr>
            <a:spLocks noGrp="1" noChangeArrowheads="1"/>
          </p:cNvSpPr>
          <p:nvPr>
            <p:ph type="body" sz="half" idx="1"/>
          </p:nvPr>
        </p:nvSpPr>
        <p:spPr>
          <a:xfrm>
            <a:off x="1981200" y="1447800"/>
            <a:ext cx="8229600" cy="4876800"/>
          </a:xfrm>
        </p:spPr>
        <p:txBody>
          <a:bodyPr/>
          <a:lstStyle/>
          <a:p>
            <a:pPr>
              <a:buFont typeface="Wingdings" panose="05000000000000000000" pitchFamily="2" charset="2"/>
              <a:buNone/>
            </a:pPr>
            <a:r>
              <a:rPr lang="en-US" altLang="en-US" sz="2400"/>
              <a:t>The best long-term approach seems to be implanted sensors that are accessed wirelessly from outside the body. Many companies (and labs) are working on this. </a:t>
            </a:r>
          </a:p>
          <a:p>
            <a:pPr>
              <a:buFont typeface="Wingdings" panose="05000000000000000000" pitchFamily="2" charset="2"/>
              <a:buNone/>
            </a:pPr>
            <a:endParaRPr lang="en-US" altLang="en-US" sz="2400"/>
          </a:p>
          <a:p>
            <a:pPr>
              <a:buFont typeface="Wingdings" panose="05000000000000000000" pitchFamily="2" charset="2"/>
              <a:buNone/>
            </a:pPr>
            <a:r>
              <a:rPr lang="en-US" altLang="en-US" sz="2400"/>
              <a:t>Craig Grimes (Penn. State) developed a magneto-elastic sensor with a polymer coating that responds to Ph (acidity). An additional layer (glucose oxidase) produces acid in the presence of glucose. </a:t>
            </a:r>
          </a:p>
          <a:p>
            <a:pPr>
              <a:buFont typeface="Wingdings" panose="05000000000000000000" pitchFamily="2" charset="2"/>
              <a:buNone/>
            </a:pPr>
            <a:endParaRPr lang="en-US" altLang="en-US" sz="2400"/>
          </a:p>
          <a:p>
            <a:pPr>
              <a:buFont typeface="Wingdings" panose="05000000000000000000" pitchFamily="2" charset="2"/>
              <a:buNone/>
            </a:pPr>
            <a:r>
              <a:rPr lang="en-US" altLang="en-US" sz="2400"/>
              <a:t>This sensor, and the electronics to </a:t>
            </a:r>
            <a:br>
              <a:rPr lang="en-US" altLang="en-US" sz="2400"/>
            </a:br>
            <a:r>
              <a:rPr lang="en-US" altLang="en-US" sz="2400"/>
              <a:t>access it, would be extremely </a:t>
            </a:r>
            <a:br>
              <a:rPr lang="en-US" altLang="en-US" sz="2400"/>
            </a:br>
            <a:r>
              <a:rPr lang="en-US" altLang="en-US" sz="2400"/>
              <a:t>inexpensive. </a:t>
            </a:r>
          </a:p>
        </p:txBody>
      </p:sp>
      <p:pic>
        <p:nvPicPr>
          <p:cNvPr id="417798" name="Picture 6" descr="senso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7391400" y="4419600"/>
            <a:ext cx="2514600" cy="1900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864724413"/>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p:txBody>
          <a:bodyPr/>
          <a:lstStyle/>
          <a:p>
            <a:pPr algn="l"/>
            <a:r>
              <a:rPr lang="en-US" altLang="en-US"/>
              <a:t>Aside – magneto-elastic sensors</a:t>
            </a:r>
          </a:p>
        </p:txBody>
      </p:sp>
      <p:sp>
        <p:nvSpPr>
          <p:cNvPr id="418819" name="Rectangle 3"/>
          <p:cNvSpPr>
            <a:spLocks noGrp="1" noChangeArrowheads="1"/>
          </p:cNvSpPr>
          <p:nvPr>
            <p:ph type="body" sz="half" idx="1"/>
          </p:nvPr>
        </p:nvSpPr>
        <p:spPr>
          <a:xfrm>
            <a:off x="1981200" y="1219200"/>
            <a:ext cx="8229600" cy="5257800"/>
          </a:xfrm>
        </p:spPr>
        <p:txBody>
          <a:bodyPr/>
          <a:lstStyle/>
          <a:p>
            <a:pPr>
              <a:buFont typeface="Wingdings" panose="05000000000000000000" pitchFamily="2" charset="2"/>
              <a:buNone/>
            </a:pPr>
            <a:r>
              <a:rPr lang="en-US" altLang="en-US" sz="2400"/>
              <a:t>Grimes’ group has also demonstrated that these sensors can be tailored to specific pathogens – e.g. disease agents in humans, or in contaminated water.</a:t>
            </a:r>
          </a:p>
          <a:p>
            <a:pPr>
              <a:buFont typeface="Wingdings" panose="05000000000000000000" pitchFamily="2" charset="2"/>
              <a:buNone/>
            </a:pPr>
            <a:r>
              <a:rPr lang="en-US" altLang="en-US" sz="2400"/>
              <a:t>The extremely low cost of the sensors and reader electronics opens up many opportunities for environmental health testing in developing regions. </a:t>
            </a:r>
          </a:p>
          <a:p>
            <a:pPr>
              <a:buFont typeface="Wingdings" panose="05000000000000000000" pitchFamily="2" charset="2"/>
              <a:buNone/>
            </a:pPr>
            <a:r>
              <a:rPr lang="en-US" altLang="en-US" sz="2400"/>
              <a:t>Work is needed on two fronts:</a:t>
            </a:r>
          </a:p>
          <a:p>
            <a:r>
              <a:rPr lang="en-US" altLang="en-US" sz="2400"/>
              <a:t>Sensor chemistry – tailoring materials that respond to specific agents</a:t>
            </a:r>
          </a:p>
          <a:p>
            <a:r>
              <a:rPr lang="en-US" altLang="en-US" sz="2400"/>
              <a:t>Reader electronics – reading the sensors requires electronics with high integration for low cost (e.g. systems-on-a-chip) , or modifications to existing SOC hardware (e.g. rfid tag reader chips). </a:t>
            </a:r>
          </a:p>
        </p:txBody>
      </p:sp>
    </p:spTree>
    <p:extLst>
      <p:ext uri="{BB962C8B-B14F-4D97-AF65-F5344CB8AC3E}">
        <p14:creationId xmlns:p14="http://schemas.microsoft.com/office/powerpoint/2010/main" val="1952471604"/>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pPr algn="l"/>
            <a:r>
              <a:rPr lang="en-US" altLang="en-US" sz="4000"/>
              <a:t>ECG (or EKG) ElectroCardioGram</a:t>
            </a:r>
          </a:p>
        </p:txBody>
      </p:sp>
      <p:sp>
        <p:nvSpPr>
          <p:cNvPr id="403459" name="Rectangle 3"/>
          <p:cNvSpPr>
            <a:spLocks noGrp="1" noChangeArrowheads="1"/>
          </p:cNvSpPr>
          <p:nvPr>
            <p:ph type="body" sz="half" idx="1"/>
          </p:nvPr>
        </p:nvSpPr>
        <p:spPr>
          <a:xfrm>
            <a:off x="1981200" y="1447800"/>
            <a:ext cx="8229600" cy="4876800"/>
          </a:xfrm>
        </p:spPr>
        <p:txBody>
          <a:bodyPr/>
          <a:lstStyle/>
          <a:p>
            <a:pPr marL="0" indent="0">
              <a:buNone/>
            </a:pPr>
            <a:r>
              <a:rPr lang="en-US" altLang="en-US" sz="2400"/>
              <a:t>ECG signals are the electrical traces of heart muscle action on the chest. ECG sensors are normally “3-lead” or “12-lead” (actually 10 electrodes). An ECG signal is quite strong (1mV) but may be immersed in noise from AC appliances, so must be amplified carefully. </a:t>
            </a:r>
          </a:p>
        </p:txBody>
      </p:sp>
      <p:sp>
        <p:nvSpPr>
          <p:cNvPr id="403463" name="Text Box 7"/>
          <p:cNvSpPr txBox="1">
            <a:spLocks noChangeArrowheads="1"/>
          </p:cNvSpPr>
          <p:nvPr/>
        </p:nvSpPr>
        <p:spPr bwMode="auto">
          <a:xfrm>
            <a:off x="2057400" y="3505200"/>
            <a:ext cx="27202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3-lead Vernier ECG amp.</a:t>
            </a:r>
          </a:p>
        </p:txBody>
      </p:sp>
      <p:pic>
        <p:nvPicPr>
          <p:cNvPr id="403464" name="Picture 8" descr="ekg_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3124200"/>
            <a:ext cx="3429000" cy="2636838"/>
          </a:xfrm>
          <a:prstGeom prst="rect">
            <a:avLst/>
          </a:prstGeom>
          <a:noFill/>
          <a:extLst>
            <a:ext uri="{909E8E84-426E-40DD-AFC4-6F175D3DCCD1}">
              <a14:hiddenFill xmlns:a14="http://schemas.microsoft.com/office/drawing/2010/main">
                <a:solidFill>
                  <a:srgbClr val="FFFFFF"/>
                </a:solidFill>
              </a14:hiddenFill>
            </a:ext>
          </a:extLst>
        </p:spPr>
      </p:pic>
      <p:pic>
        <p:nvPicPr>
          <p:cNvPr id="403465" name="Picture 9" descr="ekg-bta_web"/>
          <p:cNvPicPr>
            <a:picLocks noChangeAspect="1" noChangeArrowheads="1"/>
          </p:cNvPicPr>
          <p:nvPr/>
        </p:nvPicPr>
        <p:blipFill>
          <a:blip r:embed="rId3">
            <a:extLst>
              <a:ext uri="{28A0092B-C50C-407E-A947-70E740481C1C}">
                <a14:useLocalDpi xmlns:a14="http://schemas.microsoft.com/office/drawing/2010/main" val="0"/>
              </a:ext>
            </a:extLst>
          </a:blip>
          <a:srcRect l="20000"/>
          <a:stretch>
            <a:fillRect/>
          </a:stretch>
        </p:blipFill>
        <p:spPr bwMode="auto">
          <a:xfrm>
            <a:off x="2133600" y="4038601"/>
            <a:ext cx="2133600" cy="1706563"/>
          </a:xfrm>
          <a:prstGeom prst="rect">
            <a:avLst/>
          </a:prstGeom>
          <a:noFill/>
          <a:extLst>
            <a:ext uri="{909E8E84-426E-40DD-AFC4-6F175D3DCCD1}">
              <a14:hiddenFill xmlns:a14="http://schemas.microsoft.com/office/drawing/2010/main">
                <a:solidFill>
                  <a:srgbClr val="FFFFFF"/>
                </a:solidFill>
              </a14:hiddenFill>
            </a:ext>
          </a:extLst>
        </p:spPr>
      </p:pic>
      <p:pic>
        <p:nvPicPr>
          <p:cNvPr id="403466" name="Picture 10" descr="PS2111_XLG"/>
          <p:cNvPicPr>
            <a:picLocks noChangeAspect="1" noChangeArrowheads="1"/>
          </p:cNvPicPr>
          <p:nvPr/>
        </p:nvPicPr>
        <p:blipFill>
          <a:blip r:embed="rId4">
            <a:extLst>
              <a:ext uri="{28A0092B-C50C-407E-A947-70E740481C1C}">
                <a14:useLocalDpi xmlns:a14="http://schemas.microsoft.com/office/drawing/2010/main" val="0"/>
              </a:ext>
            </a:extLst>
          </a:blip>
          <a:srcRect r="29518"/>
          <a:stretch>
            <a:fillRect/>
          </a:stretch>
        </p:blipFill>
        <p:spPr bwMode="auto">
          <a:xfrm>
            <a:off x="4495800" y="4572000"/>
            <a:ext cx="2133600" cy="1189038"/>
          </a:xfrm>
          <a:prstGeom prst="rect">
            <a:avLst/>
          </a:prstGeom>
          <a:noFill/>
          <a:extLst>
            <a:ext uri="{909E8E84-426E-40DD-AFC4-6F175D3DCCD1}">
              <a14:hiddenFill xmlns:a14="http://schemas.microsoft.com/office/drawing/2010/main">
                <a:solidFill>
                  <a:srgbClr val="FFFFFF"/>
                </a:solidFill>
              </a14:hiddenFill>
            </a:ext>
          </a:extLst>
        </p:spPr>
      </p:pic>
      <p:sp>
        <p:nvSpPr>
          <p:cNvPr id="403467" name="Text Box 11"/>
          <p:cNvSpPr txBox="1">
            <a:spLocks noChangeArrowheads="1"/>
          </p:cNvSpPr>
          <p:nvPr/>
        </p:nvSpPr>
        <p:spPr bwMode="auto">
          <a:xfrm>
            <a:off x="4800600" y="5867400"/>
            <a:ext cx="15606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PasPort amp.</a:t>
            </a:r>
          </a:p>
        </p:txBody>
      </p:sp>
      <p:sp>
        <p:nvSpPr>
          <p:cNvPr id="403468" name="Text Box 12"/>
          <p:cNvSpPr txBox="1">
            <a:spLocks noChangeArrowheads="1"/>
          </p:cNvSpPr>
          <p:nvPr/>
        </p:nvSpPr>
        <p:spPr bwMode="auto">
          <a:xfrm>
            <a:off x="7543800" y="5867400"/>
            <a:ext cx="18560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Single ECG cycle</a:t>
            </a:r>
          </a:p>
        </p:txBody>
      </p:sp>
    </p:spTree>
    <p:extLst>
      <p:ext uri="{BB962C8B-B14F-4D97-AF65-F5344CB8AC3E}">
        <p14:creationId xmlns:p14="http://schemas.microsoft.com/office/powerpoint/2010/main" val="3817076441"/>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p:txBody>
          <a:bodyPr/>
          <a:lstStyle/>
          <a:p>
            <a:pPr algn="l"/>
            <a:r>
              <a:rPr lang="en-US" altLang="en-US" sz="4000"/>
              <a:t>Systems </a:t>
            </a:r>
          </a:p>
        </p:txBody>
      </p:sp>
      <p:sp>
        <p:nvSpPr>
          <p:cNvPr id="409603" name="Rectangle 3"/>
          <p:cNvSpPr>
            <a:spLocks noGrp="1" noChangeArrowheads="1"/>
          </p:cNvSpPr>
          <p:nvPr>
            <p:ph type="body" sz="half" idx="1"/>
          </p:nvPr>
        </p:nvSpPr>
        <p:spPr>
          <a:xfrm>
            <a:off x="1981200" y="1600200"/>
            <a:ext cx="8229600" cy="4495800"/>
          </a:xfrm>
        </p:spPr>
        <p:txBody>
          <a:bodyPr/>
          <a:lstStyle/>
          <a:p>
            <a:pPr marL="0" indent="0">
              <a:buNone/>
            </a:pPr>
            <a:endParaRPr lang="en-US" altLang="en-US"/>
          </a:p>
        </p:txBody>
      </p:sp>
      <p:pic>
        <p:nvPicPr>
          <p:cNvPr id="409604" name="Picture 4" descr="health_buddy_system"/>
          <p:cNvPicPr>
            <a:picLocks noChangeAspect="1" noChangeArrowheads="1"/>
          </p:cNvPicPr>
          <p:nvPr/>
        </p:nvPicPr>
        <p:blipFill>
          <a:blip r:embed="rId2">
            <a:extLst>
              <a:ext uri="{28A0092B-C50C-407E-A947-70E740481C1C}">
                <a14:useLocalDpi xmlns:a14="http://schemas.microsoft.com/office/drawing/2010/main" val="0"/>
              </a:ext>
            </a:extLst>
          </a:blip>
          <a:srcRect l="32051"/>
          <a:stretch>
            <a:fillRect/>
          </a:stretch>
        </p:blipFill>
        <p:spPr bwMode="auto">
          <a:xfrm>
            <a:off x="1981200" y="1676400"/>
            <a:ext cx="4343400" cy="2878138"/>
          </a:xfrm>
          <a:prstGeom prst="rect">
            <a:avLst/>
          </a:prstGeom>
          <a:noFill/>
          <a:extLst>
            <a:ext uri="{909E8E84-426E-40DD-AFC4-6F175D3DCCD1}">
              <a14:hiddenFill xmlns:a14="http://schemas.microsoft.com/office/drawing/2010/main">
                <a:solidFill>
                  <a:srgbClr val="FFFFFF"/>
                </a:solidFill>
              </a14:hiddenFill>
            </a:ext>
          </a:extLst>
        </p:spPr>
      </p:pic>
      <p:pic>
        <p:nvPicPr>
          <p:cNvPr id="409605" name="Picture 5" descr="Metriklin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1" y="2895601"/>
            <a:ext cx="3552825" cy="3552825"/>
          </a:xfrm>
          <a:prstGeom prst="rect">
            <a:avLst/>
          </a:prstGeom>
          <a:noFill/>
          <a:extLst>
            <a:ext uri="{909E8E84-426E-40DD-AFC4-6F175D3DCCD1}">
              <a14:hiddenFill xmlns:a14="http://schemas.microsoft.com/office/drawing/2010/main">
                <a:solidFill>
                  <a:srgbClr val="FFFFFF"/>
                </a:solidFill>
              </a14:hiddenFill>
            </a:ext>
          </a:extLst>
        </p:spPr>
      </p:pic>
      <p:sp>
        <p:nvSpPr>
          <p:cNvPr id="409606" name="Text Box 6"/>
          <p:cNvSpPr txBox="1">
            <a:spLocks noChangeArrowheads="1"/>
          </p:cNvSpPr>
          <p:nvPr/>
        </p:nvSpPr>
        <p:spPr bwMode="auto">
          <a:xfrm>
            <a:off x="2590800" y="4724400"/>
            <a:ext cx="30022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HealthHero’s Health Buddy</a:t>
            </a:r>
          </a:p>
        </p:txBody>
      </p:sp>
      <p:sp>
        <p:nvSpPr>
          <p:cNvPr id="409607" name="Text Box 7"/>
          <p:cNvSpPr txBox="1">
            <a:spLocks noChangeArrowheads="1"/>
          </p:cNvSpPr>
          <p:nvPr/>
        </p:nvSpPr>
        <p:spPr bwMode="auto">
          <a:xfrm>
            <a:off x="7010401" y="2286001"/>
            <a:ext cx="27971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iMetrikus MediCompass</a:t>
            </a:r>
          </a:p>
        </p:txBody>
      </p:sp>
    </p:spTree>
    <p:extLst>
      <p:ext uri="{BB962C8B-B14F-4D97-AF65-F5344CB8AC3E}">
        <p14:creationId xmlns:p14="http://schemas.microsoft.com/office/powerpoint/2010/main" val="3500871813"/>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pPr algn="l"/>
            <a:r>
              <a:rPr lang="en-US" altLang="en-US" sz="4000"/>
              <a:t>Analog signals: Audio</a:t>
            </a:r>
          </a:p>
        </p:txBody>
      </p:sp>
      <p:sp>
        <p:nvSpPr>
          <p:cNvPr id="395267" name="Rectangle 3"/>
          <p:cNvSpPr>
            <a:spLocks noGrp="1" noChangeArrowheads="1"/>
          </p:cNvSpPr>
          <p:nvPr>
            <p:ph type="body" sz="half" idx="1"/>
          </p:nvPr>
        </p:nvSpPr>
        <p:spPr>
          <a:xfrm>
            <a:off x="1981200" y="1447800"/>
            <a:ext cx="8229600" cy="4876800"/>
          </a:xfrm>
        </p:spPr>
        <p:txBody>
          <a:bodyPr>
            <a:normAutofit lnSpcReduction="10000"/>
          </a:bodyPr>
          <a:lstStyle/>
          <a:p>
            <a:pPr marL="0" indent="0">
              <a:buNone/>
            </a:pPr>
            <a:r>
              <a:rPr lang="en-US" altLang="en-US" sz="2400" b="1"/>
              <a:t>Stethoscopes:</a:t>
            </a:r>
          </a:p>
          <a:p>
            <a:pPr marL="0" indent="0">
              <a:buNone/>
            </a:pPr>
            <a:r>
              <a:rPr lang="en-US" altLang="en-US" sz="2400"/>
              <a:t>Several groups (including Intel) have demonstrated electronic stethoscopes.</a:t>
            </a:r>
          </a:p>
          <a:p>
            <a:pPr marL="0" indent="0">
              <a:buNone/>
            </a:pPr>
            <a:endParaRPr lang="en-US" altLang="en-US" sz="2400"/>
          </a:p>
          <a:p>
            <a:pPr marL="0" indent="0">
              <a:buNone/>
            </a:pPr>
            <a:r>
              <a:rPr lang="en-US" altLang="en-US" sz="2400" b="1"/>
              <a:t>Respiration:</a:t>
            </a:r>
          </a:p>
          <a:p>
            <a:pPr marL="0" indent="0">
              <a:buNone/>
            </a:pPr>
            <a:r>
              <a:rPr lang="en-US" altLang="en-US" sz="2400"/>
              <a:t>Asthma breathing sounds at the throat can be remotely diagnosed with a cell phone!</a:t>
            </a:r>
          </a:p>
          <a:p>
            <a:pPr marL="0" indent="0">
              <a:buNone/>
            </a:pPr>
            <a:endParaRPr lang="en-US" altLang="en-US" sz="2400"/>
          </a:p>
          <a:p>
            <a:pPr marL="0" indent="0">
              <a:buNone/>
            </a:pPr>
            <a:r>
              <a:rPr lang="en-US" altLang="en-US" sz="2400" b="1"/>
              <a:t>Chewing!:</a:t>
            </a:r>
          </a:p>
          <a:p>
            <a:pPr marL="0" indent="0">
              <a:buNone/>
            </a:pPr>
            <a:r>
              <a:rPr lang="en-US" altLang="en-US" sz="2400"/>
              <a:t>UBICOMP 2005 paper showed that chewing sounds can be recognized from speech, and several types of food can be distinguished.</a:t>
            </a:r>
          </a:p>
        </p:txBody>
      </p:sp>
    </p:spTree>
    <p:extLst>
      <p:ext uri="{BB962C8B-B14F-4D97-AF65-F5344CB8AC3E}">
        <p14:creationId xmlns:p14="http://schemas.microsoft.com/office/powerpoint/2010/main" val="1547737848"/>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pPr algn="l"/>
            <a:r>
              <a:rPr lang="en-US" altLang="en-US" sz="4000"/>
              <a:t>Other Analog signals</a:t>
            </a:r>
          </a:p>
        </p:txBody>
      </p:sp>
      <p:sp>
        <p:nvSpPr>
          <p:cNvPr id="394243" name="Rectangle 3"/>
          <p:cNvSpPr>
            <a:spLocks noGrp="1" noChangeArrowheads="1"/>
          </p:cNvSpPr>
          <p:nvPr>
            <p:ph type="body" sz="half" idx="1"/>
          </p:nvPr>
        </p:nvSpPr>
        <p:spPr>
          <a:xfrm>
            <a:off x="1981200" y="1447800"/>
            <a:ext cx="8229600" cy="4876800"/>
          </a:xfrm>
        </p:spPr>
        <p:txBody>
          <a:bodyPr/>
          <a:lstStyle/>
          <a:p>
            <a:pPr marL="0" indent="0">
              <a:buNone/>
            </a:pPr>
            <a:r>
              <a:rPr lang="en-US" altLang="en-US" sz="2400" b="1"/>
              <a:t>EKG:</a:t>
            </a:r>
          </a:p>
          <a:p>
            <a:pPr marL="0" indent="0">
              <a:buNone/>
            </a:pPr>
            <a:r>
              <a:rPr lang="en-US" altLang="en-US" sz="2400"/>
              <a:t>In range 0.5-30 Hz, about 1 mV p-p. Should be compatible with audio connections. </a:t>
            </a:r>
          </a:p>
          <a:p>
            <a:pPr marL="0" indent="0">
              <a:buNone/>
            </a:pPr>
            <a:endParaRPr lang="en-US" altLang="en-US" sz="2400"/>
          </a:p>
          <a:p>
            <a:pPr marL="0" indent="0">
              <a:buNone/>
            </a:pPr>
            <a:r>
              <a:rPr lang="en-US" altLang="en-US" sz="2400" b="1"/>
              <a:t>Pulse Oximetry:</a:t>
            </a:r>
          </a:p>
          <a:p>
            <a:pPr marL="0" indent="0">
              <a:buNone/>
            </a:pPr>
            <a:r>
              <a:rPr lang="en-US" altLang="en-US" sz="2400"/>
              <a:t>This waveform is very similar in shape. Amplitude depends on the specific sensor.</a:t>
            </a:r>
            <a:r>
              <a:rPr lang="en-US" altLang="en-US"/>
              <a:t> </a:t>
            </a:r>
          </a:p>
          <a:p>
            <a:pPr marL="0" indent="0">
              <a:buNone/>
            </a:pPr>
            <a:endParaRPr lang="en-US" altLang="en-US" sz="2400"/>
          </a:p>
          <a:p>
            <a:pPr marL="0" indent="0">
              <a:buNone/>
            </a:pPr>
            <a:r>
              <a:rPr lang="en-US" altLang="en-US" sz="2400" b="1"/>
              <a:t>EEG:</a:t>
            </a:r>
          </a:p>
          <a:p>
            <a:pPr marL="0" indent="0">
              <a:buNone/>
            </a:pPr>
            <a:r>
              <a:rPr lang="en-US" altLang="en-US" sz="2400"/>
              <a:t>True audio range, a few Hz to several hundred. Very low amplitude, high gain, noise rejecting amplifier needed. </a:t>
            </a:r>
            <a:endParaRPr lang="en-US" altLang="en-US"/>
          </a:p>
        </p:txBody>
      </p:sp>
    </p:spTree>
    <p:extLst>
      <p:ext uri="{BB962C8B-B14F-4D97-AF65-F5344CB8AC3E}">
        <p14:creationId xmlns:p14="http://schemas.microsoft.com/office/powerpoint/2010/main" val="3634381761"/>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pPr algn="l"/>
            <a:r>
              <a:rPr lang="en-US" altLang="en-US" sz="4000"/>
              <a:t>Summary of sensing needs</a:t>
            </a:r>
          </a:p>
        </p:txBody>
      </p:sp>
      <p:sp>
        <p:nvSpPr>
          <p:cNvPr id="420867" name="Rectangle 3"/>
          <p:cNvSpPr>
            <a:spLocks noGrp="1" noChangeArrowheads="1"/>
          </p:cNvSpPr>
          <p:nvPr>
            <p:ph type="body" sz="half" idx="1"/>
          </p:nvPr>
        </p:nvSpPr>
        <p:spPr>
          <a:xfrm>
            <a:off x="1981200" y="1447800"/>
            <a:ext cx="8229600" cy="4876800"/>
          </a:xfrm>
        </p:spPr>
        <p:txBody>
          <a:bodyPr/>
          <a:lstStyle/>
          <a:p>
            <a:pPr marL="0" indent="0">
              <a:buNone/>
            </a:pPr>
            <a:r>
              <a:rPr lang="en-US" altLang="en-US" sz="2400"/>
              <a:t>The sensors we described so far fall into a few classes:</a:t>
            </a:r>
          </a:p>
          <a:p>
            <a:pPr marL="0" indent="0">
              <a:buNone/>
            </a:pPr>
            <a:endParaRPr lang="en-US" altLang="en-US" sz="2400"/>
          </a:p>
          <a:p>
            <a:pPr marL="0" indent="0">
              <a:buNone/>
            </a:pPr>
            <a:r>
              <a:rPr lang="en-US" altLang="en-US" sz="2400" b="1"/>
              <a:t>Discrete readings: </a:t>
            </a:r>
            <a:r>
              <a:rPr lang="en-US" altLang="en-US" sz="2400"/>
              <a:t>Blood pressure, pulse, temperature, weight, body fat, flow (asthma), blood glucose (diabetes). </a:t>
            </a:r>
          </a:p>
          <a:p>
            <a:pPr marL="0" indent="0">
              <a:buNone/>
            </a:pPr>
            <a:endParaRPr lang="en-US" altLang="en-US" sz="2400"/>
          </a:p>
          <a:p>
            <a:pPr marL="0" indent="0">
              <a:buNone/>
            </a:pPr>
            <a:r>
              <a:rPr lang="en-US" altLang="en-US" sz="2400" b="1"/>
              <a:t>Signal capture:</a:t>
            </a:r>
            <a:r>
              <a:rPr lang="en-US" altLang="en-US" sz="2400"/>
              <a:t> Pulse oximetry and pulse pressure (waveforms), EKG, stethoscope readings, breath sounds.</a:t>
            </a:r>
          </a:p>
          <a:p>
            <a:pPr marL="0" indent="0">
              <a:buNone/>
            </a:pPr>
            <a:endParaRPr lang="en-US" altLang="en-US" sz="2400"/>
          </a:p>
          <a:p>
            <a:pPr marL="0" indent="0">
              <a:buNone/>
            </a:pPr>
            <a:r>
              <a:rPr lang="en-US" altLang="en-US" sz="2400" b="1"/>
              <a:t>Monitoring:</a:t>
            </a:r>
            <a:r>
              <a:rPr lang="en-US" altLang="en-US" sz="2400"/>
              <a:t> Repeated readings of one of the above, with checking for measurements outside a safe range. </a:t>
            </a:r>
            <a:endParaRPr lang="en-US" altLang="en-US" sz="2400" b="1"/>
          </a:p>
        </p:txBody>
      </p:sp>
    </p:spTree>
    <p:extLst>
      <p:ext uri="{BB962C8B-B14F-4D97-AF65-F5344CB8AC3E}">
        <p14:creationId xmlns:p14="http://schemas.microsoft.com/office/powerpoint/2010/main" val="321539243"/>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p:cNvSpPr>
            <a:spLocks noGrp="1" noChangeArrowheads="1"/>
          </p:cNvSpPr>
          <p:nvPr>
            <p:ph type="title"/>
          </p:nvPr>
        </p:nvSpPr>
        <p:spPr/>
        <p:txBody>
          <a:bodyPr/>
          <a:lstStyle/>
          <a:p>
            <a:pPr algn="l"/>
            <a:r>
              <a:rPr lang="en-US" altLang="en-US" sz="4000"/>
              <a:t>Summary of sensing needs</a:t>
            </a:r>
          </a:p>
        </p:txBody>
      </p:sp>
      <p:sp>
        <p:nvSpPr>
          <p:cNvPr id="421891" name="Rectangle 3"/>
          <p:cNvSpPr>
            <a:spLocks noGrp="1" noChangeArrowheads="1"/>
          </p:cNvSpPr>
          <p:nvPr>
            <p:ph type="body" sz="half" idx="1"/>
          </p:nvPr>
        </p:nvSpPr>
        <p:spPr>
          <a:xfrm>
            <a:off x="1981200" y="1447800"/>
            <a:ext cx="8229600" cy="4876800"/>
          </a:xfrm>
        </p:spPr>
        <p:txBody>
          <a:bodyPr/>
          <a:lstStyle/>
          <a:p>
            <a:pPr marL="0" indent="0">
              <a:buNone/>
            </a:pPr>
            <a:r>
              <a:rPr lang="en-US" altLang="en-US" sz="2400" b="1"/>
              <a:t>Discrete readings: </a:t>
            </a:r>
            <a:r>
              <a:rPr lang="en-US" altLang="en-US" sz="2400"/>
              <a:t>Blood pressure, pulse, temperature, weight, body fat, flow (asthma), blood glucose (diabetes). These are analog readings, accurate to a few %. A digital representation of 8 bits or more should be fine.</a:t>
            </a:r>
          </a:p>
          <a:p>
            <a:pPr marL="0" indent="0">
              <a:buNone/>
            </a:pPr>
            <a:r>
              <a:rPr lang="en-US" altLang="en-US" sz="2400" b="1"/>
              <a:t>Aside:</a:t>
            </a:r>
            <a:r>
              <a:rPr lang="en-US" altLang="en-US" sz="2400"/>
              <a:t> many existing discrete reading devices support recording and data transfer over serial (RS232) links. </a:t>
            </a:r>
          </a:p>
          <a:p>
            <a:pPr marL="0" indent="0">
              <a:buNone/>
            </a:pPr>
            <a:endParaRPr lang="en-US" altLang="en-US" sz="2400"/>
          </a:p>
          <a:p>
            <a:pPr marL="0" indent="0">
              <a:buNone/>
            </a:pPr>
            <a:r>
              <a:rPr lang="en-US" altLang="en-US" sz="2400" b="1"/>
              <a:t>Signal capture:</a:t>
            </a:r>
            <a:r>
              <a:rPr lang="en-US" altLang="en-US" sz="2400"/>
              <a:t> These signals are either in the audio range (breath sound, stethoscope), or slightly below it (pulse waveforms, EKG). Audio capture (without loss of lower frequencies) should be fine. Precision is not completely clear – the ear is very sensitive. At least 10 bits.</a:t>
            </a:r>
            <a:endParaRPr lang="en-US" altLang="en-US" sz="2400" b="1"/>
          </a:p>
        </p:txBody>
      </p:sp>
    </p:spTree>
    <p:extLst>
      <p:ext uri="{BB962C8B-B14F-4D97-AF65-F5344CB8AC3E}">
        <p14:creationId xmlns:p14="http://schemas.microsoft.com/office/powerpoint/2010/main" val="1755113649"/>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p:txBody>
          <a:bodyPr/>
          <a:lstStyle/>
          <a:p>
            <a:pPr algn="l"/>
            <a:r>
              <a:rPr lang="en-US" altLang="en-US" sz="4000"/>
              <a:t>Networking</a:t>
            </a:r>
          </a:p>
        </p:txBody>
      </p:sp>
      <p:sp>
        <p:nvSpPr>
          <p:cNvPr id="389123" name="Rectangle 3"/>
          <p:cNvSpPr>
            <a:spLocks noGrp="1" noChangeArrowheads="1"/>
          </p:cNvSpPr>
          <p:nvPr>
            <p:ph type="body" sz="half" idx="1"/>
          </p:nvPr>
        </p:nvSpPr>
        <p:spPr>
          <a:xfrm>
            <a:off x="1981200" y="1600200"/>
            <a:ext cx="8229600" cy="4495800"/>
          </a:xfrm>
        </p:spPr>
        <p:txBody>
          <a:bodyPr/>
          <a:lstStyle/>
          <a:p>
            <a:pPr marL="0" indent="0">
              <a:buNone/>
            </a:pPr>
            <a:r>
              <a:rPr lang="en-US" altLang="en-US" sz="2400"/>
              <a:t>Once upon a time,</a:t>
            </a:r>
          </a:p>
          <a:p>
            <a:pPr marL="0" indent="0">
              <a:buNone/>
            </a:pPr>
            <a:endParaRPr lang="en-US" altLang="en-US" sz="2400"/>
          </a:p>
          <a:p>
            <a:pPr marL="0" indent="0">
              <a:buNone/>
            </a:pPr>
            <a:r>
              <a:rPr lang="en-US" altLang="en-US" sz="2400"/>
              <a:t>There were just cables…</a:t>
            </a:r>
          </a:p>
        </p:txBody>
      </p:sp>
      <p:pic>
        <p:nvPicPr>
          <p:cNvPr id="389124" name="Picture 4" descr="017_ma-cavem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1" y="457201"/>
            <a:ext cx="265747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389125" name="Picture 5" descr="C184-02697"/>
          <p:cNvPicPr>
            <a:picLocks noChangeAspect="1" noChangeArrowheads="1"/>
          </p:cNvPicPr>
          <p:nvPr/>
        </p:nvPicPr>
        <p:blipFill>
          <a:blip r:embed="rId3">
            <a:extLst>
              <a:ext uri="{28A0092B-C50C-407E-A947-70E740481C1C}">
                <a14:useLocalDpi xmlns:a14="http://schemas.microsoft.com/office/drawing/2010/main" val="0"/>
              </a:ext>
            </a:extLst>
          </a:blip>
          <a:srcRect l="12001" t="24001" r="8000" b="24001"/>
          <a:stretch>
            <a:fillRect/>
          </a:stretch>
        </p:blipFill>
        <p:spPr bwMode="auto">
          <a:xfrm>
            <a:off x="2133600" y="3355976"/>
            <a:ext cx="2438400" cy="1585913"/>
          </a:xfrm>
          <a:prstGeom prst="rect">
            <a:avLst/>
          </a:prstGeom>
          <a:noFill/>
          <a:extLst>
            <a:ext uri="{909E8E84-426E-40DD-AFC4-6F175D3DCCD1}">
              <a14:hiddenFill xmlns:a14="http://schemas.microsoft.com/office/drawing/2010/main">
                <a:solidFill>
                  <a:srgbClr val="FFFFFF"/>
                </a:solidFill>
              </a14:hiddenFill>
            </a:ext>
          </a:extLst>
        </p:spPr>
      </p:pic>
      <p:sp>
        <p:nvSpPr>
          <p:cNvPr id="389127" name="Text Box 7"/>
          <p:cNvSpPr txBox="1">
            <a:spLocks noChangeArrowheads="1"/>
          </p:cNvSpPr>
          <p:nvPr/>
        </p:nvSpPr>
        <p:spPr bwMode="auto">
          <a:xfrm>
            <a:off x="2133601" y="5105400"/>
            <a:ext cx="22325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Serial (RS232) cable</a:t>
            </a:r>
          </a:p>
        </p:txBody>
      </p:sp>
      <p:pic>
        <p:nvPicPr>
          <p:cNvPr id="389128" name="Picture 8" descr="JASAV226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3352800"/>
            <a:ext cx="2235200" cy="2438400"/>
          </a:xfrm>
          <a:prstGeom prst="rect">
            <a:avLst/>
          </a:prstGeom>
          <a:noFill/>
          <a:extLst>
            <a:ext uri="{909E8E84-426E-40DD-AFC4-6F175D3DCCD1}">
              <a14:hiddenFill xmlns:a14="http://schemas.microsoft.com/office/drawing/2010/main">
                <a:solidFill>
                  <a:srgbClr val="FFFFFF"/>
                </a:solidFill>
              </a14:hiddenFill>
            </a:ext>
          </a:extLst>
        </p:spPr>
      </p:pic>
      <p:sp>
        <p:nvSpPr>
          <p:cNvPr id="389129" name="Text Box 9"/>
          <p:cNvSpPr txBox="1">
            <a:spLocks noChangeArrowheads="1"/>
          </p:cNvSpPr>
          <p:nvPr/>
        </p:nvSpPr>
        <p:spPr bwMode="auto">
          <a:xfrm>
            <a:off x="5622926" y="5797550"/>
            <a:ext cx="14072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Audio cable</a:t>
            </a:r>
          </a:p>
        </p:txBody>
      </p:sp>
      <p:sp>
        <p:nvSpPr>
          <p:cNvPr id="389130" name="Text Box 10"/>
          <p:cNvSpPr txBox="1">
            <a:spLocks noChangeArrowheads="1"/>
          </p:cNvSpPr>
          <p:nvPr/>
        </p:nvSpPr>
        <p:spPr bwMode="auto">
          <a:xfrm>
            <a:off x="8442325" y="3587751"/>
            <a:ext cx="123290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Keyboard,</a:t>
            </a:r>
            <a:br>
              <a:rPr lang="en-US" altLang="en-US" sz="2000"/>
            </a:br>
            <a:r>
              <a:rPr lang="en-US" altLang="en-US" sz="2000"/>
              <a:t>Mouse,</a:t>
            </a:r>
          </a:p>
          <a:p>
            <a:r>
              <a:rPr lang="en-US" altLang="en-US" sz="2000"/>
              <a:t>Video,</a:t>
            </a:r>
          </a:p>
          <a:p>
            <a:r>
              <a:rPr lang="en-US" altLang="en-US" sz="2000"/>
              <a:t>Parallel,…</a:t>
            </a:r>
          </a:p>
        </p:txBody>
      </p:sp>
    </p:spTree>
    <p:extLst>
      <p:ext uri="{BB962C8B-B14F-4D97-AF65-F5344CB8AC3E}">
        <p14:creationId xmlns:p14="http://schemas.microsoft.com/office/powerpoint/2010/main" val="1008354646"/>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title"/>
          </p:nvPr>
        </p:nvSpPr>
        <p:spPr/>
        <p:txBody>
          <a:bodyPr/>
          <a:lstStyle/>
          <a:p>
            <a:pPr algn="l"/>
            <a:r>
              <a:rPr lang="en-US" altLang="en-US" sz="4000"/>
              <a:t>Serial connections</a:t>
            </a:r>
          </a:p>
        </p:txBody>
      </p:sp>
      <p:sp>
        <p:nvSpPr>
          <p:cNvPr id="422915" name="Rectangle 3"/>
          <p:cNvSpPr>
            <a:spLocks noGrp="1" noChangeArrowheads="1"/>
          </p:cNvSpPr>
          <p:nvPr>
            <p:ph type="body" sz="half" idx="1"/>
          </p:nvPr>
        </p:nvSpPr>
        <p:spPr>
          <a:xfrm>
            <a:off x="1981200" y="1371600"/>
            <a:ext cx="8229600" cy="4953000"/>
          </a:xfrm>
        </p:spPr>
        <p:txBody>
          <a:bodyPr>
            <a:normAutofit lnSpcReduction="10000"/>
          </a:bodyPr>
          <a:lstStyle/>
          <a:p>
            <a:pPr marL="0" indent="0">
              <a:buNone/>
            </a:pPr>
            <a:r>
              <a:rPr lang="en-US" altLang="en-US" sz="2400"/>
              <a:t>Serial Cables connect two devices symmetrically like this:</a:t>
            </a:r>
          </a:p>
          <a:p>
            <a:pPr marL="0" indent="0">
              <a:buNone/>
            </a:pPr>
            <a:endParaRPr lang="en-US" altLang="en-US" sz="2400"/>
          </a:p>
          <a:p>
            <a:pPr marL="0" indent="0">
              <a:buNone/>
            </a:pPr>
            <a:endParaRPr lang="en-US" altLang="en-US" sz="2400"/>
          </a:p>
          <a:p>
            <a:pPr marL="0" indent="0">
              <a:buNone/>
            </a:pPr>
            <a:endParaRPr lang="en-US" altLang="en-US" sz="2400"/>
          </a:p>
          <a:p>
            <a:pPr marL="0" indent="0">
              <a:buNone/>
            </a:pPr>
            <a:endParaRPr lang="en-US" altLang="en-US" sz="2400"/>
          </a:p>
          <a:p>
            <a:pPr marL="0" indent="0">
              <a:buNone/>
            </a:pPr>
            <a:endParaRPr lang="en-US" altLang="en-US" sz="2400"/>
          </a:p>
          <a:p>
            <a:pPr marL="0" indent="0">
              <a:buNone/>
            </a:pPr>
            <a:endParaRPr lang="en-US" altLang="en-US" sz="2400"/>
          </a:p>
          <a:p>
            <a:pPr marL="0" indent="0">
              <a:buNone/>
            </a:pPr>
            <a:r>
              <a:rPr lang="en-US" altLang="en-US" sz="2400"/>
              <a:t>Serial ports traditionally support speeds up to 19.2k bit/sec (RS232) but are often used at higher speeds (up to several Mb/s) over short distances. </a:t>
            </a:r>
          </a:p>
          <a:p>
            <a:pPr marL="0" indent="0">
              <a:buNone/>
            </a:pPr>
            <a:r>
              <a:rPr lang="en-US" altLang="en-US" sz="2400"/>
              <a:t>Traditional serial ports are fast disappearing on computers, but as we saw still exist on many medical devices. </a:t>
            </a:r>
          </a:p>
        </p:txBody>
      </p:sp>
      <p:pic>
        <p:nvPicPr>
          <p:cNvPr id="422922" name="Picture 10" descr="async-seri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2209800"/>
            <a:ext cx="3238500" cy="2000250"/>
          </a:xfrm>
          <a:prstGeom prst="rect">
            <a:avLst/>
          </a:prstGeom>
          <a:noFill/>
          <a:extLst>
            <a:ext uri="{909E8E84-426E-40DD-AFC4-6F175D3DCCD1}">
              <a14:hiddenFill xmlns:a14="http://schemas.microsoft.com/office/drawing/2010/main">
                <a:solidFill>
                  <a:srgbClr val="FFFFFF"/>
                </a:solidFill>
              </a14:hiddenFill>
            </a:ext>
          </a:extLst>
        </p:spPr>
      </p:pic>
      <p:sp>
        <p:nvSpPr>
          <p:cNvPr id="422923" name="Text Box 11"/>
          <p:cNvSpPr txBox="1">
            <a:spLocks noChangeArrowheads="1"/>
          </p:cNvSpPr>
          <p:nvPr/>
        </p:nvSpPr>
        <p:spPr bwMode="auto">
          <a:xfrm>
            <a:off x="6858001" y="2743201"/>
            <a:ext cx="283071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Tx = transmitted data</a:t>
            </a:r>
          </a:p>
          <a:p>
            <a:r>
              <a:rPr lang="en-US" altLang="en-US" sz="2400"/>
              <a:t/>
            </a:r>
            <a:br>
              <a:rPr lang="en-US" altLang="en-US" sz="2400"/>
            </a:br>
            <a:r>
              <a:rPr lang="en-US" altLang="en-US" sz="2400"/>
              <a:t>Rx = received data</a:t>
            </a:r>
          </a:p>
        </p:txBody>
      </p:sp>
    </p:spTree>
    <p:extLst>
      <p:ext uri="{BB962C8B-B14F-4D97-AF65-F5344CB8AC3E}">
        <p14:creationId xmlns:p14="http://schemas.microsoft.com/office/powerpoint/2010/main" val="3012133032"/>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p:cNvSpPr>
            <a:spLocks noGrp="1" noChangeArrowheads="1"/>
          </p:cNvSpPr>
          <p:nvPr>
            <p:ph type="title"/>
          </p:nvPr>
        </p:nvSpPr>
        <p:spPr/>
        <p:txBody>
          <a:bodyPr/>
          <a:lstStyle/>
          <a:p>
            <a:pPr algn="l"/>
            <a:r>
              <a:rPr lang="en-US" altLang="en-US" sz="4000"/>
              <a:t>USB (Universal Serial Bus)</a:t>
            </a:r>
          </a:p>
        </p:txBody>
      </p:sp>
      <p:sp>
        <p:nvSpPr>
          <p:cNvPr id="423939" name="Rectangle 3"/>
          <p:cNvSpPr>
            <a:spLocks noGrp="1" noChangeArrowheads="1"/>
          </p:cNvSpPr>
          <p:nvPr>
            <p:ph type="body" sz="half" idx="1"/>
          </p:nvPr>
        </p:nvSpPr>
        <p:spPr>
          <a:xfrm>
            <a:off x="1981200" y="1371600"/>
            <a:ext cx="8229600" cy="4953000"/>
          </a:xfrm>
        </p:spPr>
        <p:txBody>
          <a:bodyPr/>
          <a:lstStyle/>
          <a:p>
            <a:pPr marL="0" indent="0">
              <a:buNone/>
            </a:pPr>
            <a:r>
              <a:rPr lang="en-US" altLang="en-US" sz="2400"/>
              <a:t>USB was the first answer to the proliferation of cables, designed to replace serial, parallel, audio, and other cables.</a:t>
            </a:r>
          </a:p>
          <a:p>
            <a:pPr marL="0" indent="0">
              <a:buNone/>
            </a:pPr>
            <a:r>
              <a:rPr lang="en-US" altLang="en-US" sz="2400"/>
              <a:t>USB is a 4-wire serial bus with a power (+5 volts) wire. </a:t>
            </a:r>
          </a:p>
          <a:p>
            <a:pPr marL="0" indent="0">
              <a:buNone/>
            </a:pPr>
            <a:r>
              <a:rPr lang="en-US" altLang="en-US" sz="2400"/>
              <a:t>USB offers speeds of 1.5Mb/s, 12Mb/s and 480Mb/s.</a:t>
            </a:r>
          </a:p>
          <a:p>
            <a:pPr marL="0" indent="0">
              <a:buNone/>
            </a:pPr>
            <a:endParaRPr lang="en-US" altLang="en-US" sz="2400"/>
          </a:p>
          <a:p>
            <a:pPr marL="0" indent="0">
              <a:buNone/>
            </a:pPr>
            <a:r>
              <a:rPr lang="en-US" altLang="en-US" sz="2400"/>
              <a:t>USB is a difficult protocol to use directly, but for general sensor use, it is easy to use a USB/serial cable or bridge chip. Most such bridges use either Prolific or FTDI chips. </a:t>
            </a:r>
          </a:p>
        </p:txBody>
      </p:sp>
      <p:pic>
        <p:nvPicPr>
          <p:cNvPr id="423942" name="Picture 6" descr="FT232B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4800600"/>
            <a:ext cx="1828800" cy="1792288"/>
          </a:xfrm>
          <a:prstGeom prst="rect">
            <a:avLst/>
          </a:prstGeom>
          <a:noFill/>
          <a:extLst>
            <a:ext uri="{909E8E84-426E-40DD-AFC4-6F175D3DCCD1}">
              <a14:hiddenFill xmlns:a14="http://schemas.microsoft.com/office/drawing/2010/main">
                <a:solidFill>
                  <a:srgbClr val="FFFFFF"/>
                </a:solidFill>
              </a14:hiddenFill>
            </a:ext>
          </a:extLst>
        </p:spPr>
      </p:pic>
      <p:sp>
        <p:nvSpPr>
          <p:cNvPr id="423943" name="Text Box 7"/>
          <p:cNvSpPr txBox="1">
            <a:spLocks noChangeArrowheads="1"/>
          </p:cNvSpPr>
          <p:nvPr/>
        </p:nvSpPr>
        <p:spPr bwMode="auto">
          <a:xfrm>
            <a:off x="4724400" y="5181601"/>
            <a:ext cx="424513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FTDI USB/serial bridge. Up to 3Mb/sec.</a:t>
            </a:r>
            <a:br>
              <a:rPr lang="en-US" altLang="en-US" sz="2000"/>
            </a:br>
            <a:r>
              <a:rPr lang="en-US" altLang="en-US" sz="2000"/>
              <a:t>Drivers for Windows, CE, Mac, Linux.</a:t>
            </a:r>
            <a:br>
              <a:rPr lang="en-US" altLang="en-US" sz="2000"/>
            </a:br>
            <a:r>
              <a:rPr lang="en-US" altLang="en-US" sz="2000"/>
              <a:t>Presents a virtual COM port.</a:t>
            </a:r>
          </a:p>
        </p:txBody>
      </p:sp>
    </p:spTree>
    <p:extLst>
      <p:ext uri="{BB962C8B-B14F-4D97-AF65-F5344CB8AC3E}">
        <p14:creationId xmlns:p14="http://schemas.microsoft.com/office/powerpoint/2010/main" val="2155635078"/>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p:txBody>
          <a:bodyPr/>
          <a:lstStyle/>
          <a:p>
            <a:pPr algn="l"/>
            <a:r>
              <a:rPr lang="en-US" altLang="en-US" sz="4000"/>
              <a:t>USB for Audio</a:t>
            </a:r>
          </a:p>
        </p:txBody>
      </p:sp>
      <p:sp>
        <p:nvSpPr>
          <p:cNvPr id="424963" name="Rectangle 3"/>
          <p:cNvSpPr>
            <a:spLocks noGrp="1" noChangeArrowheads="1"/>
          </p:cNvSpPr>
          <p:nvPr>
            <p:ph type="body" sz="half" idx="1"/>
          </p:nvPr>
        </p:nvSpPr>
        <p:spPr>
          <a:xfrm>
            <a:off x="1981200" y="1371600"/>
            <a:ext cx="8229600" cy="4953000"/>
          </a:xfrm>
        </p:spPr>
        <p:txBody>
          <a:bodyPr/>
          <a:lstStyle/>
          <a:p>
            <a:pPr marL="0" indent="0">
              <a:buNone/>
            </a:pPr>
            <a:r>
              <a:rPr lang="en-US" altLang="en-US" sz="2400"/>
              <a:t>There are also several USB Audio chips. </a:t>
            </a:r>
          </a:p>
          <a:p>
            <a:pPr marL="0" indent="0">
              <a:buNone/>
            </a:pPr>
            <a:r>
              <a:rPr lang="en-US" altLang="en-US" sz="2400"/>
              <a:t>You install a custom driver on the host computer, and the USB sound device appears as a Windows (or Linux, or Mac) sound device. </a:t>
            </a:r>
          </a:p>
          <a:p>
            <a:pPr marL="0" indent="0">
              <a:buNone/>
            </a:pPr>
            <a:endParaRPr lang="en-US" altLang="en-US" sz="2400"/>
          </a:p>
          <a:p>
            <a:pPr marL="0" indent="0">
              <a:buNone/>
            </a:pPr>
            <a:r>
              <a:rPr lang="en-US" altLang="en-US" sz="2400"/>
              <a:t>The downside of this is that you have to do this install for every device you might use the USB sound device with. </a:t>
            </a:r>
          </a:p>
        </p:txBody>
      </p:sp>
      <p:pic>
        <p:nvPicPr>
          <p:cNvPr id="424966" name="Picture 6" descr="CM108x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4800600"/>
            <a:ext cx="1447800" cy="1303338"/>
          </a:xfrm>
          <a:prstGeom prst="rect">
            <a:avLst/>
          </a:prstGeom>
          <a:noFill/>
          <a:extLst>
            <a:ext uri="{909E8E84-426E-40DD-AFC4-6F175D3DCCD1}">
              <a14:hiddenFill xmlns:a14="http://schemas.microsoft.com/office/drawing/2010/main">
                <a:solidFill>
                  <a:srgbClr val="FFFFFF"/>
                </a:solidFill>
              </a14:hiddenFill>
            </a:ext>
          </a:extLst>
        </p:spPr>
      </p:pic>
      <p:sp>
        <p:nvSpPr>
          <p:cNvPr id="424967" name="Text Box 7"/>
          <p:cNvSpPr txBox="1">
            <a:spLocks noChangeArrowheads="1"/>
          </p:cNvSpPr>
          <p:nvPr/>
        </p:nvSpPr>
        <p:spPr bwMode="auto">
          <a:xfrm>
            <a:off x="4343401" y="5181600"/>
            <a:ext cx="41394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C-media single chip USB Audio system</a:t>
            </a:r>
          </a:p>
        </p:txBody>
      </p:sp>
    </p:spTree>
    <p:extLst>
      <p:ext uri="{BB962C8B-B14F-4D97-AF65-F5344CB8AC3E}">
        <p14:creationId xmlns:p14="http://schemas.microsoft.com/office/powerpoint/2010/main" val="1386372572"/>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pPr algn="l"/>
            <a:r>
              <a:rPr lang="en-US" altLang="en-US" sz="4000"/>
              <a:t>Bluetooth</a:t>
            </a:r>
          </a:p>
        </p:txBody>
      </p:sp>
      <p:sp>
        <p:nvSpPr>
          <p:cNvPr id="425987" name="Rectangle 3"/>
          <p:cNvSpPr>
            <a:spLocks noGrp="1" noChangeArrowheads="1"/>
          </p:cNvSpPr>
          <p:nvPr>
            <p:ph type="body" sz="half" idx="1"/>
          </p:nvPr>
        </p:nvSpPr>
        <p:spPr>
          <a:xfrm>
            <a:off x="1981200" y="1371600"/>
            <a:ext cx="8229600" cy="4953000"/>
          </a:xfrm>
        </p:spPr>
        <p:txBody>
          <a:bodyPr/>
          <a:lstStyle/>
          <a:p>
            <a:pPr marL="0" indent="0">
              <a:buNone/>
            </a:pPr>
            <a:r>
              <a:rPr lang="en-US" altLang="en-US" sz="2400"/>
              <a:t>Bluetooth is a wireless cable replacement standard. </a:t>
            </a:r>
          </a:p>
          <a:p>
            <a:pPr marL="0" indent="0">
              <a:buNone/>
            </a:pPr>
            <a:endParaRPr lang="en-US" altLang="en-US" sz="2400"/>
          </a:p>
          <a:p>
            <a:pPr marL="0" indent="0">
              <a:buNone/>
            </a:pPr>
            <a:r>
              <a:rPr lang="en-US" altLang="en-US" sz="2400"/>
              <a:t>After a slow start, Bluetooth technology is taking off. Sales for 2005 should exceed 200 million units, and is roughly doubling each year. </a:t>
            </a:r>
          </a:p>
          <a:p>
            <a:pPr marL="0" indent="0">
              <a:buNone/>
            </a:pPr>
            <a:endParaRPr lang="en-US" altLang="en-US" sz="2400"/>
          </a:p>
          <a:p>
            <a:pPr marL="0" indent="0">
              <a:buNone/>
            </a:pPr>
            <a:r>
              <a:rPr lang="en-US" altLang="en-US" sz="2400"/>
              <a:t>Bluetooth comes in two flavors:</a:t>
            </a:r>
          </a:p>
          <a:p>
            <a:pPr marL="0" indent="0">
              <a:buNone/>
            </a:pPr>
            <a:r>
              <a:rPr lang="en-US" altLang="en-US" sz="2400" b="1"/>
              <a:t>Class 2:</a:t>
            </a:r>
            <a:r>
              <a:rPr lang="en-US" altLang="en-US" sz="2400"/>
              <a:t> for personal devices or in-vehicle use, around 10-20m (try 10-20 feet in practice)</a:t>
            </a:r>
          </a:p>
          <a:p>
            <a:pPr marL="0" indent="0">
              <a:buNone/>
            </a:pPr>
            <a:r>
              <a:rPr lang="en-US" altLang="en-US" sz="2400" b="1"/>
              <a:t>Class 1: </a:t>
            </a:r>
            <a:r>
              <a:rPr lang="en-US" altLang="en-US" sz="2400"/>
              <a:t>For longer range up to 100m, e.g. in a household or office. </a:t>
            </a:r>
            <a:endParaRPr lang="en-US" altLang="en-US" sz="2400" b="1"/>
          </a:p>
        </p:txBody>
      </p:sp>
    </p:spTree>
    <p:extLst>
      <p:ext uri="{BB962C8B-B14F-4D97-AF65-F5344CB8AC3E}">
        <p14:creationId xmlns:p14="http://schemas.microsoft.com/office/powerpoint/2010/main" val="3375470229"/>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pPr algn="l"/>
            <a:r>
              <a:rPr lang="en-US" altLang="en-US" sz="4000"/>
              <a:t>Bluetooth Data Rates</a:t>
            </a:r>
          </a:p>
        </p:txBody>
      </p:sp>
      <p:sp>
        <p:nvSpPr>
          <p:cNvPr id="427011" name="Rectangle 3"/>
          <p:cNvSpPr>
            <a:spLocks noGrp="1" noChangeArrowheads="1"/>
          </p:cNvSpPr>
          <p:nvPr>
            <p:ph type="body" sz="half" idx="1"/>
          </p:nvPr>
        </p:nvSpPr>
        <p:spPr>
          <a:xfrm>
            <a:off x="1981200" y="1371600"/>
            <a:ext cx="8229600" cy="4953000"/>
          </a:xfrm>
        </p:spPr>
        <p:txBody>
          <a:bodyPr/>
          <a:lstStyle/>
          <a:p>
            <a:pPr marL="0" indent="0">
              <a:buNone/>
            </a:pPr>
            <a:r>
              <a:rPr lang="en-US" altLang="en-US" sz="2400"/>
              <a:t>Bluetooth also comes in two </a:t>
            </a:r>
            <a:r>
              <a:rPr lang="en-US" altLang="en-US" sz="2400" b="1"/>
              <a:t>versions</a:t>
            </a:r>
            <a:r>
              <a:rPr lang="en-US" altLang="en-US" sz="2400"/>
              <a:t>. </a:t>
            </a:r>
          </a:p>
          <a:p>
            <a:pPr marL="0" indent="0">
              <a:buNone/>
            </a:pPr>
            <a:endParaRPr lang="en-US" altLang="en-US" sz="2400"/>
          </a:p>
          <a:p>
            <a:pPr marL="0" indent="0">
              <a:buNone/>
            </a:pPr>
            <a:r>
              <a:rPr lang="en-US" altLang="en-US" sz="2400" b="1"/>
              <a:t>Version 1</a:t>
            </a:r>
            <a:r>
              <a:rPr lang="en-US" altLang="en-US" sz="2400"/>
              <a:t> (usually you see 1.1 or 1.2) has data rates up to 723 kb/s.  </a:t>
            </a:r>
          </a:p>
          <a:p>
            <a:pPr marL="0" indent="0">
              <a:buNone/>
            </a:pPr>
            <a:endParaRPr lang="en-US" altLang="en-US" sz="2400"/>
          </a:p>
          <a:p>
            <a:pPr marL="0" indent="0">
              <a:buNone/>
            </a:pPr>
            <a:r>
              <a:rPr lang="en-US" altLang="en-US" sz="2400" b="1"/>
              <a:t>Version 2</a:t>
            </a:r>
            <a:r>
              <a:rPr lang="en-US" altLang="en-US" sz="2400"/>
              <a:t> (aka EDR or Extended Data Rate) triples the data rate up to about 2 Mb/s. </a:t>
            </a:r>
          </a:p>
          <a:p>
            <a:pPr marL="0" indent="0">
              <a:buNone/>
            </a:pPr>
            <a:endParaRPr lang="en-US" altLang="en-US" sz="2400"/>
          </a:p>
          <a:p>
            <a:pPr marL="0" indent="0">
              <a:buNone/>
            </a:pPr>
            <a:r>
              <a:rPr lang="en-US" altLang="en-US" sz="2400"/>
              <a:t>Bluetooth shares the 2.4GHz spectrum with WiFi (802.11a,b,g etc.). </a:t>
            </a:r>
            <a:endParaRPr lang="en-US" altLang="en-US" sz="2400" b="1"/>
          </a:p>
        </p:txBody>
      </p:sp>
    </p:spTree>
    <p:extLst>
      <p:ext uri="{BB962C8B-B14F-4D97-AF65-F5344CB8AC3E}">
        <p14:creationId xmlns:p14="http://schemas.microsoft.com/office/powerpoint/2010/main" val="2066193537"/>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p:txBody>
          <a:bodyPr/>
          <a:lstStyle/>
          <a:p>
            <a:pPr algn="l"/>
            <a:r>
              <a:rPr lang="en-US" altLang="en-US" sz="4000"/>
              <a:t>Bluetooth Profiles</a:t>
            </a:r>
          </a:p>
        </p:txBody>
      </p:sp>
      <p:sp>
        <p:nvSpPr>
          <p:cNvPr id="428035" name="Rectangle 3"/>
          <p:cNvSpPr>
            <a:spLocks noGrp="1" noChangeArrowheads="1"/>
          </p:cNvSpPr>
          <p:nvPr>
            <p:ph type="body" sz="half" idx="1"/>
          </p:nvPr>
        </p:nvSpPr>
        <p:spPr>
          <a:xfrm>
            <a:off x="1981200" y="1371600"/>
            <a:ext cx="8229600" cy="4953000"/>
          </a:xfrm>
        </p:spPr>
        <p:txBody>
          <a:bodyPr/>
          <a:lstStyle/>
          <a:p>
            <a:pPr marL="0" indent="0">
              <a:buNone/>
            </a:pPr>
            <a:r>
              <a:rPr lang="en-US" altLang="en-US" sz="2400"/>
              <a:t>One of the most useful innovations in the Bluetooth standard is the use of </a:t>
            </a:r>
            <a:r>
              <a:rPr lang="en-US" altLang="en-US" sz="2400" b="1"/>
              <a:t>device profiles</a:t>
            </a:r>
            <a:r>
              <a:rPr lang="en-US" altLang="en-US" sz="2400"/>
              <a:t>. </a:t>
            </a:r>
          </a:p>
          <a:p>
            <a:pPr marL="0" indent="0">
              <a:buNone/>
            </a:pPr>
            <a:endParaRPr lang="en-US" altLang="en-US" sz="2400"/>
          </a:p>
          <a:p>
            <a:pPr marL="0" indent="0">
              <a:buNone/>
            </a:pPr>
            <a:r>
              <a:rPr lang="en-US" altLang="en-US" sz="2400"/>
              <a:t>A profile is an abstract device spec. that has to be supported at both ends of a connection. </a:t>
            </a:r>
          </a:p>
          <a:p>
            <a:pPr marL="0" indent="0">
              <a:buNone/>
            </a:pPr>
            <a:r>
              <a:rPr lang="en-US" altLang="en-US" sz="2400"/>
              <a:t>If you like, it’s the kind of cable(s) that that Bluetooth connection supports. Each connection can support several profiles at once. </a:t>
            </a:r>
          </a:p>
          <a:p>
            <a:pPr marL="0" indent="0">
              <a:buNone/>
            </a:pPr>
            <a:endParaRPr lang="en-US" altLang="en-US" sz="2400"/>
          </a:p>
          <a:p>
            <a:pPr marL="0" indent="0">
              <a:buNone/>
            </a:pPr>
            <a:r>
              <a:rPr lang="en-US" altLang="en-US" sz="2400"/>
              <a:t>Profiles eliminate the need for custom drivers on the host, and allows a Bluetooth device to connect to </a:t>
            </a:r>
            <a:r>
              <a:rPr lang="en-US" altLang="en-US" sz="2400" b="1"/>
              <a:t>any host</a:t>
            </a:r>
            <a:r>
              <a:rPr lang="en-US" altLang="en-US" sz="2400"/>
              <a:t> (PC, PDA, cell phone) that supports the profile(s) it uses. </a:t>
            </a:r>
            <a:endParaRPr lang="en-US" altLang="en-US" sz="2400" b="1"/>
          </a:p>
        </p:txBody>
      </p:sp>
    </p:spTree>
    <p:extLst>
      <p:ext uri="{BB962C8B-B14F-4D97-AF65-F5344CB8AC3E}">
        <p14:creationId xmlns:p14="http://schemas.microsoft.com/office/powerpoint/2010/main" val="253259540"/>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p:txBody>
          <a:bodyPr/>
          <a:lstStyle/>
          <a:p>
            <a:pPr algn="l"/>
            <a:r>
              <a:rPr lang="en-US" altLang="en-US" sz="4000"/>
              <a:t>Bluetooth Profiles</a:t>
            </a:r>
          </a:p>
        </p:txBody>
      </p:sp>
      <p:sp>
        <p:nvSpPr>
          <p:cNvPr id="429059" name="Rectangle 3"/>
          <p:cNvSpPr>
            <a:spLocks noGrp="1" noChangeArrowheads="1"/>
          </p:cNvSpPr>
          <p:nvPr>
            <p:ph type="body" sz="half" idx="1"/>
          </p:nvPr>
        </p:nvSpPr>
        <p:spPr>
          <a:xfrm>
            <a:off x="1981200" y="1371600"/>
            <a:ext cx="8229600" cy="4953000"/>
          </a:xfrm>
        </p:spPr>
        <p:txBody>
          <a:bodyPr/>
          <a:lstStyle/>
          <a:p>
            <a:pPr marL="0" indent="0">
              <a:buNone/>
            </a:pPr>
            <a:endParaRPr lang="en-US" altLang="en-US" sz="2400" b="1"/>
          </a:p>
        </p:txBody>
      </p:sp>
      <p:pic>
        <p:nvPicPr>
          <p:cNvPr id="429062" name="Picture 6" descr="profile_stack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371601"/>
            <a:ext cx="6324600" cy="4945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4980720"/>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pPr algn="l"/>
            <a:r>
              <a:rPr lang="en-US" altLang="en-US" sz="4000"/>
              <a:t>Bluetooth Stack</a:t>
            </a:r>
          </a:p>
        </p:txBody>
      </p:sp>
      <p:sp>
        <p:nvSpPr>
          <p:cNvPr id="430083" name="Rectangle 3"/>
          <p:cNvSpPr>
            <a:spLocks noGrp="1" noChangeArrowheads="1"/>
          </p:cNvSpPr>
          <p:nvPr>
            <p:ph type="body" sz="half" idx="1"/>
          </p:nvPr>
        </p:nvSpPr>
        <p:spPr>
          <a:xfrm>
            <a:off x="1981200" y="1143000"/>
            <a:ext cx="8229600" cy="4953000"/>
          </a:xfrm>
        </p:spPr>
        <p:txBody>
          <a:bodyPr/>
          <a:lstStyle/>
          <a:p>
            <a:pPr marL="0" indent="0">
              <a:buNone/>
            </a:pPr>
            <a:r>
              <a:rPr lang="en-US" altLang="en-US" sz="2400"/>
              <a:t>The message here is that Bluetooth is hairy – like TCP/IP. </a:t>
            </a:r>
            <a:br>
              <a:rPr lang="en-US" altLang="en-US" sz="2400"/>
            </a:br>
            <a:r>
              <a:rPr lang="en-US" altLang="en-US" sz="2400"/>
              <a:t>Older Bluetooth chips only provided HCI functionality. Now they go up to the application layers: SPP, DUN, Headset. </a:t>
            </a:r>
          </a:p>
        </p:txBody>
      </p:sp>
      <p:pic>
        <p:nvPicPr>
          <p:cNvPr id="430085" name="Picture 5" descr="spec_sta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514600"/>
            <a:ext cx="6400800" cy="4070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867813"/>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p:nvPr>
        </p:nvSpPr>
        <p:spPr/>
        <p:txBody>
          <a:bodyPr/>
          <a:lstStyle/>
          <a:p>
            <a:pPr algn="l"/>
            <a:r>
              <a:rPr lang="en-US" altLang="en-US" sz="4000"/>
              <a:t>Bluetooth Chips - CSR</a:t>
            </a:r>
          </a:p>
        </p:txBody>
      </p:sp>
      <p:sp>
        <p:nvSpPr>
          <p:cNvPr id="431107" name="Rectangle 3"/>
          <p:cNvSpPr>
            <a:spLocks noGrp="1" noChangeArrowheads="1"/>
          </p:cNvSpPr>
          <p:nvPr>
            <p:ph type="body" sz="half" idx="1"/>
          </p:nvPr>
        </p:nvSpPr>
        <p:spPr>
          <a:xfrm>
            <a:off x="1905000" y="1295400"/>
            <a:ext cx="8229600" cy="4724400"/>
          </a:xfrm>
        </p:spPr>
        <p:txBody>
          <a:bodyPr/>
          <a:lstStyle/>
          <a:p>
            <a:pPr marL="0" indent="0">
              <a:buNone/>
            </a:pPr>
            <a:r>
              <a:rPr lang="en-US" altLang="en-US" sz="2400"/>
              <a:t>Cambridge Scientific Radio (CSR) manufactures a large number of Bluetooth chips, probably more than half of those shipped. This is a diagram of their Bluecore2 series. </a:t>
            </a:r>
          </a:p>
        </p:txBody>
      </p:sp>
      <p:pic>
        <p:nvPicPr>
          <p:cNvPr id="431109" name="Picture 5" descr="Abb9-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667001"/>
            <a:ext cx="6324600" cy="3725863"/>
          </a:xfrm>
          <a:prstGeom prst="rect">
            <a:avLst/>
          </a:prstGeom>
          <a:noFill/>
          <a:extLst>
            <a:ext uri="{909E8E84-426E-40DD-AFC4-6F175D3DCCD1}">
              <a14:hiddenFill xmlns:a14="http://schemas.microsoft.com/office/drawing/2010/main">
                <a:solidFill>
                  <a:srgbClr val="FFFFFF"/>
                </a:solidFill>
              </a14:hiddenFill>
            </a:ext>
          </a:extLst>
        </p:spPr>
      </p:pic>
      <p:sp>
        <p:nvSpPr>
          <p:cNvPr id="431111" name="Text Box 7"/>
          <p:cNvSpPr txBox="1">
            <a:spLocks noChangeArrowheads="1"/>
          </p:cNvSpPr>
          <p:nvPr/>
        </p:nvSpPr>
        <p:spPr bwMode="auto">
          <a:xfrm>
            <a:off x="8534400" y="2743201"/>
            <a:ext cx="1483098"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This chip fits</a:t>
            </a:r>
            <a:br>
              <a:rPr lang="en-US" altLang="en-US" sz="2000"/>
            </a:br>
            <a:r>
              <a:rPr lang="en-US" altLang="en-US" sz="2000"/>
              <a:t>in a 1cm</a:t>
            </a:r>
            <a:r>
              <a:rPr lang="en-US" altLang="en-US" sz="2000" baseline="30000"/>
              <a:t>2</a:t>
            </a:r>
            <a:r>
              <a:rPr lang="en-US" altLang="en-US" sz="2000"/>
              <a:t/>
            </a:r>
            <a:br>
              <a:rPr lang="en-US" altLang="en-US" sz="2000"/>
            </a:br>
            <a:r>
              <a:rPr lang="en-US" altLang="en-US" sz="2000"/>
              <a:t>package</a:t>
            </a:r>
          </a:p>
        </p:txBody>
      </p:sp>
    </p:spTree>
    <p:extLst>
      <p:ext uri="{BB962C8B-B14F-4D97-AF65-F5344CB8AC3E}">
        <p14:creationId xmlns:p14="http://schemas.microsoft.com/office/powerpoint/2010/main" val="4106749507"/>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ChangeArrowheads="1"/>
          </p:cNvSpPr>
          <p:nvPr>
            <p:ph type="title"/>
          </p:nvPr>
        </p:nvSpPr>
        <p:spPr/>
        <p:txBody>
          <a:bodyPr/>
          <a:lstStyle/>
          <a:p>
            <a:pPr algn="l"/>
            <a:r>
              <a:rPr lang="en-US" altLang="en-US" sz="4000"/>
              <a:t>Bluetooth Modules – Free2Move</a:t>
            </a:r>
          </a:p>
        </p:txBody>
      </p:sp>
      <p:sp>
        <p:nvSpPr>
          <p:cNvPr id="432131" name="Rectangle 3"/>
          <p:cNvSpPr>
            <a:spLocks noGrp="1" noChangeArrowheads="1"/>
          </p:cNvSpPr>
          <p:nvPr>
            <p:ph type="body" sz="half" idx="1"/>
          </p:nvPr>
        </p:nvSpPr>
        <p:spPr>
          <a:xfrm>
            <a:off x="1905000" y="1295400"/>
            <a:ext cx="8229600" cy="4724400"/>
          </a:xfrm>
        </p:spPr>
        <p:txBody>
          <a:bodyPr/>
          <a:lstStyle/>
          <a:p>
            <a:pPr marL="0" indent="0">
              <a:buNone/>
            </a:pPr>
            <a:r>
              <a:rPr lang="en-US" altLang="en-US" sz="2400"/>
              <a:t>Bluetooth modules add the components needed to make a working radio: crystal, antenna, flash memory. The current generation of modules measure about 1”x0.5” w/ antenna.</a:t>
            </a:r>
          </a:p>
          <a:p>
            <a:pPr marL="0" indent="0">
              <a:buNone/>
            </a:pPr>
            <a:endParaRPr lang="en-US" altLang="en-US" sz="2400"/>
          </a:p>
          <a:p>
            <a:pPr marL="0" indent="0">
              <a:buNone/>
            </a:pPr>
            <a:r>
              <a:rPr lang="en-US" altLang="en-US" sz="2400"/>
              <a:t>Free2Move (Sweden) has some particularly interesting modules based on CSR BlueCore2-flash </a:t>
            </a:r>
            <a:br>
              <a:rPr lang="en-US" altLang="en-US" sz="2400"/>
            </a:br>
            <a:r>
              <a:rPr lang="en-US" altLang="en-US" sz="2400"/>
              <a:t>chips with audio.</a:t>
            </a:r>
          </a:p>
          <a:p>
            <a:pPr marL="0" indent="0">
              <a:buNone/>
            </a:pPr>
            <a:endParaRPr lang="en-US" altLang="en-US" sz="2400"/>
          </a:p>
          <a:p>
            <a:pPr marL="0" indent="0">
              <a:buNone/>
            </a:pPr>
            <a:r>
              <a:rPr lang="en-US" altLang="en-US" sz="2400"/>
              <a:t>This radio offers a functioning SPP for</a:t>
            </a:r>
            <a:br>
              <a:rPr lang="en-US" altLang="en-US" sz="2400"/>
            </a:br>
            <a:r>
              <a:rPr lang="en-US" altLang="en-US" sz="2400"/>
              <a:t>serial data, a 15-bit audio channel,</a:t>
            </a:r>
            <a:br>
              <a:rPr lang="en-US" altLang="en-US" sz="2400"/>
            </a:br>
            <a:r>
              <a:rPr lang="en-US" altLang="en-US" sz="2400"/>
              <a:t>and another 8-bit A/D channel. </a:t>
            </a:r>
          </a:p>
        </p:txBody>
      </p:sp>
      <p:pic>
        <p:nvPicPr>
          <p:cNvPr id="432133" name="Picture 5" descr="F2Mmodule2_anten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3657600"/>
            <a:ext cx="29718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4728157"/>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ChangeArrowheads="1"/>
          </p:cNvSpPr>
          <p:nvPr>
            <p:ph type="body" sz="half" idx="1"/>
          </p:nvPr>
        </p:nvSpPr>
        <p:spPr>
          <a:xfrm>
            <a:off x="1752600" y="990600"/>
            <a:ext cx="8915400" cy="5715000"/>
          </a:xfrm>
        </p:spPr>
        <p:txBody>
          <a:bodyPr>
            <a:normAutofit lnSpcReduction="10000"/>
          </a:bodyPr>
          <a:lstStyle/>
          <a:p>
            <a:pPr marL="0" indent="0">
              <a:buNone/>
            </a:pPr>
            <a:r>
              <a:rPr lang="en-US" altLang="en-US" sz="2000" b="1"/>
              <a:t>Cambridge Scientific Radio (CSR) chips </a:t>
            </a:r>
            <a:r>
              <a:rPr lang="en-US" altLang="en-US" sz="2000"/>
              <a:t>(in most peripherals)</a:t>
            </a:r>
            <a:endParaRPr lang="en-US" altLang="en-US" sz="2000" b="1"/>
          </a:p>
          <a:p>
            <a:pPr marL="0" indent="0">
              <a:buNone/>
            </a:pPr>
            <a:r>
              <a:rPr lang="en-US" altLang="en-US" sz="2000">
                <a:hlinkClick r:id="rId2"/>
              </a:rPr>
              <a:t>BlueCore2 chip</a:t>
            </a:r>
            <a:r>
              <a:rPr lang="en-US" altLang="en-US" sz="2000"/>
              <a:t> Bluetooth v1.1, 16-bit XAP2 processor, A/D, audio options</a:t>
            </a:r>
            <a:br>
              <a:rPr lang="en-US" altLang="en-US" sz="2000"/>
            </a:br>
            <a:r>
              <a:rPr lang="en-US" altLang="en-US" sz="2000">
                <a:hlinkClick r:id="rId3"/>
              </a:rPr>
              <a:t>BlueCore3 chip</a:t>
            </a:r>
            <a:r>
              <a:rPr lang="en-US" altLang="en-US" sz="2000"/>
              <a:t> Bluetooth v1.1-1.2, XAP2 processor, audio DSP option</a:t>
            </a:r>
            <a:br>
              <a:rPr lang="en-US" altLang="en-US" sz="2000"/>
            </a:br>
            <a:r>
              <a:rPr lang="en-US" altLang="en-US" sz="2000">
                <a:hlinkClick r:id="rId4"/>
              </a:rPr>
              <a:t>BlueCore4 chip</a:t>
            </a:r>
            <a:r>
              <a:rPr lang="en-US" altLang="en-US" sz="2000"/>
              <a:t> Bluetooth V2.0, XAP2 processor</a:t>
            </a:r>
            <a:br>
              <a:rPr lang="en-US" altLang="en-US" sz="2000"/>
            </a:br>
            <a:r>
              <a:rPr lang="en-US" altLang="en-US" sz="2000"/>
              <a:t/>
            </a:r>
            <a:br>
              <a:rPr lang="en-US" altLang="en-US" sz="2000"/>
            </a:br>
            <a:r>
              <a:rPr lang="en-US" altLang="en-US" sz="2000" b="1"/>
              <a:t>AT&amp;T Broadcom chips</a:t>
            </a:r>
            <a:r>
              <a:rPr lang="en-US" altLang="en-US" sz="2000"/>
              <a:t> (in many PC + PDAs)</a:t>
            </a:r>
            <a:endParaRPr lang="en-US" altLang="en-US" sz="2000" b="1"/>
          </a:p>
          <a:p>
            <a:pPr marL="0" indent="0">
              <a:buNone/>
            </a:pPr>
            <a:r>
              <a:rPr lang="en-US" altLang="en-US" sz="2000">
                <a:hlinkClick r:id="rId5"/>
              </a:rPr>
              <a:t>BCM2040</a:t>
            </a:r>
            <a:r>
              <a:rPr lang="en-US" altLang="en-US" sz="2000"/>
              <a:t> Bluetooth v1.1-1.2, 8-bit 8051 processor</a:t>
            </a:r>
            <a:br>
              <a:rPr lang="en-US" altLang="en-US" sz="2000"/>
            </a:br>
            <a:r>
              <a:rPr lang="en-US" altLang="en-US" sz="2000">
                <a:hlinkClick r:id="rId6"/>
              </a:rPr>
              <a:t>BCM2037</a:t>
            </a:r>
            <a:r>
              <a:rPr lang="en-US" altLang="en-US" sz="2000"/>
              <a:t> Bluetooth v2.0 with audio, 16-bit ARM7 processor</a:t>
            </a:r>
            <a:br>
              <a:rPr lang="en-US" altLang="en-US" sz="2000"/>
            </a:br>
            <a:r>
              <a:rPr lang="en-US" altLang="en-US" sz="2000"/>
              <a:t>BCM2045 Bluetooth v2.0 host side chip</a:t>
            </a:r>
            <a:br>
              <a:rPr lang="en-US" altLang="en-US" sz="2000"/>
            </a:br>
            <a:r>
              <a:rPr lang="en-US" altLang="en-US" sz="2000"/>
              <a:t/>
            </a:r>
            <a:br>
              <a:rPr lang="en-US" altLang="en-US" sz="2000"/>
            </a:br>
            <a:r>
              <a:rPr lang="en-US" altLang="en-US" sz="2000" b="1"/>
              <a:t>Class 2 Modules (with antenna)</a:t>
            </a:r>
          </a:p>
          <a:p>
            <a:pPr marL="0" indent="0">
              <a:buNone/>
            </a:pPr>
            <a:r>
              <a:rPr lang="en-US" altLang="en-US" sz="2000">
                <a:hlinkClick r:id="rId7"/>
              </a:rPr>
              <a:t>Free2Move FM03AC2</a:t>
            </a:r>
            <a:r>
              <a:rPr lang="en-US" altLang="en-US" sz="2000"/>
              <a:t> Bluetooth v1.1 qualified, SPP, 15-bit audio + 8 bit A/D</a:t>
            </a:r>
            <a:br>
              <a:rPr lang="en-US" altLang="en-US" sz="2000"/>
            </a:br>
            <a:r>
              <a:rPr lang="en-US" altLang="en-US" sz="2000">
                <a:hlinkClick r:id="rId8"/>
              </a:rPr>
              <a:t>Taiyo Yuden EYMF2CAMM-XX</a:t>
            </a:r>
            <a:r>
              <a:rPr lang="en-US" altLang="en-US" sz="2000"/>
              <a:t> Bluetooth v1.1 qualified, serial port profile</a:t>
            </a:r>
            <a:br>
              <a:rPr lang="en-US" altLang="en-US" sz="2000"/>
            </a:br>
            <a:r>
              <a:rPr lang="en-US" altLang="en-US" sz="2000">
                <a:hlinkClick r:id="rId9"/>
              </a:rPr>
              <a:t>BlueGiga WT12</a:t>
            </a:r>
            <a:r>
              <a:rPr lang="en-US" altLang="en-US" sz="2000"/>
              <a:t> Bluetooth v2.0 EDR qualified, serial port profile + PCM </a:t>
            </a:r>
          </a:p>
          <a:p>
            <a:pPr marL="0" indent="0">
              <a:buNone/>
            </a:pPr>
            <a:endParaRPr lang="en-US" altLang="en-US" sz="2000"/>
          </a:p>
          <a:p>
            <a:pPr marL="0" indent="0">
              <a:buNone/>
            </a:pPr>
            <a:r>
              <a:rPr lang="en-US" altLang="en-US" sz="2000" b="1"/>
              <a:t>Class 1 Modules (no antenna)</a:t>
            </a:r>
            <a:br>
              <a:rPr lang="en-US" altLang="en-US" sz="2000" b="1"/>
            </a:br>
            <a:r>
              <a:rPr lang="en-US" altLang="en-US" sz="2000">
                <a:hlinkClick r:id="rId10"/>
              </a:rPr>
              <a:t>Free2Move FM2M03C1</a:t>
            </a:r>
            <a:r>
              <a:rPr lang="en-US" altLang="en-US" sz="2000"/>
              <a:t> Bluetooth v1.1 qualified, SPP, 15-bit audio + 8 bit A/D</a:t>
            </a:r>
            <a:r>
              <a:rPr lang="en-US" altLang="en-US"/>
              <a:t> </a:t>
            </a:r>
            <a:r>
              <a:rPr lang="en-US" altLang="en-US" sz="2000" b="1"/>
              <a:t/>
            </a:r>
            <a:br>
              <a:rPr lang="en-US" altLang="en-US" sz="2000" b="1"/>
            </a:br>
            <a:r>
              <a:rPr lang="en-US" altLang="en-US" sz="2000">
                <a:hlinkClick r:id="rId11"/>
              </a:rPr>
              <a:t>BlueGiga Wrap Thor 2022</a:t>
            </a:r>
            <a:r>
              <a:rPr lang="en-US" altLang="en-US" sz="2000"/>
              <a:t> Bluetooth v1.1 qualified, SPP, DUN, OBEX, HID</a:t>
            </a:r>
          </a:p>
        </p:txBody>
      </p:sp>
      <p:sp>
        <p:nvSpPr>
          <p:cNvPr id="436227" name="Rectangle 3"/>
          <p:cNvSpPr>
            <a:spLocks noGrp="1" noChangeArrowheads="1"/>
          </p:cNvSpPr>
          <p:nvPr>
            <p:ph type="title"/>
          </p:nvPr>
        </p:nvSpPr>
        <p:spPr>
          <a:xfrm>
            <a:off x="1752600" y="152401"/>
            <a:ext cx="8229600" cy="792163"/>
          </a:xfrm>
          <a:noFill/>
          <a:ln/>
        </p:spPr>
        <p:txBody>
          <a:bodyPr/>
          <a:lstStyle/>
          <a:p>
            <a:pPr algn="l"/>
            <a:r>
              <a:rPr lang="en-US" altLang="en-US" sz="4000"/>
              <a:t>More Bluetooth Hardware</a:t>
            </a:r>
          </a:p>
        </p:txBody>
      </p:sp>
    </p:spTree>
    <p:extLst>
      <p:ext uri="{BB962C8B-B14F-4D97-AF65-F5344CB8AC3E}">
        <p14:creationId xmlns:p14="http://schemas.microsoft.com/office/powerpoint/2010/main" val="416619411"/>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ChangeArrowheads="1"/>
          </p:cNvSpPr>
          <p:nvPr>
            <p:ph type="title"/>
          </p:nvPr>
        </p:nvSpPr>
        <p:spPr/>
        <p:txBody>
          <a:bodyPr/>
          <a:lstStyle/>
          <a:p>
            <a:pPr algn="l"/>
            <a:r>
              <a:rPr lang="en-US" altLang="en-US" sz="4000"/>
              <a:t>Developing with Bluetooth</a:t>
            </a:r>
          </a:p>
        </p:txBody>
      </p:sp>
      <p:sp>
        <p:nvSpPr>
          <p:cNvPr id="434179" name="Rectangle 3"/>
          <p:cNvSpPr>
            <a:spLocks noGrp="1" noChangeArrowheads="1"/>
          </p:cNvSpPr>
          <p:nvPr>
            <p:ph type="body" sz="half" idx="1"/>
          </p:nvPr>
        </p:nvSpPr>
        <p:spPr>
          <a:xfrm>
            <a:off x="1905000" y="1295400"/>
            <a:ext cx="8229600" cy="4724400"/>
          </a:xfrm>
        </p:spPr>
        <p:txBody>
          <a:bodyPr/>
          <a:lstStyle/>
          <a:p>
            <a:r>
              <a:rPr lang="en-US" altLang="en-US" sz="2400"/>
              <a:t>The newest modules make it pretty easy to go wireless. Most modules can be used as serial cable replacements. </a:t>
            </a:r>
          </a:p>
          <a:p>
            <a:pPr>
              <a:buFont typeface="Wingdings" panose="05000000000000000000" pitchFamily="2" charset="2"/>
              <a:buNone/>
            </a:pPr>
            <a:endParaRPr lang="en-US" altLang="en-US" sz="2400"/>
          </a:p>
          <a:p>
            <a:r>
              <a:rPr lang="en-US" altLang="en-US" sz="2400"/>
              <a:t>The next simplest step is to add a microprocessor to act as controller (PIC etc.), using the module’s serial profile. But since new BT chips have a powerful, energy-efficient processor on-board already, this is rather wasteful. </a:t>
            </a:r>
          </a:p>
          <a:p>
            <a:pPr>
              <a:buFont typeface="Wingdings" panose="05000000000000000000" pitchFamily="2" charset="2"/>
              <a:buNone/>
            </a:pPr>
            <a:endParaRPr lang="en-US" altLang="en-US" sz="2400"/>
          </a:p>
          <a:p>
            <a:r>
              <a:rPr lang="en-US" altLang="en-US" sz="2400"/>
              <a:t>You can develop for the native processor, but you will need to buy some expensive development tools. CSR and some module vendors provide virtual machines so your code can’t void the module’s qualification.  </a:t>
            </a:r>
          </a:p>
        </p:txBody>
      </p:sp>
    </p:spTree>
    <p:extLst>
      <p:ext uri="{BB962C8B-B14F-4D97-AF65-F5344CB8AC3E}">
        <p14:creationId xmlns:p14="http://schemas.microsoft.com/office/powerpoint/2010/main" val="788875265"/>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p:cNvSpPr>
            <a:spLocks noGrp="1" noChangeArrowheads="1"/>
          </p:cNvSpPr>
          <p:nvPr>
            <p:ph type="title"/>
          </p:nvPr>
        </p:nvSpPr>
        <p:spPr/>
        <p:txBody>
          <a:bodyPr/>
          <a:lstStyle/>
          <a:p>
            <a:pPr algn="l"/>
            <a:r>
              <a:rPr lang="en-US" altLang="en-US" sz="4000"/>
              <a:t>Bluetooth-to-phone</a:t>
            </a:r>
          </a:p>
        </p:txBody>
      </p:sp>
      <p:sp>
        <p:nvSpPr>
          <p:cNvPr id="438275" name="Rectangle 3"/>
          <p:cNvSpPr>
            <a:spLocks noGrp="1" noChangeArrowheads="1"/>
          </p:cNvSpPr>
          <p:nvPr>
            <p:ph type="body" sz="half" idx="1"/>
          </p:nvPr>
        </p:nvSpPr>
        <p:spPr>
          <a:xfrm>
            <a:off x="1905000" y="1295400"/>
            <a:ext cx="8229600" cy="4724400"/>
          </a:xfrm>
        </p:spPr>
        <p:txBody>
          <a:bodyPr/>
          <a:lstStyle/>
          <a:p>
            <a:r>
              <a:rPr lang="en-US" altLang="en-US" sz="2400"/>
              <a:t>To call out from a sensor using a Bluetooth cell phone, it may only be necessary to use the phone’s “DUN” (Dialup Networking) profile. The sensor becomes the master of the connection. No code needed on the phone!</a:t>
            </a:r>
          </a:p>
          <a:p>
            <a:endParaRPr lang="en-US" altLang="en-US" sz="2400"/>
          </a:p>
          <a:p>
            <a:r>
              <a:rPr lang="en-US" altLang="en-US" sz="2400"/>
              <a:t>Otherwise there are several programming platforms available for phones: Java, BREW, Symbian. BREW is the programming environment for CDMA phones (Qualcomm, Sprint, Verizon,…). Fast and flexible, but you need another expensive development environment (for ARM processors). </a:t>
            </a:r>
          </a:p>
        </p:txBody>
      </p:sp>
    </p:spTree>
    <p:extLst>
      <p:ext uri="{BB962C8B-B14F-4D97-AF65-F5344CB8AC3E}">
        <p14:creationId xmlns:p14="http://schemas.microsoft.com/office/powerpoint/2010/main" val="3403985353"/>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pPr algn="l"/>
            <a:r>
              <a:rPr lang="en-US" altLang="en-US" sz="4000"/>
              <a:t>Project work</a:t>
            </a:r>
          </a:p>
        </p:txBody>
      </p:sp>
      <p:sp>
        <p:nvSpPr>
          <p:cNvPr id="392195" name="Rectangle 3"/>
          <p:cNvSpPr>
            <a:spLocks noGrp="1" noChangeArrowheads="1"/>
          </p:cNvSpPr>
          <p:nvPr>
            <p:ph type="body" sz="half" idx="1"/>
          </p:nvPr>
        </p:nvSpPr>
        <p:spPr>
          <a:xfrm>
            <a:off x="1981200" y="1600200"/>
            <a:ext cx="8229600" cy="4495800"/>
          </a:xfrm>
        </p:spPr>
        <p:txBody>
          <a:bodyPr/>
          <a:lstStyle/>
          <a:p>
            <a:pPr marL="0" indent="0">
              <a:buNone/>
            </a:pPr>
            <a:r>
              <a:rPr lang="en-US" altLang="en-US" sz="2400"/>
              <a:t>Please write down a project idea to be handed in next time (Wednesday).</a:t>
            </a:r>
          </a:p>
          <a:p>
            <a:pPr marL="0" indent="0">
              <a:buNone/>
            </a:pPr>
            <a:endParaRPr lang="en-US" altLang="en-US" sz="2400"/>
          </a:p>
          <a:p>
            <a:pPr marL="0" indent="0">
              <a:buNone/>
            </a:pPr>
            <a:r>
              <a:rPr lang="en-US" altLang="en-US" sz="2400"/>
              <a:t>Project work starts next week.   </a:t>
            </a:r>
          </a:p>
        </p:txBody>
      </p:sp>
    </p:spTree>
    <p:extLst>
      <p:ext uri="{BB962C8B-B14F-4D97-AF65-F5344CB8AC3E}">
        <p14:creationId xmlns:p14="http://schemas.microsoft.com/office/powerpoint/2010/main" val="513788401"/>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p:txBody>
          <a:bodyPr/>
          <a:lstStyle/>
          <a:p>
            <a:pPr algn="l"/>
            <a:r>
              <a:rPr lang="en-US" altLang="en-US" sz="4000"/>
              <a:t>Next Time</a:t>
            </a:r>
          </a:p>
        </p:txBody>
      </p:sp>
      <p:sp>
        <p:nvSpPr>
          <p:cNvPr id="437251" name="Rectangle 3"/>
          <p:cNvSpPr>
            <a:spLocks noGrp="1" noChangeArrowheads="1"/>
          </p:cNvSpPr>
          <p:nvPr>
            <p:ph type="body" sz="half" idx="1"/>
          </p:nvPr>
        </p:nvSpPr>
        <p:spPr>
          <a:xfrm>
            <a:off x="1981200" y="1600200"/>
            <a:ext cx="8229600" cy="4495800"/>
          </a:xfrm>
        </p:spPr>
        <p:txBody>
          <a:bodyPr/>
          <a:lstStyle/>
          <a:p>
            <a:pPr marL="0" indent="0">
              <a:buNone/>
            </a:pPr>
            <a:r>
              <a:rPr lang="en-US" altLang="en-US" sz="2400"/>
              <a:t>Jeff Newman, director of Sutter Health Inst. for Research and Education is the guest speaker.</a:t>
            </a:r>
          </a:p>
          <a:p>
            <a:pPr marL="0" indent="0">
              <a:buNone/>
            </a:pPr>
            <a:endParaRPr lang="en-US" altLang="en-US" sz="2400"/>
          </a:p>
          <a:p>
            <a:pPr marL="0" indent="0">
              <a:buNone/>
            </a:pPr>
            <a:r>
              <a:rPr lang="en-US" altLang="en-US" sz="2400"/>
              <a:t>Reading online about telehealth in Finland.</a:t>
            </a:r>
          </a:p>
          <a:p>
            <a:pPr marL="0" indent="0">
              <a:buNone/>
            </a:pPr>
            <a:endParaRPr lang="en-US" altLang="en-US" sz="2400"/>
          </a:p>
          <a:p>
            <a:pPr marL="0" indent="0">
              <a:buNone/>
            </a:pPr>
            <a:r>
              <a:rPr lang="en-US" altLang="en-US" sz="2400"/>
              <a:t>What assumptions does this paper make about the application of telehealth? </a:t>
            </a:r>
          </a:p>
          <a:p>
            <a:pPr marL="0" indent="0">
              <a:buNone/>
            </a:pPr>
            <a:endParaRPr lang="en-US" altLang="en-US" sz="2400"/>
          </a:p>
          <a:p>
            <a:pPr marL="0" indent="0">
              <a:buNone/>
            </a:pPr>
            <a:r>
              <a:rPr lang="en-US" altLang="en-US" sz="2400"/>
              <a:t>What technical innovations would improve the situation?   </a:t>
            </a:r>
          </a:p>
        </p:txBody>
      </p:sp>
    </p:spTree>
    <p:extLst>
      <p:ext uri="{BB962C8B-B14F-4D97-AF65-F5344CB8AC3E}">
        <p14:creationId xmlns:p14="http://schemas.microsoft.com/office/powerpoint/2010/main" val="1893554622"/>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304800"/>
            <a:ext cx="7086600" cy="792162"/>
          </a:xfrm>
        </p:spPr>
        <p:txBody>
          <a:bodyPr>
            <a:normAutofit/>
          </a:bodyPr>
          <a:lstStyle/>
          <a:p>
            <a:r>
              <a:rPr lang="en-US" sz="3200" b="1" dirty="0">
                <a:solidFill>
                  <a:srgbClr val="FF0000"/>
                </a:solidFill>
              </a:rPr>
              <a:t>What is ECG?</a:t>
            </a:r>
          </a:p>
        </p:txBody>
      </p:sp>
      <p:sp>
        <p:nvSpPr>
          <p:cNvPr id="4" name="Text Placeholder 3"/>
          <p:cNvSpPr>
            <a:spLocks noGrp="1"/>
          </p:cNvSpPr>
          <p:nvPr>
            <p:ph type="body" sz="half" idx="1"/>
          </p:nvPr>
        </p:nvSpPr>
        <p:spPr>
          <a:xfrm>
            <a:off x="1981200" y="2667000"/>
            <a:ext cx="8686800" cy="3657600"/>
          </a:xfrm>
        </p:spPr>
        <p:txBody>
          <a:bodyPr>
            <a:normAutofit fontScale="77500" lnSpcReduction="20000"/>
          </a:bodyPr>
          <a:lstStyle/>
          <a:p>
            <a:pPr marL="45720" indent="0">
              <a:buNone/>
            </a:pPr>
            <a:r>
              <a:rPr lang="en-US" sz="4000" b="1" dirty="0">
                <a:solidFill>
                  <a:srgbClr val="FF0000"/>
                </a:solidFill>
              </a:rPr>
              <a:t>Why is ECG used?</a:t>
            </a:r>
          </a:p>
          <a:p>
            <a:pPr marL="45720" indent="0">
              <a:buNone/>
            </a:pPr>
            <a:endParaRPr lang="en-US" sz="2300" dirty="0">
              <a:solidFill>
                <a:srgbClr val="FF0000"/>
              </a:solidFill>
            </a:endParaRPr>
          </a:p>
          <a:p>
            <a:pPr marL="45720" indent="0">
              <a:buNone/>
            </a:pPr>
            <a:r>
              <a:rPr lang="en-US" sz="2300" dirty="0">
                <a:solidFill>
                  <a:schemeClr val="tx2"/>
                </a:solidFill>
              </a:rPr>
              <a:t>-to check how well medicines are working and whether they are causing side effects that affect the heart.</a:t>
            </a:r>
          </a:p>
          <a:p>
            <a:pPr marL="45720" indent="0">
              <a:buNone/>
            </a:pPr>
            <a:r>
              <a:rPr lang="en-US" sz="2300" dirty="0">
                <a:solidFill>
                  <a:schemeClr val="tx2"/>
                </a:solidFill>
              </a:rPr>
              <a:t>-to check the health of the heart when other diseases or conditions are present such as high B.P.,  high </a:t>
            </a:r>
            <a:r>
              <a:rPr lang="en-US" sz="2300" dirty="0" err="1">
                <a:solidFill>
                  <a:schemeClr val="tx2"/>
                </a:solidFill>
              </a:rPr>
              <a:t>cholestrol</a:t>
            </a:r>
            <a:r>
              <a:rPr lang="en-US" sz="2300" dirty="0">
                <a:solidFill>
                  <a:schemeClr val="tx2"/>
                </a:solidFill>
              </a:rPr>
              <a:t>, diabetes, etc..</a:t>
            </a:r>
          </a:p>
          <a:p>
            <a:pPr marL="45720" indent="0">
              <a:buNone/>
            </a:pPr>
            <a:r>
              <a:rPr lang="en-US" sz="2300" dirty="0">
                <a:solidFill>
                  <a:schemeClr val="tx2"/>
                </a:solidFill>
              </a:rPr>
              <a:t>-to assess if the patient has had a heart attack or evidence of a previous heart attack.</a:t>
            </a:r>
          </a:p>
          <a:p>
            <a:pPr marL="45720" indent="0">
              <a:buNone/>
            </a:pPr>
            <a:r>
              <a:rPr lang="en-US" sz="2300" dirty="0">
                <a:solidFill>
                  <a:schemeClr val="tx2"/>
                </a:solidFill>
              </a:rPr>
              <a:t>-to observe the effects of medicines used for coronary heart disease.</a:t>
            </a:r>
          </a:p>
          <a:p>
            <a:pPr marL="45720" indent="0">
              <a:buNone/>
            </a:pPr>
            <a:r>
              <a:rPr lang="en-US" sz="2300" dirty="0">
                <a:solidFill>
                  <a:schemeClr val="tx2"/>
                </a:solidFill>
              </a:rPr>
              <a:t>-to see if there are too few minerals in the blood.</a:t>
            </a:r>
          </a:p>
          <a:p>
            <a:pPr marL="45720" indent="0">
              <a:buNone/>
            </a:pPr>
            <a:r>
              <a:rPr lang="en-US" sz="2300" dirty="0">
                <a:solidFill>
                  <a:schemeClr val="tx2"/>
                </a:solidFill>
              </a:rPr>
              <a:t>-to diagnose poor blood flow to the heart, heart attack and abnormalities of the heart.</a:t>
            </a:r>
          </a:p>
        </p:txBody>
      </p:sp>
      <p:graphicFrame>
        <p:nvGraphicFramePr>
          <p:cNvPr id="7" name="Content Placeholder 6"/>
          <p:cNvGraphicFramePr>
            <a:graphicFrameLocks noGrp="1"/>
          </p:cNvGraphicFramePr>
          <p:nvPr>
            <p:ph sz="half" idx="2"/>
            <p:extLst/>
          </p:nvPr>
        </p:nvGraphicFramePr>
        <p:xfrm>
          <a:off x="1905000" y="1219201"/>
          <a:ext cx="7924800" cy="13053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8121475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FF0000"/>
                </a:solidFill>
              </a:rPr>
              <a:t>How does an ECG machine detect the body’s electrical signals?</a:t>
            </a:r>
            <a:endParaRPr lang="en-US" dirty="0">
              <a:solidFill>
                <a:srgbClr val="FF0000"/>
              </a:solidFill>
            </a:endParaRPr>
          </a:p>
        </p:txBody>
      </p:sp>
      <p:graphicFrame>
        <p:nvGraphicFramePr>
          <p:cNvPr id="9" name="Content Placeholder 8"/>
          <p:cNvGraphicFramePr>
            <a:graphicFrameLocks noGrp="1"/>
          </p:cNvGraphicFramePr>
          <p:nvPr>
            <p:ph idx="1"/>
            <p:extLst/>
          </p:nvPr>
        </p:nvGraphicFramePr>
        <p:xfrm>
          <a:off x="2438400" y="1524001"/>
          <a:ext cx="7315200" cy="4785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040749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ECG characteristics:</a:t>
            </a:r>
            <a:endParaRPr lang="en-US" dirty="0">
              <a:solidFill>
                <a:srgbClr val="FF0000"/>
              </a:solidFill>
            </a:endParaRPr>
          </a:p>
        </p:txBody>
      </p:sp>
      <p:graphicFrame>
        <p:nvGraphicFramePr>
          <p:cNvPr id="4" name="Content Placeholder 3"/>
          <p:cNvGraphicFramePr>
            <a:graphicFrameLocks noGrp="1"/>
          </p:cNvGraphicFramePr>
          <p:nvPr>
            <p:ph idx="1"/>
            <p:extLst/>
          </p:nvPr>
        </p:nvGraphicFramePr>
        <p:xfrm>
          <a:off x="2438400" y="1524001"/>
          <a:ext cx="7315200" cy="4785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5706021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20783"/>
            <a:ext cx="7315200" cy="1154097"/>
          </a:xfrm>
        </p:spPr>
        <p:txBody>
          <a:bodyPr/>
          <a:lstStyle/>
          <a:p>
            <a:r>
              <a:rPr lang="en-US" dirty="0" smtClean="0">
                <a:solidFill>
                  <a:srgbClr val="FF0000"/>
                </a:solidFill>
              </a:rPr>
              <a:t>ECG acquisition:</a:t>
            </a:r>
            <a:endParaRPr lang="en-US" dirty="0">
              <a:solidFill>
                <a:srgbClr val="FF0000"/>
              </a:solidFill>
            </a:endParaRPr>
          </a:p>
        </p:txBody>
      </p:sp>
      <p:graphicFrame>
        <p:nvGraphicFramePr>
          <p:cNvPr id="4" name="Content Placeholder 3"/>
          <p:cNvGraphicFramePr>
            <a:graphicFrameLocks noGrp="1"/>
          </p:cNvGraphicFramePr>
          <p:nvPr>
            <p:ph idx="1"/>
            <p:extLst/>
          </p:nvPr>
        </p:nvGraphicFramePr>
        <p:xfrm>
          <a:off x="2362200" y="990600"/>
          <a:ext cx="716280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7303316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ECG filtering:</a:t>
            </a:r>
            <a:endParaRPr lang="en-US" dirty="0">
              <a:solidFill>
                <a:srgbClr val="FF0000"/>
              </a:solidFill>
            </a:endParaRPr>
          </a:p>
        </p:txBody>
      </p:sp>
      <p:sp>
        <p:nvSpPr>
          <p:cNvPr id="3" name="Content Placeholder 2"/>
          <p:cNvSpPr>
            <a:spLocks noGrp="1"/>
          </p:cNvSpPr>
          <p:nvPr>
            <p:ph idx="1"/>
          </p:nvPr>
        </p:nvSpPr>
        <p:spPr/>
        <p:txBody>
          <a:bodyPr>
            <a:normAutofit fontScale="70000" lnSpcReduction="20000"/>
          </a:bodyPr>
          <a:lstStyle/>
          <a:p>
            <a:r>
              <a:rPr lang="en-US" b="1" dirty="0" smtClean="0">
                <a:solidFill>
                  <a:schemeClr val="tx2"/>
                </a:solidFill>
              </a:rPr>
              <a:t>Signal processing is a huge challenge since the actual signal value will be 0.5 mV in offset environment of 300 mV.</a:t>
            </a:r>
          </a:p>
          <a:p>
            <a:r>
              <a:rPr lang="en-US" b="1" dirty="0" smtClean="0">
                <a:solidFill>
                  <a:schemeClr val="tx2"/>
                </a:solidFill>
              </a:rPr>
              <a:t>Other factors like AC power supply interference, RF interference from surgery equipment, and implanted devices like pace makers and physiological monitoring systems can also impact accuracy.</a:t>
            </a:r>
          </a:p>
          <a:p>
            <a:r>
              <a:rPr lang="en-US" b="1" dirty="0" smtClean="0">
                <a:solidFill>
                  <a:schemeClr val="tx2"/>
                </a:solidFill>
              </a:rPr>
              <a:t>The main sources of noise in ECG are-</a:t>
            </a:r>
            <a:r>
              <a:rPr lang="en-US" b="1" dirty="0">
                <a:solidFill>
                  <a:schemeClr val="tx2"/>
                </a:solidFill>
              </a:rPr>
              <a:t> </a:t>
            </a:r>
            <a:r>
              <a:rPr lang="en-US" b="1" dirty="0" smtClean="0">
                <a:solidFill>
                  <a:schemeClr val="tx2"/>
                </a:solidFill>
              </a:rPr>
              <a:t> </a:t>
            </a:r>
          </a:p>
          <a:p>
            <a:pPr marL="45720" indent="0">
              <a:buNone/>
            </a:pPr>
            <a:r>
              <a:rPr lang="en-US" i="1" dirty="0">
                <a:solidFill>
                  <a:schemeClr val="tx2"/>
                </a:solidFill>
              </a:rPr>
              <a:t> </a:t>
            </a:r>
            <a:r>
              <a:rPr lang="en-US" i="1" dirty="0" smtClean="0">
                <a:solidFill>
                  <a:schemeClr val="tx2"/>
                </a:solidFill>
              </a:rPr>
              <a:t>   -Baseline wander(low frequency noise)</a:t>
            </a:r>
          </a:p>
          <a:p>
            <a:pPr marL="45720" indent="0">
              <a:buNone/>
            </a:pPr>
            <a:r>
              <a:rPr lang="en-US" i="1" dirty="0">
                <a:solidFill>
                  <a:schemeClr val="tx2"/>
                </a:solidFill>
              </a:rPr>
              <a:t> </a:t>
            </a:r>
            <a:r>
              <a:rPr lang="en-US" i="1" dirty="0" smtClean="0">
                <a:solidFill>
                  <a:schemeClr val="tx2"/>
                </a:solidFill>
              </a:rPr>
              <a:t>   -Power line interference(50Hz or 60 Hz noise  from power </a:t>
            </a:r>
          </a:p>
          <a:p>
            <a:pPr marL="45720" indent="0">
              <a:buNone/>
            </a:pPr>
            <a:r>
              <a:rPr lang="en-US" i="1" dirty="0">
                <a:solidFill>
                  <a:schemeClr val="tx2"/>
                </a:solidFill>
              </a:rPr>
              <a:t> </a:t>
            </a:r>
            <a:r>
              <a:rPr lang="en-US" i="1" dirty="0" smtClean="0">
                <a:solidFill>
                  <a:schemeClr val="tx2"/>
                </a:solidFill>
              </a:rPr>
              <a:t>                lines).</a:t>
            </a:r>
          </a:p>
          <a:p>
            <a:pPr marL="45720" indent="0">
              <a:buNone/>
            </a:pPr>
            <a:r>
              <a:rPr lang="en-US" i="1" dirty="0">
                <a:solidFill>
                  <a:schemeClr val="tx2"/>
                </a:solidFill>
              </a:rPr>
              <a:t> </a:t>
            </a:r>
            <a:r>
              <a:rPr lang="en-US" i="1" dirty="0" smtClean="0">
                <a:solidFill>
                  <a:schemeClr val="tx2"/>
                </a:solidFill>
              </a:rPr>
              <a:t>   -Muscle noise(this noise is very difficult to remove as it is in </a:t>
            </a:r>
          </a:p>
          <a:p>
            <a:pPr marL="45720" indent="0">
              <a:buNone/>
            </a:pPr>
            <a:r>
              <a:rPr lang="en-US" i="1" dirty="0">
                <a:solidFill>
                  <a:schemeClr val="tx2"/>
                </a:solidFill>
              </a:rPr>
              <a:t> </a:t>
            </a:r>
            <a:r>
              <a:rPr lang="en-US" i="1" dirty="0" smtClean="0">
                <a:solidFill>
                  <a:schemeClr val="tx2"/>
                </a:solidFill>
              </a:rPr>
              <a:t>                the same region as the actual signal. It is usually  </a:t>
            </a:r>
          </a:p>
          <a:p>
            <a:pPr marL="45720" indent="0">
              <a:buNone/>
            </a:pPr>
            <a:r>
              <a:rPr lang="en-US" i="1" dirty="0">
                <a:solidFill>
                  <a:schemeClr val="tx2"/>
                </a:solidFill>
              </a:rPr>
              <a:t> </a:t>
            </a:r>
            <a:r>
              <a:rPr lang="en-US" i="1" dirty="0" smtClean="0">
                <a:solidFill>
                  <a:schemeClr val="tx2"/>
                </a:solidFill>
              </a:rPr>
              <a:t>                corrected in software).</a:t>
            </a:r>
          </a:p>
          <a:p>
            <a:pPr marL="45720" indent="0">
              <a:buNone/>
            </a:pPr>
            <a:r>
              <a:rPr lang="en-US" i="1" dirty="0">
                <a:solidFill>
                  <a:schemeClr val="tx2"/>
                </a:solidFill>
              </a:rPr>
              <a:t> </a:t>
            </a:r>
            <a:r>
              <a:rPr lang="en-US" i="1" dirty="0" smtClean="0">
                <a:solidFill>
                  <a:schemeClr val="tx2"/>
                </a:solidFill>
              </a:rPr>
              <a:t>   -Other interference(i.e. radio frequency noise from other equipment).</a:t>
            </a:r>
          </a:p>
          <a:p>
            <a:pPr marL="45720" indent="0">
              <a:buNone/>
            </a:pPr>
            <a:r>
              <a:rPr lang="en-US" i="1" dirty="0">
                <a:solidFill>
                  <a:schemeClr val="tx2"/>
                </a:solidFill>
              </a:rPr>
              <a:t> </a:t>
            </a:r>
            <a:r>
              <a:rPr lang="en-US" i="1" dirty="0" smtClean="0">
                <a:solidFill>
                  <a:schemeClr val="tx2"/>
                </a:solidFill>
              </a:rPr>
              <a:t>     </a:t>
            </a:r>
          </a:p>
        </p:txBody>
      </p:sp>
    </p:spTree>
    <p:extLst>
      <p:ext uri="{BB962C8B-B14F-4D97-AF65-F5344CB8AC3E}">
        <p14:creationId xmlns:p14="http://schemas.microsoft.com/office/powerpoint/2010/main" val="193630834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FF0000"/>
                </a:solidFill>
              </a:rPr>
              <a:t>Preprocessing ECG signals:</a:t>
            </a:r>
            <a:endParaRPr lang="en-US" dirty="0">
              <a:solidFill>
                <a:srgbClr val="FF0000"/>
              </a:solidFill>
            </a:endParaRPr>
          </a:p>
        </p:txBody>
      </p:sp>
      <p:sp>
        <p:nvSpPr>
          <p:cNvPr id="4" name="Content Placeholder 3"/>
          <p:cNvSpPr>
            <a:spLocks noGrp="1"/>
          </p:cNvSpPr>
          <p:nvPr>
            <p:ph idx="1"/>
          </p:nvPr>
        </p:nvSpPr>
        <p:spPr/>
        <p:txBody>
          <a:bodyPr>
            <a:normAutofit fontScale="92500" lnSpcReduction="20000"/>
          </a:bodyPr>
          <a:lstStyle/>
          <a:p>
            <a:r>
              <a:rPr lang="en-US" b="1" dirty="0" smtClean="0">
                <a:solidFill>
                  <a:schemeClr val="tx2"/>
                </a:solidFill>
              </a:rPr>
              <a:t>Helps us remove contaminants from the ECG signals. ECG </a:t>
            </a:r>
            <a:r>
              <a:rPr lang="en-US" b="1" dirty="0" err="1" smtClean="0">
                <a:solidFill>
                  <a:schemeClr val="tx2"/>
                </a:solidFill>
              </a:rPr>
              <a:t>cantaminants</a:t>
            </a:r>
            <a:r>
              <a:rPr lang="en-US" b="1" dirty="0" smtClean="0">
                <a:solidFill>
                  <a:schemeClr val="tx2"/>
                </a:solidFill>
              </a:rPr>
              <a:t> can be classified as-</a:t>
            </a:r>
          </a:p>
          <a:p>
            <a:pPr marL="45720" indent="0">
              <a:buNone/>
            </a:pPr>
            <a:r>
              <a:rPr lang="en-US" dirty="0" smtClean="0">
                <a:solidFill>
                  <a:schemeClr val="tx2"/>
                </a:solidFill>
              </a:rPr>
              <a:t>          </a:t>
            </a:r>
            <a:r>
              <a:rPr lang="en-US" i="1" dirty="0" smtClean="0">
                <a:solidFill>
                  <a:schemeClr val="tx2"/>
                </a:solidFill>
              </a:rPr>
              <a:t>-power line interference</a:t>
            </a:r>
          </a:p>
          <a:p>
            <a:pPr marL="45720" indent="0">
              <a:buNone/>
            </a:pPr>
            <a:r>
              <a:rPr lang="en-US" i="1" dirty="0">
                <a:solidFill>
                  <a:schemeClr val="tx2"/>
                </a:solidFill>
              </a:rPr>
              <a:t> </a:t>
            </a:r>
            <a:r>
              <a:rPr lang="en-US" i="1" dirty="0" smtClean="0">
                <a:solidFill>
                  <a:schemeClr val="tx2"/>
                </a:solidFill>
              </a:rPr>
              <a:t>         -electrode pop or contact noise</a:t>
            </a:r>
          </a:p>
          <a:p>
            <a:pPr marL="45720" indent="0">
              <a:buNone/>
            </a:pPr>
            <a:r>
              <a:rPr lang="en-US" i="1" dirty="0">
                <a:solidFill>
                  <a:schemeClr val="tx2"/>
                </a:solidFill>
              </a:rPr>
              <a:t> </a:t>
            </a:r>
            <a:r>
              <a:rPr lang="en-US" i="1" dirty="0" smtClean="0">
                <a:solidFill>
                  <a:schemeClr val="tx2"/>
                </a:solidFill>
              </a:rPr>
              <a:t>         -patient electrode motion artifacts</a:t>
            </a:r>
          </a:p>
          <a:p>
            <a:pPr marL="45720" indent="0">
              <a:buNone/>
            </a:pPr>
            <a:r>
              <a:rPr lang="en-US" i="1" dirty="0">
                <a:solidFill>
                  <a:schemeClr val="tx2"/>
                </a:solidFill>
              </a:rPr>
              <a:t> </a:t>
            </a:r>
            <a:r>
              <a:rPr lang="en-US" i="1" dirty="0" smtClean="0">
                <a:solidFill>
                  <a:schemeClr val="tx2"/>
                </a:solidFill>
              </a:rPr>
              <a:t>         -</a:t>
            </a:r>
            <a:r>
              <a:rPr lang="en-US" i="1" dirty="0" err="1" smtClean="0">
                <a:solidFill>
                  <a:schemeClr val="tx2"/>
                </a:solidFill>
              </a:rPr>
              <a:t>electromyographic</a:t>
            </a:r>
            <a:r>
              <a:rPr lang="en-US" i="1" dirty="0" smtClean="0">
                <a:solidFill>
                  <a:schemeClr val="tx2"/>
                </a:solidFill>
              </a:rPr>
              <a:t>(EMG) noise</a:t>
            </a:r>
          </a:p>
          <a:p>
            <a:pPr marL="45720" indent="0">
              <a:buNone/>
            </a:pPr>
            <a:r>
              <a:rPr lang="en-US" i="1" dirty="0">
                <a:solidFill>
                  <a:schemeClr val="tx2"/>
                </a:solidFill>
              </a:rPr>
              <a:t> </a:t>
            </a:r>
            <a:r>
              <a:rPr lang="en-US" i="1" dirty="0" smtClean="0">
                <a:solidFill>
                  <a:schemeClr val="tx2"/>
                </a:solidFill>
              </a:rPr>
              <a:t>         -baseline wandering</a:t>
            </a:r>
          </a:p>
          <a:p>
            <a:pPr marL="45720" indent="0">
              <a:buNone/>
            </a:pPr>
            <a:r>
              <a:rPr lang="en-US" dirty="0">
                <a:solidFill>
                  <a:schemeClr val="tx2"/>
                </a:solidFill>
              </a:rPr>
              <a:t> </a:t>
            </a:r>
            <a:r>
              <a:rPr lang="en-US" dirty="0" smtClean="0">
                <a:solidFill>
                  <a:schemeClr val="tx2"/>
                </a:solidFill>
              </a:rPr>
              <a:t>                  </a:t>
            </a:r>
            <a:r>
              <a:rPr lang="en-US" b="1" dirty="0" smtClean="0">
                <a:solidFill>
                  <a:schemeClr val="tx2"/>
                </a:solidFill>
              </a:rPr>
              <a:t>The baseline wandering and other wideband noises are not easy to be suppressed by hardware </a:t>
            </a:r>
            <a:r>
              <a:rPr lang="en-US" b="1" dirty="0" err="1" smtClean="0">
                <a:solidFill>
                  <a:schemeClr val="tx2"/>
                </a:solidFill>
              </a:rPr>
              <a:t>equipments</a:t>
            </a:r>
            <a:r>
              <a:rPr lang="en-US" b="1" dirty="0" smtClean="0">
                <a:solidFill>
                  <a:schemeClr val="tx2"/>
                </a:solidFill>
              </a:rPr>
              <a:t>. Instead the software scheme is more powerful and feasible for offline ECG signal processing. You can use the following methods to remove baseline wandering and other wideband noises.</a:t>
            </a:r>
            <a:endParaRPr lang="en-US" b="1" dirty="0">
              <a:solidFill>
                <a:schemeClr val="tx2"/>
              </a:solidFill>
            </a:endParaRPr>
          </a:p>
        </p:txBody>
      </p:sp>
      <p:cxnSp>
        <p:nvCxnSpPr>
          <p:cNvPr id="8" name="Straight Arrow Connector 7"/>
          <p:cNvCxnSpPr/>
          <p:nvPr/>
        </p:nvCxnSpPr>
        <p:spPr>
          <a:xfrm flipV="1">
            <a:off x="5638800" y="3200400"/>
            <a:ext cx="29718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6248400" y="2438400"/>
            <a:ext cx="23622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610600" y="2466109"/>
            <a:ext cx="1752600" cy="1477328"/>
          </a:xfrm>
          <a:prstGeom prst="rect">
            <a:avLst/>
          </a:prstGeom>
          <a:noFill/>
        </p:spPr>
        <p:txBody>
          <a:bodyPr wrap="square" rtlCol="0">
            <a:spAutoFit/>
          </a:bodyPr>
          <a:lstStyle/>
          <a:p>
            <a:r>
              <a:rPr lang="en-US" i="1" dirty="0">
                <a:solidFill>
                  <a:schemeClr val="tx2"/>
                </a:solidFill>
              </a:rPr>
              <a:t>the most significant and can strongly affect ECG signal analysis.</a:t>
            </a:r>
          </a:p>
        </p:txBody>
      </p:sp>
    </p:spTree>
    <p:extLst>
      <p:ext uri="{BB962C8B-B14F-4D97-AF65-F5344CB8AC3E}">
        <p14:creationId xmlns:p14="http://schemas.microsoft.com/office/powerpoint/2010/main" val="299091274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9788" y="3352801"/>
            <a:ext cx="7239000" cy="620697"/>
          </a:xfrm>
        </p:spPr>
        <p:txBody>
          <a:bodyPr>
            <a:normAutofit fontScale="90000"/>
          </a:bodyPr>
          <a:lstStyle/>
          <a:p>
            <a:r>
              <a:rPr lang="en-US" dirty="0" smtClean="0">
                <a:solidFill>
                  <a:srgbClr val="FF0000"/>
                </a:solidFill>
              </a:rPr>
              <a:t>Removing wideband noise:</a:t>
            </a:r>
            <a:endParaRPr lang="en-US" dirty="0">
              <a:solidFill>
                <a:srgbClr val="FF0000"/>
              </a:solidFill>
            </a:endParaRPr>
          </a:p>
        </p:txBody>
      </p:sp>
      <p:graphicFrame>
        <p:nvGraphicFramePr>
          <p:cNvPr id="4" name="Content Placeholder 3"/>
          <p:cNvGraphicFramePr>
            <a:graphicFrameLocks noGrp="1"/>
          </p:cNvGraphicFramePr>
          <p:nvPr>
            <p:ph idx="1"/>
            <p:extLst/>
          </p:nvPr>
        </p:nvGraphicFramePr>
        <p:xfrm>
          <a:off x="2263918" y="4038601"/>
          <a:ext cx="7565882" cy="213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2286000" y="381001"/>
            <a:ext cx="5486400" cy="646331"/>
          </a:xfrm>
          <a:prstGeom prst="rect">
            <a:avLst/>
          </a:prstGeom>
          <a:noFill/>
        </p:spPr>
        <p:txBody>
          <a:bodyPr wrap="square" rtlCol="0">
            <a:spAutoFit/>
          </a:bodyPr>
          <a:lstStyle/>
          <a:p>
            <a:r>
              <a:rPr lang="en-US" sz="3600" dirty="0">
                <a:solidFill>
                  <a:srgbClr val="FF0000"/>
                </a:solidFill>
              </a:rPr>
              <a:t>ECG signal processing:</a:t>
            </a:r>
          </a:p>
        </p:txBody>
      </p:sp>
      <p:grpSp>
        <p:nvGrpSpPr>
          <p:cNvPr id="6" name="Group 5"/>
          <p:cNvGrpSpPr/>
          <p:nvPr/>
        </p:nvGrpSpPr>
        <p:grpSpPr>
          <a:xfrm>
            <a:off x="2003011" y="1027332"/>
            <a:ext cx="8229600" cy="1182469"/>
            <a:chOff x="0" y="12903"/>
            <a:chExt cx="8229600" cy="1274130"/>
          </a:xfrm>
        </p:grpSpPr>
        <p:sp>
          <p:nvSpPr>
            <p:cNvPr id="7" name="Rounded Rectangle 6"/>
            <p:cNvSpPr/>
            <p:nvPr/>
          </p:nvSpPr>
          <p:spPr>
            <a:xfrm>
              <a:off x="0" y="12903"/>
              <a:ext cx="8229600" cy="1274130"/>
            </a:xfrm>
            <a:prstGeom prst="round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8" name="Rounded Rectangle 4"/>
            <p:cNvSpPr/>
            <p:nvPr/>
          </p:nvSpPr>
          <p:spPr>
            <a:xfrm>
              <a:off x="282718" y="75101"/>
              <a:ext cx="7884683" cy="89167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defTabSz="1066800">
                <a:lnSpc>
                  <a:spcPct val="90000"/>
                </a:lnSpc>
                <a:spcBef>
                  <a:spcPct val="0"/>
                </a:spcBef>
                <a:spcAft>
                  <a:spcPct val="35000"/>
                </a:spcAft>
              </a:pPr>
              <a:r>
                <a:rPr lang="en-US" sz="2400" dirty="0"/>
                <a:t>-It can be divided into two stages by functionality-preprocessing and feature extraction.</a:t>
              </a:r>
            </a:p>
          </p:txBody>
        </p:sp>
      </p:grpSp>
      <p:grpSp>
        <p:nvGrpSpPr>
          <p:cNvPr id="9" name="Group 8"/>
          <p:cNvGrpSpPr/>
          <p:nvPr/>
        </p:nvGrpSpPr>
        <p:grpSpPr>
          <a:xfrm>
            <a:off x="2034713" y="2209801"/>
            <a:ext cx="8328487" cy="1173069"/>
            <a:chOff x="-13406" y="620202"/>
            <a:chExt cx="8291087" cy="1468121"/>
          </a:xfrm>
        </p:grpSpPr>
        <p:sp>
          <p:nvSpPr>
            <p:cNvPr id="10" name="Rounded Rectangle 9"/>
            <p:cNvSpPr/>
            <p:nvPr/>
          </p:nvSpPr>
          <p:spPr>
            <a:xfrm>
              <a:off x="-13406" y="620202"/>
              <a:ext cx="8229600" cy="1468121"/>
            </a:xfrm>
            <a:prstGeom prst="roundRect">
              <a:avLst/>
            </a:prstGeom>
          </p:spPr>
          <p:style>
            <a:lnRef idx="2">
              <a:schemeClr val="lt1">
                <a:hueOff val="0"/>
                <a:satOff val="0"/>
                <a:lumOff val="0"/>
                <a:alphaOff val="0"/>
              </a:schemeClr>
            </a:lnRef>
            <a:fillRef idx="1">
              <a:schemeClr val="accent2">
                <a:hueOff val="-400071"/>
                <a:satOff val="-79779"/>
                <a:lumOff val="2351"/>
                <a:alphaOff val="0"/>
              </a:schemeClr>
            </a:fillRef>
            <a:effectRef idx="0">
              <a:schemeClr val="accent2">
                <a:hueOff val="-400071"/>
                <a:satOff val="-79779"/>
                <a:lumOff val="2351"/>
                <a:alphaOff val="0"/>
              </a:schemeClr>
            </a:effectRef>
            <a:fontRef idx="minor">
              <a:schemeClr val="lt1"/>
            </a:fontRef>
          </p:style>
        </p:sp>
        <p:sp>
          <p:nvSpPr>
            <p:cNvPr id="11" name="Rounded Rectangle 4"/>
            <p:cNvSpPr/>
            <p:nvPr/>
          </p:nvSpPr>
          <p:spPr>
            <a:xfrm>
              <a:off x="172477" y="779397"/>
              <a:ext cx="8105204" cy="11497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defTabSz="1066800">
                <a:lnSpc>
                  <a:spcPct val="90000"/>
                </a:lnSpc>
                <a:spcBef>
                  <a:spcPct val="0"/>
                </a:spcBef>
                <a:spcAft>
                  <a:spcPct val="35000"/>
                </a:spcAft>
              </a:pPr>
              <a:r>
                <a:rPr lang="en-US" sz="2400" dirty="0"/>
                <a:t>-The preprocessing stage removes or suppresses noise from the raw ECG signal and the feature extraction stage extracts diagnostic information from the ECG signal.</a:t>
              </a:r>
            </a:p>
          </p:txBody>
        </p:sp>
      </p:grpSp>
    </p:spTree>
    <p:extLst>
      <p:ext uri="{BB962C8B-B14F-4D97-AF65-F5344CB8AC3E}">
        <p14:creationId xmlns:p14="http://schemas.microsoft.com/office/powerpoint/2010/main" val="227872199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1">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81000"/>
            <a:ext cx="7848600" cy="5562600"/>
          </a:xfrm>
          <a:prstGeom prst="rect">
            <a:avLst/>
          </a:prstGeom>
          <a:noFill/>
          <a:ln>
            <a:noFill/>
          </a:ln>
        </p:spPr>
      </p:pic>
    </p:spTree>
    <p:extLst>
      <p:ext uri="{BB962C8B-B14F-4D97-AF65-F5344CB8AC3E}">
        <p14:creationId xmlns:p14="http://schemas.microsoft.com/office/powerpoint/2010/main" val="389315688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FF0000"/>
                </a:solidFill>
              </a:rPr>
              <a:t>Removing baseline wandering:</a:t>
            </a:r>
            <a:endParaRPr lang="en-US" dirty="0">
              <a:solidFill>
                <a:srgbClr val="FF0000"/>
              </a:solidFill>
            </a:endParaRPr>
          </a:p>
        </p:txBody>
      </p:sp>
      <p:graphicFrame>
        <p:nvGraphicFramePr>
          <p:cNvPr id="5" name="Content Placeholder 4"/>
          <p:cNvGraphicFramePr>
            <a:graphicFrameLocks noGrp="1"/>
          </p:cNvGraphicFramePr>
          <p:nvPr>
            <p:ph idx="1"/>
            <p:extLst/>
          </p:nvPr>
        </p:nvGraphicFramePr>
        <p:xfrm>
          <a:off x="2438400" y="1524001"/>
          <a:ext cx="7315200" cy="4785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3694450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www.ni.com/cms/images/devzone/tut/image53709.png">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81001"/>
            <a:ext cx="7467600" cy="5714999"/>
          </a:xfrm>
          <a:prstGeom prst="rect">
            <a:avLst/>
          </a:prstGeom>
          <a:noFill/>
          <a:ln>
            <a:noFill/>
          </a:ln>
        </p:spPr>
      </p:pic>
    </p:spTree>
    <p:extLst>
      <p:ext uri="{BB962C8B-B14F-4D97-AF65-F5344CB8AC3E}">
        <p14:creationId xmlns:p14="http://schemas.microsoft.com/office/powerpoint/2010/main" val="410859345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cs typeface="Calibri Light"/>
              </a:rPr>
              <a:t>COMPARATORS AND CONVERTERS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0232700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9ED6E-00E3-4A19-884E-2CF57103C7D4}"/>
              </a:ext>
            </a:extLst>
          </p:cNvPr>
          <p:cNvSpPr>
            <a:spLocks noGrp="1"/>
          </p:cNvSpPr>
          <p:nvPr>
            <p:ph type="title"/>
          </p:nvPr>
        </p:nvSpPr>
        <p:spPr/>
        <p:txBody>
          <a:bodyPr/>
          <a:lstStyle/>
          <a:p>
            <a:pPr algn="ctr"/>
            <a:r>
              <a:rPr lang="en-US" b="1" dirty="0">
                <a:cs typeface="Calibri Light" panose="020F0302020204030204"/>
              </a:rPr>
              <a:t>COMPARATORS</a:t>
            </a:r>
          </a:p>
        </p:txBody>
      </p:sp>
      <p:sp>
        <p:nvSpPr>
          <p:cNvPr id="3" name="Content Placeholder 2">
            <a:extLst>
              <a:ext uri="{FF2B5EF4-FFF2-40B4-BE49-F238E27FC236}">
                <a16:creationId xmlns:a16="http://schemas.microsoft.com/office/drawing/2014/main" id="{67D737E3-E5C9-4728-96C2-0F42AF6E4ADE}"/>
              </a:ext>
            </a:extLst>
          </p:cNvPr>
          <p:cNvSpPr>
            <a:spLocks noGrp="1"/>
          </p:cNvSpPr>
          <p:nvPr>
            <p:ph idx="1"/>
          </p:nvPr>
        </p:nvSpPr>
        <p:spPr/>
        <p:txBody>
          <a:bodyPr vert="horz" lIns="91440" tIns="45720" rIns="91440" bIns="45720" rtlCol="0" anchor="t">
            <a:normAutofit/>
          </a:bodyPr>
          <a:lstStyle/>
          <a:p>
            <a:pPr algn="just"/>
            <a:r>
              <a:rPr lang="en-US" dirty="0">
                <a:cs typeface="Calibri"/>
              </a:rPr>
              <a:t>Comparator, as its name implies, compares two signals voltages, from which one is the signal of interest and the other one is called reference voltage.</a:t>
            </a:r>
            <a:endParaRPr lang="en-US" dirty="0"/>
          </a:p>
          <a:p>
            <a:pPr algn="just"/>
            <a:endParaRPr lang="en-US" dirty="0">
              <a:cs typeface="Calibri"/>
            </a:endParaRPr>
          </a:p>
          <a:p>
            <a:pPr algn="just"/>
            <a:r>
              <a:rPr lang="en-US" dirty="0">
                <a:cs typeface="Calibri"/>
              </a:rPr>
              <a:t>It is an open loop op-amp, with two inputs.</a:t>
            </a:r>
          </a:p>
          <a:p>
            <a:pPr algn="just"/>
            <a:endParaRPr lang="en-US" dirty="0">
              <a:cs typeface="Calibri"/>
            </a:endParaRPr>
          </a:p>
          <a:p>
            <a:pPr algn="just"/>
            <a:r>
              <a:rPr lang="en-US" dirty="0">
                <a:cs typeface="Calibri"/>
              </a:rPr>
              <a:t>As the circuit is open-loop, the output always remains in saturation. But the polarity of saturation is decided by the difference of two inputs.</a:t>
            </a:r>
          </a:p>
          <a:p>
            <a:pPr algn="just"/>
            <a:endParaRPr lang="en-US" dirty="0">
              <a:cs typeface="Calibri"/>
            </a:endParaRPr>
          </a:p>
        </p:txBody>
      </p:sp>
    </p:spTree>
    <p:extLst>
      <p:ext uri="{BB962C8B-B14F-4D97-AF65-F5344CB8AC3E}">
        <p14:creationId xmlns:p14="http://schemas.microsoft.com/office/powerpoint/2010/main" val="267156442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CE78-C792-470D-9EBA-314789E42A99}"/>
              </a:ext>
            </a:extLst>
          </p:cNvPr>
          <p:cNvSpPr>
            <a:spLocks noGrp="1"/>
          </p:cNvSpPr>
          <p:nvPr>
            <p:ph type="title"/>
          </p:nvPr>
        </p:nvSpPr>
        <p:spPr/>
        <p:txBody>
          <a:bodyPr/>
          <a:lstStyle/>
          <a:p>
            <a:pPr algn="ctr"/>
            <a:r>
              <a:rPr lang="en-US" b="1" dirty="0">
                <a:cs typeface="Calibri Light"/>
              </a:rPr>
              <a:t>BASIC COMPARATOR</a:t>
            </a:r>
          </a:p>
        </p:txBody>
      </p:sp>
      <p:pic>
        <p:nvPicPr>
          <p:cNvPr id="4" name="Picture 4" descr="Diagram, schematic&#10;&#10;Description automatically generated">
            <a:extLst>
              <a:ext uri="{FF2B5EF4-FFF2-40B4-BE49-F238E27FC236}">
                <a16:creationId xmlns:a16="http://schemas.microsoft.com/office/drawing/2014/main" id="{77BFAD55-7C1F-4B15-BCA9-B1110A90B4DE}"/>
              </a:ext>
            </a:extLst>
          </p:cNvPr>
          <p:cNvPicPr>
            <a:picLocks noGrp="1" noChangeAspect="1"/>
          </p:cNvPicPr>
          <p:nvPr>
            <p:ph idx="1"/>
          </p:nvPr>
        </p:nvPicPr>
        <p:blipFill>
          <a:blip r:embed="rId2"/>
          <a:stretch>
            <a:fillRect/>
          </a:stretch>
        </p:blipFill>
        <p:spPr>
          <a:xfrm>
            <a:off x="838200" y="1536230"/>
            <a:ext cx="10515600" cy="4758063"/>
          </a:xfrm>
        </p:spPr>
      </p:pic>
    </p:spTree>
    <p:extLst>
      <p:ext uri="{BB962C8B-B14F-4D97-AF65-F5344CB8AC3E}">
        <p14:creationId xmlns:p14="http://schemas.microsoft.com/office/powerpoint/2010/main" val="18008209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477DD-65BE-4AFF-8474-B6AFDC694285}"/>
              </a:ext>
            </a:extLst>
          </p:cNvPr>
          <p:cNvSpPr>
            <a:spLocks noGrp="1"/>
          </p:cNvSpPr>
          <p:nvPr>
            <p:ph type="title"/>
          </p:nvPr>
        </p:nvSpPr>
        <p:spPr/>
        <p:txBody>
          <a:bodyPr/>
          <a:lstStyle/>
          <a:p>
            <a:pPr algn="ctr"/>
            <a:r>
              <a:rPr lang="en-US" dirty="0">
                <a:cs typeface="Calibri Light" panose="020F0302020204030204"/>
              </a:rPr>
              <a:t>SUCCESSIVE APPROXIMATION ADC</a:t>
            </a:r>
          </a:p>
        </p:txBody>
      </p:sp>
      <p:pic>
        <p:nvPicPr>
          <p:cNvPr id="4" name="Picture 4" descr="Diagram, schematic&#10;&#10;Description automatically generated">
            <a:extLst>
              <a:ext uri="{FF2B5EF4-FFF2-40B4-BE49-F238E27FC236}">
                <a16:creationId xmlns:a16="http://schemas.microsoft.com/office/drawing/2014/main" id="{C9C38BE1-6590-4686-A30D-3CFF82DD0DAB}"/>
              </a:ext>
            </a:extLst>
          </p:cNvPr>
          <p:cNvPicPr>
            <a:picLocks noGrp="1" noChangeAspect="1"/>
          </p:cNvPicPr>
          <p:nvPr>
            <p:ph idx="1"/>
          </p:nvPr>
        </p:nvPicPr>
        <p:blipFill>
          <a:blip r:embed="rId2"/>
          <a:stretch>
            <a:fillRect/>
          </a:stretch>
        </p:blipFill>
        <p:spPr>
          <a:xfrm>
            <a:off x="3041313" y="1825625"/>
            <a:ext cx="6109374" cy="4351338"/>
          </a:xfrm>
        </p:spPr>
      </p:pic>
    </p:spTree>
    <p:extLst>
      <p:ext uri="{BB962C8B-B14F-4D97-AF65-F5344CB8AC3E}">
        <p14:creationId xmlns:p14="http://schemas.microsoft.com/office/powerpoint/2010/main" val="408287711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E0967-7B5A-4858-B594-1A83E382214F}"/>
              </a:ext>
            </a:extLst>
          </p:cNvPr>
          <p:cNvSpPr>
            <a:spLocks noGrp="1"/>
          </p:cNvSpPr>
          <p:nvPr>
            <p:ph type="title"/>
          </p:nvPr>
        </p:nvSpPr>
        <p:spPr/>
        <p:txBody>
          <a:bodyPr/>
          <a:lstStyle/>
          <a:p>
            <a:pPr algn="ctr"/>
            <a:r>
              <a:rPr lang="en-US" dirty="0">
                <a:cs typeface="Calibri Light" panose="020F0302020204030204"/>
              </a:rPr>
              <a:t>ADC</a:t>
            </a:r>
          </a:p>
        </p:txBody>
      </p:sp>
      <p:sp>
        <p:nvSpPr>
          <p:cNvPr id="3" name="Content Placeholder 2">
            <a:extLst>
              <a:ext uri="{FF2B5EF4-FFF2-40B4-BE49-F238E27FC236}">
                <a16:creationId xmlns:a16="http://schemas.microsoft.com/office/drawing/2014/main" id="{4553E88E-6B81-4527-B893-638D7A5E6C40}"/>
              </a:ext>
            </a:extLst>
          </p:cNvPr>
          <p:cNvSpPr>
            <a:spLocks noGrp="1"/>
          </p:cNvSpPr>
          <p:nvPr>
            <p:ph idx="1"/>
          </p:nvPr>
        </p:nvSpPr>
        <p:spPr/>
        <p:txBody>
          <a:bodyPr vert="horz" lIns="91440" tIns="45720" rIns="91440" bIns="45720" rtlCol="0" anchor="t">
            <a:normAutofit/>
          </a:bodyPr>
          <a:lstStyle/>
          <a:p>
            <a:pPr algn="just"/>
            <a:r>
              <a:rPr lang="en-US" dirty="0">
                <a:ea typeface="+mn-lt"/>
                <a:cs typeface="+mn-lt"/>
              </a:rPr>
              <a:t>The main part of the circuit is the 8-bit SAR, whose output is given to an 8-bit D/A converter. </a:t>
            </a:r>
          </a:p>
          <a:p>
            <a:pPr algn="just"/>
            <a:r>
              <a:rPr lang="en-US" dirty="0">
                <a:ea typeface="+mn-lt"/>
                <a:cs typeface="+mn-lt"/>
              </a:rPr>
              <a:t>The analog output </a:t>
            </a:r>
            <a:r>
              <a:rPr lang="en-US" dirty="0" err="1">
                <a:ea typeface="+mn-lt"/>
                <a:cs typeface="+mn-lt"/>
              </a:rPr>
              <a:t>V</a:t>
            </a:r>
            <a:r>
              <a:rPr lang="en-US" b="1" baseline="-25000" dirty="0" err="1">
                <a:ea typeface="+mn-lt"/>
                <a:cs typeface="+mn-lt"/>
              </a:rPr>
              <a:t>a</a:t>
            </a:r>
            <a:r>
              <a:rPr lang="en-US" b="1" baseline="-25000" dirty="0">
                <a:ea typeface="+mn-lt"/>
                <a:cs typeface="+mn-lt"/>
              </a:rPr>
              <a:t> </a:t>
            </a:r>
            <a:r>
              <a:rPr lang="en-US" dirty="0">
                <a:ea typeface="+mn-lt"/>
                <a:cs typeface="+mn-lt"/>
              </a:rPr>
              <a:t>of the D/A converter is then compared to an analog signal V</a:t>
            </a:r>
            <a:r>
              <a:rPr lang="en-US" b="1" baseline="-25000" dirty="0">
                <a:ea typeface="+mn-lt"/>
                <a:cs typeface="+mn-lt"/>
              </a:rPr>
              <a:t>in </a:t>
            </a:r>
            <a:r>
              <a:rPr lang="en-US" dirty="0">
                <a:ea typeface="+mn-lt"/>
                <a:cs typeface="+mn-lt"/>
              </a:rPr>
              <a:t>by the comparator. The output of the comparator is a serial data input to the SAR. Till the digital output (8 bits) of the SAR is equivalent to the analog input V</a:t>
            </a:r>
            <a:r>
              <a:rPr lang="en-US" b="1" baseline="-25000" dirty="0">
                <a:ea typeface="+mn-lt"/>
                <a:cs typeface="+mn-lt"/>
              </a:rPr>
              <a:t>in, </a:t>
            </a:r>
            <a:r>
              <a:rPr lang="en-US" dirty="0">
                <a:ea typeface="+mn-lt"/>
                <a:cs typeface="+mn-lt"/>
              </a:rPr>
              <a:t>the SAR adjusts itself. </a:t>
            </a:r>
          </a:p>
          <a:p>
            <a:pPr algn="just"/>
            <a:r>
              <a:rPr lang="en-US" dirty="0">
                <a:ea typeface="+mn-lt"/>
                <a:cs typeface="+mn-lt"/>
              </a:rPr>
              <a:t>The 8-bit latch at the end of conversation holds onto the resultant digital data output.</a:t>
            </a:r>
            <a:endParaRPr lang="en-US">
              <a:cs typeface="Calibri"/>
            </a:endParaRPr>
          </a:p>
        </p:txBody>
      </p:sp>
    </p:spTree>
    <p:extLst>
      <p:ext uri="{BB962C8B-B14F-4D97-AF65-F5344CB8AC3E}">
        <p14:creationId xmlns:p14="http://schemas.microsoft.com/office/powerpoint/2010/main" val="1595551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52C701-1DB8-49AF-B25C-358B8E1F9C00}"/>
              </a:ext>
            </a:extLst>
          </p:cNvPr>
          <p:cNvSpPr>
            <a:spLocks noGrp="1"/>
          </p:cNvSpPr>
          <p:nvPr>
            <p:ph idx="1"/>
          </p:nvPr>
        </p:nvSpPr>
        <p:spPr>
          <a:xfrm>
            <a:off x="838200" y="255444"/>
            <a:ext cx="10515600" cy="5921519"/>
          </a:xfrm>
        </p:spPr>
        <p:txBody>
          <a:bodyPr vert="horz" lIns="91440" tIns="45720" rIns="91440" bIns="45720" rtlCol="0" anchor="t">
            <a:normAutofit fontScale="92500" lnSpcReduction="10000"/>
          </a:bodyPr>
          <a:lstStyle/>
          <a:p>
            <a:pPr algn="just"/>
            <a:r>
              <a:rPr lang="en-US" dirty="0">
                <a:ea typeface="+mn-lt"/>
                <a:cs typeface="+mn-lt"/>
              </a:rPr>
              <a:t>At the start of a conversion cycle, the SAR is reset by making the start signal (S) high. The MSB of the SAR (Q7) is set as soon as the first transition from LOW to HIGH is introduced. The output is given to the D/A converter which produces an analog equivalent of the MSB and is compared with the analog input V</a:t>
            </a:r>
            <a:r>
              <a:rPr lang="en-US" baseline="-25000" dirty="0">
                <a:ea typeface="+mn-lt"/>
                <a:cs typeface="+mn-lt"/>
              </a:rPr>
              <a:t>in</a:t>
            </a:r>
            <a:r>
              <a:rPr lang="en-US" dirty="0">
                <a:ea typeface="+mn-lt"/>
                <a:cs typeface="+mn-lt"/>
              </a:rPr>
              <a:t>.</a:t>
            </a:r>
          </a:p>
          <a:p>
            <a:pPr algn="just"/>
            <a:r>
              <a:rPr lang="en-US" dirty="0">
                <a:ea typeface="+mn-lt"/>
                <a:cs typeface="+mn-lt"/>
              </a:rPr>
              <a:t>If comparator output is LOW, D/A output will be greater than V</a:t>
            </a:r>
            <a:r>
              <a:rPr lang="en-US" baseline="-25000" dirty="0">
                <a:ea typeface="+mn-lt"/>
                <a:cs typeface="+mn-lt"/>
              </a:rPr>
              <a:t>in </a:t>
            </a:r>
            <a:r>
              <a:rPr lang="en-US" dirty="0">
                <a:ea typeface="+mn-lt"/>
                <a:cs typeface="+mn-lt"/>
              </a:rPr>
              <a:t>and the MSB will be cleared by the SAR.</a:t>
            </a:r>
            <a:br>
              <a:rPr lang="en-US" dirty="0">
                <a:ea typeface="+mn-lt"/>
                <a:cs typeface="+mn-lt"/>
              </a:rPr>
            </a:br>
            <a:r>
              <a:rPr lang="en-US" dirty="0">
                <a:ea typeface="+mn-lt"/>
                <a:cs typeface="+mn-lt"/>
              </a:rPr>
              <a:t>If comparator output is HIGH, D/A output will be less than V</a:t>
            </a:r>
            <a:r>
              <a:rPr lang="en-US" baseline="-25000" dirty="0">
                <a:ea typeface="+mn-lt"/>
                <a:cs typeface="+mn-lt"/>
              </a:rPr>
              <a:t>in </a:t>
            </a:r>
            <a:r>
              <a:rPr lang="en-US" dirty="0">
                <a:ea typeface="+mn-lt"/>
                <a:cs typeface="+mn-lt"/>
              </a:rPr>
              <a:t>and the MSB will be set to the next position (Q7 to Q6) by the SAR.</a:t>
            </a:r>
            <a:endParaRPr lang="en-US" dirty="0">
              <a:cs typeface="Calibri" panose="020F0502020204030204"/>
            </a:endParaRPr>
          </a:p>
          <a:p>
            <a:pPr algn="just"/>
            <a:r>
              <a:rPr lang="en-US" dirty="0">
                <a:ea typeface="+mn-lt"/>
                <a:cs typeface="+mn-lt"/>
              </a:rPr>
              <a:t>According to the comparator output, the SAR will either keep or reset the Q6 bit. This process goes on until all the bits are tried. After Q0 is tried, the SAR makes the conversion complete (CC) signal HIGH to show that the parallel output lines contain valid data. The CC signal in turn enables the latch, and digital data appear at the output of the latch. As the SAR determines each bit,  digital data is also available serially. As shown in the figure above, the CC signal is connected to the start conversion input in order to convert the cycle continuously.</a:t>
            </a:r>
            <a:endParaRPr lang="en-US" dirty="0"/>
          </a:p>
          <a:p>
            <a:pPr algn="just"/>
            <a:endParaRPr lang="en-US" dirty="0">
              <a:cs typeface="Calibri" panose="020F0502020204030204"/>
            </a:endParaRPr>
          </a:p>
        </p:txBody>
      </p:sp>
    </p:spTree>
    <p:extLst>
      <p:ext uri="{BB962C8B-B14F-4D97-AF65-F5344CB8AC3E}">
        <p14:creationId xmlns:p14="http://schemas.microsoft.com/office/powerpoint/2010/main" val="19212107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1986D-ABE6-452B-A6B4-E3EFC8732D0E}"/>
              </a:ext>
            </a:extLst>
          </p:cNvPr>
          <p:cNvSpPr>
            <a:spLocks noGrp="1"/>
          </p:cNvSpPr>
          <p:nvPr>
            <p:ph type="title"/>
          </p:nvPr>
        </p:nvSpPr>
        <p:spPr/>
        <p:txBody>
          <a:bodyPr/>
          <a:lstStyle/>
          <a:p>
            <a:pPr algn="ctr"/>
            <a:r>
              <a:rPr lang="en-US" dirty="0">
                <a:cs typeface="Calibri Light"/>
              </a:rPr>
              <a:t>ECG signal</a:t>
            </a:r>
          </a:p>
        </p:txBody>
      </p:sp>
      <p:sp>
        <p:nvSpPr>
          <p:cNvPr id="3" name="Content Placeholder 2">
            <a:extLst>
              <a:ext uri="{FF2B5EF4-FFF2-40B4-BE49-F238E27FC236}">
                <a16:creationId xmlns:a16="http://schemas.microsoft.com/office/drawing/2014/main" id="{DA46D5BB-211B-424E-BE53-51488251FB21}"/>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Properties of the electric signals on the skin:</a:t>
            </a:r>
          </a:p>
          <a:p>
            <a:pPr marL="0" indent="0">
              <a:buNone/>
            </a:pPr>
            <a:endParaRPr lang="en-US" dirty="0">
              <a:ea typeface="+mn-lt"/>
              <a:cs typeface="+mn-lt"/>
            </a:endParaRPr>
          </a:p>
          <a:p>
            <a:pPr lvl="1"/>
            <a:r>
              <a:rPr lang="en-US" dirty="0">
                <a:ea typeface="+mn-lt"/>
                <a:cs typeface="+mn-lt"/>
              </a:rPr>
              <a:t>AC signal with bandwidth of 0.05 to </a:t>
            </a:r>
            <a:r>
              <a:rPr lang="en-US" dirty="0" err="1">
                <a:ea typeface="+mn-lt"/>
                <a:cs typeface="+mn-lt"/>
              </a:rPr>
              <a:t>to</a:t>
            </a:r>
            <a:r>
              <a:rPr lang="en-US" dirty="0">
                <a:ea typeface="+mn-lt"/>
                <a:cs typeface="+mn-lt"/>
              </a:rPr>
              <a:t> 100 Hz, sometimes up to 1 kHz</a:t>
            </a:r>
          </a:p>
          <a:p>
            <a:pPr lvl="1"/>
            <a:endParaRPr lang="en-US" dirty="0">
              <a:ea typeface="+mn-lt"/>
              <a:cs typeface="+mn-lt"/>
            </a:endParaRPr>
          </a:p>
          <a:p>
            <a:pPr lvl="1"/>
            <a:r>
              <a:rPr lang="en-US" dirty="0">
                <a:ea typeface="+mn-lt"/>
                <a:cs typeface="+mn-lt"/>
              </a:rPr>
              <a:t>About 1 mV peak-to-peak amplitude</a:t>
            </a:r>
          </a:p>
          <a:p>
            <a:pPr lvl="1"/>
            <a:endParaRPr lang="en-US" dirty="0">
              <a:ea typeface="+mn-lt"/>
              <a:cs typeface="+mn-lt"/>
            </a:endParaRPr>
          </a:p>
          <a:p>
            <a:pPr lvl="1"/>
            <a:r>
              <a:rPr lang="en-US" dirty="0">
                <a:ea typeface="+mn-lt"/>
                <a:cs typeface="+mn-lt"/>
              </a:rPr>
              <a:t>External noise at higher frequencies</a:t>
            </a:r>
          </a:p>
          <a:p>
            <a:pPr lvl="1"/>
            <a:endParaRPr lang="en-US" dirty="0">
              <a:ea typeface="+mn-lt"/>
              <a:cs typeface="+mn-lt"/>
            </a:endParaRPr>
          </a:p>
          <a:p>
            <a:pPr lvl="1"/>
            <a:r>
              <a:rPr lang="en-US" dirty="0">
                <a:ea typeface="+mn-lt"/>
                <a:cs typeface="+mn-lt"/>
              </a:rPr>
              <a:t>50/60 Hz interference</a:t>
            </a:r>
          </a:p>
          <a:p>
            <a:pPr lvl="1"/>
            <a:endParaRPr lang="en-US" dirty="0">
              <a:ea typeface="+mn-lt"/>
              <a:cs typeface="+mn-lt"/>
            </a:endParaRPr>
          </a:p>
          <a:p>
            <a:pPr lvl="1"/>
            <a:r>
              <a:rPr lang="en-US" dirty="0">
                <a:ea typeface="+mn-lt"/>
                <a:cs typeface="+mn-lt"/>
              </a:rPr>
              <a:t>Common-mode voltages (common to all electrodes)</a:t>
            </a:r>
          </a:p>
        </p:txBody>
      </p:sp>
    </p:spTree>
    <p:extLst>
      <p:ext uri="{BB962C8B-B14F-4D97-AF65-F5344CB8AC3E}">
        <p14:creationId xmlns:p14="http://schemas.microsoft.com/office/powerpoint/2010/main" val="74836418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741DE-F19E-4EB9-B68C-901E3A646C80}"/>
              </a:ext>
            </a:extLst>
          </p:cNvPr>
          <p:cNvSpPr>
            <a:spLocks noGrp="1"/>
          </p:cNvSpPr>
          <p:nvPr>
            <p:ph type="title"/>
          </p:nvPr>
        </p:nvSpPr>
        <p:spPr/>
        <p:txBody>
          <a:bodyPr/>
          <a:lstStyle/>
          <a:p>
            <a:pPr algn="ctr"/>
            <a:r>
              <a:rPr lang="en-US" b="1" dirty="0">
                <a:ea typeface="+mj-lt"/>
                <a:cs typeface="+mj-lt"/>
              </a:rPr>
              <a:t>ECG SIGNAL</a:t>
            </a:r>
          </a:p>
        </p:txBody>
      </p:sp>
      <p:sp>
        <p:nvSpPr>
          <p:cNvPr id="3" name="Content Placeholder 2">
            <a:extLst>
              <a:ext uri="{FF2B5EF4-FFF2-40B4-BE49-F238E27FC236}">
                <a16:creationId xmlns:a16="http://schemas.microsoft.com/office/drawing/2014/main" id="{05A7931F-0DDE-4116-B3B5-3C1D732D3944}"/>
              </a:ext>
            </a:extLst>
          </p:cNvPr>
          <p:cNvSpPr>
            <a:spLocks noGrp="1"/>
          </p:cNvSpPr>
          <p:nvPr>
            <p:ph idx="1"/>
          </p:nvPr>
        </p:nvSpPr>
        <p:spPr>
          <a:xfrm>
            <a:off x="838200" y="1430514"/>
            <a:ext cx="10515600" cy="5056893"/>
          </a:xfrm>
        </p:spPr>
        <p:txBody>
          <a:bodyPr vert="horz" lIns="91440" tIns="45720" rIns="91440" bIns="45720" rtlCol="0" anchor="t">
            <a:normAutofit lnSpcReduction="10000"/>
          </a:bodyPr>
          <a:lstStyle/>
          <a:p>
            <a:r>
              <a:rPr lang="en-US" sz="3200" dirty="0">
                <a:ea typeface="+mn-lt"/>
                <a:cs typeface="+mn-lt"/>
              </a:rPr>
              <a:t>The common-mode voltage is comprised of two parts:</a:t>
            </a:r>
          </a:p>
          <a:p>
            <a:pPr lvl="1"/>
            <a:r>
              <a:rPr lang="en-US" sz="2800" dirty="0">
                <a:ea typeface="+mn-lt"/>
                <a:cs typeface="+mn-lt"/>
              </a:rPr>
              <a:t>1) 50- or 60-Hz interferences</a:t>
            </a:r>
          </a:p>
          <a:p>
            <a:pPr lvl="1"/>
            <a:r>
              <a:rPr lang="en-US" sz="2800" dirty="0">
                <a:ea typeface="+mn-lt"/>
                <a:cs typeface="+mn-lt"/>
              </a:rPr>
              <a:t>2) DC electrode offset potential</a:t>
            </a:r>
          </a:p>
          <a:p>
            <a:pPr lvl="1"/>
            <a:endParaRPr lang="en-US" sz="2800" dirty="0">
              <a:ea typeface="+mn-lt"/>
              <a:cs typeface="+mn-lt"/>
            </a:endParaRPr>
          </a:p>
          <a:p>
            <a:r>
              <a:rPr lang="en-US" sz="3200" dirty="0">
                <a:ea typeface="+mn-lt"/>
                <a:cs typeface="+mn-lt"/>
              </a:rPr>
              <a:t>Other noise or higher frequencies within the biophysical bandwidth come from:</a:t>
            </a:r>
            <a:endParaRPr lang="en-US"/>
          </a:p>
          <a:p>
            <a:pPr lvl="1"/>
            <a:r>
              <a:rPr lang="en-US" sz="2800" dirty="0">
                <a:ea typeface="+mn-lt"/>
                <a:cs typeface="+mn-lt"/>
              </a:rPr>
              <a:t>Movement artifacts that change the skin-electrode interface</a:t>
            </a:r>
            <a:endParaRPr lang="en-US" sz="2800">
              <a:cs typeface="Calibri" panose="020F0502020204030204"/>
            </a:endParaRPr>
          </a:p>
          <a:p>
            <a:pPr lvl="1"/>
            <a:r>
              <a:rPr lang="en-US" sz="2800" dirty="0">
                <a:ea typeface="+mn-lt"/>
                <a:cs typeface="+mn-lt"/>
              </a:rPr>
              <a:t>Muscle contraction or electromyographic spikes</a:t>
            </a:r>
            <a:endParaRPr lang="en-US" sz="2800" dirty="0">
              <a:cs typeface="Calibri"/>
            </a:endParaRPr>
          </a:p>
          <a:p>
            <a:pPr lvl="1"/>
            <a:r>
              <a:rPr lang="en-US" sz="2800" dirty="0">
                <a:ea typeface="+mn-lt"/>
                <a:cs typeface="+mn-lt"/>
              </a:rPr>
              <a:t>Respiration</a:t>
            </a:r>
            <a:endParaRPr lang="en-US" sz="2800" dirty="0">
              <a:cs typeface="Calibri"/>
            </a:endParaRPr>
          </a:p>
          <a:p>
            <a:pPr lvl="1"/>
            <a:r>
              <a:rPr lang="en-US" sz="2800" dirty="0">
                <a:ea typeface="+mn-lt"/>
                <a:cs typeface="+mn-lt"/>
              </a:rPr>
              <a:t>Electromagnetic interferences</a:t>
            </a:r>
            <a:endParaRPr lang="en-US" sz="2800" dirty="0">
              <a:cs typeface="Calibri"/>
            </a:endParaRPr>
          </a:p>
          <a:p>
            <a:pPr lvl="1"/>
            <a:r>
              <a:rPr lang="en-US" sz="2800" dirty="0">
                <a:ea typeface="+mn-lt"/>
                <a:cs typeface="+mn-lt"/>
              </a:rPr>
              <a:t>Noise from other electronic devices that couple into the input</a:t>
            </a:r>
            <a:endParaRPr lang="en-US" sz="2800" dirty="0">
              <a:cs typeface="Calibri"/>
            </a:endParaRPr>
          </a:p>
        </p:txBody>
      </p:sp>
    </p:spTree>
    <p:extLst>
      <p:ext uri="{BB962C8B-B14F-4D97-AF65-F5344CB8AC3E}">
        <p14:creationId xmlns:p14="http://schemas.microsoft.com/office/powerpoint/2010/main" val="219335542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B5B6C-3A01-4061-957E-B8C766185919}"/>
              </a:ext>
            </a:extLst>
          </p:cNvPr>
          <p:cNvSpPr>
            <a:spLocks noGrp="1"/>
          </p:cNvSpPr>
          <p:nvPr>
            <p:ph type="title"/>
          </p:nvPr>
        </p:nvSpPr>
        <p:spPr>
          <a:xfrm>
            <a:off x="838200" y="-114653"/>
            <a:ext cx="10515600" cy="1015119"/>
          </a:xfrm>
        </p:spPr>
        <p:txBody>
          <a:bodyPr/>
          <a:lstStyle/>
          <a:p>
            <a:pPr algn="ctr"/>
            <a:r>
              <a:rPr lang="en-US" b="1" dirty="0">
                <a:cs typeface="Calibri Light"/>
              </a:rPr>
              <a:t>ECG amplifier</a:t>
            </a:r>
          </a:p>
        </p:txBody>
      </p:sp>
      <p:sp>
        <p:nvSpPr>
          <p:cNvPr id="3" name="Content Placeholder 2">
            <a:extLst>
              <a:ext uri="{FF2B5EF4-FFF2-40B4-BE49-F238E27FC236}">
                <a16:creationId xmlns:a16="http://schemas.microsoft.com/office/drawing/2014/main" id="{B5777225-D1F2-4CC6-87A2-530D2D39E468}"/>
              </a:ext>
            </a:extLst>
          </p:cNvPr>
          <p:cNvSpPr>
            <a:spLocks noGrp="1"/>
          </p:cNvSpPr>
          <p:nvPr>
            <p:ph idx="1"/>
          </p:nvPr>
        </p:nvSpPr>
        <p:spPr>
          <a:xfrm>
            <a:off x="838200" y="809626"/>
            <a:ext cx="10515600" cy="6044670"/>
          </a:xfrm>
        </p:spPr>
        <p:txBody>
          <a:bodyPr vert="horz" lIns="91440" tIns="45720" rIns="91440" bIns="45720" rtlCol="0" anchor="t">
            <a:normAutofit fontScale="92500" lnSpcReduction="10000"/>
          </a:bodyPr>
          <a:lstStyle/>
          <a:p>
            <a:pPr algn="just"/>
            <a:r>
              <a:rPr lang="en-US" dirty="0">
                <a:cs typeface="Calibri"/>
              </a:rPr>
              <a:t>The technic usually employed to amplify bioelectric signals is the use of a differential amplifier.</a:t>
            </a:r>
            <a:endParaRPr lang="en-US" dirty="0"/>
          </a:p>
          <a:p>
            <a:pPr algn="just"/>
            <a:r>
              <a:rPr lang="en-US" dirty="0">
                <a:cs typeface="Calibri"/>
              </a:rPr>
              <a:t>A differential amplifier is an amplifier which amplifies difference between two inputs. </a:t>
            </a:r>
          </a:p>
          <a:p>
            <a:pPr algn="just"/>
            <a:r>
              <a:rPr lang="en-US" dirty="0">
                <a:cs typeface="Calibri"/>
              </a:rPr>
              <a:t>Common mode gain of these amplifiers are nearly zero which makes them less susceptible to noise. (due to high CMRR)</a:t>
            </a:r>
          </a:p>
          <a:p>
            <a:pPr algn="just"/>
            <a:r>
              <a:rPr lang="en-US" dirty="0">
                <a:cs typeface="Calibri"/>
              </a:rPr>
              <a:t>High CMRR of op-amp amplifiers, rejects following two common mode signals:</a:t>
            </a:r>
          </a:p>
          <a:p>
            <a:pPr algn="just"/>
            <a:endParaRPr lang="en-US" dirty="0">
              <a:cs typeface="Calibri"/>
            </a:endParaRPr>
          </a:p>
          <a:p>
            <a:pPr lvl="1" algn="just"/>
            <a:r>
              <a:rPr lang="en-US" dirty="0">
                <a:cs typeface="Calibri"/>
              </a:rPr>
              <a:t>50 Hz mains interference</a:t>
            </a:r>
          </a:p>
          <a:p>
            <a:pPr lvl="1" algn="just"/>
            <a:r>
              <a:rPr lang="en-US" dirty="0">
                <a:cs typeface="Calibri"/>
              </a:rPr>
              <a:t>DC electrode offset potential</a:t>
            </a:r>
          </a:p>
          <a:p>
            <a:pPr algn="just"/>
            <a:r>
              <a:rPr lang="en-US" dirty="0">
                <a:ea typeface="+mn-lt"/>
                <a:cs typeface="+mn-lt"/>
              </a:rPr>
              <a:t>Some noise can be cancelled with a high-input-impedance instrumentation amplifier (INA)</a:t>
            </a:r>
            <a:endParaRPr lang="en-US">
              <a:cs typeface="Calibri"/>
            </a:endParaRPr>
          </a:p>
          <a:p>
            <a:pPr algn="just"/>
            <a:endParaRPr lang="en-US" dirty="0">
              <a:ea typeface="+mn-lt"/>
              <a:cs typeface="+mn-lt"/>
            </a:endParaRPr>
          </a:p>
          <a:p>
            <a:pPr lvl="1" algn="just"/>
            <a:r>
              <a:rPr lang="en-US" dirty="0">
                <a:ea typeface="+mn-lt"/>
                <a:cs typeface="+mn-lt"/>
              </a:rPr>
              <a:t>→ removes the AC line noise common to both inputs</a:t>
            </a:r>
            <a:endParaRPr lang="en-US">
              <a:cs typeface="Calibri"/>
            </a:endParaRPr>
          </a:p>
          <a:p>
            <a:pPr lvl="1" algn="just"/>
            <a:r>
              <a:rPr lang="en-US" dirty="0">
                <a:ea typeface="+mn-lt"/>
                <a:cs typeface="+mn-lt"/>
              </a:rPr>
              <a:t>→ amplifies the remaining unequal signals present on the inputs</a:t>
            </a:r>
            <a:endParaRPr lang="en-US">
              <a:cs typeface="Calibri"/>
            </a:endParaRPr>
          </a:p>
          <a:p>
            <a:pPr lvl="1" algn="just"/>
            <a:endParaRPr lang="en-US" dirty="0">
              <a:cs typeface="Calibri"/>
            </a:endParaRPr>
          </a:p>
          <a:p>
            <a:pPr algn="just"/>
            <a:endParaRPr lang="en-US" dirty="0">
              <a:cs typeface="Calibri"/>
            </a:endParaRPr>
          </a:p>
          <a:p>
            <a:pPr algn="just"/>
            <a:endParaRPr lang="en-US" dirty="0">
              <a:cs typeface="Calibri"/>
            </a:endParaRPr>
          </a:p>
        </p:txBody>
      </p:sp>
    </p:spTree>
    <p:extLst>
      <p:ext uri="{BB962C8B-B14F-4D97-AF65-F5344CB8AC3E}">
        <p14:creationId xmlns:p14="http://schemas.microsoft.com/office/powerpoint/2010/main" val="351932107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34E0E-AC87-4533-803A-D4D7F4D528D7}"/>
              </a:ext>
            </a:extLst>
          </p:cNvPr>
          <p:cNvSpPr>
            <a:spLocks noGrp="1"/>
          </p:cNvSpPr>
          <p:nvPr>
            <p:ph type="title"/>
          </p:nvPr>
        </p:nvSpPr>
        <p:spPr>
          <a:xfrm>
            <a:off x="1247422" y="125236"/>
            <a:ext cx="10515600" cy="1325563"/>
          </a:xfrm>
        </p:spPr>
        <p:txBody>
          <a:bodyPr/>
          <a:lstStyle/>
          <a:p>
            <a:endParaRPr lang="en-US"/>
          </a:p>
        </p:txBody>
      </p:sp>
      <p:pic>
        <p:nvPicPr>
          <p:cNvPr id="9" name="Picture 9" descr="Diagram, schematic&#10;&#10;Description automatically generated">
            <a:extLst>
              <a:ext uri="{FF2B5EF4-FFF2-40B4-BE49-F238E27FC236}">
                <a16:creationId xmlns:a16="http://schemas.microsoft.com/office/drawing/2014/main" id="{DFE68634-75C3-4AC3-B69F-FBBBC44F8563}"/>
              </a:ext>
            </a:extLst>
          </p:cNvPr>
          <p:cNvPicPr>
            <a:picLocks noGrp="1" noChangeAspect="1"/>
          </p:cNvPicPr>
          <p:nvPr>
            <p:ph idx="1"/>
          </p:nvPr>
        </p:nvPicPr>
        <p:blipFill>
          <a:blip r:embed="rId2"/>
          <a:stretch>
            <a:fillRect/>
          </a:stretch>
        </p:blipFill>
        <p:spPr>
          <a:xfrm>
            <a:off x="204435" y="345282"/>
            <a:ext cx="11261018" cy="6493579"/>
          </a:xfrm>
        </p:spPr>
      </p:pic>
    </p:spTree>
    <p:extLst>
      <p:ext uri="{BB962C8B-B14F-4D97-AF65-F5344CB8AC3E}">
        <p14:creationId xmlns:p14="http://schemas.microsoft.com/office/powerpoint/2010/main" val="224183798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011F1-2EED-4156-9568-8A2F937311A4}"/>
              </a:ext>
            </a:extLst>
          </p:cNvPr>
          <p:cNvSpPr>
            <a:spLocks noGrp="1"/>
          </p:cNvSpPr>
          <p:nvPr>
            <p:ph type="title"/>
          </p:nvPr>
        </p:nvSpPr>
        <p:spPr/>
        <p:txBody>
          <a:bodyPr/>
          <a:lstStyle/>
          <a:p>
            <a:pPr algn="ctr"/>
            <a:r>
              <a:rPr lang="en-US" b="1" dirty="0">
                <a:cs typeface="Calibri Light" panose="020F0302020204030204"/>
              </a:rPr>
              <a:t>CARDIAC MONITORS</a:t>
            </a:r>
          </a:p>
        </p:txBody>
      </p:sp>
      <p:sp>
        <p:nvSpPr>
          <p:cNvPr id="3" name="Content Placeholder 2">
            <a:extLst>
              <a:ext uri="{FF2B5EF4-FFF2-40B4-BE49-F238E27FC236}">
                <a16:creationId xmlns:a16="http://schemas.microsoft.com/office/drawing/2014/main" id="{22036EF9-0BE3-4E15-B476-52FE1DDBF3F4}"/>
              </a:ext>
            </a:extLst>
          </p:cNvPr>
          <p:cNvSpPr>
            <a:spLocks noGrp="1"/>
          </p:cNvSpPr>
          <p:nvPr>
            <p:ph idx="1"/>
          </p:nvPr>
        </p:nvSpPr>
        <p:spPr/>
        <p:txBody>
          <a:bodyPr vert="horz" lIns="91440" tIns="45720" rIns="91440" bIns="45720" rtlCol="0" anchor="t">
            <a:normAutofit/>
          </a:bodyPr>
          <a:lstStyle/>
          <a:p>
            <a:pPr algn="just"/>
            <a:r>
              <a:rPr lang="en-US" dirty="0">
                <a:cs typeface="Calibri"/>
              </a:rPr>
              <a:t>Patient monitoring systems vary greatly in size and configuration depending on manufacturer as well as user, some basic elements are common in all.</a:t>
            </a:r>
            <a:endParaRPr lang="en-US"/>
          </a:p>
          <a:p>
            <a:pPr lvl="1" algn="just"/>
            <a:r>
              <a:rPr lang="en-US" dirty="0">
                <a:cs typeface="Calibri"/>
              </a:rPr>
              <a:t>Skin electrodes to pick up ECG</a:t>
            </a:r>
          </a:p>
          <a:p>
            <a:pPr lvl="1" algn="just"/>
            <a:r>
              <a:rPr lang="en-US" dirty="0">
                <a:cs typeface="Calibri"/>
              </a:rPr>
              <a:t>Amplifier similar to ECG amplifier discussed before</a:t>
            </a:r>
          </a:p>
          <a:p>
            <a:pPr lvl="1" algn="just"/>
            <a:r>
              <a:rPr lang="en-US" dirty="0">
                <a:cs typeface="Calibri"/>
              </a:rPr>
              <a:t>CRT bedside with small screen, which is specific to the patient . And another which is with large display have the ECG of all the patients in ward, at nurse station.</a:t>
            </a:r>
          </a:p>
          <a:p>
            <a:pPr lvl="1" algn="just"/>
            <a:r>
              <a:rPr lang="en-US" dirty="0">
                <a:cs typeface="Calibri"/>
              </a:rPr>
              <a:t>A rate meter used to indicate average heart rate, might have audible or flashing light for indication of each heart beat</a:t>
            </a:r>
          </a:p>
          <a:p>
            <a:pPr lvl="1" algn="just"/>
            <a:r>
              <a:rPr lang="en-US" dirty="0">
                <a:cs typeface="Calibri"/>
              </a:rPr>
              <a:t>An alarm system actuated by rate meter, to alert nurse or observer</a:t>
            </a:r>
          </a:p>
          <a:p>
            <a:pPr lvl="1" algn="just"/>
            <a:endParaRPr lang="en-US" dirty="0">
              <a:cs typeface="Calibri"/>
            </a:endParaRPr>
          </a:p>
          <a:p>
            <a:pPr lvl="1" algn="just"/>
            <a:endParaRPr lang="en-US" dirty="0">
              <a:cs typeface="Calibri"/>
            </a:endParaRPr>
          </a:p>
        </p:txBody>
      </p:sp>
    </p:spTree>
    <p:extLst>
      <p:ext uri="{BB962C8B-B14F-4D97-AF65-F5344CB8AC3E}">
        <p14:creationId xmlns:p14="http://schemas.microsoft.com/office/powerpoint/2010/main" val="20040336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4678D-E64F-4B2A-8582-F13ED95660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DDCE18-7962-46A3-83E6-23FC1AFD3B04}"/>
              </a:ext>
            </a:extLst>
          </p:cNvPr>
          <p:cNvSpPr>
            <a:spLocks noGrp="1"/>
          </p:cNvSpPr>
          <p:nvPr>
            <p:ph idx="1"/>
          </p:nvPr>
        </p:nvSpPr>
        <p:spPr/>
        <p:txBody>
          <a:bodyPr vert="horz" lIns="91440" tIns="45720" rIns="91440" bIns="45720" rtlCol="0" anchor="t">
            <a:normAutofit/>
          </a:bodyPr>
          <a:lstStyle/>
          <a:p>
            <a:pPr lvl="1" algn="just"/>
            <a:r>
              <a:rPr lang="en-US" dirty="0">
                <a:cs typeface="Calibri"/>
              </a:rPr>
              <a:t>In addition to this, a direct write out device to obtain, a permanent record of ECG seen on CRT</a:t>
            </a:r>
          </a:p>
          <a:p>
            <a:pPr lvl="1" algn="just"/>
            <a:r>
              <a:rPr lang="en-US" dirty="0">
                <a:cs typeface="Calibri"/>
              </a:rPr>
              <a:t>A memory tape loop to record and playback the ECG for 15 to 60 seconds prior to alarm</a:t>
            </a:r>
          </a:p>
          <a:p>
            <a:pPr lvl="1" algn="just"/>
            <a:r>
              <a:rPr lang="en-US" dirty="0">
                <a:cs typeface="Calibri"/>
              </a:rPr>
              <a:t>Additional alarm triggered by ECG parameters other than heart rate, ex. Widening of QRS complex</a:t>
            </a:r>
          </a:p>
          <a:p>
            <a:pPr lvl="1" algn="just"/>
            <a:r>
              <a:rPr lang="en-US" dirty="0">
                <a:cs typeface="Calibri"/>
              </a:rPr>
              <a:t>Electrical circuits to indicate that an electrode has become disconnected or the mechanical failure has occurred somewhere else in monitoring system</a:t>
            </a:r>
          </a:p>
          <a:p>
            <a:pPr algn="just"/>
            <a:endParaRPr lang="en-US" dirty="0">
              <a:cs typeface="Calibri"/>
            </a:endParaRPr>
          </a:p>
          <a:p>
            <a:pPr algn="just"/>
            <a:endParaRPr lang="en-US" dirty="0">
              <a:cs typeface="Calibri"/>
            </a:endParaRPr>
          </a:p>
          <a:p>
            <a:pPr algn="just"/>
            <a:endParaRPr lang="en-US" dirty="0">
              <a:cs typeface="Calibri"/>
            </a:endParaRPr>
          </a:p>
          <a:p>
            <a:pPr algn="just"/>
            <a:endParaRPr lang="en-US" dirty="0">
              <a:cs typeface="Calibri"/>
            </a:endParaRPr>
          </a:p>
        </p:txBody>
      </p:sp>
    </p:spTree>
    <p:extLst>
      <p:ext uri="{BB962C8B-B14F-4D97-AF65-F5344CB8AC3E}">
        <p14:creationId xmlns:p14="http://schemas.microsoft.com/office/powerpoint/2010/main" val="339632765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ubtitle 2"/>
          <p:cNvSpPr txBox="1">
            <a:spLocks/>
          </p:cNvSpPr>
          <p:nvPr/>
        </p:nvSpPr>
        <p:spPr>
          <a:xfrm>
            <a:off x="1104646" y="3817180"/>
            <a:ext cx="5178582" cy="16557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buFontTx/>
              <a:buChar char="-"/>
            </a:pPr>
            <a:endParaRPr lang="en-US" sz="16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7592048" y="4424926"/>
            <a:ext cx="4376174" cy="1723549"/>
          </a:xfrm>
          <a:prstGeom prst="rect">
            <a:avLst/>
          </a:prstGeom>
          <a:noFill/>
        </p:spPr>
        <p:txBody>
          <a:bodyPr wrap="square" rtlCol="0">
            <a:spAutoFit/>
          </a:bodyPr>
          <a:lstStyle/>
          <a:p>
            <a:r>
              <a:rPr lang="en-US" sz="6600" dirty="0">
                <a:latin typeface="Edwardian Script ITC" panose="030303020407070D0804" pitchFamily="66" charset="0"/>
              </a:rPr>
              <a:t>Thank You !!</a:t>
            </a:r>
          </a:p>
          <a:p>
            <a:pPr algn="ctr"/>
            <a:r>
              <a:rPr lang="en-US" sz="4000" dirty="0">
                <a:latin typeface="Edwardian Script ITC" panose="030303020407070D0804" pitchFamily="66" charset="0"/>
              </a:rPr>
              <a:t> </a:t>
            </a:r>
          </a:p>
        </p:txBody>
      </p:sp>
      <p:sp>
        <p:nvSpPr>
          <p:cNvPr id="8" name="Rectangle 7"/>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10" name="Rectangle 9"/>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11" name="Rectangle 10"/>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12" name="Rectangle 11"/>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13" name="Rectangle 12"/>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grpSp>
        <p:nvGrpSpPr>
          <p:cNvPr id="15" name="Group 14"/>
          <p:cNvGrpSpPr/>
          <p:nvPr/>
        </p:nvGrpSpPr>
        <p:grpSpPr>
          <a:xfrm>
            <a:off x="54496" y="359621"/>
            <a:ext cx="4804363" cy="2463094"/>
            <a:chOff x="54496" y="359621"/>
            <a:chExt cx="4804363" cy="2463094"/>
          </a:xfrm>
        </p:grpSpPr>
        <p:pic>
          <p:nvPicPr>
            <p:cNvPr id="16" name="Picture 15"/>
            <p:cNvPicPr>
              <a:picLocks noChangeAspect="1"/>
            </p:cNvPicPr>
            <p:nvPr/>
          </p:nvPicPr>
          <p:blipFill>
            <a:blip r:embed="rId3"/>
            <a:stretch>
              <a:fillRect/>
            </a:stretch>
          </p:blipFill>
          <p:spPr>
            <a:xfrm>
              <a:off x="235105" y="1901987"/>
              <a:ext cx="3104181" cy="263526"/>
            </a:xfrm>
            <a:prstGeom prst="rect">
              <a:avLst/>
            </a:prstGeom>
          </p:spPr>
        </p:pic>
        <p:sp>
          <p:nvSpPr>
            <p:cNvPr id="17"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18" name="Group 17">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25" name="Freeform 24">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6" name="Freeform 25">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9" name="Group 18">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23"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24"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0"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21"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22"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graphicFrame>
        <p:nvGraphicFramePr>
          <p:cNvPr id="27" name="Diagram 26"/>
          <p:cNvGraphicFramePr/>
          <p:nvPr>
            <p:extLst>
              <p:ext uri="{D42A27DB-BD31-4B8C-83A1-F6EECF244321}">
                <p14:modId xmlns:p14="http://schemas.microsoft.com/office/powerpoint/2010/main" val="2915246224"/>
              </p:ext>
            </p:extLst>
          </p:nvPr>
        </p:nvGraphicFramePr>
        <p:xfrm>
          <a:off x="1981200" y="5655129"/>
          <a:ext cx="8229600" cy="9143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8" name="Pie 27"/>
          <p:cNvSpPr/>
          <p:nvPr/>
        </p:nvSpPr>
        <p:spPr>
          <a:xfrm rot="10600249">
            <a:off x="9753600" y="5655127"/>
            <a:ext cx="914399" cy="914399"/>
          </a:xfrm>
          <a:prstGeom prst="pie">
            <a:avLst>
              <a:gd name="adj1" fmla="val 5400000"/>
              <a:gd name="adj2" fmla="val 16200000"/>
            </a:avLst>
          </a:pr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sp>
    </p:spTree>
    <p:extLst>
      <p:ext uri="{BB962C8B-B14F-4D97-AF65-F5344CB8AC3E}">
        <p14:creationId xmlns:p14="http://schemas.microsoft.com/office/powerpoint/2010/main" val="8001309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23777</TotalTime>
  <Words>3704</Words>
  <Application>Microsoft Office PowerPoint</Application>
  <PresentationFormat>Widescreen</PresentationFormat>
  <Paragraphs>422</Paragraphs>
  <Slides>65</Slides>
  <Notes>2</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65</vt:i4>
      </vt:variant>
    </vt:vector>
  </HeadingPairs>
  <TitlesOfParts>
    <vt:vector size="73" baseType="lpstr">
      <vt:lpstr>맑은 고딕</vt:lpstr>
      <vt:lpstr>Arial</vt:lpstr>
      <vt:lpstr>Calibri</vt:lpstr>
      <vt:lpstr>Calibri Light</vt:lpstr>
      <vt:lpstr>Edwardian Script ITC</vt:lpstr>
      <vt:lpstr>Times New Roman</vt:lpstr>
      <vt:lpstr>Wingdings</vt:lpstr>
      <vt:lpstr>Office Theme</vt:lpstr>
      <vt:lpstr>PowerPoint Presentation</vt:lpstr>
      <vt:lpstr>Outline:</vt:lpstr>
      <vt:lpstr>Vital Signs/Basic Health sensing</vt:lpstr>
      <vt:lpstr>Disease Monitoring</vt:lpstr>
      <vt:lpstr>Environmental Sensing (later)</vt:lpstr>
      <vt:lpstr>Basic Health - Temperature sensors</vt:lpstr>
      <vt:lpstr>Blood Pressure Monitors</vt:lpstr>
      <vt:lpstr>Pulse pressure sensing</vt:lpstr>
      <vt:lpstr>Pulse oximetry</vt:lpstr>
      <vt:lpstr>ECG-based heart rate</vt:lpstr>
      <vt:lpstr>Electronic Stethoscopes</vt:lpstr>
      <vt:lpstr>Exercise pedometers</vt:lpstr>
      <vt:lpstr>Electronic Weight/Body fat Scales</vt:lpstr>
      <vt:lpstr>Disease Monitoring - Asthma</vt:lpstr>
      <vt:lpstr>Asthma - Breathing monitors</vt:lpstr>
      <vt:lpstr>Asthma - Breathing monitors</vt:lpstr>
      <vt:lpstr>Diabetes</vt:lpstr>
      <vt:lpstr>Diabetes – non-invasive methods</vt:lpstr>
      <vt:lpstr>Diabetes – permanent monitors</vt:lpstr>
      <vt:lpstr>Aside – magneto-elastic sensors</vt:lpstr>
      <vt:lpstr>ECG (or EKG) ElectroCardioGram</vt:lpstr>
      <vt:lpstr>Systems </vt:lpstr>
      <vt:lpstr>Analog signals: Audio</vt:lpstr>
      <vt:lpstr>Other Analog signals</vt:lpstr>
      <vt:lpstr>Summary of sensing needs</vt:lpstr>
      <vt:lpstr>Summary of sensing needs</vt:lpstr>
      <vt:lpstr>Networking</vt:lpstr>
      <vt:lpstr>Serial connections</vt:lpstr>
      <vt:lpstr>USB (Universal Serial Bus)</vt:lpstr>
      <vt:lpstr>USB for Audio</vt:lpstr>
      <vt:lpstr>Bluetooth</vt:lpstr>
      <vt:lpstr>Bluetooth Data Rates</vt:lpstr>
      <vt:lpstr>Bluetooth Profiles</vt:lpstr>
      <vt:lpstr>Bluetooth Profiles</vt:lpstr>
      <vt:lpstr>Bluetooth Stack</vt:lpstr>
      <vt:lpstr>Bluetooth Chips - CSR</vt:lpstr>
      <vt:lpstr>Bluetooth Modules – Free2Move</vt:lpstr>
      <vt:lpstr>More Bluetooth Hardware</vt:lpstr>
      <vt:lpstr>Developing with Bluetooth</vt:lpstr>
      <vt:lpstr>Bluetooth-to-phone</vt:lpstr>
      <vt:lpstr>Project work</vt:lpstr>
      <vt:lpstr>Next Time</vt:lpstr>
      <vt:lpstr>What is ECG?</vt:lpstr>
      <vt:lpstr>How does an ECG machine detect the body’s electrical signals?</vt:lpstr>
      <vt:lpstr>ECG characteristics:</vt:lpstr>
      <vt:lpstr>ECG acquisition:</vt:lpstr>
      <vt:lpstr>ECG filtering:</vt:lpstr>
      <vt:lpstr>Preprocessing ECG signals:</vt:lpstr>
      <vt:lpstr>Removing wideband noise:</vt:lpstr>
      <vt:lpstr>PowerPoint Presentation</vt:lpstr>
      <vt:lpstr>Removing baseline wandering:</vt:lpstr>
      <vt:lpstr>PowerPoint Presentation</vt:lpstr>
      <vt:lpstr>COMPARATORS AND CONVERTERS</vt:lpstr>
      <vt:lpstr>COMPARATORS</vt:lpstr>
      <vt:lpstr>BASIC COMPARATOR</vt:lpstr>
      <vt:lpstr>SUCCESSIVE APPROXIMATION ADC</vt:lpstr>
      <vt:lpstr>ADC</vt:lpstr>
      <vt:lpstr>PowerPoint Presentation</vt:lpstr>
      <vt:lpstr>ECG signal</vt:lpstr>
      <vt:lpstr>ECG SIGNAL</vt:lpstr>
      <vt:lpstr>ECG amplifier</vt:lpstr>
      <vt:lpstr>PowerPoint Presentation</vt:lpstr>
      <vt:lpstr>CARDIAC MONITORS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Fish Tracking, Counting, and Behaviour Analysis in Digital Aquaculture</dc:title>
  <dc:creator>pds</dc:creator>
  <cp:lastModifiedBy>Gde</cp:lastModifiedBy>
  <cp:revision>97</cp:revision>
  <dcterms:created xsi:type="dcterms:W3CDTF">2024-10-22T07:52:57Z</dcterms:created>
  <dcterms:modified xsi:type="dcterms:W3CDTF">2026-03-17T10:03:28Z</dcterms:modified>
</cp:coreProperties>
</file>