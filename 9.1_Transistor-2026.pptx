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80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59" autoAdjust="0"/>
    <p:restoredTop sz="72042" autoAdjust="0"/>
  </p:normalViewPr>
  <p:slideViewPr>
    <p:cSldViewPr snapToGrid="0">
      <p:cViewPr varScale="1">
        <p:scale>
          <a:sx n="83" d="100"/>
          <a:sy n="83" d="100"/>
        </p:scale>
        <p:origin x="17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D0C7D-798A-44DC-AC41-FEC01C38F0EB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A1DE6-A801-4746-9FC0-8352D20A31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93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C773BF-E5C9-44BF-B19B-39EF1F90376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84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6747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400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5218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9513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6495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64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800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5765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55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783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n-US" dirty="0" err="1"/>
              <a:t>Elektronika</a:t>
            </a:r>
            <a:r>
              <a:rPr lang="en-US" baseline="0" dirty="0"/>
              <a:t> </a:t>
            </a:r>
            <a:r>
              <a:rPr lang="en-US" baseline="0" dirty="0" err="1"/>
              <a:t>tidak</a:t>
            </a:r>
            <a:r>
              <a:rPr lang="en-US" baseline="0" dirty="0"/>
              <a:t> </a:t>
            </a:r>
            <a:r>
              <a:rPr lang="en-US" baseline="0" dirty="0" err="1"/>
              <a:t>dapat</a:t>
            </a:r>
            <a:r>
              <a:rPr lang="en-US" baseline="0" dirty="0"/>
              <a:t> </a:t>
            </a:r>
            <a:r>
              <a:rPr lang="en-US" baseline="0" dirty="0" err="1"/>
              <a:t>terlepas</a:t>
            </a:r>
            <a:r>
              <a:rPr lang="en-US" baseline="0" dirty="0"/>
              <a:t> </a:t>
            </a:r>
            <a:r>
              <a:rPr lang="en-US" baseline="0" dirty="0" err="1"/>
              <a:t>dari</a:t>
            </a:r>
            <a:r>
              <a:rPr lang="en-US" baseline="0" dirty="0"/>
              <a:t> </a:t>
            </a:r>
            <a:r>
              <a:rPr lang="en-US" baseline="0" dirty="0" err="1"/>
              <a:t>sebuah</a:t>
            </a:r>
            <a:r>
              <a:rPr lang="en-US" baseline="0" dirty="0"/>
              <a:t> </a:t>
            </a:r>
            <a:r>
              <a:rPr lang="en-US" baseline="0" dirty="0" err="1"/>
              <a:t>partikel</a:t>
            </a:r>
            <a:r>
              <a:rPr lang="en-US" baseline="0" dirty="0"/>
              <a:t> yang </a:t>
            </a:r>
            <a:r>
              <a:rPr lang="en-US" baseline="0" dirty="0" err="1"/>
              <a:t>bernama</a:t>
            </a:r>
            <a:r>
              <a:rPr lang="en-US" baseline="0" dirty="0"/>
              <a:t> ELEKTRON</a:t>
            </a:r>
          </a:p>
          <a:p>
            <a:pPr marL="228600" indent="-228600">
              <a:buAutoNum type="arabicPeriod"/>
            </a:pP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Elektron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adalah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partikel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subatomik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dengan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muatan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negatif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(e-)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716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EA2CC-FABD-466D-82E8-AC953C7EC0C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328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0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034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88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396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342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084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2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41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1925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66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566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BB5D1-B60B-4B38-B17E-7765EA145201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42857-403A-4A86-BF79-9A4C4603A14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898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56677" y="2721459"/>
            <a:ext cx="9144000" cy="151032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solidFill>
                  <a:schemeClr val="bg1">
                    <a:lumMod val="85000"/>
                  </a:schemeClr>
                </a:solidFill>
              </a:rPr>
              <a:t>9.1_Transistors</a:t>
            </a:r>
            <a:r>
              <a:rPr lang="en-US" b="1" dirty="0" smtClean="0">
                <a:solidFill>
                  <a:srgbClr val="002060"/>
                </a:solidFill>
              </a:rPr>
              <a:t/>
            </a:r>
            <a:br>
              <a:rPr lang="en-US" b="1" dirty="0" smtClean="0">
                <a:solidFill>
                  <a:srgbClr val="002060"/>
                </a:solidFill>
              </a:rPr>
            </a:br>
            <a:endParaRPr lang="en-US" dirty="0"/>
          </a:p>
        </p:txBody>
      </p:sp>
      <p:sp>
        <p:nvSpPr>
          <p:cNvPr id="13" name="Subtitle 2"/>
          <p:cNvSpPr txBox="1">
            <a:spLocks/>
          </p:cNvSpPr>
          <p:nvPr/>
        </p:nvSpPr>
        <p:spPr>
          <a:xfrm>
            <a:off x="2893786" y="3309896"/>
            <a:ext cx="5287688" cy="5210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US" dirty="0">
              <a:solidFill>
                <a:srgbClr val="00B0F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6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11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12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14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18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22" name="Rectangle 21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</p:spTree>
    <p:extLst>
      <p:ext uri="{BB962C8B-B14F-4D97-AF65-F5344CB8AC3E}">
        <p14:creationId xmlns:p14="http://schemas.microsoft.com/office/powerpoint/2010/main" val="386400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>
          <a:xfrm>
            <a:off x="985838" y="2063750"/>
            <a:ext cx="10515600" cy="1325563"/>
          </a:xfrm>
        </p:spPr>
        <p:txBody>
          <a:bodyPr/>
          <a:lstStyle/>
          <a:p>
            <a:r>
              <a:rPr lang="en-US" dirty="0"/>
              <a:t>What is a transistor</a:t>
            </a:r>
            <a:r>
              <a:rPr lang="en-US" dirty="0" smtClean="0"/>
              <a:t>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9651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70692" y="225125"/>
            <a:ext cx="2674335" cy="823214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Outline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65273" y="1155734"/>
            <a:ext cx="6145038" cy="2849733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dirty="0"/>
              <a:t>Transistor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dirty="0"/>
              <a:t>Type of Transistor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dirty="0"/>
              <a:t>Transistor Bipolar Junction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dirty="0"/>
              <a:t>BJT Transistor Components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dirty="0"/>
              <a:t>The Unbiased Transistor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dirty="0"/>
              <a:t>The Biased Transistor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dirty="0"/>
              <a:t>Transistor Mode Operation</a:t>
            </a:r>
          </a:p>
          <a:p>
            <a:pPr marL="342900" indent="-342900" algn="l">
              <a:buFont typeface="Wingdings" panose="05000000000000000000" pitchFamily="2" charset="2"/>
              <a:buChar char="v"/>
            </a:pPr>
            <a:r>
              <a:rPr lang="en-US" sz="3200" b="1" dirty="0"/>
              <a:t>How Transistors Work</a:t>
            </a:r>
            <a:endParaRPr lang="en-US" sz="3200" dirty="0"/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3200" dirty="0"/>
          </a:p>
        </p:txBody>
      </p:sp>
      <p:sp>
        <p:nvSpPr>
          <p:cNvPr id="6" name="TextBox 5"/>
          <p:cNvSpPr txBox="1"/>
          <p:nvPr/>
        </p:nvSpPr>
        <p:spPr>
          <a:xfrm>
            <a:off x="209005" y="6150505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t="5788"/>
          <a:stretch/>
        </p:blipFill>
        <p:spPr>
          <a:xfrm>
            <a:off x="7050349" y="107396"/>
            <a:ext cx="4863483" cy="57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539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480910" y="649410"/>
            <a:ext cx="21871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</a:t>
            </a: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4348086" y="143263"/>
            <a:ext cx="7651178" cy="5504267"/>
          </a:xfrm>
        </p:spPr>
        <p:txBody>
          <a:bodyPr>
            <a:noAutofit/>
          </a:bodyPr>
          <a:lstStyle/>
          <a:p>
            <a:pPr algn="just"/>
            <a:r>
              <a:rPr 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Transistor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/>
              <a:t>adalah</a:t>
            </a:r>
            <a:r>
              <a:rPr lang="en-US" sz="2800" dirty="0"/>
              <a:t> </a:t>
            </a:r>
            <a:r>
              <a:rPr lang="en-US" sz="2800" b="1" dirty="0" err="1"/>
              <a:t>komponen</a:t>
            </a:r>
            <a:r>
              <a:rPr lang="en-US" sz="2800" b="1" dirty="0"/>
              <a:t> </a:t>
            </a:r>
            <a:r>
              <a:rPr lang="en-US" sz="2800" b="1" dirty="0" err="1"/>
              <a:t>semikonduktor</a:t>
            </a:r>
            <a:r>
              <a:rPr lang="en-US" sz="2800" b="1" dirty="0"/>
              <a:t> yang paling </a:t>
            </a:r>
            <a:r>
              <a:rPr lang="en-US" sz="2800" b="1" dirty="0" err="1"/>
              <a:t>banyak</a:t>
            </a:r>
            <a:r>
              <a:rPr lang="en-US" sz="2800" b="1" dirty="0"/>
              <a:t> </a:t>
            </a:r>
            <a:r>
              <a:rPr lang="en-US" sz="2800" b="1" dirty="0" err="1"/>
              <a:t>ditemukan</a:t>
            </a:r>
            <a:r>
              <a:rPr lang="en-US" sz="2800" b="1" dirty="0"/>
              <a:t> </a:t>
            </a:r>
            <a:r>
              <a:rPr lang="en-US" sz="2800" b="1" dirty="0" err="1"/>
              <a:t>dalam</a:t>
            </a:r>
            <a:r>
              <a:rPr lang="en-US" sz="2800" b="1" dirty="0"/>
              <a:t> </a:t>
            </a:r>
            <a:r>
              <a:rPr lang="en-US" sz="2800" b="1" dirty="0" err="1"/>
              <a:t>rangkaian</a:t>
            </a:r>
            <a:r>
              <a:rPr lang="en-US" sz="2800" b="1" dirty="0"/>
              <a:t> </a:t>
            </a:r>
            <a:r>
              <a:rPr lang="en-US" sz="2800" b="1" dirty="0" err="1"/>
              <a:t>elektronika</a:t>
            </a:r>
            <a:r>
              <a:rPr lang="en-US" sz="2800" b="1" dirty="0"/>
              <a:t>.</a:t>
            </a:r>
          </a:p>
          <a:p>
            <a:pPr algn="just"/>
            <a:r>
              <a:rPr 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Transistor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Berfungsi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sebagai</a:t>
            </a:r>
            <a:r>
              <a:rPr lang="en-US" sz="2800" dirty="0">
                <a:cs typeface="Times New Roman" panose="02020603050405020304" pitchFamily="18" charset="0"/>
              </a:rPr>
              <a:t>: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 err="1">
                <a:cs typeface="Times New Roman" panose="02020603050405020304" pitchFamily="18" charset="0"/>
              </a:rPr>
              <a:t>Saklar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Elektronik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 err="1">
                <a:cs typeface="Times New Roman" panose="02020603050405020304" pitchFamily="18" charset="0"/>
              </a:rPr>
              <a:t>Penguat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Arus</a:t>
            </a:r>
            <a:endParaRPr lang="en-US" sz="2800" dirty="0"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 err="1">
                <a:cs typeface="Times New Roman" panose="02020603050405020304" pitchFamily="18" charset="0"/>
              </a:rPr>
              <a:t>Menguatkan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Sinyal</a:t>
            </a:r>
            <a:r>
              <a:rPr lang="en-US" sz="2800" dirty="0">
                <a:cs typeface="Times New Roman" panose="02020603050405020304" pitchFamily="18" charset="0"/>
              </a:rPr>
              <a:t> AC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800" dirty="0" err="1">
                <a:cs typeface="Times New Roman" panose="02020603050405020304" pitchFamily="18" charset="0"/>
              </a:rPr>
              <a:t>Modulasi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Sinyal</a:t>
            </a:r>
            <a:endParaRPr lang="en-US" sz="2800" dirty="0"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Jenis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Transistor</a:t>
            </a:r>
            <a:r>
              <a:rPr lang="en-US" sz="2800" dirty="0">
                <a:cs typeface="Times New Roman" panose="02020603050405020304" pitchFamily="18" charset="0"/>
              </a:rPr>
              <a:t> </a:t>
            </a:r>
            <a:r>
              <a:rPr lang="en-US" sz="2800" dirty="0" err="1">
                <a:cs typeface="Times New Roman" panose="02020603050405020304" pitchFamily="18" charset="0"/>
              </a:rPr>
              <a:t>adalah</a:t>
            </a:r>
            <a:r>
              <a:rPr lang="en-US" sz="2800" dirty="0"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800" b="1" dirty="0">
                <a:solidFill>
                  <a:srgbClr val="FF0000"/>
                </a:solidFill>
                <a:cs typeface="Times New Roman" panose="02020603050405020304" pitchFamily="18" charset="0"/>
              </a:rPr>
              <a:t>Transistor Bipolar Junction (BJT)</a:t>
            </a:r>
            <a:r>
              <a:rPr lang="en-US" sz="2800" dirty="0">
                <a:cs typeface="Times New Roman" panose="02020603050405020304" pitchFamily="18" charset="0"/>
              </a:rPr>
              <a:t> ,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800" dirty="0">
                <a:cs typeface="Times New Roman" panose="02020603050405020304" pitchFamily="18" charset="0"/>
              </a:rPr>
              <a:t>Transistor Field-Effect (FET),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800" dirty="0">
                <a:cs typeface="Times New Roman" panose="02020603050405020304" pitchFamily="18" charset="0"/>
              </a:rPr>
              <a:t>Transistor Unijunction (UJT).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l="-1" r="1743"/>
          <a:stretch/>
        </p:blipFill>
        <p:spPr>
          <a:xfrm>
            <a:off x="1025292" y="1473146"/>
            <a:ext cx="3211902" cy="3198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4" descr="Transistor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169" y="1416767"/>
            <a:ext cx="3878025" cy="3606645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005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1304741" y="153215"/>
            <a:ext cx="6961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 Bipolar Junction (BJT)</a:t>
            </a: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1304741" y="762566"/>
            <a:ext cx="10548903" cy="5185479"/>
          </a:xfrm>
        </p:spPr>
        <p:txBody>
          <a:bodyPr>
            <a:noAutofit/>
          </a:bodyPr>
          <a:lstStyle/>
          <a:p>
            <a:pPr algn="just"/>
            <a:r>
              <a:rPr lang="en-US" sz="2200" dirty="0" err="1">
                <a:cs typeface="Times New Roman" panose="02020603050405020304" pitchFamily="18" charset="0"/>
              </a:rPr>
              <a:t>Pada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tahun</a:t>
            </a:r>
            <a:r>
              <a:rPr lang="en-US" sz="2200" dirty="0">
                <a:cs typeface="Times New Roman" panose="02020603050405020304" pitchFamily="18" charset="0"/>
              </a:rPr>
              <a:t> 1951, William </a:t>
            </a:r>
            <a:r>
              <a:rPr lang="en-US" sz="2200" dirty="0" err="1">
                <a:cs typeface="Times New Roman" panose="02020603050405020304" pitchFamily="18" charset="0"/>
              </a:rPr>
              <a:t>Schockley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menemukan</a:t>
            </a:r>
            <a:r>
              <a:rPr lang="en-US" sz="2200" dirty="0">
                <a:cs typeface="Times New Roman" panose="02020603050405020304" pitchFamily="18" charset="0"/>
              </a:rPr>
              <a:t> transistor BJT, </a:t>
            </a:r>
            <a:r>
              <a:rPr lang="en-US" sz="2200" dirty="0" err="1">
                <a:cs typeface="Times New Roman" panose="02020603050405020304" pitchFamily="18" charset="0"/>
              </a:rPr>
              <a:t>sebuah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perangkat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semikonduktor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dapat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memperkuat</a:t>
            </a:r>
            <a:r>
              <a:rPr lang="en-US" sz="2200" dirty="0">
                <a:cs typeface="Times New Roman" panose="02020603050405020304" pitchFamily="18" charset="0"/>
              </a:rPr>
              <a:t> (</a:t>
            </a:r>
            <a:r>
              <a:rPr lang="en-US" sz="2200" dirty="0" err="1">
                <a:cs typeface="Times New Roman" panose="02020603050405020304" pitchFamily="18" charset="0"/>
              </a:rPr>
              <a:t>memperbesar</a:t>
            </a:r>
            <a:r>
              <a:rPr lang="en-US" sz="2200" dirty="0">
                <a:cs typeface="Times New Roman" panose="02020603050405020304" pitchFamily="18" charset="0"/>
              </a:rPr>
              <a:t>) </a:t>
            </a:r>
            <a:r>
              <a:rPr lang="en-US" sz="2200" dirty="0" err="1">
                <a:cs typeface="Times New Roman" panose="02020603050405020304" pitchFamily="18" charset="0"/>
              </a:rPr>
              <a:t>sinyal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elektronik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seperti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sinyal</a:t>
            </a:r>
            <a:r>
              <a:rPr lang="en-US" sz="2200" dirty="0">
                <a:cs typeface="Times New Roman" panose="02020603050405020304" pitchFamily="18" charset="0"/>
              </a:rPr>
              <a:t> radio </a:t>
            </a:r>
            <a:r>
              <a:rPr lang="en-US" sz="2200" dirty="0" err="1">
                <a:cs typeface="Times New Roman" panose="02020603050405020304" pitchFamily="18" charset="0"/>
              </a:rPr>
              <a:t>dan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televisi</a:t>
            </a:r>
            <a:r>
              <a:rPr lang="en-US" sz="2200" dirty="0"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200" dirty="0">
                <a:cs typeface="Times New Roman" panose="02020603050405020304" pitchFamily="18" charset="0"/>
              </a:rPr>
              <a:t>Transistor </a:t>
            </a:r>
            <a:r>
              <a:rPr lang="en-US" sz="2200" dirty="0" err="1">
                <a:cs typeface="Times New Roman" panose="02020603050405020304" pitchFamily="18" charset="0"/>
              </a:rPr>
              <a:t>telah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menghasilkan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banyak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penemuan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semikonduktor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lainnya</a:t>
            </a:r>
            <a:r>
              <a:rPr lang="en-US" sz="2200" dirty="0">
                <a:cs typeface="Times New Roman" panose="02020603050405020304" pitchFamily="18" charset="0"/>
              </a:rPr>
              <a:t>, </a:t>
            </a:r>
            <a:r>
              <a:rPr lang="en-US" sz="2200" dirty="0" err="1">
                <a:cs typeface="Times New Roman" panose="02020603050405020304" pitchFamily="18" charset="0"/>
              </a:rPr>
              <a:t>termasuk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sirkuit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terpadu</a:t>
            </a:r>
            <a:r>
              <a:rPr lang="en-US" sz="2200" dirty="0">
                <a:cs typeface="Times New Roman" panose="02020603050405020304" pitchFamily="18" charset="0"/>
              </a:rPr>
              <a:t> (IC), </a:t>
            </a:r>
            <a:r>
              <a:rPr lang="en-US" sz="2200" dirty="0" err="1">
                <a:cs typeface="Times New Roman" panose="02020603050405020304" pitchFamily="18" charset="0"/>
              </a:rPr>
              <a:t>sebuah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perangkat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kecil</a:t>
            </a:r>
            <a:r>
              <a:rPr lang="en-US" sz="2200" dirty="0">
                <a:cs typeface="Times New Roman" panose="02020603050405020304" pitchFamily="18" charset="0"/>
              </a:rPr>
              <a:t> yang </a:t>
            </a:r>
            <a:r>
              <a:rPr lang="en-US" sz="2200" dirty="0" err="1">
                <a:cs typeface="Times New Roman" panose="02020603050405020304" pitchFamily="18" charset="0"/>
              </a:rPr>
              <a:t>berisi</a:t>
            </a:r>
            <a:r>
              <a:rPr lang="en-US" sz="2200" dirty="0"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cs typeface="Times New Roman" panose="02020603050405020304" pitchFamily="18" charset="0"/>
              </a:rPr>
              <a:t>ribuan</a:t>
            </a:r>
            <a:r>
              <a:rPr lang="en-US" sz="2200" dirty="0">
                <a:cs typeface="Times New Roman" panose="02020603050405020304" pitchFamily="18" charset="0"/>
              </a:rPr>
              <a:t> transistor mini.</a:t>
            </a:r>
          </a:p>
          <a:p>
            <a:pPr algn="just"/>
            <a:r>
              <a:rPr lang="en-US" sz="22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Jenis</a:t>
            </a:r>
            <a:r>
              <a:rPr lang="en-US" sz="2200" b="1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2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Jenis</a:t>
            </a:r>
            <a:r>
              <a:rPr lang="en-US" sz="2200" b="1" dirty="0">
                <a:solidFill>
                  <a:srgbClr val="7030A0"/>
                </a:solidFill>
                <a:cs typeface="Times New Roman" panose="02020603050405020304" pitchFamily="18" charset="0"/>
              </a:rPr>
              <a:t> Transistor BJT </a:t>
            </a:r>
            <a:r>
              <a:rPr lang="sv-SE" sz="2200" dirty="0">
                <a:solidFill>
                  <a:srgbClr val="7030A0"/>
                </a:solidFill>
              </a:rPr>
              <a:t>berdasarkan polaritas dan struktur semikonduktornya</a:t>
            </a:r>
            <a:r>
              <a:rPr lang="en-US" sz="2200" dirty="0">
                <a:solidFill>
                  <a:srgbClr val="7030A0"/>
                </a:solidFill>
                <a:cs typeface="Times New Roman" panose="02020603050405020304" pitchFamily="18" charset="0"/>
              </a:rPr>
              <a:t>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7030A0"/>
                </a:solidFill>
              </a:rPr>
              <a:t>Transistor NPN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b="1" dirty="0">
                <a:solidFill>
                  <a:srgbClr val="7030A0"/>
                </a:solidFill>
              </a:rPr>
              <a:t>Transistor PNP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dirty="0"/>
              <a:t>Transistor Darlington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dirty="0"/>
              <a:t>Transistor Darlington NPN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dirty="0"/>
              <a:t>Transistor Darlington PNP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dirty="0"/>
              <a:t>Transistor </a:t>
            </a:r>
            <a:r>
              <a:rPr lang="en-US" sz="2200" dirty="0" err="1"/>
              <a:t>Epitaksial</a:t>
            </a:r>
            <a:r>
              <a:rPr lang="en-US" sz="2200" dirty="0"/>
              <a:t> (Epitaxial Transistor)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200" dirty="0"/>
              <a:t>Transistor </a:t>
            </a:r>
            <a:r>
              <a:rPr lang="en-US" sz="2200" dirty="0" err="1"/>
              <a:t>Silikon</a:t>
            </a:r>
            <a:r>
              <a:rPr lang="en-US" sz="2200" dirty="0"/>
              <a:t>-Germanium (</a:t>
            </a:r>
            <a:r>
              <a:rPr lang="en-US" sz="2200" dirty="0" err="1"/>
              <a:t>SiGe</a:t>
            </a:r>
            <a:r>
              <a:rPr lang="en-US" sz="2200" dirty="0"/>
              <a:t> Transistor)</a:t>
            </a:r>
          </a:p>
          <a:p>
            <a:pPr algn="just"/>
            <a:endParaRPr lang="en-US" sz="1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4615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57200" y="6118962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903" y="116111"/>
            <a:ext cx="6961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 Bipolar Junction (BJT)</a:t>
            </a: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5468735" y="713539"/>
            <a:ext cx="6376746" cy="4850787"/>
          </a:xfrm>
        </p:spPr>
        <p:txBody>
          <a:bodyPr>
            <a:noAutofit/>
          </a:bodyPr>
          <a:lstStyle/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rgbClr val="FF0000"/>
                </a:solidFill>
              </a:rPr>
              <a:t>Transistor NPN </a:t>
            </a:r>
            <a:r>
              <a:rPr lang="en-US" sz="2000" dirty="0"/>
              <a:t>(Negative-Positive-Negative). </a:t>
            </a:r>
          </a:p>
          <a:p>
            <a:pPr algn="just"/>
            <a:r>
              <a:rPr lang="en-US" sz="2000" dirty="0" err="1"/>
              <a:t>Strukturnya</a:t>
            </a:r>
            <a:r>
              <a:rPr lang="en-US" sz="2000" dirty="0"/>
              <a:t> </a:t>
            </a:r>
            <a:r>
              <a:rPr lang="en-US" sz="2000" dirty="0" err="1"/>
              <a:t>terdiri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lapisan</a:t>
            </a:r>
            <a:r>
              <a:rPr lang="en-US" sz="2000" dirty="0"/>
              <a:t> </a:t>
            </a:r>
            <a:r>
              <a:rPr lang="en-US" sz="2000" dirty="0" err="1"/>
              <a:t>semikonduktor</a:t>
            </a:r>
            <a:r>
              <a:rPr lang="en-US" sz="2000" dirty="0"/>
              <a:t> </a:t>
            </a:r>
            <a:r>
              <a:rPr lang="en-US" sz="2000" dirty="0" err="1"/>
              <a:t>negatif</a:t>
            </a:r>
            <a:r>
              <a:rPr lang="en-US" sz="2000" dirty="0"/>
              <a:t> di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lapisan</a:t>
            </a:r>
            <a:r>
              <a:rPr lang="en-US" sz="2000" dirty="0"/>
              <a:t> </a:t>
            </a:r>
            <a:r>
              <a:rPr lang="en-US" sz="2000" dirty="0" err="1"/>
              <a:t>semikonduktor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r>
              <a:rPr lang="en-US" sz="2000" dirty="0"/>
              <a:t>. </a:t>
            </a:r>
          </a:p>
          <a:p>
            <a:pPr algn="just"/>
            <a:r>
              <a:rPr lang="en-US" sz="2000" dirty="0"/>
              <a:t>Transistor NPN </a:t>
            </a:r>
            <a:r>
              <a:rPr lang="en-US" sz="2000" dirty="0" err="1"/>
              <a:t>memiliki</a:t>
            </a:r>
            <a:r>
              <a:rPr lang="en-US" sz="2000" dirty="0"/>
              <a:t> terminal: Emitter, base, </a:t>
            </a:r>
            <a:r>
              <a:rPr lang="en-US" sz="2000" dirty="0" err="1"/>
              <a:t>dan</a:t>
            </a:r>
            <a:r>
              <a:rPr lang="en-US" sz="2000" dirty="0"/>
              <a:t> collector</a:t>
            </a:r>
          </a:p>
          <a:p>
            <a:pPr algn="just"/>
            <a:r>
              <a:rPr lang="en-US" sz="2000" b="1" dirty="0">
                <a:solidFill>
                  <a:srgbClr val="FF0000"/>
                </a:solidFill>
              </a:rPr>
              <a:t>Transistor PNP</a:t>
            </a:r>
            <a:r>
              <a:rPr lang="en-US" sz="2000" dirty="0"/>
              <a:t> (Positive-Negative-Positive) </a:t>
            </a:r>
          </a:p>
          <a:p>
            <a:pPr algn="just"/>
            <a:r>
              <a:rPr lang="en-US" sz="2000" dirty="0" err="1"/>
              <a:t>Strukturnya</a:t>
            </a:r>
            <a:r>
              <a:rPr lang="en-US" sz="2000" dirty="0"/>
              <a:t> </a:t>
            </a:r>
            <a:r>
              <a:rPr lang="en-US" sz="2000" dirty="0" err="1"/>
              <a:t>terdiri</a:t>
            </a:r>
            <a:r>
              <a:rPr lang="en-US" sz="2000" dirty="0"/>
              <a:t> </a:t>
            </a:r>
            <a:r>
              <a:rPr lang="en-US" sz="2000" dirty="0" err="1"/>
              <a:t>dari</a:t>
            </a:r>
            <a:r>
              <a:rPr lang="en-US" sz="2000" dirty="0"/>
              <a:t> </a:t>
            </a:r>
            <a:r>
              <a:rPr lang="en-US" sz="2000" dirty="0" err="1"/>
              <a:t>lapisan</a:t>
            </a:r>
            <a:r>
              <a:rPr lang="en-US" sz="2000" dirty="0"/>
              <a:t> </a:t>
            </a:r>
            <a:r>
              <a:rPr lang="en-US" sz="2000" dirty="0" err="1"/>
              <a:t>semikonduktor</a:t>
            </a:r>
            <a:r>
              <a:rPr lang="en-US" sz="2000" dirty="0"/>
              <a:t> </a:t>
            </a:r>
            <a:r>
              <a:rPr lang="en-US" sz="2000" dirty="0" err="1"/>
              <a:t>positif</a:t>
            </a:r>
            <a:r>
              <a:rPr lang="en-US" sz="2000" dirty="0"/>
              <a:t> di </a:t>
            </a:r>
            <a:r>
              <a:rPr lang="en-US" sz="2000" dirty="0" err="1"/>
              <a:t>antara</a:t>
            </a:r>
            <a:r>
              <a:rPr lang="en-US" sz="2000" dirty="0"/>
              <a:t> </a:t>
            </a:r>
            <a:r>
              <a:rPr lang="en-US" sz="2000" dirty="0" err="1"/>
              <a:t>dua</a:t>
            </a:r>
            <a:r>
              <a:rPr lang="en-US" sz="2000" dirty="0"/>
              <a:t> </a:t>
            </a:r>
            <a:r>
              <a:rPr lang="en-US" sz="2000" dirty="0" err="1"/>
              <a:t>lapisan</a:t>
            </a:r>
            <a:r>
              <a:rPr lang="en-US" sz="2000" dirty="0"/>
              <a:t> </a:t>
            </a:r>
            <a:r>
              <a:rPr lang="en-US" sz="2000" dirty="0" err="1"/>
              <a:t>semikonduktor</a:t>
            </a:r>
            <a:r>
              <a:rPr lang="en-US" sz="2000" dirty="0"/>
              <a:t> </a:t>
            </a:r>
            <a:r>
              <a:rPr lang="en-US" sz="2000" dirty="0" err="1"/>
              <a:t>negatif</a:t>
            </a:r>
            <a:r>
              <a:rPr lang="en-US" sz="2000" dirty="0"/>
              <a:t>. </a:t>
            </a:r>
          </a:p>
          <a:p>
            <a:pPr algn="just"/>
            <a:r>
              <a:rPr lang="en-US" sz="2000" dirty="0"/>
              <a:t>Transistor PNP </a:t>
            </a:r>
            <a:r>
              <a:rPr lang="en-US" sz="2000" dirty="0" err="1"/>
              <a:t>memiliki</a:t>
            </a:r>
            <a:r>
              <a:rPr lang="en-US" sz="2000" dirty="0"/>
              <a:t> terminal: emitter, base, </a:t>
            </a:r>
            <a:r>
              <a:rPr lang="en-US" sz="2000" dirty="0" err="1"/>
              <a:t>dan</a:t>
            </a:r>
            <a:r>
              <a:rPr lang="en-US" sz="2000" dirty="0"/>
              <a:t> collector.</a:t>
            </a:r>
          </a:p>
          <a:p>
            <a:pPr algn="just"/>
            <a:endParaRPr lang="en-US" sz="2200" dirty="0"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51017"/>
          <a:stretch/>
        </p:blipFill>
        <p:spPr>
          <a:xfrm>
            <a:off x="2941777" y="3104157"/>
            <a:ext cx="2362807" cy="2752304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3"/>
          <a:srcRect r="53137"/>
          <a:stretch/>
        </p:blipFill>
        <p:spPr>
          <a:xfrm>
            <a:off x="2933702" y="116111"/>
            <a:ext cx="2378958" cy="2896462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61" y="1492350"/>
            <a:ext cx="2660963" cy="2963346"/>
          </a:xfrm>
          <a:prstGeom prst="rect">
            <a:avLst/>
          </a:prstGeom>
          <a:ln w="28575">
            <a:solidFill>
              <a:schemeClr val="accent1"/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l="6448" t="9139"/>
          <a:stretch/>
        </p:blipFill>
        <p:spPr>
          <a:xfrm>
            <a:off x="6988158" y="4139715"/>
            <a:ext cx="1941345" cy="2324002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6"/>
          <a:srcRect l="10116" t="16112" r="7973"/>
          <a:stretch/>
        </p:blipFill>
        <p:spPr>
          <a:xfrm>
            <a:off x="9292597" y="4139715"/>
            <a:ext cx="2552885" cy="2324002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9276695" y="5878942"/>
            <a:ext cx="1454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Circuit Symbol 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PNP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28723" y="4187921"/>
            <a:ext cx="14548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Circuit Symbol </a:t>
            </a:r>
          </a:p>
          <a:p>
            <a:pPr algn="ctr"/>
            <a:r>
              <a:rPr lang="en-US" sz="1600" b="1" dirty="0">
                <a:solidFill>
                  <a:srgbClr val="FF0000"/>
                </a:solidFill>
              </a:rPr>
              <a:t>NPN</a:t>
            </a:r>
          </a:p>
        </p:txBody>
      </p:sp>
    </p:spTree>
    <p:extLst>
      <p:ext uri="{BB962C8B-B14F-4D97-AF65-F5344CB8AC3E}">
        <p14:creationId xmlns:p14="http://schemas.microsoft.com/office/powerpoint/2010/main" val="3450213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9005" y="6150505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4741" y="153215"/>
            <a:ext cx="69612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 Bipolar Junction (BJT)</a:t>
            </a: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956344" y="878894"/>
            <a:ext cx="11026651" cy="4899054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 err="1">
                <a:cs typeface="Times New Roman" panose="02020603050405020304" pitchFamily="18" charset="0"/>
              </a:rPr>
              <a:t>Komponen-komponen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utama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dari</a:t>
            </a:r>
            <a:r>
              <a:rPr lang="en-US" sz="2000" b="1" dirty="0">
                <a:cs typeface="Times New Roman" panose="02020603050405020304" pitchFamily="18" charset="0"/>
              </a:rPr>
              <a:t> transistor BJT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Base</a:t>
            </a:r>
            <a:r>
              <a:rPr lang="en-US" sz="1800" dirty="0">
                <a:cs typeface="Times New Roman" panose="02020603050405020304" pitchFamily="18" charset="0"/>
              </a:rPr>
              <a:t>: </a:t>
            </a:r>
            <a:r>
              <a:rPr lang="en-US" sz="1800" dirty="0" err="1"/>
              <a:t>Gerbang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pengendali</a:t>
            </a:r>
            <a:r>
              <a:rPr lang="en-US" sz="1800" dirty="0"/>
              <a:t> </a:t>
            </a:r>
            <a:r>
              <a:rPr lang="en-US" sz="1800" dirty="0" err="1"/>
              <a:t>arus</a:t>
            </a:r>
            <a:r>
              <a:rPr lang="en-US" sz="1800" dirty="0"/>
              <a:t> </a:t>
            </a:r>
            <a:r>
              <a:rPr lang="en-US" sz="1800" dirty="0" err="1"/>
              <a:t>antara</a:t>
            </a:r>
            <a:r>
              <a:rPr lang="en-US" sz="1800" dirty="0"/>
              <a:t> </a:t>
            </a:r>
            <a:r>
              <a:rPr lang="en-US" sz="1800" dirty="0" err="1"/>
              <a:t>kedua</a:t>
            </a:r>
            <a:r>
              <a:rPr lang="en-US" sz="1800" dirty="0"/>
              <a:t> terminal Emitter </a:t>
            </a:r>
            <a:r>
              <a:rPr lang="en-US" sz="1800" dirty="0" err="1"/>
              <a:t>dan</a:t>
            </a:r>
            <a:r>
              <a:rPr lang="en-US" sz="1800" dirty="0"/>
              <a:t> Collector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FF0000"/>
                </a:solidFill>
              </a:rPr>
              <a:t>Emitter</a:t>
            </a:r>
            <a:r>
              <a:rPr lang="en-US" sz="1800" dirty="0"/>
              <a:t>: terminal </a:t>
            </a:r>
            <a:r>
              <a:rPr lang="en-US" sz="1800" dirty="0" err="1"/>
              <a:t>dari</a:t>
            </a:r>
            <a:r>
              <a:rPr lang="en-US" sz="1800" dirty="0"/>
              <a:t> mana </a:t>
            </a:r>
            <a:r>
              <a:rPr lang="en-US" sz="1800" dirty="0" err="1"/>
              <a:t>arus</a:t>
            </a:r>
            <a:r>
              <a:rPr lang="en-US" sz="1800" dirty="0"/>
              <a:t> </a:t>
            </a:r>
            <a:r>
              <a:rPr lang="en-US" sz="1800" dirty="0" err="1"/>
              <a:t>utama</a:t>
            </a:r>
            <a:r>
              <a:rPr lang="en-US" sz="1800" dirty="0"/>
              <a:t> </a:t>
            </a:r>
            <a:r>
              <a:rPr lang="en-US" sz="1800" dirty="0" err="1"/>
              <a:t>masuk</a:t>
            </a:r>
            <a:r>
              <a:rPr lang="en-US" sz="1800" dirty="0"/>
              <a:t> </a:t>
            </a:r>
            <a:r>
              <a:rPr lang="en-US" sz="1800" dirty="0" err="1"/>
              <a:t>atau</a:t>
            </a:r>
            <a:r>
              <a:rPr lang="en-US" sz="1800" dirty="0"/>
              <a:t> </a:t>
            </a:r>
            <a:r>
              <a:rPr lang="en-US" sz="1800" dirty="0" err="1"/>
              <a:t>dikeluarkan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transistor.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800" b="1" dirty="0">
                <a:solidFill>
                  <a:srgbClr val="FF0000"/>
                </a:solidFill>
              </a:rPr>
              <a:t>Collector</a:t>
            </a:r>
            <a:r>
              <a:rPr lang="en-US" sz="1800" dirty="0"/>
              <a:t>: terminal di mana </a:t>
            </a:r>
            <a:r>
              <a:rPr lang="en-US" sz="1800" dirty="0" err="1"/>
              <a:t>arus</a:t>
            </a:r>
            <a:r>
              <a:rPr lang="en-US" sz="1800" dirty="0"/>
              <a:t> </a:t>
            </a:r>
            <a:r>
              <a:rPr lang="en-US" sz="1800" dirty="0" err="1"/>
              <a:t>utama</a:t>
            </a:r>
            <a:r>
              <a:rPr lang="en-US" sz="1800" dirty="0"/>
              <a:t> </a:t>
            </a:r>
            <a:r>
              <a:rPr lang="en-US" sz="1800" dirty="0" err="1"/>
              <a:t>meninggalkan</a:t>
            </a:r>
            <a:r>
              <a:rPr lang="en-US" sz="1800" dirty="0"/>
              <a:t> transistor.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800" b="1" dirty="0" err="1">
                <a:solidFill>
                  <a:srgbClr val="FF0000"/>
                </a:solidFill>
              </a:rPr>
              <a:t>Arus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Masuk</a:t>
            </a:r>
            <a:r>
              <a:rPr lang="en-US" sz="1800" b="1" dirty="0">
                <a:solidFill>
                  <a:srgbClr val="FF0000"/>
                </a:solidFill>
              </a:rPr>
              <a:t> (Input Current)</a:t>
            </a:r>
            <a:r>
              <a:rPr lang="en-US" sz="1800" dirty="0"/>
              <a:t>: </a:t>
            </a:r>
            <a:r>
              <a:rPr lang="en-US" sz="1800" dirty="0" err="1"/>
              <a:t>arus</a:t>
            </a:r>
            <a:r>
              <a:rPr lang="en-US" sz="1800" dirty="0"/>
              <a:t> yang </a:t>
            </a:r>
            <a:r>
              <a:rPr lang="en-US" sz="1800" dirty="0" err="1"/>
              <a:t>diberikan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basis transistor. </a:t>
            </a:r>
            <a:r>
              <a:rPr lang="en-US" sz="1800" dirty="0" err="1"/>
              <a:t>mengendalikan</a:t>
            </a:r>
            <a:r>
              <a:rPr lang="en-US" sz="1800" dirty="0"/>
              <a:t> </a:t>
            </a:r>
            <a:r>
              <a:rPr lang="en-US" sz="1800" dirty="0" err="1"/>
              <a:t>arus</a:t>
            </a:r>
            <a:r>
              <a:rPr lang="en-US" sz="1800" dirty="0"/>
              <a:t> yang </a:t>
            </a:r>
            <a:r>
              <a:rPr lang="en-US" sz="1800" dirty="0" err="1"/>
              <a:t>mengalir</a:t>
            </a:r>
            <a:r>
              <a:rPr lang="en-US" sz="1800" dirty="0"/>
              <a:t> </a:t>
            </a:r>
            <a:r>
              <a:rPr lang="en-US" sz="1800" dirty="0" err="1"/>
              <a:t>antara</a:t>
            </a:r>
            <a:r>
              <a:rPr lang="en-US" sz="1800" dirty="0"/>
              <a:t> emitter </a:t>
            </a:r>
            <a:r>
              <a:rPr lang="en-US" sz="1800" dirty="0" err="1"/>
              <a:t>dan</a:t>
            </a:r>
            <a:r>
              <a:rPr lang="en-US" sz="1800" dirty="0"/>
              <a:t> collector.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Arus</a:t>
            </a:r>
            <a:r>
              <a:rPr 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18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Keluar</a:t>
            </a:r>
            <a:r>
              <a:rPr lang="en-US" sz="1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(Output Current)</a:t>
            </a:r>
            <a:r>
              <a:rPr lang="en-US" sz="1800" dirty="0">
                <a:cs typeface="Times New Roman" panose="02020603050405020304" pitchFamily="18" charset="0"/>
              </a:rPr>
              <a:t>: </a:t>
            </a:r>
            <a:r>
              <a:rPr lang="en-US" sz="1800" dirty="0" err="1"/>
              <a:t>arus</a:t>
            </a:r>
            <a:r>
              <a:rPr lang="en-US" sz="1800" dirty="0"/>
              <a:t> yang </a:t>
            </a:r>
            <a:r>
              <a:rPr lang="en-US" sz="1800" dirty="0" err="1"/>
              <a:t>mengalir</a:t>
            </a:r>
            <a:r>
              <a:rPr lang="en-US" sz="1800" dirty="0"/>
              <a:t> </a:t>
            </a:r>
            <a:r>
              <a:rPr lang="en-US" sz="1800" dirty="0" err="1"/>
              <a:t>antara</a:t>
            </a:r>
            <a:r>
              <a:rPr lang="en-US" sz="1800" dirty="0"/>
              <a:t> emitter </a:t>
            </a:r>
            <a:r>
              <a:rPr lang="en-US" sz="1800" dirty="0" err="1"/>
              <a:t>dan</a:t>
            </a:r>
            <a:r>
              <a:rPr lang="en-US" sz="1800" dirty="0"/>
              <a:t> collector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hasil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arus</a:t>
            </a:r>
            <a:r>
              <a:rPr lang="en-US" sz="1800" dirty="0"/>
              <a:t> yang </a:t>
            </a:r>
            <a:r>
              <a:rPr lang="en-US" sz="1800" dirty="0" err="1"/>
              <a:t>diberikan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basis. </a:t>
            </a:r>
            <a:r>
              <a:rPr lang="en-US" sz="1800" dirty="0" err="1"/>
              <a:t>Arus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jauh</a:t>
            </a:r>
            <a:r>
              <a:rPr lang="en-US" sz="1800" dirty="0"/>
              <a:t> </a:t>
            </a:r>
            <a:r>
              <a:rPr lang="en-US" sz="1800" dirty="0" err="1"/>
              <a:t>lebih</a:t>
            </a:r>
            <a:r>
              <a:rPr lang="en-US" sz="1800" dirty="0"/>
              <a:t> </a:t>
            </a:r>
            <a:r>
              <a:rPr lang="en-US" sz="1800" dirty="0" err="1"/>
              <a:t>besar</a:t>
            </a:r>
            <a:r>
              <a:rPr lang="en-US" sz="1800" dirty="0"/>
              <a:t> </a:t>
            </a:r>
            <a:r>
              <a:rPr lang="en-US" sz="1800" dirty="0" err="1"/>
              <a:t>daripada</a:t>
            </a:r>
            <a:r>
              <a:rPr lang="en-US" sz="1800" dirty="0"/>
              <a:t> </a:t>
            </a:r>
            <a:r>
              <a:rPr lang="en-US" sz="1800" dirty="0" err="1"/>
              <a:t>arus</a:t>
            </a:r>
            <a:r>
              <a:rPr lang="en-US" sz="1800" dirty="0"/>
              <a:t> </a:t>
            </a:r>
            <a:r>
              <a:rPr lang="en-US" sz="1800" dirty="0" err="1"/>
              <a:t>masuk</a:t>
            </a:r>
            <a:r>
              <a:rPr lang="en-US" sz="1800" dirty="0"/>
              <a:t>, </a:t>
            </a:r>
            <a:r>
              <a:rPr lang="en-US" sz="1800" dirty="0" err="1"/>
              <a:t>sehingga</a:t>
            </a:r>
            <a:r>
              <a:rPr lang="en-US" sz="1800" dirty="0"/>
              <a:t> transistor </a:t>
            </a:r>
            <a:r>
              <a:rPr lang="en-US" sz="1800" dirty="0" err="1"/>
              <a:t>berfungsi</a:t>
            </a:r>
            <a:r>
              <a:rPr lang="en-US" sz="1800" dirty="0"/>
              <a:t> </a:t>
            </a:r>
            <a:r>
              <a:rPr lang="en-US" sz="1800" dirty="0" err="1"/>
              <a:t>sebagai</a:t>
            </a:r>
            <a:r>
              <a:rPr lang="en-US" sz="1800" dirty="0"/>
              <a:t> </a:t>
            </a:r>
            <a:r>
              <a:rPr lang="en-US" sz="1800" dirty="0" err="1"/>
              <a:t>penguat</a:t>
            </a:r>
            <a:r>
              <a:rPr lang="en-US" sz="180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800" b="1" dirty="0" err="1">
                <a:solidFill>
                  <a:srgbClr val="FF0000"/>
                </a:solidFill>
              </a:rPr>
              <a:t>Tegangan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Masuk</a:t>
            </a:r>
            <a:r>
              <a:rPr lang="en-US" sz="1800" b="1" dirty="0">
                <a:solidFill>
                  <a:srgbClr val="FF0000"/>
                </a:solidFill>
              </a:rPr>
              <a:t> (Input Voltage)</a:t>
            </a:r>
            <a:r>
              <a:rPr lang="en-US" sz="1800" dirty="0"/>
              <a:t>: </a:t>
            </a:r>
            <a:r>
              <a:rPr lang="en-US" sz="1800" dirty="0" err="1"/>
              <a:t>tegangan</a:t>
            </a:r>
            <a:r>
              <a:rPr lang="en-US" sz="1800" dirty="0"/>
              <a:t> yang </a:t>
            </a:r>
            <a:r>
              <a:rPr lang="en-US" sz="1800" dirty="0" err="1"/>
              <a:t>diberikan</a:t>
            </a:r>
            <a:r>
              <a:rPr lang="en-US" sz="1800" dirty="0"/>
              <a:t> </a:t>
            </a:r>
            <a:r>
              <a:rPr lang="en-US" sz="1800" dirty="0" err="1"/>
              <a:t>ke</a:t>
            </a:r>
            <a:r>
              <a:rPr lang="en-US" sz="1800" dirty="0"/>
              <a:t> basis transistor. </a:t>
            </a:r>
            <a:r>
              <a:rPr lang="en-US" sz="1800" dirty="0" err="1"/>
              <a:t>Tegangan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mengendalikan</a:t>
            </a:r>
            <a:r>
              <a:rPr lang="en-US" sz="1800" dirty="0"/>
              <a:t> </a:t>
            </a:r>
            <a:r>
              <a:rPr lang="en-US" sz="1800" dirty="0" err="1"/>
              <a:t>arus</a:t>
            </a:r>
            <a:r>
              <a:rPr lang="en-US" sz="1800" dirty="0"/>
              <a:t> yang </a:t>
            </a:r>
            <a:r>
              <a:rPr lang="en-US" sz="1800" dirty="0" err="1"/>
              <a:t>mengalir</a:t>
            </a:r>
            <a:r>
              <a:rPr lang="en-US" sz="1800" dirty="0"/>
              <a:t> </a:t>
            </a:r>
            <a:r>
              <a:rPr lang="en-US" sz="1800" dirty="0" err="1"/>
              <a:t>antara</a:t>
            </a:r>
            <a:r>
              <a:rPr lang="en-US" sz="1800" dirty="0"/>
              <a:t> emitter </a:t>
            </a:r>
            <a:r>
              <a:rPr lang="en-US" sz="1800" dirty="0" err="1"/>
              <a:t>dan</a:t>
            </a:r>
            <a:r>
              <a:rPr lang="en-US" sz="1800" dirty="0"/>
              <a:t> collector. </a:t>
            </a:r>
            <a:r>
              <a:rPr lang="en-US" sz="1800" dirty="0" err="1"/>
              <a:t>Dalam</a:t>
            </a:r>
            <a:r>
              <a:rPr lang="en-US" sz="1800" dirty="0"/>
              <a:t> mode </a:t>
            </a:r>
            <a:r>
              <a:rPr lang="en-US" sz="1800" dirty="0" err="1"/>
              <a:t>penguat</a:t>
            </a:r>
            <a:r>
              <a:rPr lang="en-US" sz="1800" dirty="0"/>
              <a:t>, </a:t>
            </a:r>
            <a:r>
              <a:rPr lang="en-US" sz="1800" dirty="0" err="1"/>
              <a:t>perubahan</a:t>
            </a:r>
            <a:r>
              <a:rPr lang="en-US" sz="1800" dirty="0"/>
              <a:t> </a:t>
            </a:r>
            <a:r>
              <a:rPr lang="en-US" sz="1800" dirty="0" err="1"/>
              <a:t>kecil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tegangan</a:t>
            </a:r>
            <a:r>
              <a:rPr lang="en-US" sz="1800" dirty="0"/>
              <a:t> </a:t>
            </a:r>
            <a:r>
              <a:rPr lang="en-US" sz="1800" dirty="0" err="1"/>
              <a:t>masuk</a:t>
            </a:r>
            <a:r>
              <a:rPr lang="en-US" sz="1800" dirty="0"/>
              <a:t> </a:t>
            </a:r>
            <a:r>
              <a:rPr lang="en-US" sz="1800" dirty="0" err="1"/>
              <a:t>dapat</a:t>
            </a:r>
            <a:r>
              <a:rPr lang="en-US" sz="1800" dirty="0"/>
              <a:t> </a:t>
            </a:r>
            <a:r>
              <a:rPr lang="en-US" sz="1800" dirty="0" err="1"/>
              <a:t>menghasilkan</a:t>
            </a:r>
            <a:r>
              <a:rPr lang="en-US" sz="1800" dirty="0"/>
              <a:t> </a:t>
            </a:r>
            <a:r>
              <a:rPr lang="en-US" sz="1800" dirty="0" err="1"/>
              <a:t>perubahan</a:t>
            </a:r>
            <a:r>
              <a:rPr lang="en-US" sz="1800" dirty="0"/>
              <a:t> </a:t>
            </a:r>
            <a:r>
              <a:rPr lang="en-US" sz="1800" dirty="0" err="1"/>
              <a:t>besar</a:t>
            </a:r>
            <a:r>
              <a:rPr lang="en-US" sz="1800" dirty="0"/>
              <a:t>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arus</a:t>
            </a:r>
            <a:r>
              <a:rPr lang="en-US" sz="1800" dirty="0"/>
              <a:t> </a:t>
            </a:r>
            <a:r>
              <a:rPr lang="en-US" sz="1800" dirty="0" err="1"/>
              <a:t>keluar</a:t>
            </a:r>
            <a:r>
              <a:rPr lang="en-US" sz="180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800" b="1" dirty="0" err="1">
                <a:solidFill>
                  <a:srgbClr val="FF0000"/>
                </a:solidFill>
              </a:rPr>
              <a:t>Tegangan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Keluar</a:t>
            </a:r>
            <a:r>
              <a:rPr lang="en-US" sz="1800" b="1" dirty="0">
                <a:solidFill>
                  <a:srgbClr val="FF0000"/>
                </a:solidFill>
              </a:rPr>
              <a:t> (Output Voltage)</a:t>
            </a:r>
            <a:r>
              <a:rPr lang="en-US" sz="1800" dirty="0"/>
              <a:t>: </a:t>
            </a:r>
            <a:r>
              <a:rPr lang="en-US" sz="1800" dirty="0" err="1"/>
              <a:t>tegangan</a:t>
            </a:r>
            <a:r>
              <a:rPr lang="en-US" sz="1800" dirty="0"/>
              <a:t> yang </a:t>
            </a:r>
            <a:r>
              <a:rPr lang="en-US" sz="1800" dirty="0" err="1"/>
              <a:t>terbentuk</a:t>
            </a:r>
            <a:r>
              <a:rPr lang="en-US" sz="1800" dirty="0"/>
              <a:t> </a:t>
            </a:r>
            <a:r>
              <a:rPr lang="en-US" sz="1800" dirty="0" err="1"/>
              <a:t>antara</a:t>
            </a:r>
            <a:r>
              <a:rPr lang="en-US" sz="1800" dirty="0"/>
              <a:t> collector </a:t>
            </a:r>
            <a:r>
              <a:rPr lang="en-US" sz="1800" dirty="0" err="1"/>
              <a:t>dan</a:t>
            </a:r>
            <a:r>
              <a:rPr lang="en-US" sz="1800" dirty="0"/>
              <a:t> emitter </a:t>
            </a:r>
            <a:r>
              <a:rPr lang="en-US" sz="1800" dirty="0" err="1"/>
              <a:t>ketika</a:t>
            </a:r>
            <a:r>
              <a:rPr lang="en-US" sz="1800" dirty="0"/>
              <a:t> transistor </a:t>
            </a:r>
            <a:r>
              <a:rPr lang="en-US" sz="1800" dirty="0" err="1"/>
              <a:t>dalam</a:t>
            </a:r>
            <a:r>
              <a:rPr lang="en-US" sz="1800" dirty="0"/>
              <a:t> </a:t>
            </a:r>
            <a:r>
              <a:rPr lang="en-US" sz="1800" dirty="0" err="1"/>
              <a:t>keadaan</a:t>
            </a:r>
            <a:r>
              <a:rPr lang="en-US" sz="1800" dirty="0"/>
              <a:t> </a:t>
            </a:r>
            <a:r>
              <a:rPr lang="en-US" sz="1800" dirty="0" err="1"/>
              <a:t>aktif</a:t>
            </a:r>
            <a:r>
              <a:rPr lang="en-US" sz="1800" dirty="0"/>
              <a:t>. </a:t>
            </a:r>
            <a:r>
              <a:rPr lang="en-US" sz="1800" dirty="0" err="1"/>
              <a:t>Tegangan</a:t>
            </a:r>
            <a:r>
              <a:rPr lang="en-US" sz="1800" dirty="0"/>
              <a:t> </a:t>
            </a:r>
            <a:r>
              <a:rPr lang="en-US" sz="1800" dirty="0" err="1"/>
              <a:t>ini</a:t>
            </a:r>
            <a:r>
              <a:rPr lang="en-US" sz="1800" dirty="0"/>
              <a:t> </a:t>
            </a:r>
            <a:r>
              <a:rPr lang="en-US" sz="1800" dirty="0" err="1"/>
              <a:t>bisa</a:t>
            </a:r>
            <a:r>
              <a:rPr lang="en-US" sz="1800" dirty="0"/>
              <a:t> </a:t>
            </a:r>
            <a:r>
              <a:rPr lang="en-US" sz="1800" dirty="0" err="1"/>
              <a:t>berubah</a:t>
            </a:r>
            <a:r>
              <a:rPr lang="en-US" sz="1800" dirty="0"/>
              <a:t> </a:t>
            </a:r>
            <a:r>
              <a:rPr lang="en-US" sz="1800" dirty="0" err="1"/>
              <a:t>sesuai</a:t>
            </a:r>
            <a:r>
              <a:rPr lang="en-US" sz="1800" dirty="0"/>
              <a:t> </a:t>
            </a:r>
            <a:r>
              <a:rPr lang="en-US" sz="1800" dirty="0" err="1"/>
              <a:t>dengan</a:t>
            </a:r>
            <a:r>
              <a:rPr lang="en-US" sz="1800" dirty="0"/>
              <a:t> </a:t>
            </a:r>
            <a:r>
              <a:rPr lang="en-US" sz="1800" dirty="0" err="1"/>
              <a:t>arus</a:t>
            </a:r>
            <a:r>
              <a:rPr lang="en-US" sz="1800" dirty="0"/>
              <a:t> </a:t>
            </a:r>
            <a:r>
              <a:rPr lang="en-US" sz="1800" dirty="0" err="1"/>
              <a:t>keluar</a:t>
            </a:r>
            <a:r>
              <a:rPr lang="en-US" sz="1800" dirty="0"/>
              <a:t> </a:t>
            </a:r>
            <a:r>
              <a:rPr lang="en-US" sz="1800" dirty="0" err="1"/>
              <a:t>dan</a:t>
            </a:r>
            <a:r>
              <a:rPr lang="en-US" sz="1800" dirty="0"/>
              <a:t> </a:t>
            </a:r>
            <a:r>
              <a:rPr lang="en-US" sz="1800" dirty="0" err="1"/>
              <a:t>tegangan</a:t>
            </a:r>
            <a:r>
              <a:rPr lang="en-US" sz="1800" dirty="0"/>
              <a:t> </a:t>
            </a:r>
            <a:r>
              <a:rPr lang="en-US" sz="1800" dirty="0" err="1"/>
              <a:t>masuk</a:t>
            </a:r>
            <a:r>
              <a:rPr lang="en-US" sz="1800" dirty="0"/>
              <a:t>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1800" b="1" dirty="0" err="1">
                <a:solidFill>
                  <a:srgbClr val="FF0000"/>
                </a:solidFill>
              </a:rPr>
              <a:t>Pembungkus</a:t>
            </a:r>
            <a:r>
              <a:rPr lang="en-US" sz="1800" b="1" dirty="0">
                <a:solidFill>
                  <a:srgbClr val="FF0000"/>
                </a:solidFill>
              </a:rPr>
              <a:t> (Package)</a:t>
            </a:r>
            <a:r>
              <a:rPr lang="en-US" sz="1800" dirty="0"/>
              <a:t>: </a:t>
            </a:r>
            <a:r>
              <a:rPr lang="en-US" sz="1800" dirty="0" err="1"/>
              <a:t>Melindungi</a:t>
            </a:r>
            <a:r>
              <a:rPr lang="en-US" sz="1800" dirty="0"/>
              <a:t> </a:t>
            </a:r>
            <a:r>
              <a:rPr lang="en-US" sz="1800" dirty="0" err="1"/>
              <a:t>komponen</a:t>
            </a:r>
            <a:r>
              <a:rPr lang="en-US" sz="1800" dirty="0"/>
              <a:t> </a:t>
            </a:r>
            <a:r>
              <a:rPr lang="en-US" sz="1800" dirty="0" err="1"/>
              <a:t>internalnya</a:t>
            </a:r>
            <a:r>
              <a:rPr lang="en-US" sz="1800" dirty="0"/>
              <a:t> </a:t>
            </a:r>
            <a:r>
              <a:rPr lang="en-US" sz="1800" dirty="0" err="1"/>
              <a:t>dari</a:t>
            </a:r>
            <a:r>
              <a:rPr lang="en-US" sz="1800" dirty="0"/>
              <a:t> </a:t>
            </a:r>
            <a:r>
              <a:rPr lang="en-US" sz="1800" dirty="0" err="1"/>
              <a:t>lingkungan</a:t>
            </a:r>
            <a:r>
              <a:rPr lang="en-US" sz="1800" dirty="0"/>
              <a:t> </a:t>
            </a:r>
            <a:r>
              <a:rPr lang="en-US" sz="1800" dirty="0" err="1"/>
              <a:t>eksternal</a:t>
            </a:r>
            <a:endParaRPr lang="en-US" sz="1800" dirty="0">
              <a:cs typeface="Times New Roman" panose="02020603050405020304" pitchFamily="18" charset="0"/>
            </a:endParaRPr>
          </a:p>
          <a:p>
            <a:pPr algn="just"/>
            <a:endParaRPr lang="en-US" sz="16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5714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9005" y="6150505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4741" y="153215"/>
            <a:ext cx="5146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 BJT: Unbiased</a:t>
            </a: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6027269" y="859042"/>
            <a:ext cx="6164733" cy="4291797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The Unbiased NPN Transistor </a:t>
            </a:r>
            <a:r>
              <a:rPr lang="en-US" sz="2000" b="1" dirty="0">
                <a:cs typeface="Times New Roman" panose="02020603050405020304" pitchFamily="18" charset="0"/>
              </a:rPr>
              <a:t>(Transistor yang </a:t>
            </a:r>
            <a:r>
              <a:rPr lang="en-US" sz="2000" b="1" dirty="0" err="1">
                <a:cs typeface="Times New Roman" panose="02020603050405020304" pitchFamily="18" charset="0"/>
              </a:rPr>
              <a:t>Tidak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Terbias</a:t>
            </a:r>
            <a:r>
              <a:rPr lang="en-US" sz="2000" b="1" dirty="0">
                <a:cs typeface="Times New Roman" panose="02020603050405020304" pitchFamily="18" charset="0"/>
              </a:rPr>
              <a:t>)</a:t>
            </a:r>
          </a:p>
          <a:p>
            <a:pPr algn="just"/>
            <a:r>
              <a:rPr lang="en-US" sz="2000" b="1" dirty="0" err="1">
                <a:cs typeface="Times New Roman" panose="02020603050405020304" pitchFamily="18" charset="0"/>
              </a:rPr>
              <a:t>Ketika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tidak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ada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tegangan</a:t>
            </a:r>
            <a:r>
              <a:rPr lang="en-US" sz="2000" b="1" dirty="0">
                <a:cs typeface="Times New Roman" panose="02020603050405020304" pitchFamily="18" charset="0"/>
              </a:rPr>
              <a:t> yang </a:t>
            </a:r>
            <a:r>
              <a:rPr lang="en-US" sz="2000" b="1" dirty="0" err="1">
                <a:cs typeface="Times New Roman" panose="02020603050405020304" pitchFamily="18" charset="0"/>
              </a:rPr>
              <a:t>diberikan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pada</a:t>
            </a:r>
            <a:r>
              <a:rPr lang="en-US" sz="2000" b="1" dirty="0">
                <a:cs typeface="Times New Roman" panose="02020603050405020304" pitchFamily="18" charset="0"/>
              </a:rPr>
              <a:t> transistor NPN</a:t>
            </a:r>
            <a:r>
              <a:rPr lang="en-US" sz="2000" dirty="0"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cs typeface="Times New Roman" panose="02020603050405020304" pitchFamily="18" charset="0"/>
              </a:rPr>
              <a:t>Dalam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keadaan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ini</a:t>
            </a:r>
            <a:r>
              <a:rPr lang="en-US" sz="2000" dirty="0">
                <a:cs typeface="Times New Roman" panose="02020603050405020304" pitchFamily="18" charset="0"/>
              </a:rPr>
              <a:t>, transistor </a:t>
            </a:r>
            <a:r>
              <a:rPr lang="en-US" sz="2000" dirty="0" err="1">
                <a:cs typeface="Times New Roman" panose="02020603050405020304" pitchFamily="18" charset="0"/>
              </a:rPr>
              <a:t>berada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dalam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keadaan</a:t>
            </a:r>
            <a:r>
              <a:rPr lang="en-US" sz="2000" dirty="0">
                <a:cs typeface="Times New Roman" panose="02020603050405020304" pitchFamily="18" charset="0"/>
              </a:rPr>
              <a:t> off </a:t>
            </a:r>
            <a:r>
              <a:rPr lang="en-US" sz="2000" dirty="0" err="1">
                <a:cs typeface="Times New Roman" panose="02020603050405020304" pitchFamily="18" charset="0"/>
              </a:rPr>
              <a:t>atau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tidak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aktif</a:t>
            </a:r>
            <a:r>
              <a:rPr lang="en-US" sz="2000" dirty="0">
                <a:cs typeface="Times New Roman" panose="02020603050405020304" pitchFamily="18" charset="0"/>
              </a:rPr>
              <a:t>, yang </a:t>
            </a:r>
            <a:r>
              <a:rPr lang="en-US" sz="2000" dirty="0" err="1">
                <a:cs typeface="Times New Roman" panose="02020603050405020304" pitchFamily="18" charset="0"/>
              </a:rPr>
              <a:t>berarti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arus</a:t>
            </a:r>
            <a:r>
              <a:rPr lang="en-US" sz="2000" dirty="0">
                <a:cs typeface="Times New Roman" panose="02020603050405020304" pitchFamily="18" charset="0"/>
              </a:rPr>
              <a:t> yang </a:t>
            </a:r>
            <a:r>
              <a:rPr lang="en-US" sz="2000" dirty="0" err="1">
                <a:cs typeface="Times New Roman" panose="02020603050405020304" pitchFamily="18" charset="0"/>
              </a:rPr>
              <a:t>mengalir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antara</a:t>
            </a:r>
            <a:r>
              <a:rPr lang="en-US" sz="2000" dirty="0">
                <a:cs typeface="Times New Roman" panose="02020603050405020304" pitchFamily="18" charset="0"/>
              </a:rPr>
              <a:t> emitter </a:t>
            </a:r>
            <a:r>
              <a:rPr lang="en-US" sz="2000" dirty="0" err="1">
                <a:cs typeface="Times New Roman" panose="02020603050405020304" pitchFamily="18" charset="0"/>
              </a:rPr>
              <a:t>dan</a:t>
            </a:r>
            <a:r>
              <a:rPr lang="en-US" sz="2000" dirty="0">
                <a:cs typeface="Times New Roman" panose="02020603050405020304" pitchFamily="18" charset="0"/>
              </a:rPr>
              <a:t> collector </a:t>
            </a:r>
            <a:r>
              <a:rPr lang="en-US" sz="2000" dirty="0" err="1">
                <a:cs typeface="Times New Roman" panose="02020603050405020304" pitchFamily="18" charset="0"/>
              </a:rPr>
              <a:t>sangat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kecil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atau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praktis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tidak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ada</a:t>
            </a:r>
            <a:r>
              <a:rPr lang="en-US" sz="2000" dirty="0"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000" dirty="0">
                <a:cs typeface="Times New Roman" panose="02020603050405020304" pitchFamily="18" charset="0"/>
              </a:rPr>
              <a:t>Di </a:t>
            </a:r>
            <a:r>
              <a:rPr lang="en-US" sz="2000" dirty="0" err="1">
                <a:cs typeface="Times New Roman" panose="02020603050405020304" pitchFamily="18" charset="0"/>
              </a:rPr>
              <a:t>daerah</a:t>
            </a:r>
            <a:r>
              <a:rPr lang="en-US" sz="2000" dirty="0">
                <a:cs typeface="Times New Roman" panose="02020603050405020304" pitchFamily="18" charset="0"/>
              </a:rPr>
              <a:t> N </a:t>
            </a:r>
            <a:r>
              <a:rPr lang="en-US" sz="2000" dirty="0" err="1">
                <a:cs typeface="Times New Roman" panose="02020603050405020304" pitchFamily="18" charset="0"/>
              </a:rPr>
              <a:t>sebelah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kiri</a:t>
            </a:r>
            <a:r>
              <a:rPr lang="en-US" sz="2000" dirty="0"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cs typeface="Times New Roman" panose="02020603050405020304" pitchFamily="18" charset="0"/>
              </a:rPr>
              <a:t>emitor</a:t>
            </a:r>
            <a:r>
              <a:rPr lang="en-US" sz="2000" dirty="0"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cs typeface="Times New Roman" panose="02020603050405020304" pitchFamily="18" charset="0"/>
              </a:rPr>
              <a:t>dan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daerah</a:t>
            </a:r>
            <a:r>
              <a:rPr lang="en-US" sz="2000" dirty="0">
                <a:cs typeface="Times New Roman" panose="02020603050405020304" pitchFamily="18" charset="0"/>
              </a:rPr>
              <a:t> N </a:t>
            </a:r>
            <a:r>
              <a:rPr lang="en-US" sz="2000" dirty="0" err="1">
                <a:cs typeface="Times New Roman" panose="02020603050405020304" pitchFamily="18" charset="0"/>
              </a:rPr>
              <a:t>sebelah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kanan</a:t>
            </a:r>
            <a:r>
              <a:rPr lang="en-US" sz="2000" dirty="0"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cs typeface="Times New Roman" panose="02020603050405020304" pitchFamily="18" charset="0"/>
              </a:rPr>
              <a:t>kolektor</a:t>
            </a:r>
            <a:r>
              <a:rPr lang="en-US" sz="2000" dirty="0">
                <a:cs typeface="Times New Roman" panose="02020603050405020304" pitchFamily="18" charset="0"/>
              </a:rPr>
              <a:t>), </a:t>
            </a:r>
            <a:r>
              <a:rPr lang="en-US" sz="2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elektron</a:t>
            </a:r>
            <a:r>
              <a:rPr 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bebas</a:t>
            </a:r>
            <a:r>
              <a:rPr 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adalah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pembawa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mayoritas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dan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hole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adalah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pembawa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minoritas</a:t>
            </a:r>
            <a:endParaRPr lang="en-US" sz="20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cs typeface="Times New Roman" panose="02020603050405020304" pitchFamily="18" charset="0"/>
              </a:rPr>
              <a:t>Di </a:t>
            </a:r>
            <a:r>
              <a:rPr lang="en-US" sz="2000" dirty="0" err="1">
                <a:cs typeface="Times New Roman" panose="02020603050405020304" pitchFamily="18" charset="0"/>
              </a:rPr>
              <a:t>daerah</a:t>
            </a:r>
            <a:r>
              <a:rPr lang="en-US" sz="2000" dirty="0">
                <a:cs typeface="Times New Roman" panose="02020603050405020304" pitchFamily="18" charset="0"/>
              </a:rPr>
              <a:t> P (basis), </a:t>
            </a:r>
            <a:r>
              <a:rPr lang="en-US" sz="2000" b="1" dirty="0">
                <a:solidFill>
                  <a:srgbClr val="FF0000"/>
                </a:solidFill>
                <a:cs typeface="Times New Roman" panose="02020603050405020304" pitchFamily="18" charset="0"/>
              </a:rPr>
              <a:t>hole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adalah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pembawa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mayoritas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dan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elektron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bebas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adalah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pembawa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minoritas</a:t>
            </a:r>
            <a:r>
              <a:rPr lang="en-US" sz="2000" dirty="0"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117" y="1426216"/>
            <a:ext cx="5691710" cy="329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634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9005" y="6150505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4741" y="153215"/>
            <a:ext cx="51468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 BJT: Unbiased</a:t>
            </a: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5951768" y="1249725"/>
            <a:ext cx="6164733" cy="2932782"/>
          </a:xfrm>
        </p:spPr>
        <p:txBody>
          <a:bodyPr>
            <a:noAutofit/>
          </a:bodyPr>
          <a:lstStyle/>
          <a:p>
            <a:pPr algn="just"/>
            <a:r>
              <a:rPr lang="en-US" sz="2000" b="1" dirty="0">
                <a:solidFill>
                  <a:srgbClr val="7030A0"/>
                </a:solidFill>
                <a:cs typeface="Times New Roman" panose="02020603050405020304" pitchFamily="18" charset="0"/>
              </a:rPr>
              <a:t>The Unbiased PNP Transistor </a:t>
            </a:r>
            <a:r>
              <a:rPr lang="en-US" sz="2000" b="1" dirty="0">
                <a:cs typeface="Times New Roman" panose="02020603050405020304" pitchFamily="18" charset="0"/>
              </a:rPr>
              <a:t>(Transistor yang </a:t>
            </a:r>
            <a:r>
              <a:rPr lang="en-US" sz="2000" b="1" dirty="0" err="1">
                <a:cs typeface="Times New Roman" panose="02020603050405020304" pitchFamily="18" charset="0"/>
              </a:rPr>
              <a:t>Tidak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Terbias</a:t>
            </a:r>
            <a:r>
              <a:rPr lang="en-US" sz="2000" b="1" dirty="0">
                <a:cs typeface="Times New Roman" panose="02020603050405020304" pitchFamily="18" charset="0"/>
              </a:rPr>
              <a:t>): </a:t>
            </a:r>
            <a:r>
              <a:rPr lang="en-US" sz="2000" b="1" dirty="0" err="1">
                <a:cs typeface="Times New Roman" panose="02020603050405020304" pitchFamily="18" charset="0"/>
              </a:rPr>
              <a:t>Ketika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tidak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ada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tegangan</a:t>
            </a:r>
            <a:r>
              <a:rPr lang="en-US" sz="2000" b="1" dirty="0">
                <a:cs typeface="Times New Roman" panose="02020603050405020304" pitchFamily="18" charset="0"/>
              </a:rPr>
              <a:t> yang </a:t>
            </a:r>
            <a:r>
              <a:rPr lang="en-US" sz="2000" b="1" dirty="0" err="1">
                <a:cs typeface="Times New Roman" panose="02020603050405020304" pitchFamily="18" charset="0"/>
              </a:rPr>
              <a:t>diberikan</a:t>
            </a:r>
            <a:r>
              <a:rPr lang="en-US" sz="2000" b="1" dirty="0"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cs typeface="Times New Roman" panose="02020603050405020304" pitchFamily="18" charset="0"/>
              </a:rPr>
              <a:t>pada</a:t>
            </a:r>
            <a:r>
              <a:rPr lang="en-US" sz="2000" b="1" dirty="0">
                <a:cs typeface="Times New Roman" panose="02020603050405020304" pitchFamily="18" charset="0"/>
              </a:rPr>
              <a:t> transistor PNP</a:t>
            </a:r>
            <a:r>
              <a:rPr lang="en-US" sz="2000" dirty="0">
                <a:cs typeface="Times New Roman" panose="02020603050405020304" pitchFamily="18" charset="0"/>
              </a:rPr>
              <a:t>. </a:t>
            </a:r>
          </a:p>
          <a:p>
            <a:pPr algn="just"/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Di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daerah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P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sebelah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kiri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emitor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dan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daerah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P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sebelah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kanan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(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kolektor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), </a:t>
            </a:r>
            <a:r>
              <a:rPr lang="en-US" sz="2000" b="1" dirty="0">
                <a:solidFill>
                  <a:srgbClr val="7030A0"/>
                </a:solidFill>
                <a:cs typeface="Times New Roman" panose="02020603050405020304" pitchFamily="18" charset="0"/>
              </a:rPr>
              <a:t>hole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adalah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pembawa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mayoritas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dan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elektron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bebas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adalah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pembawa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minoritas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.</a:t>
            </a:r>
          </a:p>
          <a:p>
            <a:pPr algn="just"/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Di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daerah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N (</a:t>
            </a:r>
            <a:r>
              <a:rPr lang="en-US" sz="2000" b="1" dirty="0">
                <a:solidFill>
                  <a:srgbClr val="7030A0"/>
                </a:solidFill>
                <a:cs typeface="Times New Roman" panose="02020603050405020304" pitchFamily="18" charset="0"/>
              </a:rPr>
              <a:t>basis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), 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elektron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bebas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adalah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pembawa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mayoritas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dan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lubang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adalah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rgbClr val="7030A0"/>
                </a:solidFill>
                <a:cs typeface="Times New Roman" panose="02020603050405020304" pitchFamily="18" charset="0"/>
              </a:rPr>
              <a:t>pembawa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solidFill>
                  <a:srgbClr val="7030A0"/>
                </a:solidFill>
                <a:cs typeface="Times New Roman" panose="02020603050405020304" pitchFamily="18" charset="0"/>
              </a:rPr>
              <a:t>minoritas</a:t>
            </a:r>
            <a:r>
              <a:rPr lang="en-US" sz="2000" dirty="0">
                <a:solidFill>
                  <a:srgbClr val="7030A0"/>
                </a:solidFill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231" y="1061569"/>
            <a:ext cx="5571932" cy="330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180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9005" y="6150505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" y="93224"/>
            <a:ext cx="46483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 BJT: Biased</a:t>
            </a: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5793019" y="119062"/>
            <a:ext cx="6164733" cy="5828983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The Biased Transistor </a:t>
            </a:r>
            <a:r>
              <a:rPr lang="en-US" b="1" dirty="0">
                <a:cs typeface="Times New Roman" panose="02020603050405020304" pitchFamily="18" charset="0"/>
              </a:rPr>
              <a:t>(Transistor yang </a:t>
            </a:r>
            <a:r>
              <a:rPr lang="en-US" b="1" dirty="0" err="1">
                <a:cs typeface="Times New Roman" panose="02020603050405020304" pitchFamily="18" charset="0"/>
              </a:rPr>
              <a:t>Terbias</a:t>
            </a:r>
            <a:r>
              <a:rPr lang="en-US" b="1" dirty="0">
                <a:cs typeface="Times New Roman" panose="02020603050405020304" pitchFamily="18" charset="0"/>
              </a:rPr>
              <a:t>): </a:t>
            </a:r>
            <a:r>
              <a:rPr lang="en-US" dirty="0"/>
              <a:t>Transistor yang </a:t>
            </a:r>
            <a:r>
              <a:rPr lang="en-US" dirty="0" err="1"/>
              <a:t>telah</a:t>
            </a:r>
            <a:r>
              <a:rPr lang="en-US" dirty="0"/>
              <a:t> </a:t>
            </a:r>
            <a:r>
              <a:rPr lang="en-US" dirty="0" err="1"/>
              <a:t>diberikan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</a:t>
            </a:r>
            <a:r>
              <a:rPr lang="en-US" dirty="0" err="1"/>
              <a:t>basisnya</a:t>
            </a:r>
            <a:r>
              <a:rPr lang="en-US" dirty="0"/>
              <a:t>. </a:t>
            </a:r>
          </a:p>
          <a:p>
            <a:pPr algn="just"/>
            <a:r>
              <a:rPr lang="en-US" dirty="0" err="1"/>
              <a:t>Tegangan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mengubah</a:t>
            </a:r>
            <a:r>
              <a:rPr lang="en-US" dirty="0"/>
              <a:t> </a:t>
            </a:r>
            <a:r>
              <a:rPr lang="en-US" dirty="0" err="1"/>
              <a:t>kondisi</a:t>
            </a:r>
            <a:r>
              <a:rPr lang="en-US" dirty="0"/>
              <a:t> transistor </a:t>
            </a:r>
            <a:r>
              <a:rPr lang="en-US" dirty="0" err="1"/>
              <a:t>dari</a:t>
            </a:r>
            <a:r>
              <a:rPr lang="en-US" dirty="0"/>
              <a:t> off </a:t>
            </a:r>
            <a:r>
              <a:rPr lang="en-US" dirty="0" err="1"/>
              <a:t>menjadi</a:t>
            </a:r>
            <a:r>
              <a:rPr lang="en-US" dirty="0"/>
              <a:t> on, </a:t>
            </a:r>
            <a:r>
              <a:rPr lang="en-US" dirty="0" err="1"/>
              <a:t>memungkinkan</a:t>
            </a:r>
            <a:r>
              <a:rPr lang="en-US" dirty="0"/>
              <a:t> </a:t>
            </a:r>
            <a:r>
              <a:rPr lang="en-US" dirty="0" err="1"/>
              <a:t>aliran</a:t>
            </a:r>
            <a:r>
              <a:rPr lang="en-US" dirty="0"/>
              <a:t> </a:t>
            </a:r>
            <a:r>
              <a:rPr lang="en-US" dirty="0" err="1"/>
              <a:t>arus</a:t>
            </a:r>
            <a:r>
              <a:rPr lang="en-US" dirty="0"/>
              <a:t> </a:t>
            </a:r>
            <a:r>
              <a:rPr lang="en-US" dirty="0" err="1"/>
              <a:t>antara</a:t>
            </a:r>
            <a:r>
              <a:rPr lang="en-US" dirty="0"/>
              <a:t> emitter </a:t>
            </a:r>
            <a:r>
              <a:rPr lang="en-US" dirty="0" err="1"/>
              <a:t>dan</a:t>
            </a:r>
            <a:r>
              <a:rPr lang="en-US" dirty="0"/>
              <a:t> collector</a:t>
            </a:r>
          </a:p>
          <a:p>
            <a:pPr algn="just"/>
            <a:r>
              <a:rPr lang="en-US" b="1" dirty="0" err="1">
                <a:solidFill>
                  <a:srgbClr val="FF0000"/>
                </a:solidFill>
              </a:rPr>
              <a:t>Jenis</a:t>
            </a:r>
            <a:r>
              <a:rPr lang="en-US" b="1" dirty="0">
                <a:solidFill>
                  <a:srgbClr val="FF0000"/>
                </a:solidFill>
              </a:rPr>
              <a:t> biasing </a:t>
            </a:r>
            <a:r>
              <a:rPr lang="en-US" dirty="0"/>
              <a:t>(</a:t>
            </a:r>
            <a:r>
              <a:rPr lang="en-US" dirty="0" err="1"/>
              <a:t>penghubungan</a:t>
            </a:r>
            <a:r>
              <a:rPr lang="en-US" dirty="0"/>
              <a:t> </a:t>
            </a:r>
            <a:r>
              <a:rPr lang="en-US" dirty="0" err="1"/>
              <a:t>tegangan</a:t>
            </a:r>
            <a:r>
              <a:rPr lang="en-US" dirty="0"/>
              <a:t>) yang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transistor:</a:t>
            </a:r>
          </a:p>
          <a:p>
            <a:pPr marL="342900" indent="-342900" algn="just">
              <a:buFontTx/>
              <a:buChar char="-"/>
            </a:pPr>
            <a:r>
              <a:rPr lang="en-US" b="1" dirty="0"/>
              <a:t>bias basis (base bias), </a:t>
            </a:r>
          </a:p>
          <a:p>
            <a:pPr marL="342900" indent="-342900" algn="just">
              <a:buFontTx/>
              <a:buChar char="-"/>
            </a:pPr>
            <a:r>
              <a:rPr lang="en-US" b="1" dirty="0"/>
              <a:t>bias emitter (emitter bias), </a:t>
            </a:r>
          </a:p>
          <a:p>
            <a:pPr marL="342900" indent="-342900" algn="just">
              <a:buFontTx/>
              <a:buChar char="-"/>
            </a:pPr>
            <a:r>
              <a:rPr lang="en-US" b="1" dirty="0"/>
              <a:t>bias </a:t>
            </a:r>
            <a:r>
              <a:rPr lang="en-US" b="1" dirty="0" err="1"/>
              <a:t>potensial</a:t>
            </a:r>
            <a:r>
              <a:rPr lang="en-US" b="1" dirty="0"/>
              <a:t> </a:t>
            </a:r>
            <a:r>
              <a:rPr lang="en-US" b="1" dirty="0" err="1"/>
              <a:t>terbagi</a:t>
            </a:r>
            <a:r>
              <a:rPr lang="en-US" b="1" dirty="0"/>
              <a:t> (split potential bias)</a:t>
            </a:r>
          </a:p>
          <a:p>
            <a:pPr algn="just"/>
            <a:r>
              <a:rPr lang="en-US" dirty="0" err="1">
                <a:cs typeface="Times New Roman" panose="02020603050405020304" pitchFamily="18" charset="0"/>
              </a:rPr>
              <a:t>Pada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gambar</a:t>
            </a:r>
            <a:r>
              <a:rPr lang="en-US" dirty="0">
                <a:cs typeface="Times New Roman" panose="02020603050405020304" pitchFamily="18" charset="0"/>
              </a:rPr>
              <a:t>, </a:t>
            </a:r>
            <a:r>
              <a:rPr lang="en-US" dirty="0" err="1">
                <a:cs typeface="Times New Roman" panose="02020603050405020304" pitchFamily="18" charset="0"/>
              </a:rPr>
              <a:t>Sambungan</a:t>
            </a:r>
            <a:r>
              <a:rPr lang="en-US" dirty="0"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Emitor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-Basis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 err="1">
                <a:cs typeface="Times New Roman" panose="02020603050405020304" pitchFamily="18" charset="0"/>
              </a:rPr>
              <a:t>diberi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Bias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Maju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oleh</a:t>
            </a:r>
            <a:r>
              <a:rPr lang="en-US" b="1" dirty="0">
                <a:cs typeface="Times New Roman" panose="02020603050405020304" pitchFamily="18" charset="0"/>
              </a:rPr>
              <a:t> VEE </a:t>
            </a:r>
            <a:r>
              <a:rPr lang="en-US" b="1" dirty="0" err="1">
                <a:cs typeface="Times New Roman" panose="02020603050405020304" pitchFamily="18" charset="0"/>
              </a:rPr>
              <a:t>tegangan</a:t>
            </a:r>
            <a:r>
              <a:rPr lang="en-US" b="1" dirty="0">
                <a:cs typeface="Times New Roman" panose="02020603050405020304" pitchFamily="18" charset="0"/>
              </a:rPr>
              <a:t> DC </a:t>
            </a:r>
            <a:r>
              <a:rPr lang="en-US" dirty="0" err="1">
                <a:cs typeface="Times New Roman" panose="02020603050405020304" pitchFamily="18" charset="0"/>
              </a:rPr>
              <a:t>dan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dirty="0" err="1">
                <a:cs typeface="Times New Roman" panose="02020603050405020304" pitchFamily="18" charset="0"/>
              </a:rPr>
              <a:t>sambungan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Basis-</a:t>
            </a:r>
            <a:r>
              <a:rPr 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Kolektor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 err="1">
                <a:cs typeface="Times New Roman" panose="02020603050405020304" pitchFamily="18" charset="0"/>
              </a:rPr>
              <a:t>diberi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Bias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Balik</a:t>
            </a:r>
            <a:r>
              <a:rPr lang="en-US" b="1" dirty="0">
                <a:cs typeface="Times New Roman" panose="02020603050405020304" pitchFamily="18" charset="0"/>
              </a:rPr>
              <a:t> </a:t>
            </a:r>
            <a:r>
              <a:rPr lang="en-US" b="1" dirty="0" err="1">
                <a:cs typeface="Times New Roman" panose="02020603050405020304" pitchFamily="18" charset="0"/>
              </a:rPr>
              <a:t>oleh</a:t>
            </a:r>
            <a:r>
              <a:rPr lang="en-US" b="1" dirty="0">
                <a:cs typeface="Times New Roman" panose="02020603050405020304" pitchFamily="18" charset="0"/>
              </a:rPr>
              <a:t> VCC </a:t>
            </a:r>
            <a:r>
              <a:rPr lang="en-US" b="1" dirty="0" err="1">
                <a:cs typeface="Times New Roman" panose="02020603050405020304" pitchFamily="18" charset="0"/>
              </a:rPr>
              <a:t>tegangan</a:t>
            </a:r>
            <a:r>
              <a:rPr lang="en-US" b="1" dirty="0">
                <a:cs typeface="Times New Roman" panose="02020603050405020304" pitchFamily="18" charset="0"/>
              </a:rPr>
              <a:t> DC.</a:t>
            </a:r>
          </a:p>
          <a:p>
            <a:pPr algn="just"/>
            <a:endParaRPr lang="en-US" dirty="0"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408" y="709668"/>
            <a:ext cx="3488306" cy="254511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7" name="TextBox 6"/>
          <p:cNvSpPr txBox="1"/>
          <p:nvPr/>
        </p:nvSpPr>
        <p:spPr>
          <a:xfrm rot="16200000">
            <a:off x="-701629" y="2841898"/>
            <a:ext cx="392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www.physics-and-radio-electronics.com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4408" y="3397162"/>
            <a:ext cx="3488306" cy="2449653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241537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9005" y="6150505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" y="93224"/>
            <a:ext cx="6009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 BJT: Mode </a:t>
            </a:r>
            <a:r>
              <a:rPr lang="en-US" sz="2800" i="1" dirty="0" err="1">
                <a:latin typeface="Arial Black" panose="020B0A04020102020204" pitchFamily="34" charset="0"/>
              </a:rPr>
              <a:t>Operasi</a:t>
            </a:r>
            <a:endParaRPr lang="en-US" sz="2800" i="1" dirty="0">
              <a:latin typeface="Arial Black" panose="020B0A04020102020204" pitchFamily="34" charset="0"/>
            </a:endParaRP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6027267" y="826206"/>
            <a:ext cx="6164733" cy="5205940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Transistor </a:t>
            </a:r>
            <a:r>
              <a:rPr 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dapat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dioperasikan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dalam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FF0000"/>
                </a:solidFill>
                <a:cs typeface="Times New Roman" panose="02020603050405020304" pitchFamily="18" charset="0"/>
              </a:rPr>
              <a:t>tiga</a:t>
            </a:r>
            <a:r>
              <a:rPr lang="en-US" b="1" dirty="0">
                <a:solidFill>
                  <a:srgbClr val="FF0000"/>
                </a:solidFill>
                <a:cs typeface="Times New Roman" panose="02020603050405020304" pitchFamily="18" charset="0"/>
              </a:rPr>
              <a:t> mode: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b="1" dirty="0">
                <a:cs typeface="Times New Roman" panose="02020603050405020304" pitchFamily="18" charset="0"/>
              </a:rPr>
              <a:t>Mode </a:t>
            </a:r>
            <a:r>
              <a:rPr lang="en-US" b="1" dirty="0" err="1">
                <a:cs typeface="Times New Roman" panose="02020603050405020304" pitchFamily="18" charset="0"/>
              </a:rPr>
              <a:t>potong</a:t>
            </a:r>
            <a:r>
              <a:rPr lang="en-US" b="1" dirty="0">
                <a:cs typeface="Times New Roman" panose="02020603050405020304" pitchFamily="18" charset="0"/>
              </a:rPr>
              <a:t> (Cut-off mode)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b="1" dirty="0">
                <a:cs typeface="Times New Roman" panose="02020603050405020304" pitchFamily="18" charset="0"/>
              </a:rPr>
              <a:t>Modus </a:t>
            </a:r>
            <a:r>
              <a:rPr lang="en-US" b="1" dirty="0" err="1">
                <a:cs typeface="Times New Roman" panose="02020603050405020304" pitchFamily="18" charset="0"/>
              </a:rPr>
              <a:t>saturasi</a:t>
            </a:r>
            <a:r>
              <a:rPr lang="en-US" b="1" dirty="0">
                <a:cs typeface="Times New Roman" panose="02020603050405020304" pitchFamily="18" charset="0"/>
              </a:rPr>
              <a:t> (Saturation mode)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b="1" dirty="0">
                <a:cs typeface="Times New Roman" panose="02020603050405020304" pitchFamily="18" charset="0"/>
              </a:rPr>
              <a:t>Modus </a:t>
            </a:r>
            <a:r>
              <a:rPr lang="en-US" b="1" dirty="0" err="1">
                <a:cs typeface="Times New Roman" panose="02020603050405020304" pitchFamily="18" charset="0"/>
              </a:rPr>
              <a:t>aktif</a:t>
            </a:r>
            <a:r>
              <a:rPr lang="en-US" b="1" dirty="0">
                <a:cs typeface="Times New Roman" panose="02020603050405020304" pitchFamily="18" charset="0"/>
              </a:rPr>
              <a:t> (Active mode)</a:t>
            </a:r>
          </a:p>
          <a:p>
            <a:pPr algn="just"/>
            <a:r>
              <a:rPr lang="en-ID" dirty="0"/>
              <a:t/>
            </a:r>
            <a:br>
              <a:rPr lang="en-ID" dirty="0"/>
            </a:b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b="1" dirty="0">
                <a:solidFill>
                  <a:srgbClr val="FF0000"/>
                </a:solidFill>
              </a:rPr>
              <a:t>mode </a:t>
            </a:r>
            <a:r>
              <a:rPr lang="en-ID" b="1" dirty="0" err="1">
                <a:solidFill>
                  <a:srgbClr val="FF0000"/>
                </a:solidFill>
              </a:rPr>
              <a:t>cutoff</a:t>
            </a:r>
            <a:r>
              <a:rPr lang="en-ID" dirty="0"/>
              <a:t>, </a:t>
            </a:r>
            <a:r>
              <a:rPr lang="en-ID" dirty="0" err="1"/>
              <a:t>kedua</a:t>
            </a:r>
            <a:r>
              <a:rPr lang="en-ID" dirty="0"/>
              <a:t> </a:t>
            </a:r>
            <a:r>
              <a:rPr lang="en-ID" dirty="0" err="1"/>
              <a:t>sambungan</a:t>
            </a:r>
            <a:r>
              <a:rPr lang="en-ID" dirty="0"/>
              <a:t> transistor (</a:t>
            </a:r>
            <a:r>
              <a:rPr lang="en-ID" dirty="0" err="1"/>
              <a:t>emitor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basis dan </a:t>
            </a:r>
            <a:r>
              <a:rPr lang="en-ID" dirty="0" err="1"/>
              <a:t>kolektor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basis) </a:t>
            </a:r>
            <a:r>
              <a:rPr lang="en-ID" dirty="0" err="1"/>
              <a:t>diberi</a:t>
            </a:r>
            <a:r>
              <a:rPr lang="en-ID" dirty="0"/>
              <a:t> bias </a:t>
            </a:r>
            <a:r>
              <a:rPr lang="en-ID" dirty="0" err="1"/>
              <a:t>balik</a:t>
            </a:r>
            <a:r>
              <a:rPr lang="en-ID" dirty="0"/>
              <a:t>.</a:t>
            </a:r>
          </a:p>
          <a:p>
            <a:pPr algn="just"/>
            <a:r>
              <a:rPr lang="en-ID" b="1" dirty="0">
                <a:solidFill>
                  <a:srgbClr val="FF0000"/>
                </a:solidFill>
              </a:rPr>
              <a:t>Mode </a:t>
            </a:r>
            <a:r>
              <a:rPr lang="en-ID" b="1" dirty="0" err="1">
                <a:solidFill>
                  <a:srgbClr val="FF0000"/>
                </a:solidFill>
              </a:rPr>
              <a:t>cutoff</a:t>
            </a:r>
            <a:r>
              <a:rPr lang="en-ID" b="1" dirty="0">
                <a:solidFill>
                  <a:srgbClr val="FF0000"/>
                </a:solidFill>
              </a:rPr>
              <a:t> transistor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switching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</a:t>
            </a:r>
            <a:r>
              <a:rPr lang="en-ID" dirty="0" err="1"/>
              <a:t>saklar</a:t>
            </a:r>
            <a:r>
              <a:rPr lang="en-ID" dirty="0"/>
              <a:t> OFF.</a:t>
            </a:r>
            <a:endParaRPr lang="en-US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399" y="5546276"/>
            <a:ext cx="392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www.physics-and-radio-electronics.com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071D76-934B-4287-9AB9-E82EB70AD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818902"/>
            <a:ext cx="4770784" cy="458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02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9005" y="6150505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" y="93224"/>
            <a:ext cx="6009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 BJT: Mode </a:t>
            </a:r>
            <a:r>
              <a:rPr lang="en-US" sz="2800" i="1" dirty="0" err="1">
                <a:latin typeface="Arial Black" panose="020B0A04020102020204" pitchFamily="34" charset="0"/>
              </a:rPr>
              <a:t>Operasi</a:t>
            </a:r>
            <a:endParaRPr lang="en-US" sz="2800" i="1" dirty="0">
              <a:latin typeface="Arial Black" panose="020B0A04020102020204" pitchFamily="34" charset="0"/>
            </a:endParaRP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6027267" y="826206"/>
            <a:ext cx="6164733" cy="5205940"/>
          </a:xfrm>
        </p:spPr>
        <p:txBody>
          <a:bodyPr>
            <a:noAutofit/>
          </a:bodyPr>
          <a:lstStyle/>
          <a:p>
            <a:pPr algn="just"/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b="1" dirty="0">
                <a:solidFill>
                  <a:srgbClr val="FF0000"/>
                </a:solidFill>
              </a:rPr>
              <a:t>mode </a:t>
            </a:r>
            <a:r>
              <a:rPr lang="en-ID" b="1" dirty="0" err="1">
                <a:solidFill>
                  <a:srgbClr val="FF0000"/>
                </a:solidFill>
              </a:rPr>
              <a:t>saturasi</a:t>
            </a:r>
            <a:r>
              <a:rPr lang="en-ID" dirty="0"/>
              <a:t>, </a:t>
            </a:r>
            <a:r>
              <a:rPr lang="en-ID" dirty="0" err="1"/>
              <a:t>elektron</a:t>
            </a:r>
            <a:r>
              <a:rPr lang="en-ID" dirty="0"/>
              <a:t> </a:t>
            </a:r>
            <a:r>
              <a:rPr lang="en-ID" dirty="0" err="1"/>
              <a:t>bebas</a:t>
            </a:r>
            <a:r>
              <a:rPr lang="en-ID" dirty="0"/>
              <a:t> (</a:t>
            </a:r>
            <a:r>
              <a:rPr lang="en-ID" dirty="0" err="1"/>
              <a:t>pembawa</a:t>
            </a:r>
            <a:r>
              <a:rPr lang="en-ID" dirty="0"/>
              <a:t> </a:t>
            </a:r>
            <a:r>
              <a:rPr lang="en-ID" dirty="0" err="1"/>
              <a:t>muatan</a:t>
            </a:r>
            <a:r>
              <a:rPr lang="en-ID" dirty="0"/>
              <a:t>) </a:t>
            </a:r>
            <a:r>
              <a:rPr lang="en-ID" dirty="0" err="1"/>
              <a:t>mengalir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emitor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basis </a:t>
            </a:r>
            <a:r>
              <a:rPr lang="en-ID" dirty="0" err="1"/>
              <a:t>serta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kolektor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basis. </a:t>
            </a:r>
            <a:r>
              <a:rPr lang="en-ID" dirty="0" err="1"/>
              <a:t>Akibatnya</a:t>
            </a:r>
            <a:r>
              <a:rPr lang="en-ID" dirty="0"/>
              <a:t> </a:t>
            </a:r>
            <a:r>
              <a:rPr lang="en-ID" dirty="0" err="1"/>
              <a:t>arus</a:t>
            </a:r>
            <a:r>
              <a:rPr lang="en-ID" dirty="0"/>
              <a:t> yang </a:t>
            </a:r>
            <a:r>
              <a:rPr lang="en-ID" dirty="0" err="1"/>
              <a:t>sangat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mengalir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basis transistor.</a:t>
            </a:r>
            <a:endParaRPr lang="en-US" b="1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 algn="just"/>
            <a:r>
              <a:rPr lang="en-ID" b="1" dirty="0">
                <a:solidFill>
                  <a:srgbClr val="FF0000"/>
                </a:solidFill>
              </a:rPr>
              <a:t>Transistor mode </a:t>
            </a:r>
            <a:r>
              <a:rPr lang="en-ID" b="1" dirty="0" err="1">
                <a:solidFill>
                  <a:srgbClr val="FF0000"/>
                </a:solidFill>
              </a:rPr>
              <a:t>saturasi</a:t>
            </a:r>
            <a:r>
              <a:rPr lang="en-ID" dirty="0"/>
              <a:t> </a:t>
            </a:r>
            <a:r>
              <a:rPr lang="en-ID" dirty="0" err="1"/>
              <a:t>akan</a:t>
            </a:r>
            <a:r>
              <a:rPr lang="en-ID" dirty="0"/>
              <a:t> </a:t>
            </a:r>
            <a:r>
              <a:rPr lang="en-ID" dirty="0" err="1"/>
              <a:t>berada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b="1" dirty="0" err="1"/>
              <a:t>keadaan</a:t>
            </a:r>
            <a:r>
              <a:rPr lang="en-ID" dirty="0"/>
              <a:t> </a:t>
            </a:r>
            <a:r>
              <a:rPr lang="en-ID" b="1" dirty="0" err="1"/>
              <a:t>hidup</a:t>
            </a:r>
            <a:r>
              <a:rPr lang="en-ID" dirty="0"/>
              <a:t> dan </a:t>
            </a:r>
            <a:r>
              <a:rPr lang="en-ID" b="1" dirty="0" err="1"/>
              <a:t>bertindak</a:t>
            </a:r>
            <a:r>
              <a:rPr lang="en-ID" dirty="0"/>
              <a:t> </a:t>
            </a:r>
            <a:r>
              <a:rPr lang="en-ID" dirty="0" err="1"/>
              <a:t>seperti</a:t>
            </a:r>
            <a:r>
              <a:rPr lang="en-ID" dirty="0"/>
              <a:t> </a:t>
            </a:r>
            <a:r>
              <a:rPr lang="en-ID" b="1" dirty="0" err="1"/>
              <a:t>saklar</a:t>
            </a:r>
            <a:r>
              <a:rPr lang="en-ID" dirty="0"/>
              <a:t> </a:t>
            </a:r>
            <a:r>
              <a:rPr lang="en-ID" b="1" dirty="0" err="1"/>
              <a:t>tertutup</a:t>
            </a:r>
            <a:r>
              <a:rPr lang="en-ID" dirty="0"/>
              <a:t>.</a:t>
            </a:r>
          </a:p>
          <a:p>
            <a:pPr algn="just"/>
            <a:r>
              <a:rPr lang="en-ID" b="1" dirty="0">
                <a:solidFill>
                  <a:srgbClr val="FF0000"/>
                </a:solidFill>
              </a:rPr>
              <a:t>Mode </a:t>
            </a:r>
            <a:r>
              <a:rPr lang="en-ID" b="1" dirty="0" err="1">
                <a:solidFill>
                  <a:srgbClr val="FF0000"/>
                </a:solidFill>
              </a:rPr>
              <a:t>saturasi</a:t>
            </a:r>
            <a:r>
              <a:rPr lang="en-ID" b="1" dirty="0">
                <a:solidFill>
                  <a:srgbClr val="FF0000"/>
                </a:solidFill>
              </a:rPr>
              <a:t> transistor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operasi</a:t>
            </a:r>
            <a:r>
              <a:rPr lang="en-ID" dirty="0"/>
              <a:t> </a:t>
            </a:r>
            <a:r>
              <a:rPr lang="en-ID" b="1" dirty="0"/>
              <a:t>switching </a:t>
            </a:r>
            <a:r>
              <a:rPr lang="en-ID" b="1" dirty="0" err="1"/>
              <a:t>untuk</a:t>
            </a:r>
            <a:r>
              <a:rPr lang="en-ID" b="1" dirty="0"/>
              <a:t> </a:t>
            </a:r>
            <a:r>
              <a:rPr lang="en-ID" b="1" dirty="0" err="1"/>
              <a:t>aplikasi</a:t>
            </a:r>
            <a:r>
              <a:rPr lang="en-ID" b="1" dirty="0"/>
              <a:t> </a:t>
            </a:r>
            <a:r>
              <a:rPr lang="en-ID" b="1" dirty="0" err="1"/>
              <a:t>saklar</a:t>
            </a:r>
            <a:r>
              <a:rPr lang="en-ID" b="1" dirty="0"/>
              <a:t> ON</a:t>
            </a:r>
            <a:r>
              <a:rPr lang="en-ID" dirty="0"/>
              <a:t>.</a:t>
            </a:r>
          </a:p>
          <a:p>
            <a:pPr algn="just"/>
            <a:r>
              <a:rPr lang="en-ID" dirty="0" err="1"/>
              <a:t>Mengoperasikan</a:t>
            </a:r>
            <a:r>
              <a:rPr lang="en-ID" dirty="0"/>
              <a:t> transistor pada </a:t>
            </a:r>
            <a:r>
              <a:rPr lang="en-ID" dirty="0" err="1"/>
              <a:t>daerah</a:t>
            </a:r>
            <a:r>
              <a:rPr lang="en-ID" b="1" dirty="0">
                <a:solidFill>
                  <a:srgbClr val="FF0000"/>
                </a:solidFill>
              </a:rPr>
              <a:t> </a:t>
            </a:r>
            <a:r>
              <a:rPr lang="en-ID" b="1" dirty="0" err="1">
                <a:solidFill>
                  <a:srgbClr val="FF0000"/>
                </a:solidFill>
              </a:rPr>
              <a:t>saturasi</a:t>
            </a:r>
            <a:r>
              <a:rPr lang="en-ID" b="1" dirty="0">
                <a:solidFill>
                  <a:srgbClr val="FF0000"/>
                </a:solidFill>
              </a:rPr>
              <a:t> dan </a:t>
            </a:r>
            <a:r>
              <a:rPr lang="en-ID" b="1" dirty="0" err="1">
                <a:solidFill>
                  <a:srgbClr val="FF0000"/>
                </a:solidFill>
              </a:rPr>
              <a:t>cutoff</a:t>
            </a:r>
            <a:r>
              <a:rPr lang="en-ID" dirty="0"/>
              <a:t> </a:t>
            </a:r>
            <a:r>
              <a:rPr lang="en-ID" dirty="0" err="1"/>
              <a:t>maka</a:t>
            </a:r>
            <a:r>
              <a:rPr lang="en-ID" dirty="0"/>
              <a:t> transistor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b="1" dirty="0" err="1"/>
              <a:t>saklar</a:t>
            </a:r>
            <a:r>
              <a:rPr lang="en-ID" b="1" dirty="0"/>
              <a:t> ON/OFF</a:t>
            </a:r>
            <a:r>
              <a:rPr lang="en-ID" dirty="0"/>
              <a:t>.</a:t>
            </a:r>
            <a:endParaRPr lang="en-US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399" y="5546276"/>
            <a:ext cx="392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chemeClr val="accent1"/>
                </a:solidFill>
              </a:rPr>
              <a:t>www.physics-and-radio-electronics.com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B3106F-061B-40CF-A83A-87ED24D24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388" y="558087"/>
            <a:ext cx="5328765" cy="495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68346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9005" y="6150505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399" y="93224"/>
            <a:ext cx="60090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Transistor BJT: Mode </a:t>
            </a:r>
            <a:r>
              <a:rPr lang="en-US" sz="2800" i="1" dirty="0" err="1">
                <a:latin typeface="Arial Black" panose="020B0A04020102020204" pitchFamily="34" charset="0"/>
              </a:rPr>
              <a:t>Operasi</a:t>
            </a:r>
            <a:endParaRPr lang="en-US" sz="2800" i="1" dirty="0">
              <a:latin typeface="Arial Black" panose="020B0A04020102020204" pitchFamily="34" charset="0"/>
            </a:endParaRP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5602637" y="826206"/>
            <a:ext cx="6430337" cy="4156611"/>
          </a:xfrm>
        </p:spPr>
        <p:txBody>
          <a:bodyPr>
            <a:noAutofit/>
          </a:bodyPr>
          <a:lstStyle/>
          <a:p>
            <a:pPr algn="just"/>
            <a:r>
              <a:rPr lang="en-ID" sz="2800" dirty="0" err="1"/>
              <a:t>Dalam</a:t>
            </a:r>
            <a:r>
              <a:rPr lang="en-ID" sz="2800" dirty="0"/>
              <a:t> </a:t>
            </a:r>
            <a:r>
              <a:rPr lang="en-ID" sz="2800" b="1" dirty="0">
                <a:solidFill>
                  <a:srgbClr val="FF0000"/>
                </a:solidFill>
              </a:rPr>
              <a:t>mode </a:t>
            </a:r>
            <a:r>
              <a:rPr lang="en-ID" sz="2800" b="1" dirty="0" err="1">
                <a:solidFill>
                  <a:srgbClr val="FF0000"/>
                </a:solidFill>
              </a:rPr>
              <a:t>aktif</a:t>
            </a:r>
            <a:r>
              <a:rPr lang="en-ID" sz="2800" dirty="0"/>
              <a:t>, </a:t>
            </a:r>
            <a:r>
              <a:rPr lang="en-ID" sz="2800" dirty="0" err="1"/>
              <a:t>satu</a:t>
            </a:r>
            <a:r>
              <a:rPr lang="en-ID" sz="2800" dirty="0"/>
              <a:t> </a:t>
            </a:r>
            <a:r>
              <a:rPr lang="en-ID" sz="2800" dirty="0" err="1"/>
              <a:t>persimpangan</a:t>
            </a:r>
            <a:r>
              <a:rPr lang="en-ID" sz="2800" dirty="0"/>
              <a:t> (</a:t>
            </a:r>
            <a:r>
              <a:rPr lang="en-ID" sz="2800" dirty="0" err="1"/>
              <a:t>emitor</a:t>
            </a:r>
            <a:r>
              <a:rPr lang="en-ID" sz="2800" dirty="0"/>
              <a:t> </a:t>
            </a:r>
            <a:r>
              <a:rPr lang="en-ID" sz="2800" dirty="0" err="1"/>
              <a:t>ke</a:t>
            </a:r>
            <a:r>
              <a:rPr lang="en-ID" sz="2800" dirty="0"/>
              <a:t> basis) </a:t>
            </a:r>
            <a:r>
              <a:rPr lang="en-ID" sz="2800" dirty="0" err="1"/>
              <a:t>dibias</a:t>
            </a:r>
            <a:r>
              <a:rPr lang="en-ID" sz="2800" dirty="0"/>
              <a:t> </a:t>
            </a:r>
            <a:r>
              <a:rPr lang="en-ID" sz="2800" dirty="0" err="1"/>
              <a:t>maju</a:t>
            </a:r>
            <a:r>
              <a:rPr lang="en-ID" sz="2800" dirty="0"/>
              <a:t> dan </a:t>
            </a:r>
            <a:r>
              <a:rPr lang="en-ID" sz="2800" dirty="0" err="1"/>
              <a:t>persimpangan</a:t>
            </a:r>
            <a:r>
              <a:rPr lang="en-ID" sz="2800" dirty="0"/>
              <a:t> </a:t>
            </a:r>
            <a:r>
              <a:rPr lang="en-ID" sz="2800" dirty="0" err="1"/>
              <a:t>lainnya</a:t>
            </a:r>
            <a:r>
              <a:rPr lang="en-ID" sz="2800" dirty="0"/>
              <a:t> (</a:t>
            </a:r>
            <a:r>
              <a:rPr lang="en-ID" sz="2800" dirty="0" err="1"/>
              <a:t>kolektor</a:t>
            </a:r>
            <a:r>
              <a:rPr lang="en-ID" sz="2800" dirty="0"/>
              <a:t> </a:t>
            </a:r>
            <a:r>
              <a:rPr lang="en-ID" sz="2800" dirty="0" err="1"/>
              <a:t>ke</a:t>
            </a:r>
            <a:r>
              <a:rPr lang="en-ID" sz="2800" dirty="0"/>
              <a:t> basis) </a:t>
            </a:r>
            <a:r>
              <a:rPr lang="en-ID" sz="2800" dirty="0" err="1"/>
              <a:t>dibias</a:t>
            </a:r>
            <a:r>
              <a:rPr lang="en-ID" sz="2800" dirty="0"/>
              <a:t> </a:t>
            </a:r>
            <a:r>
              <a:rPr lang="en-ID" sz="2800" dirty="0" err="1"/>
              <a:t>mundur</a:t>
            </a:r>
            <a:r>
              <a:rPr lang="en-ID" sz="2800" dirty="0"/>
              <a:t>.</a:t>
            </a:r>
          </a:p>
          <a:p>
            <a:pPr algn="just"/>
            <a:r>
              <a:rPr lang="en-ID" sz="2800" dirty="0"/>
              <a:t>Mode </a:t>
            </a:r>
            <a:r>
              <a:rPr lang="en-ID" sz="2800" b="1" dirty="0" err="1">
                <a:solidFill>
                  <a:srgbClr val="FF0000"/>
                </a:solidFill>
              </a:rPr>
              <a:t>operasi</a:t>
            </a:r>
            <a:r>
              <a:rPr lang="en-ID" sz="2800" b="1" dirty="0">
                <a:solidFill>
                  <a:srgbClr val="FF0000"/>
                </a:solidFill>
              </a:rPr>
              <a:t> </a:t>
            </a:r>
            <a:r>
              <a:rPr lang="en-ID" sz="2800" b="1" dirty="0" err="1">
                <a:solidFill>
                  <a:srgbClr val="FF0000"/>
                </a:solidFill>
              </a:rPr>
              <a:t>aktif</a:t>
            </a:r>
            <a:r>
              <a:rPr lang="en-ID" sz="2800" b="1" dirty="0">
                <a:solidFill>
                  <a:srgbClr val="FF0000"/>
                </a:solidFill>
              </a:rPr>
              <a:t> </a:t>
            </a:r>
            <a:r>
              <a:rPr lang="en-ID" sz="2800" dirty="0" err="1"/>
              <a:t>digunakan</a:t>
            </a:r>
            <a:r>
              <a:rPr lang="en-ID" sz="2800" dirty="0"/>
              <a:t> </a:t>
            </a:r>
            <a:r>
              <a:rPr lang="en-ID" sz="2800" dirty="0" err="1"/>
              <a:t>untuk</a:t>
            </a:r>
            <a:r>
              <a:rPr lang="en-ID" sz="2800" dirty="0"/>
              <a:t> </a:t>
            </a:r>
            <a:r>
              <a:rPr lang="en-ID" sz="2800" b="1" dirty="0" err="1">
                <a:solidFill>
                  <a:srgbClr val="FF0000"/>
                </a:solidFill>
              </a:rPr>
              <a:t>penguatan</a:t>
            </a:r>
            <a:r>
              <a:rPr lang="en-ID" sz="2800" b="1" dirty="0">
                <a:solidFill>
                  <a:srgbClr val="FF0000"/>
                </a:solidFill>
              </a:rPr>
              <a:t> </a:t>
            </a:r>
            <a:r>
              <a:rPr lang="en-ID" sz="2800" b="1" dirty="0" err="1">
                <a:solidFill>
                  <a:srgbClr val="FF0000"/>
                </a:solidFill>
              </a:rPr>
              <a:t>arus</a:t>
            </a:r>
            <a:r>
              <a:rPr lang="en-ID" sz="2800" dirty="0"/>
              <a:t>.</a:t>
            </a:r>
          </a:p>
          <a:p>
            <a:pPr algn="just"/>
            <a:r>
              <a:rPr lang="en-ID" sz="2800" dirty="0"/>
              <a:t>Transistor </a:t>
            </a:r>
            <a:r>
              <a:rPr lang="en-ID" sz="2800" dirty="0" err="1"/>
              <a:t>berfungsi</a:t>
            </a:r>
            <a:r>
              <a:rPr lang="en-ID" sz="2800" dirty="0"/>
              <a:t> </a:t>
            </a:r>
            <a:r>
              <a:rPr lang="en-ID" sz="2800" dirty="0" err="1"/>
              <a:t>sebagai</a:t>
            </a:r>
            <a:r>
              <a:rPr lang="en-ID" sz="2800" dirty="0"/>
              <a:t> </a:t>
            </a:r>
            <a:r>
              <a:rPr lang="en-ID" sz="2800" b="1" dirty="0" err="1">
                <a:solidFill>
                  <a:srgbClr val="FF0000"/>
                </a:solidFill>
              </a:rPr>
              <a:t>saklar</a:t>
            </a:r>
            <a:r>
              <a:rPr lang="en-ID" sz="2800" b="1" dirty="0">
                <a:solidFill>
                  <a:srgbClr val="FF0000"/>
                </a:solidFill>
              </a:rPr>
              <a:t> ON/OFF</a:t>
            </a:r>
            <a:r>
              <a:rPr lang="en-ID" sz="2800" dirty="0"/>
              <a:t> pada </a:t>
            </a:r>
            <a:r>
              <a:rPr lang="en-ID" sz="2800" b="1" dirty="0"/>
              <a:t>mode </a:t>
            </a:r>
            <a:r>
              <a:rPr lang="en-ID" sz="2800" b="1" dirty="0" err="1"/>
              <a:t>saturasi</a:t>
            </a:r>
            <a:r>
              <a:rPr lang="en-ID" sz="2800" b="1" dirty="0"/>
              <a:t> </a:t>
            </a:r>
            <a:r>
              <a:rPr lang="en-ID" sz="2800" dirty="0"/>
              <a:t>dan </a:t>
            </a:r>
            <a:r>
              <a:rPr lang="en-ID" sz="2800" b="1" dirty="0" err="1"/>
              <a:t>cutoff</a:t>
            </a:r>
            <a:r>
              <a:rPr lang="en-ID" sz="2800" dirty="0"/>
              <a:t> </a:t>
            </a:r>
            <a:r>
              <a:rPr lang="en-ID" sz="2800" dirty="0" err="1"/>
              <a:t>sedangkan</a:t>
            </a:r>
            <a:r>
              <a:rPr lang="en-ID" sz="2800" dirty="0"/>
              <a:t> transistor </a:t>
            </a:r>
            <a:r>
              <a:rPr lang="en-ID" sz="2800" dirty="0" err="1"/>
              <a:t>berfungsi</a:t>
            </a:r>
            <a:r>
              <a:rPr lang="en-ID" sz="2800" dirty="0"/>
              <a:t> </a:t>
            </a:r>
            <a:r>
              <a:rPr lang="en-ID" sz="2800" dirty="0" err="1"/>
              <a:t>sebagai</a:t>
            </a:r>
            <a:r>
              <a:rPr lang="en-ID" sz="2800" dirty="0"/>
              <a:t> </a:t>
            </a:r>
            <a:r>
              <a:rPr lang="en-ID" sz="2800" b="1" dirty="0" err="1">
                <a:solidFill>
                  <a:srgbClr val="FF0000"/>
                </a:solidFill>
              </a:rPr>
              <a:t>penguat</a:t>
            </a:r>
            <a:r>
              <a:rPr lang="en-ID" sz="2800" b="1" dirty="0">
                <a:solidFill>
                  <a:srgbClr val="FF0000"/>
                </a:solidFill>
              </a:rPr>
              <a:t> </a:t>
            </a:r>
            <a:r>
              <a:rPr lang="en-ID" sz="2800" b="1" dirty="0" err="1">
                <a:solidFill>
                  <a:srgbClr val="FF0000"/>
                </a:solidFill>
              </a:rPr>
              <a:t>arus</a:t>
            </a:r>
            <a:r>
              <a:rPr lang="en-ID" sz="2800" b="1" dirty="0">
                <a:solidFill>
                  <a:srgbClr val="FF0000"/>
                </a:solidFill>
              </a:rPr>
              <a:t> </a:t>
            </a:r>
            <a:r>
              <a:rPr lang="en-ID" sz="2800" b="1" dirty="0"/>
              <a:t>pada mode </a:t>
            </a:r>
            <a:r>
              <a:rPr lang="en-ID" sz="2800" b="1" dirty="0" err="1"/>
              <a:t>aktif</a:t>
            </a:r>
            <a:endParaRPr lang="en-US" sz="2800" b="1" dirty="0">
              <a:solidFill>
                <a:srgbClr val="FF0000"/>
              </a:solidFill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02C964E-D751-485A-9BB8-986BC2970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12" y="704119"/>
            <a:ext cx="5078613" cy="482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00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9005" y="6150505"/>
            <a:ext cx="44078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Institut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en-US" sz="2800" i="1" dirty="0" err="1">
                <a:solidFill>
                  <a:schemeClr val="bg1"/>
                </a:solidFill>
                <a:latin typeface="Arial Black" panose="020B0A04020102020204" pitchFamily="34" charset="0"/>
              </a:rPr>
              <a:t>Teknologi</a:t>
            </a:r>
            <a:r>
              <a:rPr lang="en-US" sz="2800" i="1" dirty="0">
                <a:solidFill>
                  <a:schemeClr val="bg1"/>
                </a:solidFill>
                <a:latin typeface="Arial Black" panose="020B0A04020102020204" pitchFamily="34" charset="0"/>
              </a:rPr>
              <a:t> Del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4741" y="153215"/>
            <a:ext cx="44082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i="1" dirty="0">
                <a:latin typeface="Arial Black" panose="020B0A04020102020204" pitchFamily="34" charset="0"/>
              </a:rPr>
              <a:t>Cara </a:t>
            </a:r>
            <a:r>
              <a:rPr lang="en-US" sz="2800" i="1" dirty="0" err="1">
                <a:latin typeface="Arial Black" panose="020B0A04020102020204" pitchFamily="34" charset="0"/>
              </a:rPr>
              <a:t>Kerja</a:t>
            </a:r>
            <a:r>
              <a:rPr lang="en-US" sz="2800" i="1" dirty="0">
                <a:latin typeface="Arial Black" panose="020B0A04020102020204" pitchFamily="34" charset="0"/>
              </a:rPr>
              <a:t> Transistor</a:t>
            </a:r>
          </a:p>
        </p:txBody>
      </p:sp>
      <p:sp>
        <p:nvSpPr>
          <p:cNvPr id="29" name="Subtitle 2"/>
          <p:cNvSpPr>
            <a:spLocks noGrp="1"/>
          </p:cNvSpPr>
          <p:nvPr>
            <p:ph type="subTitle" idx="1"/>
          </p:nvPr>
        </p:nvSpPr>
        <p:spPr>
          <a:xfrm>
            <a:off x="998291" y="859043"/>
            <a:ext cx="11193712" cy="5706726"/>
          </a:xfrm>
        </p:spPr>
        <p:txBody>
          <a:bodyPr>
            <a:noAutofit/>
          </a:bodyPr>
          <a:lstStyle/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 err="1">
                <a:cs typeface="Times New Roman" panose="02020603050405020304" pitchFamily="18" charset="0"/>
              </a:rPr>
              <a:t>Keadaan</a:t>
            </a:r>
            <a:r>
              <a:rPr lang="en-US" sz="2000" dirty="0">
                <a:cs typeface="Times New Roman" panose="02020603050405020304" pitchFamily="18" charset="0"/>
              </a:rPr>
              <a:t> Normal, Collector </a:t>
            </a:r>
            <a:r>
              <a:rPr lang="en-US" sz="2000" dirty="0" err="1">
                <a:cs typeface="Times New Roman" panose="02020603050405020304" pitchFamily="18" charset="0"/>
              </a:rPr>
              <a:t>dan</a:t>
            </a:r>
            <a:r>
              <a:rPr lang="en-US" sz="2000" dirty="0">
                <a:cs typeface="Times New Roman" panose="02020603050405020304" pitchFamily="18" charset="0"/>
              </a:rPr>
              <a:t> Emitter </a:t>
            </a:r>
            <a:r>
              <a:rPr lang="en-US" sz="2000" dirty="0" err="1">
                <a:cs typeface="Times New Roman" panose="02020603050405020304" pitchFamily="18" charset="0"/>
              </a:rPr>
              <a:t>akan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ditutup</a:t>
            </a:r>
            <a:r>
              <a:rPr lang="en-US" sz="2000" dirty="0">
                <a:cs typeface="Times New Roman" panose="02020603050405020304" pitchFamily="18" charset="0"/>
              </a:rPr>
              <a:t>/</a:t>
            </a:r>
            <a:r>
              <a:rPr lang="en-US" sz="2000" dirty="0" err="1">
                <a:cs typeface="Times New Roman" panose="02020603050405020304" pitchFamily="18" charset="0"/>
              </a:rPr>
              <a:t>disekat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oleh</a:t>
            </a:r>
            <a:r>
              <a:rPr lang="en-US" sz="2000" dirty="0">
                <a:cs typeface="Times New Roman" panose="02020603050405020304" pitchFamily="18" charset="0"/>
              </a:rPr>
              <a:t> Base, </a:t>
            </a:r>
            <a:r>
              <a:rPr lang="en-US" sz="2000" dirty="0" err="1">
                <a:cs typeface="Times New Roman" panose="02020603050405020304" pitchFamily="18" charset="0"/>
              </a:rPr>
              <a:t>Sehingga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Arus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tidak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mengalir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>
                <a:cs typeface="Times New Roman" panose="02020603050405020304" pitchFamily="18" charset="0"/>
              </a:rPr>
              <a:t>Agar </a:t>
            </a:r>
            <a:r>
              <a:rPr lang="en-US" sz="2000" dirty="0" err="1">
                <a:cs typeface="Times New Roman" panose="02020603050405020304" pitchFamily="18" charset="0"/>
              </a:rPr>
              <a:t>Arus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mengalir</a:t>
            </a:r>
            <a:r>
              <a:rPr lang="en-US" sz="2000" dirty="0"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cs typeface="Times New Roman" panose="02020603050405020304" pitchFamily="18" charset="0"/>
              </a:rPr>
              <a:t>perlu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membuka</a:t>
            </a:r>
            <a:r>
              <a:rPr lang="en-US" sz="2000" dirty="0">
                <a:cs typeface="Times New Roman" panose="02020603050405020304" pitchFamily="18" charset="0"/>
              </a:rPr>
              <a:t> Base </a:t>
            </a:r>
            <a:r>
              <a:rPr lang="en-US" sz="2000" dirty="0" err="1">
                <a:cs typeface="Times New Roman" panose="02020603050405020304" pitchFamily="18" charset="0"/>
              </a:rPr>
              <a:t>dengan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memberi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Arus</a:t>
            </a:r>
            <a:r>
              <a:rPr lang="en-US" sz="2000" dirty="0">
                <a:cs typeface="Times New Roman" panose="02020603050405020304" pitchFamily="18" charset="0"/>
              </a:rPr>
              <a:t> Base</a:t>
            </a: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 err="1">
                <a:cs typeface="Times New Roman" panose="02020603050405020304" pitchFamily="18" charset="0"/>
              </a:rPr>
              <a:t>Semakin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besar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Arus</a:t>
            </a:r>
            <a:r>
              <a:rPr lang="en-US" sz="2000" dirty="0">
                <a:cs typeface="Times New Roman" panose="02020603050405020304" pitchFamily="18" charset="0"/>
              </a:rPr>
              <a:t> Base </a:t>
            </a:r>
            <a:r>
              <a:rPr lang="en-US" sz="2000" dirty="0" err="1">
                <a:cs typeface="Times New Roman" panose="02020603050405020304" pitchFamily="18" charset="0"/>
              </a:rPr>
              <a:t>terbuka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semakin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besar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Arus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dari</a:t>
            </a:r>
            <a:r>
              <a:rPr lang="en-US" sz="2000" dirty="0">
                <a:cs typeface="Times New Roman" panose="02020603050405020304" pitchFamily="18" charset="0"/>
              </a:rPr>
              <a:t> Collector </a:t>
            </a:r>
            <a:r>
              <a:rPr lang="en-US" sz="2000" dirty="0" err="1">
                <a:cs typeface="Times New Roman" panose="02020603050405020304" pitchFamily="18" charset="0"/>
              </a:rPr>
              <a:t>ke</a:t>
            </a:r>
            <a:r>
              <a:rPr lang="en-US" sz="2000" dirty="0">
                <a:cs typeface="Times New Roman" panose="02020603050405020304" pitchFamily="18" charset="0"/>
              </a:rPr>
              <a:t> Emitter, </a:t>
            </a:r>
            <a:r>
              <a:rPr lang="en-US" sz="2000" dirty="0" err="1">
                <a:cs typeface="Times New Roman" panose="02020603050405020304" pitchFamily="18" charset="0"/>
              </a:rPr>
              <a:t>dan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sebaliknya</a:t>
            </a:r>
            <a:endParaRPr lang="en-US" sz="2000" dirty="0"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r>
              <a:rPr lang="en-US" sz="2000" dirty="0" err="1">
                <a:cs typeface="Times New Roman" panose="02020603050405020304" pitchFamily="18" charset="0"/>
              </a:rPr>
              <a:t>Analogi</a:t>
            </a:r>
            <a:r>
              <a:rPr lang="en-US" sz="2000" dirty="0">
                <a:cs typeface="Times New Roman" panose="02020603050405020304" pitchFamily="18" charset="0"/>
              </a:rPr>
              <a:t> Transistor </a:t>
            </a:r>
            <a:r>
              <a:rPr lang="en-US" sz="2000" dirty="0" err="1">
                <a:cs typeface="Times New Roman" panose="02020603050405020304" pitchFamily="18" charset="0"/>
              </a:rPr>
              <a:t>seperti</a:t>
            </a:r>
            <a:r>
              <a:rPr lang="en-US" sz="2000" dirty="0"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cs typeface="Times New Roman" panose="02020603050405020304" pitchFamily="18" charset="0"/>
              </a:rPr>
              <a:t>Keran</a:t>
            </a:r>
            <a:r>
              <a:rPr lang="en-US" sz="2000" dirty="0">
                <a:cs typeface="Times New Roman" panose="02020603050405020304" pitchFamily="18" charset="0"/>
              </a:rPr>
              <a:t> Air</a:t>
            </a:r>
          </a:p>
          <a:p>
            <a:pPr algn="just"/>
            <a:endParaRPr lang="en-US" sz="1600" dirty="0">
              <a:cs typeface="Times New Roman" panose="02020603050405020304" pitchFamily="18" charset="0"/>
            </a:endParaRPr>
          </a:p>
          <a:p>
            <a:pPr marL="285750" indent="-285750" algn="just">
              <a:buFont typeface="Wingdings" panose="05000000000000000000" pitchFamily="2" charset="2"/>
              <a:buChar char="§"/>
            </a:pPr>
            <a:endParaRPr lang="en-US" sz="1600" dirty="0"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/>
          <a:srcRect l="4462" t="4043" r="4114" b="5421"/>
          <a:stretch/>
        </p:blipFill>
        <p:spPr>
          <a:xfrm>
            <a:off x="5234729" y="2258840"/>
            <a:ext cx="5964573" cy="3506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601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ubtitle 2"/>
          <p:cNvSpPr txBox="1">
            <a:spLocks/>
          </p:cNvSpPr>
          <p:nvPr/>
        </p:nvSpPr>
        <p:spPr>
          <a:xfrm>
            <a:off x="1104646" y="3817180"/>
            <a:ext cx="5178582" cy="16557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just">
              <a:buFontTx/>
              <a:buChar char="-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92048" y="4424926"/>
            <a:ext cx="4376174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Edwardian Script ITC" panose="030303020407070D0804" pitchFamily="66" charset="0"/>
              </a:rPr>
              <a:t>Thank You !!</a:t>
            </a:r>
          </a:p>
          <a:p>
            <a:pPr algn="ctr"/>
            <a:r>
              <a:rPr lang="en-US" sz="4000" dirty="0">
                <a:latin typeface="Edwardian Script ITC" panose="030303020407070D0804" pitchFamily="66" charset="0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9507866" y="6056142"/>
            <a:ext cx="2613761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https://www.youtube.com/@AmelOline/videos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44774" y="5917643"/>
            <a:ext cx="1623448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https://github.com/siagianp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31473" y="6194642"/>
            <a:ext cx="3667194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https://github.com/amelcharolinesgn2/IoT_simulator-mqtt-NodeRed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77163" y="6333141"/>
            <a:ext cx="320472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44566" y="6506265"/>
            <a:ext cx="3839513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https://github.com/amelcharolinesgn2/ClouD-Infrastructure-SISKA-2025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54496" y="359621"/>
            <a:ext cx="4804363" cy="2463094"/>
            <a:chOff x="54496" y="359621"/>
            <a:chExt cx="4804363" cy="2463094"/>
          </a:xfrm>
        </p:grpSpPr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35105" y="1901987"/>
              <a:ext cx="3104181" cy="263526"/>
            </a:xfrm>
            <a:prstGeom prst="rect">
              <a:avLst/>
            </a:prstGeom>
          </p:spPr>
        </p:pic>
        <p:sp>
          <p:nvSpPr>
            <p:cNvPr id="17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54496" y="1922610"/>
              <a:ext cx="4804363" cy="900105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00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dirty="0" smtClean="0">
                  <a:solidFill>
                    <a:schemeClr val="accent1">
                      <a:lumMod val="75000"/>
                    </a:schemeClr>
                  </a:solidFill>
                </a:rPr>
                <a:t>Computer </a:t>
              </a:r>
              <a:r>
                <a:rPr lang="en-US" dirty="0" smtClean="0">
                  <a:solidFill>
                    <a:srgbClr val="00B0F0"/>
                  </a:solidFill>
                </a:rPr>
                <a:t>Vision</a:t>
              </a:r>
              <a:endParaRPr lang="en-US" dirty="0">
                <a:solidFill>
                  <a:srgbClr val="00B0F0"/>
                </a:solidFill>
              </a:endParaRP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AABCB87-2ECC-4C03-B5BB-6EE11C8A4485}"/>
                </a:ext>
              </a:extLst>
            </p:cNvPr>
            <p:cNvGrpSpPr/>
            <p:nvPr/>
          </p:nvGrpSpPr>
          <p:grpSpPr>
            <a:xfrm>
              <a:off x="89638" y="359621"/>
              <a:ext cx="3064025" cy="1516520"/>
              <a:chOff x="4853562" y="1589418"/>
              <a:chExt cx="2609520" cy="1291565"/>
            </a:xfrm>
          </p:grpSpPr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3546B24-FABC-4B2A-A80F-B03654D56A7D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4853562" y="1589418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02E1A011-CDEA-4BBC-B725-C88AF5464891}"/>
                  </a:ext>
                </a:extLst>
              </p:cNvPr>
              <p:cNvSpPr>
                <a:spLocks noChangeAspect="1"/>
              </p:cNvSpPr>
              <p:nvPr/>
            </p:nvSpPr>
            <p:spPr>
              <a:xfrm flipH="1">
                <a:off x="5230834" y="1678285"/>
                <a:ext cx="2232248" cy="1202698"/>
              </a:xfrm>
              <a:custGeom>
                <a:avLst/>
                <a:gdLst/>
                <a:ahLst/>
                <a:cxnLst/>
                <a:rect l="l" t="t" r="r" b="b"/>
                <a:pathLst>
                  <a:path w="1872168" h="1008693">
                    <a:moveTo>
                      <a:pt x="699542" y="162"/>
                    </a:moveTo>
                    <a:cubicBezTo>
                      <a:pt x="683169" y="534"/>
                      <a:pt x="666273" y="1556"/>
                      <a:pt x="648845" y="3291"/>
                    </a:cubicBezTo>
                    <a:cubicBezTo>
                      <a:pt x="357120" y="49686"/>
                      <a:pt x="273885" y="284789"/>
                      <a:pt x="274981" y="413694"/>
                    </a:cubicBezTo>
                    <a:cubicBezTo>
                      <a:pt x="4451" y="471904"/>
                      <a:pt x="-11347" y="662854"/>
                      <a:pt x="4101" y="753457"/>
                    </a:cubicBezTo>
                    <a:cubicBezTo>
                      <a:pt x="42383" y="946818"/>
                      <a:pt x="296257" y="1004273"/>
                      <a:pt x="384912" y="1005378"/>
                    </a:cubicBezTo>
                    <a:lnTo>
                      <a:pt x="1507196" y="1008693"/>
                    </a:lnTo>
                    <a:cubicBezTo>
                      <a:pt x="1646895" y="1000406"/>
                      <a:pt x="1746295" y="947371"/>
                      <a:pt x="1825546" y="854557"/>
                    </a:cubicBezTo>
                    <a:cubicBezTo>
                      <a:pt x="1897410" y="760086"/>
                      <a:pt x="1873973" y="626012"/>
                      <a:pt x="1836613" y="558208"/>
                    </a:cubicBezTo>
                    <a:cubicBezTo>
                      <a:pt x="1808089" y="509360"/>
                      <a:pt x="1675919" y="402617"/>
                      <a:pt x="1507617" y="430504"/>
                    </a:cubicBezTo>
                    <a:cubicBezTo>
                      <a:pt x="1525469" y="335682"/>
                      <a:pt x="1477961" y="244522"/>
                      <a:pt x="1398003" y="206286"/>
                    </a:cubicBezTo>
                    <a:cubicBezTo>
                      <a:pt x="1299806" y="153261"/>
                      <a:pt x="1182195" y="177294"/>
                      <a:pt x="1108176" y="215068"/>
                    </a:cubicBezTo>
                    <a:cubicBezTo>
                      <a:pt x="1072916" y="135306"/>
                      <a:pt x="945134" y="-5422"/>
                      <a:pt x="699542" y="16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sz="3601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B8BC7BC-BF58-402E-9A69-AA9226DE7CAA}"/>
                </a:ext>
              </a:extLst>
            </p:cNvPr>
            <p:cNvGrpSpPr/>
            <p:nvPr/>
          </p:nvGrpSpPr>
          <p:grpSpPr>
            <a:xfrm>
              <a:off x="1356703" y="883096"/>
              <a:ext cx="1334145" cy="620384"/>
              <a:chOff x="7729280" y="2195997"/>
              <a:chExt cx="2143740" cy="996849"/>
            </a:xfrm>
            <a:solidFill>
              <a:schemeClr val="accent6"/>
            </a:solidFill>
          </p:grpSpPr>
          <p:sp>
            <p:nvSpPr>
              <p:cNvPr id="23" name="Freeform: Shape 66">
                <a:extLst>
                  <a:ext uri="{FF2B5EF4-FFF2-40B4-BE49-F238E27FC236}">
                    <a16:creationId xmlns:a16="http://schemas.microsoft.com/office/drawing/2014/main" id="{2A081543-B9FF-49B1-8EEF-ABDF5438EDCD}"/>
                  </a:ext>
                </a:extLst>
              </p:cNvPr>
              <p:cNvSpPr/>
              <p:nvPr/>
            </p:nvSpPr>
            <p:spPr>
              <a:xfrm>
                <a:off x="7729280" y="2195997"/>
                <a:ext cx="2143740" cy="996849"/>
              </a:xfrm>
              <a:custGeom>
                <a:avLst/>
                <a:gdLst/>
                <a:ahLst/>
                <a:cxnLst/>
                <a:rect l="l" t="t" r="r" b="b"/>
                <a:pathLst>
                  <a:path w="1862733" h="866179">
                    <a:moveTo>
                      <a:pt x="794147" y="204787"/>
                    </a:moveTo>
                    <a:cubicBezTo>
                      <a:pt x="745605" y="204787"/>
                      <a:pt x="701637" y="218416"/>
                      <a:pt x="662244" y="245673"/>
                    </a:cubicBezTo>
                    <a:cubicBezTo>
                      <a:pt x="622851" y="272930"/>
                      <a:pt x="594798" y="309240"/>
                      <a:pt x="578086" y="354601"/>
                    </a:cubicBezTo>
                    <a:cubicBezTo>
                      <a:pt x="568536" y="380467"/>
                      <a:pt x="563761" y="406729"/>
                      <a:pt x="563761" y="433387"/>
                    </a:cubicBezTo>
                    <a:cubicBezTo>
                      <a:pt x="563761" y="488299"/>
                      <a:pt x="582064" y="537440"/>
                      <a:pt x="618670" y="580811"/>
                    </a:cubicBezTo>
                    <a:cubicBezTo>
                      <a:pt x="664031" y="634532"/>
                      <a:pt x="722524" y="661392"/>
                      <a:pt x="794147" y="661392"/>
                    </a:cubicBezTo>
                    <a:cubicBezTo>
                      <a:pt x="865771" y="661392"/>
                      <a:pt x="924462" y="634733"/>
                      <a:pt x="970220" y="581415"/>
                    </a:cubicBezTo>
                    <a:cubicBezTo>
                      <a:pt x="1006826" y="538838"/>
                      <a:pt x="1025128" y="489496"/>
                      <a:pt x="1025128" y="433387"/>
                    </a:cubicBezTo>
                    <a:cubicBezTo>
                      <a:pt x="1025128" y="376088"/>
                      <a:pt x="1006826" y="326547"/>
                      <a:pt x="970220" y="284764"/>
                    </a:cubicBezTo>
                    <a:cubicBezTo>
                      <a:pt x="923265" y="231446"/>
                      <a:pt x="864574" y="204787"/>
                      <a:pt x="794147" y="204787"/>
                    </a:cubicBezTo>
                    <a:close/>
                    <a:moveTo>
                      <a:pt x="1304330" y="24408"/>
                    </a:moveTo>
                    <a:lnTo>
                      <a:pt x="1862733" y="24408"/>
                    </a:lnTo>
                    <a:lnTo>
                      <a:pt x="1862733" y="200620"/>
                    </a:lnTo>
                    <a:lnTo>
                      <a:pt x="1687711" y="200620"/>
                    </a:lnTo>
                    <a:lnTo>
                      <a:pt x="1687711" y="837009"/>
                    </a:lnTo>
                    <a:lnTo>
                      <a:pt x="1476375" y="837009"/>
                    </a:lnTo>
                    <a:lnTo>
                      <a:pt x="1476375" y="200620"/>
                    </a:lnTo>
                    <a:lnTo>
                      <a:pt x="1304330" y="200620"/>
                    </a:lnTo>
                    <a:close/>
                    <a:moveTo>
                      <a:pt x="0" y="24408"/>
                    </a:moveTo>
                    <a:lnTo>
                      <a:pt x="211336" y="24408"/>
                    </a:lnTo>
                    <a:lnTo>
                      <a:pt x="211336" y="837009"/>
                    </a:lnTo>
                    <a:lnTo>
                      <a:pt x="0" y="837009"/>
                    </a:lnTo>
                    <a:close/>
                    <a:moveTo>
                      <a:pt x="794147" y="0"/>
                    </a:moveTo>
                    <a:cubicBezTo>
                      <a:pt x="937022" y="0"/>
                      <a:pt x="1050330" y="47426"/>
                      <a:pt x="1134071" y="142280"/>
                    </a:cubicBezTo>
                    <a:cubicBezTo>
                      <a:pt x="1207493" y="225623"/>
                      <a:pt x="1244204" y="322659"/>
                      <a:pt x="1244204" y="433387"/>
                    </a:cubicBezTo>
                    <a:cubicBezTo>
                      <a:pt x="1244204" y="543719"/>
                      <a:pt x="1207493" y="640556"/>
                      <a:pt x="1134071" y="723900"/>
                    </a:cubicBezTo>
                    <a:cubicBezTo>
                      <a:pt x="1050330" y="818753"/>
                      <a:pt x="937022" y="866179"/>
                      <a:pt x="794147" y="866179"/>
                    </a:cubicBezTo>
                    <a:cubicBezTo>
                      <a:pt x="651669" y="866179"/>
                      <a:pt x="538560" y="818753"/>
                      <a:pt x="454819" y="723900"/>
                    </a:cubicBezTo>
                    <a:cubicBezTo>
                      <a:pt x="381397" y="640556"/>
                      <a:pt x="344686" y="543719"/>
                      <a:pt x="344686" y="433387"/>
                    </a:cubicBezTo>
                    <a:cubicBezTo>
                      <a:pt x="344686" y="382984"/>
                      <a:pt x="354608" y="331291"/>
                      <a:pt x="374452" y="278308"/>
                    </a:cubicBezTo>
                    <a:cubicBezTo>
                      <a:pt x="394296" y="225326"/>
                      <a:pt x="420886" y="179983"/>
                      <a:pt x="454224" y="142280"/>
                    </a:cubicBezTo>
                    <a:cubicBezTo>
                      <a:pt x="537964" y="47426"/>
                      <a:pt x="651272" y="0"/>
                      <a:pt x="794147" y="0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rgbClr val="00B0F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sz="2400" dirty="0"/>
              </a:p>
            </p:txBody>
          </p:sp>
          <p:sp>
            <p:nvSpPr>
              <p:cNvPr id="24" name="Freeform: Shape 67">
                <a:extLst>
                  <a:ext uri="{FF2B5EF4-FFF2-40B4-BE49-F238E27FC236}">
                    <a16:creationId xmlns:a16="http://schemas.microsoft.com/office/drawing/2014/main" id="{275D1FAA-C13F-4A6B-BA37-7704CFB7ADCD}"/>
                  </a:ext>
                </a:extLst>
              </p:cNvPr>
              <p:cNvSpPr/>
              <p:nvPr/>
            </p:nvSpPr>
            <p:spPr>
              <a:xfrm>
                <a:off x="8421007" y="2543552"/>
                <a:ext cx="443936" cy="326800"/>
              </a:xfrm>
              <a:custGeom>
                <a:avLst/>
                <a:gdLst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788485 w 3738080"/>
                  <a:gd name="connsiteY5" fmla="*/ 1841061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2624294 w 3738080"/>
                  <a:gd name="connsiteY5" fmla="*/ 1992174 h 2751770"/>
                  <a:gd name="connsiteX6" fmla="*/ 2632248 w 3738080"/>
                  <a:gd name="connsiteY6" fmla="*/ 1992174 h 2751770"/>
                  <a:gd name="connsiteX7" fmla="*/ 2624294 w 3738080"/>
                  <a:gd name="connsiteY7" fmla="*/ 1992174 h 2751770"/>
                  <a:gd name="connsiteX8" fmla="*/ 1858846 w 3738080"/>
                  <a:gd name="connsiteY8" fmla="*/ 1306247 h 2751770"/>
                  <a:gd name="connsiteX9" fmla="*/ 2645621 w 3738080"/>
                  <a:gd name="connsiteY9" fmla="*/ 1504218 h 2751770"/>
                  <a:gd name="connsiteX10" fmla="*/ 2795575 w 3738080"/>
                  <a:gd name="connsiteY10" fmla="*/ 1757331 h 2751770"/>
                  <a:gd name="connsiteX11" fmla="*/ 2539052 w 3738080"/>
                  <a:gd name="connsiteY11" fmla="*/ 1841672 h 2751770"/>
                  <a:gd name="connsiteX12" fmla="*/ 1353947 w 3738080"/>
                  <a:gd name="connsiteY12" fmla="*/ 1778974 h 2751770"/>
                  <a:gd name="connsiteX13" fmla="*/ 982333 w 3738080"/>
                  <a:gd name="connsiteY13" fmla="*/ 1780833 h 2751770"/>
                  <a:gd name="connsiteX14" fmla="*/ 966756 w 3738080"/>
                  <a:gd name="connsiteY14" fmla="*/ 1667407 h 2751770"/>
                  <a:gd name="connsiteX15" fmla="*/ 1217540 w 3738080"/>
                  <a:gd name="connsiteY15" fmla="*/ 1445700 h 2751770"/>
                  <a:gd name="connsiteX16" fmla="*/ 1858846 w 3738080"/>
                  <a:gd name="connsiteY16" fmla="*/ 1306247 h 2751770"/>
                  <a:gd name="connsiteX17" fmla="*/ 1828129 w 3738080"/>
                  <a:gd name="connsiteY17" fmla="*/ 650059 h 2751770"/>
                  <a:gd name="connsiteX18" fmla="*/ 3108200 w 3738080"/>
                  <a:gd name="connsiteY18" fmla="*/ 1008980 h 2751770"/>
                  <a:gd name="connsiteX19" fmla="*/ 3258155 w 3738080"/>
                  <a:gd name="connsiteY19" fmla="*/ 1319033 h 2751770"/>
                  <a:gd name="connsiteX20" fmla="*/ 2937692 w 3738080"/>
                  <a:gd name="connsiteY20" fmla="*/ 1304637 h 2751770"/>
                  <a:gd name="connsiteX21" fmla="*/ 763561 w 3738080"/>
                  <a:gd name="connsiteY21" fmla="*/ 1325535 h 2751770"/>
                  <a:gd name="connsiteX22" fmla="*/ 464412 w 3738080"/>
                  <a:gd name="connsiteY22" fmla="*/ 1278813 h 2751770"/>
                  <a:gd name="connsiteX23" fmla="*/ 450482 w 3738080"/>
                  <a:gd name="connsiteY23" fmla="*/ 1202928 h 2751770"/>
                  <a:gd name="connsiteX24" fmla="*/ 622892 w 3738080"/>
                  <a:gd name="connsiteY24" fmla="*/ 1008979 h 2751770"/>
                  <a:gd name="connsiteX25" fmla="*/ 1828129 w 3738080"/>
                  <a:gd name="connsiteY25" fmla="*/ 650059 h 2751770"/>
                  <a:gd name="connsiteX26" fmla="*/ 1764313 w 3738080"/>
                  <a:gd name="connsiteY26" fmla="*/ 591 h 2751770"/>
                  <a:gd name="connsiteX27" fmla="*/ 3559697 w 3738080"/>
                  <a:gd name="connsiteY27" fmla="*/ 547180 h 2751770"/>
                  <a:gd name="connsiteX28" fmla="*/ 3709650 w 3738080"/>
                  <a:gd name="connsiteY28" fmla="*/ 882310 h 2751770"/>
                  <a:gd name="connsiteX29" fmla="*/ 3367875 w 3738080"/>
                  <a:gd name="connsiteY29" fmla="*/ 834477 h 2751770"/>
                  <a:gd name="connsiteX30" fmla="*/ 318417 w 3738080"/>
                  <a:gd name="connsiteY30" fmla="*/ 884635 h 2751770"/>
                  <a:gd name="connsiteX31" fmla="*/ 19267 w 3738080"/>
                  <a:gd name="connsiteY31" fmla="*/ 846272 h 2751770"/>
                  <a:gd name="connsiteX32" fmla="*/ 275 w 3738080"/>
                  <a:gd name="connsiteY32" fmla="*/ 760137 h 2751770"/>
                  <a:gd name="connsiteX33" fmla="*/ 173484 w 3738080"/>
                  <a:gd name="connsiteY33" fmla="*/ 547180 h 2751770"/>
                  <a:gd name="connsiteX34" fmla="*/ 1764313 w 3738080"/>
                  <a:gd name="connsiteY34" fmla="*/ 591 h 2751770"/>
                  <a:gd name="connsiteX0" fmla="*/ 1869041 w 3738080"/>
                  <a:gd name="connsiteY0" fmla="*/ 1997576 h 2751770"/>
                  <a:gd name="connsiteX1" fmla="*/ 2246138 w 3738080"/>
                  <a:gd name="connsiteY1" fmla="*/ 2374673 h 2751770"/>
                  <a:gd name="connsiteX2" fmla="*/ 1869041 w 3738080"/>
                  <a:gd name="connsiteY2" fmla="*/ 2751770 h 2751770"/>
                  <a:gd name="connsiteX3" fmla="*/ 1491944 w 3738080"/>
                  <a:gd name="connsiteY3" fmla="*/ 2374673 h 2751770"/>
                  <a:gd name="connsiteX4" fmla="*/ 1869041 w 3738080"/>
                  <a:gd name="connsiteY4" fmla="*/ 1997576 h 2751770"/>
                  <a:gd name="connsiteX5" fmla="*/ 1858846 w 3738080"/>
                  <a:gd name="connsiteY5" fmla="*/ 1306247 h 2751770"/>
                  <a:gd name="connsiteX6" fmla="*/ 2645621 w 3738080"/>
                  <a:gd name="connsiteY6" fmla="*/ 1504218 h 2751770"/>
                  <a:gd name="connsiteX7" fmla="*/ 2795575 w 3738080"/>
                  <a:gd name="connsiteY7" fmla="*/ 1757331 h 2751770"/>
                  <a:gd name="connsiteX8" fmla="*/ 2539052 w 3738080"/>
                  <a:gd name="connsiteY8" fmla="*/ 1841672 h 2751770"/>
                  <a:gd name="connsiteX9" fmla="*/ 1353947 w 3738080"/>
                  <a:gd name="connsiteY9" fmla="*/ 1778974 h 2751770"/>
                  <a:gd name="connsiteX10" fmla="*/ 982333 w 3738080"/>
                  <a:gd name="connsiteY10" fmla="*/ 1780833 h 2751770"/>
                  <a:gd name="connsiteX11" fmla="*/ 966756 w 3738080"/>
                  <a:gd name="connsiteY11" fmla="*/ 1667407 h 2751770"/>
                  <a:gd name="connsiteX12" fmla="*/ 1217540 w 3738080"/>
                  <a:gd name="connsiteY12" fmla="*/ 1445700 h 2751770"/>
                  <a:gd name="connsiteX13" fmla="*/ 1858846 w 3738080"/>
                  <a:gd name="connsiteY13" fmla="*/ 1306247 h 2751770"/>
                  <a:gd name="connsiteX14" fmla="*/ 1828129 w 3738080"/>
                  <a:gd name="connsiteY14" fmla="*/ 650059 h 2751770"/>
                  <a:gd name="connsiteX15" fmla="*/ 3108200 w 3738080"/>
                  <a:gd name="connsiteY15" fmla="*/ 1008980 h 2751770"/>
                  <a:gd name="connsiteX16" fmla="*/ 3258155 w 3738080"/>
                  <a:gd name="connsiteY16" fmla="*/ 1319033 h 2751770"/>
                  <a:gd name="connsiteX17" fmla="*/ 2937692 w 3738080"/>
                  <a:gd name="connsiteY17" fmla="*/ 1304637 h 2751770"/>
                  <a:gd name="connsiteX18" fmla="*/ 763561 w 3738080"/>
                  <a:gd name="connsiteY18" fmla="*/ 1325535 h 2751770"/>
                  <a:gd name="connsiteX19" fmla="*/ 464412 w 3738080"/>
                  <a:gd name="connsiteY19" fmla="*/ 1278813 h 2751770"/>
                  <a:gd name="connsiteX20" fmla="*/ 450482 w 3738080"/>
                  <a:gd name="connsiteY20" fmla="*/ 1202928 h 2751770"/>
                  <a:gd name="connsiteX21" fmla="*/ 622892 w 3738080"/>
                  <a:gd name="connsiteY21" fmla="*/ 1008979 h 2751770"/>
                  <a:gd name="connsiteX22" fmla="*/ 1828129 w 3738080"/>
                  <a:gd name="connsiteY22" fmla="*/ 650059 h 2751770"/>
                  <a:gd name="connsiteX23" fmla="*/ 1764313 w 3738080"/>
                  <a:gd name="connsiteY23" fmla="*/ 591 h 2751770"/>
                  <a:gd name="connsiteX24" fmla="*/ 3559697 w 3738080"/>
                  <a:gd name="connsiteY24" fmla="*/ 547180 h 2751770"/>
                  <a:gd name="connsiteX25" fmla="*/ 3709650 w 3738080"/>
                  <a:gd name="connsiteY25" fmla="*/ 882310 h 2751770"/>
                  <a:gd name="connsiteX26" fmla="*/ 3367875 w 3738080"/>
                  <a:gd name="connsiteY26" fmla="*/ 834477 h 2751770"/>
                  <a:gd name="connsiteX27" fmla="*/ 318417 w 3738080"/>
                  <a:gd name="connsiteY27" fmla="*/ 884635 h 2751770"/>
                  <a:gd name="connsiteX28" fmla="*/ 19267 w 3738080"/>
                  <a:gd name="connsiteY28" fmla="*/ 846272 h 2751770"/>
                  <a:gd name="connsiteX29" fmla="*/ 275 w 3738080"/>
                  <a:gd name="connsiteY29" fmla="*/ 760137 h 2751770"/>
                  <a:gd name="connsiteX30" fmla="*/ 173484 w 3738080"/>
                  <a:gd name="connsiteY30" fmla="*/ 547180 h 2751770"/>
                  <a:gd name="connsiteX31" fmla="*/ 1764313 w 3738080"/>
                  <a:gd name="connsiteY31" fmla="*/ 591 h 27517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3738080" h="2751770">
                    <a:moveTo>
                      <a:pt x="1869041" y="1997576"/>
                    </a:moveTo>
                    <a:cubicBezTo>
                      <a:pt x="2077306" y="1997576"/>
                      <a:pt x="2246138" y="2166408"/>
                      <a:pt x="2246138" y="2374673"/>
                    </a:cubicBezTo>
                    <a:cubicBezTo>
                      <a:pt x="2246138" y="2582938"/>
                      <a:pt x="2077306" y="2751770"/>
                      <a:pt x="1869041" y="2751770"/>
                    </a:cubicBezTo>
                    <a:cubicBezTo>
                      <a:pt x="1660776" y="2751770"/>
                      <a:pt x="1491944" y="2582938"/>
                      <a:pt x="1491944" y="2374673"/>
                    </a:cubicBezTo>
                    <a:cubicBezTo>
                      <a:pt x="1491944" y="2166408"/>
                      <a:pt x="1660776" y="1997576"/>
                      <a:pt x="1869041" y="1997576"/>
                    </a:cubicBezTo>
                    <a:close/>
                    <a:moveTo>
                      <a:pt x="1858846" y="1306247"/>
                    </a:moveTo>
                    <a:cubicBezTo>
                      <a:pt x="2165924" y="1301758"/>
                      <a:pt x="2404940" y="1399722"/>
                      <a:pt x="2645621" y="1504218"/>
                    </a:cubicBezTo>
                    <a:cubicBezTo>
                      <a:pt x="2813424" y="1597955"/>
                      <a:pt x="2823993" y="1678797"/>
                      <a:pt x="2795575" y="1757331"/>
                    </a:cubicBezTo>
                    <a:cubicBezTo>
                      <a:pt x="2761471" y="1842158"/>
                      <a:pt x="2685239" y="1908552"/>
                      <a:pt x="2539052" y="1841672"/>
                    </a:cubicBezTo>
                    <a:cubicBezTo>
                      <a:pt x="2347207" y="1684231"/>
                      <a:pt x="1733351" y="1556050"/>
                      <a:pt x="1353947" y="1778974"/>
                    </a:cubicBezTo>
                    <a:cubicBezTo>
                      <a:pt x="1250080" y="1855218"/>
                      <a:pt x="1037749" y="1915097"/>
                      <a:pt x="982333" y="1780833"/>
                    </a:cubicBezTo>
                    <a:cubicBezTo>
                      <a:pt x="968480" y="1736637"/>
                      <a:pt x="963386" y="1699601"/>
                      <a:pt x="966756" y="1667407"/>
                    </a:cubicBezTo>
                    <a:cubicBezTo>
                      <a:pt x="976866" y="1570822"/>
                      <a:pt x="1063141" y="1517802"/>
                      <a:pt x="1217540" y="1445700"/>
                    </a:cubicBezTo>
                    <a:cubicBezTo>
                      <a:pt x="1465851" y="1348519"/>
                      <a:pt x="1674601" y="1308942"/>
                      <a:pt x="1858846" y="1306247"/>
                    </a:cubicBezTo>
                    <a:close/>
                    <a:moveTo>
                      <a:pt x="1828129" y="650059"/>
                    </a:moveTo>
                    <a:cubicBezTo>
                      <a:pt x="2445754" y="646836"/>
                      <a:pt x="2937662" y="894034"/>
                      <a:pt x="3108200" y="1008980"/>
                    </a:cubicBezTo>
                    <a:cubicBezTo>
                      <a:pt x="3228810" y="1075858"/>
                      <a:pt x="3343409" y="1171509"/>
                      <a:pt x="3258155" y="1319033"/>
                    </a:cubicBezTo>
                    <a:cubicBezTo>
                      <a:pt x="3134282" y="1435449"/>
                      <a:pt x="3057301" y="1393031"/>
                      <a:pt x="2937692" y="1304637"/>
                    </a:cubicBezTo>
                    <a:cubicBezTo>
                      <a:pt x="2647778" y="1191783"/>
                      <a:pt x="2008321" y="619142"/>
                      <a:pt x="763561" y="1325535"/>
                    </a:cubicBezTo>
                    <a:cubicBezTo>
                      <a:pt x="621636" y="1425852"/>
                      <a:pt x="511304" y="1376178"/>
                      <a:pt x="464412" y="1278813"/>
                    </a:cubicBezTo>
                    <a:cubicBezTo>
                      <a:pt x="452398" y="1252494"/>
                      <a:pt x="448110" y="1227223"/>
                      <a:pt x="450482" y="1202928"/>
                    </a:cubicBezTo>
                    <a:cubicBezTo>
                      <a:pt x="457599" y="1130049"/>
                      <a:pt x="524660" y="1065987"/>
                      <a:pt x="622892" y="1008979"/>
                    </a:cubicBezTo>
                    <a:cubicBezTo>
                      <a:pt x="1041721" y="744082"/>
                      <a:pt x="1457554" y="651995"/>
                      <a:pt x="1828129" y="650059"/>
                    </a:cubicBezTo>
                    <a:close/>
                    <a:moveTo>
                      <a:pt x="1764313" y="591"/>
                    </a:moveTo>
                    <a:cubicBezTo>
                      <a:pt x="2430887" y="-13278"/>
                      <a:pt x="3056659" y="218017"/>
                      <a:pt x="3559697" y="547180"/>
                    </a:cubicBezTo>
                    <a:cubicBezTo>
                      <a:pt x="3671781" y="597338"/>
                      <a:pt x="3794905" y="759863"/>
                      <a:pt x="3709650" y="882310"/>
                    </a:cubicBezTo>
                    <a:cubicBezTo>
                      <a:pt x="3594303" y="984791"/>
                      <a:pt x="3449118" y="907547"/>
                      <a:pt x="3367875" y="834477"/>
                    </a:cubicBezTo>
                    <a:cubicBezTo>
                      <a:pt x="3193985" y="725799"/>
                      <a:pt x="1920315" y="-235561"/>
                      <a:pt x="318417" y="884635"/>
                    </a:cubicBezTo>
                    <a:cubicBezTo>
                      <a:pt x="189280" y="993311"/>
                      <a:pt x="70419" y="922739"/>
                      <a:pt x="19267" y="846272"/>
                    </a:cubicBezTo>
                    <a:cubicBezTo>
                      <a:pt x="4410" y="817516"/>
                      <a:pt x="-1388" y="788500"/>
                      <a:pt x="275" y="760137"/>
                    </a:cubicBezTo>
                    <a:cubicBezTo>
                      <a:pt x="5260" y="675044"/>
                      <a:pt x="77384" y="595829"/>
                      <a:pt x="173484" y="547180"/>
                    </a:cubicBezTo>
                    <a:cubicBezTo>
                      <a:pt x="702741" y="170471"/>
                      <a:pt x="1245868" y="11376"/>
                      <a:pt x="1764313" y="591"/>
                    </a:cubicBezTo>
                    <a:close/>
                  </a:path>
                </a:pathLst>
              </a:cu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400"/>
              </a:p>
            </p:txBody>
          </p:sp>
        </p:grpSp>
        <p:sp>
          <p:nvSpPr>
            <p:cNvPr id="20" name="Subtitle 2">
              <a:extLst>
                <a:ext uri="{FF2B5EF4-FFF2-40B4-BE49-F238E27FC236}">
                  <a16:creationId xmlns:a16="http://schemas.microsoft.com/office/drawing/2014/main" id="{53858C97-DA2F-8866-47CC-CDF4077BBF9D}"/>
                </a:ext>
              </a:extLst>
            </p:cNvPr>
            <p:cNvSpPr txBox="1">
              <a:spLocks/>
            </p:cNvSpPr>
            <p:nvPr/>
          </p:nvSpPr>
          <p:spPr>
            <a:xfrm>
              <a:off x="1727403" y="1099395"/>
              <a:ext cx="729275" cy="2033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fontScale="62500" lnSpcReduction="20000"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600" dirty="0" smtClean="0">
                  <a:solidFill>
                    <a:srgbClr val="7030A0"/>
                  </a:solidFill>
                </a:rPr>
                <a:t>PDS</a:t>
              </a:r>
              <a:endParaRPr lang="en-US" sz="1600" dirty="0">
                <a:solidFill>
                  <a:srgbClr val="7030A0"/>
                </a:solidFill>
              </a:endParaRPr>
            </a:p>
          </p:txBody>
        </p:sp>
        <p:sp>
          <p:nvSpPr>
            <p:cNvPr id="21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788714" y="1452073"/>
              <a:ext cx="938689" cy="470538"/>
            </a:xfrm>
            <a:prstGeom prst="rect">
              <a:avLst/>
            </a:prstGeom>
            <a:solidFill>
              <a:schemeClr val="bg1"/>
            </a:solidFill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5">
                      <a:lumMod val="50000"/>
                    </a:schemeClr>
                  </a:solidFill>
                </a:rPr>
                <a:t>SDN</a:t>
              </a:r>
              <a:endParaRPr lang="en-US" sz="2800" dirty="0">
                <a:solidFill>
                  <a:schemeClr val="accent5">
                    <a:lumMod val="50000"/>
                  </a:schemeClr>
                </a:solidFill>
              </a:endParaRPr>
            </a:p>
          </p:txBody>
        </p:sp>
        <p:sp>
          <p:nvSpPr>
            <p:cNvPr id="22" name="Title 4">
              <a:extLst>
                <a:ext uri="{FF2B5EF4-FFF2-40B4-BE49-F238E27FC236}">
                  <a16:creationId xmlns:a16="http://schemas.microsoft.com/office/drawing/2014/main" id="{27228BAE-048B-681E-DD8D-BD96B22560E0}"/>
                </a:ext>
              </a:extLst>
            </p:cNvPr>
            <p:cNvSpPr txBox="1">
              <a:spLocks/>
            </p:cNvSpPr>
            <p:nvPr/>
          </p:nvSpPr>
          <p:spPr>
            <a:xfrm>
              <a:off x="1449719" y="1352665"/>
              <a:ext cx="928870" cy="581223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 fontScale="97500"/>
            </a:bodyPr>
            <a:lstStyle>
              <a:lvl1pPr algn="ctr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n-US" sz="2800" dirty="0" smtClean="0">
                  <a:solidFill>
                    <a:schemeClr val="accent1">
                      <a:lumMod val="75000"/>
                    </a:schemeClr>
                  </a:solidFill>
                </a:rPr>
                <a:t>NFV</a:t>
              </a:r>
              <a:endParaRPr lang="en-US" sz="28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0130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23686</TotalTime>
  <Words>1108</Words>
  <Application>Microsoft Office PowerPoint</Application>
  <PresentationFormat>Widescreen</PresentationFormat>
  <Paragraphs>160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맑은 고딕</vt:lpstr>
      <vt:lpstr>Arial</vt:lpstr>
      <vt:lpstr>Arial Black</vt:lpstr>
      <vt:lpstr>Calibri</vt:lpstr>
      <vt:lpstr>Calibri Light</vt:lpstr>
      <vt:lpstr>Edwardian Script ITC</vt:lpstr>
      <vt:lpstr>Times New Roman</vt:lpstr>
      <vt:lpstr>Wingdings</vt:lpstr>
      <vt:lpstr>Office Theme</vt:lpstr>
      <vt:lpstr>9.1_Transistors </vt:lpstr>
      <vt:lpstr>What is a transistor?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 Tracking, Counting, and Behaviour Analysis in Digital Aquaculture</dc:title>
  <dc:creator>pds</dc:creator>
  <cp:lastModifiedBy>Gde</cp:lastModifiedBy>
  <cp:revision>82</cp:revision>
  <dcterms:created xsi:type="dcterms:W3CDTF">2024-10-22T07:52:57Z</dcterms:created>
  <dcterms:modified xsi:type="dcterms:W3CDTF">2026-03-17T08:08:58Z</dcterms:modified>
</cp:coreProperties>
</file>