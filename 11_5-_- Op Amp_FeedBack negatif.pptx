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78" r:id="rId11"/>
    <p:sldId id="29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83" d="100"/>
          <a:sy n="83" d="100"/>
        </p:scale>
        <p:origin x="17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11_5. </a:t>
          </a:r>
          <a:r>
            <a:rPr lang="en-US" sz="4000" b="1" dirty="0" smtClean="0"/>
            <a:t>Op </a:t>
          </a:r>
          <a:r>
            <a:rPr lang="en-US" sz="4000" b="1" dirty="0" err="1" smtClean="0"/>
            <a:t>Amp_FeedBack</a:t>
          </a:r>
          <a:r>
            <a:rPr lang="en-US" sz="4000" b="1" dirty="0" smtClean="0"/>
            <a:t> </a:t>
          </a:r>
          <a:r>
            <a:rPr lang="en-US" sz="4000" b="1" dirty="0" err="1" smtClean="0"/>
            <a:t>negatif</a:t>
          </a:r>
          <a:r>
            <a:rPr lang="en-US" sz="4000" b="1" dirty="0" smtClean="0"/>
            <a:t>.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11_5. </a:t>
          </a:r>
          <a:r>
            <a:rPr lang="en-US" sz="4000" b="1" kern="1200" dirty="0" smtClean="0"/>
            <a:t>Op </a:t>
          </a:r>
          <a:r>
            <a:rPr lang="en-US" sz="4000" b="1" kern="1200" dirty="0" err="1" smtClean="0"/>
            <a:t>Amp_FeedBack</a:t>
          </a:r>
          <a:r>
            <a:rPr lang="en-US" sz="4000" b="1" kern="1200" dirty="0" smtClean="0"/>
            <a:t> </a:t>
          </a:r>
          <a:r>
            <a:rPr lang="en-US" sz="4000" b="1" kern="1200" dirty="0" err="1" smtClean="0"/>
            <a:t>negatif</a:t>
          </a:r>
          <a:r>
            <a:rPr lang="en-US" sz="4000" b="1" kern="1200" dirty="0" smtClean="0"/>
            <a:t>.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C6601-1967-4F3B-AB80-A6F029376E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42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C6601-1967-4F3B-AB80-A6F029376E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01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740851634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Op </a:t>
            </a:r>
            <a:r>
              <a:rPr lang="en-US" b="1" dirty="0" err="1" smtClean="0"/>
              <a:t>Amp_FeedBack</a:t>
            </a:r>
            <a:r>
              <a:rPr lang="en-US" b="1" dirty="0" smtClean="0"/>
              <a:t> </a:t>
            </a:r>
            <a:r>
              <a:rPr lang="en-US" b="1" dirty="0" err="1"/>
              <a:t>negatif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op amp feedback </a:t>
            </a:r>
            <a:r>
              <a:rPr lang="en-US" dirty="0" err="1" smtClean="0"/>
              <a:t>negatif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296492"/>
            <a:ext cx="2100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Umpan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Negatif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9372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id-ID" dirty="0" smtClean="0"/>
              <a:t>umpan-balik negatif </a:t>
            </a:r>
            <a:r>
              <a:rPr lang="id-ID" dirty="0" smtClean="0"/>
              <a:t>(</a:t>
            </a:r>
            <a:r>
              <a:rPr lang="en-US" dirty="0" smtClean="0"/>
              <a:t>FBN</a:t>
            </a:r>
            <a:r>
              <a:rPr lang="id-ID" dirty="0" smtClean="0"/>
              <a:t>)</a:t>
            </a:r>
            <a:r>
              <a:rPr lang="en-US" dirty="0" smtClean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smtClean="0"/>
              <a:t>lain</a:t>
            </a:r>
            <a:r>
              <a:rPr lang="id-ID" dirty="0" smtClean="0"/>
              <a:t> (</a:t>
            </a:r>
            <a:r>
              <a:rPr lang="id-ID" i="1" dirty="0" smtClean="0"/>
              <a:t>Sedra 10.2</a:t>
            </a:r>
            <a:r>
              <a:rPr lang="id-ID" dirty="0" smtClean="0"/>
              <a:t>)</a:t>
            </a:r>
            <a:r>
              <a:rPr lang="en-US" dirty="0" smtClean="0"/>
              <a:t>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Mengurangi</a:t>
            </a:r>
            <a:r>
              <a:rPr lang="en-US" dirty="0" smtClean="0"/>
              <a:t> </a:t>
            </a:r>
            <a:r>
              <a:rPr lang="en-US" dirty="0" err="1"/>
              <a:t>kesensitifan</a:t>
            </a:r>
            <a:r>
              <a:rPr lang="en-US" dirty="0"/>
              <a:t> gain </a:t>
            </a:r>
            <a:r>
              <a:rPr lang="en-US" dirty="0" err="1"/>
              <a:t>terhadap</a:t>
            </a:r>
            <a:r>
              <a:rPr lang="en-US" dirty="0"/>
              <a:t> parameter-parameter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id-ID" dirty="0" smtClean="0"/>
              <a:t>aktif </a:t>
            </a:r>
            <a:r>
              <a:rPr lang="en-US" dirty="0" err="1" smtClean="0"/>
              <a:t>rangkaian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Mengurangi</a:t>
            </a:r>
            <a:r>
              <a:rPr lang="en-US" dirty="0" smtClean="0"/>
              <a:t> </a:t>
            </a:r>
            <a:r>
              <a:rPr lang="en-US" dirty="0" err="1"/>
              <a:t>distorsi</a:t>
            </a:r>
            <a:r>
              <a:rPr lang="en-US" dirty="0"/>
              <a:t> non-linear.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Mengendalikan</a:t>
            </a:r>
            <a:r>
              <a:rPr lang="en-US" dirty="0" smtClean="0"/>
              <a:t> </a:t>
            </a:r>
            <a:r>
              <a:rPr lang="en-US" dirty="0" err="1"/>
              <a:t>impedansi</a:t>
            </a:r>
            <a:r>
              <a:rPr lang="en-US" dirty="0"/>
              <a:t> input </a:t>
            </a:r>
            <a:r>
              <a:rPr lang="en-US" dirty="0" err="1"/>
              <a:t>atau</a:t>
            </a:r>
            <a:r>
              <a:rPr lang="en-US" dirty="0"/>
              <a:t> pun output (</a:t>
            </a:r>
            <a:r>
              <a:rPr lang="en-US" dirty="0" err="1"/>
              <a:t>menaikkan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menurunkan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Memperlebar</a:t>
            </a:r>
            <a:r>
              <a:rPr lang="en-US" dirty="0" smtClean="0"/>
              <a:t> </a:t>
            </a:r>
            <a:r>
              <a:rPr lang="en-US" dirty="0"/>
              <a:t>bandwidth.</a:t>
            </a:r>
          </a:p>
        </p:txBody>
      </p:sp>
    </p:spTree>
    <p:extLst>
      <p:ext uri="{BB962C8B-B14F-4D97-AF65-F5344CB8AC3E}">
        <p14:creationId xmlns:p14="http://schemas.microsoft.com/office/powerpoint/2010/main" val="136205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smtClean="0"/>
              <a:t>FBN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smtClean="0"/>
              <a:t>Terdapat </a:t>
            </a:r>
            <a:r>
              <a:rPr lang="nl-NL" dirty="0"/>
              <a:t>(open-loop) gain yang </a:t>
            </a:r>
            <a:r>
              <a:rPr lang="id-ID" dirty="0" smtClean="0"/>
              <a:t>seolah-olah </a:t>
            </a:r>
            <a:r>
              <a:rPr lang="nl-NL" dirty="0"/>
              <a:t>tidak terpakai.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Bertambahnya</a:t>
            </a:r>
            <a:r>
              <a:rPr lang="en-US" dirty="0" smtClean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 smtClean="0"/>
              <a:t>.</a:t>
            </a:r>
            <a:endParaRPr lang="id-ID" dirty="0" smtClean="0"/>
          </a:p>
          <a:p>
            <a:pPr marL="514350" indent="-514350">
              <a:buFont typeface="+mj-lt"/>
              <a:buAutoNum type="arabicPeriod"/>
            </a:pPr>
            <a:r>
              <a:rPr lang="id-ID" dirty="0" smtClean="0"/>
              <a:t>Kemungkinan rangkaian menjadi tidak stabil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37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Bangun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smtClean="0"/>
              <a:t>FBN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47801"/>
            <a:ext cx="8229600" cy="2427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05000" y="4027945"/>
            <a:ext cx="838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</a:t>
            </a:r>
            <a:r>
              <a:rPr lang="id-ID" sz="2800" dirty="0"/>
              <a:t> </a:t>
            </a:r>
            <a:r>
              <a:rPr lang="en-US" sz="2800" dirty="0"/>
              <a:t>: </a:t>
            </a:r>
            <a:r>
              <a:rPr lang="en-US" sz="2800" i="1" dirty="0"/>
              <a:t>Open-loop Gain</a:t>
            </a:r>
            <a:r>
              <a:rPr lang="en-US" sz="2800" dirty="0"/>
              <a:t> (</a:t>
            </a:r>
            <a:r>
              <a:rPr lang="en-US" sz="2800" dirty="0" err="1"/>
              <a:t>berupa</a:t>
            </a:r>
            <a:r>
              <a:rPr lang="en-US" sz="2800" dirty="0"/>
              <a:t> </a:t>
            </a:r>
            <a:r>
              <a:rPr lang="en-US" sz="2800" dirty="0" err="1"/>
              <a:t>rangkaian</a:t>
            </a:r>
            <a:r>
              <a:rPr lang="en-US" sz="2800" dirty="0"/>
              <a:t> </a:t>
            </a:r>
            <a:r>
              <a:rPr lang="en-US" sz="2800" dirty="0" err="1"/>
              <a:t>aktif</a:t>
            </a:r>
            <a:r>
              <a:rPr lang="en-US" sz="2800" dirty="0"/>
              <a:t>).</a:t>
            </a:r>
          </a:p>
          <a:p>
            <a:r>
              <a:rPr lang="en-US" sz="2800" i="1" dirty="0">
                <a:sym typeface="Symbol"/>
              </a:rPr>
              <a:t></a:t>
            </a:r>
            <a:r>
              <a:rPr lang="id-ID" sz="2800" i="1" dirty="0">
                <a:sym typeface="Symbol"/>
              </a:rPr>
              <a:t> </a:t>
            </a:r>
            <a:r>
              <a:rPr lang="en-US" sz="2800" dirty="0"/>
              <a:t>: </a:t>
            </a:r>
            <a:r>
              <a:rPr lang="en-US" sz="2800" dirty="0" err="1"/>
              <a:t>Faktor</a:t>
            </a:r>
            <a:r>
              <a:rPr lang="en-US" sz="2800" dirty="0"/>
              <a:t> </a:t>
            </a:r>
            <a:r>
              <a:rPr lang="en-US" sz="2800" dirty="0" err="1"/>
              <a:t>Umpan-balik</a:t>
            </a:r>
            <a:r>
              <a:rPr lang="en-US" sz="2800" dirty="0"/>
              <a:t> (</a:t>
            </a:r>
            <a:r>
              <a:rPr lang="id-ID" sz="2800" dirty="0"/>
              <a:t>biasanya </a:t>
            </a:r>
            <a:r>
              <a:rPr lang="en-US" sz="2800" dirty="0" err="1"/>
              <a:t>berupa</a:t>
            </a:r>
            <a:r>
              <a:rPr lang="en-US" sz="2800" dirty="0"/>
              <a:t> </a:t>
            </a:r>
            <a:r>
              <a:rPr lang="en-US" sz="2800" dirty="0" err="1"/>
              <a:t>rangkaian</a:t>
            </a:r>
            <a:r>
              <a:rPr lang="en-US" sz="2800" dirty="0"/>
              <a:t> </a:t>
            </a:r>
            <a:r>
              <a:rPr lang="en-US" sz="2800" dirty="0" err="1"/>
              <a:t>pasif</a:t>
            </a:r>
            <a:r>
              <a:rPr lang="en-US" sz="2800" dirty="0"/>
              <a:t>).</a:t>
            </a:r>
          </a:p>
          <a:p>
            <a:r>
              <a:rPr lang="en-US" sz="2800" dirty="0" err="1"/>
              <a:t>Sinyal</a:t>
            </a:r>
            <a:r>
              <a:rPr lang="en-US" sz="2800" dirty="0"/>
              <a:t> </a:t>
            </a:r>
            <a:r>
              <a:rPr lang="en-US" sz="2800" i="1" dirty="0"/>
              <a:t>x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berupa</a:t>
            </a:r>
            <a:r>
              <a:rPr lang="en-US" sz="2800" dirty="0"/>
              <a:t> </a:t>
            </a:r>
            <a:r>
              <a:rPr lang="en-US" sz="2800" dirty="0" err="1"/>
              <a:t>tegangan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arus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Rangkaian</a:t>
            </a:r>
            <a:r>
              <a:rPr lang="en-US" sz="2800" dirty="0"/>
              <a:t> A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i="1" dirty="0">
                <a:sym typeface="Symbol"/>
              </a:rPr>
              <a:t></a:t>
            </a:r>
            <a:r>
              <a:rPr lang="en-US" sz="2800" dirty="0"/>
              <a:t> </a:t>
            </a:r>
            <a:r>
              <a:rPr lang="en-US" sz="2800" dirty="0" err="1"/>
              <a:t>dianggap</a:t>
            </a:r>
            <a:r>
              <a:rPr lang="en-US" sz="2800" dirty="0"/>
              <a:t> unilateral (</a:t>
            </a:r>
            <a:r>
              <a:rPr lang="en-US" sz="2800" dirty="0" err="1"/>
              <a:t>searah</a:t>
            </a:r>
            <a:r>
              <a:rPr lang="en-US" sz="2800" dirty="0"/>
              <a:t> </a:t>
            </a:r>
            <a:r>
              <a:rPr lang="en-US" sz="2800" dirty="0" err="1"/>
              <a:t>panah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1095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dirty="0" err="1"/>
              <a:t>Bangun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smtClean="0"/>
              <a:t>FBN</a:t>
            </a: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19996"/>
            <a:ext cx="7239000" cy="213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751600"/>
            <a:ext cx="2000770" cy="61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861400"/>
            <a:ext cx="1876362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066800"/>
            <a:ext cx="2396160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52600" y="3831748"/>
            <a:ext cx="4682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i="1" dirty="0"/>
              <a:t>(Closed-loop) </a:t>
            </a:r>
            <a:r>
              <a:rPr lang="en-US" sz="2400" i="1" dirty="0"/>
              <a:t>Gain</a:t>
            </a:r>
            <a:r>
              <a:rPr lang="id-ID" sz="2400" i="1" dirty="0"/>
              <a:t> umpan-balik</a:t>
            </a:r>
            <a:r>
              <a:rPr lang="en-US" sz="2400" i="1" dirty="0"/>
              <a:t>: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4248336"/>
            <a:ext cx="2825073" cy="111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876800" y="4350604"/>
            <a:ext cx="381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</a:t>
            </a:r>
            <a:r>
              <a:rPr lang="en-US" sz="2400" i="1" dirty="0">
                <a:sym typeface="Symbol"/>
              </a:rPr>
              <a:t></a:t>
            </a:r>
            <a:r>
              <a:rPr lang="en-US" sz="2400" dirty="0"/>
              <a:t>: loop gain.</a:t>
            </a:r>
          </a:p>
          <a:p>
            <a:r>
              <a:rPr lang="en-US" sz="2400" dirty="0"/>
              <a:t>1+ A</a:t>
            </a:r>
            <a:r>
              <a:rPr lang="en-US" sz="2400" i="1" dirty="0">
                <a:sym typeface="Symbol"/>
              </a:rPr>
              <a:t></a:t>
            </a:r>
            <a:r>
              <a:rPr lang="en-US" sz="2400" dirty="0"/>
              <a:t>:  </a:t>
            </a:r>
            <a:r>
              <a:rPr lang="id-ID" sz="2400" dirty="0"/>
              <a:t>nilai </a:t>
            </a:r>
            <a:r>
              <a:rPr lang="en-US" sz="2400" dirty="0" err="1"/>
              <a:t>umpan-balik</a:t>
            </a:r>
            <a:r>
              <a:rPr lang="en-US" sz="24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9624" y="5405736"/>
            <a:ext cx="5820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Bila</a:t>
            </a:r>
            <a:r>
              <a:rPr lang="en-US" sz="2400" dirty="0"/>
              <a:t> A</a:t>
            </a:r>
            <a:r>
              <a:rPr lang="en-US" sz="2400" i="1" dirty="0">
                <a:sym typeface="Symbol"/>
              </a:rPr>
              <a:t> </a:t>
            </a:r>
            <a:r>
              <a:rPr lang="en-US" sz="2400" dirty="0"/>
              <a:t>&gt;&gt; 1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i="1" dirty="0"/>
              <a:t>gain</a:t>
            </a:r>
            <a:r>
              <a:rPr lang="id-ID" sz="2400" i="1" dirty="0"/>
              <a:t> umpan-balik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: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141994"/>
            <a:ext cx="1271990" cy="1030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828800" y="5950804"/>
            <a:ext cx="6934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/>
              <a:t>P</a:t>
            </a:r>
            <a:r>
              <a:rPr lang="sv-SE" sz="2400" dirty="0"/>
              <a:t>enguatan hampir hanya ditentukan oleh rangkaian </a:t>
            </a:r>
            <a:r>
              <a:rPr lang="sv-SE" sz="2400" dirty="0">
                <a:solidFill>
                  <a:schemeClr val="bg1"/>
                </a:solidFill>
              </a:rPr>
              <a:t>pasif </a:t>
            </a:r>
            <a:r>
              <a:rPr lang="sv-SE" sz="2400" i="1" dirty="0">
                <a:solidFill>
                  <a:schemeClr val="bg1"/>
                </a:solidFill>
                <a:sym typeface="Symbol"/>
              </a:rPr>
              <a:t></a:t>
            </a:r>
            <a:r>
              <a:rPr lang="sv-SE" sz="2400" i="1" dirty="0">
                <a:solidFill>
                  <a:schemeClr val="bg1"/>
                </a:solidFill>
              </a:rPr>
              <a:t>,</a:t>
            </a:r>
            <a:r>
              <a:rPr lang="sv-SE" sz="2400" dirty="0">
                <a:solidFill>
                  <a:schemeClr val="bg1"/>
                </a:solidFill>
              </a:rPr>
              <a:t> di mana lebih akurat daripada rangkaian aktif.</a:t>
            </a:r>
          </a:p>
        </p:txBody>
      </p:sp>
    </p:spTree>
    <p:extLst>
      <p:ext uri="{BB962C8B-B14F-4D97-AF65-F5344CB8AC3E}">
        <p14:creationId xmlns:p14="http://schemas.microsoft.com/office/powerpoint/2010/main" val="39071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Prinsip kerja </a:t>
            </a:r>
            <a:r>
              <a:rPr lang="en-US" dirty="0" smtClean="0"/>
              <a:t>F</a:t>
            </a:r>
            <a:r>
              <a:rPr lang="id-ID" dirty="0" smtClean="0"/>
              <a:t>BN</a:t>
            </a:r>
            <a:r>
              <a:rPr lang="id-ID" dirty="0" smtClean="0"/>
              <a:t>: </a:t>
            </a:r>
            <a:r>
              <a:rPr lang="en-US" dirty="0" err="1" smtClean="0"/>
              <a:t>Penguat</a:t>
            </a:r>
            <a:r>
              <a:rPr lang="en-US" dirty="0" smtClean="0"/>
              <a:t> </a:t>
            </a:r>
            <a:r>
              <a:rPr lang="en-US" dirty="0"/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524001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 err="1"/>
              <a:t>Penguat</a:t>
            </a:r>
            <a:r>
              <a:rPr lang="en-US" dirty="0"/>
              <a:t> 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dibangun</a:t>
            </a:r>
            <a:r>
              <a:rPr lang="en-US" dirty="0"/>
              <a:t> b</a:t>
            </a:r>
            <a:r>
              <a:rPr lang="id-ID" dirty="0"/>
              <a:t>erbasis</a:t>
            </a:r>
            <a:r>
              <a:rPr lang="en-US" dirty="0"/>
              <a:t> Op-Amp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mengkaskade</a:t>
            </a:r>
            <a:r>
              <a:rPr lang="en-US" dirty="0"/>
              <a:t>/</a:t>
            </a:r>
            <a:r>
              <a:rPr lang="en-US" dirty="0" err="1"/>
              <a:t>kaskode</a:t>
            </a:r>
            <a:r>
              <a:rPr lang="en-US" dirty="0"/>
              <a:t> </a:t>
            </a:r>
            <a:r>
              <a:rPr lang="en-US" dirty="0" err="1"/>
              <a:t>penguat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id-ID" dirty="0"/>
              <a:t> (bertingkat)</a:t>
            </a:r>
            <a:r>
              <a:rPr lang="en-US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667001"/>
            <a:ext cx="2562225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0" y="2667001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Penguat dasar dapat dilihat sebagai blok dengan dua pasang terminal (input dan output). Tanda ‘+’ &amp; ‘-’ menunjukkan fasa.</a:t>
            </a:r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4343401"/>
            <a:ext cx="25527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4362450"/>
            <a:ext cx="25527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672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Penguat</a:t>
            </a:r>
            <a:r>
              <a:rPr lang="en-US" dirty="0"/>
              <a:t> A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1"/>
            <a:ext cx="25527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905250"/>
            <a:ext cx="25527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90676"/>
            <a:ext cx="25527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905250"/>
            <a:ext cx="25527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445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Penguat</a:t>
            </a:r>
            <a:r>
              <a:rPr lang="en-US" dirty="0"/>
              <a:t>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 smtClean="0"/>
              <a:t>Agar gain umpan-balik dapat didekati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8" y="2320344"/>
            <a:ext cx="2744082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611" y="2320343"/>
            <a:ext cx="1333469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5562600" y="2860343"/>
            <a:ext cx="6096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09800" y="3733800"/>
            <a:ext cx="807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maka nilai A harus besar. Penguat satu tingkat biasanya mempunyai A terbatas, sehingga biasanya digunakan penguat bertingkat.</a:t>
            </a:r>
          </a:p>
          <a:p>
            <a:r>
              <a:rPr lang="id-ID" sz="2800" b="1" dirty="0"/>
              <a:t>Catatan</a:t>
            </a:r>
            <a:r>
              <a:rPr lang="id-ID" sz="2800" dirty="0"/>
              <a:t>: </a:t>
            </a:r>
            <a:r>
              <a:rPr lang="id-ID" sz="2800" i="1" dirty="0">
                <a:sym typeface="Symbol"/>
              </a:rPr>
              <a:t></a:t>
            </a:r>
            <a:r>
              <a:rPr lang="id-ID" sz="2800" dirty="0">
                <a:sym typeface="Symbol"/>
              </a:rPr>
              <a:t> </a:t>
            </a:r>
            <a:r>
              <a:rPr lang="id-ID" sz="2800" dirty="0"/>
              <a:t>ditetapkan diawal perancangan, tidak boleh diubah (mungkin perlu diubah untuk kompensasi di frekuensi tinggi).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3438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T</a:t>
            </a:r>
            <a:r>
              <a:rPr lang="fi-FI" dirty="0" smtClean="0"/>
              <a:t>urunkan </a:t>
            </a:r>
            <a:r>
              <a:rPr lang="fi-FI" dirty="0"/>
              <a:t>persamaan umpan balik negatif </a:t>
            </a:r>
            <a:r>
              <a:rPr lang="fi-FI" dirty="0" smtClean="0"/>
              <a:t>bertikut: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718" y="2477861"/>
            <a:ext cx="8572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23823</TotalTime>
  <Words>358</Words>
  <Application>Microsoft Office PowerPoint</Application>
  <PresentationFormat>Widescreen</PresentationFormat>
  <Paragraphs>73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Edwardian Script ITC</vt:lpstr>
      <vt:lpstr>Symbol</vt:lpstr>
      <vt:lpstr>Times New Roman</vt:lpstr>
      <vt:lpstr>Wingdings</vt:lpstr>
      <vt:lpstr>Office Theme</vt:lpstr>
      <vt:lpstr>PowerPoint Presentation</vt:lpstr>
      <vt:lpstr>Op Amp_FeedBack negatif</vt:lpstr>
      <vt:lpstr>Pendahuluan</vt:lpstr>
      <vt:lpstr>Pendahuluan</vt:lpstr>
      <vt:lpstr>Bangun Dasar FBN</vt:lpstr>
      <vt:lpstr>Bangun Dasar FBN</vt:lpstr>
      <vt:lpstr>Prinsip kerja FBN: Penguat A</vt:lpstr>
      <vt:lpstr>Penguat A</vt:lpstr>
      <vt:lpstr>Penguat A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116</cp:revision>
  <dcterms:created xsi:type="dcterms:W3CDTF">2024-10-22T07:52:57Z</dcterms:created>
  <dcterms:modified xsi:type="dcterms:W3CDTF">2026-03-27T01:53:48Z</dcterms:modified>
</cp:coreProperties>
</file>