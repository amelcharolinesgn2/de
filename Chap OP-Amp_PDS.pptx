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7" r:id="rId1"/>
  </p:sldMasterIdLst>
  <p:notesMasterIdLst>
    <p:notesMasterId r:id="rId31"/>
  </p:notes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27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1A9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31"/>
    <p:restoredTop sz="71694" autoAdjust="0"/>
  </p:normalViewPr>
  <p:slideViewPr>
    <p:cSldViewPr snapToGrid="0">
      <p:cViewPr varScale="1">
        <p:scale>
          <a:sx n="49" d="100"/>
          <a:sy n="49" d="100"/>
        </p:scale>
        <p:origin x="4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AD89A-DE75-490E-B3B8-DA645685EB5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2648F-4152-4278-B136-F77E8E2B3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2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https://www.vturesource.com/vtu-syllabus/CS/2018/8/18CS81</a:t>
            </a:r>
          </a:p>
          <a:p>
            <a:r>
              <a:rPr lang="en-US" dirty="0"/>
              <a:t>AWS : IoT Device Simulator  https://aws.amazon.com/solutions/implementations/iot-device-simulator/?did=sl_card&amp;trk=sl_card</a:t>
            </a:r>
          </a:p>
          <a:p>
            <a:r>
              <a:rPr lang="en-US" dirty="0"/>
              <a:t>https://aws.amazon.com/s3/</a:t>
            </a:r>
          </a:p>
          <a:p>
            <a:endParaRPr lang="en-US" dirty="0"/>
          </a:p>
          <a:p>
            <a:r>
              <a:rPr lang="en-US" dirty="0"/>
              <a:t>https://www.vturesource.com/vtu-syllabus/CS/2018/8/18CS81</a:t>
            </a:r>
          </a:p>
          <a:p>
            <a:endParaRPr lang="en-US" dirty="0"/>
          </a:p>
          <a:p>
            <a:r>
              <a:rPr lang="en-US" dirty="0"/>
              <a:t>https://www.simplilearn.com/pgp-full-stack-web-development-certification-training-course?utm_campaign=Skillup-IOT-6mBO2vqLv38&amp;utm_medium=Comments&amp;utm_source=youtube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81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9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0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7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2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8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0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4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2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42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5157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737600" y="62484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201AEAA9-8C65-42A5-8C90-A2F54C07919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248400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92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5157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737600" y="62484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7BE6430B-D41A-4F4B-986B-D268072AE71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248400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26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0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  <p:sldLayoutId id="2147484009" r:id="rId12"/>
    <p:sldLayoutId id="214748401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787E-D6B3-8B0D-9456-5D2BA79AB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1180" y="3987071"/>
            <a:ext cx="5184061" cy="6816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</a:pPr>
            <a:r>
              <a:rPr lang="en" sz="4000" dirty="0" smtClean="0"/>
              <a:t>OP - Amp</a:t>
            </a:r>
            <a:endParaRPr lang="en-US" sz="22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9717" y="4619069"/>
            <a:ext cx="5676901" cy="1061184"/>
          </a:xfrm>
        </p:spPr>
        <p:txBody>
          <a:bodyPr>
            <a:normAutofit/>
          </a:bodyPr>
          <a:lstStyle/>
          <a:p>
            <a:r>
              <a:rPr lang="en-US" sz="1600" dirty="0" smtClean="0"/>
              <a:t>PDS</a:t>
            </a:r>
            <a:endParaRPr lang="en-US" sz="1600" dirty="0"/>
          </a:p>
        </p:txBody>
      </p:sp>
      <p:pic>
        <p:nvPicPr>
          <p:cNvPr id="48" name="Picture 47" descr="White structure">
            <a:extLst>
              <a:ext uri="{FF2B5EF4-FFF2-40B4-BE49-F238E27FC236}">
                <a16:creationId xmlns:a16="http://schemas.microsoft.com/office/drawing/2014/main" id="{E0652CF5-4E0B-F89D-4D88-A13BE5A6A8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0" r="25990" b="3"/>
          <a:stretch/>
        </p:blipFill>
        <p:spPr>
          <a:xfrm>
            <a:off x="-1" y="1371600"/>
            <a:ext cx="4076699" cy="411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26FD42-6AB7-9431-FDD4-769D80985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361" y="330959"/>
            <a:ext cx="4640189" cy="329714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346874" y="2470551"/>
            <a:ext cx="3064025" cy="1516520"/>
            <a:chOff x="4853562" y="1589418"/>
            <a:chExt cx="2609520" cy="1291565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1">
                <a:solidFill>
                  <a:schemeClr val="tx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1518026" y="3132053"/>
            <a:ext cx="1334145" cy="620384"/>
            <a:chOff x="7729280" y="2195997"/>
            <a:chExt cx="2143740" cy="996849"/>
          </a:xfrm>
          <a:solidFill>
            <a:schemeClr val="accent6"/>
          </a:solidFill>
        </p:grpSpPr>
        <p:sp>
          <p:nvSpPr>
            <p:cNvPr id="13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729280" y="2195997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14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421007" y="2543552"/>
              <a:ext cx="443936" cy="326800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4" name="Rectangle 3"/>
          <p:cNvSpPr/>
          <p:nvPr/>
        </p:nvSpPr>
        <p:spPr>
          <a:xfrm>
            <a:off x="59633" y="6488668"/>
            <a:ext cx="3957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https://www.youtube.com/@AmelOline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22695" y="6291845"/>
            <a:ext cx="49108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https://github.com/amelcharolinesgn2/DE/upload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9475" y="5801383"/>
            <a:ext cx="3957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https://www.youtube.com/@AmelOline</a:t>
            </a:r>
          </a:p>
        </p:txBody>
      </p:sp>
    </p:spTree>
    <p:extLst>
      <p:ext uri="{BB962C8B-B14F-4D97-AF65-F5344CB8AC3E}">
        <p14:creationId xmlns:p14="http://schemas.microsoft.com/office/powerpoint/2010/main" val="3235850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79327" y="540983"/>
            <a:ext cx="8218531" cy="787590"/>
          </a:xfrm>
        </p:spPr>
        <p:txBody>
          <a:bodyPr/>
          <a:lstStyle/>
          <a:p>
            <a:r>
              <a:rPr lang="en-US" dirty="0" err="1" smtClean="0"/>
              <a:t>Karakteristik</a:t>
            </a:r>
            <a:r>
              <a:rPr lang="en-US" dirty="0" smtClean="0"/>
              <a:t> ideal Op-Amp</a:t>
            </a:r>
            <a:endParaRPr lang="en-US" dirty="0"/>
          </a:p>
        </p:txBody>
      </p:sp>
      <p:graphicFrame>
        <p:nvGraphicFramePr>
          <p:cNvPr id="15432" name="Group 7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12323826"/>
              </p:ext>
            </p:extLst>
          </p:nvPr>
        </p:nvGraphicFramePr>
        <p:xfrm>
          <a:off x="1215190" y="2272543"/>
          <a:ext cx="9336504" cy="3803406"/>
        </p:xfrm>
        <a:graphic>
          <a:graphicData uri="http://schemas.openxmlformats.org/drawingml/2006/table">
            <a:tbl>
              <a:tblPr/>
              <a:tblGrid>
                <a:gridCol w="2995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8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22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Parameter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Ideal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LM741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LF347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LM318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Open-loop Gain (A</a:t>
                      </a:r>
                      <a:r>
                        <a:rPr kumimoji="0" lang="en-US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OL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Tak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hingga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2 . 10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10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2 . 10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Input Resistance (</a:t>
                      </a: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R</a:t>
                      </a:r>
                      <a:r>
                        <a:rPr kumimoji="0" lang="en-US" sz="20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in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Tak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hingga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2 M </a:t>
                      </a:r>
                      <a:r>
                        <a:rPr kumimoji="0" lang="el-G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Ω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10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12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 </a:t>
                      </a:r>
                      <a:r>
                        <a:rPr kumimoji="0" lang="el-G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Ω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3 M </a:t>
                      </a:r>
                      <a:r>
                        <a:rPr kumimoji="0" lang="el-G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Ω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2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Output Resistance (R</a:t>
                      </a:r>
                      <a:r>
                        <a:rPr kumimoji="0" lang="en-US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o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Bernilai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nol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 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75 </a:t>
                      </a:r>
                      <a:r>
                        <a:rPr kumimoji="0" lang="el-G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Ω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75 </a:t>
                      </a:r>
                      <a:r>
                        <a:rPr kumimoji="0" lang="el-G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Ω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75 </a:t>
                      </a:r>
                      <a:r>
                        <a:rPr kumimoji="0" lang="el-G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Ω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2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Gain Bandwidth (GBW)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Tak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hingga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1 MHz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4 MHz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15 MHz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2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CMRR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Tak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hingga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90 dB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100 dB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Garamond" pitchFamily="18" charset="0"/>
                        </a:rPr>
                        <a:t>100 dB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304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Rangkaian</a:t>
            </a:r>
            <a:r>
              <a:rPr lang="en-US" dirty="0" smtClean="0"/>
              <a:t> </a:t>
            </a:r>
            <a:r>
              <a:rPr lang="en-US" dirty="0" err="1" smtClean="0"/>
              <a:t>pengikut</a:t>
            </a:r>
            <a:r>
              <a:rPr lang="en-US" dirty="0" smtClean="0"/>
              <a:t> </a:t>
            </a:r>
            <a:r>
              <a:rPr lang="en-US" dirty="0" err="1" smtClean="0"/>
              <a:t>tegangan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i="1" dirty="0" err="1"/>
              <a:t>v</a:t>
            </a:r>
            <a:r>
              <a:rPr lang="en-US" i="1" dirty="0" err="1" smtClean="0"/>
              <a:t>oltege</a:t>
            </a:r>
            <a:r>
              <a:rPr lang="en-US" i="1" dirty="0" smtClean="0"/>
              <a:t> follower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7123" y="2374350"/>
            <a:ext cx="6184232" cy="3289514"/>
          </a:xfrm>
        </p:spPr>
        <p:txBody>
          <a:bodyPr/>
          <a:lstStyle/>
          <a:p>
            <a:r>
              <a:rPr lang="en-US" dirty="0" smtClean="0"/>
              <a:t>Voltage follower </a:t>
            </a:r>
            <a:r>
              <a:rPr lang="en-US" dirty="0" err="1" smtClean="0"/>
              <a:t>disebut</a:t>
            </a:r>
            <a:r>
              <a:rPr lang="en-US" dirty="0" smtClean="0"/>
              <a:t> </a:t>
            </a:r>
            <a:r>
              <a:rPr lang="en-US" dirty="0" err="1" smtClean="0"/>
              <a:t>juga</a:t>
            </a:r>
            <a:r>
              <a:rPr lang="en-US" dirty="0" smtClean="0"/>
              <a:t> </a:t>
            </a:r>
            <a:r>
              <a:rPr lang="en-US" b="1" dirty="0" err="1" smtClean="0">
                <a:solidFill>
                  <a:schemeClr val="accent2"/>
                </a:solidFill>
              </a:rPr>
              <a:t>penguat</a:t>
            </a:r>
            <a:r>
              <a:rPr lang="en-US" b="1" dirty="0" smtClean="0">
                <a:solidFill>
                  <a:schemeClr val="accent2"/>
                </a:solidFill>
              </a:rPr>
              <a:t> buffer (</a:t>
            </a:r>
            <a:r>
              <a:rPr lang="en-US" b="1" dirty="0" err="1" smtClean="0">
                <a:solidFill>
                  <a:schemeClr val="accent2"/>
                </a:solidFill>
              </a:rPr>
              <a:t>penyangga</a:t>
            </a:r>
            <a:r>
              <a:rPr lang="en-US" b="1" dirty="0" smtClean="0">
                <a:solidFill>
                  <a:schemeClr val="accent2"/>
                </a:solidFill>
              </a:rPr>
              <a:t>)</a:t>
            </a:r>
            <a:r>
              <a:rPr lang="en-US" dirty="0" smtClean="0">
                <a:solidFill>
                  <a:schemeClr val="accent2"/>
                </a:solidFill>
              </a:rPr>
              <a:t>.</a:t>
            </a:r>
          </a:p>
          <a:p>
            <a:r>
              <a:rPr lang="en-US" dirty="0" err="1" smtClean="0"/>
              <a:t>Penguatannya</a:t>
            </a:r>
            <a:r>
              <a:rPr lang="en-US" dirty="0" smtClean="0"/>
              <a:t> </a:t>
            </a:r>
            <a:r>
              <a:rPr lang="en-US" dirty="0" err="1" smtClean="0"/>
              <a:t>bernilai</a:t>
            </a:r>
            <a:r>
              <a:rPr lang="en-US" dirty="0" smtClean="0"/>
              <a:t> 1 kali</a:t>
            </a:r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1009" y="3108153"/>
            <a:ext cx="4199610" cy="22728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354" y="4105041"/>
            <a:ext cx="2898450" cy="761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487354" y="5397521"/>
                <a:ext cx="2013564" cy="665054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𝑆𝑙𝑒𝑤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𝑟𝑎𝑡𝑒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354" y="5397521"/>
                <a:ext cx="2013564" cy="665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405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8598" y="543127"/>
                <a:ext cx="11406075" cy="545684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Ex 1: </a:t>
                </a:r>
              </a:p>
              <a:p>
                <a:pPr marL="0" indent="0">
                  <a:buNone/>
                </a:pPr>
                <a:r>
                  <a:rPr lang="en-US" dirty="0" smtClean="0"/>
                  <a:t>Dari </a:t>
                </a:r>
                <a:r>
                  <a:rPr lang="en-US" dirty="0" err="1" smtClean="0"/>
                  <a:t>rangkaian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penguat</a:t>
                </a:r>
                <a:r>
                  <a:rPr lang="en-US" dirty="0" smtClean="0"/>
                  <a:t> buffer di </a:t>
                </a:r>
                <a:r>
                  <a:rPr lang="en-US" dirty="0" err="1" smtClean="0"/>
                  <a:t>bawah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ini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tentukan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penguatan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lingkar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tertutupnya</a:t>
                </a:r>
                <a:r>
                  <a:rPr lang="en-US" dirty="0" smtClean="0"/>
                  <a:t> &amp; </a:t>
                </a:r>
                <a:r>
                  <a:rPr lang="en-US" dirty="0" err="1" smtClean="0"/>
                  <a:t>maksimum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frekuensi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kerja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rangkaiannya</a:t>
                </a:r>
                <a:r>
                  <a:rPr lang="en-US" dirty="0"/>
                  <a:t> </a:t>
                </a:r>
                <a:r>
                  <a:rPr lang="en-US" dirty="0" err="1" smtClean="0"/>
                  <a:t>jika</a:t>
                </a:r>
                <a:r>
                  <a:rPr lang="en-US" dirty="0" smtClean="0"/>
                  <a:t> </a:t>
                </a:r>
                <a:r>
                  <a:rPr lang="en-US" dirty="0" smtClean="0">
                    <a:solidFill>
                      <a:schemeClr val="accent2"/>
                    </a:solidFill>
                  </a:rPr>
                  <a:t>slew rate </a:t>
                </a:r>
                <a:r>
                  <a:rPr lang="en-US" dirty="0" err="1" smtClean="0">
                    <a:solidFill>
                      <a:schemeClr val="accent2"/>
                    </a:solidFill>
                  </a:rPr>
                  <a:t>opamp-nya</a:t>
                </a:r>
                <a:r>
                  <a:rPr lang="en-US" dirty="0" smtClean="0">
                    <a:solidFill>
                      <a:schemeClr val="accent2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accent2"/>
                    </a:solidFill>
                  </a:rPr>
                  <a:t>sebesar</a:t>
                </a:r>
                <a:r>
                  <a:rPr lang="en-US" dirty="0" smtClean="0">
                    <a:solidFill>
                      <a:schemeClr val="accent2"/>
                    </a:solidFill>
                  </a:rPr>
                  <a:t> 0,5 V/</a:t>
                </a:r>
                <a:r>
                  <a:rPr lang="el-GR" dirty="0" smtClean="0">
                    <a:solidFill>
                      <a:schemeClr val="accent2"/>
                    </a:solidFill>
                  </a:rPr>
                  <a:t>μ</a:t>
                </a:r>
                <a:r>
                  <a:rPr lang="en-US" dirty="0" smtClean="0">
                    <a:solidFill>
                      <a:schemeClr val="accent2"/>
                    </a:solidFill>
                  </a:rPr>
                  <a:t>S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tegangan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maksimumnya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sebesar</a:t>
                </a:r>
                <a:r>
                  <a:rPr lang="en-US" dirty="0" smtClean="0"/>
                  <a:t> 3 V!</a:t>
                </a:r>
              </a:p>
              <a:p>
                <a:pPr marL="0" indent="0">
                  <a:buNone/>
                </a:pPr>
                <a:r>
                  <a:rPr lang="en-US" dirty="0" smtClean="0"/>
                  <a:t>					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</a:t>
                </a:r>
                <a:r>
                  <a:rPr lang="en-US" dirty="0" err="1" smtClean="0"/>
                  <a:t>Jawaban</a:t>
                </a:r>
                <a:r>
                  <a:rPr lang="en-US" dirty="0" smtClean="0"/>
                  <a:t>:</a:t>
                </a:r>
              </a:p>
              <a:p>
                <a:pPr marL="0" indent="0">
                  <a:buNone/>
                </a:pPr>
                <a:r>
                  <a:rPr lang="en-US" dirty="0" smtClean="0"/>
                  <a:t>					a. </a:t>
                </a:r>
                <a:r>
                  <a:rPr lang="en-US" dirty="0" err="1" smtClean="0"/>
                  <a:t>Acl</a:t>
                </a:r>
                <a:r>
                  <a:rPr lang="en-US" dirty="0" smtClean="0"/>
                  <a:t> = 1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                                                    b.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𝑆𝑙𝑒𝑤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𝑟𝑎𝑡𝑒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𝑚𝑎𝑘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0,5 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3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500 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𝑘𝐻𝑧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3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=26,53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𝑘𝐻𝑧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	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598" y="543127"/>
                <a:ext cx="11406075" cy="5456840"/>
              </a:xfrm>
              <a:blipFill>
                <a:blip r:embed="rId2"/>
                <a:stretch>
                  <a:fillRect l="-1122" t="-2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99" y="2077513"/>
            <a:ext cx="3537764" cy="303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9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00596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err="1" smtClean="0"/>
              <a:t>Penguat</a:t>
            </a:r>
            <a:r>
              <a:rPr lang="en-US" sz="4000" dirty="0" smtClean="0"/>
              <a:t> Op-Amp </a:t>
            </a:r>
            <a:r>
              <a:rPr lang="en-US" sz="4000" dirty="0" err="1" smtClean="0"/>
              <a:t>Bertingkat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 (</a:t>
            </a:r>
            <a:r>
              <a:rPr lang="en-US" sz="4000" i="1" dirty="0" smtClean="0"/>
              <a:t>Multistage Amplifier</a:t>
            </a:r>
            <a:r>
              <a:rPr lang="en-US" sz="4000" dirty="0" smtClean="0"/>
              <a:t>)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715" y="2261192"/>
            <a:ext cx="9160386" cy="24986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264" y="5530485"/>
            <a:ext cx="2357288" cy="58827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7236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98" y="543127"/>
            <a:ext cx="11406075" cy="5456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Ex 2: </a:t>
            </a:r>
          </a:p>
          <a:p>
            <a:pPr marL="0" indent="0">
              <a:buNone/>
            </a:pPr>
            <a:r>
              <a:rPr lang="en-US" sz="1600" dirty="0" err="1" smtClean="0"/>
              <a:t>Sebuah</a:t>
            </a:r>
            <a:r>
              <a:rPr lang="en-US" sz="1600" dirty="0" smtClean="0"/>
              <a:t> </a:t>
            </a:r>
            <a:r>
              <a:rPr lang="en-US" sz="1600" dirty="0" err="1" smtClean="0"/>
              <a:t>rangkaian</a:t>
            </a:r>
            <a:r>
              <a:rPr lang="en-US" sz="1600" dirty="0" smtClean="0"/>
              <a:t> </a:t>
            </a:r>
            <a:r>
              <a:rPr lang="en-US" sz="1600" dirty="0" err="1" smtClean="0"/>
              <a:t>penguat</a:t>
            </a:r>
            <a:r>
              <a:rPr lang="en-US" sz="1600" dirty="0" smtClean="0"/>
              <a:t> </a:t>
            </a:r>
            <a:r>
              <a:rPr lang="en-US" sz="1600" dirty="0" err="1" smtClean="0"/>
              <a:t>opamp</a:t>
            </a:r>
            <a:r>
              <a:rPr lang="en-US" sz="1600" dirty="0" smtClean="0"/>
              <a:t> </a:t>
            </a:r>
            <a:r>
              <a:rPr lang="en-US" sz="1600" dirty="0" err="1" smtClean="0"/>
              <a:t>bertingkat</a:t>
            </a:r>
            <a:r>
              <a:rPr lang="en-US" sz="1600" dirty="0" smtClean="0"/>
              <a:t> </a:t>
            </a:r>
            <a:r>
              <a:rPr lang="en-US" sz="1600" dirty="0" err="1" smtClean="0"/>
              <a:t>diketahui</a:t>
            </a:r>
            <a:r>
              <a:rPr lang="en-US" sz="1600" dirty="0" smtClean="0"/>
              <a:t> </a:t>
            </a:r>
            <a:r>
              <a:rPr lang="en-US" sz="1600" dirty="0" err="1" smtClean="0"/>
              <a:t>memiliki</a:t>
            </a:r>
            <a:r>
              <a:rPr lang="en-US" sz="1600" dirty="0" smtClean="0"/>
              <a:t> parameter R1= 4,3 k</a:t>
            </a:r>
            <a:r>
              <a:rPr lang="el-GR" sz="1600" dirty="0" smtClean="0"/>
              <a:t>Ω</a:t>
            </a:r>
            <a:r>
              <a:rPr lang="en-US" sz="1600" dirty="0" smtClean="0"/>
              <a:t>, R2= 33 k</a:t>
            </a:r>
            <a:r>
              <a:rPr lang="el-GR" sz="1600" dirty="0" smtClean="0"/>
              <a:t>Ω</a:t>
            </a:r>
            <a:r>
              <a:rPr lang="en-US" sz="1600" dirty="0" smtClean="0"/>
              <a:t>, R3=33 k</a:t>
            </a:r>
            <a:r>
              <a:rPr lang="el-GR" sz="1600" dirty="0" smtClean="0"/>
              <a:t>Ω</a:t>
            </a:r>
            <a:r>
              <a:rPr lang="en-US" sz="1600" dirty="0" smtClean="0"/>
              <a:t> </a:t>
            </a:r>
            <a:r>
              <a:rPr lang="en-US" sz="1600" dirty="0" err="1" smtClean="0"/>
              <a:t>dan</a:t>
            </a:r>
            <a:r>
              <a:rPr lang="en-US" sz="1600" dirty="0" smtClean="0"/>
              <a:t> </a:t>
            </a:r>
            <a:r>
              <a:rPr lang="en-US" sz="1600" dirty="0" err="1" smtClean="0"/>
              <a:t>Rf</a:t>
            </a:r>
            <a:r>
              <a:rPr lang="en-US" sz="1600" dirty="0" smtClean="0"/>
              <a:t> = 470 k</a:t>
            </a:r>
            <a:r>
              <a:rPr lang="el-GR" sz="1600" dirty="0" smtClean="0"/>
              <a:t>Ω</a:t>
            </a:r>
            <a:r>
              <a:rPr lang="en-US" sz="1600" dirty="0" smtClean="0"/>
              <a:t> </a:t>
            </a:r>
            <a:r>
              <a:rPr lang="en-US" sz="1600" dirty="0" err="1" smtClean="0"/>
              <a:t>dengan</a:t>
            </a:r>
            <a:r>
              <a:rPr lang="en-US" sz="1600" dirty="0" smtClean="0"/>
              <a:t> </a:t>
            </a:r>
            <a:r>
              <a:rPr lang="en-US" sz="1600" dirty="0" err="1" smtClean="0"/>
              <a:t>tegangan</a:t>
            </a:r>
            <a:r>
              <a:rPr lang="en-US" sz="1600" dirty="0" smtClean="0"/>
              <a:t> </a:t>
            </a:r>
            <a:r>
              <a:rPr lang="en-US" sz="1600" dirty="0" err="1" smtClean="0"/>
              <a:t>masukannya</a:t>
            </a:r>
            <a:r>
              <a:rPr lang="en-US" sz="1600" dirty="0" smtClean="0"/>
              <a:t> </a:t>
            </a:r>
            <a:r>
              <a:rPr lang="en-US" sz="1600" dirty="0" err="1" smtClean="0"/>
              <a:t>sebesar</a:t>
            </a:r>
            <a:r>
              <a:rPr lang="en-US" sz="1600" dirty="0" smtClean="0"/>
              <a:t> 80</a:t>
            </a:r>
            <a:r>
              <a:rPr lang="el-GR" sz="1600" dirty="0" smtClean="0"/>
              <a:t>μ</a:t>
            </a:r>
            <a:r>
              <a:rPr lang="en-US" sz="1600" dirty="0" smtClean="0"/>
              <a:t>V. </a:t>
            </a:r>
            <a:r>
              <a:rPr lang="en-US" sz="1600" dirty="0" err="1" smtClean="0"/>
              <a:t>Tentukan</a:t>
            </a:r>
            <a:r>
              <a:rPr lang="en-US" sz="1600" dirty="0" smtClean="0"/>
              <a:t>:</a:t>
            </a:r>
          </a:p>
          <a:p>
            <a:pPr marL="457200" indent="-457200">
              <a:buAutoNum type="alphaLcPeriod"/>
            </a:pPr>
            <a:r>
              <a:rPr lang="en-US" sz="1600" dirty="0" err="1" smtClean="0"/>
              <a:t>Penguatan</a:t>
            </a:r>
            <a:r>
              <a:rPr lang="en-US" sz="1600" dirty="0" smtClean="0"/>
              <a:t> total </a:t>
            </a:r>
            <a:r>
              <a:rPr lang="en-US" sz="1600" dirty="0" err="1" smtClean="0"/>
              <a:t>rangkaian</a:t>
            </a:r>
            <a:endParaRPr lang="en-US" sz="1600" dirty="0" smtClean="0"/>
          </a:p>
          <a:p>
            <a:pPr marL="457200" indent="-457200">
              <a:buAutoNum type="alphaLcPeriod"/>
            </a:pPr>
            <a:r>
              <a:rPr lang="en-US" sz="1600" dirty="0" err="1" smtClean="0"/>
              <a:t>Tegangan</a:t>
            </a:r>
            <a:r>
              <a:rPr lang="en-US" sz="1600" dirty="0" smtClean="0"/>
              <a:t> </a:t>
            </a:r>
            <a:r>
              <a:rPr lang="en-US" sz="1600" dirty="0" err="1" smtClean="0"/>
              <a:t>keluarannya</a:t>
            </a:r>
            <a:endParaRPr lang="en-US" sz="1600" dirty="0" smtClean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r>
              <a:rPr lang="en-US" sz="1600" dirty="0" smtClean="0"/>
              <a:t>	</a:t>
            </a:r>
            <a:r>
              <a:rPr lang="en-US" dirty="0" smtClean="0"/>
              <a:t>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66" y="4897795"/>
            <a:ext cx="1678050" cy="3299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66" y="5418503"/>
            <a:ext cx="1220400" cy="3299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28" y="5870948"/>
            <a:ext cx="1220400" cy="3680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6070" y="5418503"/>
            <a:ext cx="1271250" cy="4187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8342" y="5393123"/>
            <a:ext cx="1322100" cy="3553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0438" y="1926016"/>
            <a:ext cx="7640876" cy="2084218"/>
          </a:xfrm>
          <a:prstGeom prst="rect">
            <a:avLst/>
          </a:prstGeom>
        </p:spPr>
      </p:pic>
      <p:sp>
        <p:nvSpPr>
          <p:cNvPr id="4" name="Chevron 3"/>
          <p:cNvSpPr/>
          <p:nvPr/>
        </p:nvSpPr>
        <p:spPr>
          <a:xfrm>
            <a:off x="2262816" y="4897795"/>
            <a:ext cx="1417933" cy="1503005"/>
          </a:xfrm>
          <a:prstGeom prst="chevr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5358799" y="4897795"/>
            <a:ext cx="1417933" cy="1503005"/>
          </a:xfrm>
          <a:prstGeom prst="chevr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4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233" y="370763"/>
            <a:ext cx="8543384" cy="100456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 err="1" smtClean="0"/>
              <a:t>Penguat</a:t>
            </a:r>
            <a:r>
              <a:rPr lang="en-US" sz="4400" dirty="0" smtClean="0"/>
              <a:t> </a:t>
            </a:r>
            <a:r>
              <a:rPr lang="en-US" sz="4400" dirty="0" err="1" smtClean="0"/>
              <a:t>penjumlah</a:t>
            </a:r>
            <a:r>
              <a:rPr lang="en-US" sz="4400" dirty="0" smtClean="0"/>
              <a:t> </a:t>
            </a:r>
            <a:br>
              <a:rPr lang="en-US" sz="4400" dirty="0" smtClean="0"/>
            </a:br>
            <a:r>
              <a:rPr lang="en-US" sz="4400" dirty="0" smtClean="0"/>
              <a:t>(</a:t>
            </a:r>
            <a:r>
              <a:rPr lang="en-US" sz="4400" i="1" dirty="0" err="1" smtClean="0"/>
              <a:t>tipe</a:t>
            </a:r>
            <a:r>
              <a:rPr lang="en-US" sz="4400" i="1" dirty="0" smtClean="0"/>
              <a:t> inverting</a:t>
            </a:r>
            <a:r>
              <a:rPr lang="en-US" sz="4400" dirty="0" smtClean="0"/>
              <a:t>)</a:t>
            </a:r>
            <a:endParaRPr lang="en-US" sz="44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253925" y="3452630"/>
            <a:ext cx="8451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26" y="1870202"/>
            <a:ext cx="5237550" cy="25633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158" y="3157900"/>
            <a:ext cx="3487507" cy="12452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667030" y="5288613"/>
                <a:ext cx="23481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𝑗𝑖𝑘𝑎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030" y="5288613"/>
                <a:ext cx="2348143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2597" t="-2222" r="-1039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158" y="5109699"/>
            <a:ext cx="2745900" cy="6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6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98" y="543127"/>
            <a:ext cx="11406075" cy="5456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Ex 3: </a:t>
            </a:r>
          </a:p>
          <a:p>
            <a:pPr marL="0" indent="0">
              <a:buNone/>
            </a:pPr>
            <a:r>
              <a:rPr lang="en-US" dirty="0" err="1" smtClean="0"/>
              <a:t>Ditunjukan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 smtClean="0"/>
              <a:t>rangkaian</a:t>
            </a:r>
            <a:r>
              <a:rPr lang="en-US" dirty="0" smtClean="0"/>
              <a:t> </a:t>
            </a:r>
            <a:r>
              <a:rPr lang="en-US" dirty="0" err="1" smtClean="0"/>
              <a:t>penguat</a:t>
            </a:r>
            <a:r>
              <a:rPr lang="en-US" dirty="0" smtClean="0"/>
              <a:t> </a:t>
            </a:r>
            <a:r>
              <a:rPr lang="en-US" dirty="0" err="1" smtClean="0"/>
              <a:t>penjumlah</a:t>
            </a:r>
            <a:r>
              <a:rPr lang="en-US" dirty="0" smtClean="0"/>
              <a:t> di </a:t>
            </a:r>
            <a:r>
              <a:rPr lang="en-US" dirty="0" err="1" smtClean="0"/>
              <a:t>bawah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, </a:t>
            </a:r>
            <a:r>
              <a:rPr lang="en-US" dirty="0" err="1" smtClean="0"/>
              <a:t>tentukan</a:t>
            </a:r>
            <a:r>
              <a:rPr lang="en-US" dirty="0" smtClean="0"/>
              <a:t> </a:t>
            </a:r>
            <a:r>
              <a:rPr lang="en-US" dirty="0" err="1" smtClean="0"/>
              <a:t>berapa</a:t>
            </a:r>
            <a:r>
              <a:rPr lang="en-US" dirty="0" smtClean="0"/>
              <a:t> </a:t>
            </a:r>
            <a:r>
              <a:rPr lang="en-US" dirty="0" err="1" smtClean="0"/>
              <a:t>tegangan</a:t>
            </a:r>
            <a:r>
              <a:rPr lang="en-US" dirty="0" smtClean="0"/>
              <a:t> </a:t>
            </a:r>
            <a:r>
              <a:rPr lang="en-US" dirty="0" err="1" smtClean="0"/>
              <a:t>keluarannya</a:t>
            </a:r>
            <a:r>
              <a:rPr lang="en-US" dirty="0" smtClean="0"/>
              <a:t> !</a:t>
            </a:r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r>
              <a:rPr lang="en-US" i="1" dirty="0" smtClean="0"/>
              <a:t>						</a:t>
            </a:r>
          </a:p>
          <a:p>
            <a:pPr marL="0" indent="0">
              <a:buNone/>
            </a:pPr>
            <a:r>
              <a:rPr lang="en-US" dirty="0" smtClean="0"/>
              <a:t>	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68" y="2186552"/>
            <a:ext cx="5186700" cy="21699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635" y="3271547"/>
            <a:ext cx="5034150" cy="39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9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864" y="543127"/>
            <a:ext cx="11406075" cy="5456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Ex 4: </a:t>
            </a:r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r>
              <a:rPr lang="en-US" i="1" dirty="0" smtClean="0"/>
              <a:t>						</a:t>
            </a:r>
          </a:p>
          <a:p>
            <a:pPr marL="0" indent="0">
              <a:buNone/>
            </a:pPr>
            <a:r>
              <a:rPr lang="en-US" dirty="0" smtClean="0"/>
              <a:t>	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</a:t>
            </a:r>
            <a:endParaRPr lang="en-US" dirty="0"/>
          </a:p>
        </p:txBody>
      </p:sp>
      <p:pic>
        <p:nvPicPr>
          <p:cNvPr id="5" name="Picture 4" descr="Summing Op-amp Circui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60" y="1324626"/>
            <a:ext cx="4039644" cy="227034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4"/>
          <p:cNvSpPr txBox="1">
            <a:spLocks/>
          </p:cNvSpPr>
          <p:nvPr/>
        </p:nvSpPr>
        <p:spPr>
          <a:xfrm>
            <a:off x="194154" y="3834529"/>
            <a:ext cx="5430034" cy="641959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800" dirty="0" smtClean="0"/>
              <a:t>  </a:t>
            </a:r>
            <a:r>
              <a:rPr lang="en-US" sz="1800" dirty="0" err="1" smtClean="0"/>
              <a:t>Jika</a:t>
            </a:r>
            <a:r>
              <a:rPr lang="en-US" sz="1800" dirty="0" smtClean="0"/>
              <a:t> </a:t>
            </a:r>
            <a:r>
              <a:rPr lang="en-US" sz="1800" dirty="0" err="1" smtClean="0"/>
              <a:t>diketahui</a:t>
            </a:r>
            <a:r>
              <a:rPr lang="en-US" sz="1800" dirty="0" smtClean="0"/>
              <a:t> V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 = 2mV, V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 = 5mV, R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=1KΩ, R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 = 2KΩ, R</a:t>
            </a:r>
            <a:r>
              <a:rPr lang="en-US" sz="1800" baseline="-25000" dirty="0" smtClean="0"/>
              <a:t>F</a:t>
            </a:r>
            <a:r>
              <a:rPr lang="en-US" sz="1800" dirty="0" smtClean="0"/>
              <a:t> = 10KΩ </a:t>
            </a:r>
            <a:r>
              <a:rPr lang="en-US" sz="1800" dirty="0" err="1" smtClean="0"/>
              <a:t>maka</a:t>
            </a:r>
            <a:r>
              <a:rPr lang="en-US" sz="1800" dirty="0" smtClean="0"/>
              <a:t> </a:t>
            </a:r>
            <a:r>
              <a:rPr lang="en-US" sz="1800" dirty="0" err="1" smtClean="0"/>
              <a:t>Vout</a:t>
            </a:r>
            <a:r>
              <a:rPr lang="en-US" sz="1800" dirty="0" smtClean="0"/>
              <a:t> =…?</a:t>
            </a:r>
          </a:p>
          <a:p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26268" y="1324627"/>
            <a:ext cx="5297381" cy="37954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2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4" name="Notched Right Arrow 3"/>
          <p:cNvSpPr/>
          <p:nvPr/>
        </p:nvSpPr>
        <p:spPr>
          <a:xfrm>
            <a:off x="5312780" y="2662177"/>
            <a:ext cx="821802" cy="462988"/>
          </a:xfrm>
          <a:prstGeom prst="notched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4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175" y="338960"/>
            <a:ext cx="10454072" cy="1609344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 smtClean="0"/>
              <a:t>Penguat</a:t>
            </a:r>
            <a:r>
              <a:rPr lang="en-US" sz="4000" dirty="0" smtClean="0"/>
              <a:t> </a:t>
            </a:r>
            <a:r>
              <a:rPr lang="en-US" sz="4000" dirty="0" err="1" smtClean="0"/>
              <a:t>penjumlah</a:t>
            </a:r>
            <a:r>
              <a:rPr lang="en-US" sz="4000" dirty="0" smtClean="0"/>
              <a:t> </a:t>
            </a:r>
            <a:br>
              <a:rPr lang="en-US" sz="4000" dirty="0" smtClean="0"/>
            </a:br>
            <a:r>
              <a:rPr lang="en-US" sz="4000" dirty="0" smtClean="0"/>
              <a:t>(</a:t>
            </a:r>
            <a:r>
              <a:rPr lang="en-US" sz="4000" i="1" dirty="0" err="1" smtClean="0"/>
              <a:t>tipe</a:t>
            </a:r>
            <a:r>
              <a:rPr lang="en-US" sz="4000" i="1" dirty="0" smtClean="0"/>
              <a:t> non inverting</a:t>
            </a:r>
            <a:r>
              <a:rPr lang="en-US" sz="4000" dirty="0" smtClean="0"/>
              <a:t>)</a:t>
            </a:r>
            <a:endParaRPr lang="en-US" sz="4000" dirty="0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175" y="2787244"/>
            <a:ext cx="4316279" cy="26528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80655" y="3698744"/>
                <a:ext cx="5674439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655" y="3698744"/>
                <a:ext cx="5674439" cy="8298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>
            <a:stCxn id="10" idx="3"/>
            <a:endCxn id="6" idx="1"/>
          </p:cNvCxnSpPr>
          <p:nvPr/>
        </p:nvCxnSpPr>
        <p:spPr>
          <a:xfrm>
            <a:off x="4990454" y="4113666"/>
            <a:ext cx="6902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35227" y="4843299"/>
                <a:ext cx="4076950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227" y="4843299"/>
                <a:ext cx="4076950" cy="8298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4"/>
          <p:cNvSpPr txBox="1">
            <a:spLocks/>
          </p:cNvSpPr>
          <p:nvPr/>
        </p:nvSpPr>
        <p:spPr>
          <a:xfrm>
            <a:off x="9767008" y="5093451"/>
            <a:ext cx="1869670" cy="417701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800" dirty="0" smtClean="0"/>
              <a:t>  </a:t>
            </a:r>
            <a:r>
              <a:rPr lang="en-US" sz="1800" dirty="0" err="1" smtClean="0"/>
              <a:t>jika</a:t>
            </a:r>
            <a:r>
              <a:rPr lang="en-US" sz="1800" dirty="0" smtClean="0"/>
              <a:t> R1 = R2</a:t>
            </a:r>
          </a:p>
          <a:p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9745248" y="5258221"/>
            <a:ext cx="1878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69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792" y="419914"/>
            <a:ext cx="10058400" cy="76797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Ex 5:</a:t>
            </a:r>
            <a:endParaRPr lang="en-US" sz="2800" dirty="0"/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457199" y="5181308"/>
            <a:ext cx="39624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800" dirty="0" err="1" smtClean="0"/>
              <a:t>Diketahui</a:t>
            </a:r>
            <a:r>
              <a:rPr lang="en-US" sz="1800" dirty="0" smtClean="0"/>
              <a:t>: R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 = 2KΩ, </a:t>
            </a:r>
            <a:r>
              <a:rPr lang="en-US" sz="1800" dirty="0" err="1" smtClean="0"/>
              <a:t>R</a:t>
            </a:r>
            <a:r>
              <a:rPr lang="en-US" sz="1800" baseline="-25000" dirty="0" err="1" smtClean="0"/>
              <a:t>f</a:t>
            </a:r>
            <a:r>
              <a:rPr lang="en-US" sz="1800" dirty="0" smtClean="0"/>
              <a:t> = 10KΩ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/>
              <a:t>V</a:t>
            </a:r>
            <a:r>
              <a:rPr lang="en-US" sz="1800" baseline="-25000" dirty="0" smtClean="0"/>
              <a:t>1 </a:t>
            </a:r>
            <a:r>
              <a:rPr lang="en-US" sz="1800" dirty="0" smtClean="0"/>
              <a:t>= 100 mV, V</a:t>
            </a:r>
            <a:r>
              <a:rPr lang="en-US" sz="1800" baseline="-25000" dirty="0" smtClean="0"/>
              <a:t>2 </a:t>
            </a:r>
            <a:r>
              <a:rPr lang="en-US" sz="1800" dirty="0" smtClean="0"/>
              <a:t>= 200 mV; </a:t>
            </a:r>
            <a:r>
              <a:rPr lang="en-US" sz="1800" dirty="0" err="1" smtClean="0"/>
              <a:t>Vout</a:t>
            </a:r>
            <a:r>
              <a:rPr lang="en-US" sz="1800" dirty="0" smtClean="0"/>
              <a:t> =…?</a:t>
            </a: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05968" y="1252603"/>
            <a:ext cx="5693080" cy="39728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477581" y="3352062"/>
                <a:ext cx="2982611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581" y="3352062"/>
                <a:ext cx="2982611" cy="6223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490958" y="4353961"/>
                <a:ext cx="4011355" cy="5532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(100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𝑚𝑉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)+ </m:t>
                          </m:r>
                          <m:f>
                            <m:f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(200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𝑚𝑉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958" y="4353961"/>
                <a:ext cx="4011355" cy="55322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728952" y="5043938"/>
                <a:ext cx="224856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=6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150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𝑚𝑉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=900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𝑚𝑉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952" y="5043938"/>
                <a:ext cx="2248564" cy="246221"/>
              </a:xfrm>
              <a:prstGeom prst="rect">
                <a:avLst/>
              </a:prstGeom>
              <a:blipFill rotWithShape="0">
                <a:blip r:embed="rId5"/>
                <a:stretch>
                  <a:fillRect r="-813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Notched Right Arrow 10"/>
          <p:cNvSpPr/>
          <p:nvPr/>
        </p:nvSpPr>
        <p:spPr>
          <a:xfrm>
            <a:off x="6099048" y="4167587"/>
            <a:ext cx="821802" cy="462988"/>
          </a:xfrm>
          <a:prstGeom prst="notched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3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92356" y="-73317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 dirty="0"/>
              <a:t>Integrator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839955" y="1418554"/>
            <a:ext cx="10210801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 err="1" smtClean="0"/>
              <a:t>rangkaian</a:t>
            </a:r>
            <a:r>
              <a:rPr lang="en-US" sz="2000" dirty="0" smtClean="0"/>
              <a:t> </a:t>
            </a:r>
            <a:r>
              <a:rPr lang="en-US" sz="2000" dirty="0"/>
              <a:t>integrator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pengubah</a:t>
            </a:r>
            <a:r>
              <a:rPr lang="en-US" sz="2000" dirty="0"/>
              <a:t> </a:t>
            </a:r>
            <a:r>
              <a:rPr lang="en-US" sz="2000" dirty="0" err="1"/>
              <a:t>tegangan</a:t>
            </a:r>
            <a:r>
              <a:rPr lang="en-US" sz="2000" dirty="0"/>
              <a:t> </a:t>
            </a:r>
            <a:r>
              <a:rPr lang="en-US" sz="2000" dirty="0" err="1"/>
              <a:t>kotak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 </a:t>
            </a:r>
            <a:r>
              <a:rPr lang="en-US" sz="2000" dirty="0" err="1"/>
              <a:t>tegangan</a:t>
            </a:r>
            <a:r>
              <a:rPr lang="en-US" sz="2000" dirty="0"/>
              <a:t> </a:t>
            </a:r>
            <a:r>
              <a:rPr lang="en-US" sz="2000" dirty="0" err="1" smtClean="0"/>
              <a:t>segitiga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 err="1" smtClean="0"/>
              <a:t>Bisa</a:t>
            </a:r>
            <a:r>
              <a:rPr lang="en-US" sz="2000" dirty="0" smtClean="0"/>
              <a:t>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sebagai</a:t>
            </a:r>
            <a:r>
              <a:rPr lang="en-US" sz="2000" dirty="0" smtClean="0"/>
              <a:t> filter </a:t>
            </a:r>
            <a:r>
              <a:rPr lang="en-US" sz="2000" dirty="0" err="1" smtClean="0"/>
              <a:t>lolos</a:t>
            </a:r>
            <a:r>
              <a:rPr lang="en-US" sz="2000" dirty="0" smtClean="0"/>
              <a:t> </a:t>
            </a:r>
            <a:r>
              <a:rPr lang="en-US" sz="2000" dirty="0" err="1" smtClean="0"/>
              <a:t>bawah</a:t>
            </a:r>
            <a:r>
              <a:rPr lang="en-US" sz="2000" dirty="0" smtClean="0"/>
              <a:t> (</a:t>
            </a:r>
            <a:r>
              <a:rPr lang="en-US" sz="2000" i="1" dirty="0" smtClean="0"/>
              <a:t>low pass filter</a:t>
            </a:r>
            <a:r>
              <a:rPr lang="en-US" sz="2000" dirty="0" smtClean="0"/>
              <a:t>)</a:t>
            </a:r>
            <a:r>
              <a:rPr lang="en-US" sz="2000" dirty="0"/>
              <a:t> </a:t>
            </a:r>
            <a:endParaRPr lang="en-US" sz="2000" dirty="0" smtClean="0"/>
          </a:p>
          <a:p>
            <a:pPr algn="just"/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56" y="2711216"/>
            <a:ext cx="5381205" cy="24960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461" y="3959256"/>
            <a:ext cx="2339100" cy="7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0530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92356" y="147830"/>
            <a:ext cx="10058400" cy="1180760"/>
          </a:xfrm>
        </p:spPr>
        <p:txBody>
          <a:bodyPr>
            <a:normAutofit/>
          </a:bodyPr>
          <a:lstStyle/>
          <a:p>
            <a:r>
              <a:rPr lang="en-US" sz="3600" dirty="0" err="1" smtClean="0"/>
              <a:t>Frekuensi</a:t>
            </a:r>
            <a:r>
              <a:rPr lang="en-US" sz="3600" dirty="0" smtClean="0"/>
              <a:t> </a:t>
            </a:r>
            <a:r>
              <a:rPr lang="en-US" sz="3600" dirty="0" err="1" smtClean="0"/>
              <a:t>kritis</a:t>
            </a:r>
            <a:r>
              <a:rPr lang="en-US" sz="3600" dirty="0" smtClean="0"/>
              <a:t> Integrator</a:t>
            </a:r>
            <a:endParaRPr lang="en-US" sz="3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45" y="2105306"/>
            <a:ext cx="4067634" cy="30453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756701" y="2126730"/>
                <a:ext cx="5411171" cy="20535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 smtClean="0">
                    <a:solidFill>
                      <a:schemeClr val="accent2"/>
                    </a:solidFill>
                  </a:rPr>
                  <a:t>Note :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Nilai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tahanan</a:t>
                </a:r>
                <a:r>
                  <a:rPr lang="en-US" dirty="0" smtClean="0"/>
                  <a:t> feedback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 smtClean="0"/>
                  <a:t>berdampak </a:t>
                </a:r>
                <a:r>
                  <a:rPr lang="en-US" dirty="0" err="1" smtClean="0"/>
                  <a:t>meningkatkan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kestabilan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frekuensi</a:t>
                </a:r>
                <a:r>
                  <a:rPr lang="en-US" dirty="0" smtClean="0"/>
                  <a:t> output.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Jika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frekuensi</a:t>
                </a:r>
                <a:r>
                  <a:rPr lang="en-US" dirty="0" smtClean="0"/>
                  <a:t> input </a:t>
                </a:r>
                <a:r>
                  <a:rPr lang="en-US" dirty="0" err="1" smtClean="0"/>
                  <a:t>lebih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kecil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dari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frekuensi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kritis</a:t>
                </a:r>
                <a:r>
                  <a:rPr lang="en-US" dirty="0" smtClean="0"/>
                  <a:t> integrator, </a:t>
                </a:r>
                <a:r>
                  <a:rPr lang="en-US" dirty="0" err="1" smtClean="0"/>
                  <a:t>maka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tidak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akan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terjadi</a:t>
                </a:r>
                <a:r>
                  <a:rPr lang="en-US" dirty="0" smtClean="0"/>
                  <a:t> proses </a:t>
                </a:r>
                <a:r>
                  <a:rPr lang="en-US" dirty="0" err="1" smtClean="0"/>
                  <a:t>integrasi</a:t>
                </a:r>
                <a:endParaRPr lang="en-US" dirty="0" smtClean="0"/>
              </a:p>
              <a:p>
                <a:pPr marL="285750" indent="-285750" algn="just">
                  <a:buFont typeface="Wingdings" panose="05000000000000000000" pitchFamily="2" charset="2"/>
                  <a:buChar char="§"/>
                </a:pPr>
                <a:endParaRPr lang="en-US" dirty="0" smtClean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701" y="2126730"/>
                <a:ext cx="5411171" cy="2053575"/>
              </a:xfrm>
              <a:prstGeom prst="rect">
                <a:avLst/>
              </a:prstGeom>
              <a:blipFill>
                <a:blip r:embed="rId3"/>
                <a:stretch>
                  <a:fillRect l="-901" t="-1780" r="-10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5756701" y="4504302"/>
            <a:ext cx="52940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err="1" smtClean="0">
                <a:solidFill>
                  <a:schemeClr val="accent2"/>
                </a:solidFill>
              </a:rPr>
              <a:t>Frekuensi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b="1" dirty="0" err="1" smtClean="0">
                <a:solidFill>
                  <a:schemeClr val="accent2"/>
                </a:solidFill>
              </a:rPr>
              <a:t>kritisnya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b="1" dirty="0" err="1" smtClean="0">
                <a:solidFill>
                  <a:schemeClr val="accent2"/>
                </a:solidFill>
              </a:rPr>
              <a:t>dinyatakan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b="1" dirty="0" err="1" smtClean="0">
                <a:solidFill>
                  <a:schemeClr val="accent2"/>
                </a:solidFill>
              </a:rPr>
              <a:t>sebesar</a:t>
            </a:r>
            <a:r>
              <a:rPr lang="en-US" b="1" dirty="0" smtClean="0">
                <a:solidFill>
                  <a:schemeClr val="accent2"/>
                </a:solidFill>
              </a:rPr>
              <a:t>:</a:t>
            </a:r>
            <a:r>
              <a:rPr lang="en-US" dirty="0">
                <a:solidFill>
                  <a:schemeClr val="accent2"/>
                </a:solidFill>
              </a:rPr>
              <a:t> </a:t>
            </a:r>
            <a:endParaRPr lang="en-US" dirty="0" smtClean="0">
              <a:solidFill>
                <a:schemeClr val="accent2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0656" y="5233194"/>
            <a:ext cx="1627200" cy="7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6456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92356" y="553453"/>
            <a:ext cx="10058400" cy="53439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Ex 6: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992356" y="1087843"/>
            <a:ext cx="8869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 smtClean="0"/>
              <a:t>Tentukan</a:t>
            </a:r>
            <a:r>
              <a:rPr lang="en-US" dirty="0" smtClean="0"/>
              <a:t> </a:t>
            </a:r>
            <a:r>
              <a:rPr lang="en-US" dirty="0" err="1" smtClean="0"/>
              <a:t>tegangan</a:t>
            </a:r>
            <a:r>
              <a:rPr lang="en-US" dirty="0" smtClean="0"/>
              <a:t> output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rangkaian</a:t>
            </a:r>
            <a:r>
              <a:rPr lang="en-US" dirty="0" smtClean="0"/>
              <a:t> integrator </a:t>
            </a:r>
            <a:r>
              <a:rPr lang="en-US" dirty="0" err="1" smtClean="0"/>
              <a:t>berikut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46" y="2103496"/>
            <a:ext cx="4072934" cy="25975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003" y="2684719"/>
            <a:ext cx="2186550" cy="8629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195" y="3547639"/>
            <a:ext cx="1322100" cy="5456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353" y="4159930"/>
            <a:ext cx="3254400" cy="6471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131" y="4878527"/>
            <a:ext cx="1372950" cy="40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77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92356" y="553453"/>
            <a:ext cx="10058400" cy="53439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Ex 7: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992356" y="1087843"/>
            <a:ext cx="8869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 smtClean="0"/>
              <a:t>Tentukan</a:t>
            </a:r>
            <a:r>
              <a:rPr lang="en-US" dirty="0" smtClean="0"/>
              <a:t> </a:t>
            </a:r>
            <a:r>
              <a:rPr lang="en-US" dirty="0" err="1" smtClean="0"/>
              <a:t>batas</a:t>
            </a:r>
            <a:r>
              <a:rPr lang="en-US" dirty="0" smtClean="0"/>
              <a:t> </a:t>
            </a:r>
            <a:r>
              <a:rPr lang="en-US" dirty="0" err="1" smtClean="0"/>
              <a:t>frekuensi</a:t>
            </a:r>
            <a:r>
              <a:rPr lang="en-US" dirty="0" smtClean="0"/>
              <a:t> minimum (</a:t>
            </a:r>
            <a:r>
              <a:rPr lang="en-US" dirty="0" err="1" smtClean="0"/>
              <a:t>kritis</a:t>
            </a:r>
            <a:r>
              <a:rPr lang="en-US" dirty="0" smtClean="0"/>
              <a:t>) </a:t>
            </a:r>
            <a:r>
              <a:rPr lang="en-US" dirty="0" err="1" smtClean="0"/>
              <a:t>rangkaian</a:t>
            </a:r>
            <a:r>
              <a:rPr lang="en-US" dirty="0" smtClean="0"/>
              <a:t> integrator </a:t>
            </a:r>
            <a:r>
              <a:rPr lang="en-US" dirty="0" err="1" smtClean="0"/>
              <a:t>berikut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56" y="2018366"/>
            <a:ext cx="4036844" cy="28601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556" y="2775876"/>
            <a:ext cx="1627200" cy="6725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769" y="3413639"/>
            <a:ext cx="2695050" cy="81216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97" y="4317361"/>
            <a:ext cx="894335" cy="371980"/>
          </a:xfrm>
          <a:prstGeom prst="rect">
            <a:avLst/>
          </a:prstGeom>
        </p:spPr>
      </p:pic>
      <p:sp>
        <p:nvSpPr>
          <p:cNvPr id="10" name="Notched Right Arrow 9"/>
          <p:cNvSpPr/>
          <p:nvPr/>
        </p:nvSpPr>
        <p:spPr>
          <a:xfrm>
            <a:off x="5029200" y="3413639"/>
            <a:ext cx="821802" cy="462988"/>
          </a:xfrm>
          <a:prstGeom prst="notched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0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5" name="Rectangle 7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Differensiator</a:t>
            </a:r>
            <a:endParaRPr lang="en-US" sz="4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1AEAA9-8C65-42A5-8C90-A2F54C07919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64949" y="1585209"/>
            <a:ext cx="73796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mengubah</a:t>
            </a:r>
            <a:r>
              <a:rPr lang="en-US" dirty="0" smtClean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segitiga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persegi</a:t>
            </a:r>
            <a:r>
              <a:rPr lang="en-US" dirty="0"/>
              <a:t> (</a:t>
            </a:r>
            <a:r>
              <a:rPr lang="en-US" dirty="0" err="1"/>
              <a:t>kotak</a:t>
            </a:r>
            <a:r>
              <a:rPr lang="en-US" dirty="0" smtClean="0"/>
              <a:t>).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filter </a:t>
            </a:r>
            <a:r>
              <a:rPr lang="en-US" dirty="0" err="1" smtClean="0"/>
              <a:t>lolos</a:t>
            </a:r>
            <a:r>
              <a:rPr lang="en-US" dirty="0" smtClean="0"/>
              <a:t> </a:t>
            </a:r>
            <a:r>
              <a:rPr lang="en-US" dirty="0" err="1" smtClean="0"/>
              <a:t>atas</a:t>
            </a:r>
            <a:r>
              <a:rPr lang="en-US" dirty="0" smtClean="0"/>
              <a:t> (high pass filter)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84" y="3437649"/>
            <a:ext cx="7011005" cy="20024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125" y="4015254"/>
            <a:ext cx="1779750" cy="6218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342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5" name="Rectangle 7"/>
          <p:cNvSpPr>
            <a:spLocks noGrp="1" noRot="1" noChangeArrowheads="1"/>
          </p:cNvSpPr>
          <p:nvPr>
            <p:ph type="title"/>
          </p:nvPr>
        </p:nvSpPr>
        <p:spPr>
          <a:xfrm>
            <a:off x="609600" y="274638"/>
            <a:ext cx="6681537" cy="11430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Ex 8: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1AEAA9-8C65-42A5-8C90-A2F54C079198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47" y="1417639"/>
            <a:ext cx="6952342" cy="22281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52" y="4124504"/>
            <a:ext cx="5603206" cy="1761666"/>
          </a:xfrm>
          <a:prstGeom prst="rect">
            <a:avLst/>
          </a:prstGeom>
        </p:spPr>
      </p:pic>
      <p:sp>
        <p:nvSpPr>
          <p:cNvPr id="8" name="Notched Right Arrow 7"/>
          <p:cNvSpPr/>
          <p:nvPr/>
        </p:nvSpPr>
        <p:spPr>
          <a:xfrm>
            <a:off x="4525701" y="4773843"/>
            <a:ext cx="821802" cy="462988"/>
          </a:xfrm>
          <a:prstGeom prst="notched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0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Komparator</a:t>
            </a:r>
            <a:r>
              <a:rPr lang="en-US" dirty="0" smtClean="0"/>
              <a:t> (</a:t>
            </a:r>
            <a:r>
              <a:rPr lang="en-US" i="1" dirty="0" smtClean="0"/>
              <a:t>Comparator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E6430B-D41A-4F4B-986B-D268072AE71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743920" y="1600202"/>
            <a:ext cx="6282522" cy="2646122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err="1" smtClean="0"/>
              <a:t>Komparator</a:t>
            </a:r>
            <a:r>
              <a:rPr lang="en-US" dirty="0" smtClean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op amp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pembanding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yang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input (+) </a:t>
            </a:r>
            <a:r>
              <a:rPr lang="en-US" dirty="0" err="1"/>
              <a:t>dan</a:t>
            </a:r>
            <a:r>
              <a:rPr lang="en-US" dirty="0"/>
              <a:t> input (-).</a:t>
            </a:r>
          </a:p>
          <a:p>
            <a:r>
              <a:rPr lang="en-US" dirty="0" err="1"/>
              <a:t>Jika</a:t>
            </a:r>
            <a:r>
              <a:rPr lang="en-US" dirty="0"/>
              <a:t> input (+)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input (-) </a:t>
            </a:r>
            <a:r>
              <a:rPr lang="en-US" dirty="0" err="1"/>
              <a:t>maka</a:t>
            </a:r>
            <a:r>
              <a:rPr lang="en-US" dirty="0"/>
              <a:t> op amp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mengeluarkan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 smtClean="0"/>
              <a:t>positif</a:t>
            </a:r>
            <a:endParaRPr lang="en-US" dirty="0"/>
          </a:p>
          <a:p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/>
              <a:t>input (-)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input (+) </a:t>
            </a:r>
            <a:r>
              <a:rPr lang="en-US" dirty="0" err="1"/>
              <a:t>maka</a:t>
            </a:r>
            <a:r>
              <a:rPr lang="en-US" dirty="0"/>
              <a:t> op amp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mengeluarkan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negatif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930" y="2913129"/>
            <a:ext cx="1729216" cy="720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6" y="2799957"/>
            <a:ext cx="1918808" cy="94701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ight Brace 2"/>
          <p:cNvSpPr/>
          <p:nvPr/>
        </p:nvSpPr>
        <p:spPr>
          <a:xfrm>
            <a:off x="6761747" y="2877298"/>
            <a:ext cx="360948" cy="79233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Notched Right Arrow 8"/>
          <p:cNvSpPr/>
          <p:nvPr/>
        </p:nvSpPr>
        <p:spPr>
          <a:xfrm>
            <a:off x="8978794" y="3041968"/>
            <a:ext cx="821802" cy="462988"/>
          </a:xfrm>
          <a:prstGeom prst="notched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/>
              <a:t>Fungsi</a:t>
            </a:r>
            <a:r>
              <a:rPr lang="en-US" sz="3200" dirty="0" smtClean="0"/>
              <a:t> lain </a:t>
            </a:r>
            <a:r>
              <a:rPr lang="en-US" sz="3200" dirty="0" err="1" smtClean="0"/>
              <a:t>Komparator</a:t>
            </a:r>
            <a:endParaRPr lang="en-US" sz="3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E6430B-D41A-4F4B-986B-D268072AE71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95793" y="1768644"/>
            <a:ext cx="3755891" cy="43313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1. </a:t>
            </a:r>
            <a:r>
              <a:rPr lang="en-US" b="1" dirty="0" err="1" smtClean="0"/>
              <a:t>Pembangkit</a:t>
            </a:r>
            <a:r>
              <a:rPr lang="en-US" b="1" dirty="0" smtClean="0"/>
              <a:t> </a:t>
            </a:r>
            <a:r>
              <a:rPr lang="en-US" b="1" dirty="0" err="1" smtClean="0"/>
              <a:t>sinyal</a:t>
            </a:r>
            <a:r>
              <a:rPr lang="en-US" b="1" dirty="0" smtClean="0"/>
              <a:t> </a:t>
            </a:r>
            <a:r>
              <a:rPr lang="en-US" b="1" dirty="0" err="1" smtClean="0"/>
              <a:t>kotak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479" y="2819136"/>
            <a:ext cx="7976356" cy="202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18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E6430B-D41A-4F4B-986B-D268072AE71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767982" y="782054"/>
            <a:ext cx="3755891" cy="4331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2</a:t>
            </a:r>
            <a:r>
              <a:rPr lang="en-US" b="1" dirty="0" smtClean="0"/>
              <a:t>. </a:t>
            </a:r>
            <a:r>
              <a:rPr lang="en-US" b="1" dirty="0" err="1" smtClean="0"/>
              <a:t>Detektor</a:t>
            </a:r>
            <a:r>
              <a:rPr lang="en-US" b="1" dirty="0" smtClean="0"/>
              <a:t> Zero Crossing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394" y="1840415"/>
            <a:ext cx="8818169" cy="251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0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6" name="Object 8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052904163"/>
              </p:ext>
            </p:extLst>
          </p:nvPr>
        </p:nvGraphicFramePr>
        <p:xfrm>
          <a:off x="3950198" y="5221507"/>
          <a:ext cx="2152974" cy="822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3" imgW="1130040" imgH="431640" progId="Equation.3">
                  <p:embed/>
                </p:oleObj>
              </mc:Choice>
              <mc:Fallback>
                <p:oleObj name="Equation" r:id="rId3" imgW="1130040" imgH="431640" progId="Equation.3">
                  <p:embed/>
                  <p:pic>
                    <p:nvPicPr>
                      <p:cNvPr id="225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0198" y="5221507"/>
                        <a:ext cx="2152974" cy="822356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E6430B-D41A-4F4B-986B-D268072AE71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0" name="Content Placeholder 7"/>
          <p:cNvSpPr txBox="1">
            <a:spLocks/>
          </p:cNvSpPr>
          <p:nvPr/>
        </p:nvSpPr>
        <p:spPr>
          <a:xfrm>
            <a:off x="767982" y="782054"/>
            <a:ext cx="3755891" cy="433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b="1" dirty="0"/>
              <a:t>3</a:t>
            </a:r>
            <a:r>
              <a:rPr lang="en-US" b="1" dirty="0" smtClean="0"/>
              <a:t>. </a:t>
            </a:r>
            <a:r>
              <a:rPr lang="en-US" b="1" dirty="0" err="1" smtClean="0"/>
              <a:t>Detektor</a:t>
            </a:r>
            <a:r>
              <a:rPr lang="en-US" b="1" dirty="0" smtClean="0"/>
              <a:t> Level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73" y="1456864"/>
            <a:ext cx="3864600" cy="29313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4414" y="782054"/>
            <a:ext cx="5218544" cy="362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8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6665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Ex 9: (</a:t>
            </a:r>
            <a:r>
              <a:rPr lang="en-US" sz="2800" dirty="0" err="1" smtClean="0"/>
              <a:t>komparator</a:t>
            </a:r>
            <a:r>
              <a:rPr lang="en-US" sz="2800" dirty="0" smtClean="0"/>
              <a:t>)</a:t>
            </a:r>
            <a:endParaRPr lang="en-US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69848" y="1198879"/>
            <a:ext cx="10058400" cy="9405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</a:t>
            </a:r>
            <a:r>
              <a:rPr lang="en-US" dirty="0" err="1"/>
              <a:t>masukan</a:t>
            </a:r>
            <a:r>
              <a:rPr lang="en-US" dirty="0"/>
              <a:t> sinus </a:t>
            </a:r>
            <a:r>
              <a:rPr lang="en-US" dirty="0" err="1"/>
              <a:t>diterapkan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komparator</a:t>
            </a:r>
            <a:r>
              <a:rPr lang="en-US" dirty="0"/>
              <a:t> yang </a:t>
            </a:r>
            <a:r>
              <a:rPr lang="en-US" dirty="0" err="1"/>
              <a:t>ditunjukan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.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diasumsikan</a:t>
            </a:r>
            <a:r>
              <a:rPr lang="en-US" dirty="0"/>
              <a:t> level </a:t>
            </a:r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keluarannya</a:t>
            </a:r>
            <a:r>
              <a:rPr lang="en-US" dirty="0"/>
              <a:t> ± 12 Volt,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gambarkan</a:t>
            </a:r>
            <a:r>
              <a:rPr lang="en-US" dirty="0"/>
              <a:t> </a:t>
            </a:r>
            <a:r>
              <a:rPr lang="en-US" dirty="0" err="1"/>
              <a:t>sketsa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</a:t>
            </a:r>
            <a:r>
              <a:rPr lang="en-US" dirty="0" err="1"/>
              <a:t>keluarannya</a:t>
            </a:r>
            <a:r>
              <a:rPr lang="en-US" dirty="0"/>
              <a:t> </a:t>
            </a:r>
            <a:r>
              <a:rPr lang="en-US" dirty="0" smtClean="0"/>
              <a:t>!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 smtClean="0"/>
          </a:p>
          <a:p>
            <a:pPr marL="0" indent="0">
              <a:buNone/>
            </a:pPr>
            <a:endParaRPr lang="en-US" sz="1800" b="1" dirty="0" smtClean="0"/>
          </a:p>
          <a:p>
            <a:pPr marL="0" indent="0">
              <a:buNone/>
            </a:pPr>
            <a:endParaRPr lang="en-US" sz="1800" b="1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48" y="2888580"/>
            <a:ext cx="4933910" cy="26339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6823151" y="2358235"/>
            <a:ext cx="1601721" cy="4677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b="1" i="1" dirty="0" err="1">
                <a:latin typeface="Book Antiqua" panose="0204060205030503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Penyelesaian</a:t>
            </a:r>
            <a:r>
              <a:rPr lang="en-US" i="1" dirty="0">
                <a:latin typeface="Book Antiqua" panose="0204060205030503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576993" y="2960612"/>
                <a:ext cx="4139403" cy="647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8,2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Ω+1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+15 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=1,63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993" y="2960612"/>
                <a:ext cx="4139403" cy="6475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120" y="3827003"/>
            <a:ext cx="2811186" cy="28866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648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43127"/>
          </a:xfrm>
        </p:spPr>
        <p:txBody>
          <a:bodyPr/>
          <a:lstStyle/>
          <a:p>
            <a:r>
              <a:rPr lang="en-US" dirty="0" smtClean="0"/>
              <a:t>HW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532684"/>
            <a:ext cx="10058400" cy="4050792"/>
          </a:xfrm>
        </p:spPr>
        <p:txBody>
          <a:bodyPr/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dirty="0" err="1" smtClean="0"/>
              <a:t>Carilah</a:t>
            </a:r>
            <a:r>
              <a:rPr lang="en-US" dirty="0" smtClean="0"/>
              <a:t> </a:t>
            </a:r>
            <a:r>
              <a:rPr lang="en-US" dirty="0" err="1"/>
              <a:t>Rumus</a:t>
            </a:r>
            <a:r>
              <a:rPr lang="en-US" dirty="0"/>
              <a:t> </a:t>
            </a:r>
            <a:r>
              <a:rPr lang="en-US" dirty="0" err="1"/>
              <a:t>Vout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 smtClean="0"/>
              <a:t>berikut</a:t>
            </a:r>
            <a:r>
              <a:rPr lang="en-US" dirty="0" smtClean="0"/>
              <a:t>, </a:t>
            </a:r>
            <a:r>
              <a:rPr lang="en-US" dirty="0" err="1" smtClean="0"/>
              <a:t>diketahui</a:t>
            </a:r>
            <a:r>
              <a:rPr lang="en-US" dirty="0"/>
              <a:t>: R</a:t>
            </a:r>
            <a:r>
              <a:rPr lang="en-US" baseline="-25000" dirty="0"/>
              <a:t>1 </a:t>
            </a:r>
            <a:r>
              <a:rPr lang="en-US" dirty="0"/>
              <a:t>= R</a:t>
            </a:r>
            <a:r>
              <a:rPr lang="en-US" baseline="-25000" dirty="0"/>
              <a:t>3 </a:t>
            </a:r>
            <a:r>
              <a:rPr lang="en-US" dirty="0"/>
              <a:t>= 2KΩ </a:t>
            </a:r>
            <a:r>
              <a:rPr lang="en-US" dirty="0" smtClean="0"/>
              <a:t>;    </a:t>
            </a:r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 = R</a:t>
            </a:r>
            <a:r>
              <a:rPr lang="en-US" baseline="-25000" dirty="0"/>
              <a:t>4</a:t>
            </a:r>
            <a:r>
              <a:rPr lang="en-US" dirty="0"/>
              <a:t> = 4KΩ ; V</a:t>
            </a:r>
            <a:r>
              <a:rPr lang="en-US" baseline="-25000" dirty="0"/>
              <a:t>1</a:t>
            </a:r>
            <a:r>
              <a:rPr lang="en-US" dirty="0"/>
              <a:t>=6V ; V</a:t>
            </a:r>
            <a:r>
              <a:rPr lang="en-US" baseline="-25000" dirty="0"/>
              <a:t>2</a:t>
            </a:r>
            <a:r>
              <a:rPr lang="en-US" dirty="0"/>
              <a:t> = </a:t>
            </a:r>
            <a:r>
              <a:rPr lang="en-US" dirty="0" smtClean="0"/>
              <a:t>7V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943094" y="2898843"/>
            <a:ext cx="6125750" cy="355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3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532684"/>
            <a:ext cx="10058400" cy="4050792"/>
          </a:xfrm>
        </p:spPr>
        <p:txBody>
          <a:bodyPr/>
          <a:lstStyle/>
          <a:p>
            <a:pPr mar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/>
              <a:t>2. </a:t>
            </a:r>
            <a:r>
              <a:rPr lang="en-US" dirty="0" err="1" smtClean="0"/>
              <a:t>Carilah</a:t>
            </a:r>
            <a:r>
              <a:rPr lang="en-US" dirty="0" smtClean="0"/>
              <a:t> </a:t>
            </a:r>
            <a:r>
              <a:rPr lang="en-US" dirty="0" err="1"/>
              <a:t>rumus</a:t>
            </a:r>
            <a:r>
              <a:rPr lang="en-US" dirty="0"/>
              <a:t> </a:t>
            </a:r>
            <a:r>
              <a:rPr lang="en-US" dirty="0" err="1"/>
              <a:t>Vout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 smtClean="0"/>
              <a:t>berikut</a:t>
            </a:r>
            <a:r>
              <a:rPr lang="en-US" dirty="0" smtClean="0"/>
              <a:t>, </a:t>
            </a:r>
            <a:r>
              <a:rPr lang="en-US" dirty="0" err="1" smtClean="0"/>
              <a:t>diketahui</a:t>
            </a:r>
            <a:r>
              <a:rPr lang="en-US" dirty="0" smtClean="0"/>
              <a:t> R</a:t>
            </a:r>
            <a:r>
              <a:rPr lang="en-US" baseline="-25000" dirty="0" smtClean="0"/>
              <a:t>1</a:t>
            </a:r>
            <a:r>
              <a:rPr lang="en-US" dirty="0" smtClean="0"/>
              <a:t>=R</a:t>
            </a:r>
            <a:r>
              <a:rPr lang="en-US" baseline="-25000" dirty="0" smtClean="0"/>
              <a:t>2</a:t>
            </a:r>
            <a:r>
              <a:rPr lang="en-US" dirty="0" smtClean="0"/>
              <a:t>=R</a:t>
            </a:r>
            <a:r>
              <a:rPr lang="en-US" baseline="-25000" dirty="0" smtClean="0"/>
              <a:t>3</a:t>
            </a:r>
            <a:r>
              <a:rPr lang="en-US" dirty="0" smtClean="0"/>
              <a:t>=R</a:t>
            </a:r>
            <a:r>
              <a:rPr lang="en-US" baseline="-25000" dirty="0" smtClean="0"/>
              <a:t>4</a:t>
            </a:r>
            <a:r>
              <a:rPr lang="en-US" dirty="0" smtClean="0"/>
              <a:t>=R</a:t>
            </a:r>
            <a:r>
              <a:rPr lang="en-US" baseline="-25000" dirty="0" smtClean="0"/>
              <a:t>5</a:t>
            </a:r>
            <a:r>
              <a:rPr lang="en-US" dirty="0" smtClean="0"/>
              <a:t>=R</a:t>
            </a:r>
          </a:p>
          <a:p>
            <a:pPr mar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/>
              <a:t> </a:t>
            </a:r>
            <a:endParaRPr lang="en-US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2873570" y="2517875"/>
            <a:ext cx="6705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10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532684"/>
            <a:ext cx="10058400" cy="4050792"/>
          </a:xfrm>
        </p:spPr>
        <p:txBody>
          <a:bodyPr/>
          <a:lstStyle/>
          <a:p>
            <a:pPr mar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/>
              <a:t>3. </a:t>
            </a:r>
            <a:r>
              <a:rPr lang="en-US" dirty="0" err="1"/>
              <a:t>Carilah</a:t>
            </a:r>
            <a:r>
              <a:rPr lang="en-US" dirty="0"/>
              <a:t> </a:t>
            </a:r>
            <a:r>
              <a:rPr lang="en-US" dirty="0" err="1"/>
              <a:t>rumus</a:t>
            </a:r>
            <a:r>
              <a:rPr lang="en-US" dirty="0"/>
              <a:t> </a:t>
            </a:r>
            <a:r>
              <a:rPr lang="en-US" dirty="0" err="1"/>
              <a:t>Vout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:</a:t>
            </a:r>
          </a:p>
          <a:p>
            <a:pPr mar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/>
          </a:p>
          <a:p>
            <a:pPr mar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/>
              <a:t> </a:t>
            </a:r>
            <a:endParaRPr lang="en-US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822448" y="2199361"/>
            <a:ext cx="65532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5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98" y="543127"/>
            <a:ext cx="11406075" cy="5456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Proteus 1</a:t>
            </a:r>
          </a:p>
          <a:p>
            <a:pPr marL="0" indent="0">
              <a:buNone/>
            </a:pPr>
            <a:r>
              <a:rPr lang="en-US" sz="1600" dirty="0" err="1" smtClean="0"/>
              <a:t>Simulasikan</a:t>
            </a:r>
            <a:r>
              <a:rPr lang="en-US" sz="1600" dirty="0" smtClean="0"/>
              <a:t> </a:t>
            </a:r>
            <a:r>
              <a:rPr lang="en-US" sz="1600" dirty="0" err="1" smtClean="0"/>
              <a:t>sebuah</a:t>
            </a:r>
            <a:r>
              <a:rPr lang="en-US" sz="1600" dirty="0" smtClean="0"/>
              <a:t> </a:t>
            </a:r>
            <a:r>
              <a:rPr lang="en-US" sz="1600" dirty="0" err="1" smtClean="0"/>
              <a:t>rangkaian</a:t>
            </a:r>
            <a:r>
              <a:rPr lang="en-US" sz="1600" dirty="0" smtClean="0"/>
              <a:t> </a:t>
            </a:r>
            <a:r>
              <a:rPr lang="en-US" sz="1600" dirty="0" err="1" smtClean="0"/>
              <a:t>penguat</a:t>
            </a:r>
            <a:r>
              <a:rPr lang="en-US" sz="1600" dirty="0" smtClean="0"/>
              <a:t> </a:t>
            </a:r>
            <a:r>
              <a:rPr lang="en-US" sz="1600" dirty="0" err="1" smtClean="0"/>
              <a:t>opamp</a:t>
            </a:r>
            <a:r>
              <a:rPr lang="en-US" sz="1600" dirty="0" smtClean="0"/>
              <a:t> </a:t>
            </a:r>
            <a:r>
              <a:rPr lang="en-US" sz="1600" dirty="0" err="1" smtClean="0"/>
              <a:t>bertingkat</a:t>
            </a:r>
            <a:r>
              <a:rPr lang="en-US" sz="1600" dirty="0" smtClean="0"/>
              <a:t> </a:t>
            </a:r>
            <a:r>
              <a:rPr lang="en-US" sz="1600" dirty="0" err="1" smtClean="0"/>
              <a:t>diketahui</a:t>
            </a:r>
            <a:r>
              <a:rPr lang="en-US" sz="1600" dirty="0" smtClean="0"/>
              <a:t> </a:t>
            </a:r>
            <a:r>
              <a:rPr lang="en-US" sz="1600" dirty="0" err="1" smtClean="0"/>
              <a:t>memiliki</a:t>
            </a:r>
            <a:r>
              <a:rPr lang="en-US" sz="1600" dirty="0" smtClean="0"/>
              <a:t> parameter R1= 4,3 k</a:t>
            </a:r>
            <a:r>
              <a:rPr lang="el-GR" sz="1600" dirty="0" smtClean="0"/>
              <a:t>Ω</a:t>
            </a:r>
            <a:r>
              <a:rPr lang="en-US" sz="1600" dirty="0" smtClean="0"/>
              <a:t>, R2= 33 k</a:t>
            </a:r>
            <a:r>
              <a:rPr lang="el-GR" sz="1600" dirty="0" smtClean="0"/>
              <a:t>Ω</a:t>
            </a:r>
            <a:r>
              <a:rPr lang="en-US" sz="1600" dirty="0" smtClean="0"/>
              <a:t>, R3=33 k</a:t>
            </a:r>
            <a:r>
              <a:rPr lang="el-GR" sz="1600" dirty="0" smtClean="0"/>
              <a:t>Ω</a:t>
            </a:r>
            <a:r>
              <a:rPr lang="en-US" sz="1600" dirty="0" smtClean="0"/>
              <a:t> </a:t>
            </a:r>
            <a:r>
              <a:rPr lang="en-US" sz="1600" dirty="0" err="1" smtClean="0"/>
              <a:t>dan</a:t>
            </a:r>
            <a:r>
              <a:rPr lang="en-US" sz="1600" dirty="0" smtClean="0"/>
              <a:t> </a:t>
            </a:r>
            <a:r>
              <a:rPr lang="en-US" sz="1600" dirty="0" err="1" smtClean="0"/>
              <a:t>Rf</a:t>
            </a:r>
            <a:r>
              <a:rPr lang="en-US" sz="1600" dirty="0" smtClean="0"/>
              <a:t> = 470 k</a:t>
            </a:r>
            <a:r>
              <a:rPr lang="el-GR" sz="1600" dirty="0" smtClean="0"/>
              <a:t>Ω</a:t>
            </a:r>
            <a:r>
              <a:rPr lang="en-US" sz="1600" dirty="0" smtClean="0"/>
              <a:t> </a:t>
            </a:r>
            <a:r>
              <a:rPr lang="en-US" sz="1600" dirty="0" err="1" smtClean="0"/>
              <a:t>dengan</a:t>
            </a:r>
            <a:r>
              <a:rPr lang="en-US" sz="1600" dirty="0" smtClean="0"/>
              <a:t> </a:t>
            </a:r>
            <a:r>
              <a:rPr lang="en-US" sz="1600" dirty="0" err="1" smtClean="0"/>
              <a:t>tegangan</a:t>
            </a:r>
            <a:r>
              <a:rPr lang="en-US" sz="1600" dirty="0" smtClean="0"/>
              <a:t> </a:t>
            </a:r>
            <a:r>
              <a:rPr lang="en-US" sz="1600" dirty="0" err="1" smtClean="0"/>
              <a:t>masukannya</a:t>
            </a:r>
            <a:r>
              <a:rPr lang="en-US" sz="1600" dirty="0" smtClean="0"/>
              <a:t> </a:t>
            </a:r>
            <a:r>
              <a:rPr lang="en-US" sz="1600" dirty="0" err="1" smtClean="0"/>
              <a:t>sebesar</a:t>
            </a:r>
            <a:r>
              <a:rPr lang="en-US" sz="1600" dirty="0" smtClean="0"/>
              <a:t> 80</a:t>
            </a:r>
            <a:r>
              <a:rPr lang="el-GR" sz="1600" dirty="0" smtClean="0"/>
              <a:t>μ</a:t>
            </a:r>
            <a:r>
              <a:rPr lang="en-US" sz="1600" dirty="0" smtClean="0"/>
              <a:t>V. </a:t>
            </a:r>
            <a:r>
              <a:rPr lang="en-US" sz="1600" dirty="0" err="1" smtClean="0"/>
              <a:t>Tentukan</a:t>
            </a:r>
            <a:r>
              <a:rPr lang="en-US" sz="1600" dirty="0" smtClean="0"/>
              <a:t>:</a:t>
            </a:r>
          </a:p>
          <a:p>
            <a:pPr marL="457200" indent="-457200">
              <a:buAutoNum type="alphaLcPeriod"/>
            </a:pPr>
            <a:r>
              <a:rPr lang="en-US" sz="1600" dirty="0" err="1" smtClean="0"/>
              <a:t>Penguatan</a:t>
            </a:r>
            <a:r>
              <a:rPr lang="en-US" sz="1600" dirty="0" smtClean="0"/>
              <a:t> total </a:t>
            </a:r>
            <a:r>
              <a:rPr lang="en-US" sz="1600" dirty="0" err="1" smtClean="0"/>
              <a:t>rangkaian</a:t>
            </a:r>
            <a:endParaRPr lang="en-US" sz="1600" dirty="0" smtClean="0"/>
          </a:p>
          <a:p>
            <a:pPr marL="457200" indent="-457200">
              <a:buAutoNum type="alphaLcPeriod"/>
            </a:pPr>
            <a:r>
              <a:rPr lang="en-US" sz="1600" dirty="0" err="1" smtClean="0"/>
              <a:t>Tegangan</a:t>
            </a:r>
            <a:r>
              <a:rPr lang="en-US" sz="1600" dirty="0" smtClean="0"/>
              <a:t> </a:t>
            </a:r>
            <a:r>
              <a:rPr lang="en-US" sz="1600" dirty="0" err="1" smtClean="0"/>
              <a:t>keluarannya</a:t>
            </a:r>
            <a:endParaRPr lang="en-US" sz="1600" dirty="0" smtClean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r>
              <a:rPr lang="en-US" sz="1600" dirty="0" smtClean="0"/>
              <a:t>	</a:t>
            </a:r>
            <a:r>
              <a:rPr lang="en-US" dirty="0" smtClean="0"/>
              <a:t>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438" y="1926016"/>
            <a:ext cx="7640876" cy="208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4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98" y="543127"/>
            <a:ext cx="11406075" cy="5456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Proteus </a:t>
            </a:r>
            <a:r>
              <a:rPr lang="en-US" b="1" dirty="0" smtClean="0"/>
              <a:t>2</a:t>
            </a:r>
            <a:endParaRPr lang="en-US" b="1" dirty="0"/>
          </a:p>
          <a:p>
            <a:pPr marL="0" indent="0">
              <a:buNone/>
            </a:pPr>
            <a:r>
              <a:rPr lang="en-US" sz="1600" dirty="0" err="1" smtClean="0"/>
              <a:t>Simulasikan</a:t>
            </a:r>
            <a:r>
              <a:rPr lang="en-US" sz="1600" dirty="0" smtClean="0"/>
              <a:t> </a:t>
            </a:r>
            <a:r>
              <a:rPr lang="en-US" sz="1600" dirty="0" err="1" smtClean="0"/>
              <a:t>rangkaian</a:t>
            </a:r>
            <a:r>
              <a:rPr lang="en-US" sz="1600" dirty="0" smtClean="0"/>
              <a:t> </a:t>
            </a:r>
            <a:r>
              <a:rPr lang="en-US" sz="1600" dirty="0" err="1" smtClean="0"/>
              <a:t>penguat</a:t>
            </a:r>
            <a:r>
              <a:rPr lang="en-US" sz="1600" dirty="0" smtClean="0"/>
              <a:t> </a:t>
            </a:r>
            <a:r>
              <a:rPr lang="en-US" sz="1600" dirty="0" err="1" smtClean="0"/>
              <a:t>penjumlah</a:t>
            </a:r>
            <a:r>
              <a:rPr lang="en-US" sz="1600" dirty="0" smtClean="0"/>
              <a:t> </a:t>
            </a:r>
            <a:r>
              <a:rPr lang="en-US" sz="1600" dirty="0" err="1" smtClean="0"/>
              <a:t>berikut</a:t>
            </a:r>
            <a:r>
              <a:rPr lang="en-US" sz="1600" dirty="0" smtClean="0"/>
              <a:t> </a:t>
            </a:r>
            <a:r>
              <a:rPr lang="en-US" sz="1600" dirty="0" err="1" smtClean="0"/>
              <a:t>ini</a:t>
            </a:r>
            <a:r>
              <a:rPr lang="en-US" sz="1600" dirty="0" smtClean="0"/>
              <a:t> </a:t>
            </a:r>
            <a:r>
              <a:rPr lang="en-US" sz="1600" dirty="0" err="1" smtClean="0"/>
              <a:t>dan</a:t>
            </a:r>
            <a:r>
              <a:rPr lang="en-US" sz="1600" dirty="0" smtClean="0"/>
              <a:t> </a:t>
            </a:r>
            <a:r>
              <a:rPr lang="en-US" sz="1600" dirty="0" err="1" smtClean="0"/>
              <a:t>Uraikan</a:t>
            </a:r>
            <a:r>
              <a:rPr lang="en-US" sz="1600" dirty="0" smtClean="0"/>
              <a:t> </a:t>
            </a:r>
            <a:r>
              <a:rPr lang="en-US" sz="1600" dirty="0" err="1" smtClean="0"/>
              <a:t>penyelesaian</a:t>
            </a:r>
            <a:r>
              <a:rPr lang="en-US" sz="1600" dirty="0" smtClean="0"/>
              <a:t> </a:t>
            </a:r>
            <a:r>
              <a:rPr lang="en-US" sz="1600" dirty="0" err="1" smtClean="0"/>
              <a:t>untuk</a:t>
            </a:r>
            <a:r>
              <a:rPr lang="en-US" sz="1600" dirty="0" smtClean="0"/>
              <a:t> </a:t>
            </a:r>
            <a:r>
              <a:rPr lang="en-US" sz="1600" dirty="0" err="1" smtClean="0"/>
              <a:t>tentukan</a:t>
            </a:r>
            <a:r>
              <a:rPr lang="en-US" sz="1600" dirty="0" smtClean="0"/>
              <a:t> </a:t>
            </a:r>
            <a:r>
              <a:rPr lang="en-US" sz="1600" dirty="0" err="1" smtClean="0"/>
              <a:t>tegangan</a:t>
            </a:r>
            <a:r>
              <a:rPr lang="en-US" sz="1600" dirty="0" smtClean="0"/>
              <a:t> </a:t>
            </a:r>
            <a:r>
              <a:rPr lang="en-US" sz="1600" dirty="0" err="1" smtClean="0"/>
              <a:t>keluarannya</a:t>
            </a:r>
            <a:r>
              <a:rPr lang="en-US" sz="1600" dirty="0" smtClean="0"/>
              <a:t> !</a:t>
            </a:r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r>
              <a:rPr lang="en-US" sz="1600" dirty="0" smtClean="0"/>
              <a:t>	</a:t>
            </a:r>
            <a:r>
              <a:rPr lang="en-US" dirty="0" smtClean="0"/>
              <a:t>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311" y="2104517"/>
            <a:ext cx="5225962" cy="38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4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47601" y="304364"/>
            <a:ext cx="1087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Proteus </a:t>
            </a:r>
            <a:r>
              <a:rPr lang="en-US" b="1" dirty="0" smtClean="0"/>
              <a:t> :</a:t>
            </a: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537" t="13408" r="15759" b="9001"/>
          <a:stretch/>
        </p:blipFill>
        <p:spPr>
          <a:xfrm>
            <a:off x="991564" y="902827"/>
            <a:ext cx="9425500" cy="503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B310-956B-4986-B649-6C84FE08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286000"/>
            <a:ext cx="10018713" cy="1752599"/>
          </a:xfrm>
        </p:spPr>
        <p:txBody>
          <a:bodyPr>
            <a:normAutofit/>
          </a:bodyPr>
          <a:lstStyle/>
          <a:p>
            <a:r>
              <a:rPr lang="en-IN" sz="6600" dirty="0">
                <a:solidFill>
                  <a:schemeClr val="accent4"/>
                </a:solidFill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3063" y="3669267"/>
            <a:ext cx="3957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https://www.youtube.com/@AmelOline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3063" y="4178190"/>
            <a:ext cx="5311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https://github.com/amelcharolinesgn2/DE-Lab/upload</a:t>
            </a:r>
          </a:p>
        </p:txBody>
      </p:sp>
    </p:spTree>
    <p:extLst>
      <p:ext uri="{BB962C8B-B14F-4D97-AF65-F5344CB8AC3E}">
        <p14:creationId xmlns:p14="http://schemas.microsoft.com/office/powerpoint/2010/main" val="409100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</TotalTime>
  <Words>626</Words>
  <Application>Microsoft Office PowerPoint</Application>
  <PresentationFormat>Widescreen</PresentationFormat>
  <Paragraphs>181</Paragraphs>
  <Slides>29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맑은 고딕</vt:lpstr>
      <vt:lpstr>Arial</vt:lpstr>
      <vt:lpstr>Book Antiqua</vt:lpstr>
      <vt:lpstr>Calibri</vt:lpstr>
      <vt:lpstr>Calibri Light</vt:lpstr>
      <vt:lpstr>Cambria Math</vt:lpstr>
      <vt:lpstr>Garamond</vt:lpstr>
      <vt:lpstr>Times New Roman</vt:lpstr>
      <vt:lpstr>Wingdings</vt:lpstr>
      <vt:lpstr>Office Theme</vt:lpstr>
      <vt:lpstr>Equation</vt:lpstr>
      <vt:lpstr>OP - Amp</vt:lpstr>
      <vt:lpstr>Karakteristik ideal Op-Amp</vt:lpstr>
      <vt:lpstr>Rangkaian pengikut tegangan (voltege follower)</vt:lpstr>
      <vt:lpstr>PowerPoint Presentation</vt:lpstr>
      <vt:lpstr>Penguat Op-Amp Bertingkat  (Multistage Amplifier)</vt:lpstr>
      <vt:lpstr>PowerPoint Presentation</vt:lpstr>
      <vt:lpstr>Penguat penjumlah  (tipe inverting)</vt:lpstr>
      <vt:lpstr>PowerPoint Presentation</vt:lpstr>
      <vt:lpstr>PowerPoint Presentation</vt:lpstr>
      <vt:lpstr>Penguat penjumlah  (tipe non inverting)</vt:lpstr>
      <vt:lpstr>Ex 5:</vt:lpstr>
      <vt:lpstr>Integrator</vt:lpstr>
      <vt:lpstr>Frekuensi kritis Integrator</vt:lpstr>
      <vt:lpstr>Ex 6:</vt:lpstr>
      <vt:lpstr>Ex 7:</vt:lpstr>
      <vt:lpstr>Differensiator</vt:lpstr>
      <vt:lpstr>Ex 8:</vt:lpstr>
      <vt:lpstr>Komparator (Comparator)</vt:lpstr>
      <vt:lpstr>Fungsi lain Komparator</vt:lpstr>
      <vt:lpstr>PowerPoint Presentation</vt:lpstr>
      <vt:lpstr>PowerPoint Presentation</vt:lpstr>
      <vt:lpstr>Ex 9: (komparator)</vt:lpstr>
      <vt:lpstr>HW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 Uncertainty Estimation in Medical Image Deep Learning w/ Dr. Brattain</dc:title>
  <dc:creator>pds</dc:creator>
  <cp:lastModifiedBy>Gde</cp:lastModifiedBy>
  <cp:revision>38</cp:revision>
  <dcterms:created xsi:type="dcterms:W3CDTF">2024-07-11T17:06:45Z</dcterms:created>
  <dcterms:modified xsi:type="dcterms:W3CDTF">2025-04-22T03:41:31Z</dcterms:modified>
</cp:coreProperties>
</file>