
<file path=[Content_Types].xml><?xml version="1.0" encoding="utf-8"?>
<Types xmlns="http://schemas.openxmlformats.org/package/2006/content-types">
  <Default Extension="png" ContentType="image/png"/>
  <Default Extension="jpeg" ContentType="image/jpeg"/>
  <Default Extension="emf" ContentType="image/x-emf"/>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64" r:id="rId2"/>
    <p:sldId id="279" r:id="rId3"/>
    <p:sldId id="280" r:id="rId4"/>
    <p:sldId id="281" r:id="rId5"/>
    <p:sldId id="282" r:id="rId6"/>
    <p:sldId id="283" r:id="rId7"/>
    <p:sldId id="284" r:id="rId8"/>
    <p:sldId id="285" r:id="rId9"/>
    <p:sldId id="286" r:id="rId10"/>
    <p:sldId id="287" r:id="rId11"/>
    <p:sldId id="288" r:id="rId12"/>
    <p:sldId id="289" r:id="rId13"/>
    <p:sldId id="290" r:id="rId14"/>
    <p:sldId id="291" r:id="rId15"/>
    <p:sldId id="292" r:id="rId16"/>
    <p:sldId id="293" r:id="rId17"/>
    <p:sldId id="294" r:id="rId18"/>
    <p:sldId id="295" r:id="rId19"/>
    <p:sldId id="296" r:id="rId20"/>
    <p:sldId id="297" r:id="rId21"/>
    <p:sldId id="278"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159" autoAdjust="0"/>
    <p:restoredTop sz="72042" autoAdjust="0"/>
  </p:normalViewPr>
  <p:slideViewPr>
    <p:cSldViewPr snapToGrid="0">
      <p:cViewPr varScale="1">
        <p:scale>
          <a:sx n="59" d="100"/>
          <a:sy n="59" d="100"/>
        </p:scale>
        <p:origin x="12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5D0C7D-798A-44DC-AC41-FEC01C38F0EB}" type="datetimeFigureOut">
              <a:rPr lang="en-US" smtClean="0"/>
              <a:t>3/17/2026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1A1DE6-A801-4746-9FC0-8352D20A3103}" type="slidenum">
              <a:rPr lang="en-US" smtClean="0"/>
              <a:t>‹#›</a:t>
            </a:fld>
            <a:endParaRPr lang="en-US"/>
          </a:p>
        </p:txBody>
      </p:sp>
    </p:spTree>
    <p:extLst>
      <p:ext uri="{BB962C8B-B14F-4D97-AF65-F5344CB8AC3E}">
        <p14:creationId xmlns:p14="http://schemas.microsoft.com/office/powerpoint/2010/main" val="28595932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DC773BF-E5C9-44BF-B19B-39EF1F90376E}" type="slidenum">
              <a:rPr lang="en-US" smtClean="0"/>
              <a:t>1</a:t>
            </a:fld>
            <a:endParaRPr lang="en-US"/>
          </a:p>
        </p:txBody>
      </p:sp>
    </p:spTree>
    <p:extLst>
      <p:ext uri="{BB962C8B-B14F-4D97-AF65-F5344CB8AC3E}">
        <p14:creationId xmlns:p14="http://schemas.microsoft.com/office/powerpoint/2010/main" val="884784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C77EA2CC-FABD-466D-82E8-AC953C7EC0CC}" type="slidenum">
              <a:rPr lang="en-US" smtClean="0"/>
              <a:t>21</a:t>
            </a:fld>
            <a:endParaRPr lang="en-US"/>
          </a:p>
        </p:txBody>
      </p:sp>
    </p:spTree>
    <p:extLst>
      <p:ext uri="{BB962C8B-B14F-4D97-AF65-F5344CB8AC3E}">
        <p14:creationId xmlns:p14="http://schemas.microsoft.com/office/powerpoint/2010/main" val="40873288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7BBB5D1-B60B-4B38-B17E-7765EA145201}"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884090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7BBB5D1-B60B-4B38-B17E-7765EA145201}"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16220346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7BBB5D1-B60B-4B38-B17E-7765EA145201}"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3468882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7BBB5D1-B60B-4B38-B17E-7765EA145201}" type="datetimeFigureOut">
              <a:rPr lang="en-US" smtClean="0"/>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39443962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7BBB5D1-B60B-4B38-B17E-7765EA145201}" type="datetimeFigureOut">
              <a:rPr lang="en-US" smtClean="0"/>
              <a:t>3/17/2026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20223424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7BBB5D1-B60B-4B38-B17E-7765EA145201}" type="datetimeFigureOut">
              <a:rPr lang="en-US" smtClean="0"/>
              <a:t>3/17/2026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33620848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BBB5D1-B60B-4B38-B17E-7765EA145201}" type="datetimeFigureOut">
              <a:rPr lang="en-US" smtClean="0"/>
              <a:t>3/17/2026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5629242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7BBB5D1-B60B-4B38-B17E-7765EA145201}" type="datetimeFigureOut">
              <a:rPr lang="en-US" smtClean="0"/>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2775841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7BBB5D1-B60B-4B38-B17E-7765EA145201}" type="datetimeFigureOut">
              <a:rPr lang="en-US" smtClean="0"/>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2201192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7BBB5D1-B60B-4B38-B17E-7765EA145201}"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10736697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7BBB5D1-B60B-4B38-B17E-7765EA145201}"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29795665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BBB5D1-B60B-4B38-B17E-7765EA145201}" type="datetimeFigureOut">
              <a:rPr lang="en-US" smtClean="0"/>
              <a:t>3/17/2026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EF42857-403A-4A86-BF79-9A4C4603A143}" type="slidenum">
              <a:rPr lang="en-US" smtClean="0"/>
              <a:t>‹#›</a:t>
            </a:fld>
            <a:endParaRPr lang="en-US"/>
          </a:p>
        </p:txBody>
      </p:sp>
    </p:spTree>
    <p:extLst>
      <p:ext uri="{BB962C8B-B14F-4D97-AF65-F5344CB8AC3E}">
        <p14:creationId xmlns:p14="http://schemas.microsoft.com/office/powerpoint/2010/main" val="26558989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hyperlink" Target="http://www.clker.com/clipart-resistor-symbol.html"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3.emf"/></Relationships>
</file>

<file path=ppt/slides/_rels/slide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Layout" Target="../slideLayouts/slideLayout7.xml"/><Relationship Id="rId5" Type="http://schemas.openxmlformats.org/officeDocument/2006/relationships/image" Target="../media/image16.jpeg"/><Relationship Id="rId4" Type="http://schemas.openxmlformats.org/officeDocument/2006/relationships/hyperlink" Target="http://images.google.com/imgres?imgurl=http://www.wheelchairdriver.com/images-vw-caravelle/fuse.h4.jpg&amp;imgrefurl=http://www.wheelchairdriver.com/fuse.htm&amp;usg=__QN0UMfCnOCEo3qWsfl8DQ5fPPgU=&amp;h=300&amp;w=300&amp;sz=7&amp;hl=en&amp;start=4&amp;itbs=1&amp;tbnid=pPvAQDrqVgkJWM:&amp;tbnh=116&amp;tbnw=116&amp;prev=/images?q=electric+fuse&amp;hl=en&amp;gbv=2&amp;tbs=isch:1"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emf"/><Relationship Id="rId1" Type="http://schemas.openxmlformats.org/officeDocument/2006/relationships/slideLayout" Target="../slideLayouts/slideLayout7.xml"/><Relationship Id="rId4" Type="http://schemas.openxmlformats.org/officeDocument/2006/relationships/image" Target="../media/image20.jpeg"/></Relationships>
</file>

<file path=ppt/slides/_rels/slide1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21.jpe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6677" y="2721459"/>
            <a:ext cx="9144000" cy="1510320"/>
          </a:xfrm>
        </p:spPr>
        <p:txBody>
          <a:bodyPr>
            <a:normAutofit fontScale="90000"/>
          </a:bodyPr>
          <a:lstStyle/>
          <a:p>
            <a:pPr algn="l"/>
            <a:r>
              <a:rPr lang="en-US" b="1" dirty="0" smtClean="0">
                <a:solidFill>
                  <a:schemeClr val="bg1">
                    <a:lumMod val="85000"/>
                  </a:schemeClr>
                </a:solidFill>
              </a:rPr>
              <a:t>9.0_Electonic Component</a:t>
            </a:r>
            <a:r>
              <a:rPr lang="en-US" b="1" dirty="0" smtClean="0">
                <a:solidFill>
                  <a:srgbClr val="002060"/>
                </a:solidFill>
              </a:rPr>
              <a:t/>
            </a:r>
            <a:br>
              <a:rPr lang="en-US" b="1" dirty="0" smtClean="0">
                <a:solidFill>
                  <a:srgbClr val="002060"/>
                </a:solidFill>
              </a:rPr>
            </a:br>
            <a:endParaRPr lang="en-US" dirty="0"/>
          </a:p>
        </p:txBody>
      </p:sp>
      <p:sp>
        <p:nvSpPr>
          <p:cNvPr id="13" name="Subtitle 2"/>
          <p:cNvSpPr txBox="1">
            <a:spLocks/>
          </p:cNvSpPr>
          <p:nvPr/>
        </p:nvSpPr>
        <p:spPr>
          <a:xfrm>
            <a:off x="2893786" y="3309896"/>
            <a:ext cx="5287688" cy="52107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dirty="0">
              <a:solidFill>
                <a:srgbClr val="00B0F0"/>
              </a:solidFill>
            </a:endParaRPr>
          </a:p>
        </p:txBody>
      </p:sp>
      <p:grpSp>
        <p:nvGrpSpPr>
          <p:cNvPr id="20" name="Group 19"/>
          <p:cNvGrpSpPr/>
          <p:nvPr/>
        </p:nvGrpSpPr>
        <p:grpSpPr>
          <a:xfrm>
            <a:off x="54496" y="359621"/>
            <a:ext cx="4804363" cy="2463094"/>
            <a:chOff x="54496" y="359621"/>
            <a:chExt cx="4804363" cy="2463094"/>
          </a:xfrm>
        </p:grpSpPr>
        <p:pic>
          <p:nvPicPr>
            <p:cNvPr id="19" name="Picture 18"/>
            <p:cNvPicPr>
              <a:picLocks noChangeAspect="1"/>
            </p:cNvPicPr>
            <p:nvPr/>
          </p:nvPicPr>
          <p:blipFill>
            <a:blip r:embed="rId3"/>
            <a:stretch>
              <a:fillRect/>
            </a:stretch>
          </p:blipFill>
          <p:spPr>
            <a:xfrm>
              <a:off x="235105" y="1901987"/>
              <a:ext cx="3104181" cy="263526"/>
            </a:xfrm>
            <a:prstGeom prst="rect">
              <a:avLst/>
            </a:prstGeom>
          </p:spPr>
        </p:pic>
        <p:sp>
          <p:nvSpPr>
            <p:cNvPr id="6" name="Title 4">
              <a:extLst>
                <a:ext uri="{FF2B5EF4-FFF2-40B4-BE49-F238E27FC236}">
                  <a16:creationId xmlns:a16="http://schemas.microsoft.com/office/drawing/2014/main" id="{27228BAE-048B-681E-DD8D-BD96B22560E0}"/>
                </a:ext>
              </a:extLst>
            </p:cNvPr>
            <p:cNvSpPr txBox="1">
              <a:spLocks/>
            </p:cNvSpPr>
            <p:nvPr/>
          </p:nvSpPr>
          <p:spPr>
            <a:xfrm>
              <a:off x="54496" y="1922610"/>
              <a:ext cx="4804363" cy="900105"/>
            </a:xfrm>
            <a:prstGeom prst="rect">
              <a:avLst/>
            </a:prstGeom>
          </p:spPr>
          <p:txBody>
            <a:bodyPr vert="horz" lIns="91440" tIns="45720" rIns="91440" bIns="45720" rtlCol="0" anchor="b">
              <a:normAutofit fontScale="9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dirty="0" smtClean="0">
                  <a:solidFill>
                    <a:schemeClr val="accent1">
                      <a:lumMod val="75000"/>
                    </a:schemeClr>
                  </a:solidFill>
                </a:rPr>
                <a:t>Computer </a:t>
              </a:r>
              <a:r>
                <a:rPr lang="en-US" dirty="0" smtClean="0">
                  <a:solidFill>
                    <a:srgbClr val="00B0F0"/>
                  </a:solidFill>
                </a:rPr>
                <a:t>Vision</a:t>
              </a:r>
              <a:endParaRPr lang="en-US" dirty="0">
                <a:solidFill>
                  <a:srgbClr val="00B0F0"/>
                </a:solidFill>
              </a:endParaRPr>
            </a:p>
          </p:txBody>
        </p:sp>
        <p:grpSp>
          <p:nvGrpSpPr>
            <p:cNvPr id="7" name="Group 6">
              <a:extLst>
                <a:ext uri="{FF2B5EF4-FFF2-40B4-BE49-F238E27FC236}">
                  <a16:creationId xmlns:a16="http://schemas.microsoft.com/office/drawing/2014/main" id="{2AABCB87-2ECC-4C03-B5BB-6EE11C8A4485}"/>
                </a:ext>
              </a:extLst>
            </p:cNvPr>
            <p:cNvGrpSpPr/>
            <p:nvPr/>
          </p:nvGrpSpPr>
          <p:grpSpPr>
            <a:xfrm>
              <a:off x="89638" y="359621"/>
              <a:ext cx="3064025" cy="1516520"/>
              <a:chOff x="4853562" y="1589418"/>
              <a:chExt cx="2609520" cy="1291565"/>
            </a:xfrm>
          </p:grpSpPr>
          <p:sp>
            <p:nvSpPr>
              <p:cNvPr id="8" name="Freeform 7">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a:solidFill>
                    <a:schemeClr val="tx1"/>
                  </a:solidFill>
                </a:endParaRPr>
              </a:p>
            </p:txBody>
          </p:sp>
          <p:sp>
            <p:nvSpPr>
              <p:cNvPr id="9" name="Freeform 8">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dirty="0">
                  <a:solidFill>
                    <a:schemeClr val="tx1"/>
                  </a:solidFill>
                </a:endParaRPr>
              </a:p>
            </p:txBody>
          </p:sp>
        </p:grpSp>
        <p:grpSp>
          <p:nvGrpSpPr>
            <p:cNvPr id="10" name="Group 9">
              <a:extLst>
                <a:ext uri="{FF2B5EF4-FFF2-40B4-BE49-F238E27FC236}">
                  <a16:creationId xmlns:a16="http://schemas.microsoft.com/office/drawing/2014/main" id="{AB8BC7BC-BF58-402E-9A69-AA9226DE7CAA}"/>
                </a:ext>
              </a:extLst>
            </p:cNvPr>
            <p:cNvGrpSpPr/>
            <p:nvPr/>
          </p:nvGrpSpPr>
          <p:grpSpPr>
            <a:xfrm>
              <a:off x="1356703" y="883096"/>
              <a:ext cx="1334145" cy="620384"/>
              <a:chOff x="7729280" y="2195997"/>
              <a:chExt cx="2143740" cy="996849"/>
            </a:xfrm>
            <a:solidFill>
              <a:schemeClr val="accent6"/>
            </a:solidFill>
          </p:grpSpPr>
          <p:sp>
            <p:nvSpPr>
              <p:cNvPr id="11" name="Freeform: Shape 66">
                <a:extLst>
                  <a:ext uri="{FF2B5EF4-FFF2-40B4-BE49-F238E27FC236}">
                    <a16:creationId xmlns:a16="http://schemas.microsoft.com/office/drawing/2014/main" id="{2A081543-B9FF-49B1-8EEF-ABDF5438EDCD}"/>
                  </a:ext>
                </a:extLst>
              </p:cNvPr>
              <p:cNvSpPr/>
              <p:nvPr/>
            </p:nvSpPr>
            <p:spPr>
              <a:xfrm>
                <a:off x="7729280" y="2195997"/>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dirty="0"/>
              </a:p>
            </p:txBody>
          </p:sp>
          <p:sp>
            <p:nvSpPr>
              <p:cNvPr id="12" name="Freeform: Shape 67">
                <a:extLst>
                  <a:ext uri="{FF2B5EF4-FFF2-40B4-BE49-F238E27FC236}">
                    <a16:creationId xmlns:a16="http://schemas.microsoft.com/office/drawing/2014/main" id="{275D1FAA-C13F-4A6B-BA37-7704CFB7ADCD}"/>
                  </a:ext>
                </a:extLst>
              </p:cNvPr>
              <p:cNvSpPr/>
              <p:nvPr/>
            </p:nvSpPr>
            <p:spPr>
              <a:xfrm>
                <a:off x="8421007" y="2543552"/>
                <a:ext cx="443936" cy="326800"/>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14" name="Subtitle 2">
              <a:extLst>
                <a:ext uri="{FF2B5EF4-FFF2-40B4-BE49-F238E27FC236}">
                  <a16:creationId xmlns:a16="http://schemas.microsoft.com/office/drawing/2014/main" id="{53858C97-DA2F-8866-47CC-CDF4077BBF9D}"/>
                </a:ext>
              </a:extLst>
            </p:cNvPr>
            <p:cNvSpPr txBox="1">
              <a:spLocks/>
            </p:cNvSpPr>
            <p:nvPr/>
          </p:nvSpPr>
          <p:spPr>
            <a:xfrm>
              <a:off x="1727403" y="1099395"/>
              <a:ext cx="729275" cy="203382"/>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smtClean="0">
                  <a:solidFill>
                    <a:srgbClr val="7030A0"/>
                  </a:solidFill>
                </a:rPr>
                <a:t>PDS</a:t>
              </a:r>
              <a:endParaRPr lang="en-US" sz="1600" dirty="0">
                <a:solidFill>
                  <a:srgbClr val="7030A0"/>
                </a:solidFill>
              </a:endParaRPr>
            </a:p>
          </p:txBody>
        </p:sp>
        <p:sp>
          <p:nvSpPr>
            <p:cNvPr id="17" name="Title 4">
              <a:extLst>
                <a:ext uri="{FF2B5EF4-FFF2-40B4-BE49-F238E27FC236}">
                  <a16:creationId xmlns:a16="http://schemas.microsoft.com/office/drawing/2014/main" id="{27228BAE-048B-681E-DD8D-BD96B22560E0}"/>
                </a:ext>
              </a:extLst>
            </p:cNvPr>
            <p:cNvSpPr txBox="1">
              <a:spLocks/>
            </p:cNvSpPr>
            <p:nvPr/>
          </p:nvSpPr>
          <p:spPr>
            <a:xfrm>
              <a:off x="788714" y="1452073"/>
              <a:ext cx="938689" cy="470538"/>
            </a:xfrm>
            <a:prstGeom prst="rect">
              <a:avLst/>
            </a:prstGeom>
            <a:solidFill>
              <a:schemeClr val="bg1"/>
            </a:solidFill>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2800" dirty="0" smtClean="0">
                  <a:solidFill>
                    <a:schemeClr val="accent5">
                      <a:lumMod val="50000"/>
                    </a:schemeClr>
                  </a:solidFill>
                </a:rPr>
                <a:t>SDN</a:t>
              </a:r>
              <a:endParaRPr lang="en-US" sz="2800" dirty="0">
                <a:solidFill>
                  <a:schemeClr val="accent5">
                    <a:lumMod val="50000"/>
                  </a:schemeClr>
                </a:solidFill>
              </a:endParaRPr>
            </a:p>
          </p:txBody>
        </p:sp>
        <p:sp>
          <p:nvSpPr>
            <p:cNvPr id="18" name="Title 4">
              <a:extLst>
                <a:ext uri="{FF2B5EF4-FFF2-40B4-BE49-F238E27FC236}">
                  <a16:creationId xmlns:a16="http://schemas.microsoft.com/office/drawing/2014/main" id="{27228BAE-048B-681E-DD8D-BD96B22560E0}"/>
                </a:ext>
              </a:extLst>
            </p:cNvPr>
            <p:cNvSpPr txBox="1">
              <a:spLocks/>
            </p:cNvSpPr>
            <p:nvPr/>
          </p:nvSpPr>
          <p:spPr>
            <a:xfrm>
              <a:off x="1449719" y="1352665"/>
              <a:ext cx="928870" cy="581223"/>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2800" dirty="0" smtClean="0">
                  <a:solidFill>
                    <a:schemeClr val="accent1">
                      <a:lumMod val="75000"/>
                    </a:schemeClr>
                  </a:solidFill>
                </a:rPr>
                <a:t>NFV</a:t>
              </a:r>
              <a:endParaRPr lang="en-US" sz="2800" dirty="0">
                <a:solidFill>
                  <a:schemeClr val="accent1">
                    <a:lumMod val="75000"/>
                  </a:schemeClr>
                </a:solidFill>
              </a:endParaRPr>
            </a:p>
          </p:txBody>
        </p:sp>
      </p:grpSp>
      <p:sp>
        <p:nvSpPr>
          <p:cNvPr id="22" name="Rectangle 21"/>
          <p:cNvSpPr/>
          <p:nvPr/>
        </p:nvSpPr>
        <p:spPr>
          <a:xfrm>
            <a:off x="9507866" y="6056142"/>
            <a:ext cx="2613761" cy="230832"/>
          </a:xfrm>
          <a:prstGeom prst="rect">
            <a:avLst/>
          </a:prstGeom>
        </p:spPr>
        <p:txBody>
          <a:bodyPr wrap="square">
            <a:spAutoFit/>
          </a:bodyPr>
          <a:lstStyle/>
          <a:p>
            <a:r>
              <a:rPr lang="en-US" sz="900" dirty="0"/>
              <a:t>https://www.youtube.com/@AmelOline/videos</a:t>
            </a:r>
          </a:p>
        </p:txBody>
      </p:sp>
      <p:sp>
        <p:nvSpPr>
          <p:cNvPr id="23" name="Rectangle 22"/>
          <p:cNvSpPr/>
          <p:nvPr/>
        </p:nvSpPr>
        <p:spPr>
          <a:xfrm>
            <a:off x="10344774" y="5917643"/>
            <a:ext cx="1623448" cy="230832"/>
          </a:xfrm>
          <a:prstGeom prst="rect">
            <a:avLst/>
          </a:prstGeom>
        </p:spPr>
        <p:txBody>
          <a:bodyPr wrap="square">
            <a:spAutoFit/>
          </a:bodyPr>
          <a:lstStyle/>
          <a:p>
            <a:r>
              <a:rPr lang="en-US" sz="900" dirty="0"/>
              <a:t>https://github.com/siagianp</a:t>
            </a:r>
          </a:p>
        </p:txBody>
      </p:sp>
      <p:sp>
        <p:nvSpPr>
          <p:cNvPr id="24" name="Rectangle 23"/>
          <p:cNvSpPr/>
          <p:nvPr/>
        </p:nvSpPr>
        <p:spPr>
          <a:xfrm>
            <a:off x="8531473" y="6194642"/>
            <a:ext cx="3667194" cy="230832"/>
          </a:xfrm>
          <a:prstGeom prst="rect">
            <a:avLst/>
          </a:prstGeom>
        </p:spPr>
        <p:txBody>
          <a:bodyPr wrap="square">
            <a:spAutoFit/>
          </a:bodyPr>
          <a:lstStyle/>
          <a:p>
            <a:r>
              <a:rPr lang="en-US" sz="900" dirty="0"/>
              <a:t>https://github.com/amelcharolinesgn2/IoT_simulator-mqtt-NodeRed</a:t>
            </a:r>
          </a:p>
        </p:txBody>
      </p:sp>
      <p:sp>
        <p:nvSpPr>
          <p:cNvPr id="25" name="Rectangle 24"/>
          <p:cNvSpPr/>
          <p:nvPr/>
        </p:nvSpPr>
        <p:spPr>
          <a:xfrm>
            <a:off x="8977163" y="6333141"/>
            <a:ext cx="3204723" cy="230832"/>
          </a:xfrm>
          <a:prstGeom prst="rect">
            <a:avLst/>
          </a:prstGeom>
        </p:spPr>
        <p:txBody>
          <a:bodyPr wrap="none">
            <a:spAutoFit/>
          </a:bodyPr>
          <a:lstStyle/>
          <a:p>
            <a:r>
              <a:rPr lang="en-US" sz="900" dirty="0"/>
              <a:t>https://github.com/amelcharolinesgn2/Cloud-Infrastructures</a:t>
            </a:r>
          </a:p>
        </p:txBody>
      </p:sp>
      <p:sp>
        <p:nvSpPr>
          <p:cNvPr id="26" name="Rectangle 25"/>
          <p:cNvSpPr/>
          <p:nvPr/>
        </p:nvSpPr>
        <p:spPr>
          <a:xfrm>
            <a:off x="8444566" y="6506265"/>
            <a:ext cx="3839513" cy="230832"/>
          </a:xfrm>
          <a:prstGeom prst="rect">
            <a:avLst/>
          </a:prstGeom>
        </p:spPr>
        <p:txBody>
          <a:bodyPr wrap="none">
            <a:spAutoFit/>
          </a:bodyPr>
          <a:lstStyle/>
          <a:p>
            <a:r>
              <a:rPr lang="en-US" sz="900" dirty="0"/>
              <a:t>https://github.com/amelcharolinesgn2/ClouD-Infrastructure-SISKA-2025</a:t>
            </a:r>
          </a:p>
        </p:txBody>
      </p:sp>
    </p:spTree>
    <p:extLst>
      <p:ext uri="{BB962C8B-B14F-4D97-AF65-F5344CB8AC3E}">
        <p14:creationId xmlns:p14="http://schemas.microsoft.com/office/powerpoint/2010/main" val="386400268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A7744516-270F-4942-A3E1-56BFCA81273E}" type="slidenum">
              <a:rPr lang="en-US" altLang="en-US">
                <a:solidFill>
                  <a:srgbClr val="898989"/>
                </a:solidFill>
              </a:rPr>
              <a:pPr/>
              <a:t>2</a:t>
            </a:fld>
            <a:endParaRPr lang="en-US" altLang="en-US">
              <a:solidFill>
                <a:srgbClr val="898989"/>
              </a:solidFill>
            </a:endParaRPr>
          </a:p>
        </p:txBody>
      </p:sp>
      <p:sp>
        <p:nvSpPr>
          <p:cNvPr id="12292" name="Rectangle 2"/>
          <p:cNvSpPr>
            <a:spLocks noGrp="1" noChangeArrowheads="1"/>
          </p:cNvSpPr>
          <p:nvPr>
            <p:ph type="ctrTitle" idx="4294967295"/>
          </p:nvPr>
        </p:nvSpPr>
        <p:spPr>
          <a:xfrm>
            <a:off x="2057400" y="609601"/>
            <a:ext cx="7772400" cy="1470025"/>
          </a:xfrm>
        </p:spPr>
        <p:txBody>
          <a:bodyPr>
            <a:normAutofit fontScale="90000"/>
          </a:bodyPr>
          <a:lstStyle/>
          <a:p>
            <a:r>
              <a:rPr lang="en-US" altLang="en-US" sz="4000" b="1" dirty="0"/>
              <a:t/>
            </a:r>
            <a:br>
              <a:rPr lang="en-US" altLang="en-US" sz="4000" b="1" dirty="0"/>
            </a:br>
            <a:r>
              <a:rPr lang="en-US" altLang="en-US" sz="4000" b="1" dirty="0"/>
              <a:t/>
            </a:r>
            <a:br>
              <a:rPr lang="en-US" altLang="en-US" sz="4000" b="1" dirty="0"/>
            </a:br>
            <a:r>
              <a:rPr lang="en-US" altLang="en-US" sz="4000" b="1" dirty="0"/>
              <a:t/>
            </a:r>
            <a:br>
              <a:rPr lang="en-US" altLang="en-US" sz="4000" b="1" dirty="0"/>
            </a:br>
            <a:r>
              <a:rPr lang="en-US" altLang="en-US" sz="4000" b="1" dirty="0"/>
              <a:t>Signals, Circuits, and Computers</a:t>
            </a:r>
            <a:br>
              <a:rPr lang="en-US" altLang="en-US" sz="4000" b="1" dirty="0"/>
            </a:br>
            <a:r>
              <a:rPr lang="en-US" altLang="en-US" sz="4000" b="1" dirty="0"/>
              <a:t/>
            </a:r>
            <a:br>
              <a:rPr lang="en-US" altLang="en-US" sz="4000" b="1" dirty="0"/>
            </a:br>
            <a:r>
              <a:rPr lang="en-US" altLang="en-US" sz="4000" b="1" dirty="0"/>
              <a:t/>
            </a:r>
            <a:br>
              <a:rPr lang="en-US" altLang="en-US" sz="4000" b="1" dirty="0"/>
            </a:br>
            <a:endParaRPr lang="en-US" altLang="en-US" sz="4000" b="1" dirty="0"/>
          </a:p>
        </p:txBody>
      </p:sp>
      <p:pic>
        <p:nvPicPr>
          <p:cNvPr id="15363" name="Picture 11" descr="[smoke+signal.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3352801"/>
            <a:ext cx="1816100" cy="163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4" name="Picture 7" descr="http://www.sengpielaudio.com/FormulaWheelElectronics.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9601" y="3124200"/>
            <a:ext cx="2397125" cy="2249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5" name="Picture 9" descr="http://www.geeky-gadgets.com/wp-content/uploads/2009/02/electronics-recycling_1.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15200" y="3124201"/>
            <a:ext cx="2940050" cy="2208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409593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E569A920-8DFE-4C14-8291-704E112402A7}" type="slidenum">
              <a:rPr lang="en-US" altLang="en-US">
                <a:solidFill>
                  <a:srgbClr val="898989"/>
                </a:solidFill>
              </a:rPr>
              <a:pPr/>
              <a:t>3</a:t>
            </a:fld>
            <a:endParaRPr lang="en-US" altLang="en-US">
              <a:solidFill>
                <a:srgbClr val="898989"/>
              </a:solidFill>
            </a:endParaRPr>
          </a:p>
        </p:txBody>
      </p:sp>
      <p:sp>
        <p:nvSpPr>
          <p:cNvPr id="3" name="Rectangle 2"/>
          <p:cNvSpPr/>
          <p:nvPr/>
        </p:nvSpPr>
        <p:spPr>
          <a:xfrm>
            <a:off x="4953000" y="2514600"/>
            <a:ext cx="2286000" cy="1752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CIRCUIT</a:t>
            </a:r>
            <a:endParaRPr lang="en-US" dirty="0"/>
          </a:p>
        </p:txBody>
      </p:sp>
      <p:cxnSp>
        <p:nvCxnSpPr>
          <p:cNvPr id="5" name="Straight Connector 4"/>
          <p:cNvCxnSpPr/>
          <p:nvPr/>
        </p:nvCxnSpPr>
        <p:spPr>
          <a:xfrm rot="10800000">
            <a:off x="3505200" y="2590800"/>
            <a:ext cx="1447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rot="10800000">
            <a:off x="3505200" y="4114800"/>
            <a:ext cx="1447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rot="10800000">
            <a:off x="7239000" y="4114800"/>
            <a:ext cx="1447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rot="10800000">
            <a:off x="7239000" y="2743200"/>
            <a:ext cx="1447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Oval 8"/>
          <p:cNvSpPr/>
          <p:nvPr/>
        </p:nvSpPr>
        <p:spPr>
          <a:xfrm>
            <a:off x="2971800" y="2895600"/>
            <a:ext cx="1066800" cy="990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Input</a:t>
            </a:r>
            <a:endParaRPr lang="en-US" dirty="0"/>
          </a:p>
        </p:txBody>
      </p:sp>
      <p:sp>
        <p:nvSpPr>
          <p:cNvPr id="10" name="Rectangle 9"/>
          <p:cNvSpPr/>
          <p:nvPr/>
        </p:nvSpPr>
        <p:spPr>
          <a:xfrm>
            <a:off x="8077200" y="3124200"/>
            <a:ext cx="12192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Output</a:t>
            </a:r>
            <a:endParaRPr lang="en-US" dirty="0"/>
          </a:p>
        </p:txBody>
      </p:sp>
      <p:cxnSp>
        <p:nvCxnSpPr>
          <p:cNvPr id="12" name="Straight Connector 11"/>
          <p:cNvCxnSpPr>
            <a:endCxn id="10" idx="0"/>
          </p:cNvCxnSpPr>
          <p:nvPr/>
        </p:nvCxnSpPr>
        <p:spPr>
          <a:xfrm rot="5400000">
            <a:off x="8496301" y="2933701"/>
            <a:ext cx="381000" cy="31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10" idx="2"/>
          </p:cNvCxnSpPr>
          <p:nvPr/>
        </p:nvCxnSpPr>
        <p:spPr>
          <a:xfrm rot="5400000">
            <a:off x="8496301" y="3924301"/>
            <a:ext cx="381000" cy="3175"/>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p:cNvCxnSpPr>
            <a:endCxn id="9" idx="0"/>
          </p:cNvCxnSpPr>
          <p:nvPr/>
        </p:nvCxnSpPr>
        <p:spPr>
          <a:xfrm rot="5400000">
            <a:off x="3354388" y="2743200"/>
            <a:ext cx="303212"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rot="5400000">
            <a:off x="3391694" y="3999706"/>
            <a:ext cx="228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a:off x="7620000" y="2514600"/>
            <a:ext cx="533400" cy="1588"/>
          </a:xfrm>
          <a:prstGeom prst="straightConnector1">
            <a:avLst/>
          </a:prstGeom>
          <a:ln w="38100">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42" name="Curved Up Arrow 41"/>
          <p:cNvSpPr/>
          <p:nvPr/>
        </p:nvSpPr>
        <p:spPr>
          <a:xfrm rot="16200000">
            <a:off x="8801100" y="3390900"/>
            <a:ext cx="1524000" cy="228600"/>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chemeClr val="tx1"/>
              </a:solidFill>
            </a:endParaRPr>
          </a:p>
        </p:txBody>
      </p:sp>
      <p:sp>
        <p:nvSpPr>
          <p:cNvPr id="16399" name="TextBox 42"/>
          <p:cNvSpPr txBox="1">
            <a:spLocks noChangeArrowheads="1"/>
          </p:cNvSpPr>
          <p:nvPr/>
        </p:nvSpPr>
        <p:spPr bwMode="auto">
          <a:xfrm>
            <a:off x="5638800" y="1"/>
            <a:ext cx="47640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400" b="1" u="sng"/>
              <a:t>Electronic  Circuits and Components</a:t>
            </a:r>
          </a:p>
        </p:txBody>
      </p:sp>
      <p:sp>
        <p:nvSpPr>
          <p:cNvPr id="16400" name="TextBox 43"/>
          <p:cNvSpPr txBox="1">
            <a:spLocks noChangeArrowheads="1"/>
          </p:cNvSpPr>
          <p:nvPr/>
        </p:nvSpPr>
        <p:spPr bwMode="auto">
          <a:xfrm>
            <a:off x="1905000" y="381000"/>
            <a:ext cx="8763000" cy="221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400"/>
              <a:t>An “Electronic Circuit “ is  a </a:t>
            </a:r>
            <a:r>
              <a:rPr lang="en-US" altLang="en-US" sz="2400" b="1"/>
              <a:t>combination of electronic components and  conductive wires </a:t>
            </a:r>
            <a:r>
              <a:rPr lang="en-US" altLang="en-US" sz="2400"/>
              <a:t>interconnected in a way as to achieve an outcome</a:t>
            </a:r>
            <a:r>
              <a:rPr lang="en-US" altLang="en-US" sz="2000"/>
              <a:t>:    -  </a:t>
            </a:r>
            <a:r>
              <a:rPr lang="en-US" altLang="en-US" sz="2400"/>
              <a:t>Achieve a current /voltage of a certain value (signal)</a:t>
            </a:r>
          </a:p>
          <a:p>
            <a:r>
              <a:rPr lang="en-US" altLang="en-US" sz="2400"/>
              <a:t>                     - Amplify a signal</a:t>
            </a:r>
          </a:p>
          <a:p>
            <a:r>
              <a:rPr lang="en-US" altLang="en-US" sz="2400"/>
              <a:t>                     - Transfer data</a:t>
            </a:r>
          </a:p>
          <a:p>
            <a:r>
              <a:rPr lang="en-US" altLang="en-US"/>
              <a:t>  </a:t>
            </a:r>
          </a:p>
        </p:txBody>
      </p:sp>
      <p:sp>
        <p:nvSpPr>
          <p:cNvPr id="16401" name="TextBox 44"/>
          <p:cNvSpPr txBox="1">
            <a:spLocks noChangeArrowheads="1"/>
          </p:cNvSpPr>
          <p:nvPr/>
        </p:nvSpPr>
        <p:spPr bwMode="auto">
          <a:xfrm>
            <a:off x="1524000" y="4648200"/>
            <a:ext cx="9144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000"/>
              <a:t>      </a:t>
            </a:r>
            <a:r>
              <a:rPr lang="en-US" altLang="en-US" sz="2400"/>
              <a:t>The purpose of an electronic component is to allow the designer to </a:t>
            </a:r>
            <a:br>
              <a:rPr lang="en-US" altLang="en-US" sz="2400"/>
            </a:br>
            <a:r>
              <a:rPr lang="en-US" altLang="en-US" sz="2400"/>
              <a:t>      </a:t>
            </a:r>
            <a:r>
              <a:rPr lang="en-US" altLang="en-US" sz="2400" b="1"/>
              <a:t>control the flow of current </a:t>
            </a:r>
            <a:r>
              <a:rPr lang="en-US" altLang="en-US" sz="2400"/>
              <a:t>as to achieve a specified result/output.</a:t>
            </a:r>
          </a:p>
          <a:p>
            <a:r>
              <a:rPr lang="en-US" altLang="en-US" sz="2400"/>
              <a:t>         (Resistors,    Capacitors,  Inductors,   Diodes,  Transistors  )</a:t>
            </a:r>
          </a:p>
        </p:txBody>
      </p:sp>
    </p:spTree>
    <p:extLst>
      <p:ext uri="{BB962C8B-B14F-4D97-AF65-F5344CB8AC3E}">
        <p14:creationId xmlns:p14="http://schemas.microsoft.com/office/powerpoint/2010/main" val="106187117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C5569257-EFA5-43F8-BEAC-C1CE85250696}" type="slidenum">
              <a:rPr lang="en-US" altLang="en-US">
                <a:solidFill>
                  <a:srgbClr val="898989"/>
                </a:solidFill>
              </a:rPr>
              <a:pPr/>
              <a:t>4</a:t>
            </a:fld>
            <a:endParaRPr lang="en-US" altLang="en-US">
              <a:solidFill>
                <a:srgbClr val="898989"/>
              </a:solidFill>
            </a:endParaRPr>
          </a:p>
        </p:txBody>
      </p:sp>
      <p:sp>
        <p:nvSpPr>
          <p:cNvPr id="17410" name="TextBox 4"/>
          <p:cNvSpPr txBox="1">
            <a:spLocks noChangeArrowheads="1"/>
          </p:cNvSpPr>
          <p:nvPr/>
        </p:nvSpPr>
        <p:spPr bwMode="auto">
          <a:xfrm>
            <a:off x="6324600" y="228601"/>
            <a:ext cx="35639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800" u="sng"/>
              <a:t>Electronic Components</a:t>
            </a:r>
          </a:p>
        </p:txBody>
      </p:sp>
      <p:sp>
        <p:nvSpPr>
          <p:cNvPr id="17411" name="TextBox 5"/>
          <p:cNvSpPr txBox="1">
            <a:spLocks noChangeArrowheads="1"/>
          </p:cNvSpPr>
          <p:nvPr/>
        </p:nvSpPr>
        <p:spPr bwMode="auto">
          <a:xfrm>
            <a:off x="2971800" y="1752601"/>
            <a:ext cx="6248400" cy="267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400" b="1" u="sng"/>
              <a:t>Active Components </a:t>
            </a:r>
            <a:r>
              <a:rPr lang="en-US" altLang="en-US" sz="2400"/>
              <a:t>(have directionality)</a:t>
            </a:r>
          </a:p>
          <a:p>
            <a:pPr lvl="1"/>
            <a:r>
              <a:rPr lang="en-US" altLang="en-US" sz="2400"/>
              <a:t>Semiconductor devices-transistors</a:t>
            </a:r>
          </a:p>
          <a:p>
            <a:pPr lvl="1"/>
            <a:endParaRPr lang="en-US" altLang="en-US" sz="2400"/>
          </a:p>
          <a:p>
            <a:r>
              <a:rPr lang="en-US" altLang="en-US" sz="2400" b="1" u="sng"/>
              <a:t>Passive Components </a:t>
            </a:r>
            <a:r>
              <a:rPr lang="en-US" altLang="en-US" sz="2400"/>
              <a:t>(Have no directionality)</a:t>
            </a:r>
          </a:p>
          <a:p>
            <a:pPr lvl="1"/>
            <a:r>
              <a:rPr lang="en-US" altLang="en-US" sz="2400"/>
              <a:t>Resistors, capacitors, inductors, diodes</a:t>
            </a:r>
          </a:p>
          <a:p>
            <a:pPr lvl="1"/>
            <a:r>
              <a:rPr lang="en-US" altLang="en-US" sz="2400"/>
              <a:t>(diodes and polarized capacitors must be </a:t>
            </a:r>
          </a:p>
          <a:p>
            <a:pPr lvl="1"/>
            <a:r>
              <a:rPr lang="en-US" altLang="en-US" sz="2400"/>
              <a:t> installed in a specified way)</a:t>
            </a:r>
          </a:p>
        </p:txBody>
      </p:sp>
    </p:spTree>
    <p:extLst>
      <p:ext uri="{BB962C8B-B14F-4D97-AF65-F5344CB8AC3E}">
        <p14:creationId xmlns:p14="http://schemas.microsoft.com/office/powerpoint/2010/main" val="8592117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8049DFC0-62D1-4B20-B9B8-C2E3B71DDAD2}" type="slidenum">
              <a:rPr lang="en-US" altLang="en-US">
                <a:solidFill>
                  <a:srgbClr val="898989"/>
                </a:solidFill>
              </a:rPr>
              <a:pPr/>
              <a:t>5</a:t>
            </a:fld>
            <a:endParaRPr lang="en-US" altLang="en-US">
              <a:solidFill>
                <a:srgbClr val="898989"/>
              </a:solidFill>
            </a:endParaRPr>
          </a:p>
        </p:txBody>
      </p:sp>
      <p:sp>
        <p:nvSpPr>
          <p:cNvPr id="18434" name="TextBox 2"/>
          <p:cNvSpPr txBox="1">
            <a:spLocks noChangeArrowheads="1"/>
          </p:cNvSpPr>
          <p:nvPr/>
        </p:nvSpPr>
        <p:spPr bwMode="auto">
          <a:xfrm>
            <a:off x="3505200" y="1676400"/>
            <a:ext cx="6781800" cy="400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400"/>
              <a:t>Resistors are passive elements that </a:t>
            </a:r>
            <a:r>
              <a:rPr lang="en-US" altLang="en-US" sz="2400" b="1"/>
              <a:t>oppose/restrict the flow of current.</a:t>
            </a:r>
            <a:r>
              <a:rPr lang="en-US" altLang="en-US" sz="2400"/>
              <a:t/>
            </a:r>
            <a:br>
              <a:rPr lang="en-US" altLang="en-US" sz="2400"/>
            </a:br>
            <a:endParaRPr lang="en-US" altLang="en-US"/>
          </a:p>
          <a:p>
            <a:r>
              <a:rPr lang="en-US" altLang="en-US" sz="2400"/>
              <a:t>A voltage is developed across its terminal, proportional to the current through  the resistor.</a:t>
            </a:r>
          </a:p>
          <a:p>
            <a:r>
              <a:rPr lang="en-US" altLang="en-US" sz="2800"/>
              <a:t>                        V = IR</a:t>
            </a:r>
            <a:br>
              <a:rPr lang="en-US" altLang="en-US" sz="2800"/>
            </a:br>
            <a:endParaRPr lang="en-US" altLang="en-US" sz="2800"/>
          </a:p>
          <a:p>
            <a:r>
              <a:rPr lang="en-US" altLang="en-US" sz="2800"/>
              <a:t>                 Units: Ohms (</a:t>
            </a:r>
            <a:r>
              <a:rPr lang="el-GR" altLang="en-US" sz="2800"/>
              <a:t>Ω</a:t>
            </a:r>
            <a:r>
              <a:rPr lang="en-US" altLang="en-US" sz="2800"/>
              <a:t>)</a:t>
            </a:r>
          </a:p>
          <a:p>
            <a:endParaRPr lang="en-US" altLang="en-US" sz="2800"/>
          </a:p>
          <a:p>
            <a:r>
              <a:rPr lang="en-US" altLang="en-US" sz="2800"/>
              <a:t>          </a:t>
            </a:r>
          </a:p>
        </p:txBody>
      </p:sp>
      <p:pic>
        <p:nvPicPr>
          <p:cNvPr id="18435" name="Picture 3" descr="http://media.digikey.com/photos/Precision%20Elec%20Comp%20Photos/RV4N%20SERIES.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905000"/>
            <a:ext cx="16002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6" name="TextBox 4"/>
          <p:cNvSpPr txBox="1">
            <a:spLocks noChangeArrowheads="1"/>
          </p:cNvSpPr>
          <p:nvPr/>
        </p:nvSpPr>
        <p:spPr bwMode="auto">
          <a:xfrm>
            <a:off x="1828800" y="838201"/>
            <a:ext cx="22113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400" b="1" u="sng"/>
              <a:t>A.   </a:t>
            </a:r>
            <a:r>
              <a:rPr lang="en-US" altLang="en-US" sz="2800" b="1" u="sng"/>
              <a:t>Resistors</a:t>
            </a:r>
            <a:r>
              <a:rPr lang="en-US" altLang="en-US" sz="2400" b="1" u="sng"/>
              <a:t>:  </a:t>
            </a:r>
          </a:p>
        </p:txBody>
      </p:sp>
      <p:pic>
        <p:nvPicPr>
          <p:cNvPr id="18437" name="Picture 2" descr="resisto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4267201"/>
            <a:ext cx="2114550" cy="149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8" name="Picture 6" descr="Resistor Symbol Clip Art">
            <a:hlinkClick r:id="rId4"/>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86400" y="5410201"/>
            <a:ext cx="1087438"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9" name="TextBox 7"/>
          <p:cNvSpPr txBox="1">
            <a:spLocks noChangeArrowheads="1"/>
          </p:cNvSpPr>
          <p:nvPr/>
        </p:nvSpPr>
        <p:spPr bwMode="auto">
          <a:xfrm>
            <a:off x="6067426" y="1"/>
            <a:ext cx="46005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800" u="sng"/>
              <a:t>Electronic Components (cont.)</a:t>
            </a:r>
          </a:p>
        </p:txBody>
      </p:sp>
    </p:spTree>
    <p:extLst>
      <p:ext uri="{BB962C8B-B14F-4D97-AF65-F5344CB8AC3E}">
        <p14:creationId xmlns:p14="http://schemas.microsoft.com/office/powerpoint/2010/main" val="242187533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C48887B5-AED4-4C43-939B-4ACA659090AA}" type="slidenum">
              <a:rPr lang="en-US" altLang="en-US">
                <a:solidFill>
                  <a:srgbClr val="898989"/>
                </a:solidFill>
              </a:rPr>
              <a:pPr/>
              <a:t>6</a:t>
            </a:fld>
            <a:endParaRPr lang="en-US" altLang="en-US">
              <a:solidFill>
                <a:srgbClr val="898989"/>
              </a:solidFill>
            </a:endParaRPr>
          </a:p>
        </p:txBody>
      </p:sp>
      <p:sp>
        <p:nvSpPr>
          <p:cNvPr id="19458" name="TextBox 2"/>
          <p:cNvSpPr txBox="1">
            <a:spLocks noChangeArrowheads="1"/>
          </p:cNvSpPr>
          <p:nvPr/>
        </p:nvSpPr>
        <p:spPr bwMode="auto">
          <a:xfrm>
            <a:off x="1752600" y="457201"/>
            <a:ext cx="2286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800" u="sng"/>
              <a:t>B.   Capacitors</a:t>
            </a:r>
          </a:p>
        </p:txBody>
      </p:sp>
      <p:pic>
        <p:nvPicPr>
          <p:cNvPr id="19459" name="Picture 3" descr="http://www.elementaryelectronics.com/components/Capacitor/pic%20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1981200"/>
            <a:ext cx="152400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0" name="Picture 4" descr="http://www.elementaryelectronics.com/components/Capacitor/pic%20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3200401"/>
            <a:ext cx="1600200"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1" name="Picture 5" descr="http://www.elementaryelectronics.com/components/Capacitor/pic%203.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5181600"/>
            <a:ext cx="1143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2" name="TextBox 7"/>
          <p:cNvSpPr txBox="1">
            <a:spLocks noChangeArrowheads="1"/>
          </p:cNvSpPr>
          <p:nvPr/>
        </p:nvSpPr>
        <p:spPr bwMode="auto">
          <a:xfrm>
            <a:off x="3276600" y="762000"/>
            <a:ext cx="7391400" cy="6278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a:t>   </a:t>
            </a:r>
            <a:endParaRPr lang="en-US" altLang="en-US" sz="2000"/>
          </a:p>
          <a:p>
            <a:pPr>
              <a:buFont typeface="Arial" panose="020B0604020202020204" pitchFamily="34" charset="0"/>
              <a:buChar char="•"/>
            </a:pPr>
            <a:r>
              <a:rPr lang="en-US" altLang="en-US" sz="2400"/>
              <a:t>   behave like a tiny rechargeable battery.</a:t>
            </a:r>
            <a:br>
              <a:rPr lang="en-US" altLang="en-US" sz="2400"/>
            </a:br>
            <a:r>
              <a:rPr lang="en-US" altLang="en-US" sz="2400"/>
              <a:t>     (</a:t>
            </a:r>
            <a:r>
              <a:rPr lang="en-US" altLang="en-US" sz="2400" b="1"/>
              <a:t>store energy and release it later. )</a:t>
            </a:r>
          </a:p>
          <a:p>
            <a:pPr>
              <a:buFont typeface="Arial" panose="020B0604020202020204" pitchFamily="34" charset="0"/>
              <a:buChar char="•"/>
            </a:pPr>
            <a:r>
              <a:rPr lang="en-US" altLang="en-US" sz="2400" b="1"/>
              <a:t>   </a:t>
            </a:r>
            <a:r>
              <a:rPr lang="en-US" altLang="en-US" sz="2400"/>
              <a:t>are </a:t>
            </a:r>
            <a:r>
              <a:rPr lang="en-US" altLang="en-US" sz="2400" b="1"/>
              <a:t> </a:t>
            </a:r>
            <a:r>
              <a:rPr lang="en-US" altLang="en-US" sz="2400"/>
              <a:t>made of two parallel conductors separated by a        </a:t>
            </a:r>
            <a:br>
              <a:rPr lang="en-US" altLang="en-US" sz="2400"/>
            </a:br>
            <a:r>
              <a:rPr lang="en-US" altLang="en-US" sz="2400"/>
              <a:t>     dielectric.</a:t>
            </a:r>
          </a:p>
          <a:p>
            <a:pPr>
              <a:buFont typeface="Arial" panose="020B0604020202020204" pitchFamily="34" charset="0"/>
              <a:buChar char="•"/>
            </a:pPr>
            <a:r>
              <a:rPr lang="en-US" altLang="en-US" sz="2400"/>
              <a:t>   are used for </a:t>
            </a:r>
            <a:r>
              <a:rPr lang="en-US" altLang="en-US" sz="2400" b="1"/>
              <a:t>filtering, tuning, separating signals , etc. </a:t>
            </a:r>
            <a:r>
              <a:rPr lang="en-US" altLang="en-US" sz="2400"/>
              <a:t/>
            </a:r>
            <a:br>
              <a:rPr lang="en-US" altLang="en-US" sz="2400"/>
            </a:br>
            <a:endParaRPr lang="en-US" altLang="en-US" sz="2400"/>
          </a:p>
          <a:p>
            <a:pPr>
              <a:buFont typeface="Arial" panose="020B0604020202020204" pitchFamily="34" charset="0"/>
              <a:buChar char="•"/>
            </a:pPr>
            <a:r>
              <a:rPr lang="en-US" altLang="en-US" sz="2000"/>
              <a:t>    </a:t>
            </a:r>
            <a:r>
              <a:rPr lang="en-US" altLang="en-US" sz="2200"/>
              <a:t>The ability of a capacitor to store charge is called   </a:t>
            </a:r>
            <a:br>
              <a:rPr lang="en-US" altLang="en-US" sz="2200"/>
            </a:br>
            <a:r>
              <a:rPr lang="en-US" altLang="en-US" sz="2200"/>
              <a:t>      “</a:t>
            </a:r>
            <a:r>
              <a:rPr lang="en-US" altLang="en-US" sz="2200" b="1"/>
              <a:t>Capacitance</a:t>
            </a:r>
            <a:r>
              <a:rPr lang="en-US" altLang="en-US" sz="2200"/>
              <a:t>”</a:t>
            </a:r>
          </a:p>
          <a:p>
            <a:pPr>
              <a:buFont typeface="Arial" panose="020B0604020202020204" pitchFamily="34" charset="0"/>
              <a:buChar char="•"/>
            </a:pPr>
            <a:endParaRPr lang="en-US" altLang="en-US" sz="1600"/>
          </a:p>
          <a:p>
            <a:pPr>
              <a:buFont typeface="Arial" panose="020B0604020202020204" pitchFamily="34" charset="0"/>
              <a:buChar char="•"/>
            </a:pPr>
            <a:r>
              <a:rPr lang="en-US" altLang="en-US" sz="2000"/>
              <a:t>    </a:t>
            </a:r>
            <a:r>
              <a:rPr lang="en-US" altLang="en-US" sz="2400" b="1" i="1"/>
              <a:t>C = Q/V          </a:t>
            </a:r>
            <a:r>
              <a:rPr lang="en-US" altLang="en-US" sz="2000" i="1"/>
              <a:t>(amount of charge stored/applied voltage)</a:t>
            </a:r>
          </a:p>
          <a:p>
            <a:pPr>
              <a:buFont typeface="Arial" panose="020B0604020202020204" pitchFamily="34" charset="0"/>
              <a:buChar char="•"/>
            </a:pPr>
            <a:endParaRPr lang="en-US" altLang="en-US" sz="1600"/>
          </a:p>
          <a:p>
            <a:pPr>
              <a:buFont typeface="Arial" panose="020B0604020202020204" pitchFamily="34" charset="0"/>
              <a:buChar char="•"/>
            </a:pPr>
            <a:r>
              <a:rPr lang="en-US" altLang="en-US" sz="2000"/>
              <a:t>    </a:t>
            </a:r>
            <a:r>
              <a:rPr lang="en-US" altLang="en-US" sz="2400"/>
              <a:t>The unit of capacitance is the </a:t>
            </a:r>
            <a:r>
              <a:rPr lang="en-US" altLang="en-US" sz="2400" b="1"/>
              <a:t>Farad.  </a:t>
            </a:r>
            <a:r>
              <a:rPr lang="en-US" altLang="en-US" sz="2400"/>
              <a:t/>
            </a:r>
            <a:br>
              <a:rPr lang="en-US" altLang="en-US" sz="2400"/>
            </a:br>
            <a:r>
              <a:rPr lang="en-US" altLang="en-US" sz="2400"/>
              <a:t>     Commonly used capacitances are much smaller than 1  </a:t>
            </a:r>
            <a:br>
              <a:rPr lang="en-US" altLang="en-US" sz="2400"/>
            </a:br>
            <a:r>
              <a:rPr lang="en-US" altLang="en-US" sz="2400"/>
              <a:t>     Farad, micro-Farads (10</a:t>
            </a:r>
            <a:r>
              <a:rPr lang="en-US" altLang="en-US" sz="2400" baseline="30000"/>
              <a:t>-6</a:t>
            </a:r>
            <a:r>
              <a:rPr lang="en-US" altLang="en-US" sz="2400"/>
              <a:t> Farad, </a:t>
            </a:r>
            <a:r>
              <a:rPr lang="en-US" altLang="en-US" sz="2400" b="1"/>
              <a:t>μF</a:t>
            </a:r>
            <a:r>
              <a:rPr lang="en-US" altLang="en-US" sz="2400"/>
              <a:t>),</a:t>
            </a:r>
          </a:p>
          <a:p>
            <a:r>
              <a:rPr lang="en-US" altLang="en-US" sz="2400"/>
              <a:t>                 nano-Farads  (10</a:t>
            </a:r>
            <a:r>
              <a:rPr lang="en-US" altLang="en-US" sz="2400" baseline="30000"/>
              <a:t>-9</a:t>
            </a:r>
            <a:r>
              <a:rPr lang="en-US" altLang="en-US" sz="2400"/>
              <a:t> Farad, </a:t>
            </a:r>
            <a:r>
              <a:rPr lang="en-US" altLang="en-US" sz="2400" b="1"/>
              <a:t>nF)</a:t>
            </a:r>
            <a:r>
              <a:rPr lang="en-US" altLang="en-US" sz="2400"/>
              <a:t>, </a:t>
            </a:r>
            <a:br>
              <a:rPr lang="en-US" altLang="en-US" sz="2400"/>
            </a:br>
            <a:r>
              <a:rPr lang="en-US" altLang="en-US" sz="2400"/>
              <a:t>                 pico-Farads   (10</a:t>
            </a:r>
            <a:r>
              <a:rPr lang="en-US" altLang="en-US" sz="2400" baseline="30000"/>
              <a:t>-12</a:t>
            </a:r>
            <a:r>
              <a:rPr lang="en-US" altLang="en-US" sz="2400"/>
              <a:t> Farad, </a:t>
            </a:r>
            <a:r>
              <a:rPr lang="en-US" altLang="en-US" sz="2400" b="1"/>
              <a:t>pF</a:t>
            </a:r>
            <a:r>
              <a:rPr lang="en-US" altLang="en-US" sz="2400"/>
              <a:t>).  </a:t>
            </a:r>
          </a:p>
          <a:p>
            <a:endParaRPr lang="en-US" altLang="en-US" sz="2000"/>
          </a:p>
        </p:txBody>
      </p:sp>
      <p:sp>
        <p:nvSpPr>
          <p:cNvPr id="19463" name="TextBox 9"/>
          <p:cNvSpPr txBox="1">
            <a:spLocks noChangeArrowheads="1"/>
          </p:cNvSpPr>
          <p:nvPr/>
        </p:nvSpPr>
        <p:spPr bwMode="auto">
          <a:xfrm>
            <a:off x="6067426" y="1"/>
            <a:ext cx="46005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800" u="sng"/>
              <a:t>Electronic Components (cont.)</a:t>
            </a:r>
          </a:p>
        </p:txBody>
      </p:sp>
    </p:spTree>
    <p:extLst>
      <p:ext uri="{BB962C8B-B14F-4D97-AF65-F5344CB8AC3E}">
        <p14:creationId xmlns:p14="http://schemas.microsoft.com/office/powerpoint/2010/main" val="118427353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02C9A7B9-0F8A-4F9F-A73F-D3B2F463B1D3}" type="slidenum">
              <a:rPr lang="en-US" altLang="en-US">
                <a:solidFill>
                  <a:srgbClr val="898989"/>
                </a:solidFill>
              </a:rPr>
              <a:pPr/>
              <a:t>7</a:t>
            </a:fld>
            <a:endParaRPr lang="en-US" altLang="en-US">
              <a:solidFill>
                <a:srgbClr val="898989"/>
              </a:solidFill>
            </a:endParaRPr>
          </a:p>
        </p:txBody>
      </p:sp>
      <p:pic>
        <p:nvPicPr>
          <p:cNvPr id="20482" name="Picture 2" descr="http://www.elementaryelectronics.com/components/transistor/pic%20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1" y="3048001"/>
            <a:ext cx="957263" cy="95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3" name="Picture 3" descr="http://www.elementaryelectronics.com/components/transistor/pic%203.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1" y="5105401"/>
            <a:ext cx="957263" cy="95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4" name="TextBox 5"/>
          <p:cNvSpPr txBox="1">
            <a:spLocks noChangeArrowheads="1"/>
          </p:cNvSpPr>
          <p:nvPr/>
        </p:nvSpPr>
        <p:spPr bwMode="auto">
          <a:xfrm>
            <a:off x="1752601" y="2209800"/>
            <a:ext cx="29956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u="sng"/>
              <a:t>Symbol for the </a:t>
            </a:r>
            <a:r>
              <a:rPr lang="en-US" altLang="en-US" b="1" u="sng"/>
              <a:t>NPN </a:t>
            </a:r>
            <a:r>
              <a:rPr lang="en-US" altLang="en-US" u="sng"/>
              <a:t>Transistor</a:t>
            </a:r>
          </a:p>
        </p:txBody>
      </p:sp>
      <p:sp>
        <p:nvSpPr>
          <p:cNvPr id="20485" name="TextBox 6"/>
          <p:cNvSpPr txBox="1">
            <a:spLocks noChangeArrowheads="1"/>
          </p:cNvSpPr>
          <p:nvPr/>
        </p:nvSpPr>
        <p:spPr bwMode="auto">
          <a:xfrm>
            <a:off x="1905000" y="4572000"/>
            <a:ext cx="29654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u="sng"/>
              <a:t>Symbol for the </a:t>
            </a:r>
            <a:r>
              <a:rPr lang="en-US" altLang="en-US" b="1" u="sng"/>
              <a:t>PNP </a:t>
            </a:r>
            <a:r>
              <a:rPr lang="en-US" altLang="en-US" u="sng"/>
              <a:t>Transistor</a:t>
            </a:r>
          </a:p>
        </p:txBody>
      </p:sp>
      <p:sp>
        <p:nvSpPr>
          <p:cNvPr id="20486" name="Rectangle 7"/>
          <p:cNvSpPr>
            <a:spLocks noChangeArrowheads="1"/>
          </p:cNvSpPr>
          <p:nvPr/>
        </p:nvSpPr>
        <p:spPr bwMode="auto">
          <a:xfrm>
            <a:off x="5334000" y="2057400"/>
            <a:ext cx="50292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400"/>
              <a:t>Transistors are commonly used for </a:t>
            </a:r>
            <a:r>
              <a:rPr lang="en-US" altLang="en-US" sz="2400" b="1"/>
              <a:t>signal amplification, switching, voltage regulation,</a:t>
            </a:r>
            <a:r>
              <a:rPr lang="en-US" altLang="en-US" sz="2400"/>
              <a:t> etc.</a:t>
            </a:r>
          </a:p>
        </p:txBody>
      </p:sp>
      <p:sp>
        <p:nvSpPr>
          <p:cNvPr id="20487" name="TextBox 8"/>
          <p:cNvSpPr txBox="1">
            <a:spLocks noChangeArrowheads="1"/>
          </p:cNvSpPr>
          <p:nvPr/>
        </p:nvSpPr>
        <p:spPr bwMode="auto">
          <a:xfrm>
            <a:off x="2133600" y="3581400"/>
            <a:ext cx="6223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a:t>base</a:t>
            </a:r>
          </a:p>
        </p:txBody>
      </p:sp>
      <p:sp>
        <p:nvSpPr>
          <p:cNvPr id="20488" name="TextBox 12"/>
          <p:cNvSpPr txBox="1">
            <a:spLocks noChangeArrowheads="1"/>
          </p:cNvSpPr>
          <p:nvPr/>
        </p:nvSpPr>
        <p:spPr bwMode="auto">
          <a:xfrm>
            <a:off x="3657601" y="3962400"/>
            <a:ext cx="8810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a:t>emitter</a:t>
            </a:r>
          </a:p>
        </p:txBody>
      </p:sp>
      <p:sp>
        <p:nvSpPr>
          <p:cNvPr id="20489" name="TextBox 13"/>
          <p:cNvSpPr txBox="1">
            <a:spLocks noChangeArrowheads="1"/>
          </p:cNvSpPr>
          <p:nvPr/>
        </p:nvSpPr>
        <p:spPr bwMode="auto">
          <a:xfrm>
            <a:off x="3733800" y="2743200"/>
            <a:ext cx="9985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a:t>collector</a:t>
            </a:r>
          </a:p>
        </p:txBody>
      </p:sp>
      <p:sp>
        <p:nvSpPr>
          <p:cNvPr id="20490" name="TextBox 14"/>
          <p:cNvSpPr txBox="1">
            <a:spLocks noChangeArrowheads="1"/>
          </p:cNvSpPr>
          <p:nvPr/>
        </p:nvSpPr>
        <p:spPr bwMode="auto">
          <a:xfrm>
            <a:off x="1905000" y="762001"/>
            <a:ext cx="17414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800" u="sng"/>
              <a:t>Transistors</a:t>
            </a:r>
          </a:p>
        </p:txBody>
      </p:sp>
      <p:sp>
        <p:nvSpPr>
          <p:cNvPr id="20491" name="TextBox 15"/>
          <p:cNvSpPr txBox="1">
            <a:spLocks noChangeArrowheads="1"/>
          </p:cNvSpPr>
          <p:nvPr/>
        </p:nvSpPr>
        <p:spPr bwMode="auto">
          <a:xfrm>
            <a:off x="6067426" y="1"/>
            <a:ext cx="46005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800" u="sng"/>
              <a:t>Electronic Components (cont.)</a:t>
            </a:r>
          </a:p>
        </p:txBody>
      </p:sp>
      <p:pic>
        <p:nvPicPr>
          <p:cNvPr id="20492"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67200" y="733426"/>
            <a:ext cx="1809750" cy="124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3764231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B3D14A1D-620C-4D19-9029-330E1A067E7D}" type="slidenum">
              <a:rPr lang="en-US" altLang="en-US">
                <a:solidFill>
                  <a:srgbClr val="898989"/>
                </a:solidFill>
              </a:rPr>
              <a:pPr/>
              <a:t>8</a:t>
            </a:fld>
            <a:endParaRPr lang="en-US" altLang="en-US">
              <a:solidFill>
                <a:srgbClr val="898989"/>
              </a:solidFill>
            </a:endParaRPr>
          </a:p>
        </p:txBody>
      </p:sp>
      <p:pic>
        <p:nvPicPr>
          <p:cNvPr id="21506" name="Picture 2" descr="http://www.elementaryelectronics.com/components/Diode/pic%20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1" y="838201"/>
            <a:ext cx="2092325" cy="1109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7" name="TextBox 3"/>
          <p:cNvSpPr txBox="1">
            <a:spLocks noChangeArrowheads="1"/>
          </p:cNvSpPr>
          <p:nvPr/>
        </p:nvSpPr>
        <p:spPr bwMode="auto">
          <a:xfrm>
            <a:off x="4191001" y="1066801"/>
            <a:ext cx="5764213"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400" b="1" u="sng"/>
              <a:t>Diodes</a:t>
            </a:r>
            <a:r>
              <a:rPr lang="en-US" altLang="en-US" sz="2400"/>
              <a:t> are semiconductor devices that </a:t>
            </a:r>
            <a:r>
              <a:rPr lang="en-US" altLang="en-US" sz="2400" b="1"/>
              <a:t>allow</a:t>
            </a:r>
          </a:p>
          <a:p>
            <a:r>
              <a:rPr lang="en-US" altLang="en-US" sz="2400" b="1"/>
              <a:t> current in only one direction</a:t>
            </a:r>
          </a:p>
        </p:txBody>
      </p:sp>
      <p:pic>
        <p:nvPicPr>
          <p:cNvPr id="21508" name="Picture 4" descr="http://www.elementaryelectronics.com/components/Diode/pic%20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1676400"/>
            <a:ext cx="9144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9" name="TextBox 5"/>
          <p:cNvSpPr txBox="1">
            <a:spLocks noChangeArrowheads="1"/>
          </p:cNvSpPr>
          <p:nvPr/>
        </p:nvSpPr>
        <p:spPr bwMode="auto">
          <a:xfrm>
            <a:off x="4419600" y="3581400"/>
            <a:ext cx="556260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400" b="1" u="sng"/>
              <a:t>Fuses</a:t>
            </a:r>
            <a:r>
              <a:rPr lang="en-US" altLang="en-US" sz="2400" b="1"/>
              <a:t> </a:t>
            </a:r>
            <a:r>
              <a:rPr lang="en-US" altLang="en-US" sz="2400"/>
              <a:t>are  devices that </a:t>
            </a:r>
            <a:r>
              <a:rPr lang="en-US" altLang="en-US" sz="2400" b="1"/>
              <a:t>protect the circuit from overload.</a:t>
            </a:r>
            <a:r>
              <a:rPr lang="en-US" altLang="en-US" sz="2400"/>
              <a:t/>
            </a:r>
            <a:br>
              <a:rPr lang="en-US" altLang="en-US" sz="2400"/>
            </a:br>
            <a:endParaRPr lang="en-US" altLang="en-US" sz="2400"/>
          </a:p>
          <a:p>
            <a:r>
              <a:rPr lang="en-US" altLang="en-US" sz="2400"/>
              <a:t>Are made of a wire that melts when the current through it exceeds a specified value</a:t>
            </a:r>
          </a:p>
        </p:txBody>
      </p:sp>
      <p:pic>
        <p:nvPicPr>
          <p:cNvPr id="21510" name="Picture 2" descr="http://t0.gstatic.com/images?q=tbn:pPvAQDrqVgkJWM:http://www.wheelchairdriver.com/images-vw-caravelle/fuse.h4.jpg">
            <a:hlinkClick r:id="rId4"/>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62200" y="3810000"/>
            <a:ext cx="1257300" cy="125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11" name="TextBox 7"/>
          <p:cNvSpPr txBox="1">
            <a:spLocks noChangeArrowheads="1"/>
          </p:cNvSpPr>
          <p:nvPr/>
        </p:nvSpPr>
        <p:spPr bwMode="auto">
          <a:xfrm>
            <a:off x="6067426" y="1"/>
            <a:ext cx="46005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800" u="sng"/>
              <a:t>Electronic Components (cont.)</a:t>
            </a:r>
          </a:p>
        </p:txBody>
      </p:sp>
    </p:spTree>
    <p:extLst>
      <p:ext uri="{BB962C8B-B14F-4D97-AF65-F5344CB8AC3E}">
        <p14:creationId xmlns:p14="http://schemas.microsoft.com/office/powerpoint/2010/main" val="100543689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C204B10E-4C17-475A-B02C-7D7356C31D09}" type="slidenum">
              <a:rPr lang="en-US" altLang="en-US">
                <a:solidFill>
                  <a:srgbClr val="898989"/>
                </a:solidFill>
              </a:rPr>
              <a:pPr/>
              <a:t>9</a:t>
            </a:fld>
            <a:endParaRPr lang="en-US" altLang="en-US">
              <a:solidFill>
                <a:srgbClr val="898989"/>
              </a:solidFill>
            </a:endParaRPr>
          </a:p>
        </p:txBody>
      </p:sp>
      <p:sp>
        <p:nvSpPr>
          <p:cNvPr id="3" name="TextBox 2"/>
          <p:cNvSpPr txBox="1"/>
          <p:nvPr/>
        </p:nvSpPr>
        <p:spPr>
          <a:xfrm>
            <a:off x="2209800" y="1295401"/>
            <a:ext cx="8077200" cy="3540125"/>
          </a:xfrm>
          <a:prstGeom prst="rect">
            <a:avLst/>
          </a:prstGeom>
          <a:noFill/>
        </p:spPr>
        <p:txBody>
          <a:bodyPr>
            <a:spAutoFit/>
          </a:bodyPr>
          <a:lstStyle/>
          <a:p>
            <a:pPr>
              <a:defRPr/>
            </a:pPr>
            <a:r>
              <a:rPr lang="en-US" sz="2800" dirty="0"/>
              <a:t>Q5.  Which of the following components used in a </a:t>
            </a:r>
            <a:br>
              <a:rPr lang="en-US" sz="2800" dirty="0"/>
            </a:br>
            <a:r>
              <a:rPr lang="en-US" sz="2800" dirty="0"/>
              <a:t>         circuit  stores energy? </a:t>
            </a:r>
          </a:p>
          <a:p>
            <a:pPr>
              <a:defRPr/>
            </a:pPr>
            <a:endParaRPr lang="en-US" sz="2800" dirty="0"/>
          </a:p>
          <a:p>
            <a:pPr marL="514350" indent="-514350">
              <a:buFontTx/>
              <a:buAutoNum type="alphaLcPeriod"/>
              <a:defRPr/>
            </a:pPr>
            <a:r>
              <a:rPr lang="en-US" sz="2800" dirty="0"/>
              <a:t>Resistors</a:t>
            </a:r>
          </a:p>
          <a:p>
            <a:pPr marL="514350" indent="-514350">
              <a:buFontTx/>
              <a:buAutoNum type="alphaLcPeriod"/>
              <a:defRPr/>
            </a:pPr>
            <a:r>
              <a:rPr lang="en-US" sz="2800" dirty="0"/>
              <a:t>Inductors</a:t>
            </a:r>
          </a:p>
          <a:p>
            <a:pPr marL="514350" indent="-514350">
              <a:buFontTx/>
              <a:buAutoNum type="alphaLcPeriod"/>
              <a:defRPr/>
            </a:pPr>
            <a:r>
              <a:rPr lang="en-US" sz="2800" dirty="0"/>
              <a:t>Capacitors</a:t>
            </a:r>
          </a:p>
          <a:p>
            <a:pPr marL="514350" indent="-514350">
              <a:buFontTx/>
              <a:buAutoNum type="alphaLcPeriod"/>
              <a:defRPr/>
            </a:pPr>
            <a:r>
              <a:rPr lang="en-US" sz="2800" dirty="0"/>
              <a:t>Diodes</a:t>
            </a:r>
          </a:p>
          <a:p>
            <a:pPr marL="514350" indent="-514350">
              <a:buFontTx/>
              <a:buAutoNum type="alphaLcPeriod"/>
              <a:defRPr/>
            </a:pPr>
            <a:r>
              <a:rPr lang="en-US" sz="2800" dirty="0"/>
              <a:t>Transistors</a:t>
            </a:r>
            <a:endParaRPr lang="en-US" sz="2800" dirty="0"/>
          </a:p>
        </p:txBody>
      </p:sp>
    </p:spTree>
    <p:extLst>
      <p:ext uri="{BB962C8B-B14F-4D97-AF65-F5344CB8AC3E}">
        <p14:creationId xmlns:p14="http://schemas.microsoft.com/office/powerpoint/2010/main" val="64128974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5877163F-15E1-4EAC-8844-E0DF1933720D}" type="slidenum">
              <a:rPr lang="en-US" altLang="en-US">
                <a:solidFill>
                  <a:srgbClr val="898989"/>
                </a:solidFill>
              </a:rPr>
              <a:pPr/>
              <a:t>10</a:t>
            </a:fld>
            <a:endParaRPr lang="en-US" altLang="en-US">
              <a:solidFill>
                <a:srgbClr val="898989"/>
              </a:solidFill>
            </a:endParaRPr>
          </a:p>
        </p:txBody>
      </p:sp>
      <p:sp>
        <p:nvSpPr>
          <p:cNvPr id="3" name="TextBox 2"/>
          <p:cNvSpPr txBox="1"/>
          <p:nvPr/>
        </p:nvSpPr>
        <p:spPr>
          <a:xfrm>
            <a:off x="2209800" y="1295401"/>
            <a:ext cx="8077200" cy="3540125"/>
          </a:xfrm>
          <a:prstGeom prst="rect">
            <a:avLst/>
          </a:prstGeom>
          <a:noFill/>
        </p:spPr>
        <p:txBody>
          <a:bodyPr>
            <a:spAutoFit/>
          </a:bodyPr>
          <a:lstStyle/>
          <a:p>
            <a:pPr>
              <a:defRPr/>
            </a:pPr>
            <a:r>
              <a:rPr lang="en-US" sz="2800" dirty="0"/>
              <a:t>Q6.  Which of the following components used in a </a:t>
            </a:r>
            <a:br>
              <a:rPr lang="en-US" sz="2800" dirty="0"/>
            </a:br>
            <a:r>
              <a:rPr lang="en-US" sz="2800" dirty="0"/>
              <a:t>         circuit  allows the current to flow one way </a:t>
            </a:r>
          </a:p>
          <a:p>
            <a:pPr>
              <a:defRPr/>
            </a:pPr>
            <a:endParaRPr lang="en-US" sz="2800" dirty="0"/>
          </a:p>
          <a:p>
            <a:pPr marL="514350" indent="-514350">
              <a:buFontTx/>
              <a:buAutoNum type="alphaLcPeriod"/>
              <a:defRPr/>
            </a:pPr>
            <a:r>
              <a:rPr lang="en-US" sz="2800" dirty="0"/>
              <a:t>Resistors</a:t>
            </a:r>
          </a:p>
          <a:p>
            <a:pPr marL="514350" indent="-514350">
              <a:buFontTx/>
              <a:buAutoNum type="alphaLcPeriod"/>
              <a:defRPr/>
            </a:pPr>
            <a:r>
              <a:rPr lang="en-US" sz="2800" dirty="0"/>
              <a:t>Inductors</a:t>
            </a:r>
          </a:p>
          <a:p>
            <a:pPr marL="514350" indent="-514350">
              <a:buFontTx/>
              <a:buAutoNum type="alphaLcPeriod"/>
              <a:defRPr/>
            </a:pPr>
            <a:r>
              <a:rPr lang="en-US" sz="2800" dirty="0"/>
              <a:t>Capacitors</a:t>
            </a:r>
          </a:p>
          <a:p>
            <a:pPr marL="514350" indent="-514350">
              <a:buFontTx/>
              <a:buAutoNum type="alphaLcPeriod"/>
              <a:defRPr/>
            </a:pPr>
            <a:r>
              <a:rPr lang="en-US" sz="2800" dirty="0"/>
              <a:t>Diodes</a:t>
            </a:r>
          </a:p>
          <a:p>
            <a:pPr marL="514350" indent="-514350">
              <a:buFontTx/>
              <a:buAutoNum type="alphaLcPeriod"/>
              <a:defRPr/>
            </a:pPr>
            <a:r>
              <a:rPr lang="en-US" sz="2800" dirty="0"/>
              <a:t>Fuses</a:t>
            </a:r>
            <a:endParaRPr lang="en-US" sz="2800" dirty="0"/>
          </a:p>
        </p:txBody>
      </p:sp>
    </p:spTree>
    <p:extLst>
      <p:ext uri="{BB962C8B-B14F-4D97-AF65-F5344CB8AC3E}">
        <p14:creationId xmlns:p14="http://schemas.microsoft.com/office/powerpoint/2010/main" val="211955985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59D0E919-5A2F-44AF-9D39-7618EEFC497E}" type="slidenum">
              <a:rPr lang="en-US" altLang="en-US">
                <a:solidFill>
                  <a:srgbClr val="898989"/>
                </a:solidFill>
              </a:rPr>
              <a:pPr/>
              <a:t>11</a:t>
            </a:fld>
            <a:endParaRPr lang="en-US" altLang="en-US">
              <a:solidFill>
                <a:srgbClr val="898989"/>
              </a:solidFill>
            </a:endParaRPr>
          </a:p>
        </p:txBody>
      </p:sp>
      <p:sp>
        <p:nvSpPr>
          <p:cNvPr id="24578" name="Rectangle 2"/>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pic>
        <p:nvPicPr>
          <p:cNvPr id="24579" name="Picture 3" descr="HLMP-1601,HLMP-1700,HLMP-K15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914400"/>
            <a:ext cx="1276350" cy="127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0" name="TextBox 5"/>
          <p:cNvSpPr txBox="1">
            <a:spLocks noChangeArrowheads="1"/>
          </p:cNvSpPr>
          <p:nvPr/>
        </p:nvSpPr>
        <p:spPr bwMode="auto">
          <a:xfrm>
            <a:off x="3429000" y="762000"/>
            <a:ext cx="7010400" cy="218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400" b="1" u="sng"/>
              <a:t>LEDs- Light Emitting Diodes: </a:t>
            </a:r>
          </a:p>
          <a:p>
            <a:pPr>
              <a:buFont typeface="Arial" panose="020B0604020202020204" pitchFamily="34" charset="0"/>
              <a:buChar char="•"/>
            </a:pPr>
            <a:r>
              <a:rPr lang="en-US" altLang="en-US" sz="2400" b="1"/>
              <a:t>   </a:t>
            </a:r>
            <a:r>
              <a:rPr lang="en-US" altLang="en-US" sz="2400"/>
              <a:t>A special kind of diode: They allow current to </a:t>
            </a:r>
            <a:br>
              <a:rPr lang="en-US" altLang="en-US" sz="2400"/>
            </a:br>
            <a:r>
              <a:rPr lang="en-US" altLang="en-US" sz="2400"/>
              <a:t>     flow in one direction.</a:t>
            </a:r>
          </a:p>
          <a:p>
            <a:pPr>
              <a:buFont typeface="Arial" panose="020B0604020202020204" pitchFamily="34" charset="0"/>
              <a:buChar char="•"/>
            </a:pPr>
            <a:endParaRPr lang="en-US" altLang="en-US" sz="1600"/>
          </a:p>
          <a:p>
            <a:pPr>
              <a:buFont typeface="Arial" panose="020B0604020202020204" pitchFamily="34" charset="0"/>
              <a:buChar char="•"/>
            </a:pPr>
            <a:r>
              <a:rPr lang="en-US" altLang="en-US" sz="2400"/>
              <a:t>   The LED will light up when the proper amount of </a:t>
            </a:r>
            <a:br>
              <a:rPr lang="en-US" altLang="en-US" sz="2400"/>
            </a:br>
            <a:r>
              <a:rPr lang="en-US" altLang="en-US" sz="2400"/>
              <a:t>     current passes through. </a:t>
            </a:r>
          </a:p>
        </p:txBody>
      </p:sp>
      <p:sp>
        <p:nvSpPr>
          <p:cNvPr id="24581" name="TextBox 6"/>
          <p:cNvSpPr txBox="1">
            <a:spLocks noChangeArrowheads="1"/>
          </p:cNvSpPr>
          <p:nvPr/>
        </p:nvSpPr>
        <p:spPr bwMode="auto">
          <a:xfrm>
            <a:off x="6067426" y="1"/>
            <a:ext cx="46005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800" u="sng"/>
              <a:t>Electronic Components (cont.)</a:t>
            </a:r>
          </a:p>
        </p:txBody>
      </p:sp>
      <p:pic>
        <p:nvPicPr>
          <p:cNvPr id="24582" name="Picture 2"/>
          <p:cNvPicPr>
            <a:picLocks noChangeAspect="1" noChangeArrowheads="1"/>
          </p:cNvPicPr>
          <p:nvPr/>
        </p:nvPicPr>
        <p:blipFill>
          <a:blip r:embed="rId3">
            <a:extLst>
              <a:ext uri="{28A0092B-C50C-407E-A947-70E740481C1C}">
                <a14:useLocalDpi xmlns:a14="http://schemas.microsoft.com/office/drawing/2010/main" val="0"/>
              </a:ext>
            </a:extLst>
          </a:blip>
          <a:srcRect l="2199" b="2707"/>
          <a:stretch>
            <a:fillRect/>
          </a:stretch>
        </p:blipFill>
        <p:spPr bwMode="auto">
          <a:xfrm>
            <a:off x="2895601" y="3429000"/>
            <a:ext cx="6729413" cy="298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2" name="Straight Arrow Connector 11"/>
          <p:cNvCxnSpPr/>
          <p:nvPr/>
        </p:nvCxnSpPr>
        <p:spPr>
          <a:xfrm rot="16200000" flipH="1">
            <a:off x="2933700" y="2933700"/>
            <a:ext cx="1295400" cy="10668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rot="16200000" flipH="1">
            <a:off x="2667000" y="3352800"/>
            <a:ext cx="1295400" cy="3810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rot="16200000" flipH="1">
            <a:off x="2895600" y="3124200"/>
            <a:ext cx="1295400" cy="8382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rot="5400000">
            <a:off x="8724900" y="3543300"/>
            <a:ext cx="1524000" cy="2286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rot="16200000" flipH="1">
            <a:off x="3162300" y="3543300"/>
            <a:ext cx="2133600" cy="9906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4588" name="TextBox 24"/>
          <p:cNvSpPr txBox="1">
            <a:spLocks noChangeArrowheads="1"/>
          </p:cNvSpPr>
          <p:nvPr/>
        </p:nvSpPr>
        <p:spPr bwMode="auto">
          <a:xfrm>
            <a:off x="2819400" y="2514600"/>
            <a:ext cx="4889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a:t>1-3</a:t>
            </a:r>
          </a:p>
        </p:txBody>
      </p:sp>
      <p:sp>
        <p:nvSpPr>
          <p:cNvPr id="24589" name="TextBox 25"/>
          <p:cNvSpPr txBox="1">
            <a:spLocks noChangeArrowheads="1"/>
          </p:cNvSpPr>
          <p:nvPr/>
        </p:nvSpPr>
        <p:spPr bwMode="auto">
          <a:xfrm>
            <a:off x="3505200" y="2743200"/>
            <a:ext cx="381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a:t>4</a:t>
            </a:r>
          </a:p>
        </p:txBody>
      </p:sp>
      <p:sp>
        <p:nvSpPr>
          <p:cNvPr id="24590" name="TextBox 26"/>
          <p:cNvSpPr txBox="1">
            <a:spLocks noChangeArrowheads="1"/>
          </p:cNvSpPr>
          <p:nvPr/>
        </p:nvSpPr>
        <p:spPr bwMode="auto">
          <a:xfrm>
            <a:off x="9753601" y="2971800"/>
            <a:ext cx="3016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a:t>5</a:t>
            </a:r>
          </a:p>
        </p:txBody>
      </p:sp>
    </p:spTree>
    <p:extLst>
      <p:ext uri="{BB962C8B-B14F-4D97-AF65-F5344CB8AC3E}">
        <p14:creationId xmlns:p14="http://schemas.microsoft.com/office/powerpoint/2010/main" val="378576225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C6FF725F-F201-4722-B4EF-1C599591D1BB}" type="slidenum">
              <a:rPr lang="en-US" altLang="en-US">
                <a:solidFill>
                  <a:srgbClr val="898989"/>
                </a:solidFill>
              </a:rPr>
              <a:pPr/>
              <a:t>12</a:t>
            </a:fld>
            <a:endParaRPr lang="en-US" altLang="en-US">
              <a:solidFill>
                <a:srgbClr val="898989"/>
              </a:solidFill>
            </a:endParaRPr>
          </a:p>
        </p:txBody>
      </p:sp>
      <p:sp>
        <p:nvSpPr>
          <p:cNvPr id="25602" name="Rectangle 4"/>
          <p:cNvSpPr>
            <a:spLocks noChangeArrowheads="1"/>
          </p:cNvSpPr>
          <p:nvPr/>
        </p:nvSpPr>
        <p:spPr bwMode="auto">
          <a:xfrm>
            <a:off x="2133600" y="533400"/>
            <a:ext cx="6934200" cy="317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just"/>
            <a:r>
              <a:rPr lang="en-US" altLang="en-US" sz="2000" b="1" u="sng">
                <a:latin typeface="Arial" panose="020B0604020202020204" pitchFamily="34" charset="0"/>
                <a:cs typeface="Times New Roman" panose="02020603050405020304" pitchFamily="18" charset="0"/>
              </a:rPr>
              <a:t>Infrared Detectors  </a:t>
            </a:r>
          </a:p>
          <a:p>
            <a:pPr algn="just"/>
            <a:endParaRPr lang="en-US" altLang="en-US" sz="2000" b="1" u="sng">
              <a:latin typeface="Arial" panose="020B0604020202020204" pitchFamily="34" charset="0"/>
              <a:cs typeface="Times New Roman" panose="02020603050405020304" pitchFamily="18" charset="0"/>
            </a:endParaRPr>
          </a:p>
          <a:p>
            <a:pPr algn="just">
              <a:buFont typeface="Arial" panose="020B0604020202020204" pitchFamily="34" charset="0"/>
              <a:buChar char="•"/>
            </a:pPr>
            <a:r>
              <a:rPr lang="en-US" altLang="en-US" sz="2000">
                <a:latin typeface="Arial" panose="020B0604020202020204" pitchFamily="34" charset="0"/>
                <a:cs typeface="Times New Roman" panose="02020603050405020304" pitchFamily="18" charset="0"/>
              </a:rPr>
              <a:t>  The appearance of these infrared photo detectors and the </a:t>
            </a:r>
            <a:br>
              <a:rPr lang="en-US" altLang="en-US" sz="2000">
                <a:latin typeface="Arial" panose="020B0604020202020204" pitchFamily="34" charset="0"/>
                <a:cs typeface="Times New Roman" panose="02020603050405020304" pitchFamily="18" charset="0"/>
              </a:rPr>
            </a:br>
            <a:r>
              <a:rPr lang="en-US" altLang="en-US" sz="2000">
                <a:latin typeface="Arial" panose="020B0604020202020204" pitchFamily="34" charset="0"/>
                <a:cs typeface="Times New Roman" panose="02020603050405020304" pitchFamily="18" charset="0"/>
              </a:rPr>
              <a:t>    internal structure is similar to that of an LED. </a:t>
            </a:r>
          </a:p>
          <a:p>
            <a:pPr algn="just">
              <a:buFont typeface="Arial" panose="020B0604020202020204" pitchFamily="34" charset="0"/>
              <a:buChar char="•"/>
            </a:pPr>
            <a:endParaRPr lang="en-US" altLang="en-US" sz="2000">
              <a:latin typeface="Arial" panose="020B0604020202020204" pitchFamily="34" charset="0"/>
              <a:cs typeface="Times New Roman" panose="02020603050405020304" pitchFamily="18" charset="0"/>
            </a:endParaRPr>
          </a:p>
          <a:p>
            <a:pPr algn="just">
              <a:buFont typeface="Arial" panose="020B0604020202020204" pitchFamily="34" charset="0"/>
              <a:buChar char="•"/>
            </a:pPr>
            <a:r>
              <a:rPr lang="en-US" altLang="en-US" sz="2000">
                <a:latin typeface="Arial" panose="020B0604020202020204" pitchFamily="34" charset="0"/>
                <a:cs typeface="Times New Roman" panose="02020603050405020304" pitchFamily="18" charset="0"/>
              </a:rPr>
              <a:t>   The infrared photo detector has a focal direction, and the </a:t>
            </a:r>
            <a:br>
              <a:rPr lang="en-US" altLang="en-US" sz="2000">
                <a:latin typeface="Arial" panose="020B0604020202020204" pitchFamily="34" charset="0"/>
                <a:cs typeface="Times New Roman" panose="02020603050405020304" pitchFamily="18" charset="0"/>
              </a:rPr>
            </a:br>
            <a:r>
              <a:rPr lang="en-US" altLang="en-US" sz="2000">
                <a:latin typeface="Arial" panose="020B0604020202020204" pitchFamily="34" charset="0"/>
                <a:cs typeface="Times New Roman" panose="02020603050405020304" pitchFamily="18" charset="0"/>
              </a:rPr>
              <a:t>    detection angle is about 15°.  (8x15=120˚)</a:t>
            </a:r>
          </a:p>
          <a:p>
            <a:pPr algn="just">
              <a:buFont typeface="Arial" panose="020B0604020202020204" pitchFamily="34" charset="0"/>
              <a:buChar char="•"/>
            </a:pPr>
            <a:endParaRPr lang="en-US" altLang="en-US" sz="2000">
              <a:latin typeface="Arial" panose="020B0604020202020204" pitchFamily="34" charset="0"/>
              <a:cs typeface="Times New Roman" panose="02020603050405020304" pitchFamily="18" charset="0"/>
            </a:endParaRPr>
          </a:p>
          <a:p>
            <a:pPr algn="just">
              <a:buFont typeface="Arial" panose="020B0604020202020204" pitchFamily="34" charset="0"/>
              <a:buChar char="•"/>
            </a:pPr>
            <a:r>
              <a:rPr lang="en-US" altLang="en-US" sz="2000">
                <a:latin typeface="Arial" panose="020B0604020202020204" pitchFamily="34" charset="0"/>
                <a:cs typeface="Times New Roman" panose="02020603050405020304" pitchFamily="18" charset="0"/>
              </a:rPr>
              <a:t>   This small detection angle allows the controller to </a:t>
            </a:r>
            <a:r>
              <a:rPr lang="en-US" altLang="en-US" sz="2000" b="1">
                <a:latin typeface="Arial" panose="020B0604020202020204" pitchFamily="34" charset="0"/>
                <a:cs typeface="Times New Roman" panose="02020603050405020304" pitchFamily="18" charset="0"/>
              </a:rPr>
              <a:t>tell the  </a:t>
            </a:r>
            <a:br>
              <a:rPr lang="en-US" altLang="en-US" sz="2000" b="1">
                <a:latin typeface="Arial" panose="020B0604020202020204" pitchFamily="34" charset="0"/>
                <a:cs typeface="Times New Roman" panose="02020603050405020304" pitchFamily="18" charset="0"/>
              </a:rPr>
            </a:br>
            <a:r>
              <a:rPr lang="en-US" altLang="en-US" sz="2000" b="1">
                <a:latin typeface="Arial" panose="020B0604020202020204" pitchFamily="34" charset="0"/>
                <a:cs typeface="Times New Roman" panose="02020603050405020304" pitchFamily="18" charset="0"/>
              </a:rPr>
              <a:t>    direction where the infrared light comes from.   </a:t>
            </a:r>
            <a:endParaRPr lang="en-US" altLang="en-US" sz="2000" b="1">
              <a:latin typeface="Arial" panose="020B0604020202020204" pitchFamily="34" charset="0"/>
            </a:endParaRPr>
          </a:p>
        </p:txBody>
      </p:sp>
      <p:pic>
        <p:nvPicPr>
          <p:cNvPr id="25603" name="Picture 2"/>
          <p:cNvPicPr>
            <a:picLocks noChangeAspect="1" noChangeArrowheads="1"/>
          </p:cNvPicPr>
          <p:nvPr/>
        </p:nvPicPr>
        <p:blipFill>
          <a:blip r:embed="rId2">
            <a:extLst>
              <a:ext uri="{28A0092B-C50C-407E-A947-70E740481C1C}">
                <a14:useLocalDpi xmlns:a14="http://schemas.microsoft.com/office/drawing/2010/main" val="0"/>
              </a:ext>
            </a:extLst>
          </a:blip>
          <a:srcRect l="2199" b="2707"/>
          <a:stretch>
            <a:fillRect/>
          </a:stretch>
        </p:blipFill>
        <p:spPr bwMode="auto">
          <a:xfrm>
            <a:off x="3200400" y="4625976"/>
            <a:ext cx="5029200" cy="223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Straight Arrow Connector 5"/>
          <p:cNvCxnSpPr>
            <a:stCxn id="25609" idx="1"/>
          </p:cNvCxnSpPr>
          <p:nvPr/>
        </p:nvCxnSpPr>
        <p:spPr>
          <a:xfrm rot="10800000" flipH="1" flipV="1">
            <a:off x="6172200" y="4010025"/>
            <a:ext cx="152400" cy="89535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a:stCxn id="25607" idx="1"/>
          </p:cNvCxnSpPr>
          <p:nvPr/>
        </p:nvCxnSpPr>
        <p:spPr>
          <a:xfrm rot="10800000" flipH="1" flipV="1">
            <a:off x="4114800" y="4086226"/>
            <a:ext cx="152400" cy="866775"/>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rot="5400000">
            <a:off x="5220494" y="4304506"/>
            <a:ext cx="533400" cy="1588"/>
          </a:xfrm>
          <a:prstGeom prst="straightConnector1">
            <a:avLst/>
          </a:prstGeom>
          <a:ln w="28575">
            <a:solidFill>
              <a:schemeClr val="tx1"/>
            </a:solidFill>
            <a:prstDash val="sysDash"/>
            <a:tailEnd type="arrow"/>
          </a:ln>
        </p:spPr>
        <p:style>
          <a:lnRef idx="1">
            <a:schemeClr val="accent1"/>
          </a:lnRef>
          <a:fillRef idx="0">
            <a:schemeClr val="accent1"/>
          </a:fillRef>
          <a:effectRef idx="0">
            <a:schemeClr val="accent1"/>
          </a:effectRef>
          <a:fontRef idx="minor">
            <a:schemeClr val="tx1"/>
          </a:fontRef>
        </p:style>
      </p:cxnSp>
      <p:sp>
        <p:nvSpPr>
          <p:cNvPr id="25607" name="TextBox 11"/>
          <p:cNvSpPr txBox="1">
            <a:spLocks noChangeArrowheads="1"/>
          </p:cNvSpPr>
          <p:nvPr/>
        </p:nvSpPr>
        <p:spPr bwMode="auto">
          <a:xfrm>
            <a:off x="4114801" y="3886200"/>
            <a:ext cx="314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000"/>
              <a:t>7</a:t>
            </a:r>
          </a:p>
        </p:txBody>
      </p:sp>
      <p:sp>
        <p:nvSpPr>
          <p:cNvPr id="25608" name="TextBox 14"/>
          <p:cNvSpPr txBox="1">
            <a:spLocks noChangeArrowheads="1"/>
          </p:cNvSpPr>
          <p:nvPr/>
        </p:nvSpPr>
        <p:spPr bwMode="auto">
          <a:xfrm>
            <a:off x="6067426" y="1"/>
            <a:ext cx="46005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800" u="sng"/>
              <a:t>Electronic Components (cont.)</a:t>
            </a:r>
          </a:p>
        </p:txBody>
      </p:sp>
      <p:sp>
        <p:nvSpPr>
          <p:cNvPr id="25609" name="TextBox 15"/>
          <p:cNvSpPr txBox="1">
            <a:spLocks noChangeArrowheads="1"/>
          </p:cNvSpPr>
          <p:nvPr/>
        </p:nvSpPr>
        <p:spPr bwMode="auto">
          <a:xfrm>
            <a:off x="6172200" y="3810000"/>
            <a:ext cx="228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000"/>
              <a:t>0</a:t>
            </a:r>
          </a:p>
        </p:txBody>
      </p:sp>
      <p:sp>
        <p:nvSpPr>
          <p:cNvPr id="25610" name="TextBox 16"/>
          <p:cNvSpPr txBox="1">
            <a:spLocks noChangeArrowheads="1"/>
          </p:cNvSpPr>
          <p:nvPr/>
        </p:nvSpPr>
        <p:spPr bwMode="auto">
          <a:xfrm>
            <a:off x="5486401" y="3733800"/>
            <a:ext cx="3016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a:t>3</a:t>
            </a:r>
          </a:p>
        </p:txBody>
      </p:sp>
    </p:spTree>
    <p:extLst>
      <p:ext uri="{BB962C8B-B14F-4D97-AF65-F5344CB8AC3E}">
        <p14:creationId xmlns:p14="http://schemas.microsoft.com/office/powerpoint/2010/main" val="155481702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6AF5314A-D10F-4D93-BCB2-1222D15BD46C}" type="slidenum">
              <a:rPr lang="en-US" altLang="en-US">
                <a:solidFill>
                  <a:srgbClr val="898989"/>
                </a:solidFill>
              </a:rPr>
              <a:pPr/>
              <a:t>13</a:t>
            </a:fld>
            <a:endParaRPr lang="en-US" altLang="en-US">
              <a:solidFill>
                <a:srgbClr val="898989"/>
              </a:solidFill>
            </a:endParaRPr>
          </a:p>
        </p:txBody>
      </p:sp>
      <p:pic>
        <p:nvPicPr>
          <p:cNvPr id="26626" name="Picture 2"/>
          <p:cNvPicPr>
            <a:picLocks noChangeAspect="1" noChangeArrowheads="1"/>
          </p:cNvPicPr>
          <p:nvPr/>
        </p:nvPicPr>
        <p:blipFill>
          <a:blip r:embed="rId2">
            <a:extLst>
              <a:ext uri="{28A0092B-C50C-407E-A947-70E740481C1C}">
                <a14:useLocalDpi xmlns:a14="http://schemas.microsoft.com/office/drawing/2010/main" val="0"/>
              </a:ext>
            </a:extLst>
          </a:blip>
          <a:srcRect l="2199" b="2707"/>
          <a:stretch>
            <a:fillRect/>
          </a:stretch>
        </p:blipFill>
        <p:spPr bwMode="auto">
          <a:xfrm>
            <a:off x="3733800" y="4556125"/>
            <a:ext cx="4267200" cy="189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7" name="TextBox 3"/>
          <p:cNvSpPr txBox="1">
            <a:spLocks noChangeArrowheads="1"/>
          </p:cNvSpPr>
          <p:nvPr/>
        </p:nvSpPr>
        <p:spPr bwMode="auto">
          <a:xfrm>
            <a:off x="8305800" y="4876800"/>
            <a:ext cx="13287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000"/>
              <a:t>Tuning CKT</a:t>
            </a:r>
          </a:p>
        </p:txBody>
      </p:sp>
      <p:cxnSp>
        <p:nvCxnSpPr>
          <p:cNvPr id="6" name="Straight Arrow Connector 5"/>
          <p:cNvCxnSpPr>
            <a:stCxn id="26627" idx="2"/>
          </p:cNvCxnSpPr>
          <p:nvPr/>
        </p:nvCxnSpPr>
        <p:spPr>
          <a:xfrm rot="5400000">
            <a:off x="8038307" y="4782344"/>
            <a:ext cx="438150" cy="1427163"/>
          </a:xfrm>
          <a:prstGeom prst="straightConnector1">
            <a:avLst/>
          </a:prstGeom>
          <a:ln w="349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a:off x="2895600" y="4876800"/>
            <a:ext cx="1295400" cy="914400"/>
          </a:xfrm>
          <a:prstGeom prst="straightConnector1">
            <a:avLst/>
          </a:prstGeom>
          <a:ln w="349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4038600" y="4267200"/>
            <a:ext cx="990600" cy="971550"/>
          </a:xfrm>
          <a:prstGeom prst="straightConnector1">
            <a:avLst/>
          </a:prstGeom>
          <a:ln w="349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rot="10800000" flipV="1">
            <a:off x="6400800" y="4419600"/>
            <a:ext cx="1600200" cy="1219200"/>
          </a:xfrm>
          <a:prstGeom prst="straightConnector1">
            <a:avLst/>
          </a:prstGeom>
          <a:ln w="3492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6632" name="TextBox 15"/>
          <p:cNvSpPr txBox="1">
            <a:spLocks noChangeArrowheads="1"/>
          </p:cNvSpPr>
          <p:nvPr/>
        </p:nvSpPr>
        <p:spPr bwMode="auto">
          <a:xfrm>
            <a:off x="8077200" y="4114800"/>
            <a:ext cx="10493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a:t>Amplifier</a:t>
            </a:r>
          </a:p>
        </p:txBody>
      </p:sp>
      <p:sp>
        <p:nvSpPr>
          <p:cNvPr id="26633" name="TextBox 16"/>
          <p:cNvSpPr txBox="1">
            <a:spLocks noChangeArrowheads="1"/>
          </p:cNvSpPr>
          <p:nvPr/>
        </p:nvSpPr>
        <p:spPr bwMode="auto">
          <a:xfrm>
            <a:off x="3581400" y="3962400"/>
            <a:ext cx="1066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000"/>
              <a:t>Selector</a:t>
            </a:r>
          </a:p>
        </p:txBody>
      </p:sp>
      <p:sp>
        <p:nvSpPr>
          <p:cNvPr id="26634" name="TextBox 17"/>
          <p:cNvSpPr txBox="1">
            <a:spLocks noChangeArrowheads="1"/>
          </p:cNvSpPr>
          <p:nvPr/>
        </p:nvSpPr>
        <p:spPr bwMode="auto">
          <a:xfrm>
            <a:off x="2286000" y="4495800"/>
            <a:ext cx="10239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000"/>
              <a:t>Counter</a:t>
            </a:r>
          </a:p>
        </p:txBody>
      </p:sp>
      <p:sp>
        <p:nvSpPr>
          <p:cNvPr id="26635" name="Rectangle 1"/>
          <p:cNvSpPr>
            <a:spLocks noChangeArrowheads="1"/>
          </p:cNvSpPr>
          <p:nvPr/>
        </p:nvSpPr>
        <p:spPr bwMode="auto">
          <a:xfrm>
            <a:off x="1524000" y="914401"/>
            <a:ext cx="3581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400" b="1" u="sng">
                <a:latin typeface="Arial" panose="020B0604020202020204" pitchFamily="34" charset="0"/>
                <a:cs typeface="Times New Roman" panose="02020603050405020304" pitchFamily="18" charset="0"/>
              </a:rPr>
              <a:t>Integrated Circuits </a:t>
            </a:r>
            <a:endParaRPr lang="en-US" altLang="en-US" sz="2400" u="sng">
              <a:latin typeface="Arial" panose="020B0604020202020204" pitchFamily="34" charset="0"/>
            </a:endParaRPr>
          </a:p>
        </p:txBody>
      </p:sp>
      <p:pic>
        <p:nvPicPr>
          <p:cNvPr id="26636" name="Picture 19" descr="http://media.digikey.com/photos/National%20Semi%20Photos/14-14-DIP.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1" y="2133600"/>
            <a:ext cx="1533525" cy="145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7" name="Picture 20" descr="packaged integrated circuit"/>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1" y="2362201"/>
            <a:ext cx="2009775" cy="140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38" name="TextBox 21"/>
          <p:cNvSpPr txBox="1">
            <a:spLocks noChangeArrowheads="1"/>
          </p:cNvSpPr>
          <p:nvPr/>
        </p:nvSpPr>
        <p:spPr bwMode="auto">
          <a:xfrm>
            <a:off x="4800600" y="1066801"/>
            <a:ext cx="5530850"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400"/>
              <a:t>A small scale electronic CKT  on a substrate</a:t>
            </a:r>
          </a:p>
          <a:p>
            <a:r>
              <a:rPr lang="en-US" altLang="en-US" sz="2400"/>
              <a:t>of semiconductor material</a:t>
            </a:r>
          </a:p>
          <a:p>
            <a:endParaRPr lang="en-US" altLang="en-US"/>
          </a:p>
        </p:txBody>
      </p:sp>
      <p:sp>
        <p:nvSpPr>
          <p:cNvPr id="26639" name="TextBox 18"/>
          <p:cNvSpPr txBox="1">
            <a:spLocks noChangeArrowheads="1"/>
          </p:cNvSpPr>
          <p:nvPr/>
        </p:nvSpPr>
        <p:spPr bwMode="auto">
          <a:xfrm>
            <a:off x="2209800" y="2971801"/>
            <a:ext cx="16192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400"/>
              <a:t>Orientation</a:t>
            </a:r>
          </a:p>
        </p:txBody>
      </p:sp>
      <p:cxnSp>
        <p:nvCxnSpPr>
          <p:cNvPr id="24" name="Straight Arrow Connector 23"/>
          <p:cNvCxnSpPr>
            <a:stCxn id="26639" idx="3"/>
          </p:cNvCxnSpPr>
          <p:nvPr/>
        </p:nvCxnSpPr>
        <p:spPr>
          <a:xfrm flipV="1">
            <a:off x="3829050" y="2971800"/>
            <a:ext cx="742950" cy="2301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663858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724400" y="0"/>
            <a:ext cx="5943600" cy="457200"/>
          </a:xfrm>
        </p:spPr>
        <p:txBody>
          <a:bodyPr rtlCol="0">
            <a:normAutofit fontScale="90000"/>
          </a:bodyPr>
          <a:lstStyle/>
          <a:p>
            <a:pPr>
              <a:defRPr/>
            </a:pPr>
            <a:r>
              <a:rPr lang="en-US" sz="2700" dirty="0"/>
              <a:t/>
            </a:r>
            <a:br>
              <a:rPr lang="en-US" sz="2700" dirty="0"/>
            </a:br>
            <a:r>
              <a:rPr lang="en-US" sz="2700" dirty="0"/>
              <a:t/>
            </a:r>
            <a:br>
              <a:rPr lang="en-US" sz="2700" dirty="0"/>
            </a:br>
            <a:r>
              <a:rPr lang="en-US" sz="2700" u="sng" dirty="0"/>
              <a:t>Robotic Component Functional Summary*</a:t>
            </a:r>
            <a:r>
              <a:rPr lang="en-US" dirty="0" smtClean="0"/>
              <a:t/>
            </a:r>
            <a:br>
              <a:rPr lang="en-US" dirty="0" smtClean="0"/>
            </a:br>
            <a:endParaRPr lang="en-US" dirty="0"/>
          </a:p>
        </p:txBody>
      </p:sp>
      <p:pic>
        <p:nvPicPr>
          <p:cNvPr id="27650" name="Picture 4" descr="3-Wire Motor">
            <a:hlinkClick r:id=""/>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762000"/>
            <a:ext cx="251460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1" name="TextBox 6"/>
          <p:cNvSpPr txBox="1">
            <a:spLocks noChangeArrowheads="1"/>
          </p:cNvSpPr>
          <p:nvPr/>
        </p:nvSpPr>
        <p:spPr bwMode="auto">
          <a:xfrm>
            <a:off x="3886200" y="609601"/>
            <a:ext cx="6553200" cy="594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Calibri" panose="020F0502020204030204" pitchFamily="34" charset="0"/>
              </a:defRPr>
            </a:lvl1pPr>
            <a:lvl2pPr marL="800100" indent="-342900">
              <a:defRPr>
                <a:solidFill>
                  <a:schemeClr val="tx1"/>
                </a:solidFill>
                <a:latin typeface="Calibri" panose="020F0502020204030204" pitchFamily="34" charset="0"/>
              </a:defRPr>
            </a:lvl2pPr>
            <a:lvl3pPr marL="1257300" indent="-3429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400" b="1"/>
              <a:t>     B.   </a:t>
            </a:r>
            <a:r>
              <a:rPr lang="en-US" altLang="en-US" sz="2400" b="1" u="sng"/>
              <a:t>Motors</a:t>
            </a:r>
          </a:p>
          <a:p>
            <a:pPr lvl="1">
              <a:buFont typeface="Arial" panose="020B0604020202020204" pitchFamily="34" charset="0"/>
              <a:buChar char="•"/>
            </a:pPr>
            <a:r>
              <a:rPr lang="en-US" altLang="en-US" sz="2000"/>
              <a:t>Motors are devices that can transform electrical energy into mechanical energy.</a:t>
            </a:r>
          </a:p>
          <a:p>
            <a:pPr lvl="1">
              <a:buFont typeface="Arial" panose="020B0604020202020204" pitchFamily="34" charset="0"/>
              <a:buChar char="•"/>
            </a:pPr>
            <a:r>
              <a:rPr lang="en-US" altLang="en-US" sz="2000"/>
              <a:t>Control the movement/speed  of the robot.</a:t>
            </a:r>
          </a:p>
          <a:p>
            <a:pPr lvl="1">
              <a:buFont typeface="Arial" panose="020B0604020202020204" pitchFamily="34" charset="0"/>
              <a:buChar char="•"/>
            </a:pPr>
            <a:r>
              <a:rPr lang="en-US" altLang="en-US" sz="2000" u="sng"/>
              <a:t>Direction</a:t>
            </a:r>
            <a:r>
              <a:rPr lang="en-US" altLang="en-US" sz="2000"/>
              <a:t>:  </a:t>
            </a:r>
            <a:r>
              <a:rPr lang="en-US" altLang="en-US" sz="2000" b="1"/>
              <a:t>CW </a:t>
            </a:r>
            <a:r>
              <a:rPr lang="en-US" altLang="en-US" sz="2000"/>
              <a:t>or </a:t>
            </a:r>
            <a:r>
              <a:rPr lang="en-US" altLang="en-US" sz="2000" b="1"/>
              <a:t>CCW.</a:t>
            </a:r>
          </a:p>
          <a:p>
            <a:pPr lvl="1">
              <a:buFont typeface="Arial" panose="020B0604020202020204" pitchFamily="34" charset="0"/>
              <a:buChar char="•"/>
            </a:pPr>
            <a:endParaRPr lang="en-US" altLang="en-US" sz="2000" b="1"/>
          </a:p>
          <a:p>
            <a:pPr lvl="1">
              <a:buFont typeface="Arial" panose="020B0604020202020204" pitchFamily="34" charset="0"/>
              <a:buChar char="•"/>
            </a:pPr>
            <a:r>
              <a:rPr lang="en-US" altLang="en-US" sz="2000"/>
              <a:t>SWR Command:</a:t>
            </a:r>
          </a:p>
          <a:p>
            <a:pPr lvl="2">
              <a:buFont typeface="Arial" panose="020B0604020202020204" pitchFamily="34" charset="0"/>
              <a:buChar char="•"/>
            </a:pPr>
            <a:r>
              <a:rPr lang="en-US" altLang="en-US" sz="2400" b="1"/>
              <a:t>SetPWM[Port #, Direction &amp; Speed# ]</a:t>
            </a:r>
          </a:p>
          <a:p>
            <a:pPr lvl="1">
              <a:buFont typeface="Arial" panose="020B0604020202020204" pitchFamily="34" charset="0"/>
              <a:buChar char="•"/>
            </a:pPr>
            <a:endParaRPr lang="en-US" altLang="en-US" sz="2000" b="1" u="sng"/>
          </a:p>
          <a:p>
            <a:pPr lvl="1">
              <a:buFont typeface="Arial" panose="020B0604020202020204" pitchFamily="34" charset="0"/>
              <a:buChar char="•"/>
            </a:pPr>
            <a:endParaRPr lang="en-US" altLang="en-US" sz="2000" b="1" u="sng"/>
          </a:p>
          <a:p>
            <a:pPr lvl="1">
              <a:buFont typeface="Arial" panose="020B0604020202020204" pitchFamily="34" charset="0"/>
              <a:buChar char="•"/>
            </a:pPr>
            <a:endParaRPr lang="en-US" altLang="en-US" sz="2000" b="1" u="sng"/>
          </a:p>
          <a:p>
            <a:pPr lvl="1">
              <a:buFont typeface="Arial" panose="020B0604020202020204" pitchFamily="34" charset="0"/>
              <a:buChar char="•"/>
            </a:pPr>
            <a:endParaRPr lang="en-US" altLang="en-US" sz="2000" b="1" u="sng"/>
          </a:p>
          <a:p>
            <a:pPr lvl="1">
              <a:buFont typeface="Arial" panose="020B0604020202020204" pitchFamily="34" charset="0"/>
              <a:buChar char="•"/>
            </a:pPr>
            <a:r>
              <a:rPr lang="en-US" altLang="en-US" sz="2400" b="1" u="sng"/>
              <a:t>Range: Direction &amp; Speed:</a:t>
            </a:r>
          </a:p>
          <a:p>
            <a:pPr lvl="2">
              <a:buFont typeface="Arial" panose="020B0604020202020204" pitchFamily="34" charset="0"/>
              <a:buChar char="•"/>
            </a:pPr>
            <a:r>
              <a:rPr lang="en-US" altLang="en-US" sz="2400" b="1"/>
              <a:t>000     CCW-High</a:t>
            </a:r>
          </a:p>
          <a:p>
            <a:pPr lvl="2">
              <a:buFont typeface="Arial" panose="020B0604020202020204" pitchFamily="34" charset="0"/>
              <a:buChar char="•"/>
            </a:pPr>
            <a:r>
              <a:rPr lang="en-US" altLang="en-US" sz="2400" b="1"/>
              <a:t>127     STOP</a:t>
            </a:r>
          </a:p>
          <a:p>
            <a:pPr lvl="2">
              <a:buFont typeface="Arial" panose="020B0604020202020204" pitchFamily="34" charset="0"/>
              <a:buChar char="•"/>
            </a:pPr>
            <a:r>
              <a:rPr lang="en-US" altLang="en-US" sz="2400" b="1"/>
              <a:t>255     CW - High</a:t>
            </a:r>
          </a:p>
          <a:p>
            <a:pPr lvl="1">
              <a:buFont typeface="Arial" panose="020B0604020202020204" pitchFamily="34" charset="0"/>
              <a:buChar char="•"/>
            </a:pPr>
            <a:endParaRPr lang="en-US" altLang="en-US" b="1"/>
          </a:p>
          <a:p>
            <a:pPr>
              <a:buFontTx/>
              <a:buAutoNum type="alphaUcPeriod" startAt="2"/>
            </a:pPr>
            <a:endParaRPr lang="en-US" altLang="en-US"/>
          </a:p>
        </p:txBody>
      </p:sp>
      <p:pic>
        <p:nvPicPr>
          <p:cNvPr id="27652" name="Picture 6" descr="VEX Motor/Servo Clutches">
            <a:hlinkClick r:id=""/>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3352800"/>
            <a:ext cx="1600200" cy="146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3" name="TextBox 11"/>
          <p:cNvSpPr txBox="1">
            <a:spLocks noChangeArrowheads="1"/>
          </p:cNvSpPr>
          <p:nvPr/>
        </p:nvSpPr>
        <p:spPr bwMode="auto">
          <a:xfrm>
            <a:off x="1524000" y="6519864"/>
            <a:ext cx="364013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600"/>
              <a:t>*E10 Manual-Vex Robotics Design System</a:t>
            </a:r>
          </a:p>
        </p:txBody>
      </p:sp>
      <p:pic>
        <p:nvPicPr>
          <p:cNvPr id="27654" name="Picture 2"/>
          <p:cNvPicPr>
            <a:picLocks noChangeAspect="1" noChangeArrowheads="1"/>
          </p:cNvPicPr>
          <p:nvPr/>
        </p:nvPicPr>
        <p:blipFill>
          <a:blip r:embed="rId4">
            <a:extLst>
              <a:ext uri="{28A0092B-C50C-407E-A947-70E740481C1C}">
                <a14:useLocalDpi xmlns:a14="http://schemas.microsoft.com/office/drawing/2010/main" val="0"/>
              </a:ext>
            </a:extLst>
          </a:blip>
          <a:srcRect l="21875" t="42708" r="54375" b="51041"/>
          <a:stretch>
            <a:fillRect/>
          </a:stretch>
        </p:blipFill>
        <p:spPr bwMode="auto">
          <a:xfrm>
            <a:off x="4876800" y="3352800"/>
            <a:ext cx="4724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Slide Number Placeholder 13"/>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5F818420-82FA-4463-951E-C25866B44B2A}" type="slidenum">
              <a:rPr lang="en-US" altLang="en-US">
                <a:solidFill>
                  <a:srgbClr val="898989"/>
                </a:solidFill>
              </a:rPr>
              <a:pPr/>
              <a:t>14</a:t>
            </a:fld>
            <a:endParaRPr lang="en-US" altLang="en-US">
              <a:solidFill>
                <a:srgbClr val="898989"/>
              </a:solidFill>
            </a:endParaRPr>
          </a:p>
        </p:txBody>
      </p:sp>
    </p:spTree>
    <p:extLst>
      <p:ext uri="{BB962C8B-B14F-4D97-AF65-F5344CB8AC3E}">
        <p14:creationId xmlns:p14="http://schemas.microsoft.com/office/powerpoint/2010/main" val="262687127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extBox 1"/>
          <p:cNvSpPr txBox="1">
            <a:spLocks noChangeArrowheads="1"/>
          </p:cNvSpPr>
          <p:nvPr/>
        </p:nvSpPr>
        <p:spPr bwMode="auto">
          <a:xfrm>
            <a:off x="3886200" y="838200"/>
            <a:ext cx="63246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400" b="1" u="sng"/>
              <a:t>C.   Servos</a:t>
            </a:r>
          </a:p>
          <a:p>
            <a:r>
              <a:rPr lang="en-US" altLang="en-US" sz="2400"/>
              <a:t>Servo motors are a type of motor that can be </a:t>
            </a:r>
            <a:r>
              <a:rPr lang="en-US" altLang="en-US" sz="2400" b="1"/>
              <a:t>directed to turn to a specific direction</a:t>
            </a:r>
            <a:r>
              <a:rPr lang="en-US" altLang="en-US" sz="2400"/>
              <a:t>, rather than just spin forward or backward.</a:t>
            </a:r>
          </a:p>
        </p:txBody>
      </p:sp>
      <p:pic>
        <p:nvPicPr>
          <p:cNvPr id="28674" name="Picture 8" descr="Servo">
            <a:hlinkClick r:id=""/>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609600"/>
            <a:ext cx="2286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5" name="Rectangle 3"/>
          <p:cNvSpPr>
            <a:spLocks noChangeArrowheads="1"/>
          </p:cNvSpPr>
          <p:nvPr/>
        </p:nvSpPr>
        <p:spPr bwMode="auto">
          <a:xfrm>
            <a:off x="4343400" y="1"/>
            <a:ext cx="6553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400" u="sng"/>
              <a:t>Robotic Component Functional Summary (cont.)</a:t>
            </a:r>
            <a:endParaRPr lang="en-US" altLang="en-US" sz="2400"/>
          </a:p>
        </p:txBody>
      </p:sp>
      <p:pic>
        <p:nvPicPr>
          <p:cNvPr id="28676"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1" y="2514601"/>
            <a:ext cx="3344863" cy="185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7" name="Picture 2"/>
          <p:cNvPicPr>
            <a:picLocks noChangeAspect="1" noChangeArrowheads="1"/>
          </p:cNvPicPr>
          <p:nvPr/>
        </p:nvPicPr>
        <p:blipFill>
          <a:blip r:embed="rId4">
            <a:extLst>
              <a:ext uri="{28A0092B-C50C-407E-A947-70E740481C1C}">
                <a14:useLocalDpi xmlns:a14="http://schemas.microsoft.com/office/drawing/2010/main" val="0"/>
              </a:ext>
            </a:extLst>
          </a:blip>
          <a:srcRect l="21875" t="50000" r="54375" b="39583"/>
          <a:stretch>
            <a:fillRect/>
          </a:stretch>
        </p:blipFill>
        <p:spPr bwMode="auto">
          <a:xfrm>
            <a:off x="5410201" y="5257800"/>
            <a:ext cx="405447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8" name="TextBox 6"/>
          <p:cNvSpPr txBox="1">
            <a:spLocks noChangeArrowheads="1"/>
          </p:cNvSpPr>
          <p:nvPr/>
        </p:nvSpPr>
        <p:spPr bwMode="auto">
          <a:xfrm>
            <a:off x="3505200" y="4724401"/>
            <a:ext cx="65928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400"/>
              <a:t>SWR Command:  </a:t>
            </a:r>
            <a:r>
              <a:rPr lang="en-US" altLang="en-US" sz="2400" b="1"/>
              <a:t>SetPWM [ Port#, Direction Value]</a:t>
            </a:r>
          </a:p>
        </p:txBody>
      </p:sp>
      <p:sp>
        <p:nvSpPr>
          <p:cNvPr id="8" name="Slide Number Placeholder 7"/>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BABCF289-3BD4-4B1F-BDE3-3D82F02D97A7}" type="slidenum">
              <a:rPr lang="en-US" altLang="en-US">
                <a:solidFill>
                  <a:srgbClr val="898989"/>
                </a:solidFill>
              </a:rPr>
              <a:pPr/>
              <a:t>15</a:t>
            </a:fld>
            <a:endParaRPr lang="en-US" altLang="en-US">
              <a:solidFill>
                <a:srgbClr val="898989"/>
              </a:solidFill>
            </a:endParaRPr>
          </a:p>
        </p:txBody>
      </p:sp>
    </p:spTree>
    <p:extLst>
      <p:ext uri="{BB962C8B-B14F-4D97-AF65-F5344CB8AC3E}">
        <p14:creationId xmlns:p14="http://schemas.microsoft.com/office/powerpoint/2010/main" val="150282558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7" name="Picture 4" descr="Bumper Switch">
            <a:hlinkClick r:id=""/>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304800"/>
            <a:ext cx="2133600"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698" name="TextBox 4"/>
          <p:cNvSpPr txBox="1">
            <a:spLocks noChangeArrowheads="1"/>
          </p:cNvSpPr>
          <p:nvPr/>
        </p:nvSpPr>
        <p:spPr bwMode="auto">
          <a:xfrm>
            <a:off x="4038600" y="609601"/>
            <a:ext cx="6324600" cy="190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800" b="1"/>
              <a:t>C.   </a:t>
            </a:r>
            <a:r>
              <a:rPr lang="en-US" altLang="en-US" sz="2800" b="1" u="sng"/>
              <a:t>The Bumper</a:t>
            </a:r>
          </a:p>
          <a:p>
            <a:r>
              <a:rPr lang="en-US" altLang="en-US" sz="2400"/>
              <a:t>- The bumper switch is a digital sensor.</a:t>
            </a:r>
          </a:p>
          <a:p>
            <a:r>
              <a:rPr lang="en-US" altLang="en-US" sz="2400"/>
              <a:t> - It tells the robot whether the bumper on the </a:t>
            </a:r>
            <a:br>
              <a:rPr lang="en-US" altLang="en-US" sz="2400"/>
            </a:br>
            <a:r>
              <a:rPr lang="en-US" altLang="en-US" sz="2400"/>
              <a:t>   front of the sensor is being pushed </a:t>
            </a:r>
            <a:r>
              <a:rPr lang="en-US" altLang="en-US" sz="2400" b="1"/>
              <a:t>in or not</a:t>
            </a:r>
            <a:r>
              <a:rPr lang="en-US" altLang="en-US" sz="2400"/>
              <a:t>.</a:t>
            </a:r>
            <a:r>
              <a:rPr lang="en-US" altLang="en-US"/>
              <a:t/>
            </a:r>
            <a:br>
              <a:rPr lang="en-US" altLang="en-US"/>
            </a:br>
            <a:endParaRPr lang="en-US" altLang="en-US"/>
          </a:p>
        </p:txBody>
      </p:sp>
      <p:sp>
        <p:nvSpPr>
          <p:cNvPr id="29699" name="Rectangle 6"/>
          <p:cNvSpPr>
            <a:spLocks noChangeArrowheads="1"/>
          </p:cNvSpPr>
          <p:nvPr/>
        </p:nvSpPr>
        <p:spPr bwMode="auto">
          <a:xfrm>
            <a:off x="4543426" y="1"/>
            <a:ext cx="61245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400" u="sng"/>
              <a:t>Robotic Component Functional Summary(cont.)</a:t>
            </a:r>
          </a:p>
        </p:txBody>
      </p:sp>
      <p:sp>
        <p:nvSpPr>
          <p:cNvPr id="29700" name="TextBox 7"/>
          <p:cNvSpPr txBox="1">
            <a:spLocks noChangeArrowheads="1"/>
          </p:cNvSpPr>
          <p:nvPr/>
        </p:nvSpPr>
        <p:spPr bwMode="auto">
          <a:xfrm>
            <a:off x="3429000" y="2362201"/>
            <a:ext cx="6705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400"/>
              <a:t>SWR Command:   </a:t>
            </a:r>
            <a:r>
              <a:rPr lang="en-US" altLang="en-US" sz="2400" b="1"/>
              <a:t>bumperL = GetDigitalInput[Port#]</a:t>
            </a:r>
          </a:p>
        </p:txBody>
      </p:sp>
      <p:pic>
        <p:nvPicPr>
          <p:cNvPr id="2970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7800" y="3276600"/>
            <a:ext cx="48768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Slide Number Placeholder 9"/>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01E04A8A-509F-4B96-BC4A-D2648E4DD379}" type="slidenum">
              <a:rPr lang="en-US" altLang="en-US">
                <a:solidFill>
                  <a:srgbClr val="898989"/>
                </a:solidFill>
              </a:rPr>
              <a:pPr/>
              <a:t>16</a:t>
            </a:fld>
            <a:endParaRPr lang="en-US" altLang="en-US">
              <a:solidFill>
                <a:srgbClr val="898989"/>
              </a:solidFill>
            </a:endParaRPr>
          </a:p>
        </p:txBody>
      </p:sp>
      <p:sp>
        <p:nvSpPr>
          <p:cNvPr id="29703" name="Rectangle 8"/>
          <p:cNvSpPr>
            <a:spLocks/>
          </p:cNvSpPr>
          <p:nvPr/>
        </p:nvSpPr>
        <p:spPr bwMode="auto">
          <a:xfrm>
            <a:off x="2057400" y="5105400"/>
            <a:ext cx="74676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0" hangingPunct="0">
              <a:spcBef>
                <a:spcPct val="20000"/>
              </a:spcBef>
              <a:buFont typeface="Arial" panose="020B0604020202020204" pitchFamily="34" charset="0"/>
              <a:buNone/>
            </a:pPr>
            <a:r>
              <a:rPr lang="en-US" altLang="en-US" sz="2400"/>
              <a:t>Input =1 (or 5V) when the bumper is </a:t>
            </a:r>
            <a:r>
              <a:rPr lang="en-US" altLang="en-US" sz="2400" u="sng">
                <a:solidFill>
                  <a:srgbClr val="FF0000"/>
                </a:solidFill>
              </a:rPr>
              <a:t>not pushed</a:t>
            </a:r>
            <a:r>
              <a:rPr lang="en-US" altLang="en-US" sz="2400"/>
              <a:t>.</a:t>
            </a:r>
          </a:p>
          <a:p>
            <a:pPr eaLnBrk="0" hangingPunct="0">
              <a:spcBef>
                <a:spcPct val="20000"/>
              </a:spcBef>
              <a:buFont typeface="Arial" panose="020B0604020202020204" pitchFamily="34" charset="0"/>
              <a:buNone/>
            </a:pPr>
            <a:r>
              <a:rPr lang="en-US" altLang="en-US" sz="2400"/>
              <a:t>Input =0 (or 0V) when the bumper is </a:t>
            </a:r>
            <a:r>
              <a:rPr lang="en-US" altLang="en-US" sz="2400" u="sng"/>
              <a:t>pushed.</a:t>
            </a:r>
          </a:p>
          <a:p>
            <a:pPr eaLnBrk="0" hangingPunct="0">
              <a:spcBef>
                <a:spcPct val="20000"/>
              </a:spcBef>
              <a:buFont typeface="Arial" panose="020B0604020202020204" pitchFamily="34" charset="0"/>
              <a:buNone/>
            </a:pPr>
            <a:endParaRPr lang="en-US" altLang="en-US" sz="2800"/>
          </a:p>
        </p:txBody>
      </p:sp>
      <p:sp>
        <p:nvSpPr>
          <p:cNvPr id="29704" name="Rectangle 35"/>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grpSp>
        <p:nvGrpSpPr>
          <p:cNvPr id="29705" name="Group 3"/>
          <p:cNvGrpSpPr>
            <a:grpSpLocks noChangeAspect="1"/>
          </p:cNvGrpSpPr>
          <p:nvPr/>
        </p:nvGrpSpPr>
        <p:grpSpPr bwMode="auto">
          <a:xfrm>
            <a:off x="1752600" y="3048000"/>
            <a:ext cx="3086100" cy="1638300"/>
            <a:chOff x="6084" y="8184"/>
            <a:chExt cx="7475" cy="3870"/>
          </a:xfrm>
        </p:grpSpPr>
        <p:sp>
          <p:nvSpPr>
            <p:cNvPr id="29706" name="AutoShape 34"/>
            <p:cNvSpPr>
              <a:spLocks noChangeAspect="1" noChangeArrowheads="1" noTextEdit="1"/>
            </p:cNvSpPr>
            <p:nvPr/>
          </p:nvSpPr>
          <p:spPr bwMode="auto">
            <a:xfrm>
              <a:off x="6084" y="8184"/>
              <a:ext cx="7475" cy="38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9707" name="Rectangle 33"/>
            <p:cNvSpPr>
              <a:spLocks noChangeArrowheads="1"/>
            </p:cNvSpPr>
            <p:nvPr/>
          </p:nvSpPr>
          <p:spPr bwMode="auto">
            <a:xfrm>
              <a:off x="7076" y="8377"/>
              <a:ext cx="2448" cy="3483"/>
            </a:xfrm>
            <a:prstGeom prst="rect">
              <a:avLst/>
            </a:prstGeom>
            <a:solidFill>
              <a:srgbClr val="FFFFFF"/>
            </a:solidFill>
            <a:ln w="9525">
              <a:solidFill>
                <a:srgbClr val="000000"/>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29708" name="Line 32"/>
            <p:cNvSpPr>
              <a:spLocks noChangeShapeType="1"/>
            </p:cNvSpPr>
            <p:nvPr/>
          </p:nvSpPr>
          <p:spPr bwMode="auto">
            <a:xfrm flipH="1">
              <a:off x="11310" y="11280"/>
              <a:ext cx="3" cy="28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09" name="Line 31"/>
            <p:cNvSpPr>
              <a:spLocks noChangeShapeType="1"/>
            </p:cNvSpPr>
            <p:nvPr/>
          </p:nvSpPr>
          <p:spPr bwMode="auto">
            <a:xfrm>
              <a:off x="11310" y="8958"/>
              <a:ext cx="1" cy="34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10" name="Line 30"/>
            <p:cNvSpPr>
              <a:spLocks noChangeShapeType="1"/>
            </p:cNvSpPr>
            <p:nvPr/>
          </p:nvSpPr>
          <p:spPr bwMode="auto">
            <a:xfrm>
              <a:off x="11310" y="9304"/>
              <a:ext cx="264" cy="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11" name="Line 29"/>
            <p:cNvSpPr>
              <a:spLocks noChangeShapeType="1"/>
            </p:cNvSpPr>
            <p:nvPr/>
          </p:nvSpPr>
          <p:spPr bwMode="auto">
            <a:xfrm flipH="1">
              <a:off x="11045" y="9391"/>
              <a:ext cx="529" cy="8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12" name="Line 28"/>
            <p:cNvSpPr>
              <a:spLocks noChangeShapeType="1"/>
            </p:cNvSpPr>
            <p:nvPr/>
          </p:nvSpPr>
          <p:spPr bwMode="auto">
            <a:xfrm>
              <a:off x="11045" y="9456"/>
              <a:ext cx="529" cy="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13" name="Line 27"/>
            <p:cNvSpPr>
              <a:spLocks noChangeShapeType="1"/>
            </p:cNvSpPr>
            <p:nvPr/>
          </p:nvSpPr>
          <p:spPr bwMode="auto">
            <a:xfrm flipH="1">
              <a:off x="11045" y="9544"/>
              <a:ext cx="529" cy="8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14" name="Line 26"/>
            <p:cNvSpPr>
              <a:spLocks noChangeShapeType="1"/>
            </p:cNvSpPr>
            <p:nvPr/>
          </p:nvSpPr>
          <p:spPr bwMode="auto">
            <a:xfrm>
              <a:off x="11045" y="9630"/>
              <a:ext cx="529" cy="8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15" name="Line 25"/>
            <p:cNvSpPr>
              <a:spLocks noChangeShapeType="1"/>
            </p:cNvSpPr>
            <p:nvPr/>
          </p:nvSpPr>
          <p:spPr bwMode="auto">
            <a:xfrm flipH="1">
              <a:off x="11045" y="9715"/>
              <a:ext cx="529" cy="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16" name="Line 24"/>
            <p:cNvSpPr>
              <a:spLocks noChangeShapeType="1"/>
            </p:cNvSpPr>
            <p:nvPr/>
          </p:nvSpPr>
          <p:spPr bwMode="auto">
            <a:xfrm>
              <a:off x="11045" y="9804"/>
              <a:ext cx="529" cy="8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17" name="Line 23"/>
            <p:cNvSpPr>
              <a:spLocks noChangeShapeType="1"/>
            </p:cNvSpPr>
            <p:nvPr/>
          </p:nvSpPr>
          <p:spPr bwMode="auto">
            <a:xfrm flipH="1">
              <a:off x="11045" y="9900"/>
              <a:ext cx="529" cy="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18" name="Line 22"/>
            <p:cNvSpPr>
              <a:spLocks noChangeShapeType="1"/>
            </p:cNvSpPr>
            <p:nvPr/>
          </p:nvSpPr>
          <p:spPr bwMode="auto">
            <a:xfrm>
              <a:off x="11045" y="9987"/>
              <a:ext cx="529" cy="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19" name="Line 21"/>
            <p:cNvSpPr>
              <a:spLocks noChangeShapeType="1"/>
            </p:cNvSpPr>
            <p:nvPr/>
          </p:nvSpPr>
          <p:spPr bwMode="auto">
            <a:xfrm flipH="1">
              <a:off x="11310" y="10074"/>
              <a:ext cx="264" cy="8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20" name="Line 20"/>
            <p:cNvSpPr>
              <a:spLocks noChangeShapeType="1"/>
            </p:cNvSpPr>
            <p:nvPr/>
          </p:nvSpPr>
          <p:spPr bwMode="auto">
            <a:xfrm>
              <a:off x="11310" y="10159"/>
              <a:ext cx="0" cy="34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21" name="Text Box 19"/>
            <p:cNvSpPr txBox="1">
              <a:spLocks noChangeArrowheads="1"/>
            </p:cNvSpPr>
            <p:nvPr/>
          </p:nvSpPr>
          <p:spPr bwMode="auto">
            <a:xfrm>
              <a:off x="8730" y="8506"/>
              <a:ext cx="1058" cy="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200">
                  <a:latin typeface="Arial" panose="020B0604020202020204" pitchFamily="34" charset="0"/>
                  <a:cs typeface="Times New Roman" panose="02020603050405020304" pitchFamily="18" charset="0"/>
                </a:rPr>
                <a:t>5v</a:t>
              </a:r>
              <a:endParaRPr lang="en-US" altLang="en-US">
                <a:latin typeface="Arial" panose="020B0604020202020204" pitchFamily="34" charset="0"/>
              </a:endParaRPr>
            </a:p>
          </p:txBody>
        </p:sp>
        <p:sp>
          <p:nvSpPr>
            <p:cNvPr id="29722" name="Line 18"/>
            <p:cNvSpPr>
              <a:spLocks noChangeShapeType="1"/>
            </p:cNvSpPr>
            <p:nvPr/>
          </p:nvSpPr>
          <p:spPr bwMode="auto">
            <a:xfrm flipH="1">
              <a:off x="9590" y="8958"/>
              <a:ext cx="172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23" name="Line 17"/>
            <p:cNvSpPr>
              <a:spLocks noChangeShapeType="1"/>
            </p:cNvSpPr>
            <p:nvPr/>
          </p:nvSpPr>
          <p:spPr bwMode="auto">
            <a:xfrm flipH="1">
              <a:off x="9524" y="11602"/>
              <a:ext cx="178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24" name="Line 16"/>
            <p:cNvSpPr>
              <a:spLocks noChangeShapeType="1"/>
            </p:cNvSpPr>
            <p:nvPr/>
          </p:nvSpPr>
          <p:spPr bwMode="auto">
            <a:xfrm>
              <a:off x="11310" y="10441"/>
              <a:ext cx="0" cy="1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25" name="Oval 15"/>
            <p:cNvSpPr>
              <a:spLocks noChangeArrowheads="1"/>
            </p:cNvSpPr>
            <p:nvPr/>
          </p:nvSpPr>
          <p:spPr bwMode="auto">
            <a:xfrm>
              <a:off x="11243" y="10635"/>
              <a:ext cx="133" cy="129"/>
            </a:xfrm>
            <a:prstGeom prst="ellipse">
              <a:avLst/>
            </a:prstGeom>
            <a:solidFill>
              <a:srgbClr val="FFFFFF"/>
            </a:solidFill>
            <a:ln w="9525">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29726" name="Oval 14"/>
            <p:cNvSpPr>
              <a:spLocks noChangeArrowheads="1"/>
            </p:cNvSpPr>
            <p:nvPr/>
          </p:nvSpPr>
          <p:spPr bwMode="auto">
            <a:xfrm>
              <a:off x="11243" y="11215"/>
              <a:ext cx="133" cy="129"/>
            </a:xfrm>
            <a:prstGeom prst="ellipse">
              <a:avLst/>
            </a:prstGeom>
            <a:solidFill>
              <a:srgbClr val="FFFFFF"/>
            </a:solidFill>
            <a:ln w="9525">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grpSp>
          <p:nvGrpSpPr>
            <p:cNvPr id="29727" name="Group 11"/>
            <p:cNvGrpSpPr>
              <a:grpSpLocks/>
            </p:cNvGrpSpPr>
            <p:nvPr/>
          </p:nvGrpSpPr>
          <p:grpSpPr bwMode="auto">
            <a:xfrm>
              <a:off x="12368" y="10569"/>
              <a:ext cx="331" cy="903"/>
              <a:chOff x="13294" y="10377"/>
              <a:chExt cx="331" cy="903"/>
            </a:xfrm>
          </p:grpSpPr>
          <p:sp>
            <p:nvSpPr>
              <p:cNvPr id="29735" name="Arc 13"/>
              <p:cNvSpPr>
                <a:spLocks/>
              </p:cNvSpPr>
              <p:nvPr/>
            </p:nvSpPr>
            <p:spPr bwMode="auto">
              <a:xfrm>
                <a:off x="13426" y="10378"/>
                <a:ext cx="199" cy="900"/>
              </a:xfrm>
              <a:custGeom>
                <a:avLst/>
                <a:gdLst>
                  <a:gd name="T0" fmla="*/ 0 w 21600"/>
                  <a:gd name="T1" fmla="*/ 0 h 43089"/>
                  <a:gd name="T2" fmla="*/ 20 w 21600"/>
                  <a:gd name="T3" fmla="*/ 900 h 43089"/>
                  <a:gd name="T4" fmla="*/ 0 w 21600"/>
                  <a:gd name="T5" fmla="*/ 451 h 43089"/>
                  <a:gd name="T6" fmla="*/ 0 60000 65536"/>
                  <a:gd name="T7" fmla="*/ 0 60000 65536"/>
                  <a:gd name="T8" fmla="*/ 0 60000 65536"/>
                  <a:gd name="T9" fmla="*/ 0 w 21600"/>
                  <a:gd name="T10" fmla="*/ 0 h 43089"/>
                  <a:gd name="T11" fmla="*/ 21600 w 21600"/>
                  <a:gd name="T12" fmla="*/ 43089 h 43089"/>
                </a:gdLst>
                <a:ahLst/>
                <a:cxnLst>
                  <a:cxn ang="T6">
                    <a:pos x="T0" y="T1"/>
                  </a:cxn>
                  <a:cxn ang="T7">
                    <a:pos x="T2" y="T3"/>
                  </a:cxn>
                  <a:cxn ang="T8">
                    <a:pos x="T4" y="T5"/>
                  </a:cxn>
                </a:cxnLst>
                <a:rect l="T9" t="T10" r="T11" b="T12"/>
                <a:pathLst>
                  <a:path w="21600" h="43089" fill="none" extrusionOk="0">
                    <a:moveTo>
                      <a:pt x="-1" y="0"/>
                    </a:moveTo>
                    <a:cubicBezTo>
                      <a:pt x="11929" y="0"/>
                      <a:pt x="21600" y="9670"/>
                      <a:pt x="21600" y="21600"/>
                    </a:cubicBezTo>
                    <a:cubicBezTo>
                      <a:pt x="21600" y="32683"/>
                      <a:pt x="13211" y="41968"/>
                      <a:pt x="2185" y="43089"/>
                    </a:cubicBezTo>
                  </a:path>
                  <a:path w="21600" h="43089" stroke="0" extrusionOk="0">
                    <a:moveTo>
                      <a:pt x="-1" y="0"/>
                    </a:moveTo>
                    <a:cubicBezTo>
                      <a:pt x="11929" y="0"/>
                      <a:pt x="21600" y="9670"/>
                      <a:pt x="21600" y="21600"/>
                    </a:cubicBezTo>
                    <a:cubicBezTo>
                      <a:pt x="21600" y="32683"/>
                      <a:pt x="13211" y="41968"/>
                      <a:pt x="2185" y="43089"/>
                    </a:cubicBezTo>
                    <a:lnTo>
                      <a:pt x="0" y="2160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736" name="Freeform 12"/>
              <p:cNvSpPr>
                <a:spLocks/>
              </p:cNvSpPr>
              <p:nvPr/>
            </p:nvSpPr>
            <p:spPr bwMode="auto">
              <a:xfrm>
                <a:off x="13294" y="10377"/>
                <a:ext cx="132" cy="903"/>
              </a:xfrm>
              <a:custGeom>
                <a:avLst/>
                <a:gdLst>
                  <a:gd name="T0" fmla="*/ 86 w 86"/>
                  <a:gd name="T1" fmla="*/ 0 h 602"/>
                  <a:gd name="T2" fmla="*/ 0 w 86"/>
                  <a:gd name="T3" fmla="*/ 0 h 602"/>
                  <a:gd name="T4" fmla="*/ 0 w 86"/>
                  <a:gd name="T5" fmla="*/ 602 h 602"/>
                  <a:gd name="T6" fmla="*/ 86 w 86"/>
                  <a:gd name="T7" fmla="*/ 602 h 602"/>
                  <a:gd name="T8" fmla="*/ 0 60000 65536"/>
                  <a:gd name="T9" fmla="*/ 0 60000 65536"/>
                  <a:gd name="T10" fmla="*/ 0 60000 65536"/>
                  <a:gd name="T11" fmla="*/ 0 60000 65536"/>
                  <a:gd name="T12" fmla="*/ 0 w 86"/>
                  <a:gd name="T13" fmla="*/ 0 h 602"/>
                  <a:gd name="T14" fmla="*/ 86 w 86"/>
                  <a:gd name="T15" fmla="*/ 602 h 602"/>
                </a:gdLst>
                <a:ahLst/>
                <a:cxnLst>
                  <a:cxn ang="T8">
                    <a:pos x="T0" y="T1"/>
                  </a:cxn>
                  <a:cxn ang="T9">
                    <a:pos x="T2" y="T3"/>
                  </a:cxn>
                  <a:cxn ang="T10">
                    <a:pos x="T4" y="T5"/>
                  </a:cxn>
                  <a:cxn ang="T11">
                    <a:pos x="T6" y="T7"/>
                  </a:cxn>
                </a:cxnLst>
                <a:rect l="T12" t="T13" r="T14" b="T15"/>
                <a:pathLst>
                  <a:path w="86" h="602">
                    <a:moveTo>
                      <a:pt x="86" y="0"/>
                    </a:moveTo>
                    <a:lnTo>
                      <a:pt x="0" y="0"/>
                    </a:lnTo>
                    <a:lnTo>
                      <a:pt x="0" y="602"/>
                    </a:lnTo>
                    <a:lnTo>
                      <a:pt x="86" y="602"/>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9728" name="Rectangle 10"/>
            <p:cNvSpPr>
              <a:spLocks noChangeArrowheads="1"/>
            </p:cNvSpPr>
            <p:nvPr/>
          </p:nvSpPr>
          <p:spPr bwMode="auto">
            <a:xfrm>
              <a:off x="11707" y="10569"/>
              <a:ext cx="131" cy="968"/>
            </a:xfrm>
            <a:prstGeom prst="rect">
              <a:avLst/>
            </a:prstGeom>
            <a:solidFill>
              <a:srgbClr val="FFFFFF"/>
            </a:solidFill>
            <a:ln w="9525">
              <a:solidFill>
                <a:srgbClr val="000000"/>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29729" name="Rectangle 9"/>
            <p:cNvSpPr>
              <a:spLocks noChangeArrowheads="1"/>
            </p:cNvSpPr>
            <p:nvPr/>
          </p:nvSpPr>
          <p:spPr bwMode="auto">
            <a:xfrm>
              <a:off x="11838" y="10700"/>
              <a:ext cx="530" cy="580"/>
            </a:xfrm>
            <a:prstGeom prst="rect">
              <a:avLst/>
            </a:prstGeom>
            <a:solidFill>
              <a:srgbClr val="FFFFFF"/>
            </a:solidFill>
            <a:ln w="9525">
              <a:solidFill>
                <a:srgbClr val="000000"/>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29730" name="Line 8"/>
            <p:cNvSpPr>
              <a:spLocks noChangeShapeType="1"/>
            </p:cNvSpPr>
            <p:nvPr/>
          </p:nvSpPr>
          <p:spPr bwMode="auto">
            <a:xfrm flipH="1">
              <a:off x="12699" y="11022"/>
              <a:ext cx="529"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9731" name="Line 7"/>
            <p:cNvSpPr>
              <a:spLocks noChangeShapeType="1"/>
            </p:cNvSpPr>
            <p:nvPr/>
          </p:nvSpPr>
          <p:spPr bwMode="auto">
            <a:xfrm flipH="1">
              <a:off x="9524" y="10377"/>
              <a:ext cx="1786"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32" name="Text Box 6"/>
            <p:cNvSpPr txBox="1">
              <a:spLocks noChangeArrowheads="1"/>
            </p:cNvSpPr>
            <p:nvPr/>
          </p:nvSpPr>
          <p:spPr bwMode="auto">
            <a:xfrm>
              <a:off x="7076" y="8635"/>
              <a:ext cx="1985" cy="1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200">
                  <a:latin typeface="Arial" panose="020B0604020202020204" pitchFamily="34" charset="0"/>
                  <a:cs typeface="Times New Roman" panose="02020603050405020304" pitchFamily="18" charset="0"/>
                </a:rPr>
                <a:t>VEX</a:t>
              </a:r>
              <a:endParaRPr lang="en-US" altLang="en-US" sz="1100">
                <a:latin typeface="Arial" panose="020B0604020202020204" pitchFamily="34" charset="0"/>
              </a:endParaRPr>
            </a:p>
            <a:p>
              <a:pPr eaLnBrk="0" hangingPunct="0"/>
              <a:r>
                <a:rPr lang="en-US" altLang="en-US" sz="1200">
                  <a:latin typeface="Arial" panose="020B0604020202020204" pitchFamily="34" charset="0"/>
                  <a:cs typeface="Times New Roman" panose="02020603050405020304" pitchFamily="18" charset="0"/>
                </a:rPr>
                <a:t>Digital</a:t>
              </a:r>
              <a:endParaRPr lang="en-US" altLang="en-US" sz="1100">
                <a:latin typeface="Arial" panose="020B0604020202020204" pitchFamily="34" charset="0"/>
              </a:endParaRPr>
            </a:p>
            <a:p>
              <a:pPr eaLnBrk="0" hangingPunct="0"/>
              <a:r>
                <a:rPr lang="en-US" altLang="en-US" sz="1200">
                  <a:latin typeface="Arial" panose="020B0604020202020204" pitchFamily="34" charset="0"/>
                  <a:cs typeface="Times New Roman" panose="02020603050405020304" pitchFamily="18" charset="0"/>
                </a:rPr>
                <a:t>IO Port</a:t>
              </a:r>
              <a:endParaRPr lang="en-US" altLang="en-US">
                <a:latin typeface="Arial" panose="020B0604020202020204" pitchFamily="34" charset="0"/>
              </a:endParaRPr>
            </a:p>
          </p:txBody>
        </p:sp>
        <p:sp>
          <p:nvSpPr>
            <p:cNvPr id="29733" name="Text Box 5"/>
            <p:cNvSpPr txBox="1">
              <a:spLocks noChangeArrowheads="1"/>
            </p:cNvSpPr>
            <p:nvPr/>
          </p:nvSpPr>
          <p:spPr bwMode="auto">
            <a:xfrm>
              <a:off x="8664" y="11280"/>
              <a:ext cx="1058" cy="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200">
                  <a:latin typeface="Arial" panose="020B0604020202020204" pitchFamily="34" charset="0"/>
                  <a:cs typeface="Times New Roman" panose="02020603050405020304" pitchFamily="18" charset="0"/>
                </a:rPr>
                <a:t>0v</a:t>
              </a:r>
              <a:endParaRPr lang="en-US" altLang="en-US">
                <a:latin typeface="Arial" panose="020B0604020202020204" pitchFamily="34" charset="0"/>
              </a:endParaRPr>
            </a:p>
          </p:txBody>
        </p:sp>
        <p:sp>
          <p:nvSpPr>
            <p:cNvPr id="29734" name="Text Box 4"/>
            <p:cNvSpPr txBox="1">
              <a:spLocks noChangeArrowheads="1"/>
            </p:cNvSpPr>
            <p:nvPr/>
          </p:nvSpPr>
          <p:spPr bwMode="auto">
            <a:xfrm>
              <a:off x="8399" y="10055"/>
              <a:ext cx="1852" cy="1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200">
                  <a:latin typeface="Arial" panose="020B0604020202020204" pitchFamily="34" charset="0"/>
                  <a:cs typeface="Times New Roman" panose="02020603050405020304" pitchFamily="18" charset="0"/>
                </a:rPr>
                <a:t>Input</a:t>
              </a:r>
              <a:endParaRPr lang="en-US" altLang="en-US">
                <a:latin typeface="Arial" panose="020B0604020202020204" pitchFamily="34" charset="0"/>
              </a:endParaRPr>
            </a:p>
          </p:txBody>
        </p:sp>
      </p:grpSp>
    </p:spTree>
    <p:extLst>
      <p:ext uri="{BB962C8B-B14F-4D97-AF65-F5344CB8AC3E}">
        <p14:creationId xmlns:p14="http://schemas.microsoft.com/office/powerpoint/2010/main" val="351357827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1" name="Picture 2" descr="VEX Limit Switch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609600"/>
            <a:ext cx="2895600"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2" name="Rectangle 3"/>
          <p:cNvSpPr>
            <a:spLocks noChangeArrowheads="1"/>
          </p:cNvSpPr>
          <p:nvPr/>
        </p:nvSpPr>
        <p:spPr bwMode="auto">
          <a:xfrm>
            <a:off x="3810000" y="533400"/>
            <a:ext cx="647700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14350" indent="-514350">
              <a:defRPr>
                <a:solidFill>
                  <a:schemeClr val="tx1"/>
                </a:solidFill>
                <a:latin typeface="Calibri" panose="020F0502020204030204" pitchFamily="34" charset="0"/>
              </a:defRPr>
            </a:lvl1pPr>
            <a:lvl2pPr marL="971550" indent="-5143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buFontTx/>
              <a:buAutoNum type="alphaUcPeriod" startAt="4"/>
            </a:pPr>
            <a:r>
              <a:rPr lang="en-US" altLang="en-US" sz="2800" b="1" u="sng"/>
              <a:t>The limit switch  </a:t>
            </a:r>
            <a:r>
              <a:rPr lang="en-US" altLang="en-US" sz="2000" b="1" u="sng"/>
              <a:t>(similar to Bumper SW)</a:t>
            </a:r>
          </a:p>
          <a:p>
            <a:pPr lvl="1">
              <a:buFont typeface="Arial" panose="020B0604020202020204" pitchFamily="34" charset="0"/>
              <a:buChar char="•"/>
            </a:pPr>
            <a:r>
              <a:rPr lang="en-US" altLang="en-US" sz="2400"/>
              <a:t>The limit switch  is a digital sensor.</a:t>
            </a:r>
          </a:p>
          <a:p>
            <a:pPr lvl="1">
              <a:buFont typeface="Arial" panose="020B0604020202020204" pitchFamily="34" charset="0"/>
              <a:buChar char="•"/>
            </a:pPr>
            <a:r>
              <a:rPr lang="en-US" altLang="en-US" sz="2400"/>
              <a:t> It can tell the robot whether the sensor’s metal arm is being pushed down or not.</a:t>
            </a:r>
          </a:p>
          <a:p>
            <a:pPr>
              <a:buFontTx/>
              <a:buAutoNum type="alphaUcPeriod" startAt="4"/>
            </a:pPr>
            <a:endParaRPr lang="en-US" altLang="en-US" sz="2000"/>
          </a:p>
        </p:txBody>
      </p:sp>
      <p:sp>
        <p:nvSpPr>
          <p:cNvPr id="30723" name="Rectangle 4"/>
          <p:cNvSpPr>
            <a:spLocks noChangeArrowheads="1"/>
          </p:cNvSpPr>
          <p:nvPr/>
        </p:nvSpPr>
        <p:spPr bwMode="auto">
          <a:xfrm>
            <a:off x="4473576" y="1"/>
            <a:ext cx="61944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400" u="sng"/>
              <a:t>Robotic Component Functional Summary (cont.)</a:t>
            </a:r>
          </a:p>
        </p:txBody>
      </p:sp>
      <p:pic>
        <p:nvPicPr>
          <p:cNvPr id="3072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8600" y="2743200"/>
            <a:ext cx="58928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5" name="TextBox 6"/>
          <p:cNvSpPr txBox="1">
            <a:spLocks noChangeArrowheads="1"/>
          </p:cNvSpPr>
          <p:nvPr/>
        </p:nvSpPr>
        <p:spPr bwMode="auto">
          <a:xfrm>
            <a:off x="1524000" y="3886200"/>
            <a:ext cx="9144000" cy="258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800100" indent="-34290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lvl="1">
              <a:buFont typeface="Arial" panose="020B0604020202020204" pitchFamily="34" charset="0"/>
              <a:buChar char="•"/>
            </a:pPr>
            <a:r>
              <a:rPr lang="en-US" altLang="en-US" sz="2400"/>
              <a:t>When the limit switch is not being pushed in, the sensor maintains a digital HIGH signal on its sensor port. (1 or 5v.)</a:t>
            </a:r>
          </a:p>
          <a:p>
            <a:pPr lvl="1"/>
            <a:endParaRPr lang="en-US" altLang="en-US" sz="2400"/>
          </a:p>
          <a:p>
            <a:pPr lvl="1">
              <a:buFont typeface="Arial" panose="020B0604020202020204" pitchFamily="34" charset="0"/>
              <a:buChar char="•"/>
            </a:pPr>
            <a:r>
              <a:rPr lang="en-US" altLang="en-US" sz="2400"/>
              <a:t> When an external force (like a collision or being pressed up against a wall) pushes the switch in, it changes its signal to a digital LOW until the limit switch is released. (0 or 0v.)</a:t>
            </a:r>
          </a:p>
          <a:p>
            <a:endParaRPr lang="en-US" altLang="en-US"/>
          </a:p>
        </p:txBody>
      </p:sp>
      <p:sp>
        <p:nvSpPr>
          <p:cNvPr id="30726" name="TextBox 7"/>
          <p:cNvSpPr txBox="1">
            <a:spLocks noChangeArrowheads="1"/>
          </p:cNvSpPr>
          <p:nvPr/>
        </p:nvSpPr>
        <p:spPr bwMode="auto">
          <a:xfrm>
            <a:off x="4876801" y="2209801"/>
            <a:ext cx="51276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400"/>
              <a:t>SWR Command: </a:t>
            </a:r>
            <a:r>
              <a:rPr lang="en-US" altLang="en-US" sz="2400" b="1"/>
              <a:t>GetDigitalInput[Port#]</a:t>
            </a:r>
          </a:p>
        </p:txBody>
      </p:sp>
      <p:sp>
        <p:nvSpPr>
          <p:cNvPr id="9" name="Slide Number Placeholder 8"/>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E7AD790F-A640-4EB3-A4F9-26F64C0105E3}" type="slidenum">
              <a:rPr lang="en-US" altLang="en-US">
                <a:solidFill>
                  <a:srgbClr val="898989"/>
                </a:solidFill>
              </a:rPr>
              <a:pPr/>
              <a:t>17</a:t>
            </a:fld>
            <a:endParaRPr lang="en-US" altLang="en-US">
              <a:solidFill>
                <a:srgbClr val="898989"/>
              </a:solidFill>
            </a:endParaRPr>
          </a:p>
        </p:txBody>
      </p:sp>
    </p:spTree>
    <p:extLst>
      <p:ext uri="{BB962C8B-B14F-4D97-AF65-F5344CB8AC3E}">
        <p14:creationId xmlns:p14="http://schemas.microsoft.com/office/powerpoint/2010/main" val="80966741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899FAD51-5902-46DF-84A1-7882C612D3E9}" type="slidenum">
              <a:rPr lang="en-US" altLang="en-US">
                <a:solidFill>
                  <a:srgbClr val="898989"/>
                </a:solidFill>
              </a:rPr>
              <a:pPr/>
              <a:t>18</a:t>
            </a:fld>
            <a:endParaRPr lang="en-US" altLang="en-US">
              <a:solidFill>
                <a:srgbClr val="898989"/>
              </a:solidFill>
            </a:endParaRPr>
          </a:p>
        </p:txBody>
      </p:sp>
      <p:sp>
        <p:nvSpPr>
          <p:cNvPr id="31746" name="Rectangle 33"/>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grpSp>
        <p:nvGrpSpPr>
          <p:cNvPr id="31747" name="Group 1"/>
          <p:cNvGrpSpPr>
            <a:grpSpLocks noChangeAspect="1"/>
          </p:cNvGrpSpPr>
          <p:nvPr/>
        </p:nvGrpSpPr>
        <p:grpSpPr bwMode="auto">
          <a:xfrm>
            <a:off x="3984626" y="1565276"/>
            <a:ext cx="3940175" cy="2092325"/>
            <a:chOff x="6084" y="8184"/>
            <a:chExt cx="7475" cy="3870"/>
          </a:xfrm>
        </p:grpSpPr>
        <p:sp>
          <p:nvSpPr>
            <p:cNvPr id="31751" name="AutoShape 32"/>
            <p:cNvSpPr>
              <a:spLocks noChangeAspect="1" noChangeArrowheads="1" noTextEdit="1"/>
            </p:cNvSpPr>
            <p:nvPr/>
          </p:nvSpPr>
          <p:spPr bwMode="auto">
            <a:xfrm>
              <a:off x="6084" y="8184"/>
              <a:ext cx="7475" cy="38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31752" name="Rectangle 31"/>
            <p:cNvSpPr>
              <a:spLocks noChangeArrowheads="1"/>
            </p:cNvSpPr>
            <p:nvPr/>
          </p:nvSpPr>
          <p:spPr bwMode="auto">
            <a:xfrm>
              <a:off x="7076" y="8377"/>
              <a:ext cx="2448" cy="3483"/>
            </a:xfrm>
            <a:prstGeom prst="rect">
              <a:avLst/>
            </a:prstGeom>
            <a:solidFill>
              <a:srgbClr val="FFFFFF"/>
            </a:solidFill>
            <a:ln w="9525">
              <a:solidFill>
                <a:srgbClr val="000000"/>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31753" name="Line 30"/>
            <p:cNvSpPr>
              <a:spLocks noChangeShapeType="1"/>
            </p:cNvSpPr>
            <p:nvPr/>
          </p:nvSpPr>
          <p:spPr bwMode="auto">
            <a:xfrm flipH="1">
              <a:off x="11310" y="11280"/>
              <a:ext cx="3" cy="28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54" name="Line 29"/>
            <p:cNvSpPr>
              <a:spLocks noChangeShapeType="1"/>
            </p:cNvSpPr>
            <p:nvPr/>
          </p:nvSpPr>
          <p:spPr bwMode="auto">
            <a:xfrm>
              <a:off x="11310" y="8958"/>
              <a:ext cx="1" cy="34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55" name="Line 28"/>
            <p:cNvSpPr>
              <a:spLocks noChangeShapeType="1"/>
            </p:cNvSpPr>
            <p:nvPr/>
          </p:nvSpPr>
          <p:spPr bwMode="auto">
            <a:xfrm>
              <a:off x="11310" y="9304"/>
              <a:ext cx="264" cy="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56" name="Line 27"/>
            <p:cNvSpPr>
              <a:spLocks noChangeShapeType="1"/>
            </p:cNvSpPr>
            <p:nvPr/>
          </p:nvSpPr>
          <p:spPr bwMode="auto">
            <a:xfrm flipH="1">
              <a:off x="11045" y="9391"/>
              <a:ext cx="529" cy="8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57" name="Line 26"/>
            <p:cNvSpPr>
              <a:spLocks noChangeShapeType="1"/>
            </p:cNvSpPr>
            <p:nvPr/>
          </p:nvSpPr>
          <p:spPr bwMode="auto">
            <a:xfrm>
              <a:off x="11045" y="9456"/>
              <a:ext cx="529" cy="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58" name="Line 25"/>
            <p:cNvSpPr>
              <a:spLocks noChangeShapeType="1"/>
            </p:cNvSpPr>
            <p:nvPr/>
          </p:nvSpPr>
          <p:spPr bwMode="auto">
            <a:xfrm flipH="1">
              <a:off x="11045" y="9544"/>
              <a:ext cx="529" cy="8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59" name="Line 24"/>
            <p:cNvSpPr>
              <a:spLocks noChangeShapeType="1"/>
            </p:cNvSpPr>
            <p:nvPr/>
          </p:nvSpPr>
          <p:spPr bwMode="auto">
            <a:xfrm>
              <a:off x="11045" y="9630"/>
              <a:ext cx="529" cy="8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60" name="Line 23"/>
            <p:cNvSpPr>
              <a:spLocks noChangeShapeType="1"/>
            </p:cNvSpPr>
            <p:nvPr/>
          </p:nvSpPr>
          <p:spPr bwMode="auto">
            <a:xfrm flipH="1">
              <a:off x="11045" y="9715"/>
              <a:ext cx="529" cy="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61" name="Line 22"/>
            <p:cNvSpPr>
              <a:spLocks noChangeShapeType="1"/>
            </p:cNvSpPr>
            <p:nvPr/>
          </p:nvSpPr>
          <p:spPr bwMode="auto">
            <a:xfrm>
              <a:off x="11045" y="9804"/>
              <a:ext cx="529" cy="8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62" name="Line 21"/>
            <p:cNvSpPr>
              <a:spLocks noChangeShapeType="1"/>
            </p:cNvSpPr>
            <p:nvPr/>
          </p:nvSpPr>
          <p:spPr bwMode="auto">
            <a:xfrm flipH="1">
              <a:off x="11045" y="9900"/>
              <a:ext cx="529" cy="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63" name="Line 20"/>
            <p:cNvSpPr>
              <a:spLocks noChangeShapeType="1"/>
            </p:cNvSpPr>
            <p:nvPr/>
          </p:nvSpPr>
          <p:spPr bwMode="auto">
            <a:xfrm>
              <a:off x="11045" y="9987"/>
              <a:ext cx="529" cy="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64" name="Line 19"/>
            <p:cNvSpPr>
              <a:spLocks noChangeShapeType="1"/>
            </p:cNvSpPr>
            <p:nvPr/>
          </p:nvSpPr>
          <p:spPr bwMode="auto">
            <a:xfrm flipH="1">
              <a:off x="11310" y="10074"/>
              <a:ext cx="264" cy="8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65" name="Line 18"/>
            <p:cNvSpPr>
              <a:spLocks noChangeShapeType="1"/>
            </p:cNvSpPr>
            <p:nvPr/>
          </p:nvSpPr>
          <p:spPr bwMode="auto">
            <a:xfrm>
              <a:off x="11310" y="10159"/>
              <a:ext cx="0" cy="34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66" name="Text Box 17"/>
            <p:cNvSpPr txBox="1">
              <a:spLocks noChangeArrowheads="1"/>
            </p:cNvSpPr>
            <p:nvPr/>
          </p:nvSpPr>
          <p:spPr bwMode="auto">
            <a:xfrm>
              <a:off x="8730" y="8506"/>
              <a:ext cx="1058" cy="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200">
                  <a:latin typeface="Arial" panose="020B0604020202020204" pitchFamily="34" charset="0"/>
                  <a:cs typeface="Times New Roman" panose="02020603050405020304" pitchFamily="18" charset="0"/>
                </a:rPr>
                <a:t>5v</a:t>
              </a:r>
              <a:endParaRPr lang="en-US" altLang="en-US">
                <a:latin typeface="Arial" panose="020B0604020202020204" pitchFamily="34" charset="0"/>
              </a:endParaRPr>
            </a:p>
          </p:txBody>
        </p:sp>
        <p:sp>
          <p:nvSpPr>
            <p:cNvPr id="31767" name="Line 16"/>
            <p:cNvSpPr>
              <a:spLocks noChangeShapeType="1"/>
            </p:cNvSpPr>
            <p:nvPr/>
          </p:nvSpPr>
          <p:spPr bwMode="auto">
            <a:xfrm flipH="1">
              <a:off x="9590" y="8958"/>
              <a:ext cx="172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68" name="Line 15"/>
            <p:cNvSpPr>
              <a:spLocks noChangeShapeType="1"/>
            </p:cNvSpPr>
            <p:nvPr/>
          </p:nvSpPr>
          <p:spPr bwMode="auto">
            <a:xfrm flipH="1">
              <a:off x="9524" y="11602"/>
              <a:ext cx="178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69" name="Line 14"/>
            <p:cNvSpPr>
              <a:spLocks noChangeShapeType="1"/>
            </p:cNvSpPr>
            <p:nvPr/>
          </p:nvSpPr>
          <p:spPr bwMode="auto">
            <a:xfrm>
              <a:off x="11310" y="10441"/>
              <a:ext cx="0" cy="1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70" name="Oval 13"/>
            <p:cNvSpPr>
              <a:spLocks noChangeArrowheads="1"/>
            </p:cNvSpPr>
            <p:nvPr/>
          </p:nvSpPr>
          <p:spPr bwMode="auto">
            <a:xfrm>
              <a:off x="11243" y="10635"/>
              <a:ext cx="133" cy="129"/>
            </a:xfrm>
            <a:prstGeom prst="ellipse">
              <a:avLst/>
            </a:prstGeom>
            <a:solidFill>
              <a:srgbClr val="FFFFFF"/>
            </a:solidFill>
            <a:ln w="9525">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31771" name="Oval 12"/>
            <p:cNvSpPr>
              <a:spLocks noChangeArrowheads="1"/>
            </p:cNvSpPr>
            <p:nvPr/>
          </p:nvSpPr>
          <p:spPr bwMode="auto">
            <a:xfrm>
              <a:off x="11243" y="11215"/>
              <a:ext cx="133" cy="129"/>
            </a:xfrm>
            <a:prstGeom prst="ellipse">
              <a:avLst/>
            </a:prstGeom>
            <a:solidFill>
              <a:srgbClr val="FFFFFF"/>
            </a:solidFill>
            <a:ln w="9525">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grpSp>
          <p:nvGrpSpPr>
            <p:cNvPr id="31772" name="Group 9"/>
            <p:cNvGrpSpPr>
              <a:grpSpLocks/>
            </p:cNvGrpSpPr>
            <p:nvPr/>
          </p:nvGrpSpPr>
          <p:grpSpPr bwMode="auto">
            <a:xfrm>
              <a:off x="12038" y="10571"/>
              <a:ext cx="330" cy="903"/>
              <a:chOff x="13294" y="10377"/>
              <a:chExt cx="331" cy="903"/>
            </a:xfrm>
          </p:grpSpPr>
          <p:sp>
            <p:nvSpPr>
              <p:cNvPr id="31780" name="Arc 11"/>
              <p:cNvSpPr>
                <a:spLocks/>
              </p:cNvSpPr>
              <p:nvPr/>
            </p:nvSpPr>
            <p:spPr bwMode="auto">
              <a:xfrm>
                <a:off x="13426" y="10378"/>
                <a:ext cx="199" cy="900"/>
              </a:xfrm>
              <a:custGeom>
                <a:avLst/>
                <a:gdLst>
                  <a:gd name="T0" fmla="*/ 0 w 21600"/>
                  <a:gd name="T1" fmla="*/ 0 h 43089"/>
                  <a:gd name="T2" fmla="*/ 20 w 21600"/>
                  <a:gd name="T3" fmla="*/ 900 h 43089"/>
                  <a:gd name="T4" fmla="*/ 0 w 21600"/>
                  <a:gd name="T5" fmla="*/ 451 h 43089"/>
                  <a:gd name="T6" fmla="*/ 0 60000 65536"/>
                  <a:gd name="T7" fmla="*/ 0 60000 65536"/>
                  <a:gd name="T8" fmla="*/ 0 60000 65536"/>
                  <a:gd name="T9" fmla="*/ 0 w 21600"/>
                  <a:gd name="T10" fmla="*/ 0 h 43089"/>
                  <a:gd name="T11" fmla="*/ 21600 w 21600"/>
                  <a:gd name="T12" fmla="*/ 43089 h 43089"/>
                </a:gdLst>
                <a:ahLst/>
                <a:cxnLst>
                  <a:cxn ang="T6">
                    <a:pos x="T0" y="T1"/>
                  </a:cxn>
                  <a:cxn ang="T7">
                    <a:pos x="T2" y="T3"/>
                  </a:cxn>
                  <a:cxn ang="T8">
                    <a:pos x="T4" y="T5"/>
                  </a:cxn>
                </a:cxnLst>
                <a:rect l="T9" t="T10" r="T11" b="T12"/>
                <a:pathLst>
                  <a:path w="21600" h="43089" fill="none" extrusionOk="0">
                    <a:moveTo>
                      <a:pt x="-1" y="0"/>
                    </a:moveTo>
                    <a:cubicBezTo>
                      <a:pt x="11929" y="0"/>
                      <a:pt x="21600" y="9670"/>
                      <a:pt x="21600" y="21600"/>
                    </a:cubicBezTo>
                    <a:cubicBezTo>
                      <a:pt x="21600" y="32683"/>
                      <a:pt x="13211" y="41968"/>
                      <a:pt x="2185" y="43089"/>
                    </a:cubicBezTo>
                  </a:path>
                  <a:path w="21600" h="43089" stroke="0" extrusionOk="0">
                    <a:moveTo>
                      <a:pt x="-1" y="0"/>
                    </a:moveTo>
                    <a:cubicBezTo>
                      <a:pt x="11929" y="0"/>
                      <a:pt x="21600" y="9670"/>
                      <a:pt x="21600" y="21600"/>
                    </a:cubicBezTo>
                    <a:cubicBezTo>
                      <a:pt x="21600" y="32683"/>
                      <a:pt x="13211" y="41968"/>
                      <a:pt x="2185" y="43089"/>
                    </a:cubicBezTo>
                    <a:lnTo>
                      <a:pt x="0" y="2160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1781" name="Freeform 10"/>
              <p:cNvSpPr>
                <a:spLocks/>
              </p:cNvSpPr>
              <p:nvPr/>
            </p:nvSpPr>
            <p:spPr bwMode="auto">
              <a:xfrm>
                <a:off x="13294" y="10377"/>
                <a:ext cx="132" cy="903"/>
              </a:xfrm>
              <a:custGeom>
                <a:avLst/>
                <a:gdLst>
                  <a:gd name="T0" fmla="*/ 86 w 86"/>
                  <a:gd name="T1" fmla="*/ 0 h 602"/>
                  <a:gd name="T2" fmla="*/ 0 w 86"/>
                  <a:gd name="T3" fmla="*/ 0 h 602"/>
                  <a:gd name="T4" fmla="*/ 0 w 86"/>
                  <a:gd name="T5" fmla="*/ 602 h 602"/>
                  <a:gd name="T6" fmla="*/ 86 w 86"/>
                  <a:gd name="T7" fmla="*/ 602 h 602"/>
                  <a:gd name="T8" fmla="*/ 0 60000 65536"/>
                  <a:gd name="T9" fmla="*/ 0 60000 65536"/>
                  <a:gd name="T10" fmla="*/ 0 60000 65536"/>
                  <a:gd name="T11" fmla="*/ 0 60000 65536"/>
                  <a:gd name="T12" fmla="*/ 0 w 86"/>
                  <a:gd name="T13" fmla="*/ 0 h 602"/>
                  <a:gd name="T14" fmla="*/ 86 w 86"/>
                  <a:gd name="T15" fmla="*/ 602 h 602"/>
                </a:gdLst>
                <a:ahLst/>
                <a:cxnLst>
                  <a:cxn ang="T8">
                    <a:pos x="T0" y="T1"/>
                  </a:cxn>
                  <a:cxn ang="T9">
                    <a:pos x="T2" y="T3"/>
                  </a:cxn>
                  <a:cxn ang="T10">
                    <a:pos x="T4" y="T5"/>
                  </a:cxn>
                  <a:cxn ang="T11">
                    <a:pos x="T6" y="T7"/>
                  </a:cxn>
                </a:cxnLst>
                <a:rect l="T12" t="T13" r="T14" b="T15"/>
                <a:pathLst>
                  <a:path w="86" h="602">
                    <a:moveTo>
                      <a:pt x="86" y="0"/>
                    </a:moveTo>
                    <a:lnTo>
                      <a:pt x="0" y="0"/>
                    </a:lnTo>
                    <a:lnTo>
                      <a:pt x="0" y="602"/>
                    </a:lnTo>
                    <a:lnTo>
                      <a:pt x="86" y="602"/>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31773" name="Rectangle 8"/>
            <p:cNvSpPr>
              <a:spLocks noChangeArrowheads="1"/>
            </p:cNvSpPr>
            <p:nvPr/>
          </p:nvSpPr>
          <p:spPr bwMode="auto">
            <a:xfrm>
              <a:off x="11376" y="10571"/>
              <a:ext cx="131" cy="967"/>
            </a:xfrm>
            <a:prstGeom prst="rect">
              <a:avLst/>
            </a:prstGeom>
            <a:solidFill>
              <a:srgbClr val="FFFFFF"/>
            </a:solidFill>
            <a:ln w="9525">
              <a:solidFill>
                <a:srgbClr val="000000"/>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31774" name="Rectangle 7"/>
            <p:cNvSpPr>
              <a:spLocks noChangeArrowheads="1"/>
            </p:cNvSpPr>
            <p:nvPr/>
          </p:nvSpPr>
          <p:spPr bwMode="auto">
            <a:xfrm>
              <a:off x="11507" y="10700"/>
              <a:ext cx="531" cy="580"/>
            </a:xfrm>
            <a:prstGeom prst="rect">
              <a:avLst/>
            </a:prstGeom>
            <a:solidFill>
              <a:srgbClr val="FFFFFF"/>
            </a:solidFill>
            <a:ln w="9525">
              <a:solidFill>
                <a:srgbClr val="000000"/>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31775" name="Line 6"/>
            <p:cNvSpPr>
              <a:spLocks noChangeShapeType="1"/>
            </p:cNvSpPr>
            <p:nvPr/>
          </p:nvSpPr>
          <p:spPr bwMode="auto">
            <a:xfrm flipH="1">
              <a:off x="12699" y="11022"/>
              <a:ext cx="529"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1776" name="Line 5"/>
            <p:cNvSpPr>
              <a:spLocks noChangeShapeType="1"/>
            </p:cNvSpPr>
            <p:nvPr/>
          </p:nvSpPr>
          <p:spPr bwMode="auto">
            <a:xfrm flipH="1">
              <a:off x="9524" y="10377"/>
              <a:ext cx="1786"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77" name="Text Box 4"/>
            <p:cNvSpPr txBox="1">
              <a:spLocks noChangeArrowheads="1"/>
            </p:cNvSpPr>
            <p:nvPr/>
          </p:nvSpPr>
          <p:spPr bwMode="auto">
            <a:xfrm>
              <a:off x="7076" y="8635"/>
              <a:ext cx="1985" cy="1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200">
                  <a:latin typeface="Arial" panose="020B0604020202020204" pitchFamily="34" charset="0"/>
                  <a:cs typeface="Times New Roman" panose="02020603050405020304" pitchFamily="18" charset="0"/>
                </a:rPr>
                <a:t>VEX</a:t>
              </a:r>
              <a:endParaRPr lang="en-US" altLang="en-US" sz="1100">
                <a:latin typeface="Arial" panose="020B0604020202020204" pitchFamily="34" charset="0"/>
              </a:endParaRPr>
            </a:p>
            <a:p>
              <a:pPr eaLnBrk="0" hangingPunct="0"/>
              <a:r>
                <a:rPr lang="en-US" altLang="en-US" sz="1200">
                  <a:latin typeface="Arial" panose="020B0604020202020204" pitchFamily="34" charset="0"/>
                  <a:cs typeface="Times New Roman" panose="02020603050405020304" pitchFamily="18" charset="0"/>
                </a:rPr>
                <a:t>Digital</a:t>
              </a:r>
              <a:endParaRPr lang="en-US" altLang="en-US" sz="1100">
                <a:latin typeface="Arial" panose="020B0604020202020204" pitchFamily="34" charset="0"/>
              </a:endParaRPr>
            </a:p>
            <a:p>
              <a:pPr eaLnBrk="0" hangingPunct="0"/>
              <a:r>
                <a:rPr lang="en-US" altLang="en-US" sz="1200">
                  <a:latin typeface="Arial" panose="020B0604020202020204" pitchFamily="34" charset="0"/>
                  <a:cs typeface="Times New Roman" panose="02020603050405020304" pitchFamily="18" charset="0"/>
                </a:rPr>
                <a:t>IO Port</a:t>
              </a:r>
              <a:endParaRPr lang="en-US" altLang="en-US">
                <a:latin typeface="Arial" panose="020B0604020202020204" pitchFamily="34" charset="0"/>
              </a:endParaRPr>
            </a:p>
          </p:txBody>
        </p:sp>
        <p:sp>
          <p:nvSpPr>
            <p:cNvPr id="31778" name="Text Box 3"/>
            <p:cNvSpPr txBox="1">
              <a:spLocks noChangeArrowheads="1"/>
            </p:cNvSpPr>
            <p:nvPr/>
          </p:nvSpPr>
          <p:spPr bwMode="auto">
            <a:xfrm>
              <a:off x="8664" y="11280"/>
              <a:ext cx="1058" cy="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200">
                  <a:latin typeface="Arial" panose="020B0604020202020204" pitchFamily="34" charset="0"/>
                  <a:cs typeface="Times New Roman" panose="02020603050405020304" pitchFamily="18" charset="0"/>
                </a:rPr>
                <a:t>0v</a:t>
              </a:r>
              <a:endParaRPr lang="en-US" altLang="en-US">
                <a:latin typeface="Arial" panose="020B0604020202020204" pitchFamily="34" charset="0"/>
              </a:endParaRPr>
            </a:p>
          </p:txBody>
        </p:sp>
        <p:sp>
          <p:nvSpPr>
            <p:cNvPr id="31779" name="Text Box 2"/>
            <p:cNvSpPr txBox="1">
              <a:spLocks noChangeArrowheads="1"/>
            </p:cNvSpPr>
            <p:nvPr/>
          </p:nvSpPr>
          <p:spPr bwMode="auto">
            <a:xfrm>
              <a:off x="8399" y="10055"/>
              <a:ext cx="1852" cy="1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200">
                  <a:latin typeface="Arial" panose="020B0604020202020204" pitchFamily="34" charset="0"/>
                  <a:cs typeface="Times New Roman" panose="02020603050405020304" pitchFamily="18" charset="0"/>
                </a:rPr>
                <a:t>Input</a:t>
              </a:r>
              <a:endParaRPr lang="en-US" altLang="en-US">
                <a:latin typeface="Arial" panose="020B0604020202020204" pitchFamily="34" charset="0"/>
              </a:endParaRPr>
            </a:p>
          </p:txBody>
        </p:sp>
      </p:grpSp>
      <p:sp>
        <p:nvSpPr>
          <p:cNvPr id="31748" name="TextBox 35"/>
          <p:cNvSpPr txBox="1">
            <a:spLocks noChangeArrowheads="1"/>
          </p:cNvSpPr>
          <p:nvPr/>
        </p:nvSpPr>
        <p:spPr bwMode="auto">
          <a:xfrm>
            <a:off x="2209800" y="838201"/>
            <a:ext cx="79073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800"/>
              <a:t>Q7. What is the state of the bumper input in Fig 1.?   </a:t>
            </a:r>
          </a:p>
        </p:txBody>
      </p:sp>
      <p:sp>
        <p:nvSpPr>
          <p:cNvPr id="31749" name="Rectangle 8"/>
          <p:cNvSpPr>
            <a:spLocks/>
          </p:cNvSpPr>
          <p:nvPr/>
        </p:nvSpPr>
        <p:spPr bwMode="auto">
          <a:xfrm>
            <a:off x="2819400" y="4114800"/>
            <a:ext cx="56388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0" hangingPunct="0">
              <a:spcBef>
                <a:spcPct val="20000"/>
              </a:spcBef>
              <a:buFont typeface="Arial" panose="020B0604020202020204" pitchFamily="34" charset="0"/>
              <a:buNone/>
            </a:pPr>
            <a:r>
              <a:rPr lang="en-US" altLang="en-US" sz="3200"/>
              <a:t>a.   Input =1 (or 5V).</a:t>
            </a:r>
          </a:p>
          <a:p>
            <a:pPr eaLnBrk="0" hangingPunct="0">
              <a:spcBef>
                <a:spcPct val="20000"/>
              </a:spcBef>
              <a:buFont typeface="Arial" panose="020B0604020202020204" pitchFamily="34" charset="0"/>
              <a:buNone/>
            </a:pPr>
            <a:r>
              <a:rPr lang="en-US" altLang="en-US" sz="3200"/>
              <a:t>b.   Input =0 (or 0V)</a:t>
            </a:r>
            <a:endParaRPr lang="en-US" altLang="en-US" sz="3200" u="sng"/>
          </a:p>
          <a:p>
            <a:pPr eaLnBrk="0" hangingPunct="0">
              <a:spcBef>
                <a:spcPct val="20000"/>
              </a:spcBef>
              <a:buFont typeface="Arial" panose="020B0604020202020204" pitchFamily="34" charset="0"/>
              <a:buNone/>
            </a:pPr>
            <a:endParaRPr lang="en-US" altLang="en-US" sz="2800"/>
          </a:p>
        </p:txBody>
      </p:sp>
      <p:sp>
        <p:nvSpPr>
          <p:cNvPr id="31750" name="TextBox 37"/>
          <p:cNvSpPr txBox="1">
            <a:spLocks noChangeArrowheads="1"/>
          </p:cNvSpPr>
          <p:nvPr/>
        </p:nvSpPr>
        <p:spPr bwMode="auto">
          <a:xfrm>
            <a:off x="5181600" y="3581400"/>
            <a:ext cx="7381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a:t>Fig. 1.</a:t>
            </a:r>
          </a:p>
        </p:txBody>
      </p:sp>
    </p:spTree>
    <p:extLst>
      <p:ext uri="{BB962C8B-B14F-4D97-AF65-F5344CB8AC3E}">
        <p14:creationId xmlns:p14="http://schemas.microsoft.com/office/powerpoint/2010/main" val="75974773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extBox 1"/>
          <p:cNvSpPr txBox="1">
            <a:spLocks noChangeArrowheads="1"/>
          </p:cNvSpPr>
          <p:nvPr/>
        </p:nvSpPr>
        <p:spPr bwMode="auto">
          <a:xfrm>
            <a:off x="4473576" y="1"/>
            <a:ext cx="61944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400" u="sng"/>
              <a:t>Robotic Component Functional Summary (cont.)</a:t>
            </a:r>
          </a:p>
        </p:txBody>
      </p:sp>
      <p:pic>
        <p:nvPicPr>
          <p:cNvPr id="32770" name="Picture 4" descr="VEX Ultrasonic Range Finder">
            <a:hlinkClick r:id=""/>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609600"/>
            <a:ext cx="2209800"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1" name="TextBox 6"/>
          <p:cNvSpPr txBox="1">
            <a:spLocks noChangeArrowheads="1"/>
          </p:cNvSpPr>
          <p:nvPr/>
        </p:nvSpPr>
        <p:spPr bwMode="auto">
          <a:xfrm>
            <a:off x="3733800" y="609600"/>
            <a:ext cx="6629400" cy="477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400" b="1" u="sng"/>
              <a:t>Ultrasonic range finder </a:t>
            </a:r>
          </a:p>
          <a:p>
            <a:endParaRPr lang="en-US" altLang="en-US" sz="2400" b="1" u="sng"/>
          </a:p>
          <a:p>
            <a:r>
              <a:rPr lang="en-US" altLang="en-US" sz="2400"/>
              <a:t>An ultrasonic range finder sensor enables a robot to detect obstacles in its path by utilizing the propagation of high-frequency sound waves.</a:t>
            </a:r>
          </a:p>
          <a:p>
            <a:r>
              <a:rPr lang="en-US" altLang="en-US" sz="2400"/>
              <a:t> </a:t>
            </a:r>
          </a:p>
          <a:p>
            <a:r>
              <a:rPr lang="en-US" altLang="en-US" sz="2400"/>
              <a:t>The sensor emits a  sound wave, which bounces off a reflective surface and returns to the sensor. Then, using the amount of time it takes for the wave to return to the sensor, the distance to the object can be computed.</a:t>
            </a:r>
            <a:br>
              <a:rPr lang="en-US" altLang="en-US" sz="2400"/>
            </a:br>
            <a:r>
              <a:rPr lang="en-US" altLang="en-US" sz="2000"/>
              <a:t/>
            </a:r>
            <a:br>
              <a:rPr lang="en-US" altLang="en-US" sz="2000"/>
            </a:br>
            <a:endParaRPr lang="en-US" altLang="en-US" sz="2000"/>
          </a:p>
        </p:txBody>
      </p:sp>
      <p:sp>
        <p:nvSpPr>
          <p:cNvPr id="6" name="Slide Number Placeholder 5"/>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22407CF7-AFD0-4536-8FB2-B2C8008CC552}" type="slidenum">
              <a:rPr lang="en-US" altLang="en-US">
                <a:solidFill>
                  <a:srgbClr val="898989"/>
                </a:solidFill>
              </a:rPr>
              <a:pPr/>
              <a:t>19</a:t>
            </a:fld>
            <a:endParaRPr lang="en-US" altLang="en-US">
              <a:solidFill>
                <a:srgbClr val="898989"/>
              </a:solidFill>
            </a:endParaRPr>
          </a:p>
        </p:txBody>
      </p:sp>
    </p:spTree>
    <p:extLst>
      <p:ext uri="{BB962C8B-B14F-4D97-AF65-F5344CB8AC3E}">
        <p14:creationId xmlns:p14="http://schemas.microsoft.com/office/powerpoint/2010/main" val="353628386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3" name="Picture 2" descr="VEX Light Sens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304800"/>
            <a:ext cx="2743200"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TextBox 2"/>
          <p:cNvSpPr txBox="1">
            <a:spLocks noChangeArrowheads="1"/>
          </p:cNvSpPr>
          <p:nvPr/>
        </p:nvSpPr>
        <p:spPr bwMode="auto">
          <a:xfrm>
            <a:off x="4343400" y="838201"/>
            <a:ext cx="6324600" cy="187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800" b="1" u="sng"/>
              <a:t>The light sensor</a:t>
            </a:r>
          </a:p>
          <a:p>
            <a:r>
              <a:rPr lang="en-US" altLang="en-US" sz="2400"/>
              <a:t>The light sensor uses a photocell that allows your robot to detect and react to light. </a:t>
            </a:r>
          </a:p>
          <a:p>
            <a:r>
              <a:rPr lang="en-US" altLang="en-US" sz="2000"/>
              <a:t>Analog input of light levels:</a:t>
            </a:r>
          </a:p>
          <a:p>
            <a:r>
              <a:rPr lang="en-US" altLang="en-US" sz="2000"/>
              <a:t>Find dark or bright areas.</a:t>
            </a:r>
          </a:p>
        </p:txBody>
      </p:sp>
      <p:sp>
        <p:nvSpPr>
          <p:cNvPr id="33795" name="TextBox 3"/>
          <p:cNvSpPr txBox="1">
            <a:spLocks noChangeArrowheads="1"/>
          </p:cNvSpPr>
          <p:nvPr/>
        </p:nvSpPr>
        <p:spPr bwMode="auto">
          <a:xfrm>
            <a:off x="1981200" y="2895600"/>
            <a:ext cx="8153400"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400"/>
              <a:t>It uses a photoconductive photocells which are photo resistors, meaning that their resistance value changes based on the amount of incident light.</a:t>
            </a:r>
            <a:r>
              <a:rPr lang="en-US" altLang="en-US" sz="2000"/>
              <a:t/>
            </a:r>
            <a:br>
              <a:rPr lang="en-US" altLang="en-US" sz="2000"/>
            </a:br>
            <a:r>
              <a:rPr lang="en-US" altLang="en-US"/>
              <a:t/>
            </a:r>
            <a:br>
              <a:rPr lang="en-US" altLang="en-US"/>
            </a:br>
            <a:endParaRPr lang="en-US" altLang="en-US"/>
          </a:p>
        </p:txBody>
      </p:sp>
      <p:sp>
        <p:nvSpPr>
          <p:cNvPr id="33796" name="Rectangle 4"/>
          <p:cNvSpPr>
            <a:spLocks noChangeArrowheads="1"/>
          </p:cNvSpPr>
          <p:nvPr/>
        </p:nvSpPr>
        <p:spPr bwMode="auto">
          <a:xfrm>
            <a:off x="4267201" y="228601"/>
            <a:ext cx="61944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400" u="sng"/>
              <a:t>Robotic Component Functional Summary (cont.)</a:t>
            </a:r>
          </a:p>
        </p:txBody>
      </p:sp>
      <p:sp>
        <p:nvSpPr>
          <p:cNvPr id="6" name="Slide Number Placeholder 5"/>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DC135ABE-28E1-470D-B8B5-9FDB2DB870F0}" type="slidenum">
              <a:rPr lang="en-US" altLang="en-US">
                <a:solidFill>
                  <a:srgbClr val="898989"/>
                </a:solidFill>
              </a:rPr>
              <a:pPr/>
              <a:t>20</a:t>
            </a:fld>
            <a:endParaRPr lang="en-US" altLang="en-US">
              <a:solidFill>
                <a:srgbClr val="898989"/>
              </a:solidFill>
            </a:endParaRPr>
          </a:p>
        </p:txBody>
      </p:sp>
    </p:spTree>
    <p:extLst>
      <p:ext uri="{BB962C8B-B14F-4D97-AF65-F5344CB8AC3E}">
        <p14:creationId xmlns:p14="http://schemas.microsoft.com/office/powerpoint/2010/main" val="110098237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Subtitle 2"/>
          <p:cNvSpPr txBox="1">
            <a:spLocks/>
          </p:cNvSpPr>
          <p:nvPr/>
        </p:nvSpPr>
        <p:spPr>
          <a:xfrm>
            <a:off x="1104646" y="3817180"/>
            <a:ext cx="5178582" cy="165576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just">
              <a:buFontTx/>
              <a:buChar char="-"/>
            </a:pPr>
            <a:endParaRPr lang="en-US" sz="1600" dirty="0">
              <a:latin typeface="Times New Roman" panose="02020603050405020304" pitchFamily="18" charset="0"/>
              <a:cs typeface="Times New Roman" panose="02020603050405020304" pitchFamily="18" charset="0"/>
            </a:endParaRPr>
          </a:p>
        </p:txBody>
      </p:sp>
      <p:sp>
        <p:nvSpPr>
          <p:cNvPr id="9" name="TextBox 8"/>
          <p:cNvSpPr txBox="1"/>
          <p:nvPr/>
        </p:nvSpPr>
        <p:spPr>
          <a:xfrm>
            <a:off x="7592048" y="4424926"/>
            <a:ext cx="4376174" cy="1723549"/>
          </a:xfrm>
          <a:prstGeom prst="rect">
            <a:avLst/>
          </a:prstGeom>
          <a:noFill/>
        </p:spPr>
        <p:txBody>
          <a:bodyPr wrap="square" rtlCol="0">
            <a:spAutoFit/>
          </a:bodyPr>
          <a:lstStyle/>
          <a:p>
            <a:r>
              <a:rPr lang="en-US" sz="6600" dirty="0">
                <a:latin typeface="Edwardian Script ITC" panose="030303020407070D0804" pitchFamily="66" charset="0"/>
              </a:rPr>
              <a:t>Thank You !!</a:t>
            </a:r>
          </a:p>
          <a:p>
            <a:pPr algn="ctr"/>
            <a:r>
              <a:rPr lang="en-US" sz="4000" dirty="0">
                <a:latin typeface="Edwardian Script ITC" panose="030303020407070D0804" pitchFamily="66" charset="0"/>
              </a:rPr>
              <a:t> </a:t>
            </a:r>
          </a:p>
        </p:txBody>
      </p:sp>
      <p:sp>
        <p:nvSpPr>
          <p:cNvPr id="8" name="Rectangle 7"/>
          <p:cNvSpPr/>
          <p:nvPr/>
        </p:nvSpPr>
        <p:spPr>
          <a:xfrm>
            <a:off x="9507866" y="6056142"/>
            <a:ext cx="2613761" cy="230832"/>
          </a:xfrm>
          <a:prstGeom prst="rect">
            <a:avLst/>
          </a:prstGeom>
        </p:spPr>
        <p:txBody>
          <a:bodyPr wrap="square">
            <a:spAutoFit/>
          </a:bodyPr>
          <a:lstStyle/>
          <a:p>
            <a:r>
              <a:rPr lang="en-US" sz="900" dirty="0"/>
              <a:t>https://www.youtube.com/@AmelOline/videos</a:t>
            </a:r>
          </a:p>
        </p:txBody>
      </p:sp>
      <p:sp>
        <p:nvSpPr>
          <p:cNvPr id="10" name="Rectangle 9"/>
          <p:cNvSpPr/>
          <p:nvPr/>
        </p:nvSpPr>
        <p:spPr>
          <a:xfrm>
            <a:off x="10344774" y="5917643"/>
            <a:ext cx="1623448" cy="230832"/>
          </a:xfrm>
          <a:prstGeom prst="rect">
            <a:avLst/>
          </a:prstGeom>
        </p:spPr>
        <p:txBody>
          <a:bodyPr wrap="square">
            <a:spAutoFit/>
          </a:bodyPr>
          <a:lstStyle/>
          <a:p>
            <a:r>
              <a:rPr lang="en-US" sz="900" dirty="0"/>
              <a:t>https://github.com/siagianp</a:t>
            </a:r>
          </a:p>
        </p:txBody>
      </p:sp>
      <p:sp>
        <p:nvSpPr>
          <p:cNvPr id="11" name="Rectangle 10"/>
          <p:cNvSpPr/>
          <p:nvPr/>
        </p:nvSpPr>
        <p:spPr>
          <a:xfrm>
            <a:off x="8531473" y="6194642"/>
            <a:ext cx="3667194" cy="230832"/>
          </a:xfrm>
          <a:prstGeom prst="rect">
            <a:avLst/>
          </a:prstGeom>
        </p:spPr>
        <p:txBody>
          <a:bodyPr wrap="square">
            <a:spAutoFit/>
          </a:bodyPr>
          <a:lstStyle/>
          <a:p>
            <a:r>
              <a:rPr lang="en-US" sz="900" dirty="0"/>
              <a:t>https://github.com/amelcharolinesgn2/IoT_simulator-mqtt-NodeRed</a:t>
            </a:r>
          </a:p>
        </p:txBody>
      </p:sp>
      <p:sp>
        <p:nvSpPr>
          <p:cNvPr id="12" name="Rectangle 11"/>
          <p:cNvSpPr/>
          <p:nvPr/>
        </p:nvSpPr>
        <p:spPr>
          <a:xfrm>
            <a:off x="8977163" y="6333141"/>
            <a:ext cx="3204723" cy="230832"/>
          </a:xfrm>
          <a:prstGeom prst="rect">
            <a:avLst/>
          </a:prstGeom>
        </p:spPr>
        <p:txBody>
          <a:bodyPr wrap="none">
            <a:spAutoFit/>
          </a:bodyPr>
          <a:lstStyle/>
          <a:p>
            <a:r>
              <a:rPr lang="en-US" sz="900" dirty="0"/>
              <a:t>https://github.com/amelcharolinesgn2/Cloud-Infrastructures</a:t>
            </a:r>
          </a:p>
        </p:txBody>
      </p:sp>
      <p:sp>
        <p:nvSpPr>
          <p:cNvPr id="13" name="Rectangle 12"/>
          <p:cNvSpPr/>
          <p:nvPr/>
        </p:nvSpPr>
        <p:spPr>
          <a:xfrm>
            <a:off x="8444566" y="6506265"/>
            <a:ext cx="3839513" cy="230832"/>
          </a:xfrm>
          <a:prstGeom prst="rect">
            <a:avLst/>
          </a:prstGeom>
        </p:spPr>
        <p:txBody>
          <a:bodyPr wrap="none">
            <a:spAutoFit/>
          </a:bodyPr>
          <a:lstStyle/>
          <a:p>
            <a:r>
              <a:rPr lang="en-US" sz="900" dirty="0"/>
              <a:t>https://github.com/amelcharolinesgn2/ClouD-Infrastructure-SISKA-2025</a:t>
            </a:r>
          </a:p>
        </p:txBody>
      </p:sp>
      <p:grpSp>
        <p:nvGrpSpPr>
          <p:cNvPr id="15" name="Group 14"/>
          <p:cNvGrpSpPr/>
          <p:nvPr/>
        </p:nvGrpSpPr>
        <p:grpSpPr>
          <a:xfrm>
            <a:off x="54496" y="359621"/>
            <a:ext cx="4804363" cy="2463094"/>
            <a:chOff x="54496" y="359621"/>
            <a:chExt cx="4804363" cy="2463094"/>
          </a:xfrm>
        </p:grpSpPr>
        <p:pic>
          <p:nvPicPr>
            <p:cNvPr id="16" name="Picture 15"/>
            <p:cNvPicPr>
              <a:picLocks noChangeAspect="1"/>
            </p:cNvPicPr>
            <p:nvPr/>
          </p:nvPicPr>
          <p:blipFill>
            <a:blip r:embed="rId3"/>
            <a:stretch>
              <a:fillRect/>
            </a:stretch>
          </p:blipFill>
          <p:spPr>
            <a:xfrm>
              <a:off x="235105" y="1901987"/>
              <a:ext cx="3104181" cy="263526"/>
            </a:xfrm>
            <a:prstGeom prst="rect">
              <a:avLst/>
            </a:prstGeom>
          </p:spPr>
        </p:pic>
        <p:sp>
          <p:nvSpPr>
            <p:cNvPr id="17" name="Title 4">
              <a:extLst>
                <a:ext uri="{FF2B5EF4-FFF2-40B4-BE49-F238E27FC236}">
                  <a16:creationId xmlns:a16="http://schemas.microsoft.com/office/drawing/2014/main" id="{27228BAE-048B-681E-DD8D-BD96B22560E0}"/>
                </a:ext>
              </a:extLst>
            </p:cNvPr>
            <p:cNvSpPr txBox="1">
              <a:spLocks/>
            </p:cNvSpPr>
            <p:nvPr/>
          </p:nvSpPr>
          <p:spPr>
            <a:xfrm>
              <a:off x="54496" y="1922610"/>
              <a:ext cx="4804363" cy="900105"/>
            </a:xfrm>
            <a:prstGeom prst="rect">
              <a:avLst/>
            </a:prstGeom>
          </p:spPr>
          <p:txBody>
            <a:bodyPr vert="horz" lIns="91440" tIns="45720" rIns="91440" bIns="45720" rtlCol="0" anchor="b">
              <a:normAutofit fontScale="9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dirty="0" smtClean="0">
                  <a:solidFill>
                    <a:schemeClr val="accent1">
                      <a:lumMod val="75000"/>
                    </a:schemeClr>
                  </a:solidFill>
                </a:rPr>
                <a:t>Computer </a:t>
              </a:r>
              <a:r>
                <a:rPr lang="en-US" dirty="0" smtClean="0">
                  <a:solidFill>
                    <a:srgbClr val="00B0F0"/>
                  </a:solidFill>
                </a:rPr>
                <a:t>Vision</a:t>
              </a:r>
              <a:endParaRPr lang="en-US" dirty="0">
                <a:solidFill>
                  <a:srgbClr val="00B0F0"/>
                </a:solidFill>
              </a:endParaRPr>
            </a:p>
          </p:txBody>
        </p:sp>
        <p:grpSp>
          <p:nvGrpSpPr>
            <p:cNvPr id="18" name="Group 17">
              <a:extLst>
                <a:ext uri="{FF2B5EF4-FFF2-40B4-BE49-F238E27FC236}">
                  <a16:creationId xmlns:a16="http://schemas.microsoft.com/office/drawing/2014/main" id="{2AABCB87-2ECC-4C03-B5BB-6EE11C8A4485}"/>
                </a:ext>
              </a:extLst>
            </p:cNvPr>
            <p:cNvGrpSpPr/>
            <p:nvPr/>
          </p:nvGrpSpPr>
          <p:grpSpPr>
            <a:xfrm>
              <a:off x="89638" y="359621"/>
              <a:ext cx="3064025" cy="1516520"/>
              <a:chOff x="4853562" y="1589418"/>
              <a:chExt cx="2609520" cy="1291565"/>
            </a:xfrm>
          </p:grpSpPr>
          <p:sp>
            <p:nvSpPr>
              <p:cNvPr id="25" name="Freeform 24">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a:solidFill>
                    <a:schemeClr val="tx1"/>
                  </a:solidFill>
                </a:endParaRPr>
              </a:p>
            </p:txBody>
          </p:sp>
          <p:sp>
            <p:nvSpPr>
              <p:cNvPr id="26" name="Freeform 25">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dirty="0">
                  <a:solidFill>
                    <a:schemeClr val="tx1"/>
                  </a:solidFill>
                </a:endParaRPr>
              </a:p>
            </p:txBody>
          </p:sp>
        </p:grpSp>
        <p:grpSp>
          <p:nvGrpSpPr>
            <p:cNvPr id="19" name="Group 18">
              <a:extLst>
                <a:ext uri="{FF2B5EF4-FFF2-40B4-BE49-F238E27FC236}">
                  <a16:creationId xmlns:a16="http://schemas.microsoft.com/office/drawing/2014/main" id="{AB8BC7BC-BF58-402E-9A69-AA9226DE7CAA}"/>
                </a:ext>
              </a:extLst>
            </p:cNvPr>
            <p:cNvGrpSpPr/>
            <p:nvPr/>
          </p:nvGrpSpPr>
          <p:grpSpPr>
            <a:xfrm>
              <a:off x="1356703" y="883096"/>
              <a:ext cx="1334145" cy="620384"/>
              <a:chOff x="7729280" y="2195997"/>
              <a:chExt cx="2143740" cy="996849"/>
            </a:xfrm>
            <a:solidFill>
              <a:schemeClr val="accent6"/>
            </a:solidFill>
          </p:grpSpPr>
          <p:sp>
            <p:nvSpPr>
              <p:cNvPr id="23" name="Freeform: Shape 66">
                <a:extLst>
                  <a:ext uri="{FF2B5EF4-FFF2-40B4-BE49-F238E27FC236}">
                    <a16:creationId xmlns:a16="http://schemas.microsoft.com/office/drawing/2014/main" id="{2A081543-B9FF-49B1-8EEF-ABDF5438EDCD}"/>
                  </a:ext>
                </a:extLst>
              </p:cNvPr>
              <p:cNvSpPr/>
              <p:nvPr/>
            </p:nvSpPr>
            <p:spPr>
              <a:xfrm>
                <a:off x="7729280" y="2195997"/>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dirty="0"/>
              </a:p>
            </p:txBody>
          </p:sp>
          <p:sp>
            <p:nvSpPr>
              <p:cNvPr id="24" name="Freeform: Shape 67">
                <a:extLst>
                  <a:ext uri="{FF2B5EF4-FFF2-40B4-BE49-F238E27FC236}">
                    <a16:creationId xmlns:a16="http://schemas.microsoft.com/office/drawing/2014/main" id="{275D1FAA-C13F-4A6B-BA37-7704CFB7ADCD}"/>
                  </a:ext>
                </a:extLst>
              </p:cNvPr>
              <p:cNvSpPr/>
              <p:nvPr/>
            </p:nvSpPr>
            <p:spPr>
              <a:xfrm>
                <a:off x="8421007" y="2543552"/>
                <a:ext cx="443936" cy="326800"/>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20" name="Subtitle 2">
              <a:extLst>
                <a:ext uri="{FF2B5EF4-FFF2-40B4-BE49-F238E27FC236}">
                  <a16:creationId xmlns:a16="http://schemas.microsoft.com/office/drawing/2014/main" id="{53858C97-DA2F-8866-47CC-CDF4077BBF9D}"/>
                </a:ext>
              </a:extLst>
            </p:cNvPr>
            <p:cNvSpPr txBox="1">
              <a:spLocks/>
            </p:cNvSpPr>
            <p:nvPr/>
          </p:nvSpPr>
          <p:spPr>
            <a:xfrm>
              <a:off x="1727403" y="1099395"/>
              <a:ext cx="729275" cy="203382"/>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smtClean="0">
                  <a:solidFill>
                    <a:srgbClr val="7030A0"/>
                  </a:solidFill>
                </a:rPr>
                <a:t>PDS</a:t>
              </a:r>
              <a:endParaRPr lang="en-US" sz="1600" dirty="0">
                <a:solidFill>
                  <a:srgbClr val="7030A0"/>
                </a:solidFill>
              </a:endParaRPr>
            </a:p>
          </p:txBody>
        </p:sp>
        <p:sp>
          <p:nvSpPr>
            <p:cNvPr id="21" name="Title 4">
              <a:extLst>
                <a:ext uri="{FF2B5EF4-FFF2-40B4-BE49-F238E27FC236}">
                  <a16:creationId xmlns:a16="http://schemas.microsoft.com/office/drawing/2014/main" id="{27228BAE-048B-681E-DD8D-BD96B22560E0}"/>
                </a:ext>
              </a:extLst>
            </p:cNvPr>
            <p:cNvSpPr txBox="1">
              <a:spLocks/>
            </p:cNvSpPr>
            <p:nvPr/>
          </p:nvSpPr>
          <p:spPr>
            <a:xfrm>
              <a:off x="788714" y="1452073"/>
              <a:ext cx="938689" cy="470538"/>
            </a:xfrm>
            <a:prstGeom prst="rect">
              <a:avLst/>
            </a:prstGeom>
            <a:solidFill>
              <a:schemeClr val="bg1"/>
            </a:solidFill>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2800" dirty="0" smtClean="0">
                  <a:solidFill>
                    <a:schemeClr val="accent5">
                      <a:lumMod val="50000"/>
                    </a:schemeClr>
                  </a:solidFill>
                </a:rPr>
                <a:t>SDN</a:t>
              </a:r>
              <a:endParaRPr lang="en-US" sz="2800" dirty="0">
                <a:solidFill>
                  <a:schemeClr val="accent5">
                    <a:lumMod val="50000"/>
                  </a:schemeClr>
                </a:solidFill>
              </a:endParaRPr>
            </a:p>
          </p:txBody>
        </p:sp>
        <p:sp>
          <p:nvSpPr>
            <p:cNvPr id="22" name="Title 4">
              <a:extLst>
                <a:ext uri="{FF2B5EF4-FFF2-40B4-BE49-F238E27FC236}">
                  <a16:creationId xmlns:a16="http://schemas.microsoft.com/office/drawing/2014/main" id="{27228BAE-048B-681E-DD8D-BD96B22560E0}"/>
                </a:ext>
              </a:extLst>
            </p:cNvPr>
            <p:cNvSpPr txBox="1">
              <a:spLocks/>
            </p:cNvSpPr>
            <p:nvPr/>
          </p:nvSpPr>
          <p:spPr>
            <a:xfrm>
              <a:off x="1449719" y="1352665"/>
              <a:ext cx="928870" cy="581223"/>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2800" dirty="0" smtClean="0">
                  <a:solidFill>
                    <a:schemeClr val="accent1">
                      <a:lumMod val="75000"/>
                    </a:schemeClr>
                  </a:solidFill>
                </a:rPr>
                <a:t>NFV</a:t>
              </a:r>
              <a:endParaRPr lang="en-US" sz="2800" dirty="0">
                <a:solidFill>
                  <a:schemeClr val="accent1">
                    <a:lumMod val="75000"/>
                  </a:schemeClr>
                </a:solidFill>
              </a:endParaRPr>
            </a:p>
          </p:txBody>
        </p:sp>
      </p:grpSp>
    </p:spTree>
    <p:extLst>
      <p:ext uri="{BB962C8B-B14F-4D97-AF65-F5344CB8AC3E}">
        <p14:creationId xmlns:p14="http://schemas.microsoft.com/office/powerpoint/2010/main" val="80013096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23674</TotalTime>
  <Words>834</Words>
  <Application>Microsoft Office PowerPoint</Application>
  <PresentationFormat>Widescreen</PresentationFormat>
  <Paragraphs>199</Paragraphs>
  <Slides>21</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맑은 고딕</vt:lpstr>
      <vt:lpstr>Arial</vt:lpstr>
      <vt:lpstr>Calibri</vt:lpstr>
      <vt:lpstr>Calibri Light</vt:lpstr>
      <vt:lpstr>Edwardian Script ITC</vt:lpstr>
      <vt:lpstr>Times New Roman</vt:lpstr>
      <vt:lpstr>Office Theme</vt:lpstr>
      <vt:lpstr>9.0_Electonic Component </vt:lpstr>
      <vt:lpstr>   Signals, Circuits, and Computers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Robotic Component Functional Summary* </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Fish Tracking, Counting, and Behaviour Analysis in Digital Aquaculture</dc:title>
  <dc:creator>pds</dc:creator>
  <cp:lastModifiedBy>Gde</cp:lastModifiedBy>
  <cp:revision>80</cp:revision>
  <dcterms:created xsi:type="dcterms:W3CDTF">2024-10-22T07:52:57Z</dcterms:created>
  <dcterms:modified xsi:type="dcterms:W3CDTF">2026-03-17T07:53:02Z</dcterms:modified>
</cp:coreProperties>
</file>