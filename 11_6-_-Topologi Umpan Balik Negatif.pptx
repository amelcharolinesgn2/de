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4" r:id="rId2"/>
    <p:sldId id="279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278" r:id="rId17"/>
    <p:sldId id="2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926" autoAdjust="0"/>
  </p:normalViewPr>
  <p:slideViewPr>
    <p:cSldViewPr snapToGrid="0">
      <p:cViewPr varScale="1">
        <p:scale>
          <a:sx n="115" d="100"/>
          <a:sy n="115" d="100"/>
        </p:scale>
        <p:origin x="4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dirty="0" smtClean="0"/>
            <a:t>11_6. </a:t>
          </a:r>
          <a:r>
            <a:rPr lang="en-US" sz="4000" b="1" dirty="0" smtClean="0"/>
            <a:t>Op </a:t>
          </a:r>
          <a:r>
            <a:rPr lang="en-US" sz="4000" b="1" dirty="0" err="1" smtClean="0"/>
            <a:t>Amp_</a:t>
          </a:r>
          <a:r>
            <a:rPr lang="en-US" sz="4000" dirty="0" err="1" smtClean="0"/>
            <a:t>Topologi</a:t>
          </a:r>
          <a:r>
            <a:rPr lang="en-US" sz="4000" dirty="0" smtClean="0"/>
            <a:t> </a:t>
          </a:r>
          <a:r>
            <a:rPr lang="en-US" sz="4000" dirty="0" err="1" smtClean="0"/>
            <a:t>FeedBack</a:t>
          </a:r>
          <a:r>
            <a:rPr lang="en-US" sz="4000" dirty="0" smtClean="0"/>
            <a:t> </a:t>
          </a:r>
          <a:r>
            <a:rPr lang="en-US" sz="4000" dirty="0" err="1" smtClean="0"/>
            <a:t>Negatif</a:t>
          </a:r>
          <a:r>
            <a:rPr lang="en-US" sz="4000" dirty="0" smtClean="0"/>
            <a:t> (FBN)</a:t>
          </a:r>
        </a:p>
        <a:p>
          <a:pPr algn="l" rtl="0"/>
          <a:r>
            <a:rPr lang="en-US" sz="4000" dirty="0" err="1" smtClean="0"/>
            <a:t>Umpan</a:t>
          </a:r>
          <a:r>
            <a:rPr lang="en-US" sz="4000" dirty="0" smtClean="0"/>
            <a:t> </a:t>
          </a:r>
          <a:r>
            <a:rPr lang="en-US" sz="4000" dirty="0" err="1" smtClean="0"/>
            <a:t>Balik</a:t>
          </a:r>
          <a:r>
            <a:rPr lang="en-US" sz="4000" dirty="0" smtClean="0"/>
            <a:t> </a:t>
          </a:r>
          <a:r>
            <a:rPr lang="en-US" sz="4000" dirty="0" err="1" smtClean="0"/>
            <a:t>Negatif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11_6. </a:t>
          </a:r>
          <a:r>
            <a:rPr lang="en-US" sz="4000" b="1" kern="1200" dirty="0" smtClean="0"/>
            <a:t>Op </a:t>
          </a:r>
          <a:r>
            <a:rPr lang="en-US" sz="4000" b="1" kern="1200" dirty="0" err="1" smtClean="0"/>
            <a:t>Amp_</a:t>
          </a:r>
          <a:r>
            <a:rPr lang="en-US" sz="4000" kern="1200" dirty="0" err="1" smtClean="0"/>
            <a:t>Topologi</a:t>
          </a:r>
          <a:r>
            <a:rPr lang="en-US" sz="4000" kern="1200" dirty="0" smtClean="0"/>
            <a:t> </a:t>
          </a:r>
          <a:r>
            <a:rPr lang="en-US" sz="4000" kern="1200" dirty="0" err="1" smtClean="0"/>
            <a:t>FeedBack</a:t>
          </a:r>
          <a:r>
            <a:rPr lang="en-US" sz="4000" kern="1200" dirty="0" smtClean="0"/>
            <a:t> </a:t>
          </a:r>
          <a:r>
            <a:rPr lang="en-US" sz="4000" kern="1200" dirty="0" err="1" smtClean="0"/>
            <a:t>Negatif</a:t>
          </a:r>
          <a:r>
            <a:rPr lang="en-US" sz="4000" kern="1200" dirty="0" smtClean="0"/>
            <a:t> (FBN)</a:t>
          </a:r>
        </a:p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err="1" smtClean="0"/>
            <a:t>Umpan</a:t>
          </a:r>
          <a:r>
            <a:rPr lang="en-US" sz="4000" kern="1200" dirty="0" smtClean="0"/>
            <a:t> </a:t>
          </a:r>
          <a:r>
            <a:rPr lang="en-US" sz="4000" kern="1200" dirty="0" err="1" smtClean="0"/>
            <a:t>Balik</a:t>
          </a:r>
          <a:r>
            <a:rPr lang="en-US" sz="4000" kern="1200" dirty="0" smtClean="0"/>
            <a:t> </a:t>
          </a:r>
          <a:r>
            <a:rPr lang="en-US" sz="4000" kern="1200" dirty="0" err="1" smtClean="0"/>
            <a:t>Negatif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https://unacademy.com/lesson/low-frequency-analysis-of-bjt-amplifier/5TUKWO6Z</a:t>
            </a:r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41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 – Tegangan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Zi - &lt; Zo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branch – yes branch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Rof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saat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Vs=0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C6601-1967-4F3B-AB80-A6F029376E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90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 dirty="0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A1E9349-FCB7-4615-AA5D-F9248696E867}" type="slidenum">
              <a:rPr lang="id-ID" altLang="en-US"/>
              <a:pPr eaLnBrk="1" hangingPunct="1"/>
              <a:t>5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1129471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Paralel – Arus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Zi - &gt; Zo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 branch – no branch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Rof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saat</a:t>
            </a:r>
            <a:r>
              <a:rPr lang="en-US" sz="1200" b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Is=0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4A985-FA21-4D29-A3C9-B4DA81725E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36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15690D-265E-40B6-AAD6-8890DDFB107E}" type="slidenum">
              <a:rPr lang="id-ID" altLang="en-US"/>
              <a:pPr eaLnBrk="1" hangingPunct="1"/>
              <a:t>8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4174531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 – Arus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Zi - &gt; Zo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branch – no branch 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4A985-FA21-4D29-A3C9-B4DA81725E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6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958B05-C168-4A6A-883F-EA7E74A915D3}" type="slidenum">
              <a:rPr lang="id-ID" altLang="en-US"/>
              <a:pPr eaLnBrk="1" hangingPunct="1"/>
              <a:t>11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2956393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Paralel – Tegangan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Zi - &lt; Zo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d-ID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 branch – yes branch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C6601-1967-4F3B-AB80-A6F029376E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37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142A141-84D9-411A-BD87-D837509DE83D}" type="slidenum">
              <a:rPr lang="id-ID" altLang="en-US"/>
              <a:pPr eaLnBrk="1" hangingPunct="1"/>
              <a:t>14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677802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https://ocw.mit.edu/courses/6-720j-integrated-microelectronic-devices-spring-2007/pages/lecture-notes/</a:t>
            </a:r>
          </a:p>
          <a:p>
            <a:endParaRPr lang="en-US" dirty="0" smtClean="0"/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40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4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1817169795"/>
              </p:ext>
            </p:extLst>
          </p:nvPr>
        </p:nvGraphicFramePr>
        <p:xfrm>
          <a:off x="2063476" y="3434555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6" y="3415832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Op </a:t>
            </a:r>
            <a:r>
              <a:rPr lang="en-US" b="1" dirty="0" err="1" smtClean="0"/>
              <a:t>Amp_FeedBack</a:t>
            </a:r>
            <a:r>
              <a:rPr lang="en-US" b="1" dirty="0" smtClean="0"/>
              <a:t> </a:t>
            </a:r>
            <a:r>
              <a:rPr lang="en-US" b="1" dirty="0" err="1" smtClean="0"/>
              <a:t>negatif</a:t>
            </a:r>
            <a:r>
              <a:rPr lang="en-US" b="1" dirty="0" smtClean="0"/>
              <a:t>( FBN)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Capaian</a:t>
            </a:r>
            <a:r>
              <a:rPr lang="en-US" dirty="0" smtClean="0"/>
              <a:t>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Mengerti</a:t>
            </a:r>
            <a:r>
              <a:rPr lang="en-US" dirty="0" smtClean="0"/>
              <a:t> op amp feedback negative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membedakan</a:t>
            </a:r>
            <a:r>
              <a:rPr lang="en-US" dirty="0" smtClean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topologi</a:t>
            </a:r>
            <a:r>
              <a:rPr lang="en-US" dirty="0"/>
              <a:t> </a:t>
            </a:r>
            <a:r>
              <a:rPr lang="en-US" dirty="0" err="1"/>
              <a:t>umpan</a:t>
            </a:r>
            <a:r>
              <a:rPr lang="en-US" dirty="0"/>
              <a:t> </a:t>
            </a:r>
            <a:r>
              <a:rPr lang="en-US" dirty="0" err="1"/>
              <a:t>balik</a:t>
            </a:r>
            <a:r>
              <a:rPr lang="en-US" dirty="0"/>
              <a:t> </a:t>
            </a:r>
            <a:r>
              <a:rPr lang="en-US" dirty="0" err="1"/>
              <a:t>negatif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7086" y="5850235"/>
            <a:ext cx="1126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https://ocw.mit.edu/courses/6-01sc-introduction-to-electrical-engineering-and-computer-science-i-spring-2011/resources/op-amps/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1296492"/>
            <a:ext cx="2100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Umpan</a:t>
            </a:r>
            <a:r>
              <a:rPr lang="en-US" dirty="0"/>
              <a:t> </a:t>
            </a:r>
            <a:r>
              <a:rPr lang="en-US" dirty="0" err="1"/>
              <a:t>Balik</a:t>
            </a:r>
            <a:r>
              <a:rPr lang="en-US" dirty="0"/>
              <a:t> </a:t>
            </a:r>
            <a:r>
              <a:rPr lang="en-US" dirty="0" err="1"/>
              <a:t>Negatif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3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82906"/>
            <a:ext cx="5687426" cy="43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1) Topologi </a:t>
            </a:r>
            <a:r>
              <a:rPr lang="en-US" dirty="0" smtClean="0"/>
              <a:t>F</a:t>
            </a:r>
            <a:r>
              <a:rPr lang="id-ID" dirty="0" smtClean="0"/>
              <a:t>BN</a:t>
            </a:r>
            <a:r>
              <a:rPr lang="id-ID" dirty="0" smtClean="0"/>
              <a:t>: Penguat Tegangan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5029200"/>
            <a:ext cx="8610600" cy="1600200"/>
          </a:xfrm>
        </p:spPr>
        <p:txBody>
          <a:bodyPr>
            <a:normAutofit/>
          </a:bodyPr>
          <a:lstStyle/>
          <a:p>
            <a:r>
              <a:rPr lang="en-US" dirty="0" err="1" smtClean="0"/>
              <a:t>Topologi</a:t>
            </a:r>
            <a:r>
              <a:rPr lang="id-ID" dirty="0" smtClean="0"/>
              <a:t> UBN: SERIES - SHUNT</a:t>
            </a:r>
          </a:p>
          <a:p>
            <a:pPr lvl="1"/>
            <a:r>
              <a:rPr lang="id-ID" dirty="0" smtClean="0"/>
              <a:t>Input: </a:t>
            </a:r>
            <a:r>
              <a:rPr lang="id-ID" u="sng" dirty="0" smtClean="0"/>
              <a:t>Series</a:t>
            </a:r>
            <a:r>
              <a:rPr lang="id-ID" dirty="0" smtClean="0"/>
              <a:t> (voltage) mixing</a:t>
            </a:r>
          </a:p>
          <a:p>
            <a:pPr lvl="1"/>
            <a:r>
              <a:rPr lang="id-ID" dirty="0" smtClean="0"/>
              <a:t>Output: </a:t>
            </a:r>
            <a:r>
              <a:rPr lang="id-ID" u="sng" dirty="0" smtClean="0"/>
              <a:t>Shunt</a:t>
            </a:r>
            <a:r>
              <a:rPr lang="id-ID" dirty="0" smtClean="0"/>
              <a:t> (v</a:t>
            </a:r>
            <a:r>
              <a:rPr lang="en-US" dirty="0" err="1" smtClean="0"/>
              <a:t>oltage</a:t>
            </a:r>
            <a:r>
              <a:rPr lang="id-ID" dirty="0" smtClean="0"/>
              <a:t>)</a:t>
            </a:r>
            <a:r>
              <a:rPr lang="en-US" dirty="0" smtClean="0"/>
              <a:t> sampling</a:t>
            </a:r>
            <a:r>
              <a:rPr lang="id-ID" dirty="0" smtClean="0"/>
              <a:t> (ingat volt-meter)</a:t>
            </a:r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>
            <a:off x="7211426" y="1759804"/>
            <a:ext cx="3456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Sinyal</a:t>
            </a:r>
            <a:r>
              <a:rPr lang="en-US" sz="2400" dirty="0"/>
              <a:t> input: </a:t>
            </a:r>
            <a:r>
              <a:rPr lang="en-US" sz="2400" dirty="0" err="1"/>
              <a:t>Tegangan</a:t>
            </a:r>
            <a:r>
              <a:rPr lang="id-ID" sz="2400" dirty="0"/>
              <a:t>, </a:t>
            </a:r>
            <a:endParaRPr lang="id-ID" sz="2400" dirty="0"/>
          </a:p>
          <a:p>
            <a:r>
              <a:rPr lang="en-US" sz="2400" dirty="0" err="1"/>
              <a:t>Sinyal</a:t>
            </a:r>
            <a:r>
              <a:rPr lang="en-US" sz="2400" dirty="0"/>
              <a:t> </a:t>
            </a:r>
            <a:r>
              <a:rPr lang="en-US" sz="2400" dirty="0"/>
              <a:t>output: </a:t>
            </a:r>
            <a:r>
              <a:rPr lang="en-US" sz="2400" dirty="0" err="1"/>
              <a:t>Tegangan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76" y="2731143"/>
            <a:ext cx="237172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3845569"/>
            <a:ext cx="28384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826" y="4940944"/>
            <a:ext cx="20097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528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1) </a:t>
            </a:r>
            <a:r>
              <a:rPr lang="en-US" dirty="0" err="1" smtClean="0"/>
              <a:t>FeedBack</a:t>
            </a:r>
            <a:r>
              <a:rPr lang="en-US" dirty="0" smtClean="0"/>
              <a:t> </a:t>
            </a:r>
            <a:r>
              <a:rPr lang="id-ID" dirty="0" smtClean="0"/>
              <a:t>N</a:t>
            </a:r>
            <a:r>
              <a:rPr lang="en-US" dirty="0" err="1" smtClean="0"/>
              <a:t>egatif</a:t>
            </a:r>
            <a:r>
              <a:rPr lang="id-ID" dirty="0" smtClean="0"/>
              <a:t> </a:t>
            </a:r>
            <a:r>
              <a:rPr lang="id-ID" dirty="0" smtClean="0"/>
              <a:t>Penguat </a:t>
            </a:r>
            <a:r>
              <a:rPr lang="id-ID" dirty="0"/>
              <a:t>Tegangan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47800"/>
            <a:ext cx="405618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4343400"/>
            <a:ext cx="280035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295400"/>
            <a:ext cx="4038600" cy="4852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239001" y="6248400"/>
            <a:ext cx="22765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800" i="1" dirty="0"/>
              <a:t>R</a:t>
            </a:r>
            <a:r>
              <a:rPr lang="id-ID" sz="2800" i="1" baseline="-25000" dirty="0"/>
              <a:t>E</a:t>
            </a:r>
            <a:r>
              <a:rPr lang="id-ID" sz="2800" dirty="0"/>
              <a:t> </a:t>
            </a:r>
            <a:r>
              <a:rPr lang="id-ID" sz="2800" dirty="0">
                <a:sym typeface="Symbol"/>
              </a:rPr>
              <a:t> </a:t>
            </a:r>
            <a:r>
              <a:rPr lang="id-ID" sz="2800" i="1" dirty="0"/>
              <a:t>Z</a:t>
            </a:r>
            <a:r>
              <a:rPr lang="id-ID" sz="2800" i="1" baseline="-25000" dirty="0"/>
              <a:t>1</a:t>
            </a:r>
            <a:r>
              <a:rPr lang="id-ID" sz="2800" dirty="0"/>
              <a:t>, </a:t>
            </a:r>
            <a:r>
              <a:rPr lang="id-ID" sz="2800" i="1" dirty="0"/>
              <a:t>R</a:t>
            </a:r>
            <a:r>
              <a:rPr lang="id-ID" sz="2800" i="1" baseline="-25000" dirty="0"/>
              <a:t>F</a:t>
            </a:r>
            <a:r>
              <a:rPr lang="id-ID" sz="2800" dirty="0"/>
              <a:t> </a:t>
            </a:r>
            <a:r>
              <a:rPr lang="id-ID" sz="2800" dirty="0">
                <a:sym typeface="Symbol"/>
              </a:rPr>
              <a:t> </a:t>
            </a:r>
            <a:r>
              <a:rPr lang="id-ID" sz="2800" i="1" dirty="0"/>
              <a:t>Z</a:t>
            </a:r>
            <a:r>
              <a:rPr lang="id-ID" sz="2800" i="1" baseline="-25000" dirty="0"/>
              <a:t>2</a:t>
            </a:r>
            <a:endParaRPr lang="en-US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4030693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Contoh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en-US" smtClean="0"/>
          </a:p>
        </p:txBody>
      </p:sp>
      <p:graphicFrame>
        <p:nvGraphicFramePr>
          <p:cNvPr id="21508" name="Object 5"/>
          <p:cNvGraphicFramePr>
            <a:graphicFrameLocks noChangeAspect="1"/>
          </p:cNvGraphicFramePr>
          <p:nvPr/>
        </p:nvGraphicFramePr>
        <p:xfrm>
          <a:off x="6934200" y="1828801"/>
          <a:ext cx="28194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6" name="Equation" r:id="rId4" imgW="876300" imgH="228600" progId="Equation.3">
                  <p:embed/>
                </p:oleObj>
              </mc:Choice>
              <mc:Fallback>
                <p:oleObj name="Equation" r:id="rId4" imgW="876300" imgH="228600" progId="Equation.3">
                  <p:embed/>
                  <p:pic>
                    <p:nvPicPr>
                      <p:cNvPr id="2150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828801"/>
                        <a:ext cx="28194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2057400" y="1295400"/>
          <a:ext cx="5410200" cy="497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7" name="Visio" r:id="rId6" imgW="2869716" imgH="2639162" progId="Visio.Drawing.11">
                  <p:embed/>
                </p:oleObj>
              </mc:Choice>
              <mc:Fallback>
                <p:oleObj name="Visio" r:id="rId6" imgW="2869716" imgH="2639162" progId="Visio.Drawing.11">
                  <p:embed/>
                  <p:pic>
                    <p:nvPicPr>
                      <p:cNvPr id="215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295400"/>
                        <a:ext cx="5410200" cy="497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4114801" y="1491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2895601" y="2025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204802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2) Topologi </a:t>
            </a:r>
            <a:r>
              <a:rPr lang="en-US" dirty="0" smtClean="0"/>
              <a:t>F</a:t>
            </a:r>
            <a:r>
              <a:rPr lang="id-ID" dirty="0" smtClean="0"/>
              <a:t>BN</a:t>
            </a:r>
            <a:r>
              <a:rPr lang="id-ID" dirty="0"/>
              <a:t>: Penguat </a:t>
            </a:r>
            <a:r>
              <a:rPr lang="id-ID" dirty="0" smtClean="0"/>
              <a:t>Arus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828081"/>
              </a:clrFrom>
              <a:clrTo>
                <a:srgbClr val="8280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487" y="1371600"/>
            <a:ext cx="644144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1524000" y="4800600"/>
            <a:ext cx="80010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Topologi</a:t>
            </a:r>
            <a:r>
              <a:rPr lang="id-ID" dirty="0"/>
              <a:t> UBN: SHUNT - SERIES</a:t>
            </a:r>
          </a:p>
          <a:p>
            <a:pPr lvl="1"/>
            <a:r>
              <a:rPr lang="id-ID" dirty="0"/>
              <a:t>Input: </a:t>
            </a:r>
            <a:r>
              <a:rPr lang="id-ID" u="sng" dirty="0"/>
              <a:t>Shunt </a:t>
            </a:r>
            <a:r>
              <a:rPr lang="id-ID" dirty="0"/>
              <a:t>(current) mixing</a:t>
            </a:r>
          </a:p>
          <a:p>
            <a:pPr lvl="1"/>
            <a:r>
              <a:rPr lang="id-ID" dirty="0"/>
              <a:t>Output: </a:t>
            </a:r>
            <a:r>
              <a:rPr lang="id-ID" u="sng" dirty="0"/>
              <a:t>Series</a:t>
            </a:r>
            <a:r>
              <a:rPr lang="id-ID" dirty="0"/>
              <a:t> (current)</a:t>
            </a:r>
            <a:r>
              <a:rPr lang="en-US" dirty="0"/>
              <a:t> sampling</a:t>
            </a:r>
            <a:r>
              <a:rPr lang="id-ID" dirty="0"/>
              <a:t> (ingat amp-meter)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8077200" y="1447801"/>
            <a:ext cx="259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Sinyal</a:t>
            </a:r>
            <a:r>
              <a:rPr lang="en-US" sz="2400" dirty="0"/>
              <a:t> input: </a:t>
            </a:r>
            <a:r>
              <a:rPr lang="id-ID" sz="2400" dirty="0"/>
              <a:t>arus, </a:t>
            </a:r>
          </a:p>
          <a:p>
            <a:r>
              <a:rPr lang="en-US" sz="2400" dirty="0" err="1"/>
              <a:t>Sinyal</a:t>
            </a:r>
            <a:r>
              <a:rPr lang="en-US" sz="2400" dirty="0"/>
              <a:t> </a:t>
            </a:r>
            <a:r>
              <a:rPr lang="en-US" sz="2400" dirty="0"/>
              <a:t>output: </a:t>
            </a:r>
            <a:r>
              <a:rPr lang="id-ID" sz="2400" dirty="0"/>
              <a:t>arus</a:t>
            </a:r>
            <a:endParaRPr 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726" y="2495550"/>
            <a:ext cx="237172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629026"/>
            <a:ext cx="28384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726" y="4800600"/>
            <a:ext cx="2371725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51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70"/>
          <a:stretch/>
        </p:blipFill>
        <p:spPr bwMode="auto">
          <a:xfrm>
            <a:off x="1524000" y="3653160"/>
            <a:ext cx="9000000" cy="3204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2)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Arus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143001"/>
            <a:ext cx="3095625" cy="2438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924800" y="3391549"/>
            <a:ext cx="2361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800" i="1" dirty="0"/>
              <a:t>R</a:t>
            </a:r>
            <a:r>
              <a:rPr lang="id-ID" sz="2800" i="1" baseline="-25000" dirty="0"/>
              <a:t>E2</a:t>
            </a:r>
            <a:r>
              <a:rPr lang="id-ID" sz="2800" dirty="0"/>
              <a:t> </a:t>
            </a:r>
            <a:r>
              <a:rPr lang="id-ID" sz="2800" dirty="0">
                <a:sym typeface="Symbol"/>
              </a:rPr>
              <a:t> </a:t>
            </a:r>
            <a:r>
              <a:rPr lang="id-ID" sz="2800" i="1" dirty="0"/>
              <a:t>Z</a:t>
            </a:r>
            <a:r>
              <a:rPr lang="id-ID" sz="2800" i="1" baseline="-25000" dirty="0"/>
              <a:t>1</a:t>
            </a:r>
            <a:r>
              <a:rPr lang="id-ID" sz="2800" dirty="0"/>
              <a:t>, </a:t>
            </a:r>
            <a:r>
              <a:rPr lang="id-ID" sz="2800" i="1" dirty="0"/>
              <a:t>R</a:t>
            </a:r>
            <a:r>
              <a:rPr lang="id-ID" sz="2800" i="1" baseline="-25000" dirty="0"/>
              <a:t>f</a:t>
            </a:r>
            <a:r>
              <a:rPr lang="id-ID" sz="2800" dirty="0"/>
              <a:t> </a:t>
            </a:r>
            <a:r>
              <a:rPr lang="id-ID" sz="2800" dirty="0">
                <a:sym typeface="Symbol"/>
              </a:rPr>
              <a:t> </a:t>
            </a:r>
            <a:r>
              <a:rPr lang="id-ID" sz="2800" i="1" dirty="0"/>
              <a:t>Z</a:t>
            </a:r>
            <a:r>
              <a:rPr lang="id-ID" sz="2800" i="1" baseline="-25000" dirty="0"/>
              <a:t>2</a:t>
            </a:r>
            <a:endParaRPr lang="en-US" sz="2800" i="1" baseline="-25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668" y="1600200"/>
            <a:ext cx="2913133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335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2892950" y="1299621"/>
            <a:ext cx="4727239" cy="4250909"/>
            <a:chOff x="6783306" y="2089330"/>
            <a:chExt cx="4727239" cy="4250909"/>
          </a:xfrm>
        </p:grpSpPr>
        <p:grpSp>
          <p:nvGrpSpPr>
            <p:cNvPr id="27" name="Group 26"/>
            <p:cNvGrpSpPr/>
            <p:nvPr/>
          </p:nvGrpSpPr>
          <p:grpSpPr>
            <a:xfrm>
              <a:off x="6783306" y="2089330"/>
              <a:ext cx="4727239" cy="4250909"/>
              <a:chOff x="6783306" y="2089330"/>
              <a:chExt cx="4727239" cy="4250909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0185" y="2089330"/>
                <a:ext cx="3546596" cy="3950638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3306" y="4668147"/>
                <a:ext cx="742950" cy="1047750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241264">
                <a:off x="9911773" y="4638121"/>
                <a:ext cx="340127" cy="616467"/>
              </a:xfrm>
              <a:prstGeom prst="rect">
                <a:avLst/>
              </a:prstGeom>
            </p:spPr>
          </p:pic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241264">
                <a:off x="7533926" y="4401391"/>
                <a:ext cx="340127" cy="616467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9958469" y="5022743"/>
                    <a:ext cx="24449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58469" y="5022743"/>
                    <a:ext cx="244490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7073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8595182" y="3343198"/>
                    <a:ext cx="31374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95182" y="3343198"/>
                    <a:ext cx="313740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3725" r="-3922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10015981" y="3185662"/>
                    <a:ext cx="31374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5981" y="3185662"/>
                    <a:ext cx="313740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3725" r="-3922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10699641" y="5130465"/>
                    <a:ext cx="24673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99641" y="5130465"/>
                    <a:ext cx="246734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7500" r="-2500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7888980" y="4601902"/>
                    <a:ext cx="22506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88980" y="4601902"/>
                    <a:ext cx="225062" cy="21544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8919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11084595" y="3531268"/>
                    <a:ext cx="42595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𝑉𝑜𝑢𝑡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84595" y="3531268"/>
                    <a:ext cx="425950" cy="2154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8571" r="-7143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8770668" y="4546800"/>
                    <a:ext cx="23480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0668" y="4546800"/>
                    <a:ext cx="234808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6316" r="-5263" b="-2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10324262" y="4064649"/>
                    <a:ext cx="238976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4262" y="4064649"/>
                    <a:ext cx="238976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5000" r="-2500" b="-2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/>
              <p:cNvSpPr txBox="1"/>
              <p:nvPr/>
            </p:nvSpPr>
            <p:spPr>
              <a:xfrm>
                <a:off x="7370208" y="4248234"/>
                <a:ext cx="1114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1,2 k ohm</a:t>
                </a:r>
                <a:endParaRPr lang="en-US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9458777" y="4597002"/>
                <a:ext cx="1114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1,2 k ohm</a:t>
                </a:r>
                <a:endParaRPr lang="en-US" dirty="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0545239" y="5224678"/>
                <a:ext cx="8996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50 ohm</a:t>
                </a:r>
                <a:endParaRPr lang="en-US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213464" y="2882363"/>
                <a:ext cx="9396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3 k ohm</a:t>
                </a:r>
                <a:endParaRPr lang="en-US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874459" y="2872345"/>
                <a:ext cx="10166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500 ohm</a:t>
                </a:r>
                <a:endParaRPr lang="en-US" dirty="0"/>
              </a:p>
            </p:txBody>
          </p:sp>
          <p:cxnSp>
            <p:nvCxnSpPr>
              <p:cNvPr id="18" name="Straight Arrow Connector 17"/>
              <p:cNvCxnSpPr/>
              <p:nvPr/>
            </p:nvCxnSpPr>
            <p:spPr>
              <a:xfrm>
                <a:off x="10640291" y="2443942"/>
                <a:ext cx="0" cy="5050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10681301" y="2733502"/>
                    <a:ext cx="178959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81301" y="2733502"/>
                    <a:ext cx="178959" cy="21544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4138" r="-6897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TextBox 38"/>
              <p:cNvSpPr txBox="1"/>
              <p:nvPr/>
            </p:nvSpPr>
            <p:spPr>
              <a:xfrm>
                <a:off x="6920331" y="6006433"/>
                <a:ext cx="7040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 = 1,2 k</a:t>
                </a:r>
                <a:endParaRPr lang="en-US" sz="1400" dirty="0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8289601" y="6021601"/>
                <a:ext cx="5373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 = 50</a:t>
                </a:r>
                <a:endParaRPr lang="en-US" sz="1400" dirty="0"/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9894614" y="6032462"/>
                <a:ext cx="4459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 = 0</a:t>
                </a:r>
                <a:endParaRPr lang="en-US" sz="1400" dirty="0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9462020" y="6015252"/>
                <a:ext cx="3145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/>
                  <a:t> =</a:t>
                </a:r>
                <a:endParaRPr lang="en-US" sz="14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6783306" y="6041137"/>
                  <a:ext cx="26648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𝑖𝑟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3306" y="6041137"/>
                  <a:ext cx="266483" cy="215444"/>
                </a:xfrm>
                <a:prstGeom prst="rect">
                  <a:avLst/>
                </a:prstGeom>
                <a:blipFill>
                  <a:blip r:embed="rId15"/>
                  <a:stretch>
                    <a:fillRect l="-18605" r="-2326" b="-13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8114042" y="6061706"/>
                  <a:ext cx="289118" cy="2326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𝑓𝑒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4042" y="6061706"/>
                  <a:ext cx="289118" cy="232692"/>
                </a:xfrm>
                <a:prstGeom prst="rect">
                  <a:avLst/>
                </a:prstGeom>
                <a:blipFill>
                  <a:blip r:embed="rId16"/>
                  <a:stretch>
                    <a:fillRect l="-17021" r="-6383" b="-236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9313609" y="6041137"/>
                  <a:ext cx="29033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3609" y="6041137"/>
                  <a:ext cx="290336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17021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9705758" y="6052599"/>
                  <a:ext cx="29835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𝑜𝑒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5758" y="6052599"/>
                  <a:ext cx="298351" cy="215444"/>
                </a:xfrm>
                <a:prstGeom prst="rect">
                  <a:avLst/>
                </a:prstGeom>
                <a:blipFill>
                  <a:blip r:embed="rId18"/>
                  <a:stretch>
                    <a:fillRect l="-16327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9967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d-ID" sz="4000" dirty="0"/>
              <a:t>3) Topologi </a:t>
            </a:r>
            <a:r>
              <a:rPr lang="en-US" sz="4000" dirty="0" smtClean="0"/>
              <a:t>F</a:t>
            </a:r>
            <a:r>
              <a:rPr lang="id-ID" sz="4000" dirty="0" smtClean="0"/>
              <a:t>BN</a:t>
            </a:r>
            <a:r>
              <a:rPr lang="id-ID" sz="4000" dirty="0"/>
              <a:t>:</a:t>
            </a:r>
            <a:br>
              <a:rPr lang="id-ID" sz="4000" dirty="0"/>
            </a:br>
            <a:r>
              <a:rPr lang="id-ID" sz="4000" dirty="0"/>
              <a:t>Penguat Trans-Konduktansi</a:t>
            </a:r>
            <a:endParaRPr lang="en-US" sz="40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60769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1524000" y="5029200"/>
            <a:ext cx="80010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Topologi</a:t>
            </a:r>
            <a:r>
              <a:rPr lang="id-ID" dirty="0"/>
              <a:t> </a:t>
            </a:r>
            <a:r>
              <a:rPr lang="en-US" dirty="0" smtClean="0"/>
              <a:t>F</a:t>
            </a:r>
            <a:r>
              <a:rPr lang="id-ID" dirty="0" smtClean="0"/>
              <a:t>BN</a:t>
            </a:r>
            <a:r>
              <a:rPr lang="id-ID" dirty="0"/>
              <a:t>: SERIES - SERIES</a:t>
            </a:r>
          </a:p>
          <a:p>
            <a:pPr lvl="1"/>
            <a:r>
              <a:rPr lang="id-ID" dirty="0"/>
              <a:t>Input: </a:t>
            </a:r>
            <a:r>
              <a:rPr lang="id-ID" u="sng" dirty="0"/>
              <a:t>Series </a:t>
            </a:r>
            <a:r>
              <a:rPr lang="id-ID" dirty="0"/>
              <a:t>(voltage) mixing</a:t>
            </a:r>
          </a:p>
          <a:p>
            <a:pPr lvl="1"/>
            <a:r>
              <a:rPr lang="id-ID" dirty="0"/>
              <a:t>Output: </a:t>
            </a:r>
            <a:r>
              <a:rPr lang="id-ID" u="sng" dirty="0"/>
              <a:t>Series</a:t>
            </a:r>
            <a:r>
              <a:rPr lang="id-ID" dirty="0"/>
              <a:t> (current)</a:t>
            </a:r>
            <a:r>
              <a:rPr lang="en-US" dirty="0"/>
              <a:t> sampling</a:t>
            </a:r>
            <a:r>
              <a:rPr lang="id-ID" dirty="0"/>
              <a:t> (ingat amp-meter)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7620000" y="1607404"/>
            <a:ext cx="30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Sinyal</a:t>
            </a:r>
            <a:r>
              <a:rPr lang="en-US" sz="2400" dirty="0"/>
              <a:t> input: </a:t>
            </a:r>
            <a:r>
              <a:rPr lang="id-ID" sz="2400" dirty="0"/>
              <a:t>tegangan, </a:t>
            </a:r>
          </a:p>
          <a:p>
            <a:r>
              <a:rPr lang="en-US" sz="2400" dirty="0" err="1"/>
              <a:t>Sinyal</a:t>
            </a:r>
            <a:r>
              <a:rPr lang="en-US" sz="2400" dirty="0"/>
              <a:t> </a:t>
            </a:r>
            <a:r>
              <a:rPr lang="en-US" sz="2400" dirty="0"/>
              <a:t>output: </a:t>
            </a:r>
            <a:r>
              <a:rPr lang="id-ID" sz="2400" dirty="0"/>
              <a:t>arus</a:t>
            </a:r>
            <a:endParaRPr lang="en-US" sz="24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6" y="2590800"/>
            <a:ext cx="237172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950" y="3752851"/>
            <a:ext cx="28384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6" y="4876800"/>
            <a:ext cx="2371725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483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513" y="140681"/>
            <a:ext cx="10515600" cy="1325563"/>
          </a:xfrm>
        </p:spPr>
        <p:txBody>
          <a:bodyPr>
            <a:normAutofit/>
          </a:bodyPr>
          <a:lstStyle/>
          <a:p>
            <a:r>
              <a:rPr lang="id-ID" dirty="0" smtClean="0"/>
              <a:t>3)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 smtClean="0"/>
              <a:t>Penguat </a:t>
            </a:r>
            <a:r>
              <a:rPr lang="id-ID" dirty="0"/>
              <a:t>Trans-Konduktansi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238250"/>
            <a:ext cx="2781300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1676401"/>
            <a:ext cx="24003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505170" y="6172200"/>
            <a:ext cx="1019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800" i="1" dirty="0"/>
              <a:t>R</a:t>
            </a:r>
            <a:r>
              <a:rPr lang="id-ID" sz="2800" i="1" baseline="-25000" dirty="0"/>
              <a:t>F</a:t>
            </a:r>
            <a:r>
              <a:rPr lang="id-ID" sz="2800" dirty="0"/>
              <a:t> </a:t>
            </a:r>
            <a:r>
              <a:rPr lang="id-ID" sz="2800" dirty="0">
                <a:sym typeface="Symbol"/>
              </a:rPr>
              <a:t> </a:t>
            </a:r>
            <a:r>
              <a:rPr lang="id-ID" sz="2800" i="1" dirty="0"/>
              <a:t>Z</a:t>
            </a:r>
            <a:endParaRPr lang="en-US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422714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Contoh :</a:t>
            </a:r>
          </a:p>
        </p:txBody>
      </p:sp>
      <p:graphicFrame>
        <p:nvGraphicFramePr>
          <p:cNvPr id="34819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674939" y="2559051"/>
          <a:ext cx="2651125" cy="260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Visio" r:id="rId4" imgW="2651835" imgH="2608543" progId="Visio.Drawing.11">
                  <p:embed/>
                </p:oleObj>
              </mc:Choice>
              <mc:Fallback>
                <p:oleObj name="Visio" r:id="rId4" imgW="2651835" imgH="2608543" progId="Visio.Drawing.11">
                  <p:embed/>
                  <p:pic>
                    <p:nvPicPr>
                      <p:cNvPr id="34819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939" y="2559051"/>
                        <a:ext cx="2651125" cy="260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7010400" y="1752600"/>
          <a:ext cx="2819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" name="Equation" r:id="rId6" imgW="1362511" imgH="273809" progId="Equation.3">
                  <p:embed/>
                </p:oleObj>
              </mc:Choice>
              <mc:Fallback>
                <p:oleObj name="Equation" r:id="rId6" imgW="1362511" imgH="273809" progId="Equation.3">
                  <p:embed/>
                  <p:pic>
                    <p:nvPicPr>
                      <p:cNvPr id="3482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752600"/>
                        <a:ext cx="2819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7983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4) Topologi </a:t>
            </a:r>
            <a:r>
              <a:rPr lang="en-US" dirty="0" smtClean="0"/>
              <a:t>F</a:t>
            </a:r>
            <a:r>
              <a:rPr lang="id-ID" dirty="0" smtClean="0"/>
              <a:t>BN</a:t>
            </a:r>
            <a:r>
              <a:rPr lang="id-ID" dirty="0" smtClean="0"/>
              <a:t>: Penguat Trans-Impedansi/ Trans-Resistansi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1371602"/>
            <a:ext cx="5940000" cy="3590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1524000" y="52578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Topologi</a:t>
            </a:r>
            <a:r>
              <a:rPr lang="id-ID" dirty="0"/>
              <a:t> </a:t>
            </a:r>
            <a:r>
              <a:rPr lang="en-US" dirty="0" smtClean="0"/>
              <a:t>F</a:t>
            </a:r>
            <a:r>
              <a:rPr lang="id-ID" dirty="0" smtClean="0"/>
              <a:t>BN</a:t>
            </a:r>
            <a:r>
              <a:rPr lang="id-ID" dirty="0"/>
              <a:t>: SHUNT- SHUNT</a:t>
            </a:r>
          </a:p>
          <a:p>
            <a:pPr lvl="1"/>
            <a:r>
              <a:rPr lang="id-ID" dirty="0"/>
              <a:t>Input: </a:t>
            </a:r>
            <a:r>
              <a:rPr lang="id-ID" u="sng" dirty="0"/>
              <a:t>Shunt </a:t>
            </a:r>
            <a:r>
              <a:rPr lang="id-ID" dirty="0"/>
              <a:t>(arus) mixing</a:t>
            </a:r>
          </a:p>
          <a:p>
            <a:pPr lvl="1"/>
            <a:r>
              <a:rPr lang="id-ID" dirty="0"/>
              <a:t>Output: </a:t>
            </a:r>
            <a:r>
              <a:rPr lang="id-ID" u="sng" dirty="0"/>
              <a:t>Shunt</a:t>
            </a:r>
            <a:r>
              <a:rPr lang="id-ID" dirty="0"/>
              <a:t> (tegangan)</a:t>
            </a:r>
            <a:r>
              <a:rPr lang="en-US" dirty="0"/>
              <a:t> sampling</a:t>
            </a:r>
            <a:r>
              <a:rPr lang="id-ID" dirty="0"/>
              <a:t> (ingat volt-meter)</a:t>
            </a: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7467600" y="1607404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Sinyal</a:t>
            </a:r>
            <a:r>
              <a:rPr lang="en-US" sz="2400" dirty="0"/>
              <a:t> input: </a:t>
            </a:r>
            <a:r>
              <a:rPr lang="id-ID" sz="2400" dirty="0"/>
              <a:t>arus, </a:t>
            </a:r>
          </a:p>
          <a:p>
            <a:r>
              <a:rPr lang="en-US" sz="2400" dirty="0" err="1"/>
              <a:t>Sinyal</a:t>
            </a:r>
            <a:r>
              <a:rPr lang="en-US" sz="2400" dirty="0"/>
              <a:t> </a:t>
            </a:r>
            <a:r>
              <a:rPr lang="en-US" sz="2400" dirty="0"/>
              <a:t>output: </a:t>
            </a:r>
            <a:r>
              <a:rPr lang="id-ID" sz="2400" dirty="0"/>
              <a:t>tegangan</a:t>
            </a:r>
            <a:endParaRPr lang="en-US" sz="24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01" y="2642718"/>
            <a:ext cx="237172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575" y="3800476"/>
            <a:ext cx="28384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1" y="4943476"/>
            <a:ext cx="20097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381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4) </a:t>
            </a:r>
            <a:r>
              <a:rPr lang="en-US" dirty="0" smtClean="0"/>
              <a:t>F</a:t>
            </a:r>
            <a:r>
              <a:rPr lang="id-ID" dirty="0" smtClean="0"/>
              <a:t>BN </a:t>
            </a:r>
            <a:r>
              <a:rPr lang="id-ID" dirty="0"/>
              <a:t>Penguat </a:t>
            </a:r>
            <a:r>
              <a:rPr lang="id-ID" dirty="0" smtClean="0"/>
              <a:t>Trans-Impedansi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19200"/>
            <a:ext cx="321945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038600"/>
            <a:ext cx="2255574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1721054"/>
            <a:ext cx="6400800" cy="5136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8077200" y="4700972"/>
            <a:ext cx="457200" cy="4455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b="1" dirty="0">
                <a:solidFill>
                  <a:schemeClr val="tx2"/>
                </a:solidFill>
              </a:rPr>
              <a:t>+</a:t>
            </a:r>
            <a:endParaRPr lang="en-US" sz="3600" b="1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28492" y="4800601"/>
            <a:ext cx="4203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dirty="0">
                <a:solidFill>
                  <a:schemeClr val="tx2"/>
                </a:solidFill>
              </a:rPr>
              <a:t>-</a:t>
            </a:r>
            <a:endParaRPr lang="en-US" sz="60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85692" y="4930914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4000" dirty="0">
                <a:solidFill>
                  <a:srgbClr val="FF0000"/>
                </a:solidFill>
              </a:rPr>
              <a:t>+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25000" y="3733800"/>
            <a:ext cx="457200" cy="4455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400" b="1" dirty="0">
                <a:solidFill>
                  <a:srgbClr val="FF0000"/>
                </a:solidFill>
              </a:rPr>
              <a:t>-</a:t>
            </a:r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20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Contoh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en-US" smtClean="0"/>
          </a:p>
        </p:txBody>
      </p:sp>
      <p:graphicFrame>
        <p:nvGraphicFramePr>
          <p:cNvPr id="28676" name="Object 5"/>
          <p:cNvGraphicFramePr>
            <a:graphicFrameLocks noChangeAspect="1"/>
          </p:cNvGraphicFramePr>
          <p:nvPr/>
        </p:nvGraphicFramePr>
        <p:xfrm>
          <a:off x="7772400" y="1600201"/>
          <a:ext cx="20574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8" name="Equation" r:id="rId4" imgW="660400" imgH="228600" progId="Equation.3">
                  <p:embed/>
                </p:oleObj>
              </mc:Choice>
              <mc:Fallback>
                <p:oleObj name="Equation" r:id="rId4" imgW="660400" imgH="228600" progId="Equation.3">
                  <p:embed/>
                  <p:pic>
                    <p:nvPicPr>
                      <p:cNvPr id="2867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600201"/>
                        <a:ext cx="205740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4"/>
          <p:cNvGraphicFramePr>
            <a:graphicFrameLocks noChangeAspect="1"/>
          </p:cNvGraphicFramePr>
          <p:nvPr/>
        </p:nvGraphicFramePr>
        <p:xfrm>
          <a:off x="2971800" y="1371601"/>
          <a:ext cx="4724400" cy="468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9" name="Visio" r:id="rId6" imgW="2596063" imgH="2585517" progId="Visio.Drawing.11">
                  <p:embed/>
                </p:oleObj>
              </mc:Choice>
              <mc:Fallback>
                <p:oleObj name="Visio" r:id="rId6" imgW="2596063" imgH="2585517" progId="Visio.Drawing.11">
                  <p:embed/>
                  <p:pic>
                    <p:nvPicPr>
                      <p:cNvPr id="2867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371601"/>
                        <a:ext cx="4724400" cy="468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1524001" y="1839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1524001" y="2067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128028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Kesimpulan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 smtClean="0"/>
              <a:t>Topologi</a:t>
            </a:r>
            <a:r>
              <a:rPr lang="en-US" b="1" dirty="0" smtClean="0"/>
              <a:t> </a:t>
            </a:r>
            <a:r>
              <a:rPr lang="en-US" b="1" dirty="0" smtClean="0"/>
              <a:t>F</a:t>
            </a:r>
            <a:r>
              <a:rPr lang="id-ID" b="1" dirty="0" smtClean="0"/>
              <a:t>BN</a:t>
            </a:r>
            <a:r>
              <a:rPr lang="id-ID" dirty="0" smtClean="0"/>
              <a:t> </a:t>
            </a:r>
            <a:r>
              <a:rPr lang="id-ID" dirty="0" smtClean="0"/>
              <a:t>(penguat arus, tegangan, transkonduktansi, atau transimpedansi): </a:t>
            </a:r>
            <a:r>
              <a:rPr lang="en-US" dirty="0" err="1" smtClean="0"/>
              <a:t>disesuaikan</a:t>
            </a:r>
            <a:r>
              <a:rPr lang="en-US" dirty="0" smtClean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smtClean="0"/>
              <a:t>input</a:t>
            </a:r>
            <a:r>
              <a:rPr lang="id-ID" dirty="0" smtClean="0"/>
              <a:t> (sumber) </a:t>
            </a:r>
            <a:r>
              <a:rPr lang="en-US" dirty="0" smtClean="0"/>
              <a:t>/output</a:t>
            </a:r>
            <a:r>
              <a:rPr lang="id-ID" dirty="0" smtClean="0"/>
              <a:t> (terkendali)</a:t>
            </a:r>
            <a:endParaRPr lang="en-US" dirty="0"/>
          </a:p>
          <a:p>
            <a:r>
              <a:rPr lang="en-US" b="1" dirty="0"/>
              <a:t>Input: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err="1" smtClean="0"/>
              <a:t>Tegangan</a:t>
            </a:r>
            <a:r>
              <a:rPr lang="en-US" dirty="0"/>
              <a:t>; </a:t>
            </a:r>
            <a:r>
              <a:rPr lang="en-US" dirty="0" err="1"/>
              <a:t>butuh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Series-Mixing.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err="1" smtClean="0"/>
              <a:t>Arus</a:t>
            </a:r>
            <a:r>
              <a:rPr lang="id-ID" dirty="0"/>
              <a:t>;</a:t>
            </a:r>
            <a:r>
              <a:rPr lang="en-US" dirty="0" smtClean="0"/>
              <a:t> </a:t>
            </a:r>
            <a:r>
              <a:rPr lang="en-US" dirty="0" err="1"/>
              <a:t>butuh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baseline="-25000" dirty="0" err="1"/>
              <a:t>in</a:t>
            </a:r>
            <a:r>
              <a:rPr lang="en-US" dirty="0"/>
              <a:t> </a:t>
            </a:r>
            <a:r>
              <a:rPr lang="en-US" dirty="0" err="1"/>
              <a:t>sekecil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smtClean="0"/>
              <a:t>Shunt-Mixing</a:t>
            </a:r>
            <a:endParaRPr lang="id-ID" b="1" dirty="0" smtClean="0"/>
          </a:p>
          <a:p>
            <a:r>
              <a:rPr lang="en-US" b="1" dirty="0" smtClean="0"/>
              <a:t>Output</a:t>
            </a:r>
            <a:r>
              <a:rPr lang="en-US" b="1" dirty="0"/>
              <a:t>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err="1" smtClean="0"/>
              <a:t>Tegangan</a:t>
            </a:r>
            <a:r>
              <a:rPr lang="en-US" dirty="0"/>
              <a:t>; </a:t>
            </a:r>
            <a:r>
              <a:rPr lang="en-US" dirty="0" err="1"/>
              <a:t>butuh</a:t>
            </a:r>
            <a:r>
              <a:rPr lang="en-US" dirty="0"/>
              <a:t> R</a:t>
            </a:r>
            <a:r>
              <a:rPr lang="en-US" baseline="-25000" dirty="0"/>
              <a:t>out</a:t>
            </a:r>
            <a:r>
              <a:rPr lang="en-US" dirty="0"/>
              <a:t> </a:t>
            </a:r>
            <a:r>
              <a:rPr lang="en-US" dirty="0" err="1"/>
              <a:t>sekecil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Shunt (voltage – Sampling).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err="1" smtClean="0"/>
              <a:t>Arus</a:t>
            </a:r>
            <a:r>
              <a:rPr lang="en-US" dirty="0"/>
              <a:t>; </a:t>
            </a:r>
            <a:r>
              <a:rPr lang="en-US" dirty="0" err="1"/>
              <a:t>butuh</a:t>
            </a:r>
            <a:r>
              <a:rPr lang="en-US" dirty="0"/>
              <a:t> R</a:t>
            </a:r>
            <a:r>
              <a:rPr lang="en-US" baseline="-25000" dirty="0"/>
              <a:t>out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Series (current – Sampling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59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Lakukan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fi-FI" dirty="0" smtClean="0"/>
              <a:t>umpan </a:t>
            </a:r>
            <a:r>
              <a:rPr lang="fi-FI" dirty="0"/>
              <a:t>balik negatif </a:t>
            </a:r>
            <a:r>
              <a:rPr lang="fi-FI" dirty="0" smtClean="0"/>
              <a:t>bertikut: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957" y="2719272"/>
            <a:ext cx="2526846" cy="299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23872</TotalTime>
  <Words>511</Words>
  <Application>Microsoft Office PowerPoint</Application>
  <PresentationFormat>Widescreen</PresentationFormat>
  <Paragraphs>133</Paragraphs>
  <Slides>17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맑은 고딕</vt:lpstr>
      <vt:lpstr>Arial</vt:lpstr>
      <vt:lpstr>Calibri</vt:lpstr>
      <vt:lpstr>Calibri Light</vt:lpstr>
      <vt:lpstr>Cambria Math</vt:lpstr>
      <vt:lpstr>Edwardian Script ITC</vt:lpstr>
      <vt:lpstr>Symbol</vt:lpstr>
      <vt:lpstr>Times New Roman</vt:lpstr>
      <vt:lpstr>Wingdings</vt:lpstr>
      <vt:lpstr>Office Theme</vt:lpstr>
      <vt:lpstr>Equation</vt:lpstr>
      <vt:lpstr>Visio</vt:lpstr>
      <vt:lpstr>PowerPoint Presentation</vt:lpstr>
      <vt:lpstr>Op Amp_FeedBack negatif( FBN)</vt:lpstr>
      <vt:lpstr>1) Topologi FBN: Penguat Tegangan</vt:lpstr>
      <vt:lpstr>1) FeedBack Negatif Penguat Tegangan</vt:lpstr>
      <vt:lpstr>Contoh</vt:lpstr>
      <vt:lpstr>2) Topologi FBN: Penguat Arus</vt:lpstr>
      <vt:lpstr>2) FBN Penguat Arus</vt:lpstr>
      <vt:lpstr>PowerPoint Presentation</vt:lpstr>
      <vt:lpstr>3) Topologi FBN: Penguat Trans-Konduktansi</vt:lpstr>
      <vt:lpstr>3) FBN Penguat Trans-Konduktansi</vt:lpstr>
      <vt:lpstr>Contoh :</vt:lpstr>
      <vt:lpstr>4) Topologi FBN: Penguat Trans-Impedansi/ Trans-Resistansi</vt:lpstr>
      <vt:lpstr>4) FBN Penguat Trans-Impedansi</vt:lpstr>
      <vt:lpstr>Contoh</vt:lpstr>
      <vt:lpstr>Kesimpulan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124</cp:revision>
  <dcterms:created xsi:type="dcterms:W3CDTF">2024-10-22T07:52:57Z</dcterms:created>
  <dcterms:modified xsi:type="dcterms:W3CDTF">2026-03-25T03:05:08Z</dcterms:modified>
</cp:coreProperties>
</file>