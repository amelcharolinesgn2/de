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7" r:id="rId1"/>
  </p:sldMasterIdLst>
  <p:notesMasterIdLst>
    <p:notesMasterId r:id="rId30"/>
  </p:notesMasterIdLst>
  <p:sldIdLst>
    <p:sldId id="256" r:id="rId2"/>
    <p:sldId id="27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38" r:id="rId26"/>
    <p:sldId id="314" r:id="rId27"/>
    <p:sldId id="315" r:id="rId28"/>
    <p:sldId id="27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1A9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31"/>
    <p:restoredTop sz="74248" autoAdjust="0"/>
  </p:normalViewPr>
  <p:slideViewPr>
    <p:cSldViewPr snapToGrid="0">
      <p:cViewPr varScale="1">
        <p:scale>
          <a:sx n="49" d="100"/>
          <a:sy n="49" d="100"/>
        </p:scale>
        <p:origin x="48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AD89A-DE75-490E-B3B8-DA645685EB5B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2648F-4152-4278-B136-F77E8E2B3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28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81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9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0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73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2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87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0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4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2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42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05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8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0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4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3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41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22.bin"/><Relationship Id="rId18" Type="http://schemas.openxmlformats.org/officeDocument/2006/relationships/oleObject" Target="../embeddings/oleObject25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45.wmf"/><Relationship Id="rId19" Type="http://schemas.openxmlformats.org/officeDocument/2006/relationships/image" Target="../media/image49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47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7" Type="http://schemas.openxmlformats.org/officeDocument/2006/relationships/image" Target="../media/image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26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7" Type="http://schemas.openxmlformats.org/officeDocument/2006/relationships/image" Target="../media/image5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2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A787E-D6B3-8B0D-9456-5D2BA79AB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1179" y="3987071"/>
            <a:ext cx="7235659" cy="681673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  <a:spcAft>
                <a:spcPts val="1000"/>
              </a:spcAft>
            </a:pPr>
            <a:r>
              <a:rPr lang="en-US" sz="4000" b="1" dirty="0" err="1" smtClean="0"/>
              <a:t>Penguat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Tegangan</a:t>
            </a:r>
            <a:endParaRPr lang="en-US" sz="2200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9718" y="4619069"/>
            <a:ext cx="1493454" cy="309770"/>
          </a:xfrm>
        </p:spPr>
        <p:txBody>
          <a:bodyPr>
            <a:normAutofit lnSpcReduction="10000"/>
          </a:bodyPr>
          <a:lstStyle/>
          <a:p>
            <a:r>
              <a:rPr lang="en-US" sz="1600" dirty="0" smtClean="0"/>
              <a:t>PDS</a:t>
            </a:r>
            <a:endParaRPr lang="en-US" sz="1600" dirty="0"/>
          </a:p>
        </p:txBody>
      </p:sp>
      <p:pic>
        <p:nvPicPr>
          <p:cNvPr id="48" name="Picture 47" descr="White structure">
            <a:extLst>
              <a:ext uri="{FF2B5EF4-FFF2-40B4-BE49-F238E27FC236}">
                <a16:creationId xmlns:a16="http://schemas.microsoft.com/office/drawing/2014/main" id="{E0652CF5-4E0B-F89D-4D88-A13BE5A6A8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0" r="25990" b="3"/>
          <a:stretch/>
        </p:blipFill>
        <p:spPr>
          <a:xfrm>
            <a:off x="-1" y="1371600"/>
            <a:ext cx="4076699" cy="411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26FD42-6AB7-9431-FDD4-769D80985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361" y="330959"/>
            <a:ext cx="4640189" cy="329714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346874" y="2470551"/>
            <a:ext cx="3064025" cy="1516520"/>
            <a:chOff x="4853562" y="1589418"/>
            <a:chExt cx="2609520" cy="1291565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1">
                <a:solidFill>
                  <a:schemeClr val="tx1"/>
                </a:solidFill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1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Freeform: Shape 67">
            <a:extLst>
              <a:ext uri="{FF2B5EF4-FFF2-40B4-BE49-F238E27FC236}">
                <a16:creationId xmlns:a16="http://schemas.microsoft.com/office/drawing/2014/main" id="{275D1FAA-C13F-4A6B-BA37-7704CFB7ADCD}"/>
              </a:ext>
            </a:extLst>
          </p:cNvPr>
          <p:cNvSpPr/>
          <p:nvPr/>
        </p:nvSpPr>
        <p:spPr>
          <a:xfrm>
            <a:off x="1948515" y="3348349"/>
            <a:ext cx="276281" cy="203382"/>
          </a:xfrm>
          <a:custGeom>
            <a:avLst/>
            <a:gdLst>
              <a:gd name="connsiteX0" fmla="*/ 1869041 w 3738080"/>
              <a:gd name="connsiteY0" fmla="*/ 1997576 h 2751770"/>
              <a:gd name="connsiteX1" fmla="*/ 2246138 w 3738080"/>
              <a:gd name="connsiteY1" fmla="*/ 2374673 h 2751770"/>
              <a:gd name="connsiteX2" fmla="*/ 1869041 w 3738080"/>
              <a:gd name="connsiteY2" fmla="*/ 2751770 h 2751770"/>
              <a:gd name="connsiteX3" fmla="*/ 1491944 w 3738080"/>
              <a:gd name="connsiteY3" fmla="*/ 2374673 h 2751770"/>
              <a:gd name="connsiteX4" fmla="*/ 1869041 w 3738080"/>
              <a:gd name="connsiteY4" fmla="*/ 1997576 h 2751770"/>
              <a:gd name="connsiteX5" fmla="*/ 2788485 w 3738080"/>
              <a:gd name="connsiteY5" fmla="*/ 1841061 h 2751770"/>
              <a:gd name="connsiteX6" fmla="*/ 2632248 w 3738080"/>
              <a:gd name="connsiteY6" fmla="*/ 1992174 h 2751770"/>
              <a:gd name="connsiteX7" fmla="*/ 2624294 w 3738080"/>
              <a:gd name="connsiteY7" fmla="*/ 1992174 h 2751770"/>
              <a:gd name="connsiteX8" fmla="*/ 1858846 w 3738080"/>
              <a:gd name="connsiteY8" fmla="*/ 1306247 h 2751770"/>
              <a:gd name="connsiteX9" fmla="*/ 2645621 w 3738080"/>
              <a:gd name="connsiteY9" fmla="*/ 1504218 h 2751770"/>
              <a:gd name="connsiteX10" fmla="*/ 2795575 w 3738080"/>
              <a:gd name="connsiteY10" fmla="*/ 1757331 h 2751770"/>
              <a:gd name="connsiteX11" fmla="*/ 2539052 w 3738080"/>
              <a:gd name="connsiteY11" fmla="*/ 1841672 h 2751770"/>
              <a:gd name="connsiteX12" fmla="*/ 1353947 w 3738080"/>
              <a:gd name="connsiteY12" fmla="*/ 1778974 h 2751770"/>
              <a:gd name="connsiteX13" fmla="*/ 982333 w 3738080"/>
              <a:gd name="connsiteY13" fmla="*/ 1780833 h 2751770"/>
              <a:gd name="connsiteX14" fmla="*/ 966756 w 3738080"/>
              <a:gd name="connsiteY14" fmla="*/ 1667407 h 2751770"/>
              <a:gd name="connsiteX15" fmla="*/ 1217540 w 3738080"/>
              <a:gd name="connsiteY15" fmla="*/ 1445700 h 2751770"/>
              <a:gd name="connsiteX16" fmla="*/ 1858846 w 3738080"/>
              <a:gd name="connsiteY16" fmla="*/ 1306247 h 2751770"/>
              <a:gd name="connsiteX17" fmla="*/ 1828129 w 3738080"/>
              <a:gd name="connsiteY17" fmla="*/ 650059 h 2751770"/>
              <a:gd name="connsiteX18" fmla="*/ 3108200 w 3738080"/>
              <a:gd name="connsiteY18" fmla="*/ 1008980 h 2751770"/>
              <a:gd name="connsiteX19" fmla="*/ 3258155 w 3738080"/>
              <a:gd name="connsiteY19" fmla="*/ 1319033 h 2751770"/>
              <a:gd name="connsiteX20" fmla="*/ 2937692 w 3738080"/>
              <a:gd name="connsiteY20" fmla="*/ 1304637 h 2751770"/>
              <a:gd name="connsiteX21" fmla="*/ 763561 w 3738080"/>
              <a:gd name="connsiteY21" fmla="*/ 1325535 h 2751770"/>
              <a:gd name="connsiteX22" fmla="*/ 464412 w 3738080"/>
              <a:gd name="connsiteY22" fmla="*/ 1278813 h 2751770"/>
              <a:gd name="connsiteX23" fmla="*/ 450482 w 3738080"/>
              <a:gd name="connsiteY23" fmla="*/ 1202928 h 2751770"/>
              <a:gd name="connsiteX24" fmla="*/ 622892 w 3738080"/>
              <a:gd name="connsiteY24" fmla="*/ 1008979 h 2751770"/>
              <a:gd name="connsiteX25" fmla="*/ 1828129 w 3738080"/>
              <a:gd name="connsiteY25" fmla="*/ 650059 h 2751770"/>
              <a:gd name="connsiteX26" fmla="*/ 1764313 w 3738080"/>
              <a:gd name="connsiteY26" fmla="*/ 591 h 2751770"/>
              <a:gd name="connsiteX27" fmla="*/ 3559697 w 3738080"/>
              <a:gd name="connsiteY27" fmla="*/ 547180 h 2751770"/>
              <a:gd name="connsiteX28" fmla="*/ 3709650 w 3738080"/>
              <a:gd name="connsiteY28" fmla="*/ 882310 h 2751770"/>
              <a:gd name="connsiteX29" fmla="*/ 3367875 w 3738080"/>
              <a:gd name="connsiteY29" fmla="*/ 834477 h 2751770"/>
              <a:gd name="connsiteX30" fmla="*/ 318417 w 3738080"/>
              <a:gd name="connsiteY30" fmla="*/ 884635 h 2751770"/>
              <a:gd name="connsiteX31" fmla="*/ 19267 w 3738080"/>
              <a:gd name="connsiteY31" fmla="*/ 846272 h 2751770"/>
              <a:gd name="connsiteX32" fmla="*/ 275 w 3738080"/>
              <a:gd name="connsiteY32" fmla="*/ 760137 h 2751770"/>
              <a:gd name="connsiteX33" fmla="*/ 173484 w 3738080"/>
              <a:gd name="connsiteY33" fmla="*/ 547180 h 2751770"/>
              <a:gd name="connsiteX34" fmla="*/ 1764313 w 3738080"/>
              <a:gd name="connsiteY34" fmla="*/ 591 h 2751770"/>
              <a:gd name="connsiteX0" fmla="*/ 1869041 w 3738080"/>
              <a:gd name="connsiteY0" fmla="*/ 1997576 h 2751770"/>
              <a:gd name="connsiteX1" fmla="*/ 2246138 w 3738080"/>
              <a:gd name="connsiteY1" fmla="*/ 2374673 h 2751770"/>
              <a:gd name="connsiteX2" fmla="*/ 1869041 w 3738080"/>
              <a:gd name="connsiteY2" fmla="*/ 2751770 h 2751770"/>
              <a:gd name="connsiteX3" fmla="*/ 1491944 w 3738080"/>
              <a:gd name="connsiteY3" fmla="*/ 2374673 h 2751770"/>
              <a:gd name="connsiteX4" fmla="*/ 1869041 w 3738080"/>
              <a:gd name="connsiteY4" fmla="*/ 1997576 h 2751770"/>
              <a:gd name="connsiteX5" fmla="*/ 2624294 w 3738080"/>
              <a:gd name="connsiteY5" fmla="*/ 1992174 h 2751770"/>
              <a:gd name="connsiteX6" fmla="*/ 2632248 w 3738080"/>
              <a:gd name="connsiteY6" fmla="*/ 1992174 h 2751770"/>
              <a:gd name="connsiteX7" fmla="*/ 2624294 w 3738080"/>
              <a:gd name="connsiteY7" fmla="*/ 1992174 h 2751770"/>
              <a:gd name="connsiteX8" fmla="*/ 1858846 w 3738080"/>
              <a:gd name="connsiteY8" fmla="*/ 1306247 h 2751770"/>
              <a:gd name="connsiteX9" fmla="*/ 2645621 w 3738080"/>
              <a:gd name="connsiteY9" fmla="*/ 1504218 h 2751770"/>
              <a:gd name="connsiteX10" fmla="*/ 2795575 w 3738080"/>
              <a:gd name="connsiteY10" fmla="*/ 1757331 h 2751770"/>
              <a:gd name="connsiteX11" fmla="*/ 2539052 w 3738080"/>
              <a:gd name="connsiteY11" fmla="*/ 1841672 h 2751770"/>
              <a:gd name="connsiteX12" fmla="*/ 1353947 w 3738080"/>
              <a:gd name="connsiteY12" fmla="*/ 1778974 h 2751770"/>
              <a:gd name="connsiteX13" fmla="*/ 982333 w 3738080"/>
              <a:gd name="connsiteY13" fmla="*/ 1780833 h 2751770"/>
              <a:gd name="connsiteX14" fmla="*/ 966756 w 3738080"/>
              <a:gd name="connsiteY14" fmla="*/ 1667407 h 2751770"/>
              <a:gd name="connsiteX15" fmla="*/ 1217540 w 3738080"/>
              <a:gd name="connsiteY15" fmla="*/ 1445700 h 2751770"/>
              <a:gd name="connsiteX16" fmla="*/ 1858846 w 3738080"/>
              <a:gd name="connsiteY16" fmla="*/ 1306247 h 2751770"/>
              <a:gd name="connsiteX17" fmla="*/ 1828129 w 3738080"/>
              <a:gd name="connsiteY17" fmla="*/ 650059 h 2751770"/>
              <a:gd name="connsiteX18" fmla="*/ 3108200 w 3738080"/>
              <a:gd name="connsiteY18" fmla="*/ 1008980 h 2751770"/>
              <a:gd name="connsiteX19" fmla="*/ 3258155 w 3738080"/>
              <a:gd name="connsiteY19" fmla="*/ 1319033 h 2751770"/>
              <a:gd name="connsiteX20" fmla="*/ 2937692 w 3738080"/>
              <a:gd name="connsiteY20" fmla="*/ 1304637 h 2751770"/>
              <a:gd name="connsiteX21" fmla="*/ 763561 w 3738080"/>
              <a:gd name="connsiteY21" fmla="*/ 1325535 h 2751770"/>
              <a:gd name="connsiteX22" fmla="*/ 464412 w 3738080"/>
              <a:gd name="connsiteY22" fmla="*/ 1278813 h 2751770"/>
              <a:gd name="connsiteX23" fmla="*/ 450482 w 3738080"/>
              <a:gd name="connsiteY23" fmla="*/ 1202928 h 2751770"/>
              <a:gd name="connsiteX24" fmla="*/ 622892 w 3738080"/>
              <a:gd name="connsiteY24" fmla="*/ 1008979 h 2751770"/>
              <a:gd name="connsiteX25" fmla="*/ 1828129 w 3738080"/>
              <a:gd name="connsiteY25" fmla="*/ 650059 h 2751770"/>
              <a:gd name="connsiteX26" fmla="*/ 1764313 w 3738080"/>
              <a:gd name="connsiteY26" fmla="*/ 591 h 2751770"/>
              <a:gd name="connsiteX27" fmla="*/ 3559697 w 3738080"/>
              <a:gd name="connsiteY27" fmla="*/ 547180 h 2751770"/>
              <a:gd name="connsiteX28" fmla="*/ 3709650 w 3738080"/>
              <a:gd name="connsiteY28" fmla="*/ 882310 h 2751770"/>
              <a:gd name="connsiteX29" fmla="*/ 3367875 w 3738080"/>
              <a:gd name="connsiteY29" fmla="*/ 834477 h 2751770"/>
              <a:gd name="connsiteX30" fmla="*/ 318417 w 3738080"/>
              <a:gd name="connsiteY30" fmla="*/ 884635 h 2751770"/>
              <a:gd name="connsiteX31" fmla="*/ 19267 w 3738080"/>
              <a:gd name="connsiteY31" fmla="*/ 846272 h 2751770"/>
              <a:gd name="connsiteX32" fmla="*/ 275 w 3738080"/>
              <a:gd name="connsiteY32" fmla="*/ 760137 h 2751770"/>
              <a:gd name="connsiteX33" fmla="*/ 173484 w 3738080"/>
              <a:gd name="connsiteY33" fmla="*/ 547180 h 2751770"/>
              <a:gd name="connsiteX34" fmla="*/ 1764313 w 3738080"/>
              <a:gd name="connsiteY34" fmla="*/ 591 h 2751770"/>
              <a:gd name="connsiteX0" fmla="*/ 1869041 w 3738080"/>
              <a:gd name="connsiteY0" fmla="*/ 1997576 h 2751770"/>
              <a:gd name="connsiteX1" fmla="*/ 2246138 w 3738080"/>
              <a:gd name="connsiteY1" fmla="*/ 2374673 h 2751770"/>
              <a:gd name="connsiteX2" fmla="*/ 1869041 w 3738080"/>
              <a:gd name="connsiteY2" fmla="*/ 2751770 h 2751770"/>
              <a:gd name="connsiteX3" fmla="*/ 1491944 w 3738080"/>
              <a:gd name="connsiteY3" fmla="*/ 2374673 h 2751770"/>
              <a:gd name="connsiteX4" fmla="*/ 1869041 w 3738080"/>
              <a:gd name="connsiteY4" fmla="*/ 1997576 h 2751770"/>
              <a:gd name="connsiteX5" fmla="*/ 1858846 w 3738080"/>
              <a:gd name="connsiteY5" fmla="*/ 1306247 h 2751770"/>
              <a:gd name="connsiteX6" fmla="*/ 2645621 w 3738080"/>
              <a:gd name="connsiteY6" fmla="*/ 1504218 h 2751770"/>
              <a:gd name="connsiteX7" fmla="*/ 2795575 w 3738080"/>
              <a:gd name="connsiteY7" fmla="*/ 1757331 h 2751770"/>
              <a:gd name="connsiteX8" fmla="*/ 2539052 w 3738080"/>
              <a:gd name="connsiteY8" fmla="*/ 1841672 h 2751770"/>
              <a:gd name="connsiteX9" fmla="*/ 1353947 w 3738080"/>
              <a:gd name="connsiteY9" fmla="*/ 1778974 h 2751770"/>
              <a:gd name="connsiteX10" fmla="*/ 982333 w 3738080"/>
              <a:gd name="connsiteY10" fmla="*/ 1780833 h 2751770"/>
              <a:gd name="connsiteX11" fmla="*/ 966756 w 3738080"/>
              <a:gd name="connsiteY11" fmla="*/ 1667407 h 2751770"/>
              <a:gd name="connsiteX12" fmla="*/ 1217540 w 3738080"/>
              <a:gd name="connsiteY12" fmla="*/ 1445700 h 2751770"/>
              <a:gd name="connsiteX13" fmla="*/ 1858846 w 3738080"/>
              <a:gd name="connsiteY13" fmla="*/ 1306247 h 2751770"/>
              <a:gd name="connsiteX14" fmla="*/ 1828129 w 3738080"/>
              <a:gd name="connsiteY14" fmla="*/ 650059 h 2751770"/>
              <a:gd name="connsiteX15" fmla="*/ 3108200 w 3738080"/>
              <a:gd name="connsiteY15" fmla="*/ 1008980 h 2751770"/>
              <a:gd name="connsiteX16" fmla="*/ 3258155 w 3738080"/>
              <a:gd name="connsiteY16" fmla="*/ 1319033 h 2751770"/>
              <a:gd name="connsiteX17" fmla="*/ 2937692 w 3738080"/>
              <a:gd name="connsiteY17" fmla="*/ 1304637 h 2751770"/>
              <a:gd name="connsiteX18" fmla="*/ 763561 w 3738080"/>
              <a:gd name="connsiteY18" fmla="*/ 1325535 h 2751770"/>
              <a:gd name="connsiteX19" fmla="*/ 464412 w 3738080"/>
              <a:gd name="connsiteY19" fmla="*/ 1278813 h 2751770"/>
              <a:gd name="connsiteX20" fmla="*/ 450482 w 3738080"/>
              <a:gd name="connsiteY20" fmla="*/ 1202928 h 2751770"/>
              <a:gd name="connsiteX21" fmla="*/ 622892 w 3738080"/>
              <a:gd name="connsiteY21" fmla="*/ 1008979 h 2751770"/>
              <a:gd name="connsiteX22" fmla="*/ 1828129 w 3738080"/>
              <a:gd name="connsiteY22" fmla="*/ 650059 h 2751770"/>
              <a:gd name="connsiteX23" fmla="*/ 1764313 w 3738080"/>
              <a:gd name="connsiteY23" fmla="*/ 591 h 2751770"/>
              <a:gd name="connsiteX24" fmla="*/ 3559697 w 3738080"/>
              <a:gd name="connsiteY24" fmla="*/ 547180 h 2751770"/>
              <a:gd name="connsiteX25" fmla="*/ 3709650 w 3738080"/>
              <a:gd name="connsiteY25" fmla="*/ 882310 h 2751770"/>
              <a:gd name="connsiteX26" fmla="*/ 3367875 w 3738080"/>
              <a:gd name="connsiteY26" fmla="*/ 834477 h 2751770"/>
              <a:gd name="connsiteX27" fmla="*/ 318417 w 3738080"/>
              <a:gd name="connsiteY27" fmla="*/ 884635 h 2751770"/>
              <a:gd name="connsiteX28" fmla="*/ 19267 w 3738080"/>
              <a:gd name="connsiteY28" fmla="*/ 846272 h 2751770"/>
              <a:gd name="connsiteX29" fmla="*/ 275 w 3738080"/>
              <a:gd name="connsiteY29" fmla="*/ 760137 h 2751770"/>
              <a:gd name="connsiteX30" fmla="*/ 173484 w 3738080"/>
              <a:gd name="connsiteY30" fmla="*/ 547180 h 2751770"/>
              <a:gd name="connsiteX31" fmla="*/ 1764313 w 3738080"/>
              <a:gd name="connsiteY31" fmla="*/ 591 h 2751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738080" h="2751770">
                <a:moveTo>
                  <a:pt x="1869041" y="1997576"/>
                </a:moveTo>
                <a:cubicBezTo>
                  <a:pt x="2077306" y="1997576"/>
                  <a:pt x="2246138" y="2166408"/>
                  <a:pt x="2246138" y="2374673"/>
                </a:cubicBezTo>
                <a:cubicBezTo>
                  <a:pt x="2246138" y="2582938"/>
                  <a:pt x="2077306" y="2751770"/>
                  <a:pt x="1869041" y="2751770"/>
                </a:cubicBezTo>
                <a:cubicBezTo>
                  <a:pt x="1660776" y="2751770"/>
                  <a:pt x="1491944" y="2582938"/>
                  <a:pt x="1491944" y="2374673"/>
                </a:cubicBezTo>
                <a:cubicBezTo>
                  <a:pt x="1491944" y="2166408"/>
                  <a:pt x="1660776" y="1997576"/>
                  <a:pt x="1869041" y="1997576"/>
                </a:cubicBezTo>
                <a:close/>
                <a:moveTo>
                  <a:pt x="1858846" y="1306247"/>
                </a:moveTo>
                <a:cubicBezTo>
                  <a:pt x="2165924" y="1301758"/>
                  <a:pt x="2404940" y="1399722"/>
                  <a:pt x="2645621" y="1504218"/>
                </a:cubicBezTo>
                <a:cubicBezTo>
                  <a:pt x="2813424" y="1597955"/>
                  <a:pt x="2823993" y="1678797"/>
                  <a:pt x="2795575" y="1757331"/>
                </a:cubicBezTo>
                <a:cubicBezTo>
                  <a:pt x="2761471" y="1842158"/>
                  <a:pt x="2685239" y="1908552"/>
                  <a:pt x="2539052" y="1841672"/>
                </a:cubicBezTo>
                <a:cubicBezTo>
                  <a:pt x="2347207" y="1684231"/>
                  <a:pt x="1733351" y="1556050"/>
                  <a:pt x="1353947" y="1778974"/>
                </a:cubicBezTo>
                <a:cubicBezTo>
                  <a:pt x="1250080" y="1855218"/>
                  <a:pt x="1037749" y="1915097"/>
                  <a:pt x="982333" y="1780833"/>
                </a:cubicBezTo>
                <a:cubicBezTo>
                  <a:pt x="968480" y="1736637"/>
                  <a:pt x="963386" y="1699601"/>
                  <a:pt x="966756" y="1667407"/>
                </a:cubicBezTo>
                <a:cubicBezTo>
                  <a:pt x="976866" y="1570822"/>
                  <a:pt x="1063141" y="1517802"/>
                  <a:pt x="1217540" y="1445700"/>
                </a:cubicBezTo>
                <a:cubicBezTo>
                  <a:pt x="1465851" y="1348519"/>
                  <a:pt x="1674601" y="1308942"/>
                  <a:pt x="1858846" y="1306247"/>
                </a:cubicBezTo>
                <a:close/>
                <a:moveTo>
                  <a:pt x="1828129" y="650059"/>
                </a:moveTo>
                <a:cubicBezTo>
                  <a:pt x="2445754" y="646836"/>
                  <a:pt x="2937662" y="894034"/>
                  <a:pt x="3108200" y="1008980"/>
                </a:cubicBezTo>
                <a:cubicBezTo>
                  <a:pt x="3228810" y="1075858"/>
                  <a:pt x="3343409" y="1171509"/>
                  <a:pt x="3258155" y="1319033"/>
                </a:cubicBezTo>
                <a:cubicBezTo>
                  <a:pt x="3134282" y="1435449"/>
                  <a:pt x="3057301" y="1393031"/>
                  <a:pt x="2937692" y="1304637"/>
                </a:cubicBezTo>
                <a:cubicBezTo>
                  <a:pt x="2647778" y="1191783"/>
                  <a:pt x="2008321" y="619142"/>
                  <a:pt x="763561" y="1325535"/>
                </a:cubicBezTo>
                <a:cubicBezTo>
                  <a:pt x="621636" y="1425852"/>
                  <a:pt x="511304" y="1376178"/>
                  <a:pt x="464412" y="1278813"/>
                </a:cubicBezTo>
                <a:cubicBezTo>
                  <a:pt x="452398" y="1252494"/>
                  <a:pt x="448110" y="1227223"/>
                  <a:pt x="450482" y="1202928"/>
                </a:cubicBezTo>
                <a:cubicBezTo>
                  <a:pt x="457599" y="1130049"/>
                  <a:pt x="524660" y="1065987"/>
                  <a:pt x="622892" y="1008979"/>
                </a:cubicBezTo>
                <a:cubicBezTo>
                  <a:pt x="1041721" y="744082"/>
                  <a:pt x="1457554" y="651995"/>
                  <a:pt x="1828129" y="650059"/>
                </a:cubicBezTo>
                <a:close/>
                <a:moveTo>
                  <a:pt x="1764313" y="591"/>
                </a:moveTo>
                <a:cubicBezTo>
                  <a:pt x="2430887" y="-13278"/>
                  <a:pt x="3056659" y="218017"/>
                  <a:pt x="3559697" y="547180"/>
                </a:cubicBezTo>
                <a:cubicBezTo>
                  <a:pt x="3671781" y="597338"/>
                  <a:pt x="3794905" y="759863"/>
                  <a:pt x="3709650" y="882310"/>
                </a:cubicBezTo>
                <a:cubicBezTo>
                  <a:pt x="3594303" y="984791"/>
                  <a:pt x="3449118" y="907547"/>
                  <a:pt x="3367875" y="834477"/>
                </a:cubicBezTo>
                <a:cubicBezTo>
                  <a:pt x="3193985" y="725799"/>
                  <a:pt x="1920315" y="-235561"/>
                  <a:pt x="318417" y="884635"/>
                </a:cubicBezTo>
                <a:cubicBezTo>
                  <a:pt x="189280" y="993311"/>
                  <a:pt x="70419" y="922739"/>
                  <a:pt x="19267" y="846272"/>
                </a:cubicBezTo>
                <a:cubicBezTo>
                  <a:pt x="4410" y="817516"/>
                  <a:pt x="-1388" y="788500"/>
                  <a:pt x="275" y="760137"/>
                </a:cubicBezTo>
                <a:cubicBezTo>
                  <a:pt x="5260" y="675044"/>
                  <a:pt x="77384" y="595829"/>
                  <a:pt x="173484" y="547180"/>
                </a:cubicBezTo>
                <a:cubicBezTo>
                  <a:pt x="702741" y="170471"/>
                  <a:pt x="1245868" y="11376"/>
                  <a:pt x="1764313" y="591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ectangle 11"/>
          <p:cNvSpPr/>
          <p:nvPr/>
        </p:nvSpPr>
        <p:spPr>
          <a:xfrm>
            <a:off x="6422695" y="6291845"/>
            <a:ext cx="49108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https://github.com/amelcharolinesgn2/DE/upload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9475" y="5801383"/>
            <a:ext cx="3957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https://www.youtube.com/@AmelOline</a:t>
            </a:r>
          </a:p>
        </p:txBody>
      </p:sp>
    </p:spTree>
    <p:extLst>
      <p:ext uri="{BB962C8B-B14F-4D97-AF65-F5344CB8AC3E}">
        <p14:creationId xmlns:p14="http://schemas.microsoft.com/office/powerpoint/2010/main" val="3235850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Transistor </a:t>
            </a:r>
            <a:r>
              <a:rPr lang="en-US" b="1" dirty="0"/>
              <a:t>amplifiers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194" y="2141204"/>
            <a:ext cx="4657748" cy="293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7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1524000" y="45720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G</a:t>
            </a:r>
            <a:endParaRPr lang="en-US"/>
          </a:p>
        </p:txBody>
      </p:sp>
      <p:sp>
        <p:nvSpPr>
          <p:cNvPr id="2065" name="Text Box 17"/>
          <p:cNvSpPr txBox="1">
            <a:spLocks noChangeArrowheads="1"/>
          </p:cNvSpPr>
          <p:nvPr/>
        </p:nvSpPr>
        <p:spPr bwMode="auto">
          <a:xfrm>
            <a:off x="1524000" y="0"/>
            <a:ext cx="472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PENGUAT COMMON EMITTER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1828800" y="838200"/>
            <a:ext cx="6553200" cy="5359400"/>
            <a:chOff x="192" y="528"/>
            <a:chExt cx="4128" cy="3376"/>
          </a:xfrm>
        </p:grpSpPr>
        <p:pic>
          <p:nvPicPr>
            <p:cNvPr id="2069" name="Picture 21" descr="ce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92" y="672"/>
              <a:ext cx="3800" cy="3232"/>
            </a:xfrm>
            <a:prstGeom prst="rect">
              <a:avLst/>
            </a:prstGeom>
            <a:noFill/>
          </p:spPr>
        </p:pic>
        <p:sp>
          <p:nvSpPr>
            <p:cNvPr id="2054" name="Text Box 6"/>
            <p:cNvSpPr txBox="1">
              <a:spLocks noChangeArrowheads="1"/>
            </p:cNvSpPr>
            <p:nvPr/>
          </p:nvSpPr>
          <p:spPr bwMode="auto">
            <a:xfrm>
              <a:off x="2160" y="1392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C</a:t>
              </a:r>
              <a:endParaRPr lang="en-US"/>
            </a:p>
          </p:txBody>
        </p:sp>
        <p:sp>
          <p:nvSpPr>
            <p:cNvPr id="2055" name="Text Box 7"/>
            <p:cNvSpPr txBox="1">
              <a:spLocks noChangeArrowheads="1"/>
            </p:cNvSpPr>
            <p:nvPr/>
          </p:nvSpPr>
          <p:spPr bwMode="auto">
            <a:xfrm>
              <a:off x="3648" y="2688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L</a:t>
              </a:r>
              <a:endParaRPr lang="en-US"/>
            </a:p>
          </p:txBody>
        </p:sp>
        <p:sp>
          <p:nvSpPr>
            <p:cNvPr id="2056" name="Text Box 8"/>
            <p:cNvSpPr txBox="1">
              <a:spLocks noChangeArrowheads="1"/>
            </p:cNvSpPr>
            <p:nvPr/>
          </p:nvSpPr>
          <p:spPr bwMode="auto">
            <a:xfrm>
              <a:off x="1536" y="1536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1</a:t>
              </a:r>
              <a:endParaRPr lang="en-US"/>
            </a:p>
          </p:txBody>
        </p:sp>
        <p:sp>
          <p:nvSpPr>
            <p:cNvPr id="2057" name="Text Box 9"/>
            <p:cNvSpPr txBox="1">
              <a:spLocks noChangeArrowheads="1"/>
            </p:cNvSpPr>
            <p:nvPr/>
          </p:nvSpPr>
          <p:spPr bwMode="auto">
            <a:xfrm>
              <a:off x="1536" y="278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2</a:t>
              </a:r>
              <a:endParaRPr lang="en-US"/>
            </a:p>
          </p:txBody>
        </p:sp>
        <p:sp>
          <p:nvSpPr>
            <p:cNvPr id="2058" name="Text Box 10"/>
            <p:cNvSpPr txBox="1">
              <a:spLocks noChangeArrowheads="1"/>
            </p:cNvSpPr>
            <p:nvPr/>
          </p:nvSpPr>
          <p:spPr bwMode="auto">
            <a:xfrm>
              <a:off x="2160" y="2928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E</a:t>
              </a:r>
              <a:endParaRPr lang="en-US"/>
            </a:p>
          </p:txBody>
        </p:sp>
        <p:sp>
          <p:nvSpPr>
            <p:cNvPr id="2059" name="Text Box 11"/>
            <p:cNvSpPr txBox="1">
              <a:spLocks noChangeArrowheads="1"/>
            </p:cNvSpPr>
            <p:nvPr/>
          </p:nvSpPr>
          <p:spPr bwMode="auto">
            <a:xfrm>
              <a:off x="2928" y="158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</a:t>
              </a:r>
              <a:r>
                <a:rPr lang="en-US" baseline="-25000"/>
                <a:t>2</a:t>
              </a:r>
              <a:endParaRPr lang="en-US"/>
            </a:p>
          </p:txBody>
        </p:sp>
        <p:sp>
          <p:nvSpPr>
            <p:cNvPr id="2060" name="Text Box 12"/>
            <p:cNvSpPr txBox="1">
              <a:spLocks noChangeArrowheads="1"/>
            </p:cNvSpPr>
            <p:nvPr/>
          </p:nvSpPr>
          <p:spPr bwMode="auto">
            <a:xfrm>
              <a:off x="1392" y="192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</a:t>
              </a:r>
              <a:r>
                <a:rPr lang="en-US" baseline="-25000"/>
                <a:t>1</a:t>
              </a:r>
              <a:endParaRPr lang="en-US"/>
            </a:p>
          </p:txBody>
        </p:sp>
        <p:sp>
          <p:nvSpPr>
            <p:cNvPr id="2061" name="Text Box 13"/>
            <p:cNvSpPr txBox="1">
              <a:spLocks noChangeArrowheads="1"/>
            </p:cNvSpPr>
            <p:nvPr/>
          </p:nvSpPr>
          <p:spPr bwMode="auto">
            <a:xfrm>
              <a:off x="3120" y="288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</a:t>
              </a:r>
              <a:r>
                <a:rPr lang="en-US" baseline="-25000"/>
                <a:t>E</a:t>
              </a:r>
              <a:endParaRPr lang="en-US"/>
            </a:p>
          </p:txBody>
        </p:sp>
        <p:sp>
          <p:nvSpPr>
            <p:cNvPr id="2062" name="Text Box 14"/>
            <p:cNvSpPr txBox="1">
              <a:spLocks noChangeArrowheads="1"/>
            </p:cNvSpPr>
            <p:nvPr/>
          </p:nvSpPr>
          <p:spPr bwMode="auto">
            <a:xfrm>
              <a:off x="2352" y="528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V</a:t>
              </a:r>
              <a:r>
                <a:rPr lang="en-US" baseline="-25000"/>
                <a:t>CC</a:t>
              </a:r>
              <a:endParaRPr lang="en-US"/>
            </a:p>
          </p:txBody>
        </p:sp>
        <p:sp>
          <p:nvSpPr>
            <p:cNvPr id="2063" name="Text Box 15"/>
            <p:cNvSpPr txBox="1">
              <a:spLocks noChangeArrowheads="1"/>
            </p:cNvSpPr>
            <p:nvPr/>
          </p:nvSpPr>
          <p:spPr bwMode="auto">
            <a:xfrm>
              <a:off x="3984" y="182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V</a:t>
              </a:r>
              <a:r>
                <a:rPr lang="en-US" baseline="-25000"/>
                <a:t>o</a:t>
              </a:r>
              <a:endParaRPr lang="en-US"/>
            </a:p>
          </p:txBody>
        </p:sp>
        <p:sp>
          <p:nvSpPr>
            <p:cNvPr id="2070" name="Text Box 22"/>
            <p:cNvSpPr txBox="1">
              <a:spLocks noChangeArrowheads="1"/>
            </p:cNvSpPr>
            <p:nvPr/>
          </p:nvSpPr>
          <p:spPr bwMode="auto">
            <a:xfrm>
              <a:off x="864" y="1968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G</a:t>
              </a:r>
              <a:endParaRPr lang="en-US"/>
            </a:p>
          </p:txBody>
        </p:sp>
      </p:grp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7086600" y="1"/>
            <a:ext cx="3581400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Analisis DC (f = 0)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/>
              <a:t> Semua sumber AC = 0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/>
              <a:t> Semua kapasitor open 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/>
              <a:t> Tentukan arus emiter I</a:t>
            </a:r>
            <a:r>
              <a:rPr lang="en-US" baseline="-25000"/>
              <a:t>E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baseline="-25000"/>
              <a:t> </a:t>
            </a:r>
            <a:r>
              <a:rPr lang="en-US"/>
              <a:t>Tentukan tahanan dalam r</a:t>
            </a:r>
            <a:r>
              <a:rPr lang="en-US" baseline="-25000"/>
              <a:t>e</a:t>
            </a:r>
            <a:r>
              <a:rPr lang="en-US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98465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6" name="Picture 24" descr="ce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0" y="838200"/>
            <a:ext cx="1866900" cy="5130800"/>
          </a:xfrm>
          <a:prstGeom prst="rect">
            <a:avLst/>
          </a:prstGeom>
          <a:noFill/>
        </p:spPr>
      </p:pic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7086600" y="1"/>
            <a:ext cx="3581400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Analisis DC (f = 0)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/>
              <a:t> Semua sumber AC = 0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/>
              <a:t> Semua kapasitor open 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/>
              <a:t> Tentukan arus emiter I</a:t>
            </a:r>
            <a:r>
              <a:rPr lang="en-US" baseline="-25000"/>
              <a:t>E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baseline="-25000"/>
              <a:t> </a:t>
            </a:r>
            <a:r>
              <a:rPr lang="en-US"/>
              <a:t>Tentukan tahanan dalam r</a:t>
            </a:r>
            <a:r>
              <a:rPr lang="en-US" baseline="-25000"/>
              <a:t>e</a:t>
            </a:r>
            <a:r>
              <a:rPr lang="en-US"/>
              <a:t>’</a:t>
            </a: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3200400" y="19812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C</a:t>
            </a:r>
            <a:endParaRPr lang="en-US"/>
          </a:p>
        </p:txBody>
      </p:sp>
      <p:sp>
        <p:nvSpPr>
          <p:cNvPr id="3081" name="Text Box 9"/>
          <p:cNvSpPr txBox="1">
            <a:spLocks noChangeArrowheads="1"/>
          </p:cNvSpPr>
          <p:nvPr/>
        </p:nvSpPr>
        <p:spPr bwMode="auto">
          <a:xfrm>
            <a:off x="2209800" y="22098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auto">
          <a:xfrm>
            <a:off x="2209800" y="41910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2</a:t>
            </a:r>
            <a:endParaRPr lang="en-US"/>
          </a:p>
        </p:txBody>
      </p:sp>
      <p:sp>
        <p:nvSpPr>
          <p:cNvPr id="3083" name="Text Box 11"/>
          <p:cNvSpPr txBox="1">
            <a:spLocks noChangeArrowheads="1"/>
          </p:cNvSpPr>
          <p:nvPr/>
        </p:nvSpPr>
        <p:spPr bwMode="auto">
          <a:xfrm>
            <a:off x="3200400" y="44196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E</a:t>
            </a:r>
            <a:endParaRPr lang="en-US"/>
          </a:p>
        </p:txBody>
      </p:sp>
      <p:sp>
        <p:nvSpPr>
          <p:cNvPr id="3087" name="Text Box 15"/>
          <p:cNvSpPr txBox="1">
            <a:spLocks noChangeArrowheads="1"/>
          </p:cNvSpPr>
          <p:nvPr/>
        </p:nvSpPr>
        <p:spPr bwMode="auto">
          <a:xfrm>
            <a:off x="3505200" y="609601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CC</a:t>
            </a:r>
            <a:endParaRPr lang="en-US"/>
          </a:p>
        </p:txBody>
      </p:sp>
      <p:sp>
        <p:nvSpPr>
          <p:cNvPr id="3092" name="Text Box 20"/>
          <p:cNvSpPr txBox="1">
            <a:spLocks noChangeArrowheads="1"/>
          </p:cNvSpPr>
          <p:nvPr/>
        </p:nvSpPr>
        <p:spPr bwMode="auto">
          <a:xfrm>
            <a:off x="2209800" y="32004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B</a:t>
            </a:r>
            <a:endParaRPr lang="en-US"/>
          </a:p>
        </p:txBody>
      </p:sp>
      <p:sp>
        <p:nvSpPr>
          <p:cNvPr id="3093" name="Text Box 21"/>
          <p:cNvSpPr txBox="1">
            <a:spLocks noChangeArrowheads="1"/>
          </p:cNvSpPr>
          <p:nvPr/>
        </p:nvSpPr>
        <p:spPr bwMode="auto">
          <a:xfrm>
            <a:off x="3733800" y="37338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E</a:t>
            </a:r>
            <a:endParaRPr lang="en-US"/>
          </a:p>
        </p:txBody>
      </p:sp>
      <p:sp>
        <p:nvSpPr>
          <p:cNvPr id="3094" name="Line 22"/>
          <p:cNvSpPr>
            <a:spLocks noChangeShapeType="1"/>
          </p:cNvSpPr>
          <p:nvPr/>
        </p:nvSpPr>
        <p:spPr bwMode="auto">
          <a:xfrm>
            <a:off x="3962400" y="4343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95" name="Text Box 23"/>
          <p:cNvSpPr txBox="1">
            <a:spLocks noChangeArrowheads="1"/>
          </p:cNvSpPr>
          <p:nvPr/>
        </p:nvSpPr>
        <p:spPr bwMode="auto">
          <a:xfrm>
            <a:off x="3962400" y="44196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</a:t>
            </a:r>
            <a:r>
              <a:rPr lang="en-US" baseline="-25000"/>
              <a:t>E</a:t>
            </a:r>
            <a:endParaRPr lang="en-US"/>
          </a:p>
        </p:txBody>
      </p:sp>
      <p:graphicFrame>
        <p:nvGraphicFramePr>
          <p:cNvPr id="3097" name="Object 25"/>
          <p:cNvGraphicFramePr>
            <a:graphicFrameLocks noChangeAspect="1"/>
          </p:cNvGraphicFramePr>
          <p:nvPr/>
        </p:nvGraphicFramePr>
        <p:xfrm>
          <a:off x="4648201" y="2057400"/>
          <a:ext cx="4202113" cy="461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4" imgW="2057400" imgH="2260440" progId="Equation.3">
                  <p:embed/>
                </p:oleObj>
              </mc:Choice>
              <mc:Fallback>
                <p:oleObj name="Equation" r:id="rId4" imgW="2057400" imgH="2260440" progId="Equation.3">
                  <p:embed/>
                  <p:pic>
                    <p:nvPicPr>
                      <p:cNvPr id="309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1" y="2057400"/>
                        <a:ext cx="4202113" cy="461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521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1524000" y="45720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G</a:t>
            </a:r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828800" y="838200"/>
            <a:ext cx="6553200" cy="5359400"/>
            <a:chOff x="192" y="528"/>
            <a:chExt cx="4128" cy="3376"/>
          </a:xfrm>
        </p:grpSpPr>
        <p:pic>
          <p:nvPicPr>
            <p:cNvPr id="4101" name="Picture 5" descr="ce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92" y="672"/>
              <a:ext cx="3800" cy="3232"/>
            </a:xfrm>
            <a:prstGeom prst="rect">
              <a:avLst/>
            </a:prstGeom>
            <a:noFill/>
          </p:spPr>
        </p:pic>
        <p:sp>
          <p:nvSpPr>
            <p:cNvPr id="4102" name="Text Box 6"/>
            <p:cNvSpPr txBox="1">
              <a:spLocks noChangeArrowheads="1"/>
            </p:cNvSpPr>
            <p:nvPr/>
          </p:nvSpPr>
          <p:spPr bwMode="auto">
            <a:xfrm>
              <a:off x="2160" y="1392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C</a:t>
              </a:r>
              <a:endParaRPr lang="en-US"/>
            </a:p>
          </p:txBody>
        </p:sp>
        <p:sp>
          <p:nvSpPr>
            <p:cNvPr id="4103" name="Text Box 7"/>
            <p:cNvSpPr txBox="1">
              <a:spLocks noChangeArrowheads="1"/>
            </p:cNvSpPr>
            <p:nvPr/>
          </p:nvSpPr>
          <p:spPr bwMode="auto">
            <a:xfrm>
              <a:off x="3648" y="2688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L</a:t>
              </a:r>
              <a:endParaRPr lang="en-US"/>
            </a:p>
          </p:txBody>
        </p:sp>
        <p:sp>
          <p:nvSpPr>
            <p:cNvPr id="4104" name="Text Box 8"/>
            <p:cNvSpPr txBox="1">
              <a:spLocks noChangeArrowheads="1"/>
            </p:cNvSpPr>
            <p:nvPr/>
          </p:nvSpPr>
          <p:spPr bwMode="auto">
            <a:xfrm>
              <a:off x="1536" y="1536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1</a:t>
              </a:r>
              <a:endParaRPr lang="en-US"/>
            </a:p>
          </p:txBody>
        </p:sp>
        <p:sp>
          <p:nvSpPr>
            <p:cNvPr id="4105" name="Text Box 9"/>
            <p:cNvSpPr txBox="1">
              <a:spLocks noChangeArrowheads="1"/>
            </p:cNvSpPr>
            <p:nvPr/>
          </p:nvSpPr>
          <p:spPr bwMode="auto">
            <a:xfrm>
              <a:off x="1536" y="278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2</a:t>
              </a:r>
              <a:endParaRPr lang="en-US"/>
            </a:p>
          </p:txBody>
        </p:sp>
        <p:sp>
          <p:nvSpPr>
            <p:cNvPr id="4106" name="Text Box 10"/>
            <p:cNvSpPr txBox="1">
              <a:spLocks noChangeArrowheads="1"/>
            </p:cNvSpPr>
            <p:nvPr/>
          </p:nvSpPr>
          <p:spPr bwMode="auto">
            <a:xfrm>
              <a:off x="2160" y="2928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E</a:t>
              </a:r>
              <a:endParaRPr lang="en-US"/>
            </a:p>
          </p:txBody>
        </p:sp>
        <p:sp>
          <p:nvSpPr>
            <p:cNvPr id="4107" name="Text Box 11"/>
            <p:cNvSpPr txBox="1">
              <a:spLocks noChangeArrowheads="1"/>
            </p:cNvSpPr>
            <p:nvPr/>
          </p:nvSpPr>
          <p:spPr bwMode="auto">
            <a:xfrm>
              <a:off x="2928" y="158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</a:t>
              </a:r>
              <a:r>
                <a:rPr lang="en-US" baseline="-25000"/>
                <a:t>2</a:t>
              </a:r>
              <a:endParaRPr lang="en-US"/>
            </a:p>
          </p:txBody>
        </p:sp>
        <p:sp>
          <p:nvSpPr>
            <p:cNvPr id="4108" name="Text Box 12"/>
            <p:cNvSpPr txBox="1">
              <a:spLocks noChangeArrowheads="1"/>
            </p:cNvSpPr>
            <p:nvPr/>
          </p:nvSpPr>
          <p:spPr bwMode="auto">
            <a:xfrm>
              <a:off x="1392" y="192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</a:t>
              </a:r>
              <a:r>
                <a:rPr lang="en-US" baseline="-25000"/>
                <a:t>1</a:t>
              </a:r>
              <a:endParaRPr lang="en-US"/>
            </a:p>
          </p:txBody>
        </p:sp>
        <p:sp>
          <p:nvSpPr>
            <p:cNvPr id="4109" name="Text Box 13"/>
            <p:cNvSpPr txBox="1">
              <a:spLocks noChangeArrowheads="1"/>
            </p:cNvSpPr>
            <p:nvPr/>
          </p:nvSpPr>
          <p:spPr bwMode="auto">
            <a:xfrm>
              <a:off x="3120" y="288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C</a:t>
              </a:r>
              <a:r>
                <a:rPr lang="en-US" baseline="-25000"/>
                <a:t>E</a:t>
              </a:r>
              <a:endParaRPr lang="en-US"/>
            </a:p>
          </p:txBody>
        </p:sp>
        <p:sp>
          <p:nvSpPr>
            <p:cNvPr id="4110" name="Text Box 14"/>
            <p:cNvSpPr txBox="1">
              <a:spLocks noChangeArrowheads="1"/>
            </p:cNvSpPr>
            <p:nvPr/>
          </p:nvSpPr>
          <p:spPr bwMode="auto">
            <a:xfrm>
              <a:off x="2352" y="528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V</a:t>
              </a:r>
              <a:r>
                <a:rPr lang="en-US" baseline="-25000"/>
                <a:t>CC</a:t>
              </a:r>
              <a:endParaRPr lang="en-US"/>
            </a:p>
          </p:txBody>
        </p:sp>
        <p:sp>
          <p:nvSpPr>
            <p:cNvPr id="4111" name="Text Box 15"/>
            <p:cNvSpPr txBox="1">
              <a:spLocks noChangeArrowheads="1"/>
            </p:cNvSpPr>
            <p:nvPr/>
          </p:nvSpPr>
          <p:spPr bwMode="auto">
            <a:xfrm>
              <a:off x="3984" y="182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V</a:t>
              </a:r>
              <a:r>
                <a:rPr lang="en-US" baseline="-25000"/>
                <a:t>o</a:t>
              </a:r>
              <a:endParaRPr lang="en-US"/>
            </a:p>
          </p:txBody>
        </p:sp>
        <p:sp>
          <p:nvSpPr>
            <p:cNvPr id="4112" name="Text Box 16"/>
            <p:cNvSpPr txBox="1">
              <a:spLocks noChangeArrowheads="1"/>
            </p:cNvSpPr>
            <p:nvPr/>
          </p:nvSpPr>
          <p:spPr bwMode="auto">
            <a:xfrm>
              <a:off x="864" y="1968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G</a:t>
              </a:r>
              <a:endParaRPr lang="en-US"/>
            </a:p>
          </p:txBody>
        </p:sp>
      </p:grpSp>
      <p:sp>
        <p:nvSpPr>
          <p:cNvPr id="4113" name="Text Box 17"/>
          <p:cNvSpPr txBox="1">
            <a:spLocks noChangeArrowheads="1"/>
          </p:cNvSpPr>
          <p:nvPr/>
        </p:nvSpPr>
        <p:spPr bwMode="auto">
          <a:xfrm>
            <a:off x="6172200" y="1"/>
            <a:ext cx="4495800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Analisis ac (f = </a:t>
            </a:r>
            <a:r>
              <a:rPr lang="en-US">
                <a:sym typeface="Symbol" pitchFamily="18" charset="2"/>
              </a:rPr>
              <a:t></a:t>
            </a:r>
            <a:r>
              <a:rPr lang="en-US"/>
              <a:t>)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/>
              <a:t> Semua sumber DC = 0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/>
              <a:t> Semua kapasitor short 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/>
              <a:t> Tentukan impedansi input basis Z</a:t>
            </a:r>
            <a:r>
              <a:rPr lang="en-US" baseline="-25000"/>
              <a:t>inbase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baseline="-25000"/>
              <a:t>  </a:t>
            </a:r>
            <a:r>
              <a:rPr lang="en-US"/>
              <a:t>Buat rangkaian pengganti ac</a:t>
            </a:r>
          </a:p>
        </p:txBody>
      </p:sp>
    </p:spTree>
    <p:extLst>
      <p:ext uri="{BB962C8B-B14F-4D97-AF65-F5344CB8AC3E}">
        <p14:creationId xmlns:p14="http://schemas.microsoft.com/office/powerpoint/2010/main" val="221666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524000" y="0"/>
            <a:ext cx="7315200" cy="2984500"/>
            <a:chOff x="96" y="336"/>
            <a:chExt cx="4608" cy="1880"/>
          </a:xfrm>
        </p:grpSpPr>
        <p:pic>
          <p:nvPicPr>
            <p:cNvPr id="5124" name="Picture 4" descr="ce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40" y="336"/>
              <a:ext cx="4184" cy="1880"/>
            </a:xfrm>
            <a:prstGeom prst="rect">
              <a:avLst/>
            </a:prstGeom>
            <a:noFill/>
          </p:spPr>
        </p:pic>
        <p:sp>
          <p:nvSpPr>
            <p:cNvPr id="5125" name="Text Box 5"/>
            <p:cNvSpPr txBox="1">
              <a:spLocks noChangeArrowheads="1"/>
            </p:cNvSpPr>
            <p:nvPr/>
          </p:nvSpPr>
          <p:spPr bwMode="auto">
            <a:xfrm>
              <a:off x="1056" y="120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1</a:t>
              </a:r>
              <a:endParaRPr lang="en-US"/>
            </a:p>
          </p:txBody>
        </p:sp>
        <p:sp>
          <p:nvSpPr>
            <p:cNvPr id="5126" name="Text Box 6"/>
            <p:cNvSpPr txBox="1">
              <a:spLocks noChangeArrowheads="1"/>
            </p:cNvSpPr>
            <p:nvPr/>
          </p:nvSpPr>
          <p:spPr bwMode="auto">
            <a:xfrm>
              <a:off x="1680" y="120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2</a:t>
              </a:r>
              <a:endParaRPr lang="en-US"/>
            </a:p>
          </p:txBody>
        </p:sp>
        <p:sp>
          <p:nvSpPr>
            <p:cNvPr id="5127" name="Text Box 7"/>
            <p:cNvSpPr txBox="1">
              <a:spLocks noChangeArrowheads="1"/>
            </p:cNvSpPr>
            <p:nvPr/>
          </p:nvSpPr>
          <p:spPr bwMode="auto">
            <a:xfrm>
              <a:off x="3360" y="1152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C</a:t>
              </a:r>
              <a:endParaRPr lang="en-US"/>
            </a:p>
          </p:txBody>
        </p:sp>
        <p:sp>
          <p:nvSpPr>
            <p:cNvPr id="5128" name="Text Box 8"/>
            <p:cNvSpPr txBox="1">
              <a:spLocks noChangeArrowheads="1"/>
            </p:cNvSpPr>
            <p:nvPr/>
          </p:nvSpPr>
          <p:spPr bwMode="auto">
            <a:xfrm>
              <a:off x="3936" y="1152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L</a:t>
              </a:r>
              <a:endParaRPr lang="en-US"/>
            </a:p>
          </p:txBody>
        </p:sp>
        <p:sp>
          <p:nvSpPr>
            <p:cNvPr id="5129" name="Text Box 9"/>
            <p:cNvSpPr txBox="1">
              <a:spLocks noChangeArrowheads="1"/>
            </p:cNvSpPr>
            <p:nvPr/>
          </p:nvSpPr>
          <p:spPr bwMode="auto">
            <a:xfrm>
              <a:off x="768" y="576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G</a:t>
              </a:r>
              <a:endParaRPr lang="en-US"/>
            </a:p>
          </p:txBody>
        </p:sp>
        <p:sp>
          <p:nvSpPr>
            <p:cNvPr id="5130" name="Text Box 10"/>
            <p:cNvSpPr txBox="1">
              <a:spLocks noChangeArrowheads="1"/>
            </p:cNvSpPr>
            <p:nvPr/>
          </p:nvSpPr>
          <p:spPr bwMode="auto">
            <a:xfrm>
              <a:off x="96" y="72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V</a:t>
              </a:r>
              <a:r>
                <a:rPr lang="en-US" baseline="-25000"/>
                <a:t>G</a:t>
              </a:r>
              <a:endParaRPr lang="en-US"/>
            </a:p>
          </p:txBody>
        </p:sp>
        <p:sp>
          <p:nvSpPr>
            <p:cNvPr id="5131" name="Text Box 11"/>
            <p:cNvSpPr txBox="1">
              <a:spLocks noChangeArrowheads="1"/>
            </p:cNvSpPr>
            <p:nvPr/>
          </p:nvSpPr>
          <p:spPr bwMode="auto">
            <a:xfrm>
              <a:off x="4368" y="432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V</a:t>
              </a:r>
              <a:r>
                <a:rPr lang="en-US" baseline="-25000"/>
                <a:t>o</a:t>
              </a:r>
              <a:endParaRPr lang="en-US"/>
            </a:p>
          </p:txBody>
        </p:sp>
      </p:grpSp>
      <p:pic>
        <p:nvPicPr>
          <p:cNvPr id="5133" name="Picture 13" descr="ce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52600" y="3276600"/>
            <a:ext cx="4610100" cy="2971800"/>
          </a:xfrm>
          <a:prstGeom prst="rect">
            <a:avLst/>
          </a:prstGeom>
          <a:noFill/>
        </p:spPr>
      </p:pic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5638800" y="4572001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c</a:t>
            </a:r>
            <a:endParaRPr lang="en-US"/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3505200" y="4724401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12</a:t>
            </a:r>
            <a:endParaRPr lang="en-US"/>
          </a:p>
        </p:txBody>
      </p:sp>
      <p:sp>
        <p:nvSpPr>
          <p:cNvPr id="5136" name="Text Box 16"/>
          <p:cNvSpPr txBox="1">
            <a:spLocks noChangeArrowheads="1"/>
          </p:cNvSpPr>
          <p:nvPr/>
        </p:nvSpPr>
        <p:spPr bwMode="auto">
          <a:xfrm>
            <a:off x="2438400" y="36576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G</a:t>
            </a:r>
            <a:endParaRPr lang="en-US"/>
          </a:p>
        </p:txBody>
      </p:sp>
      <p:sp>
        <p:nvSpPr>
          <p:cNvPr id="5137" name="Text Box 17"/>
          <p:cNvSpPr txBox="1">
            <a:spLocks noChangeArrowheads="1"/>
          </p:cNvSpPr>
          <p:nvPr/>
        </p:nvSpPr>
        <p:spPr bwMode="auto">
          <a:xfrm>
            <a:off x="6172200" y="34290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o</a:t>
            </a:r>
            <a:endParaRPr lang="en-US"/>
          </a:p>
        </p:txBody>
      </p:sp>
      <p:sp>
        <p:nvSpPr>
          <p:cNvPr id="5138" name="Text Box 18"/>
          <p:cNvSpPr txBox="1">
            <a:spLocks noChangeArrowheads="1"/>
          </p:cNvSpPr>
          <p:nvPr/>
        </p:nvSpPr>
        <p:spPr bwMode="auto">
          <a:xfrm>
            <a:off x="1524000" y="38100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G</a:t>
            </a:r>
            <a:endParaRPr lang="en-US"/>
          </a:p>
        </p:txBody>
      </p:sp>
      <p:graphicFrame>
        <p:nvGraphicFramePr>
          <p:cNvPr id="5139" name="Object 19"/>
          <p:cNvGraphicFramePr>
            <a:graphicFrameLocks noChangeAspect="1"/>
          </p:cNvGraphicFramePr>
          <p:nvPr/>
        </p:nvGraphicFramePr>
        <p:xfrm>
          <a:off x="6858000" y="3276600"/>
          <a:ext cx="3276600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5" imgW="1549080" imgH="888840" progId="Equation.3">
                  <p:embed/>
                </p:oleObj>
              </mc:Choice>
              <mc:Fallback>
                <p:oleObj name="Equation" r:id="rId5" imgW="1549080" imgH="888840" progId="Equation.3">
                  <p:embed/>
                  <p:pic>
                    <p:nvPicPr>
                      <p:cNvPr id="513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276600"/>
                        <a:ext cx="3276600" cy="187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0" name="Line 20"/>
          <p:cNvSpPr>
            <a:spLocks noChangeShapeType="1"/>
          </p:cNvSpPr>
          <p:nvPr/>
        </p:nvSpPr>
        <p:spPr bwMode="auto">
          <a:xfrm>
            <a:off x="6934200" y="4953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41" name="Text Box 21"/>
          <p:cNvSpPr txBox="1">
            <a:spLocks noChangeArrowheads="1"/>
          </p:cNvSpPr>
          <p:nvPr/>
        </p:nvSpPr>
        <p:spPr bwMode="auto">
          <a:xfrm>
            <a:off x="6705600" y="5638801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Tahanan kolektor ac</a:t>
            </a:r>
          </a:p>
        </p:txBody>
      </p:sp>
    </p:spTree>
    <p:extLst>
      <p:ext uri="{BB962C8B-B14F-4D97-AF65-F5344CB8AC3E}">
        <p14:creationId xmlns:p14="http://schemas.microsoft.com/office/powerpoint/2010/main" val="3852106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7" name="Picture 23" descr="ce5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1676400"/>
            <a:ext cx="5270500" cy="2578100"/>
          </a:xfrm>
          <a:prstGeom prst="rect">
            <a:avLst/>
          </a:prstGeom>
          <a:noFill/>
        </p:spPr>
      </p:pic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1524000" y="0"/>
            <a:ext cx="594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RANGKAIAN PENGGANTI TRANSISTOR</a:t>
            </a: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4038600" y="1371600"/>
            <a:ext cx="2438400" cy="2133600"/>
          </a:xfrm>
          <a:prstGeom prst="rect">
            <a:avLst/>
          </a:prstGeom>
          <a:solidFill>
            <a:srgbClr val="CCECFF">
              <a:alpha val="0"/>
            </a:srgbClr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5334000" y="3505201"/>
            <a:ext cx="1143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Model T</a:t>
            </a:r>
          </a:p>
        </p:txBody>
      </p:sp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6781800" y="25908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c</a:t>
            </a:r>
            <a:endParaRPr lang="en-US"/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5410200" y="15240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</a:t>
            </a:r>
            <a:r>
              <a:rPr lang="en-US" baseline="-25000"/>
              <a:t>c</a:t>
            </a:r>
            <a:endParaRPr lang="en-US"/>
          </a:p>
        </p:txBody>
      </p:sp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4191000" y="16002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</a:t>
            </a:r>
            <a:r>
              <a:rPr lang="en-US" baseline="-25000"/>
              <a:t>b</a:t>
            </a:r>
            <a:endParaRPr lang="en-US"/>
          </a:p>
        </p:txBody>
      </p:sp>
      <p:sp>
        <p:nvSpPr>
          <p:cNvPr id="6155" name="Text Box 11"/>
          <p:cNvSpPr txBox="1">
            <a:spLocks noChangeArrowheads="1"/>
          </p:cNvSpPr>
          <p:nvPr/>
        </p:nvSpPr>
        <p:spPr bwMode="auto">
          <a:xfrm>
            <a:off x="4343400" y="25908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</a:t>
            </a:r>
            <a:r>
              <a:rPr lang="en-US" baseline="-25000"/>
              <a:t>e</a:t>
            </a:r>
            <a:endParaRPr lang="en-US"/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>
            <a:off x="4038600" y="1981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57" name="Line 13"/>
          <p:cNvSpPr>
            <a:spLocks noChangeShapeType="1"/>
          </p:cNvSpPr>
          <p:nvPr/>
        </p:nvSpPr>
        <p:spPr bwMode="auto">
          <a:xfrm>
            <a:off x="4648200" y="2590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59" name="Text Box 15"/>
          <p:cNvSpPr txBox="1">
            <a:spLocks noChangeArrowheads="1"/>
          </p:cNvSpPr>
          <p:nvPr/>
        </p:nvSpPr>
        <p:spPr bwMode="auto">
          <a:xfrm>
            <a:off x="3048000" y="25908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12</a:t>
            </a:r>
            <a:endParaRPr lang="en-US"/>
          </a:p>
        </p:txBody>
      </p:sp>
      <p:sp>
        <p:nvSpPr>
          <p:cNvPr id="6160" name="Text Box 16"/>
          <p:cNvSpPr txBox="1">
            <a:spLocks noChangeArrowheads="1"/>
          </p:cNvSpPr>
          <p:nvPr/>
        </p:nvSpPr>
        <p:spPr bwMode="auto">
          <a:xfrm>
            <a:off x="4953000" y="25908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e</a:t>
            </a:r>
            <a:r>
              <a:rPr lang="en-US"/>
              <a:t>’</a:t>
            </a:r>
          </a:p>
        </p:txBody>
      </p:sp>
      <p:graphicFrame>
        <p:nvGraphicFramePr>
          <p:cNvPr id="6161" name="Object 17"/>
          <p:cNvGraphicFramePr>
            <a:graphicFrameLocks noChangeAspect="1"/>
          </p:cNvGraphicFramePr>
          <p:nvPr/>
        </p:nvGraphicFramePr>
        <p:xfrm>
          <a:off x="7239000" y="533400"/>
          <a:ext cx="3213100" cy="523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4" imgW="1231560" imgH="2006280" progId="Equation.3">
                  <p:embed/>
                </p:oleObj>
              </mc:Choice>
              <mc:Fallback>
                <p:oleObj name="Equation" r:id="rId4" imgW="1231560" imgH="2006280" progId="Equation.3">
                  <p:embed/>
                  <p:pic>
                    <p:nvPicPr>
                      <p:cNvPr id="616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33400"/>
                        <a:ext cx="3213100" cy="5233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3" name="Text Box 19"/>
          <p:cNvSpPr txBox="1">
            <a:spLocks noChangeArrowheads="1"/>
          </p:cNvSpPr>
          <p:nvPr/>
        </p:nvSpPr>
        <p:spPr bwMode="auto">
          <a:xfrm>
            <a:off x="2667000" y="16764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G</a:t>
            </a:r>
            <a:endParaRPr lang="en-US"/>
          </a:p>
        </p:txBody>
      </p:sp>
      <p:sp>
        <p:nvSpPr>
          <p:cNvPr id="6164" name="Text Box 20"/>
          <p:cNvSpPr txBox="1">
            <a:spLocks noChangeArrowheads="1"/>
          </p:cNvSpPr>
          <p:nvPr/>
        </p:nvSpPr>
        <p:spPr bwMode="auto">
          <a:xfrm>
            <a:off x="4724400" y="16764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</a:p>
        </p:txBody>
      </p:sp>
      <p:sp>
        <p:nvSpPr>
          <p:cNvPr id="6165" name="Text Box 21"/>
          <p:cNvSpPr txBox="1">
            <a:spLocks noChangeArrowheads="1"/>
          </p:cNvSpPr>
          <p:nvPr/>
        </p:nvSpPr>
        <p:spPr bwMode="auto">
          <a:xfrm>
            <a:off x="6096000" y="16764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</a:t>
            </a:r>
          </a:p>
        </p:txBody>
      </p:sp>
      <p:graphicFrame>
        <p:nvGraphicFramePr>
          <p:cNvPr id="6166" name="Object 22"/>
          <p:cNvGraphicFramePr>
            <a:graphicFrameLocks noChangeAspect="1"/>
          </p:cNvGraphicFramePr>
          <p:nvPr/>
        </p:nvGraphicFramePr>
        <p:xfrm>
          <a:off x="1981200" y="4724401"/>
          <a:ext cx="4273550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6" imgW="1638000" imgH="723600" progId="Equation.3">
                  <p:embed/>
                </p:oleObj>
              </mc:Choice>
              <mc:Fallback>
                <p:oleObj name="Equation" r:id="rId6" imgW="1638000" imgH="723600" progId="Equation.3">
                  <p:embed/>
                  <p:pic>
                    <p:nvPicPr>
                      <p:cNvPr id="616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724401"/>
                        <a:ext cx="4273550" cy="188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8" name="Text Box 24"/>
          <p:cNvSpPr txBox="1">
            <a:spLocks noChangeArrowheads="1"/>
          </p:cNvSpPr>
          <p:nvPr/>
        </p:nvSpPr>
        <p:spPr bwMode="auto">
          <a:xfrm>
            <a:off x="4876800" y="31242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e</a:t>
            </a:r>
          </a:p>
        </p:txBody>
      </p:sp>
      <p:sp>
        <p:nvSpPr>
          <p:cNvPr id="6169" name="Line 25"/>
          <p:cNvSpPr>
            <a:spLocks noChangeShapeType="1"/>
          </p:cNvSpPr>
          <p:nvPr/>
        </p:nvSpPr>
        <p:spPr bwMode="auto">
          <a:xfrm>
            <a:off x="3810000" y="1143000"/>
            <a:ext cx="0" cy="3200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70" name="Line 26"/>
          <p:cNvSpPr>
            <a:spLocks noChangeShapeType="1"/>
          </p:cNvSpPr>
          <p:nvPr/>
        </p:nvSpPr>
        <p:spPr bwMode="auto">
          <a:xfrm>
            <a:off x="3810000" y="1143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71" name="Line 27"/>
          <p:cNvSpPr>
            <a:spLocks noChangeShapeType="1"/>
          </p:cNvSpPr>
          <p:nvPr/>
        </p:nvSpPr>
        <p:spPr bwMode="auto">
          <a:xfrm>
            <a:off x="3810000" y="43434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72" name="Text Box 28"/>
          <p:cNvSpPr txBox="1">
            <a:spLocks noChangeArrowheads="1"/>
          </p:cNvSpPr>
          <p:nvPr/>
        </p:nvSpPr>
        <p:spPr bwMode="auto">
          <a:xfrm>
            <a:off x="4724400" y="914401"/>
            <a:ext cx="91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z</a:t>
            </a:r>
            <a:r>
              <a:rPr lang="en-US" baseline="-25000"/>
              <a:t>in(base)</a:t>
            </a:r>
            <a:endParaRPr lang="en-US"/>
          </a:p>
        </p:txBody>
      </p:sp>
      <p:sp>
        <p:nvSpPr>
          <p:cNvPr id="6173" name="Text Box 29"/>
          <p:cNvSpPr txBox="1">
            <a:spLocks noChangeArrowheads="1"/>
          </p:cNvSpPr>
          <p:nvPr/>
        </p:nvSpPr>
        <p:spPr bwMode="auto">
          <a:xfrm>
            <a:off x="1524000" y="19050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63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 descr="ce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685801"/>
            <a:ext cx="6096000" cy="2379663"/>
          </a:xfrm>
          <a:prstGeom prst="rect">
            <a:avLst/>
          </a:prstGeom>
          <a:noFill/>
        </p:spPr>
      </p:pic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7772400" y="15240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c</a:t>
            </a:r>
            <a:endParaRPr lang="en-US"/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6705600" y="14478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</a:t>
            </a:r>
            <a:r>
              <a:rPr lang="en-US" baseline="-25000"/>
              <a:t>c</a:t>
            </a:r>
            <a:endParaRPr lang="en-US"/>
          </a:p>
        </p:txBody>
      </p:sp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4648200" y="16002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ym typeface="Symbol" pitchFamily="18" charset="2"/>
              </a:rPr>
              <a:t></a:t>
            </a:r>
            <a:r>
              <a:rPr lang="en-US"/>
              <a:t>r</a:t>
            </a:r>
            <a:r>
              <a:rPr lang="en-US" baseline="-25000"/>
              <a:t>c</a:t>
            </a:r>
            <a:r>
              <a:rPr lang="en-US"/>
              <a:t>’</a:t>
            </a: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2895600" y="5334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G</a:t>
            </a:r>
            <a:endParaRPr lang="en-US"/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3352800" y="16764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12</a:t>
            </a:r>
            <a:endParaRPr lang="en-US"/>
          </a:p>
        </p:txBody>
      </p:sp>
      <p:sp>
        <p:nvSpPr>
          <p:cNvPr id="7181" name="Rectangle 13"/>
          <p:cNvSpPr>
            <a:spLocks noChangeArrowheads="1"/>
          </p:cNvSpPr>
          <p:nvPr/>
        </p:nvSpPr>
        <p:spPr bwMode="auto">
          <a:xfrm>
            <a:off x="4343400" y="609600"/>
            <a:ext cx="2819400" cy="21336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5257800" y="685801"/>
            <a:ext cx="1219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Model </a:t>
            </a:r>
            <a:r>
              <a:rPr lang="en-US">
                <a:sym typeface="Symbol" pitchFamily="18" charset="2"/>
              </a:rPr>
              <a:t></a:t>
            </a:r>
          </a:p>
        </p:txBody>
      </p:sp>
      <p:pic>
        <p:nvPicPr>
          <p:cNvPr id="7183" name="Picture 15" descr="ce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57400" y="3657600"/>
            <a:ext cx="4356100" cy="2095500"/>
          </a:xfrm>
          <a:prstGeom prst="rect">
            <a:avLst/>
          </a:prstGeom>
          <a:noFill/>
        </p:spPr>
      </p:pic>
      <p:sp>
        <p:nvSpPr>
          <p:cNvPr id="7184" name="Text Box 16"/>
          <p:cNvSpPr txBox="1">
            <a:spLocks noChangeArrowheads="1"/>
          </p:cNvSpPr>
          <p:nvPr/>
        </p:nvSpPr>
        <p:spPr bwMode="auto">
          <a:xfrm>
            <a:off x="6172200" y="43434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c</a:t>
            </a:r>
            <a:endParaRPr lang="en-US"/>
          </a:p>
        </p:txBody>
      </p:sp>
      <p:sp>
        <p:nvSpPr>
          <p:cNvPr id="7185" name="Text Box 17"/>
          <p:cNvSpPr txBox="1">
            <a:spLocks noChangeArrowheads="1"/>
          </p:cNvSpPr>
          <p:nvPr/>
        </p:nvSpPr>
        <p:spPr bwMode="auto">
          <a:xfrm>
            <a:off x="3962400" y="44196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z</a:t>
            </a:r>
            <a:r>
              <a:rPr lang="en-US" baseline="-25000"/>
              <a:t>in</a:t>
            </a:r>
            <a:endParaRPr lang="en-US"/>
          </a:p>
        </p:txBody>
      </p:sp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2819400" y="35814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G</a:t>
            </a:r>
            <a:endParaRPr lang="en-US"/>
          </a:p>
        </p:txBody>
      </p:sp>
      <p:sp>
        <p:nvSpPr>
          <p:cNvPr id="7187" name="Text Box 19"/>
          <p:cNvSpPr txBox="1">
            <a:spLocks noChangeArrowheads="1"/>
          </p:cNvSpPr>
          <p:nvPr/>
        </p:nvSpPr>
        <p:spPr bwMode="auto">
          <a:xfrm>
            <a:off x="6096000" y="37338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o</a:t>
            </a:r>
            <a:endParaRPr lang="en-US"/>
          </a:p>
        </p:txBody>
      </p:sp>
      <p:sp>
        <p:nvSpPr>
          <p:cNvPr id="7188" name="Text Box 20"/>
          <p:cNvSpPr txBox="1">
            <a:spLocks noChangeArrowheads="1"/>
          </p:cNvSpPr>
          <p:nvPr/>
        </p:nvSpPr>
        <p:spPr bwMode="auto">
          <a:xfrm>
            <a:off x="3733800" y="36576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b</a:t>
            </a:r>
            <a:endParaRPr lang="en-US"/>
          </a:p>
        </p:txBody>
      </p:sp>
      <p:graphicFrame>
        <p:nvGraphicFramePr>
          <p:cNvPr id="7189" name="Object 21"/>
          <p:cNvGraphicFramePr>
            <a:graphicFrameLocks noChangeAspect="1"/>
          </p:cNvGraphicFramePr>
          <p:nvPr/>
        </p:nvGraphicFramePr>
        <p:xfrm>
          <a:off x="7221538" y="3048000"/>
          <a:ext cx="3446462" cy="335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5" imgW="1409400" imgH="1371600" progId="Equation.3">
                  <p:embed/>
                </p:oleObj>
              </mc:Choice>
              <mc:Fallback>
                <p:oleObj name="Equation" r:id="rId5" imgW="1409400" imgH="1371600" progId="Equation.3">
                  <p:embed/>
                  <p:pic>
                    <p:nvPicPr>
                      <p:cNvPr id="718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1538" y="3048000"/>
                        <a:ext cx="3446462" cy="3354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0" name="Text Box 22"/>
          <p:cNvSpPr txBox="1">
            <a:spLocks noChangeArrowheads="1"/>
          </p:cNvSpPr>
          <p:nvPr/>
        </p:nvSpPr>
        <p:spPr bwMode="auto">
          <a:xfrm>
            <a:off x="1828800" y="8382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G</a:t>
            </a:r>
            <a:endParaRPr lang="en-US"/>
          </a:p>
        </p:txBody>
      </p:sp>
      <p:sp>
        <p:nvSpPr>
          <p:cNvPr id="7191" name="Text Box 23"/>
          <p:cNvSpPr txBox="1">
            <a:spLocks noChangeArrowheads="1"/>
          </p:cNvSpPr>
          <p:nvPr/>
        </p:nvSpPr>
        <p:spPr bwMode="auto">
          <a:xfrm>
            <a:off x="1828800" y="38100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G</a:t>
            </a:r>
            <a:endParaRPr lang="en-US"/>
          </a:p>
        </p:txBody>
      </p:sp>
      <p:sp>
        <p:nvSpPr>
          <p:cNvPr id="7192" name="Line 24"/>
          <p:cNvSpPr>
            <a:spLocks noChangeShapeType="1"/>
          </p:cNvSpPr>
          <p:nvPr/>
        </p:nvSpPr>
        <p:spPr bwMode="auto">
          <a:xfrm>
            <a:off x="3810000" y="3810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193" name="Line 25"/>
          <p:cNvSpPr>
            <a:spLocks noChangeShapeType="1"/>
          </p:cNvSpPr>
          <p:nvPr/>
        </p:nvSpPr>
        <p:spPr bwMode="auto">
          <a:xfrm>
            <a:off x="3810000" y="3048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>
            <a:off x="3810000" y="381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195" name="Text Box 27"/>
          <p:cNvSpPr txBox="1">
            <a:spLocks noChangeArrowheads="1"/>
          </p:cNvSpPr>
          <p:nvPr/>
        </p:nvSpPr>
        <p:spPr bwMode="auto">
          <a:xfrm>
            <a:off x="4572000" y="152401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z</a:t>
            </a:r>
            <a:r>
              <a:rPr lang="en-US" baseline="-25000"/>
              <a:t>in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66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914400"/>
            <a:ext cx="5715000" cy="414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8229600" y="2971800"/>
            <a:ext cx="914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ym typeface="Symbol" pitchFamily="18" charset="2"/>
              </a:rPr>
              <a:t> =100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1524000" y="1"/>
            <a:ext cx="6934200" cy="119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u="sng"/>
              <a:t>Contoh soal 4.1</a:t>
            </a:r>
          </a:p>
          <a:p>
            <a:pPr>
              <a:spcBef>
                <a:spcPct val="50000"/>
              </a:spcBef>
            </a:pPr>
            <a:r>
              <a:rPr lang="en-US"/>
              <a:t>a). Tentukan tegangan output dari penguat CE di bawah  ini</a:t>
            </a:r>
          </a:p>
          <a:p>
            <a:pPr>
              <a:spcBef>
                <a:spcPct val="50000"/>
              </a:spcBef>
            </a:pPr>
            <a:r>
              <a:rPr lang="en-US"/>
              <a:t>b). Berapa outputnya bila temperaturnya naik menjadi 150</a:t>
            </a:r>
            <a:r>
              <a:rPr lang="en-US" baseline="30000"/>
              <a:t>o</a:t>
            </a:r>
            <a:r>
              <a:rPr lang="en-US"/>
              <a:t>C</a:t>
            </a:r>
          </a:p>
        </p:txBody>
      </p:sp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1828800" y="1295401"/>
          <a:ext cx="5486400" cy="535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4" imgW="3124080" imgH="3047760" progId="Equation.3">
                  <p:embed/>
                </p:oleObj>
              </mc:Choice>
              <mc:Fallback>
                <p:oleObj name="Equation" r:id="rId4" imgW="3124080" imgH="3047760" progId="Equation.3">
                  <p:embed/>
                  <p:pic>
                    <p:nvPicPr>
                      <p:cNvPr id="82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295401"/>
                        <a:ext cx="5486400" cy="5351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6405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1905000" y="609600"/>
          <a:ext cx="5799138" cy="3817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3" imgW="3047760" imgH="2006280" progId="Equation.3">
                  <p:embed/>
                </p:oleObj>
              </mc:Choice>
              <mc:Fallback>
                <p:oleObj name="Equation" r:id="rId3" imgW="3047760" imgH="2006280" progId="Equation.3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609600"/>
                        <a:ext cx="5799138" cy="3817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6225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1403351"/>
            <a:ext cx="5943600" cy="512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1524000" y="0"/>
            <a:ext cx="6324600" cy="1328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u="sng"/>
              <a:t>Contoh Soal 4.2</a:t>
            </a:r>
          </a:p>
          <a:p>
            <a:pPr>
              <a:spcBef>
                <a:spcPct val="50000"/>
              </a:spcBef>
            </a:pPr>
            <a:r>
              <a:rPr lang="en-US"/>
              <a:t>Rangkaian di bawah ini disebut sebagai </a:t>
            </a:r>
            <a:r>
              <a:rPr lang="en-US" i="1"/>
              <a:t>swamped amplifier. </a:t>
            </a:r>
            <a:r>
              <a:rPr lang="en-US"/>
              <a:t>Hitung persentase perubahan outputnya bila temperatur berubah dari 25</a:t>
            </a:r>
            <a:r>
              <a:rPr lang="en-US" baseline="30000"/>
              <a:t>o</a:t>
            </a:r>
            <a:r>
              <a:rPr lang="en-US"/>
              <a:t>C menjadi 150</a:t>
            </a:r>
            <a:r>
              <a:rPr lang="en-US" baseline="30000"/>
              <a:t>o</a:t>
            </a:r>
            <a:r>
              <a:rPr lang="en-US"/>
              <a:t>C. </a:t>
            </a:r>
          </a:p>
        </p:txBody>
      </p:sp>
    </p:spTree>
    <p:extLst>
      <p:ext uri="{BB962C8B-B14F-4D97-AF65-F5344CB8AC3E}">
        <p14:creationId xmlns:p14="http://schemas.microsoft.com/office/powerpoint/2010/main" val="1511894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304800"/>
            <a:ext cx="6324600" cy="376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2293" name="Object 5"/>
          <p:cNvGraphicFramePr>
            <a:graphicFrameLocks noChangeAspect="1"/>
          </p:cNvGraphicFramePr>
          <p:nvPr/>
        </p:nvGraphicFramePr>
        <p:xfrm>
          <a:off x="1524000" y="3962401"/>
          <a:ext cx="7772400" cy="255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4" imgW="4089240" imgH="1346040" progId="Equation.3">
                  <p:embed/>
                </p:oleObj>
              </mc:Choice>
              <mc:Fallback>
                <p:oleObj name="Equation" r:id="rId4" imgW="4089240" imgH="1346040" progId="Equation.3">
                  <p:embed/>
                  <p:pic>
                    <p:nvPicPr>
                      <p:cNvPr id="122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962401"/>
                        <a:ext cx="7772400" cy="2557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0586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1905001" y="457201"/>
          <a:ext cx="7796213" cy="340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3" imgW="4101840" imgH="1790640" progId="Equation.3">
                  <p:embed/>
                </p:oleObj>
              </mc:Choice>
              <mc:Fallback>
                <p:oleObj name="Equation" r:id="rId3" imgW="4101840" imgH="1790640" progId="Equation.3">
                  <p:embed/>
                  <p:pic>
                    <p:nvPicPr>
                      <p:cNvPr id="13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457201"/>
                        <a:ext cx="7796213" cy="340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1905000" y="4191001"/>
            <a:ext cx="739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/>
              <a:t>Swamped amplifier </a:t>
            </a:r>
            <a:r>
              <a:rPr lang="en-US"/>
              <a:t>lebih stabil tetapi penguatannya lebih kecil</a:t>
            </a:r>
          </a:p>
        </p:txBody>
      </p:sp>
    </p:spTree>
    <p:extLst>
      <p:ext uri="{BB962C8B-B14F-4D97-AF65-F5344CB8AC3E}">
        <p14:creationId xmlns:p14="http://schemas.microsoft.com/office/powerpoint/2010/main" val="2763407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524000" y="0"/>
            <a:ext cx="8839200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u="sng"/>
              <a:t>Contoh Soal 4.3</a:t>
            </a:r>
          </a:p>
          <a:p>
            <a:pPr>
              <a:spcBef>
                <a:spcPct val="50000"/>
              </a:spcBef>
            </a:pPr>
            <a:r>
              <a:rPr lang="en-US"/>
              <a:t>Untuk memperbesar tegangan output, pada rangkaian di bawah ini digunakan dua penguat CE yang dihubungkan secara seri (kaskade). Hitung tegangan outputnya.</a:t>
            </a:r>
          </a:p>
        </p:txBody>
      </p:sp>
      <p:pic>
        <p:nvPicPr>
          <p:cNvPr id="14341" name="Picture 5" descr="cec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1066800"/>
            <a:ext cx="8686800" cy="3932238"/>
          </a:xfrm>
          <a:prstGeom prst="rect">
            <a:avLst/>
          </a:prstGeom>
          <a:noFill/>
        </p:spPr>
      </p:pic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1524000" y="4724400"/>
          <a:ext cx="83820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Equation" r:id="rId4" imgW="4368600" imgH="1091880" progId="Equation.3">
                  <p:embed/>
                </p:oleObj>
              </mc:Choice>
              <mc:Fallback>
                <p:oleObj name="Equation" r:id="rId4" imgW="4368600" imgH="1091880" progId="Equation.3">
                  <p:embed/>
                  <p:pic>
                    <p:nvPicPr>
                      <p:cNvPr id="14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724400"/>
                        <a:ext cx="8382000" cy="209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420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5" name="Picture 5" descr="ce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457200"/>
            <a:ext cx="6083300" cy="2463800"/>
          </a:xfrm>
          <a:prstGeom prst="rect">
            <a:avLst/>
          </a:prstGeom>
          <a:noFill/>
        </p:spPr>
      </p:pic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7848600" y="1371601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L</a:t>
            </a:r>
            <a:endParaRPr lang="en-US"/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6934200" y="1371601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C</a:t>
            </a:r>
            <a:endParaRPr lang="en-US"/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6019800" y="1295401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</a:t>
            </a:r>
            <a:r>
              <a:rPr lang="en-US" baseline="-25000"/>
              <a:t>c</a:t>
            </a:r>
            <a:endParaRPr lang="en-US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7391400" y="4572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 flipH="1">
            <a:off x="6781800" y="457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91" name="Line 11"/>
          <p:cNvSpPr>
            <a:spLocks noChangeShapeType="1"/>
          </p:cNvSpPr>
          <p:nvPr/>
        </p:nvSpPr>
        <p:spPr bwMode="auto">
          <a:xfrm flipH="1">
            <a:off x="6858000" y="2895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6324600" y="228601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z</a:t>
            </a:r>
            <a:r>
              <a:rPr lang="en-US" baseline="-25000"/>
              <a:t>o</a:t>
            </a:r>
            <a:endParaRPr lang="en-US"/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1828800" y="3200401"/>
            <a:ext cx="2209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Thevenin :</a:t>
            </a:r>
          </a:p>
        </p:txBody>
      </p:sp>
      <p:pic>
        <p:nvPicPr>
          <p:cNvPr id="20496" name="Picture 16" descr="ce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86400" y="3352800"/>
            <a:ext cx="2514600" cy="2286000"/>
          </a:xfrm>
          <a:prstGeom prst="rect">
            <a:avLst/>
          </a:prstGeom>
          <a:noFill/>
        </p:spPr>
      </p:pic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7696200" y="4267201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L</a:t>
            </a:r>
            <a:endParaRPr lang="en-US"/>
          </a:p>
        </p:txBody>
      </p:sp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6553200" y="32004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th</a:t>
            </a:r>
            <a:endParaRPr lang="en-US"/>
          </a:p>
        </p:txBody>
      </p:sp>
      <p:sp>
        <p:nvSpPr>
          <p:cNvPr id="20499" name="Text Box 19"/>
          <p:cNvSpPr txBox="1">
            <a:spLocks noChangeArrowheads="1"/>
          </p:cNvSpPr>
          <p:nvPr/>
        </p:nvSpPr>
        <p:spPr bwMode="auto">
          <a:xfrm>
            <a:off x="6096000" y="4191001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th</a:t>
            </a:r>
            <a:endParaRPr lang="en-US"/>
          </a:p>
        </p:txBody>
      </p:sp>
      <p:graphicFrame>
        <p:nvGraphicFramePr>
          <p:cNvPr id="20500" name="Object 20"/>
          <p:cNvGraphicFramePr>
            <a:graphicFrameLocks noChangeAspect="1"/>
          </p:cNvGraphicFramePr>
          <p:nvPr/>
        </p:nvGraphicFramePr>
        <p:xfrm>
          <a:off x="1752601" y="3886200"/>
          <a:ext cx="6772275" cy="272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Equation" r:id="rId5" imgW="2781000" imgH="1117440" progId="Equation.3">
                  <p:embed/>
                </p:oleObj>
              </mc:Choice>
              <mc:Fallback>
                <p:oleObj name="Equation" r:id="rId5" imgW="2781000" imgH="1117440" progId="Equation.3">
                  <p:embed/>
                  <p:pic>
                    <p:nvPicPr>
                      <p:cNvPr id="2050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1" y="3886200"/>
                        <a:ext cx="6772275" cy="272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044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524000" y="0"/>
            <a:ext cx="541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PENGUAT COMMON COLLECTOR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524000" y="381000"/>
            <a:ext cx="5562600" cy="3784600"/>
            <a:chOff x="192" y="528"/>
            <a:chExt cx="3504" cy="2384"/>
          </a:xfrm>
        </p:grpSpPr>
        <p:pic>
          <p:nvPicPr>
            <p:cNvPr id="9223" name="Picture 7" descr="cc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36" y="528"/>
              <a:ext cx="3288" cy="2384"/>
            </a:xfrm>
            <a:prstGeom prst="rect">
              <a:avLst/>
            </a:prstGeom>
            <a:noFill/>
          </p:spPr>
        </p:pic>
        <p:sp>
          <p:nvSpPr>
            <p:cNvPr id="9224" name="Text Box 8"/>
            <p:cNvSpPr txBox="1">
              <a:spLocks noChangeArrowheads="1"/>
            </p:cNvSpPr>
            <p:nvPr/>
          </p:nvSpPr>
          <p:spPr bwMode="auto">
            <a:xfrm>
              <a:off x="3408" y="2064"/>
              <a:ext cx="2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L</a:t>
              </a:r>
              <a:endParaRPr lang="en-US"/>
            </a:p>
          </p:txBody>
        </p:sp>
        <p:sp>
          <p:nvSpPr>
            <p:cNvPr id="9225" name="Text Box 9"/>
            <p:cNvSpPr txBox="1">
              <a:spLocks noChangeArrowheads="1"/>
            </p:cNvSpPr>
            <p:nvPr/>
          </p:nvSpPr>
          <p:spPr bwMode="auto">
            <a:xfrm>
              <a:off x="2448" y="2112"/>
              <a:ext cx="2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E</a:t>
              </a:r>
              <a:endParaRPr lang="en-US"/>
            </a:p>
          </p:txBody>
        </p:sp>
        <p:sp>
          <p:nvSpPr>
            <p:cNvPr id="9226" name="Text Box 10"/>
            <p:cNvSpPr txBox="1">
              <a:spLocks noChangeArrowheads="1"/>
            </p:cNvSpPr>
            <p:nvPr/>
          </p:nvSpPr>
          <p:spPr bwMode="auto">
            <a:xfrm>
              <a:off x="1776" y="960"/>
              <a:ext cx="2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1</a:t>
              </a:r>
              <a:endParaRPr lang="en-US"/>
            </a:p>
          </p:txBody>
        </p:sp>
        <p:sp>
          <p:nvSpPr>
            <p:cNvPr id="9227" name="Text Box 11"/>
            <p:cNvSpPr txBox="1">
              <a:spLocks noChangeArrowheads="1"/>
            </p:cNvSpPr>
            <p:nvPr/>
          </p:nvSpPr>
          <p:spPr bwMode="auto">
            <a:xfrm>
              <a:off x="1776" y="1968"/>
              <a:ext cx="2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2</a:t>
              </a:r>
              <a:endParaRPr lang="en-US"/>
            </a:p>
          </p:txBody>
        </p:sp>
        <p:sp>
          <p:nvSpPr>
            <p:cNvPr id="9228" name="Text Box 12"/>
            <p:cNvSpPr txBox="1">
              <a:spLocks noChangeArrowheads="1"/>
            </p:cNvSpPr>
            <p:nvPr/>
          </p:nvSpPr>
          <p:spPr bwMode="auto">
            <a:xfrm>
              <a:off x="912" y="1248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G</a:t>
              </a:r>
              <a:endParaRPr lang="en-US"/>
            </a:p>
          </p:txBody>
        </p:sp>
        <p:sp>
          <p:nvSpPr>
            <p:cNvPr id="9229" name="Text Box 13"/>
            <p:cNvSpPr txBox="1">
              <a:spLocks noChangeArrowheads="1"/>
            </p:cNvSpPr>
            <p:nvPr/>
          </p:nvSpPr>
          <p:spPr bwMode="auto">
            <a:xfrm>
              <a:off x="2832" y="624"/>
              <a:ext cx="4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+V</a:t>
              </a:r>
              <a:r>
                <a:rPr lang="en-US" baseline="-25000"/>
                <a:t>CC</a:t>
              </a:r>
              <a:endParaRPr lang="en-US"/>
            </a:p>
          </p:txBody>
        </p:sp>
        <p:sp>
          <p:nvSpPr>
            <p:cNvPr id="9230" name="Text Box 14"/>
            <p:cNvSpPr txBox="1">
              <a:spLocks noChangeArrowheads="1"/>
            </p:cNvSpPr>
            <p:nvPr/>
          </p:nvSpPr>
          <p:spPr bwMode="auto">
            <a:xfrm>
              <a:off x="192" y="1968"/>
              <a:ext cx="2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V</a:t>
              </a:r>
              <a:r>
                <a:rPr lang="en-US" baseline="-25000"/>
                <a:t>G</a:t>
              </a:r>
              <a:endParaRPr lang="en-US"/>
            </a:p>
          </p:txBody>
        </p:sp>
      </p:grp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7086600" y="1"/>
            <a:ext cx="35814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Analisis DC :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/>
              <a:t> Sama dengan CE</a:t>
            </a:r>
          </a:p>
        </p:txBody>
      </p:sp>
      <p:pic>
        <p:nvPicPr>
          <p:cNvPr id="9233" name="Picture 17" descr="cc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52600" y="4013200"/>
            <a:ext cx="5219700" cy="2844800"/>
          </a:xfrm>
          <a:prstGeom prst="rect">
            <a:avLst/>
          </a:prstGeom>
          <a:noFill/>
        </p:spPr>
      </p:pic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1524000" y="4267201"/>
            <a:ext cx="4191000" cy="1509713"/>
            <a:chOff x="0" y="2688"/>
            <a:chExt cx="2640" cy="951"/>
          </a:xfrm>
        </p:grpSpPr>
        <p:sp>
          <p:nvSpPr>
            <p:cNvPr id="9234" name="Text Box 18"/>
            <p:cNvSpPr txBox="1">
              <a:spLocks noChangeArrowheads="1"/>
            </p:cNvSpPr>
            <p:nvPr/>
          </p:nvSpPr>
          <p:spPr bwMode="auto">
            <a:xfrm>
              <a:off x="2304" y="3408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e</a:t>
              </a:r>
              <a:endParaRPr lang="en-US"/>
            </a:p>
          </p:txBody>
        </p:sp>
        <p:sp>
          <p:nvSpPr>
            <p:cNvPr id="9235" name="Text Box 19"/>
            <p:cNvSpPr txBox="1">
              <a:spLocks noChangeArrowheads="1"/>
            </p:cNvSpPr>
            <p:nvPr/>
          </p:nvSpPr>
          <p:spPr bwMode="auto">
            <a:xfrm>
              <a:off x="1440" y="3312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12</a:t>
              </a:r>
              <a:endParaRPr lang="en-US"/>
            </a:p>
          </p:txBody>
        </p:sp>
        <p:sp>
          <p:nvSpPr>
            <p:cNvPr id="9236" name="Text Box 20"/>
            <p:cNvSpPr txBox="1">
              <a:spLocks noChangeArrowheads="1"/>
            </p:cNvSpPr>
            <p:nvPr/>
          </p:nvSpPr>
          <p:spPr bwMode="auto">
            <a:xfrm>
              <a:off x="720" y="2688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G</a:t>
              </a:r>
              <a:endParaRPr lang="en-US"/>
            </a:p>
          </p:txBody>
        </p:sp>
        <p:sp>
          <p:nvSpPr>
            <p:cNvPr id="9237" name="Text Box 21"/>
            <p:cNvSpPr txBox="1">
              <a:spLocks noChangeArrowheads="1"/>
            </p:cNvSpPr>
            <p:nvPr/>
          </p:nvSpPr>
          <p:spPr bwMode="auto">
            <a:xfrm>
              <a:off x="0" y="336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V</a:t>
              </a:r>
              <a:r>
                <a:rPr lang="en-US" baseline="-25000"/>
                <a:t>G</a:t>
              </a:r>
              <a:endParaRPr lang="en-US"/>
            </a:p>
          </p:txBody>
        </p:sp>
      </p:grpSp>
      <p:sp>
        <p:nvSpPr>
          <p:cNvPr id="9238" name="Text Box 22"/>
          <p:cNvSpPr txBox="1">
            <a:spLocks noChangeArrowheads="1"/>
          </p:cNvSpPr>
          <p:nvPr/>
        </p:nvSpPr>
        <p:spPr bwMode="auto">
          <a:xfrm>
            <a:off x="7086600" y="1219201"/>
            <a:ext cx="16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Analisis ac :</a:t>
            </a:r>
          </a:p>
        </p:txBody>
      </p:sp>
      <p:graphicFrame>
        <p:nvGraphicFramePr>
          <p:cNvPr id="9239" name="Object 23"/>
          <p:cNvGraphicFramePr>
            <a:graphicFrameLocks noChangeAspect="1"/>
          </p:cNvGraphicFramePr>
          <p:nvPr/>
        </p:nvGraphicFramePr>
        <p:xfrm>
          <a:off x="7620000" y="1752601"/>
          <a:ext cx="198120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Equation" r:id="rId5" imgW="876240" imgH="457200" progId="Equation.3">
                  <p:embed/>
                </p:oleObj>
              </mc:Choice>
              <mc:Fallback>
                <p:oleObj name="Equation" r:id="rId5" imgW="876240" imgH="457200" progId="Equation.3">
                  <p:embed/>
                  <p:pic>
                    <p:nvPicPr>
                      <p:cNvPr id="923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1752601"/>
                        <a:ext cx="1981200" cy="1033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602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1524000" y="0"/>
            <a:ext cx="5524500" cy="4038600"/>
            <a:chOff x="144" y="384"/>
            <a:chExt cx="3480" cy="2544"/>
          </a:xfrm>
        </p:grpSpPr>
        <p:pic>
          <p:nvPicPr>
            <p:cNvPr id="17413" name="Picture 5" descr="cc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36" y="384"/>
              <a:ext cx="3288" cy="2544"/>
            </a:xfrm>
            <a:prstGeom prst="rect">
              <a:avLst/>
            </a:prstGeom>
            <a:noFill/>
          </p:spPr>
        </p:pic>
        <p:sp>
          <p:nvSpPr>
            <p:cNvPr id="17414" name="Text Box 6"/>
            <p:cNvSpPr txBox="1">
              <a:spLocks noChangeArrowheads="1"/>
            </p:cNvSpPr>
            <p:nvPr/>
          </p:nvSpPr>
          <p:spPr bwMode="auto">
            <a:xfrm>
              <a:off x="2400" y="1536"/>
              <a:ext cx="2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e</a:t>
              </a:r>
              <a:r>
                <a:rPr lang="en-US"/>
                <a:t>’</a:t>
              </a:r>
            </a:p>
          </p:txBody>
        </p:sp>
        <p:sp>
          <p:nvSpPr>
            <p:cNvPr id="17415" name="Text Box 7"/>
            <p:cNvSpPr txBox="1">
              <a:spLocks noChangeArrowheads="1"/>
            </p:cNvSpPr>
            <p:nvPr/>
          </p:nvSpPr>
          <p:spPr bwMode="auto">
            <a:xfrm>
              <a:off x="2400" y="2064"/>
              <a:ext cx="2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e</a:t>
              </a:r>
              <a:endParaRPr lang="en-US"/>
            </a:p>
          </p:txBody>
        </p:sp>
        <p:sp>
          <p:nvSpPr>
            <p:cNvPr id="17416" name="Text Box 8"/>
            <p:cNvSpPr txBox="1">
              <a:spLocks noChangeArrowheads="1"/>
            </p:cNvSpPr>
            <p:nvPr/>
          </p:nvSpPr>
          <p:spPr bwMode="auto">
            <a:xfrm>
              <a:off x="1632" y="1920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12</a:t>
              </a:r>
              <a:endParaRPr lang="en-US"/>
            </a:p>
          </p:txBody>
        </p:sp>
        <p:sp>
          <p:nvSpPr>
            <p:cNvPr id="17417" name="Text Box 9"/>
            <p:cNvSpPr txBox="1">
              <a:spLocks noChangeArrowheads="1"/>
            </p:cNvSpPr>
            <p:nvPr/>
          </p:nvSpPr>
          <p:spPr bwMode="auto">
            <a:xfrm>
              <a:off x="912" y="100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G</a:t>
              </a:r>
              <a:endParaRPr lang="en-US"/>
            </a:p>
          </p:txBody>
        </p:sp>
        <p:sp>
          <p:nvSpPr>
            <p:cNvPr id="17418" name="Text Box 10"/>
            <p:cNvSpPr txBox="1">
              <a:spLocks noChangeArrowheads="1"/>
            </p:cNvSpPr>
            <p:nvPr/>
          </p:nvSpPr>
          <p:spPr bwMode="auto">
            <a:xfrm>
              <a:off x="144" y="1968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V</a:t>
              </a:r>
              <a:r>
                <a:rPr lang="en-US" baseline="-25000"/>
                <a:t>G</a:t>
              </a:r>
              <a:endParaRPr lang="en-US"/>
            </a:p>
          </p:txBody>
        </p:sp>
      </p:grpSp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1981200" y="4267201"/>
          <a:ext cx="7239000" cy="179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Equation" r:id="rId4" imgW="3632040" imgH="901440" progId="Equation.3">
                  <p:embed/>
                </p:oleObj>
              </mc:Choice>
              <mc:Fallback>
                <p:oleObj name="Equation" r:id="rId4" imgW="3632040" imgH="901440" progId="Equation.3">
                  <p:embed/>
                  <p:pic>
                    <p:nvPicPr>
                      <p:cNvPr id="174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267201"/>
                        <a:ext cx="7239000" cy="179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9173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676400" y="304801"/>
            <a:ext cx="6324600" cy="2957513"/>
            <a:chOff x="96" y="192"/>
            <a:chExt cx="3984" cy="1863"/>
          </a:xfrm>
        </p:grpSpPr>
        <p:pic>
          <p:nvPicPr>
            <p:cNvPr id="18436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40" y="288"/>
              <a:ext cx="3840" cy="17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8437" name="Text Box 5"/>
            <p:cNvSpPr txBox="1">
              <a:spLocks noChangeArrowheads="1"/>
            </p:cNvSpPr>
            <p:nvPr/>
          </p:nvSpPr>
          <p:spPr bwMode="auto">
            <a:xfrm>
              <a:off x="3120" y="120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e</a:t>
              </a:r>
              <a:endParaRPr lang="en-US"/>
            </a:p>
          </p:txBody>
        </p:sp>
        <p:sp>
          <p:nvSpPr>
            <p:cNvPr id="18438" name="Text Box 6"/>
            <p:cNvSpPr txBox="1">
              <a:spLocks noChangeArrowheads="1"/>
            </p:cNvSpPr>
            <p:nvPr/>
          </p:nvSpPr>
          <p:spPr bwMode="auto">
            <a:xfrm>
              <a:off x="2304" y="960"/>
              <a:ext cx="5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Z</a:t>
              </a:r>
              <a:r>
                <a:rPr lang="en-US" baseline="-25000"/>
                <a:t>in(base)</a:t>
              </a:r>
              <a:endParaRPr lang="en-US"/>
            </a:p>
          </p:txBody>
        </p:sp>
        <p:sp>
          <p:nvSpPr>
            <p:cNvPr id="18439" name="Text Box 7"/>
            <p:cNvSpPr txBox="1">
              <a:spLocks noChangeArrowheads="1"/>
            </p:cNvSpPr>
            <p:nvPr/>
          </p:nvSpPr>
          <p:spPr bwMode="auto">
            <a:xfrm>
              <a:off x="1488" y="1056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12</a:t>
              </a:r>
              <a:endParaRPr lang="en-US"/>
            </a:p>
          </p:txBody>
        </p:sp>
        <p:sp>
          <p:nvSpPr>
            <p:cNvPr id="18440" name="Text Box 8"/>
            <p:cNvSpPr txBox="1">
              <a:spLocks noChangeArrowheads="1"/>
            </p:cNvSpPr>
            <p:nvPr/>
          </p:nvSpPr>
          <p:spPr bwMode="auto">
            <a:xfrm>
              <a:off x="864" y="192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G</a:t>
              </a:r>
              <a:endParaRPr lang="en-US"/>
            </a:p>
          </p:txBody>
        </p:sp>
        <p:sp>
          <p:nvSpPr>
            <p:cNvPr id="18441" name="Text Box 9"/>
            <p:cNvSpPr txBox="1">
              <a:spLocks noChangeArrowheads="1"/>
            </p:cNvSpPr>
            <p:nvPr/>
          </p:nvSpPr>
          <p:spPr bwMode="auto">
            <a:xfrm>
              <a:off x="96" y="1152"/>
              <a:ext cx="3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V</a:t>
              </a:r>
              <a:r>
                <a:rPr lang="en-US" baseline="-25000"/>
                <a:t>G</a:t>
              </a:r>
              <a:endParaRPr lang="en-US"/>
            </a:p>
          </p:txBody>
        </p:sp>
      </p:grpSp>
      <p:graphicFrame>
        <p:nvGraphicFramePr>
          <p:cNvPr id="18443" name="Object 11"/>
          <p:cNvGraphicFramePr>
            <a:graphicFrameLocks noChangeAspect="1"/>
          </p:cNvGraphicFramePr>
          <p:nvPr/>
        </p:nvGraphicFramePr>
        <p:xfrm>
          <a:off x="1981201" y="3352801"/>
          <a:ext cx="5973763" cy="177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Equation" r:id="rId4" imgW="2997000" imgH="888840" progId="Equation.3">
                  <p:embed/>
                </p:oleObj>
              </mc:Choice>
              <mc:Fallback>
                <p:oleObj name="Equation" r:id="rId4" imgW="2997000" imgH="888840" progId="Equation.3">
                  <p:embed/>
                  <p:pic>
                    <p:nvPicPr>
                      <p:cNvPr id="1844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1" y="3352801"/>
                        <a:ext cx="5973763" cy="177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7696200" y="533401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o</a:t>
            </a:r>
            <a:endParaRPr lang="en-US"/>
          </a:p>
        </p:txBody>
      </p:sp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3657600" y="304801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in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77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0" name="Picture 4" descr="cc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0"/>
            <a:ext cx="5930900" cy="3975100"/>
          </a:xfrm>
          <a:prstGeom prst="rect">
            <a:avLst/>
          </a:prstGeom>
          <a:noFill/>
        </p:spPr>
      </p:pic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3048000" y="914401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G</a:t>
            </a:r>
            <a:endParaRPr lang="en-US"/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4038600" y="2362201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5181600" y="2209801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2</a:t>
            </a:r>
            <a:endParaRPr lang="en-US"/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6324600" y="1752601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e</a:t>
            </a:r>
            <a:r>
              <a:rPr lang="en-US"/>
              <a:t>’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6400800" y="2743201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E</a:t>
            </a:r>
            <a:endParaRPr lang="en-US"/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6934200" y="2286001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o</a:t>
            </a:r>
            <a:endParaRPr lang="en-US"/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2743200" y="2514601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G</a:t>
            </a:r>
            <a:endParaRPr lang="en-US"/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>
            <a:off x="5562600" y="99060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 flipH="1">
            <a:off x="5029200" y="990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473" name="Line 17"/>
          <p:cNvSpPr>
            <a:spLocks noChangeShapeType="1"/>
          </p:cNvSpPr>
          <p:nvPr/>
        </p:nvSpPr>
        <p:spPr bwMode="auto">
          <a:xfrm flipH="1">
            <a:off x="5105400" y="3962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13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524000" y="0"/>
            <a:ext cx="7924800" cy="3975100"/>
            <a:chOff x="624" y="336"/>
            <a:chExt cx="4992" cy="2504"/>
          </a:xfrm>
        </p:grpSpPr>
        <p:pic>
          <p:nvPicPr>
            <p:cNvPr id="21508" name="Picture 4" descr="cc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24" y="336"/>
              <a:ext cx="2968" cy="2504"/>
            </a:xfrm>
            <a:prstGeom prst="rect">
              <a:avLst/>
            </a:prstGeom>
            <a:noFill/>
          </p:spPr>
        </p:pic>
        <p:sp>
          <p:nvSpPr>
            <p:cNvPr id="21509" name="Text Box 5"/>
            <p:cNvSpPr txBox="1">
              <a:spLocks noChangeArrowheads="1"/>
            </p:cNvSpPr>
            <p:nvPr/>
          </p:nvSpPr>
          <p:spPr bwMode="auto">
            <a:xfrm>
              <a:off x="2544" y="206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E</a:t>
              </a:r>
              <a:endParaRPr lang="en-US"/>
            </a:p>
          </p:txBody>
        </p:sp>
        <p:sp>
          <p:nvSpPr>
            <p:cNvPr id="21510" name="Text Box 6"/>
            <p:cNvSpPr txBox="1">
              <a:spLocks noChangeArrowheads="1"/>
            </p:cNvSpPr>
            <p:nvPr/>
          </p:nvSpPr>
          <p:spPr bwMode="auto">
            <a:xfrm>
              <a:off x="2544" y="144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e</a:t>
              </a:r>
              <a:r>
                <a:rPr lang="en-US"/>
                <a:t>’</a:t>
              </a:r>
            </a:p>
          </p:txBody>
        </p:sp>
        <p:sp>
          <p:nvSpPr>
            <p:cNvPr id="21511" name="Text Box 7"/>
            <p:cNvSpPr txBox="1">
              <a:spLocks noChangeArrowheads="1"/>
            </p:cNvSpPr>
            <p:nvPr/>
          </p:nvSpPr>
          <p:spPr bwMode="auto">
            <a:xfrm>
              <a:off x="2640" y="672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i</a:t>
              </a:r>
              <a:r>
                <a:rPr lang="en-US" baseline="-25000"/>
                <a:t>c</a:t>
              </a:r>
              <a:endParaRPr lang="en-US"/>
            </a:p>
          </p:txBody>
        </p:sp>
        <p:sp>
          <p:nvSpPr>
            <p:cNvPr id="21512" name="Line 8"/>
            <p:cNvSpPr>
              <a:spLocks noChangeShapeType="1"/>
            </p:cNvSpPr>
            <p:nvPr/>
          </p:nvSpPr>
          <p:spPr bwMode="auto">
            <a:xfrm>
              <a:off x="2256" y="1536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13" name="Text Box 9"/>
            <p:cNvSpPr txBox="1">
              <a:spLocks noChangeArrowheads="1"/>
            </p:cNvSpPr>
            <p:nvPr/>
          </p:nvSpPr>
          <p:spPr bwMode="auto">
            <a:xfrm>
              <a:off x="2016" y="1728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i</a:t>
              </a:r>
              <a:r>
                <a:rPr lang="en-US" baseline="-25000"/>
                <a:t>e</a:t>
              </a:r>
              <a:endParaRPr lang="en-US"/>
            </a:p>
          </p:txBody>
        </p:sp>
        <p:sp>
          <p:nvSpPr>
            <p:cNvPr id="21514" name="Text Box 10"/>
            <p:cNvSpPr txBox="1">
              <a:spLocks noChangeArrowheads="1"/>
            </p:cNvSpPr>
            <p:nvPr/>
          </p:nvSpPr>
          <p:spPr bwMode="auto">
            <a:xfrm>
              <a:off x="1248" y="912"/>
              <a:ext cx="8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G</a:t>
              </a:r>
              <a:r>
                <a:rPr lang="en-US"/>
                <a:t>//R</a:t>
              </a:r>
              <a:r>
                <a:rPr lang="en-US" baseline="-25000"/>
                <a:t>1</a:t>
              </a:r>
              <a:r>
                <a:rPr lang="en-US"/>
                <a:t>//R</a:t>
              </a:r>
              <a:r>
                <a:rPr lang="en-US" baseline="-25000"/>
                <a:t>2</a:t>
              </a:r>
              <a:endParaRPr lang="en-US"/>
            </a:p>
          </p:txBody>
        </p:sp>
        <p:sp>
          <p:nvSpPr>
            <p:cNvPr id="21515" name="Text Box 11"/>
            <p:cNvSpPr txBox="1">
              <a:spLocks noChangeArrowheads="1"/>
            </p:cNvSpPr>
            <p:nvPr/>
          </p:nvSpPr>
          <p:spPr bwMode="auto">
            <a:xfrm>
              <a:off x="1056" y="1872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V</a:t>
              </a:r>
              <a:r>
                <a:rPr lang="en-US" baseline="-25000"/>
                <a:t>in</a:t>
              </a:r>
              <a:endParaRPr lang="en-US"/>
            </a:p>
          </p:txBody>
        </p:sp>
        <p:pic>
          <p:nvPicPr>
            <p:cNvPr id="21517" name="Picture 13" descr="cc7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936" y="528"/>
              <a:ext cx="1560" cy="1648"/>
            </a:xfrm>
            <a:prstGeom prst="rect">
              <a:avLst/>
            </a:prstGeom>
            <a:noFill/>
          </p:spPr>
        </p:pic>
        <p:sp>
          <p:nvSpPr>
            <p:cNvPr id="21518" name="Text Box 14"/>
            <p:cNvSpPr txBox="1">
              <a:spLocks noChangeArrowheads="1"/>
            </p:cNvSpPr>
            <p:nvPr/>
          </p:nvSpPr>
          <p:spPr bwMode="auto">
            <a:xfrm>
              <a:off x="5280" y="120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E</a:t>
              </a:r>
              <a:endParaRPr lang="en-US"/>
            </a:p>
          </p:txBody>
        </p:sp>
        <p:sp>
          <p:nvSpPr>
            <p:cNvPr id="21519" name="Text Box 15"/>
            <p:cNvSpPr txBox="1">
              <a:spLocks noChangeArrowheads="1"/>
            </p:cNvSpPr>
            <p:nvPr/>
          </p:nvSpPr>
          <p:spPr bwMode="auto">
            <a:xfrm>
              <a:off x="4560" y="38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21520" name="Text Box 16"/>
            <p:cNvSpPr txBox="1">
              <a:spLocks noChangeArrowheads="1"/>
            </p:cNvSpPr>
            <p:nvPr/>
          </p:nvSpPr>
          <p:spPr bwMode="auto">
            <a:xfrm>
              <a:off x="4560" y="432"/>
              <a:ext cx="2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baseline="-25000"/>
                <a:t>th</a:t>
              </a:r>
              <a:endParaRPr lang="en-US"/>
            </a:p>
          </p:txBody>
        </p:sp>
        <p:sp>
          <p:nvSpPr>
            <p:cNvPr id="21521" name="Text Box 17"/>
            <p:cNvSpPr txBox="1">
              <a:spLocks noChangeArrowheads="1"/>
            </p:cNvSpPr>
            <p:nvPr/>
          </p:nvSpPr>
          <p:spPr bwMode="auto">
            <a:xfrm>
              <a:off x="3744" y="120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V</a:t>
              </a:r>
              <a:r>
                <a:rPr lang="en-US" baseline="-25000"/>
                <a:t>in</a:t>
              </a:r>
              <a:endParaRPr lang="en-US"/>
            </a:p>
          </p:txBody>
        </p:sp>
        <p:sp>
          <p:nvSpPr>
            <p:cNvPr id="21522" name="Line 18"/>
            <p:cNvSpPr>
              <a:spLocks noChangeShapeType="1"/>
            </p:cNvSpPr>
            <p:nvPr/>
          </p:nvSpPr>
          <p:spPr bwMode="auto">
            <a:xfrm>
              <a:off x="1440" y="13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Text Box 19"/>
            <p:cNvSpPr txBox="1">
              <a:spLocks noChangeArrowheads="1"/>
            </p:cNvSpPr>
            <p:nvPr/>
          </p:nvSpPr>
          <p:spPr bwMode="auto">
            <a:xfrm>
              <a:off x="1536" y="1440"/>
              <a:ext cx="2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i</a:t>
              </a:r>
              <a:r>
                <a:rPr lang="en-US" baseline="-25000"/>
                <a:t>b</a:t>
              </a:r>
              <a:endParaRPr lang="en-US"/>
            </a:p>
          </p:txBody>
        </p:sp>
      </p:grpSp>
      <p:graphicFrame>
        <p:nvGraphicFramePr>
          <p:cNvPr id="21516" name="Object 12"/>
          <p:cNvGraphicFramePr>
            <a:graphicFrameLocks noChangeAspect="1"/>
          </p:cNvGraphicFramePr>
          <p:nvPr/>
        </p:nvGraphicFramePr>
        <p:xfrm>
          <a:off x="1905000" y="3781426"/>
          <a:ext cx="7418388" cy="307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Equation" r:id="rId5" imgW="3340080" imgH="1384200" progId="Equation.3">
                  <p:embed/>
                </p:oleObj>
              </mc:Choice>
              <mc:Fallback>
                <p:oleObj name="Equation" r:id="rId5" imgW="3340080" imgH="1384200" progId="Equation.3">
                  <p:embed/>
                  <p:pic>
                    <p:nvPicPr>
                      <p:cNvPr id="2151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781426"/>
                        <a:ext cx="7418388" cy="307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4052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4" descr="cc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33600" y="609600"/>
            <a:ext cx="3390900" cy="2628900"/>
          </a:xfrm>
          <a:prstGeom prst="rect">
            <a:avLst/>
          </a:prstGeom>
          <a:noFill/>
        </p:spPr>
      </p:pic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5181600" y="1676401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L</a:t>
            </a:r>
            <a:endParaRPr lang="en-US"/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4191000" y="1752601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E</a:t>
            </a:r>
            <a:endParaRPr lang="en-US"/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3124200" y="3810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3124200" y="457201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th</a:t>
            </a:r>
            <a:endParaRPr lang="en-US"/>
          </a:p>
        </p:txBody>
      </p: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1828800" y="16764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in</a:t>
            </a:r>
            <a:endParaRPr lang="en-US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4724400" y="533400"/>
            <a:ext cx="0" cy="2819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 flipH="1">
            <a:off x="4191000" y="533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 flipH="1">
            <a:off x="4191000" y="3352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3810000" y="304801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Z</a:t>
            </a:r>
            <a:r>
              <a:rPr lang="en-US" baseline="-25000"/>
              <a:t>o</a:t>
            </a:r>
            <a:endParaRPr lang="en-US"/>
          </a:p>
        </p:txBody>
      </p:sp>
      <p:pic>
        <p:nvPicPr>
          <p:cNvPr id="22542" name="Picture 14" descr="cc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77000" y="609600"/>
            <a:ext cx="3390900" cy="2641600"/>
          </a:xfrm>
          <a:prstGeom prst="rect">
            <a:avLst/>
          </a:prstGeom>
          <a:noFill/>
        </p:spPr>
      </p:pic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9601200" y="1676401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R</a:t>
            </a:r>
            <a:r>
              <a:rPr lang="en-US" baseline="-25000"/>
              <a:t>L</a:t>
            </a:r>
            <a:endParaRPr lang="en-US"/>
          </a:p>
        </p:txBody>
      </p:sp>
      <p:sp>
        <p:nvSpPr>
          <p:cNvPr id="22544" name="Text Box 16"/>
          <p:cNvSpPr txBox="1">
            <a:spLocks noChangeArrowheads="1"/>
          </p:cNvSpPr>
          <p:nvPr/>
        </p:nvSpPr>
        <p:spPr bwMode="auto">
          <a:xfrm>
            <a:off x="7848600" y="381001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Z</a:t>
            </a:r>
            <a:r>
              <a:rPr lang="en-US" baseline="-25000"/>
              <a:t>o</a:t>
            </a:r>
            <a:endParaRPr lang="en-US"/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6172200" y="16764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in</a:t>
            </a:r>
            <a:endParaRPr lang="en-US"/>
          </a:p>
        </p:txBody>
      </p:sp>
      <p:graphicFrame>
        <p:nvGraphicFramePr>
          <p:cNvPr id="22546" name="Object 18"/>
          <p:cNvGraphicFramePr>
            <a:graphicFrameLocks noChangeAspect="1"/>
          </p:cNvGraphicFramePr>
          <p:nvPr/>
        </p:nvGraphicFramePr>
        <p:xfrm>
          <a:off x="5715000" y="3581401"/>
          <a:ext cx="4419600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2" name="Equation" r:id="rId5" imgW="1841400" imgH="863280" progId="Equation.3">
                  <p:embed/>
                </p:oleObj>
              </mc:Choice>
              <mc:Fallback>
                <p:oleObj name="Equation" r:id="rId5" imgW="1841400" imgH="863280" progId="Equation.3">
                  <p:embed/>
                  <p:pic>
                    <p:nvPicPr>
                      <p:cNvPr id="2254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581401"/>
                        <a:ext cx="4419600" cy="2073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4625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3352800" y="1600200"/>
          <a:ext cx="496888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2" name="Equation" r:id="rId3" imgW="177480" imgH="431640" progId="Equation.3">
                  <p:embed/>
                </p:oleObj>
              </mc:Choice>
              <mc:Fallback>
                <p:oleObj name="Equation" r:id="rId3" imgW="177480" imgH="431640" progId="Equation.3">
                  <p:embed/>
                  <p:pic>
                    <p:nvPicPr>
                      <p:cNvPr id="276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600200"/>
                        <a:ext cx="496888" cy="120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6019800" y="1600200"/>
          <a:ext cx="113665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3" name="Equation" r:id="rId5" imgW="406080" imgH="431640" progId="Equation.3">
                  <p:embed/>
                </p:oleObj>
              </mc:Choice>
              <mc:Fallback>
                <p:oleObj name="Equation" r:id="rId5" imgW="406080" imgH="431640" progId="Equation.3">
                  <p:embed/>
                  <p:pic>
                    <p:nvPicPr>
                      <p:cNvPr id="276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600200"/>
                        <a:ext cx="1136650" cy="120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9220201" y="1524000"/>
          <a:ext cx="746125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4" name="Equation" r:id="rId7" imgW="266400" imgH="431640" progId="Equation.3">
                  <p:embed/>
                </p:oleObj>
              </mc:Choice>
              <mc:Fallback>
                <p:oleObj name="Equation" r:id="rId7" imgW="266400" imgH="431640" progId="Equation.3">
                  <p:embed/>
                  <p:pic>
                    <p:nvPicPr>
                      <p:cNvPr id="276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1" y="1524000"/>
                        <a:ext cx="746125" cy="1206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1752600" y="1981200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A</a:t>
            </a:r>
            <a:r>
              <a:rPr lang="en-US" sz="2400" baseline="-25000"/>
              <a:t>V</a:t>
            </a:r>
            <a:endParaRPr lang="en-US" sz="2400"/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1752600" y="35052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Z</a:t>
            </a:r>
            <a:r>
              <a:rPr lang="en-US" sz="2400" baseline="-25000"/>
              <a:t>in</a:t>
            </a:r>
            <a:endParaRPr lang="en-US" sz="2400"/>
          </a:p>
        </p:txBody>
      </p:sp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1752600" y="51816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Z</a:t>
            </a:r>
            <a:r>
              <a:rPr lang="en-US" sz="2400" baseline="-25000"/>
              <a:t>o</a:t>
            </a:r>
            <a:endParaRPr lang="en-US" sz="2400"/>
          </a:p>
        </p:txBody>
      </p:sp>
      <p:graphicFrame>
        <p:nvGraphicFramePr>
          <p:cNvPr id="27658" name="Object 10"/>
          <p:cNvGraphicFramePr>
            <a:graphicFrameLocks noChangeAspect="1"/>
          </p:cNvGraphicFramePr>
          <p:nvPr/>
        </p:nvGraphicFramePr>
        <p:xfrm>
          <a:off x="2667000" y="3429001"/>
          <a:ext cx="20574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5" name="Equation" r:id="rId9" imgW="863280" imgH="241200" progId="Equation.3">
                  <p:embed/>
                </p:oleObj>
              </mc:Choice>
              <mc:Fallback>
                <p:oleObj name="Equation" r:id="rId9" imgW="863280" imgH="241200" progId="Equation.3">
                  <p:embed/>
                  <p:pic>
                    <p:nvPicPr>
                      <p:cNvPr id="2765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1"/>
                        <a:ext cx="2057400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11"/>
          <p:cNvGraphicFramePr>
            <a:graphicFrameLocks noChangeAspect="1"/>
          </p:cNvGraphicFramePr>
          <p:nvPr/>
        </p:nvGraphicFramePr>
        <p:xfrm>
          <a:off x="5257800" y="3429001"/>
          <a:ext cx="290353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6" name="Equation" r:id="rId11" imgW="1218960" imgH="241200" progId="Equation.3">
                  <p:embed/>
                </p:oleObj>
              </mc:Choice>
              <mc:Fallback>
                <p:oleObj name="Equation" r:id="rId11" imgW="1218960" imgH="241200" progId="Equation.3">
                  <p:embed/>
                  <p:pic>
                    <p:nvPicPr>
                      <p:cNvPr id="2765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429001"/>
                        <a:ext cx="2903538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0" name="Object 12"/>
          <p:cNvGraphicFramePr>
            <a:graphicFrameLocks noChangeAspect="1"/>
          </p:cNvGraphicFramePr>
          <p:nvPr/>
        </p:nvGraphicFramePr>
        <p:xfrm>
          <a:off x="9448801" y="3429001"/>
          <a:ext cx="30321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7" name="Equation" r:id="rId13" imgW="126720" imgH="241200" progId="Equation.3">
                  <p:embed/>
                </p:oleObj>
              </mc:Choice>
              <mc:Fallback>
                <p:oleObj name="Equation" r:id="rId13" imgW="126720" imgH="241200" progId="Equation.3">
                  <p:embed/>
                  <p:pic>
                    <p:nvPicPr>
                      <p:cNvPr id="2766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8801" y="3429001"/>
                        <a:ext cx="303213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1" name="Object 13"/>
          <p:cNvGraphicFramePr>
            <a:graphicFrameLocks noChangeAspect="1"/>
          </p:cNvGraphicFramePr>
          <p:nvPr/>
        </p:nvGraphicFramePr>
        <p:xfrm>
          <a:off x="3276600" y="5334001"/>
          <a:ext cx="5461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8" name="Equation" r:id="rId15" imgW="228600" imgH="228600" progId="Equation.3">
                  <p:embed/>
                </p:oleObj>
              </mc:Choice>
              <mc:Fallback>
                <p:oleObj name="Equation" r:id="rId15" imgW="228600" imgH="228600" progId="Equation.3">
                  <p:embed/>
                  <p:pic>
                    <p:nvPicPr>
                      <p:cNvPr id="2766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334001"/>
                        <a:ext cx="546100" cy="54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2" name="Object 14"/>
          <p:cNvGraphicFramePr>
            <a:graphicFrameLocks noChangeAspect="1"/>
          </p:cNvGraphicFramePr>
          <p:nvPr/>
        </p:nvGraphicFramePr>
        <p:xfrm>
          <a:off x="9372600" y="5486401"/>
          <a:ext cx="5461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9" name="Equation" r:id="rId17" imgW="228600" imgH="228600" progId="Equation.3">
                  <p:embed/>
                </p:oleObj>
              </mc:Choice>
              <mc:Fallback>
                <p:oleObj name="Equation" r:id="rId17" imgW="228600" imgH="228600" progId="Equation.3">
                  <p:embed/>
                  <p:pic>
                    <p:nvPicPr>
                      <p:cNvPr id="2766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72600" y="5486401"/>
                        <a:ext cx="546100" cy="54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15"/>
          <p:cNvGraphicFramePr>
            <a:graphicFrameLocks noChangeAspect="1"/>
          </p:cNvGraphicFramePr>
          <p:nvPr/>
        </p:nvGraphicFramePr>
        <p:xfrm>
          <a:off x="4953001" y="5257800"/>
          <a:ext cx="3630613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0" name="Equation" r:id="rId18" imgW="1523880" imgH="419040" progId="Equation.3">
                  <p:embed/>
                </p:oleObj>
              </mc:Choice>
              <mc:Fallback>
                <p:oleObj name="Equation" r:id="rId18" imgW="1523880" imgH="419040" progId="Equation.3">
                  <p:embed/>
                  <p:pic>
                    <p:nvPicPr>
                      <p:cNvPr id="2766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1" y="5257800"/>
                        <a:ext cx="3630613" cy="99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4" name="Text Box 16"/>
          <p:cNvSpPr txBox="1">
            <a:spLocks noChangeArrowheads="1"/>
          </p:cNvSpPr>
          <p:nvPr/>
        </p:nvSpPr>
        <p:spPr bwMode="auto">
          <a:xfrm>
            <a:off x="2971800" y="381000"/>
            <a:ext cx="1600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COMMON EMITTER</a:t>
            </a:r>
          </a:p>
        </p:txBody>
      </p:sp>
      <p:sp>
        <p:nvSpPr>
          <p:cNvPr id="27665" name="Text Box 17"/>
          <p:cNvSpPr txBox="1">
            <a:spLocks noChangeArrowheads="1"/>
          </p:cNvSpPr>
          <p:nvPr/>
        </p:nvSpPr>
        <p:spPr bwMode="auto">
          <a:xfrm>
            <a:off x="6019800" y="381000"/>
            <a:ext cx="1600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COMMON COLLECTOR</a:t>
            </a:r>
          </a:p>
        </p:txBody>
      </p:sp>
      <p:sp>
        <p:nvSpPr>
          <p:cNvPr id="27666" name="Text Box 18"/>
          <p:cNvSpPr txBox="1">
            <a:spLocks noChangeArrowheads="1"/>
          </p:cNvSpPr>
          <p:nvPr/>
        </p:nvSpPr>
        <p:spPr bwMode="auto">
          <a:xfrm>
            <a:off x="8839200" y="381000"/>
            <a:ext cx="1600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COMMON BASE</a:t>
            </a:r>
          </a:p>
        </p:txBody>
      </p:sp>
      <p:sp>
        <p:nvSpPr>
          <p:cNvPr id="27667" name="Line 19"/>
          <p:cNvSpPr>
            <a:spLocks noChangeShapeType="1"/>
          </p:cNvSpPr>
          <p:nvPr/>
        </p:nvSpPr>
        <p:spPr bwMode="auto">
          <a:xfrm>
            <a:off x="251460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668" name="Line 20"/>
          <p:cNvSpPr>
            <a:spLocks noChangeShapeType="1"/>
          </p:cNvSpPr>
          <p:nvPr/>
        </p:nvSpPr>
        <p:spPr bwMode="auto">
          <a:xfrm>
            <a:off x="487680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669" name="Line 21"/>
          <p:cNvSpPr>
            <a:spLocks noChangeShapeType="1"/>
          </p:cNvSpPr>
          <p:nvPr/>
        </p:nvSpPr>
        <p:spPr bwMode="auto">
          <a:xfrm>
            <a:off x="868680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670" name="Line 22"/>
          <p:cNvSpPr>
            <a:spLocks noChangeShapeType="1"/>
          </p:cNvSpPr>
          <p:nvPr/>
        </p:nvSpPr>
        <p:spPr bwMode="auto">
          <a:xfrm>
            <a:off x="1524000" y="29718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671" name="Line 23"/>
          <p:cNvSpPr>
            <a:spLocks noChangeShapeType="1"/>
          </p:cNvSpPr>
          <p:nvPr/>
        </p:nvSpPr>
        <p:spPr bwMode="auto">
          <a:xfrm>
            <a:off x="1524000" y="4800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672" name="Line 24"/>
          <p:cNvSpPr>
            <a:spLocks noChangeShapeType="1"/>
          </p:cNvSpPr>
          <p:nvPr/>
        </p:nvSpPr>
        <p:spPr bwMode="auto">
          <a:xfrm>
            <a:off x="1524000" y="12954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56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7533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hybrid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762000"/>
            <a:ext cx="6337300" cy="2578100"/>
          </a:xfrm>
          <a:prstGeom prst="rect">
            <a:avLst/>
          </a:prstGeom>
          <a:noFill/>
        </p:spPr>
      </p:pic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524000" y="0"/>
            <a:ext cx="259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MODEL HYBRID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3352800" y="609601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h</a:t>
            </a:r>
            <a:r>
              <a:rPr lang="en-US" baseline="-25000"/>
              <a:t>ie</a:t>
            </a:r>
            <a:endParaRPr lang="en-US"/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7086600" y="1905001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h</a:t>
            </a:r>
            <a:r>
              <a:rPr lang="en-US" baseline="-25000"/>
              <a:t>oe</a:t>
            </a:r>
            <a:endParaRPr lang="en-US"/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3505200" y="1828801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h</a:t>
            </a:r>
            <a:r>
              <a:rPr lang="en-US" baseline="-25000"/>
              <a:t>re</a:t>
            </a:r>
            <a:r>
              <a:rPr lang="en-US"/>
              <a:t>V</a:t>
            </a:r>
            <a:r>
              <a:rPr lang="en-US" baseline="-25000"/>
              <a:t>2</a:t>
            </a:r>
            <a:endParaRPr lang="en-US"/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5943600" y="1828801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h</a:t>
            </a:r>
            <a:r>
              <a:rPr lang="en-US" baseline="-25000"/>
              <a:t>fe</a:t>
            </a:r>
            <a:r>
              <a:rPr lang="en-US"/>
              <a:t>i</a:t>
            </a:r>
            <a:r>
              <a:rPr lang="en-US" baseline="-25000"/>
              <a:t>1</a:t>
            </a:r>
            <a:endParaRPr lang="en-US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8077200" y="914401"/>
            <a:ext cx="762000" cy="2271713"/>
            <a:chOff x="4128" y="576"/>
            <a:chExt cx="480" cy="1431"/>
          </a:xfrm>
        </p:grpSpPr>
        <p:sp>
          <p:nvSpPr>
            <p:cNvPr id="28681" name="Text Box 9"/>
            <p:cNvSpPr txBox="1">
              <a:spLocks noChangeArrowheads="1"/>
            </p:cNvSpPr>
            <p:nvPr/>
          </p:nvSpPr>
          <p:spPr bwMode="auto">
            <a:xfrm>
              <a:off x="4128" y="120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V</a:t>
              </a:r>
              <a:r>
                <a:rPr lang="en-US" baseline="-25000"/>
                <a:t>2</a:t>
              </a:r>
              <a:endParaRPr lang="en-US"/>
            </a:p>
          </p:txBody>
        </p:sp>
        <p:sp>
          <p:nvSpPr>
            <p:cNvPr id="28682" name="Line 10"/>
            <p:cNvSpPr>
              <a:spLocks noChangeShapeType="1"/>
            </p:cNvSpPr>
            <p:nvPr/>
          </p:nvSpPr>
          <p:spPr bwMode="auto">
            <a:xfrm>
              <a:off x="4272" y="81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683" name="Line 11"/>
            <p:cNvSpPr>
              <a:spLocks noChangeShapeType="1"/>
            </p:cNvSpPr>
            <p:nvPr/>
          </p:nvSpPr>
          <p:spPr bwMode="auto">
            <a:xfrm>
              <a:off x="4272" y="148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684" name="Text Box 12"/>
            <p:cNvSpPr txBox="1">
              <a:spLocks noChangeArrowheads="1"/>
            </p:cNvSpPr>
            <p:nvPr/>
          </p:nvSpPr>
          <p:spPr bwMode="auto">
            <a:xfrm>
              <a:off x="4368" y="576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+</a:t>
              </a:r>
            </a:p>
          </p:txBody>
        </p:sp>
        <p:sp>
          <p:nvSpPr>
            <p:cNvPr id="28685" name="Text Box 13"/>
            <p:cNvSpPr txBox="1">
              <a:spLocks noChangeArrowheads="1"/>
            </p:cNvSpPr>
            <p:nvPr/>
          </p:nvSpPr>
          <p:spPr bwMode="auto">
            <a:xfrm>
              <a:off x="4368" y="1776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-</a:t>
              </a:r>
            </a:p>
          </p:txBody>
        </p:sp>
      </p:grpSp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2286000" y="18288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28687" name="Line 15"/>
          <p:cNvSpPr>
            <a:spLocks noChangeShapeType="1"/>
          </p:cNvSpPr>
          <p:nvPr/>
        </p:nvSpPr>
        <p:spPr bwMode="auto">
          <a:xfrm>
            <a:off x="2514600" y="1219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88" name="Line 16"/>
          <p:cNvSpPr>
            <a:spLocks noChangeShapeType="1"/>
          </p:cNvSpPr>
          <p:nvPr/>
        </p:nvSpPr>
        <p:spPr bwMode="auto">
          <a:xfrm>
            <a:off x="2514600" y="2286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89" name="Text Box 17"/>
          <p:cNvSpPr txBox="1">
            <a:spLocks noChangeArrowheads="1"/>
          </p:cNvSpPr>
          <p:nvPr/>
        </p:nvSpPr>
        <p:spPr bwMode="auto">
          <a:xfrm>
            <a:off x="2133600" y="914401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+</a:t>
            </a:r>
          </a:p>
        </p:txBody>
      </p:sp>
      <p:sp>
        <p:nvSpPr>
          <p:cNvPr id="28690" name="Text Box 18"/>
          <p:cNvSpPr txBox="1">
            <a:spLocks noChangeArrowheads="1"/>
          </p:cNvSpPr>
          <p:nvPr/>
        </p:nvSpPr>
        <p:spPr bwMode="auto">
          <a:xfrm>
            <a:off x="2133600" y="2819401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-</a:t>
            </a:r>
          </a:p>
        </p:txBody>
      </p:sp>
      <p:sp>
        <p:nvSpPr>
          <p:cNvPr id="28691" name="Line 19"/>
          <p:cNvSpPr>
            <a:spLocks noChangeShapeType="1"/>
          </p:cNvSpPr>
          <p:nvPr/>
        </p:nvSpPr>
        <p:spPr bwMode="auto">
          <a:xfrm>
            <a:off x="2438400" y="838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92" name="Line 20"/>
          <p:cNvSpPr>
            <a:spLocks noChangeShapeType="1"/>
          </p:cNvSpPr>
          <p:nvPr/>
        </p:nvSpPr>
        <p:spPr bwMode="auto">
          <a:xfrm flipH="1">
            <a:off x="7467600" y="838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93" name="Text Box 21"/>
          <p:cNvSpPr txBox="1">
            <a:spLocks noChangeArrowheads="1"/>
          </p:cNvSpPr>
          <p:nvPr/>
        </p:nvSpPr>
        <p:spPr bwMode="auto">
          <a:xfrm>
            <a:off x="2590800" y="457201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28694" name="Text Box 22"/>
          <p:cNvSpPr txBox="1">
            <a:spLocks noChangeArrowheads="1"/>
          </p:cNvSpPr>
          <p:nvPr/>
        </p:nvSpPr>
        <p:spPr bwMode="auto">
          <a:xfrm>
            <a:off x="7772400" y="457201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</a:t>
            </a:r>
            <a:r>
              <a:rPr lang="en-US" baseline="-25000"/>
              <a:t>2</a:t>
            </a:r>
            <a:endParaRPr lang="en-US"/>
          </a:p>
        </p:txBody>
      </p:sp>
      <p:graphicFrame>
        <p:nvGraphicFramePr>
          <p:cNvPr id="28695" name="Object 23"/>
          <p:cNvGraphicFramePr>
            <a:graphicFrameLocks noChangeAspect="1"/>
          </p:cNvGraphicFramePr>
          <p:nvPr/>
        </p:nvGraphicFramePr>
        <p:xfrm>
          <a:off x="7086600" y="3276601"/>
          <a:ext cx="2743200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Equation" r:id="rId4" imgW="1104840" imgH="457200" progId="Equation.3">
                  <p:embed/>
                </p:oleObj>
              </mc:Choice>
              <mc:Fallback>
                <p:oleObj name="Equation" r:id="rId4" imgW="1104840" imgH="457200" progId="Equation.3">
                  <p:embed/>
                  <p:pic>
                    <p:nvPicPr>
                      <p:cNvPr id="2869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3276601"/>
                        <a:ext cx="2743200" cy="1135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6" name="Text Box 24"/>
          <p:cNvSpPr txBox="1">
            <a:spLocks noChangeArrowheads="1"/>
          </p:cNvSpPr>
          <p:nvPr/>
        </p:nvSpPr>
        <p:spPr bwMode="auto">
          <a:xfrm>
            <a:off x="1981200" y="4038601"/>
            <a:ext cx="2743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2</a:t>
            </a:r>
            <a:r>
              <a:rPr lang="en-US"/>
              <a:t> = 0 (output shorted)</a:t>
            </a:r>
          </a:p>
        </p:txBody>
      </p:sp>
      <p:graphicFrame>
        <p:nvGraphicFramePr>
          <p:cNvPr id="28697" name="Object 25"/>
          <p:cNvGraphicFramePr>
            <a:graphicFrameLocks noChangeAspect="1"/>
          </p:cNvGraphicFramePr>
          <p:nvPr/>
        </p:nvGraphicFramePr>
        <p:xfrm>
          <a:off x="1981200" y="4495801"/>
          <a:ext cx="3816350" cy="220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Equation" r:id="rId6" imgW="1536480" imgH="888840" progId="Equation.3">
                  <p:embed/>
                </p:oleObj>
              </mc:Choice>
              <mc:Fallback>
                <p:oleObj name="Equation" r:id="rId6" imgW="1536480" imgH="888840" progId="Equation.3">
                  <p:embed/>
                  <p:pic>
                    <p:nvPicPr>
                      <p:cNvPr id="2869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495801"/>
                        <a:ext cx="3816350" cy="220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8" name="Line 26"/>
          <p:cNvSpPr>
            <a:spLocks noChangeShapeType="1"/>
          </p:cNvSpPr>
          <p:nvPr/>
        </p:nvSpPr>
        <p:spPr bwMode="auto">
          <a:xfrm>
            <a:off x="6019800" y="5029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99" name="Text Box 27"/>
          <p:cNvSpPr txBox="1">
            <a:spLocks noChangeArrowheads="1"/>
          </p:cNvSpPr>
          <p:nvPr/>
        </p:nvSpPr>
        <p:spPr bwMode="auto">
          <a:xfrm>
            <a:off x="6781800" y="4800601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Impedansi input</a:t>
            </a:r>
          </a:p>
        </p:txBody>
      </p:sp>
      <p:sp>
        <p:nvSpPr>
          <p:cNvPr id="28700" name="Line 28"/>
          <p:cNvSpPr>
            <a:spLocks noChangeShapeType="1"/>
          </p:cNvSpPr>
          <p:nvPr/>
        </p:nvSpPr>
        <p:spPr bwMode="auto">
          <a:xfrm>
            <a:off x="6019800" y="6096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701" name="Text Box 29"/>
          <p:cNvSpPr txBox="1">
            <a:spLocks noChangeArrowheads="1"/>
          </p:cNvSpPr>
          <p:nvPr/>
        </p:nvSpPr>
        <p:spPr bwMode="auto">
          <a:xfrm>
            <a:off x="6858000" y="5867401"/>
            <a:ext cx="2133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Penguatan arus</a:t>
            </a:r>
          </a:p>
        </p:txBody>
      </p:sp>
    </p:spTree>
    <p:extLst>
      <p:ext uri="{BB962C8B-B14F-4D97-AF65-F5344CB8AC3E}">
        <p14:creationId xmlns:p14="http://schemas.microsoft.com/office/powerpoint/2010/main" val="1593257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hybrid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762000"/>
            <a:ext cx="6337300" cy="2578100"/>
          </a:xfrm>
          <a:prstGeom prst="rect">
            <a:avLst/>
          </a:prstGeom>
          <a:noFill/>
        </p:spPr>
      </p:pic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1524000" y="0"/>
            <a:ext cx="259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MODEL HYBRID</a:t>
            </a: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3352800" y="609601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h</a:t>
            </a:r>
            <a:r>
              <a:rPr lang="en-US" baseline="-25000"/>
              <a:t>ie</a:t>
            </a:r>
            <a:endParaRPr lang="en-US"/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7086600" y="1905001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h</a:t>
            </a:r>
            <a:r>
              <a:rPr lang="en-US" baseline="-25000"/>
              <a:t>oe</a:t>
            </a:r>
            <a:endParaRPr lang="en-US"/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3505200" y="1828801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h</a:t>
            </a:r>
            <a:r>
              <a:rPr lang="en-US" baseline="-25000"/>
              <a:t>re</a:t>
            </a:r>
            <a:r>
              <a:rPr lang="en-US"/>
              <a:t>V</a:t>
            </a:r>
            <a:r>
              <a:rPr lang="en-US" baseline="-25000"/>
              <a:t>2</a:t>
            </a:r>
            <a:endParaRPr lang="en-US"/>
          </a:p>
        </p:txBody>
      </p:sp>
      <p:sp>
        <p:nvSpPr>
          <p:cNvPr id="29703" name="Text Box 7"/>
          <p:cNvSpPr txBox="1">
            <a:spLocks noChangeArrowheads="1"/>
          </p:cNvSpPr>
          <p:nvPr/>
        </p:nvSpPr>
        <p:spPr bwMode="auto">
          <a:xfrm>
            <a:off x="5943600" y="1828801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h</a:t>
            </a:r>
            <a:r>
              <a:rPr lang="en-US" baseline="-25000"/>
              <a:t>fe</a:t>
            </a:r>
            <a:r>
              <a:rPr lang="en-US"/>
              <a:t>i</a:t>
            </a:r>
            <a:r>
              <a:rPr lang="en-US" baseline="-25000"/>
              <a:t>1</a:t>
            </a:r>
            <a:endParaRPr lang="en-US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8077200" y="914401"/>
            <a:ext cx="762000" cy="2271713"/>
            <a:chOff x="4128" y="576"/>
            <a:chExt cx="480" cy="1431"/>
          </a:xfrm>
        </p:grpSpPr>
        <p:sp>
          <p:nvSpPr>
            <p:cNvPr id="29705" name="Text Box 9"/>
            <p:cNvSpPr txBox="1">
              <a:spLocks noChangeArrowheads="1"/>
            </p:cNvSpPr>
            <p:nvPr/>
          </p:nvSpPr>
          <p:spPr bwMode="auto">
            <a:xfrm>
              <a:off x="4128" y="1200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V</a:t>
              </a:r>
              <a:r>
                <a:rPr lang="en-US" baseline="-25000"/>
                <a:t>2</a:t>
              </a:r>
              <a:endParaRPr lang="en-US"/>
            </a:p>
          </p:txBody>
        </p:sp>
        <p:sp>
          <p:nvSpPr>
            <p:cNvPr id="29706" name="Line 10"/>
            <p:cNvSpPr>
              <a:spLocks noChangeShapeType="1"/>
            </p:cNvSpPr>
            <p:nvPr/>
          </p:nvSpPr>
          <p:spPr bwMode="auto">
            <a:xfrm>
              <a:off x="4272" y="81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arrow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707" name="Line 11"/>
            <p:cNvSpPr>
              <a:spLocks noChangeShapeType="1"/>
            </p:cNvSpPr>
            <p:nvPr/>
          </p:nvSpPr>
          <p:spPr bwMode="auto">
            <a:xfrm>
              <a:off x="4272" y="148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708" name="Text Box 12"/>
            <p:cNvSpPr txBox="1">
              <a:spLocks noChangeArrowheads="1"/>
            </p:cNvSpPr>
            <p:nvPr/>
          </p:nvSpPr>
          <p:spPr bwMode="auto">
            <a:xfrm>
              <a:off x="4368" y="576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+</a:t>
              </a:r>
            </a:p>
          </p:txBody>
        </p:sp>
        <p:sp>
          <p:nvSpPr>
            <p:cNvPr id="29709" name="Text Box 13"/>
            <p:cNvSpPr txBox="1">
              <a:spLocks noChangeArrowheads="1"/>
            </p:cNvSpPr>
            <p:nvPr/>
          </p:nvSpPr>
          <p:spPr bwMode="auto">
            <a:xfrm>
              <a:off x="4368" y="1776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-</a:t>
              </a:r>
            </a:p>
          </p:txBody>
        </p:sp>
      </p:grp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2286000" y="1828801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V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29711" name="Line 15"/>
          <p:cNvSpPr>
            <a:spLocks noChangeShapeType="1"/>
          </p:cNvSpPr>
          <p:nvPr/>
        </p:nvSpPr>
        <p:spPr bwMode="auto">
          <a:xfrm>
            <a:off x="2514600" y="1219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12" name="Line 16"/>
          <p:cNvSpPr>
            <a:spLocks noChangeShapeType="1"/>
          </p:cNvSpPr>
          <p:nvPr/>
        </p:nvSpPr>
        <p:spPr bwMode="auto">
          <a:xfrm>
            <a:off x="2514600" y="2286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13" name="Text Box 17"/>
          <p:cNvSpPr txBox="1">
            <a:spLocks noChangeArrowheads="1"/>
          </p:cNvSpPr>
          <p:nvPr/>
        </p:nvSpPr>
        <p:spPr bwMode="auto">
          <a:xfrm>
            <a:off x="2133600" y="914401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+</a:t>
            </a:r>
          </a:p>
        </p:txBody>
      </p:sp>
      <p:sp>
        <p:nvSpPr>
          <p:cNvPr id="29714" name="Text Box 18"/>
          <p:cNvSpPr txBox="1">
            <a:spLocks noChangeArrowheads="1"/>
          </p:cNvSpPr>
          <p:nvPr/>
        </p:nvSpPr>
        <p:spPr bwMode="auto">
          <a:xfrm>
            <a:off x="2133600" y="2819401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-</a:t>
            </a:r>
          </a:p>
        </p:txBody>
      </p:sp>
      <p:sp>
        <p:nvSpPr>
          <p:cNvPr id="29715" name="Line 19"/>
          <p:cNvSpPr>
            <a:spLocks noChangeShapeType="1"/>
          </p:cNvSpPr>
          <p:nvPr/>
        </p:nvSpPr>
        <p:spPr bwMode="auto">
          <a:xfrm>
            <a:off x="2438400" y="838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16" name="Line 20"/>
          <p:cNvSpPr>
            <a:spLocks noChangeShapeType="1"/>
          </p:cNvSpPr>
          <p:nvPr/>
        </p:nvSpPr>
        <p:spPr bwMode="auto">
          <a:xfrm flipH="1">
            <a:off x="7467600" y="838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2590800" y="457201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29718" name="Text Box 22"/>
          <p:cNvSpPr txBox="1">
            <a:spLocks noChangeArrowheads="1"/>
          </p:cNvSpPr>
          <p:nvPr/>
        </p:nvSpPr>
        <p:spPr bwMode="auto">
          <a:xfrm>
            <a:off x="7772400" y="457201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</a:t>
            </a:r>
            <a:r>
              <a:rPr lang="en-US" baseline="-25000"/>
              <a:t>2</a:t>
            </a:r>
            <a:endParaRPr lang="en-US"/>
          </a:p>
        </p:txBody>
      </p:sp>
      <p:graphicFrame>
        <p:nvGraphicFramePr>
          <p:cNvPr id="29719" name="Object 23"/>
          <p:cNvGraphicFramePr>
            <a:graphicFrameLocks noChangeAspect="1"/>
          </p:cNvGraphicFramePr>
          <p:nvPr/>
        </p:nvGraphicFramePr>
        <p:xfrm>
          <a:off x="7086600" y="3276601"/>
          <a:ext cx="2743200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Equation" r:id="rId4" imgW="1104840" imgH="457200" progId="Equation.3">
                  <p:embed/>
                </p:oleObj>
              </mc:Choice>
              <mc:Fallback>
                <p:oleObj name="Equation" r:id="rId4" imgW="1104840" imgH="457200" progId="Equation.3">
                  <p:embed/>
                  <p:pic>
                    <p:nvPicPr>
                      <p:cNvPr id="2971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3276601"/>
                        <a:ext cx="2743200" cy="1135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0" name="Text Box 24"/>
          <p:cNvSpPr txBox="1">
            <a:spLocks noChangeArrowheads="1"/>
          </p:cNvSpPr>
          <p:nvPr/>
        </p:nvSpPr>
        <p:spPr bwMode="auto">
          <a:xfrm>
            <a:off x="1981200" y="4038601"/>
            <a:ext cx="2743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i</a:t>
            </a:r>
            <a:r>
              <a:rPr lang="en-US" baseline="-25000"/>
              <a:t>1</a:t>
            </a:r>
            <a:r>
              <a:rPr lang="en-US"/>
              <a:t> = 0 (input open)</a:t>
            </a:r>
          </a:p>
        </p:txBody>
      </p:sp>
      <p:graphicFrame>
        <p:nvGraphicFramePr>
          <p:cNvPr id="29721" name="Object 25"/>
          <p:cNvGraphicFramePr>
            <a:graphicFrameLocks noChangeAspect="1"/>
          </p:cNvGraphicFramePr>
          <p:nvPr/>
        </p:nvGraphicFramePr>
        <p:xfrm>
          <a:off x="1808163" y="4495801"/>
          <a:ext cx="4164012" cy="220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Equation" r:id="rId6" imgW="1676160" imgH="888840" progId="Equation.3">
                  <p:embed/>
                </p:oleObj>
              </mc:Choice>
              <mc:Fallback>
                <p:oleObj name="Equation" r:id="rId6" imgW="1676160" imgH="888840" progId="Equation.3">
                  <p:embed/>
                  <p:pic>
                    <p:nvPicPr>
                      <p:cNvPr id="2972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3" y="4495801"/>
                        <a:ext cx="4164012" cy="220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2" name="Line 26"/>
          <p:cNvSpPr>
            <a:spLocks noChangeShapeType="1"/>
          </p:cNvSpPr>
          <p:nvPr/>
        </p:nvSpPr>
        <p:spPr bwMode="auto">
          <a:xfrm>
            <a:off x="6019800" y="5029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23" name="Text Box 27"/>
          <p:cNvSpPr txBox="1">
            <a:spLocks noChangeArrowheads="1"/>
          </p:cNvSpPr>
          <p:nvPr/>
        </p:nvSpPr>
        <p:spPr bwMode="auto">
          <a:xfrm>
            <a:off x="6781800" y="4800601"/>
            <a:ext cx="3124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Penguatan tegangan balik</a:t>
            </a:r>
          </a:p>
        </p:txBody>
      </p:sp>
      <p:sp>
        <p:nvSpPr>
          <p:cNvPr id="29724" name="Line 28"/>
          <p:cNvSpPr>
            <a:spLocks noChangeShapeType="1"/>
          </p:cNvSpPr>
          <p:nvPr/>
        </p:nvSpPr>
        <p:spPr bwMode="auto">
          <a:xfrm>
            <a:off x="6019800" y="6096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25" name="Text Box 29"/>
          <p:cNvSpPr txBox="1">
            <a:spLocks noChangeArrowheads="1"/>
          </p:cNvSpPr>
          <p:nvPr/>
        </p:nvSpPr>
        <p:spPr bwMode="auto">
          <a:xfrm>
            <a:off x="6858000" y="5867401"/>
            <a:ext cx="2133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Admitansi output</a:t>
            </a:r>
          </a:p>
        </p:txBody>
      </p:sp>
    </p:spTree>
    <p:extLst>
      <p:ext uri="{BB962C8B-B14F-4D97-AF65-F5344CB8AC3E}">
        <p14:creationId xmlns:p14="http://schemas.microsoft.com/office/powerpoint/2010/main" val="3784359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890378"/>
            <a:ext cx="7776864" cy="341784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1628800"/>
            <a:ext cx="6480720" cy="504056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1800" dirty="0"/>
              <a:t>1. </a:t>
            </a:r>
            <a:r>
              <a:rPr lang="en-US" sz="1800" dirty="0" err="1"/>
              <a:t>Perhatikan</a:t>
            </a:r>
            <a:r>
              <a:rPr lang="en-US" sz="1800" dirty="0"/>
              <a:t> </a:t>
            </a:r>
            <a:r>
              <a:rPr lang="en-US" sz="1800" dirty="0" err="1"/>
              <a:t>rangkaian</a:t>
            </a:r>
            <a:r>
              <a:rPr lang="en-US" sz="1800" dirty="0"/>
              <a:t> </a:t>
            </a:r>
            <a:r>
              <a:rPr lang="en-US" sz="1800" dirty="0" err="1"/>
              <a:t>penguat</a:t>
            </a:r>
            <a:r>
              <a:rPr lang="en-US" sz="1800" dirty="0"/>
              <a:t> BJT </a:t>
            </a:r>
            <a:r>
              <a:rPr lang="en-US" sz="1800" dirty="0" err="1"/>
              <a:t>berikut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2177113"/>
            <a:ext cx="4896545" cy="32546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643" y="2794021"/>
            <a:ext cx="4063996" cy="1211043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278294" y="2347724"/>
            <a:ext cx="3672408" cy="44629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None/>
            </a:pPr>
            <a:r>
              <a:rPr lang="en-US" sz="1600" dirty="0" err="1"/>
              <a:t>Jika</a:t>
            </a:r>
            <a:r>
              <a:rPr lang="en-US" sz="1600" dirty="0"/>
              <a:t> </a:t>
            </a:r>
            <a:r>
              <a:rPr lang="en-US" sz="1600" dirty="0" err="1"/>
              <a:t>diketahui</a:t>
            </a:r>
            <a:r>
              <a:rPr lang="en-US" sz="1600" dirty="0"/>
              <a:t> parameter </a:t>
            </a:r>
            <a:r>
              <a:rPr lang="en-US" sz="1600" dirty="0" err="1"/>
              <a:t>penguat</a:t>
            </a:r>
            <a:r>
              <a:rPr lang="en-US" sz="1600" dirty="0"/>
              <a:t> </a:t>
            </a:r>
            <a:r>
              <a:rPr lang="en-US" sz="1600" dirty="0" err="1"/>
              <a:t>sbb</a:t>
            </a:r>
            <a:r>
              <a:rPr lang="en-US" sz="1600" dirty="0"/>
              <a:t>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297183" y="4221088"/>
            <a:ext cx="4104456" cy="165929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None/>
            </a:pPr>
            <a:r>
              <a:rPr lang="en-US" sz="1600" dirty="0" err="1"/>
              <a:t>Tentukan</a:t>
            </a:r>
            <a:r>
              <a:rPr lang="en-US" sz="1600" dirty="0"/>
              <a:t> </a:t>
            </a:r>
            <a:r>
              <a:rPr lang="en-US" sz="1600" dirty="0" err="1"/>
              <a:t>respon</a:t>
            </a:r>
            <a:r>
              <a:rPr lang="en-US" sz="1600" dirty="0"/>
              <a:t> </a:t>
            </a:r>
            <a:r>
              <a:rPr lang="en-US" sz="1600" dirty="0" err="1"/>
              <a:t>penguatan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b="1" dirty="0"/>
              <a:t>  </a:t>
            </a:r>
            <a:r>
              <a:rPr lang="en-US" sz="1600" dirty="0" err="1"/>
              <a:t>frekuensi</a:t>
            </a:r>
            <a:r>
              <a:rPr lang="en-US" sz="1600" dirty="0"/>
              <a:t> </a:t>
            </a:r>
            <a:r>
              <a:rPr lang="en-US" sz="1600" dirty="0" err="1"/>
              <a:t>bawah</a:t>
            </a:r>
            <a:r>
              <a:rPr lang="en-US" sz="1600" dirty="0"/>
              <a:t> di </a:t>
            </a:r>
            <a:r>
              <a:rPr lang="en-US" sz="1600" dirty="0" err="1"/>
              <a:t>bagian</a:t>
            </a:r>
            <a:r>
              <a:rPr lang="en-US" sz="1600" dirty="0"/>
              <a:t> :</a:t>
            </a:r>
          </a:p>
          <a:p>
            <a:pPr marL="452628" indent="-342900">
              <a:buFont typeface="Georgia"/>
              <a:buAutoNum type="alphaLcPeriod"/>
            </a:pPr>
            <a:r>
              <a:rPr lang="en-US" sz="1600" dirty="0" err="1"/>
              <a:t>sisi</a:t>
            </a:r>
            <a:r>
              <a:rPr lang="en-US" sz="1600" dirty="0"/>
              <a:t> input-</a:t>
            </a:r>
            <a:r>
              <a:rPr lang="en-US" sz="1600" dirty="0" err="1"/>
              <a:t>nya</a:t>
            </a:r>
            <a:r>
              <a:rPr lang="en-US" sz="1600" dirty="0"/>
              <a:t> !</a:t>
            </a:r>
          </a:p>
          <a:p>
            <a:pPr marL="452628" indent="-342900">
              <a:buFont typeface="Georgia"/>
              <a:buAutoNum type="alphaLcPeriod"/>
            </a:pPr>
            <a:r>
              <a:rPr lang="en-US" sz="1600" dirty="0" err="1"/>
              <a:t>sisi</a:t>
            </a:r>
            <a:r>
              <a:rPr lang="en-US" sz="1600" dirty="0"/>
              <a:t> output-</a:t>
            </a:r>
            <a:r>
              <a:rPr lang="en-US" sz="1600" dirty="0" err="1"/>
              <a:t>nya</a:t>
            </a:r>
            <a:r>
              <a:rPr lang="en-US" sz="1600" dirty="0"/>
              <a:t> !</a:t>
            </a:r>
          </a:p>
          <a:p>
            <a:pPr marL="452628" indent="-342900">
              <a:buFont typeface="Georgia"/>
              <a:buAutoNum type="alphaLcPeriod"/>
            </a:pPr>
            <a:r>
              <a:rPr lang="en-US" sz="1600" dirty="0" err="1"/>
              <a:t>sisi</a:t>
            </a:r>
            <a:r>
              <a:rPr lang="en-US" sz="1600" dirty="0"/>
              <a:t> bypass-</a:t>
            </a:r>
            <a:r>
              <a:rPr lang="en-US" sz="1600" dirty="0" err="1"/>
              <a:t>nya</a:t>
            </a:r>
            <a:r>
              <a:rPr lang="en-US" sz="1600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128622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836712"/>
            <a:ext cx="8229600" cy="1066800"/>
          </a:xfrm>
        </p:spPr>
        <p:txBody>
          <a:bodyPr>
            <a:normAutofit/>
          </a:bodyPr>
          <a:lstStyle/>
          <a:p>
            <a:r>
              <a:rPr lang="en-US" sz="2400" dirty="0"/>
              <a:t>2. </a:t>
            </a:r>
            <a:r>
              <a:rPr lang="en-US" sz="2400" dirty="0" err="1"/>
              <a:t>Simulasikan</a:t>
            </a:r>
            <a:r>
              <a:rPr lang="en-US" sz="2400" dirty="0"/>
              <a:t>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penguat</a:t>
            </a:r>
            <a:r>
              <a:rPr lang="en-US" sz="2400" dirty="0"/>
              <a:t> BJT </a:t>
            </a:r>
            <a:r>
              <a:rPr lang="en-US" sz="2400" dirty="0" err="1"/>
              <a:t>berikut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gambarkan</a:t>
            </a:r>
            <a:r>
              <a:rPr lang="en-US" sz="2400" dirty="0"/>
              <a:t> </a:t>
            </a:r>
            <a:r>
              <a:rPr lang="en-US" sz="2400" dirty="0" err="1"/>
              <a:t>kurva</a:t>
            </a:r>
            <a:r>
              <a:rPr lang="en-US" sz="2400" dirty="0"/>
              <a:t> </a:t>
            </a:r>
            <a:r>
              <a:rPr lang="en-US" sz="2400" dirty="0" err="1"/>
              <a:t>tanggapan</a:t>
            </a:r>
            <a:r>
              <a:rPr lang="en-US" sz="2400" dirty="0"/>
              <a:t> </a:t>
            </a:r>
            <a:r>
              <a:rPr lang="en-US" sz="2400" dirty="0" err="1"/>
              <a:t>frekuensinya</a:t>
            </a:r>
            <a:endParaRPr lang="en-US" sz="2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8294" y="2249488"/>
            <a:ext cx="6155412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49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4B310-956B-4986-B649-6C84FE080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286000"/>
            <a:ext cx="10018713" cy="1752599"/>
          </a:xfrm>
        </p:spPr>
        <p:txBody>
          <a:bodyPr>
            <a:normAutofit/>
          </a:bodyPr>
          <a:lstStyle/>
          <a:p>
            <a:r>
              <a:rPr lang="en-IN" sz="6600" dirty="0">
                <a:solidFill>
                  <a:schemeClr val="accent4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91008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</TotalTime>
  <Words>458</Words>
  <Application>Microsoft Office PowerPoint</Application>
  <PresentationFormat>Widescreen</PresentationFormat>
  <Paragraphs>211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맑은 고딕</vt:lpstr>
      <vt:lpstr>Arial</vt:lpstr>
      <vt:lpstr>Calibri</vt:lpstr>
      <vt:lpstr>Calibri Light</vt:lpstr>
      <vt:lpstr>Georgia</vt:lpstr>
      <vt:lpstr>Symbol</vt:lpstr>
      <vt:lpstr>Office Theme</vt:lpstr>
      <vt:lpstr>Equation</vt:lpstr>
      <vt:lpstr>Penguat Tegangan</vt:lpstr>
      <vt:lpstr>Transistor amplifiers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HW</vt:lpstr>
      <vt:lpstr>2. Simulasikan rangkaian penguat BJT berikut ini dan gambarkan kurva tanggapan frekuensinya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 Uncertainty Estimation in Medical Image Deep Learning w/ Dr. Brattain</dc:title>
  <dc:creator>pds</dc:creator>
  <cp:lastModifiedBy>Gde</cp:lastModifiedBy>
  <cp:revision>25</cp:revision>
  <dcterms:created xsi:type="dcterms:W3CDTF">2024-07-11T17:06:45Z</dcterms:created>
  <dcterms:modified xsi:type="dcterms:W3CDTF">2025-04-22T03:27:41Z</dcterms:modified>
</cp:coreProperties>
</file>