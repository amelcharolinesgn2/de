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4" r:id="rId2"/>
    <p:sldId id="297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7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72042" autoAdjust="0"/>
  </p:normalViewPr>
  <p:slideViewPr>
    <p:cSldViewPr snapToGrid="0">
      <p:cViewPr varScale="1">
        <p:scale>
          <a:sx n="59" d="100"/>
          <a:sy n="59" d="100"/>
        </p:scale>
        <p:origin x="10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D0C7D-798A-44DC-AC41-FEC01C38F0E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A1DE6-A801-4746-9FC0-8352D20A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93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84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F3AA28-425B-4EE2-8EC4-AA1075E3FF67}" type="slidenum">
              <a:rPr lang="en-US"/>
              <a:pPr/>
              <a:t>3</a:t>
            </a:fld>
            <a:endParaRPr lang="en-US" dirty="0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388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113C91-6513-4BDC-BAA4-5777C2429E70}" type="slidenum">
              <a:rPr lang="zh-TW" altLang="en-US"/>
              <a:pPr/>
              <a:t>5</a:t>
            </a:fld>
            <a:endParaRPr lang="en-US" altLang="zh-TW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8764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A5F538-F636-4704-A368-29A6D09457B7}" type="slidenum">
              <a:rPr lang="zh-TW" altLang="en-US"/>
              <a:pPr/>
              <a:t>9</a:t>
            </a:fld>
            <a:endParaRPr lang="en-US" altLang="zh-TW"/>
          </a:p>
        </p:txBody>
      </p:sp>
      <p:sp>
        <p:nvSpPr>
          <p:cNvPr id="193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2622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1604BF7C-7068-4831-8D58-DA314D38D124}" type="slidenum">
              <a:rPr lang="en-US" sz="1200"/>
              <a:pPr/>
              <a:t>10</a:t>
            </a:fld>
            <a:endParaRPr lang="en-US" sz="12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6602121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92305C-7BA4-4A72-B15B-67F6F966937D}" type="slidenum">
              <a:rPr lang="zh-TW" altLang="en-US"/>
              <a:pPr/>
              <a:t>11</a:t>
            </a:fld>
            <a:endParaRPr lang="en-US" altLang="zh-TW"/>
          </a:p>
        </p:txBody>
      </p:sp>
      <p:sp>
        <p:nvSpPr>
          <p:cNvPr id="191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6860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177386-A420-4FDE-9AA1-763272463F76}" type="slidenum">
              <a:rPr lang="zh-TW" altLang="en-US"/>
              <a:pPr/>
              <a:t>12</a:t>
            </a:fld>
            <a:endParaRPr lang="en-US" altLang="zh-TW"/>
          </a:p>
        </p:txBody>
      </p:sp>
      <p:sp>
        <p:nvSpPr>
          <p:cNvPr id="147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579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3056F3-EE3C-48F4-BBE5-6FD25BEC470E}" type="slidenum">
              <a:rPr lang="zh-TW" altLang="en-US"/>
              <a:pPr/>
              <a:t>13</a:t>
            </a:fld>
            <a:endParaRPr lang="en-US" altLang="zh-TW"/>
          </a:p>
        </p:txBody>
      </p:sp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665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DEBB45-4DDC-485D-92A9-273FA4175CA7}" type="slidenum">
              <a:rPr lang="zh-TW" altLang="en-US"/>
              <a:pPr/>
              <a:t>14</a:t>
            </a:fld>
            <a:endParaRPr lang="en-US" altLang="zh-TW"/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7681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2D6C8F-500D-41C3-85EA-C76563F7474B}" type="slidenum">
              <a:rPr lang="zh-TW" altLang="en-US"/>
              <a:pPr/>
              <a:t>15</a:t>
            </a:fld>
            <a:endParaRPr lang="en-US" altLang="zh-TW"/>
          </a:p>
        </p:txBody>
      </p:sp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66555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383CD6-0991-4716-AC85-AE48691DEF30}" type="slidenum">
              <a:rPr lang="zh-TW" altLang="en-US"/>
              <a:pPr/>
              <a:t>16</a:t>
            </a:fld>
            <a:endParaRPr lang="en-US" altLang="zh-TW"/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94212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297EE5-B7B4-473E-B23D-E6B18C0AC267}" type="slidenum">
              <a:rPr lang="zh-TW" altLang="en-US"/>
              <a:pPr/>
              <a:t>17</a:t>
            </a:fld>
            <a:endParaRPr lang="en-US" altLang="zh-TW"/>
          </a:p>
        </p:txBody>
      </p:sp>
      <p:sp>
        <p:nvSpPr>
          <p:cNvPr id="195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29276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AE8EBB-AFC1-4E09-B330-87A5747D00F9}" type="slidenum">
              <a:rPr lang="zh-TW" altLang="en-US"/>
              <a:pPr/>
              <a:t>18</a:t>
            </a:fld>
            <a:endParaRPr lang="en-US" altLang="zh-TW"/>
          </a:p>
        </p:txBody>
      </p:sp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16430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EA2CC-FABD-466D-82E8-AC953C7EC0C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28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9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03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8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96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4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84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2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4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92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6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66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9160933" cy="1600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828800"/>
            <a:ext cx="10261600" cy="1752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733800"/>
            <a:ext cx="10261600" cy="1752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828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741333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957733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4CEE3371-A646-4B57-B0C6-94E0F1F676CE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684289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6BBA35-CB62-4ED3-83C3-DF62B56E10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30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9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56677" y="2721459"/>
            <a:ext cx="9144000" cy="151032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chemeClr val="bg1">
                    <a:lumMod val="85000"/>
                  </a:schemeClr>
                </a:solidFill>
              </a:rPr>
              <a:t>9.2_Transistors</a:t>
            </a:r>
            <a:r>
              <a:rPr lang="en-US" b="1" dirty="0" smtClean="0">
                <a:solidFill>
                  <a:srgbClr val="002060"/>
                </a:solidFill>
              </a:rPr>
              <a:t/>
            </a:r>
            <a:br>
              <a:rPr lang="en-US" b="1" dirty="0" smtClean="0">
                <a:solidFill>
                  <a:srgbClr val="002060"/>
                </a:solidFill>
              </a:rPr>
            </a:br>
            <a:endParaRPr lang="en-US" dirty="0"/>
          </a:p>
        </p:txBody>
      </p:sp>
      <p:sp>
        <p:nvSpPr>
          <p:cNvPr id="13" name="Subtitle 2"/>
          <p:cNvSpPr txBox="1">
            <a:spLocks/>
          </p:cNvSpPr>
          <p:nvPr/>
        </p:nvSpPr>
        <p:spPr>
          <a:xfrm>
            <a:off x="2893786" y="3309896"/>
            <a:ext cx="5287688" cy="521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solidFill>
                <a:srgbClr val="00B0F0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54496" y="359621"/>
            <a:ext cx="4804363" cy="2463094"/>
            <a:chOff x="54496" y="359621"/>
            <a:chExt cx="4804363" cy="2463094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6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11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12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8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</p:spTree>
    <p:extLst>
      <p:ext uri="{BB962C8B-B14F-4D97-AF65-F5344CB8AC3E}">
        <p14:creationId xmlns:p14="http://schemas.microsoft.com/office/powerpoint/2010/main" val="386400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985838" y="2063750"/>
            <a:ext cx="10515600" cy="1325563"/>
          </a:xfrm>
        </p:spPr>
        <p:txBody>
          <a:bodyPr/>
          <a:lstStyle/>
          <a:p>
            <a:r>
              <a:rPr lang="en-US" dirty="0"/>
              <a:t>What is a transistor</a:t>
            </a:r>
            <a:r>
              <a:rPr lang="en-US" dirty="0" smtClean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557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089150" y="145577"/>
            <a:ext cx="7772400" cy="823414"/>
          </a:xfrm>
        </p:spPr>
        <p:txBody>
          <a:bodyPr/>
          <a:lstStyle/>
          <a:p>
            <a:r>
              <a:rPr lang="en-US" dirty="0"/>
              <a:t>What is a transistor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86720" y="1141863"/>
            <a:ext cx="8512790" cy="4572000"/>
          </a:xfrm>
        </p:spPr>
        <p:txBody>
          <a:bodyPr/>
          <a:lstStyle/>
          <a:p>
            <a:pPr algn="just"/>
            <a:r>
              <a:rPr lang="en-US" sz="2400" dirty="0"/>
              <a:t>A transistor is a 3 terminal electronic device made of semiconductor material.</a:t>
            </a:r>
          </a:p>
          <a:p>
            <a:pPr algn="just"/>
            <a:r>
              <a:rPr lang="en-US" sz="2400" dirty="0"/>
              <a:t>Transistors have many uses, including amplification, switching, voltage regulation, and the modulation of signals</a:t>
            </a:r>
          </a:p>
          <a:p>
            <a:pPr>
              <a:buFontTx/>
              <a:buNone/>
            </a:pPr>
            <a:endParaRPr lang="en-US" dirty="0"/>
          </a:p>
        </p:txBody>
      </p:sp>
      <p:pic>
        <p:nvPicPr>
          <p:cNvPr id="6148" name="Picture 4" descr="Transistor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133299"/>
            <a:ext cx="6159500" cy="348742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3989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868362"/>
          </a:xfrm>
        </p:spPr>
        <p:txBody>
          <a:bodyPr/>
          <a:lstStyle/>
          <a:p>
            <a:r>
              <a:rPr lang="en-US" dirty="0" smtClean="0"/>
              <a:t>Bipolar Transistor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960438"/>
            <a:ext cx="8839200" cy="452596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transistor is basically a Si </a:t>
            </a:r>
            <a:r>
              <a:rPr lang="en-US" dirty="0"/>
              <a:t>or </a:t>
            </a:r>
            <a:r>
              <a:rPr lang="en-US" dirty="0" err="1"/>
              <a:t>Ge</a:t>
            </a:r>
            <a:r>
              <a:rPr lang="en-US" dirty="0"/>
              <a:t> crystal containing three separate regions.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2289176" y="2486147"/>
            <a:ext cx="4964433" cy="140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 descr="https://upload.wikimedia.org/wikipedia/commons/thumb/0/0d/BJT_symbol_PNP.svg/408px-BJT_symbol_PNP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4395" y="2226342"/>
            <a:ext cx="1635017" cy="1923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2289176" y="4865348"/>
            <a:ext cx="4687389" cy="132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AutoShape 8" descr="http://upload.wikimedia.org/wikipedia/commons/a/aa/BJT_symbol_NPN.svg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10" descr="http://upload.wikimedia.org/wikipedia/commons/a/aa/BJT_symbol_NPN.svg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12" descr="http://upload.wikimedia.org/wikipedia/commons/a/aa/BJT_symbol_NPN.svg"/>
          <p:cNvSpPr>
            <a:spLocks noChangeAspect="1" noChangeArrowheads="1"/>
          </p:cNvSpPr>
          <p:nvPr/>
        </p:nvSpPr>
        <p:spPr bwMode="auto">
          <a:xfrm>
            <a:off x="1984375" y="1603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4" descr="http://upload.wikimedia.org/wikipedia/commons/a/aa/BJT_symbol_NPN.svg"/>
          <p:cNvSpPr>
            <a:spLocks noChangeAspect="1" noChangeArrowheads="1"/>
          </p:cNvSpPr>
          <p:nvPr/>
        </p:nvSpPr>
        <p:spPr bwMode="auto">
          <a:xfrm>
            <a:off x="2136775" y="3127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6" descr="http://upload.wikimedia.org/wikipedia/commons/a/aa/BJT_symbol_NPN.svg"/>
          <p:cNvSpPr>
            <a:spLocks noChangeAspect="1" noChangeArrowheads="1"/>
          </p:cNvSpPr>
          <p:nvPr/>
        </p:nvSpPr>
        <p:spPr bwMode="auto">
          <a:xfrm>
            <a:off x="2289175" y="4651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2" descr="http://upload.wikimedia.org/wikipedia/commons/a/aa/BJT_symbol_NPN.svg"/>
          <p:cNvSpPr>
            <a:spLocks noChangeAspect="1" noChangeArrowheads="1"/>
          </p:cNvSpPr>
          <p:nvPr/>
        </p:nvSpPr>
        <p:spPr bwMode="auto">
          <a:xfrm>
            <a:off x="2441575" y="6175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4" descr="http://www.build-electronic-circuits.com/wp-content/uploads/2013/03/schematic-symbols-transisto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0809" y="4464802"/>
            <a:ext cx="2126681" cy="2126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1774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2495550" y="0"/>
            <a:ext cx="6870700" cy="1123950"/>
          </a:xfrm>
        </p:spPr>
        <p:txBody>
          <a:bodyPr/>
          <a:lstStyle/>
          <a:p>
            <a:r>
              <a:rPr lang="en-US" altLang="zh-TW" dirty="0"/>
              <a:t>Architecture of BJTs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28801" y="1219200"/>
            <a:ext cx="8458199" cy="160178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altLang="zh-TW" dirty="0"/>
              <a:t>The bipolar junction transistor (BJT) is constructed with three doped semiconductor regions separated by two </a:t>
            </a:r>
            <a:r>
              <a:rPr lang="en-US" altLang="zh-TW" i="1" dirty="0" err="1"/>
              <a:t>pn</a:t>
            </a:r>
            <a:r>
              <a:rPr lang="en-US" altLang="zh-TW" dirty="0"/>
              <a:t> junctions</a:t>
            </a:r>
          </a:p>
          <a:p>
            <a:pPr algn="just"/>
            <a:r>
              <a:rPr lang="en-US" altLang="zh-TW" dirty="0"/>
              <a:t>Regions are called </a:t>
            </a:r>
            <a:r>
              <a:rPr lang="en-US" altLang="zh-TW" b="1" dirty="0"/>
              <a:t>emitter</a:t>
            </a:r>
            <a:r>
              <a:rPr lang="en-US" altLang="zh-TW" dirty="0"/>
              <a:t>, </a:t>
            </a:r>
            <a:r>
              <a:rPr lang="en-US" altLang="zh-TW" b="1" dirty="0"/>
              <a:t>base</a:t>
            </a:r>
            <a:r>
              <a:rPr lang="en-US" altLang="zh-TW" dirty="0"/>
              <a:t> and </a:t>
            </a:r>
            <a:r>
              <a:rPr lang="en-US" altLang="zh-TW" b="1" dirty="0"/>
              <a:t>collector</a:t>
            </a:r>
            <a:endParaRPr lang="en-US" altLang="zh-TW" dirty="0"/>
          </a:p>
          <a:p>
            <a:pPr algn="just">
              <a:buFontTx/>
              <a:buNone/>
            </a:pPr>
            <a:endParaRPr lang="zh-TW" altLang="en-US" dirty="0"/>
          </a:p>
        </p:txBody>
      </p:sp>
      <p:pic>
        <p:nvPicPr>
          <p:cNvPr id="52230" name="Picture 6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38401" y="3200400"/>
            <a:ext cx="7450899" cy="3162300"/>
          </a:xfrm>
        </p:spPr>
      </p:pic>
    </p:spTree>
    <p:extLst>
      <p:ext uri="{BB962C8B-B14F-4D97-AF65-F5344CB8AC3E}">
        <p14:creationId xmlns:p14="http://schemas.microsoft.com/office/powerpoint/2010/main" val="4128149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868362"/>
          </a:xfrm>
        </p:spPr>
        <p:txBody>
          <a:bodyPr/>
          <a:lstStyle/>
          <a:p>
            <a:r>
              <a:rPr lang="en-US" dirty="0" smtClean="0"/>
              <a:t>Bipolar Transistor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960438"/>
            <a:ext cx="8839200" cy="452596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depletion layers do not have the same width, because different regions have different doping levels.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886" y="3048000"/>
            <a:ext cx="678942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107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Biasing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685801"/>
            <a:ext cx="8839200" cy="4525963"/>
          </a:xfrm>
        </p:spPr>
        <p:txBody>
          <a:bodyPr>
            <a:normAutofit/>
          </a:bodyPr>
          <a:lstStyle/>
          <a:p>
            <a:pPr algn="just"/>
            <a:r>
              <a:rPr lang="en-US" sz="2600" dirty="0"/>
              <a:t>If both the junctions are forward biased </a:t>
            </a:r>
            <a:r>
              <a:rPr lang="en-US" sz="2600" dirty="0"/>
              <a:t>free </a:t>
            </a:r>
            <a:r>
              <a:rPr lang="en-US" sz="2600" dirty="0"/>
              <a:t>electrons </a:t>
            </a:r>
            <a:r>
              <a:rPr lang="en-US" sz="2600" dirty="0"/>
              <a:t>enter </a:t>
            </a:r>
            <a:r>
              <a:rPr lang="en-US" sz="2600" dirty="0"/>
              <a:t>the emitter and collector of the transistor, joins at the base and come out of the base. </a:t>
            </a:r>
            <a:endParaRPr lang="en-US" sz="2600" dirty="0"/>
          </a:p>
          <a:p>
            <a:pPr algn="just"/>
            <a:endParaRPr lang="en-US" sz="2600" dirty="0"/>
          </a:p>
          <a:p>
            <a:pPr algn="just"/>
            <a:endParaRPr lang="en-US" sz="2600" dirty="0"/>
          </a:p>
          <a:p>
            <a:pPr algn="just"/>
            <a:endParaRPr lang="en-US" sz="2600" dirty="0"/>
          </a:p>
          <a:p>
            <a:pPr algn="just"/>
            <a:r>
              <a:rPr lang="en-US" sz="2600" dirty="0"/>
              <a:t>If </a:t>
            </a:r>
            <a:r>
              <a:rPr lang="en-US" sz="2600" dirty="0"/>
              <a:t>both the junction are reverse biased </a:t>
            </a:r>
            <a:r>
              <a:rPr lang="en-US" sz="2600" dirty="0"/>
              <a:t>then </a:t>
            </a:r>
            <a:r>
              <a:rPr lang="en-US" sz="2600" dirty="0"/>
              <a:t>small currents flows through both junctions only due to thermally produced minority carriers and surface leakage</a:t>
            </a:r>
            <a:r>
              <a:rPr lang="en-US" dirty="0"/>
              <a:t>.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06" b="14630"/>
          <a:stretch/>
        </p:blipFill>
        <p:spPr bwMode="auto">
          <a:xfrm>
            <a:off x="4368333" y="1905000"/>
            <a:ext cx="3511528" cy="1578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1" y="4887098"/>
            <a:ext cx="3589955" cy="1988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483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Biasing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960438"/>
            <a:ext cx="8839200" cy="452596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When the emitter </a:t>
            </a:r>
            <a:r>
              <a:rPr lang="en-US" dirty="0"/>
              <a:t>junction </a:t>
            </a:r>
            <a:r>
              <a:rPr lang="en-US" dirty="0"/>
              <a:t>is forward biased and collector </a:t>
            </a:r>
            <a:r>
              <a:rPr lang="en-US" dirty="0"/>
              <a:t>junction </a:t>
            </a:r>
            <a:r>
              <a:rPr lang="en-US" dirty="0"/>
              <a:t>is reverse biased </a:t>
            </a:r>
            <a:r>
              <a:rPr lang="en-US" dirty="0"/>
              <a:t>then </a:t>
            </a:r>
            <a:r>
              <a:rPr lang="en-US" dirty="0"/>
              <a:t>one expect large emitter current and small collector current but collector current is almost as large as emitter current. </a:t>
            </a:r>
            <a:endParaRPr lang="en-US" sz="2600" dirty="0"/>
          </a:p>
          <a:p>
            <a:pPr algn="just"/>
            <a:endParaRPr lang="en-US" sz="2600" dirty="0"/>
          </a:p>
          <a:p>
            <a:pPr algn="just"/>
            <a:endParaRPr lang="en-US" sz="2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429001"/>
            <a:ext cx="5719030" cy="221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8734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517" name="Picture 5" descr="fg17_0020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6506" y="1043782"/>
            <a:ext cx="6769100" cy="3671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518" name="Picture 6" descr="fg17_0040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914400"/>
            <a:ext cx="8316913" cy="393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838200"/>
          </a:xfrm>
        </p:spPr>
        <p:txBody>
          <a:bodyPr/>
          <a:lstStyle/>
          <a:p>
            <a:r>
              <a:rPr lang="en-US" dirty="0" smtClean="0"/>
              <a:t>Transistor Current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057401" y="4715669"/>
            <a:ext cx="793591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/>
              <a:t>The total current flowing into the transistor must be equal to the total current flowing out of it.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257800" y="5698020"/>
                <a:ext cx="18126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𝐸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5698020"/>
                <a:ext cx="1812612" cy="461665"/>
              </a:xfrm>
              <a:prstGeom prst="rect">
                <a:avLst/>
              </a:prstGeom>
              <a:blipFill>
                <a:blip r:embed="rId5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5443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Transistor Applications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Switching</a:t>
            </a:r>
          </a:p>
          <a:p>
            <a:pPr eaLnBrk="1" hangingPunct="1"/>
            <a:r>
              <a:rPr lang="en-US" dirty="0"/>
              <a:t>Amplification</a:t>
            </a:r>
          </a:p>
          <a:p>
            <a:pPr eaLnBrk="1" hangingPunct="1"/>
            <a:r>
              <a:rPr lang="en-US" dirty="0"/>
              <a:t>Variable Resistor </a:t>
            </a:r>
          </a:p>
          <a:p>
            <a:pPr eaLnBrk="1" hangingPunct="1"/>
            <a:r>
              <a:rPr lang="en-US" dirty="0"/>
              <a:t>Impedance Matching</a:t>
            </a:r>
          </a:p>
          <a:p>
            <a:pPr eaLnBrk="1" hangingPunct="1"/>
            <a:r>
              <a:rPr lang="en-US" dirty="0"/>
              <a:t>Voltage Regulation</a:t>
            </a:r>
          </a:p>
        </p:txBody>
      </p:sp>
    </p:spTree>
    <p:extLst>
      <p:ext uri="{BB962C8B-B14F-4D97-AF65-F5344CB8AC3E}">
        <p14:creationId xmlns:p14="http://schemas.microsoft.com/office/powerpoint/2010/main" val="912249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Basic circuits of BJT</a:t>
            </a:r>
          </a:p>
        </p:txBody>
      </p:sp>
      <p:pic>
        <p:nvPicPr>
          <p:cNvPr id="190468" name="Picture 4" descr="fg17_00500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43250" y="1989138"/>
            <a:ext cx="6180138" cy="3802062"/>
          </a:xfrm>
        </p:spPr>
      </p:pic>
    </p:spTree>
    <p:extLst>
      <p:ext uri="{BB962C8B-B14F-4D97-AF65-F5344CB8AC3E}">
        <p14:creationId xmlns:p14="http://schemas.microsoft.com/office/powerpoint/2010/main" val="4087821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351088" y="260350"/>
            <a:ext cx="6870700" cy="915988"/>
          </a:xfrm>
        </p:spPr>
        <p:txBody>
          <a:bodyPr/>
          <a:lstStyle/>
          <a:p>
            <a:r>
              <a:rPr lang="en-US" altLang="zh-TW"/>
              <a:t>Operation of BJTs</a:t>
            </a:r>
            <a:endParaRPr lang="zh-TW" altLang="en-US"/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8214" y="1484313"/>
            <a:ext cx="7775575" cy="4032250"/>
          </a:xfrm>
        </p:spPr>
        <p:txBody>
          <a:bodyPr/>
          <a:lstStyle/>
          <a:p>
            <a:r>
              <a:rPr lang="en-US" altLang="zh-TW"/>
              <a:t>BJT will operates in one of following four region</a:t>
            </a:r>
          </a:p>
          <a:p>
            <a:pPr lvl="1"/>
            <a:r>
              <a:rPr lang="en-US" altLang="zh-TW"/>
              <a:t>Cutoff region (for digital circuit)</a:t>
            </a:r>
          </a:p>
          <a:p>
            <a:pPr lvl="1"/>
            <a:r>
              <a:rPr lang="en-US" altLang="zh-TW"/>
              <a:t>Saturation region (for digital circuit)</a:t>
            </a:r>
          </a:p>
          <a:p>
            <a:pPr lvl="1"/>
            <a:r>
              <a:rPr lang="en-US" altLang="zh-TW"/>
              <a:t>Linear (active) region (to be an amplifier)</a:t>
            </a:r>
          </a:p>
          <a:p>
            <a:pPr lvl="1"/>
            <a:r>
              <a:rPr lang="en-US" altLang="zh-TW"/>
              <a:t>Breakdown region (always be a disaster)</a:t>
            </a:r>
          </a:p>
          <a:p>
            <a:pPr lvl="1"/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4014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8213" y="260350"/>
            <a:ext cx="6870700" cy="808038"/>
          </a:xfrm>
        </p:spPr>
        <p:txBody>
          <a:bodyPr/>
          <a:lstStyle/>
          <a:p>
            <a:r>
              <a:rPr lang="en-US" altLang="zh-TW"/>
              <a:t>Operation of BJTs</a:t>
            </a:r>
            <a:endParaRPr lang="zh-TW" altLang="en-US"/>
          </a:p>
        </p:txBody>
      </p:sp>
      <p:pic>
        <p:nvPicPr>
          <p:cNvPr id="148488" name="Picture 8" descr="fg17_0080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914400"/>
            <a:ext cx="771525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0427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79650" y="0"/>
            <a:ext cx="6870700" cy="1060450"/>
          </a:xfrm>
        </p:spPr>
        <p:txBody>
          <a:bodyPr/>
          <a:lstStyle/>
          <a:p>
            <a:r>
              <a:rPr lang="en-US" altLang="zh-TW"/>
              <a:t>DC Analysis of BJTs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8213" y="1268413"/>
            <a:ext cx="7696200" cy="3657600"/>
          </a:xfrm>
        </p:spPr>
        <p:txBody>
          <a:bodyPr>
            <a:normAutofit/>
          </a:bodyPr>
          <a:lstStyle/>
          <a:p>
            <a:r>
              <a:rPr lang="en-US" altLang="zh-TW"/>
              <a:t>Transistor Currents:</a:t>
            </a:r>
          </a:p>
          <a:p>
            <a:pPr algn="ctr">
              <a:buFontTx/>
              <a:buNone/>
            </a:pPr>
            <a:r>
              <a:rPr lang="en-US" altLang="zh-TW"/>
              <a:t>I</a:t>
            </a:r>
            <a:r>
              <a:rPr lang="en-US" altLang="zh-TW" baseline="-25000"/>
              <a:t>E</a:t>
            </a:r>
            <a:r>
              <a:rPr lang="en-US" altLang="zh-TW"/>
              <a:t> = I</a:t>
            </a:r>
            <a:r>
              <a:rPr lang="en-US" altLang="zh-TW" baseline="-25000"/>
              <a:t>C</a:t>
            </a:r>
            <a:r>
              <a:rPr lang="en-US" altLang="zh-TW"/>
              <a:t> + I</a:t>
            </a:r>
            <a:r>
              <a:rPr lang="en-US" altLang="zh-TW" baseline="-25000"/>
              <a:t>B</a:t>
            </a:r>
            <a:endParaRPr lang="en-US" altLang="zh-TW"/>
          </a:p>
          <a:p>
            <a:r>
              <a:rPr lang="en-US" altLang="zh-TW" b="1"/>
              <a:t>alpha</a:t>
            </a:r>
            <a:r>
              <a:rPr lang="en-US" altLang="zh-TW"/>
              <a:t> (</a:t>
            </a:r>
            <a:r>
              <a:rPr lang="en-US" altLang="zh-TW">
                <a:sym typeface="Symbol" pitchFamily="18" charset="2"/>
              </a:rPr>
              <a:t></a:t>
            </a:r>
            <a:r>
              <a:rPr lang="en-US" altLang="zh-TW" baseline="-25000">
                <a:sym typeface="Symbol" pitchFamily="18" charset="2"/>
              </a:rPr>
              <a:t>DC</a:t>
            </a:r>
            <a:r>
              <a:rPr lang="en-US" altLang="zh-TW">
                <a:sym typeface="Symbol" pitchFamily="18" charset="2"/>
              </a:rPr>
              <a:t>)</a:t>
            </a:r>
          </a:p>
          <a:p>
            <a:pPr algn="ctr">
              <a:buFontTx/>
              <a:buNone/>
            </a:pPr>
            <a:r>
              <a:rPr lang="en-US" altLang="zh-TW"/>
              <a:t>I</a:t>
            </a:r>
            <a:r>
              <a:rPr lang="en-US" altLang="zh-TW" baseline="-25000"/>
              <a:t>C</a:t>
            </a:r>
            <a:r>
              <a:rPr lang="en-US" altLang="zh-TW"/>
              <a:t> = </a:t>
            </a:r>
            <a:r>
              <a:rPr lang="en-US" altLang="zh-TW">
                <a:sym typeface="Symbol" pitchFamily="18" charset="2"/>
              </a:rPr>
              <a:t></a:t>
            </a:r>
            <a:r>
              <a:rPr lang="en-US" altLang="zh-TW" baseline="-25000">
                <a:sym typeface="Symbol" pitchFamily="18" charset="2"/>
              </a:rPr>
              <a:t>DC</a:t>
            </a:r>
            <a:r>
              <a:rPr lang="en-US" altLang="zh-TW">
                <a:sym typeface="Symbol" pitchFamily="18" charset="2"/>
              </a:rPr>
              <a:t>I</a:t>
            </a:r>
            <a:r>
              <a:rPr lang="en-US" altLang="zh-TW" baseline="-25000">
                <a:sym typeface="Symbol" pitchFamily="18" charset="2"/>
              </a:rPr>
              <a:t>E</a:t>
            </a:r>
            <a:endParaRPr lang="en-US" altLang="zh-TW">
              <a:sym typeface="Symbol" pitchFamily="18" charset="2"/>
            </a:endParaRPr>
          </a:p>
          <a:p>
            <a:r>
              <a:rPr lang="en-US" altLang="zh-TW" b="1">
                <a:sym typeface="Symbol" pitchFamily="18" charset="2"/>
              </a:rPr>
              <a:t>beta</a:t>
            </a:r>
            <a:r>
              <a:rPr lang="en-US" altLang="zh-TW">
                <a:sym typeface="Symbol" pitchFamily="18" charset="2"/>
              </a:rPr>
              <a:t> (</a:t>
            </a:r>
            <a:r>
              <a:rPr lang="en-US" altLang="zh-TW" baseline="-25000">
                <a:sym typeface="Symbol" pitchFamily="18" charset="2"/>
              </a:rPr>
              <a:t>DC</a:t>
            </a:r>
            <a:r>
              <a:rPr lang="en-US" altLang="zh-TW">
                <a:sym typeface="Symbol" pitchFamily="18" charset="2"/>
              </a:rPr>
              <a:t>)</a:t>
            </a:r>
          </a:p>
          <a:p>
            <a:pPr algn="ctr">
              <a:buFontTx/>
              <a:buNone/>
            </a:pPr>
            <a:r>
              <a:rPr lang="en-US" altLang="zh-TW">
                <a:sym typeface="Symbol" pitchFamily="18" charset="2"/>
              </a:rPr>
              <a:t>I</a:t>
            </a:r>
            <a:r>
              <a:rPr lang="en-US" altLang="zh-TW" baseline="-25000">
                <a:sym typeface="Symbol" pitchFamily="18" charset="2"/>
              </a:rPr>
              <a:t>C</a:t>
            </a:r>
            <a:r>
              <a:rPr lang="en-US" altLang="zh-TW">
                <a:sym typeface="Symbol" pitchFamily="18" charset="2"/>
              </a:rPr>
              <a:t> = </a:t>
            </a:r>
            <a:r>
              <a:rPr lang="en-US" altLang="zh-TW" baseline="-25000">
                <a:sym typeface="Symbol" pitchFamily="18" charset="2"/>
              </a:rPr>
              <a:t>DC</a:t>
            </a:r>
            <a:r>
              <a:rPr lang="en-US" altLang="zh-TW">
                <a:sym typeface="Symbol" pitchFamily="18" charset="2"/>
              </a:rPr>
              <a:t>I</a:t>
            </a:r>
            <a:r>
              <a:rPr lang="en-US" altLang="zh-TW" baseline="-25000">
                <a:sym typeface="Symbol" pitchFamily="18" charset="2"/>
              </a:rPr>
              <a:t>B</a:t>
            </a:r>
            <a:endParaRPr lang="en-US" altLang="zh-TW">
              <a:sym typeface="Symbol" pitchFamily="18" charset="2"/>
            </a:endParaRPr>
          </a:p>
          <a:p>
            <a:pPr lvl="1"/>
            <a:r>
              <a:rPr lang="en-US" altLang="zh-TW">
                <a:sym typeface="Symbol" pitchFamily="18" charset="2"/>
              </a:rPr>
              <a:t></a:t>
            </a:r>
            <a:r>
              <a:rPr lang="en-US" altLang="zh-TW" baseline="-25000">
                <a:sym typeface="Symbol" pitchFamily="18" charset="2"/>
              </a:rPr>
              <a:t>DC</a:t>
            </a:r>
            <a:r>
              <a:rPr lang="en-US" altLang="zh-TW">
                <a:sym typeface="Symbol" pitchFamily="18" charset="2"/>
              </a:rPr>
              <a:t> typically has a value between 20 and 200</a:t>
            </a: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03469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8213" y="260350"/>
            <a:ext cx="6870700" cy="915988"/>
          </a:xfrm>
        </p:spPr>
        <p:txBody>
          <a:bodyPr/>
          <a:lstStyle/>
          <a:p>
            <a:r>
              <a:rPr lang="en-US" altLang="zh-TW"/>
              <a:t>DC Analysis of BJTs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71800" y="1557338"/>
            <a:ext cx="7696200" cy="3657600"/>
          </a:xfrm>
        </p:spPr>
        <p:txBody>
          <a:bodyPr>
            <a:normAutofit lnSpcReduction="10000"/>
          </a:bodyPr>
          <a:lstStyle/>
          <a:p>
            <a:r>
              <a:rPr lang="en-US" altLang="zh-TW" sz="3600"/>
              <a:t>DC voltages for the biased transistor:</a:t>
            </a:r>
            <a:endParaRPr lang="en-US" altLang="zh-TW"/>
          </a:p>
          <a:p>
            <a:r>
              <a:rPr lang="en-US" altLang="zh-TW"/>
              <a:t>Collector voltage</a:t>
            </a:r>
          </a:p>
          <a:p>
            <a:pPr algn="ctr">
              <a:buFontTx/>
              <a:buNone/>
            </a:pPr>
            <a:r>
              <a:rPr lang="en-US" altLang="zh-TW"/>
              <a:t>V</a:t>
            </a:r>
            <a:r>
              <a:rPr lang="en-US" altLang="zh-TW" baseline="-25000"/>
              <a:t>C</a:t>
            </a:r>
            <a:r>
              <a:rPr lang="en-US" altLang="zh-TW"/>
              <a:t> = V</a:t>
            </a:r>
            <a:r>
              <a:rPr lang="en-US" altLang="zh-TW" baseline="-25000"/>
              <a:t>CC</a:t>
            </a:r>
            <a:r>
              <a:rPr lang="en-US" altLang="zh-TW"/>
              <a:t> - I</a:t>
            </a:r>
            <a:r>
              <a:rPr lang="en-US" altLang="zh-TW" baseline="-25000"/>
              <a:t>C</a:t>
            </a:r>
            <a:r>
              <a:rPr lang="en-US" altLang="zh-TW"/>
              <a:t>R</a:t>
            </a:r>
            <a:r>
              <a:rPr lang="en-US" altLang="zh-TW" baseline="-25000"/>
              <a:t>C</a:t>
            </a:r>
            <a:endParaRPr lang="en-US" altLang="zh-TW"/>
          </a:p>
          <a:p>
            <a:r>
              <a:rPr lang="en-US" altLang="zh-TW"/>
              <a:t>Base voltage</a:t>
            </a:r>
          </a:p>
          <a:p>
            <a:pPr algn="ctr">
              <a:buFontTx/>
              <a:buNone/>
            </a:pPr>
            <a:r>
              <a:rPr lang="en-US" altLang="zh-TW"/>
              <a:t>V</a:t>
            </a:r>
            <a:r>
              <a:rPr lang="en-US" altLang="zh-TW" baseline="-25000"/>
              <a:t>B</a:t>
            </a:r>
            <a:r>
              <a:rPr lang="en-US" altLang="zh-TW"/>
              <a:t> = V</a:t>
            </a:r>
            <a:r>
              <a:rPr lang="en-US" altLang="zh-TW" baseline="-25000"/>
              <a:t>E</a:t>
            </a:r>
            <a:r>
              <a:rPr lang="en-US" altLang="zh-TW"/>
              <a:t> + V</a:t>
            </a:r>
            <a:r>
              <a:rPr lang="en-US" altLang="zh-TW" baseline="-25000"/>
              <a:t>BE</a:t>
            </a:r>
            <a:endParaRPr lang="en-US" altLang="zh-TW"/>
          </a:p>
          <a:p>
            <a:pPr lvl="1"/>
            <a:endParaRPr lang="en-US" altLang="zh-TW"/>
          </a:p>
          <a:p>
            <a:pPr lvl="1"/>
            <a:r>
              <a:rPr lang="en-US" altLang="zh-TW"/>
              <a:t>for silicon transistors, V</a:t>
            </a:r>
            <a:r>
              <a:rPr lang="en-US" altLang="zh-TW" baseline="-25000"/>
              <a:t>BE</a:t>
            </a:r>
            <a:r>
              <a:rPr lang="en-US" altLang="zh-TW"/>
              <a:t> = 0.7 V</a:t>
            </a:r>
          </a:p>
          <a:p>
            <a:pPr lvl="1"/>
            <a:r>
              <a:rPr lang="en-US" altLang="zh-TW"/>
              <a:t>for germanium transistors, V</a:t>
            </a:r>
            <a:r>
              <a:rPr lang="en-US" altLang="zh-TW" baseline="-25000"/>
              <a:t>BE</a:t>
            </a:r>
            <a:r>
              <a:rPr lang="en-US" altLang="zh-TW"/>
              <a:t> = 0.3 V</a:t>
            </a:r>
          </a:p>
        </p:txBody>
      </p:sp>
    </p:spTree>
    <p:extLst>
      <p:ext uri="{BB962C8B-B14F-4D97-AF65-F5344CB8AC3E}">
        <p14:creationId xmlns:p14="http://schemas.microsoft.com/office/powerpoint/2010/main" val="2358111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-242888"/>
            <a:ext cx="6870700" cy="1600201"/>
          </a:xfrm>
        </p:spPr>
        <p:txBody>
          <a:bodyPr/>
          <a:lstStyle/>
          <a:p>
            <a:r>
              <a:rPr lang="en-US" altLang="zh-TW"/>
              <a:t>Q-point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19288" y="1773238"/>
            <a:ext cx="4464050" cy="3657600"/>
          </a:xfrm>
        </p:spPr>
        <p:txBody>
          <a:bodyPr/>
          <a:lstStyle/>
          <a:p>
            <a:r>
              <a:rPr lang="en-US" altLang="zh-TW" dirty="0"/>
              <a:t>The base current, I</a:t>
            </a:r>
            <a:r>
              <a:rPr lang="en-US" altLang="zh-TW" baseline="-25000" dirty="0"/>
              <a:t>B</a:t>
            </a:r>
            <a:r>
              <a:rPr lang="en-US" altLang="zh-TW" dirty="0"/>
              <a:t>, is established by the base bias</a:t>
            </a:r>
          </a:p>
          <a:p>
            <a:r>
              <a:rPr lang="en-US" altLang="zh-TW" dirty="0"/>
              <a:t>The point at which the base current curve intersects the dc load line is the quiescent or Q-point for the circuit</a:t>
            </a:r>
          </a:p>
          <a:p>
            <a:pPr>
              <a:buFontTx/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03354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8213" y="260350"/>
            <a:ext cx="6870700" cy="1060450"/>
          </a:xfrm>
        </p:spPr>
        <p:txBody>
          <a:bodyPr/>
          <a:lstStyle/>
          <a:p>
            <a:r>
              <a:rPr lang="en-US" altLang="zh-TW"/>
              <a:t>Q-point</a:t>
            </a:r>
          </a:p>
        </p:txBody>
      </p:sp>
      <p:pic>
        <p:nvPicPr>
          <p:cNvPr id="194564" name="Picture 4" descr="fg17_01200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62263" y="1738314"/>
            <a:ext cx="6546850" cy="3748087"/>
          </a:xfrm>
        </p:spPr>
      </p:pic>
    </p:spTree>
    <p:extLst>
      <p:ext uri="{BB962C8B-B14F-4D97-AF65-F5344CB8AC3E}">
        <p14:creationId xmlns:p14="http://schemas.microsoft.com/office/powerpoint/2010/main" val="248406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79650" y="260350"/>
            <a:ext cx="6870700" cy="915988"/>
          </a:xfrm>
        </p:spPr>
        <p:txBody>
          <a:bodyPr/>
          <a:lstStyle/>
          <a:p>
            <a:r>
              <a:rPr lang="en-US" altLang="zh-TW"/>
              <a:t>DC Analysis of BJTs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79650" y="1557338"/>
            <a:ext cx="3771900" cy="3657600"/>
          </a:xfrm>
        </p:spPr>
        <p:txBody>
          <a:bodyPr/>
          <a:lstStyle/>
          <a:p>
            <a:r>
              <a:rPr lang="en-US" altLang="zh-TW"/>
              <a:t>The voltage divider biasing is widely used</a:t>
            </a:r>
          </a:p>
          <a:p>
            <a:r>
              <a:rPr lang="en-US" altLang="zh-TW"/>
              <a:t>Input resistance is:</a:t>
            </a:r>
          </a:p>
          <a:p>
            <a:pPr algn="ctr">
              <a:buFontTx/>
              <a:buNone/>
            </a:pPr>
            <a:r>
              <a:rPr lang="en-US" altLang="zh-TW"/>
              <a:t>R</a:t>
            </a:r>
            <a:r>
              <a:rPr lang="en-US" altLang="zh-TW" baseline="-25000"/>
              <a:t>IN</a:t>
            </a:r>
            <a:r>
              <a:rPr lang="en-US" altLang="zh-TW"/>
              <a:t> </a:t>
            </a:r>
            <a:r>
              <a:rPr lang="en-US" altLang="zh-TW">
                <a:sym typeface="Symbol" pitchFamily="18" charset="2"/>
              </a:rPr>
              <a:t> </a:t>
            </a:r>
            <a:r>
              <a:rPr lang="en-US" altLang="zh-TW" baseline="-25000">
                <a:sym typeface="Symbol" pitchFamily="18" charset="2"/>
              </a:rPr>
              <a:t>DC</a:t>
            </a:r>
            <a:r>
              <a:rPr lang="en-US" altLang="zh-TW">
                <a:sym typeface="Symbol" pitchFamily="18" charset="2"/>
              </a:rPr>
              <a:t>R</a:t>
            </a:r>
            <a:r>
              <a:rPr lang="en-US" altLang="zh-TW" baseline="-25000">
                <a:sym typeface="Symbol" pitchFamily="18" charset="2"/>
              </a:rPr>
              <a:t>E</a:t>
            </a:r>
            <a:endParaRPr lang="en-US" altLang="zh-TW">
              <a:sym typeface="Symbol" pitchFamily="18" charset="2"/>
            </a:endParaRPr>
          </a:p>
          <a:p>
            <a:r>
              <a:rPr lang="en-US" altLang="zh-TW">
                <a:sym typeface="Symbol" pitchFamily="18" charset="2"/>
              </a:rPr>
              <a:t>The base voltage is approximately:</a:t>
            </a:r>
          </a:p>
          <a:p>
            <a:pPr algn="ctr">
              <a:buFontTx/>
              <a:buNone/>
            </a:pPr>
            <a:r>
              <a:rPr lang="en-US" altLang="zh-TW">
                <a:sym typeface="Symbol" pitchFamily="18" charset="2"/>
              </a:rPr>
              <a:t>V</a:t>
            </a:r>
            <a:r>
              <a:rPr lang="en-US" altLang="zh-TW" baseline="-25000">
                <a:sym typeface="Symbol" pitchFamily="18" charset="2"/>
              </a:rPr>
              <a:t>B</a:t>
            </a:r>
            <a:r>
              <a:rPr lang="en-US" altLang="zh-TW">
                <a:sym typeface="Symbol" pitchFamily="18" charset="2"/>
              </a:rPr>
              <a:t>  V</a:t>
            </a:r>
            <a:r>
              <a:rPr lang="en-US" altLang="zh-TW" baseline="-25000">
                <a:sym typeface="Symbol" pitchFamily="18" charset="2"/>
              </a:rPr>
              <a:t>CC</a:t>
            </a:r>
            <a:r>
              <a:rPr lang="en-US" altLang="zh-TW">
                <a:sym typeface="Symbol" pitchFamily="18" charset="2"/>
              </a:rPr>
              <a:t>R</a:t>
            </a:r>
            <a:r>
              <a:rPr lang="en-US" altLang="zh-TW" baseline="-25000">
                <a:sym typeface="Symbol" pitchFamily="18" charset="2"/>
              </a:rPr>
              <a:t>2</a:t>
            </a:r>
            <a:r>
              <a:rPr lang="en-US" altLang="zh-TW">
                <a:sym typeface="Symbol" pitchFamily="18" charset="2"/>
              </a:rPr>
              <a:t>/(R</a:t>
            </a:r>
            <a:r>
              <a:rPr lang="en-US" altLang="zh-TW" baseline="-25000">
                <a:sym typeface="Symbol" pitchFamily="18" charset="2"/>
              </a:rPr>
              <a:t>1</a:t>
            </a:r>
            <a:r>
              <a:rPr lang="en-US" altLang="zh-TW">
                <a:sym typeface="Symbol" pitchFamily="18" charset="2"/>
              </a:rPr>
              <a:t>+R</a:t>
            </a:r>
            <a:r>
              <a:rPr lang="en-US" altLang="zh-TW" baseline="-25000">
                <a:sym typeface="Symbol" pitchFamily="18" charset="2"/>
              </a:rPr>
              <a:t>2</a:t>
            </a:r>
            <a:r>
              <a:rPr lang="en-US" altLang="zh-TW">
                <a:sym typeface="Symbol" pitchFamily="18" charset="2"/>
              </a:rPr>
              <a:t>)</a:t>
            </a:r>
          </a:p>
          <a:p>
            <a:pPr>
              <a:buFontTx/>
              <a:buNone/>
            </a:pPr>
            <a:endParaRPr lang="zh-TW" altLang="en-US">
              <a:sym typeface="Symbol" pitchFamily="18" charset="2"/>
            </a:endParaRPr>
          </a:p>
        </p:txBody>
      </p:sp>
      <p:pic>
        <p:nvPicPr>
          <p:cNvPr id="56326" name="Picture 6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43700" y="1557338"/>
            <a:ext cx="2952750" cy="3657600"/>
          </a:xfrm>
        </p:spPr>
      </p:pic>
    </p:spTree>
    <p:extLst>
      <p:ext uri="{BB962C8B-B14F-4D97-AF65-F5344CB8AC3E}">
        <p14:creationId xmlns:p14="http://schemas.microsoft.com/office/powerpoint/2010/main" val="2962813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ubtitle 2"/>
          <p:cNvSpPr txBox="1">
            <a:spLocks/>
          </p:cNvSpPr>
          <p:nvPr/>
        </p:nvSpPr>
        <p:spPr>
          <a:xfrm>
            <a:off x="1104646" y="3817180"/>
            <a:ext cx="5178582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Tx/>
              <a:buChar char="-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92048" y="4424926"/>
            <a:ext cx="437617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Edwardian Script ITC" panose="030303020407070D0804" pitchFamily="66" charset="0"/>
              </a:rPr>
              <a:t>Thank You !!</a:t>
            </a:r>
          </a:p>
          <a:p>
            <a:pPr algn="ctr"/>
            <a:r>
              <a:rPr lang="en-US" sz="4000" dirty="0">
                <a:latin typeface="Edwardian Script ITC" panose="030303020407070D0804" pitchFamily="66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54496" y="359621"/>
            <a:ext cx="4804363" cy="2463094"/>
            <a:chOff x="54496" y="359621"/>
            <a:chExt cx="4804363" cy="2463094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23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24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20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2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22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013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23674</TotalTime>
  <Words>490</Words>
  <Application>Microsoft Office PowerPoint</Application>
  <PresentationFormat>Widescreen</PresentationFormat>
  <Paragraphs>98</Paragraphs>
  <Slides>19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맑은 고딕</vt:lpstr>
      <vt:lpstr>Arial</vt:lpstr>
      <vt:lpstr>Calibri</vt:lpstr>
      <vt:lpstr>Calibri Light</vt:lpstr>
      <vt:lpstr>Cambria Math</vt:lpstr>
      <vt:lpstr>Edwardian Script ITC</vt:lpstr>
      <vt:lpstr>新細明體</vt:lpstr>
      <vt:lpstr>Symbol</vt:lpstr>
      <vt:lpstr>Times New Roman</vt:lpstr>
      <vt:lpstr>Office Theme</vt:lpstr>
      <vt:lpstr>9.2_Transistors </vt:lpstr>
      <vt:lpstr>What is a transistor?</vt:lpstr>
      <vt:lpstr>What is a transistor?</vt:lpstr>
      <vt:lpstr>Bipolar Transistor</vt:lpstr>
      <vt:lpstr>Architecture of BJTs</vt:lpstr>
      <vt:lpstr>Bipolar Transistor</vt:lpstr>
      <vt:lpstr>Biasing</vt:lpstr>
      <vt:lpstr>Biasing</vt:lpstr>
      <vt:lpstr>Transistor Current</vt:lpstr>
      <vt:lpstr>Transistor Applications</vt:lpstr>
      <vt:lpstr>Basic circuits of BJT</vt:lpstr>
      <vt:lpstr>Operation of BJTs</vt:lpstr>
      <vt:lpstr>Operation of BJTs</vt:lpstr>
      <vt:lpstr>DC Analysis of BJTs</vt:lpstr>
      <vt:lpstr>DC Analysis of BJTs</vt:lpstr>
      <vt:lpstr>Q-point</vt:lpstr>
      <vt:lpstr>Q-point</vt:lpstr>
      <vt:lpstr>DC Analysis of BJTs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 Tracking, Counting, and Behaviour Analysis in Digital Aquaculture</dc:title>
  <dc:creator>pds</dc:creator>
  <cp:lastModifiedBy>Gde</cp:lastModifiedBy>
  <cp:revision>81</cp:revision>
  <dcterms:created xsi:type="dcterms:W3CDTF">2024-10-22T07:52:57Z</dcterms:created>
  <dcterms:modified xsi:type="dcterms:W3CDTF">2026-03-17T07:58:28Z</dcterms:modified>
</cp:coreProperties>
</file>