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64" r:id="rId2"/>
    <p:sldId id="279" r:id="rId3"/>
    <p:sldId id="280" r:id="rId4"/>
    <p:sldId id="281" r:id="rId5"/>
    <p:sldId id="282" r:id="rId6"/>
    <p:sldId id="283" r:id="rId7"/>
    <p:sldId id="284" r:id="rId8"/>
    <p:sldId id="278"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159" autoAdjust="0"/>
    <p:restoredTop sz="72042" autoAdjust="0"/>
  </p:normalViewPr>
  <p:slideViewPr>
    <p:cSldViewPr snapToGrid="0">
      <p:cViewPr varScale="1">
        <p:scale>
          <a:sx n="83" d="100"/>
          <a:sy n="83" d="100"/>
        </p:scale>
        <p:origin x="1722"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15D0C7D-798A-44DC-AC41-FEC01C38F0EB}" type="datetimeFigureOut">
              <a:rPr lang="en-US" smtClean="0"/>
              <a:t>3/25/2026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1A1DE6-A801-4746-9FC0-8352D20A3103}" type="slidenum">
              <a:rPr lang="en-US" smtClean="0"/>
              <a:t>‹#›</a:t>
            </a:fld>
            <a:endParaRPr lang="en-US"/>
          </a:p>
        </p:txBody>
      </p:sp>
    </p:spTree>
    <p:extLst>
      <p:ext uri="{BB962C8B-B14F-4D97-AF65-F5344CB8AC3E}">
        <p14:creationId xmlns:p14="http://schemas.microsoft.com/office/powerpoint/2010/main" val="28595932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DC773BF-E5C9-44BF-B19B-39EF1F90376E}" type="slidenum">
              <a:rPr lang="en-US" smtClean="0"/>
              <a:t>1</a:t>
            </a:fld>
            <a:endParaRPr lang="en-US"/>
          </a:p>
        </p:txBody>
      </p:sp>
    </p:spTree>
    <p:extLst>
      <p:ext uri="{BB962C8B-B14F-4D97-AF65-F5344CB8AC3E}">
        <p14:creationId xmlns:p14="http://schemas.microsoft.com/office/powerpoint/2010/main" val="884784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C77EA2CC-FABD-466D-82E8-AC953C7EC0CC}" type="slidenum">
              <a:rPr lang="en-US" smtClean="0"/>
              <a:t>8</a:t>
            </a:fld>
            <a:endParaRPr lang="en-US"/>
          </a:p>
        </p:txBody>
      </p:sp>
    </p:spTree>
    <p:extLst>
      <p:ext uri="{BB962C8B-B14F-4D97-AF65-F5344CB8AC3E}">
        <p14:creationId xmlns:p14="http://schemas.microsoft.com/office/powerpoint/2010/main" val="40873288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7BBB5D1-B60B-4B38-B17E-7765EA145201}" type="datetimeFigureOut">
              <a:rPr lang="en-US" smtClean="0"/>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F42857-403A-4A86-BF79-9A4C4603A143}" type="slidenum">
              <a:rPr lang="en-US" smtClean="0"/>
              <a:t>‹#›</a:t>
            </a:fld>
            <a:endParaRPr lang="en-US"/>
          </a:p>
        </p:txBody>
      </p:sp>
    </p:spTree>
    <p:extLst>
      <p:ext uri="{BB962C8B-B14F-4D97-AF65-F5344CB8AC3E}">
        <p14:creationId xmlns:p14="http://schemas.microsoft.com/office/powerpoint/2010/main" val="884090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7BBB5D1-B60B-4B38-B17E-7765EA145201}" type="datetimeFigureOut">
              <a:rPr lang="en-US" smtClean="0"/>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F42857-403A-4A86-BF79-9A4C4603A143}" type="slidenum">
              <a:rPr lang="en-US" smtClean="0"/>
              <a:t>‹#›</a:t>
            </a:fld>
            <a:endParaRPr lang="en-US"/>
          </a:p>
        </p:txBody>
      </p:sp>
    </p:spTree>
    <p:extLst>
      <p:ext uri="{BB962C8B-B14F-4D97-AF65-F5344CB8AC3E}">
        <p14:creationId xmlns:p14="http://schemas.microsoft.com/office/powerpoint/2010/main" val="16220346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7BBB5D1-B60B-4B38-B17E-7765EA145201}" type="datetimeFigureOut">
              <a:rPr lang="en-US" smtClean="0"/>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F42857-403A-4A86-BF79-9A4C4603A143}" type="slidenum">
              <a:rPr lang="en-US" smtClean="0"/>
              <a:t>‹#›</a:t>
            </a:fld>
            <a:endParaRPr lang="en-US"/>
          </a:p>
        </p:txBody>
      </p:sp>
    </p:spTree>
    <p:extLst>
      <p:ext uri="{BB962C8B-B14F-4D97-AF65-F5344CB8AC3E}">
        <p14:creationId xmlns:p14="http://schemas.microsoft.com/office/powerpoint/2010/main" val="3468882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7BBB5D1-B60B-4B38-B17E-7765EA145201}" type="datetimeFigureOut">
              <a:rPr lang="en-US" smtClean="0"/>
              <a:t>3/25/2026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F42857-403A-4A86-BF79-9A4C4603A143}" type="slidenum">
              <a:rPr lang="en-US" smtClean="0"/>
              <a:t>‹#›</a:t>
            </a:fld>
            <a:endParaRPr lang="en-US"/>
          </a:p>
        </p:txBody>
      </p:sp>
    </p:spTree>
    <p:extLst>
      <p:ext uri="{BB962C8B-B14F-4D97-AF65-F5344CB8AC3E}">
        <p14:creationId xmlns:p14="http://schemas.microsoft.com/office/powerpoint/2010/main" val="39443962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7BBB5D1-B60B-4B38-B17E-7765EA145201}" type="datetimeFigureOut">
              <a:rPr lang="en-US" smtClean="0"/>
              <a:t>3/25/2026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EF42857-403A-4A86-BF79-9A4C4603A143}" type="slidenum">
              <a:rPr lang="en-US" smtClean="0"/>
              <a:t>‹#›</a:t>
            </a:fld>
            <a:endParaRPr lang="en-US"/>
          </a:p>
        </p:txBody>
      </p:sp>
    </p:spTree>
    <p:extLst>
      <p:ext uri="{BB962C8B-B14F-4D97-AF65-F5344CB8AC3E}">
        <p14:creationId xmlns:p14="http://schemas.microsoft.com/office/powerpoint/2010/main" val="20223424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7BBB5D1-B60B-4B38-B17E-7765EA145201}" type="datetimeFigureOut">
              <a:rPr lang="en-US" smtClean="0"/>
              <a:t>3/25/2026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EF42857-403A-4A86-BF79-9A4C4603A143}" type="slidenum">
              <a:rPr lang="en-US" smtClean="0"/>
              <a:t>‹#›</a:t>
            </a:fld>
            <a:endParaRPr lang="en-US"/>
          </a:p>
        </p:txBody>
      </p:sp>
    </p:spTree>
    <p:extLst>
      <p:ext uri="{BB962C8B-B14F-4D97-AF65-F5344CB8AC3E}">
        <p14:creationId xmlns:p14="http://schemas.microsoft.com/office/powerpoint/2010/main" val="33620848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7BBB5D1-B60B-4B38-B17E-7765EA145201}" type="datetimeFigureOut">
              <a:rPr lang="en-US" smtClean="0"/>
              <a:t>3/25/2026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EF42857-403A-4A86-BF79-9A4C4603A143}" type="slidenum">
              <a:rPr lang="en-US" smtClean="0"/>
              <a:t>‹#›</a:t>
            </a:fld>
            <a:endParaRPr lang="en-US"/>
          </a:p>
        </p:txBody>
      </p:sp>
    </p:spTree>
    <p:extLst>
      <p:ext uri="{BB962C8B-B14F-4D97-AF65-F5344CB8AC3E}">
        <p14:creationId xmlns:p14="http://schemas.microsoft.com/office/powerpoint/2010/main" val="5629242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57BBB5D1-B60B-4B38-B17E-7765EA145201}" type="datetimeFigureOut">
              <a:rPr lang="en-US" smtClean="0"/>
              <a:t>3/25/2026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F42857-403A-4A86-BF79-9A4C4603A143}" type="slidenum">
              <a:rPr lang="en-US" smtClean="0"/>
              <a:t>‹#›</a:t>
            </a:fld>
            <a:endParaRPr lang="en-US"/>
          </a:p>
        </p:txBody>
      </p:sp>
    </p:spTree>
    <p:extLst>
      <p:ext uri="{BB962C8B-B14F-4D97-AF65-F5344CB8AC3E}">
        <p14:creationId xmlns:p14="http://schemas.microsoft.com/office/powerpoint/2010/main" val="27758417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57BBB5D1-B60B-4B38-B17E-7765EA145201}" type="datetimeFigureOut">
              <a:rPr lang="en-US" smtClean="0"/>
              <a:t>3/25/2026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F42857-403A-4A86-BF79-9A4C4603A143}" type="slidenum">
              <a:rPr lang="en-US" smtClean="0"/>
              <a:t>‹#›</a:t>
            </a:fld>
            <a:endParaRPr lang="en-US"/>
          </a:p>
        </p:txBody>
      </p:sp>
    </p:spTree>
    <p:extLst>
      <p:ext uri="{BB962C8B-B14F-4D97-AF65-F5344CB8AC3E}">
        <p14:creationId xmlns:p14="http://schemas.microsoft.com/office/powerpoint/2010/main" val="22011925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7BBB5D1-B60B-4B38-B17E-7765EA145201}" type="datetimeFigureOut">
              <a:rPr lang="en-US" smtClean="0"/>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F42857-403A-4A86-BF79-9A4C4603A143}" type="slidenum">
              <a:rPr lang="en-US" smtClean="0"/>
              <a:t>‹#›</a:t>
            </a:fld>
            <a:endParaRPr lang="en-US"/>
          </a:p>
        </p:txBody>
      </p:sp>
    </p:spTree>
    <p:extLst>
      <p:ext uri="{BB962C8B-B14F-4D97-AF65-F5344CB8AC3E}">
        <p14:creationId xmlns:p14="http://schemas.microsoft.com/office/powerpoint/2010/main" val="10736697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7BBB5D1-B60B-4B38-B17E-7765EA145201}" type="datetimeFigureOut">
              <a:rPr lang="en-US" smtClean="0"/>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F42857-403A-4A86-BF79-9A4C4603A143}" type="slidenum">
              <a:rPr lang="en-US" smtClean="0"/>
              <a:t>‹#›</a:t>
            </a:fld>
            <a:endParaRPr lang="en-US"/>
          </a:p>
        </p:txBody>
      </p:sp>
    </p:spTree>
    <p:extLst>
      <p:ext uri="{BB962C8B-B14F-4D97-AF65-F5344CB8AC3E}">
        <p14:creationId xmlns:p14="http://schemas.microsoft.com/office/powerpoint/2010/main" val="29795665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7BBB5D1-B60B-4B38-B17E-7765EA145201}" type="datetimeFigureOut">
              <a:rPr lang="en-US" smtClean="0"/>
              <a:t>3/25/2026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EF42857-403A-4A86-BF79-9A4C4603A143}" type="slidenum">
              <a:rPr lang="en-US" smtClean="0"/>
              <a:t>‹#›</a:t>
            </a:fld>
            <a:endParaRPr lang="en-US"/>
          </a:p>
        </p:txBody>
      </p:sp>
    </p:spTree>
    <p:extLst>
      <p:ext uri="{BB962C8B-B14F-4D97-AF65-F5344CB8AC3E}">
        <p14:creationId xmlns:p14="http://schemas.microsoft.com/office/powerpoint/2010/main" val="26558989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56677" y="2721459"/>
            <a:ext cx="9144000" cy="1510320"/>
          </a:xfrm>
        </p:spPr>
        <p:txBody>
          <a:bodyPr>
            <a:normAutofit fontScale="90000"/>
          </a:bodyPr>
          <a:lstStyle/>
          <a:p>
            <a:pPr algn="l"/>
            <a:r>
              <a:rPr lang="en-US" b="1" dirty="0" smtClean="0">
                <a:solidFill>
                  <a:schemeClr val="bg1">
                    <a:lumMod val="85000"/>
                  </a:schemeClr>
                </a:solidFill>
              </a:rPr>
              <a:t>9.3_The BJT</a:t>
            </a:r>
            <a:r>
              <a:rPr lang="en-US" b="1" dirty="0" smtClean="0">
                <a:solidFill>
                  <a:srgbClr val="002060"/>
                </a:solidFill>
              </a:rPr>
              <a:t/>
            </a:r>
            <a:br>
              <a:rPr lang="en-US" b="1" dirty="0" smtClean="0">
                <a:solidFill>
                  <a:srgbClr val="002060"/>
                </a:solidFill>
              </a:rPr>
            </a:br>
            <a:endParaRPr lang="en-US" dirty="0"/>
          </a:p>
        </p:txBody>
      </p:sp>
      <p:sp>
        <p:nvSpPr>
          <p:cNvPr id="13" name="Subtitle 2"/>
          <p:cNvSpPr txBox="1">
            <a:spLocks/>
          </p:cNvSpPr>
          <p:nvPr/>
        </p:nvSpPr>
        <p:spPr>
          <a:xfrm>
            <a:off x="2893786" y="3309896"/>
            <a:ext cx="5287688" cy="521075"/>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US" dirty="0">
              <a:solidFill>
                <a:srgbClr val="00B0F0"/>
              </a:solidFill>
            </a:endParaRPr>
          </a:p>
        </p:txBody>
      </p:sp>
      <p:grpSp>
        <p:nvGrpSpPr>
          <p:cNvPr id="20" name="Group 19"/>
          <p:cNvGrpSpPr/>
          <p:nvPr/>
        </p:nvGrpSpPr>
        <p:grpSpPr>
          <a:xfrm>
            <a:off x="54496" y="359621"/>
            <a:ext cx="4804363" cy="2463094"/>
            <a:chOff x="54496" y="359621"/>
            <a:chExt cx="4804363" cy="2463094"/>
          </a:xfrm>
        </p:grpSpPr>
        <p:pic>
          <p:nvPicPr>
            <p:cNvPr id="19" name="Picture 18"/>
            <p:cNvPicPr>
              <a:picLocks noChangeAspect="1"/>
            </p:cNvPicPr>
            <p:nvPr/>
          </p:nvPicPr>
          <p:blipFill>
            <a:blip r:embed="rId3"/>
            <a:stretch>
              <a:fillRect/>
            </a:stretch>
          </p:blipFill>
          <p:spPr>
            <a:xfrm>
              <a:off x="235105" y="1901987"/>
              <a:ext cx="3104181" cy="263526"/>
            </a:xfrm>
            <a:prstGeom prst="rect">
              <a:avLst/>
            </a:prstGeom>
          </p:spPr>
        </p:pic>
        <p:sp>
          <p:nvSpPr>
            <p:cNvPr id="6" name="Title 4">
              <a:extLst>
                <a:ext uri="{FF2B5EF4-FFF2-40B4-BE49-F238E27FC236}">
                  <a16:creationId xmlns:a16="http://schemas.microsoft.com/office/drawing/2014/main" id="{27228BAE-048B-681E-DD8D-BD96B22560E0}"/>
                </a:ext>
              </a:extLst>
            </p:cNvPr>
            <p:cNvSpPr txBox="1">
              <a:spLocks/>
            </p:cNvSpPr>
            <p:nvPr/>
          </p:nvSpPr>
          <p:spPr>
            <a:xfrm>
              <a:off x="54496" y="1922610"/>
              <a:ext cx="4804363" cy="900105"/>
            </a:xfrm>
            <a:prstGeom prst="rect">
              <a:avLst/>
            </a:prstGeom>
          </p:spPr>
          <p:txBody>
            <a:bodyPr vert="horz" lIns="91440" tIns="45720" rIns="91440" bIns="45720" rtlCol="0" anchor="b">
              <a:normAutofit fontScale="9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dirty="0" smtClean="0">
                  <a:solidFill>
                    <a:schemeClr val="accent1">
                      <a:lumMod val="75000"/>
                    </a:schemeClr>
                  </a:solidFill>
                </a:rPr>
                <a:t>Computer </a:t>
              </a:r>
              <a:r>
                <a:rPr lang="en-US" dirty="0" smtClean="0">
                  <a:solidFill>
                    <a:srgbClr val="00B0F0"/>
                  </a:solidFill>
                </a:rPr>
                <a:t>Vision</a:t>
              </a:r>
              <a:endParaRPr lang="en-US" dirty="0">
                <a:solidFill>
                  <a:srgbClr val="00B0F0"/>
                </a:solidFill>
              </a:endParaRPr>
            </a:p>
          </p:txBody>
        </p:sp>
        <p:grpSp>
          <p:nvGrpSpPr>
            <p:cNvPr id="7" name="Group 6">
              <a:extLst>
                <a:ext uri="{FF2B5EF4-FFF2-40B4-BE49-F238E27FC236}">
                  <a16:creationId xmlns:a16="http://schemas.microsoft.com/office/drawing/2014/main" id="{2AABCB87-2ECC-4C03-B5BB-6EE11C8A4485}"/>
                </a:ext>
              </a:extLst>
            </p:cNvPr>
            <p:cNvGrpSpPr/>
            <p:nvPr/>
          </p:nvGrpSpPr>
          <p:grpSpPr>
            <a:xfrm>
              <a:off x="89638" y="359621"/>
              <a:ext cx="3064025" cy="1516520"/>
              <a:chOff x="4853562" y="1589418"/>
              <a:chExt cx="2609520" cy="1291565"/>
            </a:xfrm>
          </p:grpSpPr>
          <p:sp>
            <p:nvSpPr>
              <p:cNvPr id="8" name="Freeform 7">
                <a:extLst>
                  <a:ext uri="{FF2B5EF4-FFF2-40B4-BE49-F238E27FC236}">
                    <a16:creationId xmlns:a16="http://schemas.microsoft.com/office/drawing/2014/main" id="{03546B24-FABC-4B2A-A80F-B03654D56A7D}"/>
                  </a:ext>
                </a:extLst>
              </p:cNvPr>
              <p:cNvSpPr>
                <a:spLocks noChangeAspect="1"/>
              </p:cNvSpPr>
              <p:nvPr/>
            </p:nvSpPr>
            <p:spPr>
              <a:xfrm flipH="1">
                <a:off x="4853562" y="1589418"/>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ko-KR" altLang="en-US" sz="3601">
                  <a:solidFill>
                    <a:schemeClr val="tx1"/>
                  </a:solidFill>
                </a:endParaRPr>
              </a:p>
            </p:txBody>
          </p:sp>
          <p:sp>
            <p:nvSpPr>
              <p:cNvPr id="9" name="Freeform 8">
                <a:extLst>
                  <a:ext uri="{FF2B5EF4-FFF2-40B4-BE49-F238E27FC236}">
                    <a16:creationId xmlns:a16="http://schemas.microsoft.com/office/drawing/2014/main" id="{02E1A011-CDEA-4BBC-B725-C88AF5464891}"/>
                  </a:ext>
                </a:extLst>
              </p:cNvPr>
              <p:cNvSpPr>
                <a:spLocks noChangeAspect="1"/>
              </p:cNvSpPr>
              <p:nvPr/>
            </p:nvSpPr>
            <p:spPr>
              <a:xfrm flipH="1">
                <a:off x="5230834" y="1678285"/>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ko-KR" altLang="en-US" sz="3601" dirty="0">
                  <a:solidFill>
                    <a:schemeClr val="tx1"/>
                  </a:solidFill>
                </a:endParaRPr>
              </a:p>
            </p:txBody>
          </p:sp>
        </p:grpSp>
        <p:grpSp>
          <p:nvGrpSpPr>
            <p:cNvPr id="10" name="Group 9">
              <a:extLst>
                <a:ext uri="{FF2B5EF4-FFF2-40B4-BE49-F238E27FC236}">
                  <a16:creationId xmlns:a16="http://schemas.microsoft.com/office/drawing/2014/main" id="{AB8BC7BC-BF58-402E-9A69-AA9226DE7CAA}"/>
                </a:ext>
              </a:extLst>
            </p:cNvPr>
            <p:cNvGrpSpPr/>
            <p:nvPr/>
          </p:nvGrpSpPr>
          <p:grpSpPr>
            <a:xfrm>
              <a:off x="1356703" y="883096"/>
              <a:ext cx="1334145" cy="620384"/>
              <a:chOff x="7729280" y="2195997"/>
              <a:chExt cx="2143740" cy="996849"/>
            </a:xfrm>
            <a:solidFill>
              <a:schemeClr val="accent6"/>
            </a:solidFill>
          </p:grpSpPr>
          <p:sp>
            <p:nvSpPr>
              <p:cNvPr id="11" name="Freeform: Shape 66">
                <a:extLst>
                  <a:ext uri="{FF2B5EF4-FFF2-40B4-BE49-F238E27FC236}">
                    <a16:creationId xmlns:a16="http://schemas.microsoft.com/office/drawing/2014/main" id="{2A081543-B9FF-49B1-8EEF-ABDF5438EDCD}"/>
                  </a:ext>
                </a:extLst>
              </p:cNvPr>
              <p:cNvSpPr/>
              <p:nvPr/>
            </p:nvSpPr>
            <p:spPr>
              <a:xfrm>
                <a:off x="7729280" y="2195997"/>
                <a:ext cx="2143740" cy="996849"/>
              </a:xfrm>
              <a:custGeom>
                <a:avLst/>
                <a:gdLst/>
                <a:ahLst/>
                <a:cxnLst/>
                <a:rect l="l" t="t" r="r" b="b"/>
                <a:pathLst>
                  <a:path w="1862733" h="866179">
                    <a:moveTo>
                      <a:pt x="794147" y="204787"/>
                    </a:moveTo>
                    <a:cubicBezTo>
                      <a:pt x="745605" y="204787"/>
                      <a:pt x="701637" y="218416"/>
                      <a:pt x="662244" y="245673"/>
                    </a:cubicBezTo>
                    <a:cubicBezTo>
                      <a:pt x="622851" y="272930"/>
                      <a:pt x="594798" y="309240"/>
                      <a:pt x="578086" y="354601"/>
                    </a:cubicBezTo>
                    <a:cubicBezTo>
                      <a:pt x="568536" y="380467"/>
                      <a:pt x="563761" y="406729"/>
                      <a:pt x="563761" y="433387"/>
                    </a:cubicBezTo>
                    <a:cubicBezTo>
                      <a:pt x="563761" y="488299"/>
                      <a:pt x="582064" y="537440"/>
                      <a:pt x="618670" y="580811"/>
                    </a:cubicBezTo>
                    <a:cubicBezTo>
                      <a:pt x="664031" y="634532"/>
                      <a:pt x="722524" y="661392"/>
                      <a:pt x="794147" y="661392"/>
                    </a:cubicBezTo>
                    <a:cubicBezTo>
                      <a:pt x="865771" y="661392"/>
                      <a:pt x="924462" y="634733"/>
                      <a:pt x="970220" y="581415"/>
                    </a:cubicBezTo>
                    <a:cubicBezTo>
                      <a:pt x="1006826" y="538838"/>
                      <a:pt x="1025128" y="489496"/>
                      <a:pt x="1025128" y="433387"/>
                    </a:cubicBezTo>
                    <a:cubicBezTo>
                      <a:pt x="1025128" y="376088"/>
                      <a:pt x="1006826" y="326547"/>
                      <a:pt x="970220" y="284764"/>
                    </a:cubicBezTo>
                    <a:cubicBezTo>
                      <a:pt x="923265" y="231446"/>
                      <a:pt x="864574" y="204787"/>
                      <a:pt x="794147" y="204787"/>
                    </a:cubicBezTo>
                    <a:close/>
                    <a:moveTo>
                      <a:pt x="1304330" y="24408"/>
                    </a:moveTo>
                    <a:lnTo>
                      <a:pt x="1862733" y="24408"/>
                    </a:lnTo>
                    <a:lnTo>
                      <a:pt x="1862733" y="200620"/>
                    </a:lnTo>
                    <a:lnTo>
                      <a:pt x="1687711" y="200620"/>
                    </a:lnTo>
                    <a:lnTo>
                      <a:pt x="1687711" y="837009"/>
                    </a:lnTo>
                    <a:lnTo>
                      <a:pt x="1476375" y="837009"/>
                    </a:lnTo>
                    <a:lnTo>
                      <a:pt x="1476375" y="200620"/>
                    </a:lnTo>
                    <a:lnTo>
                      <a:pt x="1304330" y="200620"/>
                    </a:lnTo>
                    <a:close/>
                    <a:moveTo>
                      <a:pt x="0" y="24408"/>
                    </a:moveTo>
                    <a:lnTo>
                      <a:pt x="211336" y="24408"/>
                    </a:lnTo>
                    <a:lnTo>
                      <a:pt x="211336" y="837009"/>
                    </a:lnTo>
                    <a:lnTo>
                      <a:pt x="0" y="837009"/>
                    </a:lnTo>
                    <a:close/>
                    <a:moveTo>
                      <a:pt x="794147" y="0"/>
                    </a:moveTo>
                    <a:cubicBezTo>
                      <a:pt x="937022" y="0"/>
                      <a:pt x="1050330" y="47426"/>
                      <a:pt x="1134071" y="142280"/>
                    </a:cubicBezTo>
                    <a:cubicBezTo>
                      <a:pt x="1207493" y="225623"/>
                      <a:pt x="1244204" y="322659"/>
                      <a:pt x="1244204" y="433387"/>
                    </a:cubicBezTo>
                    <a:cubicBezTo>
                      <a:pt x="1244204" y="543719"/>
                      <a:pt x="1207493" y="640556"/>
                      <a:pt x="1134071" y="723900"/>
                    </a:cubicBezTo>
                    <a:cubicBezTo>
                      <a:pt x="1050330" y="818753"/>
                      <a:pt x="937022" y="866179"/>
                      <a:pt x="794147" y="866179"/>
                    </a:cubicBezTo>
                    <a:cubicBezTo>
                      <a:pt x="651669" y="866179"/>
                      <a:pt x="538560" y="818753"/>
                      <a:pt x="454819" y="723900"/>
                    </a:cubicBezTo>
                    <a:cubicBezTo>
                      <a:pt x="381397" y="640556"/>
                      <a:pt x="344686" y="543719"/>
                      <a:pt x="344686" y="433387"/>
                    </a:cubicBezTo>
                    <a:cubicBezTo>
                      <a:pt x="344686" y="382984"/>
                      <a:pt x="354608" y="331291"/>
                      <a:pt x="374452" y="278308"/>
                    </a:cubicBezTo>
                    <a:cubicBezTo>
                      <a:pt x="394296" y="225326"/>
                      <a:pt x="420886" y="179983"/>
                      <a:pt x="454224" y="142280"/>
                    </a:cubicBezTo>
                    <a:cubicBezTo>
                      <a:pt x="537964" y="47426"/>
                      <a:pt x="651272" y="0"/>
                      <a:pt x="794147" y="0"/>
                    </a:cubicBezTo>
                    <a:close/>
                  </a:path>
                </a:pathLst>
              </a:cu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dirty="0"/>
              </a:p>
            </p:txBody>
          </p:sp>
          <p:sp>
            <p:nvSpPr>
              <p:cNvPr id="12" name="Freeform: Shape 67">
                <a:extLst>
                  <a:ext uri="{FF2B5EF4-FFF2-40B4-BE49-F238E27FC236}">
                    <a16:creationId xmlns:a16="http://schemas.microsoft.com/office/drawing/2014/main" id="{275D1FAA-C13F-4A6B-BA37-7704CFB7ADCD}"/>
                  </a:ext>
                </a:extLst>
              </p:cNvPr>
              <p:cNvSpPr/>
              <p:nvPr/>
            </p:nvSpPr>
            <p:spPr>
              <a:xfrm>
                <a:off x="8421007" y="2543552"/>
                <a:ext cx="443936" cy="326800"/>
              </a:xfrm>
              <a:custGeom>
                <a:avLst/>
                <a:gdLst>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788485 w 3738080"/>
                  <a:gd name="connsiteY5" fmla="*/ 1841061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624294 w 3738080"/>
                  <a:gd name="connsiteY5" fmla="*/ 1992174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1858846 w 3738080"/>
                  <a:gd name="connsiteY5" fmla="*/ 1306247 h 2751770"/>
                  <a:gd name="connsiteX6" fmla="*/ 2645621 w 3738080"/>
                  <a:gd name="connsiteY6" fmla="*/ 1504218 h 2751770"/>
                  <a:gd name="connsiteX7" fmla="*/ 2795575 w 3738080"/>
                  <a:gd name="connsiteY7" fmla="*/ 1757331 h 2751770"/>
                  <a:gd name="connsiteX8" fmla="*/ 2539052 w 3738080"/>
                  <a:gd name="connsiteY8" fmla="*/ 1841672 h 2751770"/>
                  <a:gd name="connsiteX9" fmla="*/ 1353947 w 3738080"/>
                  <a:gd name="connsiteY9" fmla="*/ 1778974 h 2751770"/>
                  <a:gd name="connsiteX10" fmla="*/ 982333 w 3738080"/>
                  <a:gd name="connsiteY10" fmla="*/ 1780833 h 2751770"/>
                  <a:gd name="connsiteX11" fmla="*/ 966756 w 3738080"/>
                  <a:gd name="connsiteY11" fmla="*/ 1667407 h 2751770"/>
                  <a:gd name="connsiteX12" fmla="*/ 1217540 w 3738080"/>
                  <a:gd name="connsiteY12" fmla="*/ 1445700 h 2751770"/>
                  <a:gd name="connsiteX13" fmla="*/ 1858846 w 3738080"/>
                  <a:gd name="connsiteY13" fmla="*/ 1306247 h 2751770"/>
                  <a:gd name="connsiteX14" fmla="*/ 1828129 w 3738080"/>
                  <a:gd name="connsiteY14" fmla="*/ 650059 h 2751770"/>
                  <a:gd name="connsiteX15" fmla="*/ 3108200 w 3738080"/>
                  <a:gd name="connsiteY15" fmla="*/ 1008980 h 2751770"/>
                  <a:gd name="connsiteX16" fmla="*/ 3258155 w 3738080"/>
                  <a:gd name="connsiteY16" fmla="*/ 1319033 h 2751770"/>
                  <a:gd name="connsiteX17" fmla="*/ 2937692 w 3738080"/>
                  <a:gd name="connsiteY17" fmla="*/ 1304637 h 2751770"/>
                  <a:gd name="connsiteX18" fmla="*/ 763561 w 3738080"/>
                  <a:gd name="connsiteY18" fmla="*/ 1325535 h 2751770"/>
                  <a:gd name="connsiteX19" fmla="*/ 464412 w 3738080"/>
                  <a:gd name="connsiteY19" fmla="*/ 1278813 h 2751770"/>
                  <a:gd name="connsiteX20" fmla="*/ 450482 w 3738080"/>
                  <a:gd name="connsiteY20" fmla="*/ 1202928 h 2751770"/>
                  <a:gd name="connsiteX21" fmla="*/ 622892 w 3738080"/>
                  <a:gd name="connsiteY21" fmla="*/ 1008979 h 2751770"/>
                  <a:gd name="connsiteX22" fmla="*/ 1828129 w 3738080"/>
                  <a:gd name="connsiteY22" fmla="*/ 650059 h 2751770"/>
                  <a:gd name="connsiteX23" fmla="*/ 1764313 w 3738080"/>
                  <a:gd name="connsiteY23" fmla="*/ 591 h 2751770"/>
                  <a:gd name="connsiteX24" fmla="*/ 3559697 w 3738080"/>
                  <a:gd name="connsiteY24" fmla="*/ 547180 h 2751770"/>
                  <a:gd name="connsiteX25" fmla="*/ 3709650 w 3738080"/>
                  <a:gd name="connsiteY25" fmla="*/ 882310 h 2751770"/>
                  <a:gd name="connsiteX26" fmla="*/ 3367875 w 3738080"/>
                  <a:gd name="connsiteY26" fmla="*/ 834477 h 2751770"/>
                  <a:gd name="connsiteX27" fmla="*/ 318417 w 3738080"/>
                  <a:gd name="connsiteY27" fmla="*/ 884635 h 2751770"/>
                  <a:gd name="connsiteX28" fmla="*/ 19267 w 3738080"/>
                  <a:gd name="connsiteY28" fmla="*/ 846272 h 2751770"/>
                  <a:gd name="connsiteX29" fmla="*/ 275 w 3738080"/>
                  <a:gd name="connsiteY29" fmla="*/ 760137 h 2751770"/>
                  <a:gd name="connsiteX30" fmla="*/ 173484 w 3738080"/>
                  <a:gd name="connsiteY30" fmla="*/ 547180 h 2751770"/>
                  <a:gd name="connsiteX31" fmla="*/ 1764313 w 3738080"/>
                  <a:gd name="connsiteY31" fmla="*/ 591 h 2751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738080" h="2751770">
                    <a:moveTo>
                      <a:pt x="1869041" y="1997576"/>
                    </a:moveTo>
                    <a:cubicBezTo>
                      <a:pt x="2077306" y="1997576"/>
                      <a:pt x="2246138" y="2166408"/>
                      <a:pt x="2246138" y="2374673"/>
                    </a:cubicBezTo>
                    <a:cubicBezTo>
                      <a:pt x="2246138" y="2582938"/>
                      <a:pt x="2077306" y="2751770"/>
                      <a:pt x="1869041" y="2751770"/>
                    </a:cubicBezTo>
                    <a:cubicBezTo>
                      <a:pt x="1660776" y="2751770"/>
                      <a:pt x="1491944" y="2582938"/>
                      <a:pt x="1491944" y="2374673"/>
                    </a:cubicBezTo>
                    <a:cubicBezTo>
                      <a:pt x="1491944" y="2166408"/>
                      <a:pt x="1660776" y="1997576"/>
                      <a:pt x="1869041" y="1997576"/>
                    </a:cubicBezTo>
                    <a:close/>
                    <a:moveTo>
                      <a:pt x="1858846" y="1306247"/>
                    </a:moveTo>
                    <a:cubicBezTo>
                      <a:pt x="2165924" y="1301758"/>
                      <a:pt x="2404940" y="1399722"/>
                      <a:pt x="2645621" y="1504218"/>
                    </a:cubicBezTo>
                    <a:cubicBezTo>
                      <a:pt x="2813424" y="1597955"/>
                      <a:pt x="2823993" y="1678797"/>
                      <a:pt x="2795575" y="1757331"/>
                    </a:cubicBezTo>
                    <a:cubicBezTo>
                      <a:pt x="2761471" y="1842158"/>
                      <a:pt x="2685239" y="1908552"/>
                      <a:pt x="2539052" y="1841672"/>
                    </a:cubicBezTo>
                    <a:cubicBezTo>
                      <a:pt x="2347207" y="1684231"/>
                      <a:pt x="1733351" y="1556050"/>
                      <a:pt x="1353947" y="1778974"/>
                    </a:cubicBezTo>
                    <a:cubicBezTo>
                      <a:pt x="1250080" y="1855218"/>
                      <a:pt x="1037749" y="1915097"/>
                      <a:pt x="982333" y="1780833"/>
                    </a:cubicBezTo>
                    <a:cubicBezTo>
                      <a:pt x="968480" y="1736637"/>
                      <a:pt x="963386" y="1699601"/>
                      <a:pt x="966756" y="1667407"/>
                    </a:cubicBezTo>
                    <a:cubicBezTo>
                      <a:pt x="976866" y="1570822"/>
                      <a:pt x="1063141" y="1517802"/>
                      <a:pt x="1217540" y="1445700"/>
                    </a:cubicBezTo>
                    <a:cubicBezTo>
                      <a:pt x="1465851" y="1348519"/>
                      <a:pt x="1674601" y="1308942"/>
                      <a:pt x="1858846" y="1306247"/>
                    </a:cubicBezTo>
                    <a:close/>
                    <a:moveTo>
                      <a:pt x="1828129" y="650059"/>
                    </a:moveTo>
                    <a:cubicBezTo>
                      <a:pt x="2445754" y="646836"/>
                      <a:pt x="2937662" y="894034"/>
                      <a:pt x="3108200" y="1008980"/>
                    </a:cubicBezTo>
                    <a:cubicBezTo>
                      <a:pt x="3228810" y="1075858"/>
                      <a:pt x="3343409" y="1171509"/>
                      <a:pt x="3258155" y="1319033"/>
                    </a:cubicBezTo>
                    <a:cubicBezTo>
                      <a:pt x="3134282" y="1435449"/>
                      <a:pt x="3057301" y="1393031"/>
                      <a:pt x="2937692" y="1304637"/>
                    </a:cubicBezTo>
                    <a:cubicBezTo>
                      <a:pt x="2647778" y="1191783"/>
                      <a:pt x="2008321" y="619142"/>
                      <a:pt x="763561" y="1325535"/>
                    </a:cubicBezTo>
                    <a:cubicBezTo>
                      <a:pt x="621636" y="1425852"/>
                      <a:pt x="511304" y="1376178"/>
                      <a:pt x="464412" y="1278813"/>
                    </a:cubicBezTo>
                    <a:cubicBezTo>
                      <a:pt x="452398" y="1252494"/>
                      <a:pt x="448110" y="1227223"/>
                      <a:pt x="450482" y="1202928"/>
                    </a:cubicBezTo>
                    <a:cubicBezTo>
                      <a:pt x="457599" y="1130049"/>
                      <a:pt x="524660" y="1065987"/>
                      <a:pt x="622892" y="1008979"/>
                    </a:cubicBezTo>
                    <a:cubicBezTo>
                      <a:pt x="1041721" y="744082"/>
                      <a:pt x="1457554" y="651995"/>
                      <a:pt x="1828129" y="650059"/>
                    </a:cubicBezTo>
                    <a:close/>
                    <a:moveTo>
                      <a:pt x="1764313" y="591"/>
                    </a:moveTo>
                    <a:cubicBezTo>
                      <a:pt x="2430887" y="-13278"/>
                      <a:pt x="3056659" y="218017"/>
                      <a:pt x="3559697" y="547180"/>
                    </a:cubicBezTo>
                    <a:cubicBezTo>
                      <a:pt x="3671781" y="597338"/>
                      <a:pt x="3794905" y="759863"/>
                      <a:pt x="3709650" y="882310"/>
                    </a:cubicBezTo>
                    <a:cubicBezTo>
                      <a:pt x="3594303" y="984791"/>
                      <a:pt x="3449118" y="907547"/>
                      <a:pt x="3367875" y="834477"/>
                    </a:cubicBezTo>
                    <a:cubicBezTo>
                      <a:pt x="3193985" y="725799"/>
                      <a:pt x="1920315" y="-235561"/>
                      <a:pt x="318417" y="884635"/>
                    </a:cubicBezTo>
                    <a:cubicBezTo>
                      <a:pt x="189280" y="993311"/>
                      <a:pt x="70419" y="922739"/>
                      <a:pt x="19267" y="846272"/>
                    </a:cubicBezTo>
                    <a:cubicBezTo>
                      <a:pt x="4410" y="817516"/>
                      <a:pt x="-1388" y="788500"/>
                      <a:pt x="275" y="760137"/>
                    </a:cubicBezTo>
                    <a:cubicBezTo>
                      <a:pt x="5260" y="675044"/>
                      <a:pt x="77384" y="595829"/>
                      <a:pt x="173484" y="547180"/>
                    </a:cubicBezTo>
                    <a:cubicBezTo>
                      <a:pt x="702741" y="170471"/>
                      <a:pt x="1245868" y="11376"/>
                      <a:pt x="1764313" y="591"/>
                    </a:cubicBez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sp>
          <p:nvSpPr>
            <p:cNvPr id="14" name="Subtitle 2">
              <a:extLst>
                <a:ext uri="{FF2B5EF4-FFF2-40B4-BE49-F238E27FC236}">
                  <a16:creationId xmlns:a16="http://schemas.microsoft.com/office/drawing/2014/main" id="{53858C97-DA2F-8866-47CC-CDF4077BBF9D}"/>
                </a:ext>
              </a:extLst>
            </p:cNvPr>
            <p:cNvSpPr txBox="1">
              <a:spLocks/>
            </p:cNvSpPr>
            <p:nvPr/>
          </p:nvSpPr>
          <p:spPr>
            <a:xfrm>
              <a:off x="1727403" y="1099395"/>
              <a:ext cx="729275" cy="203382"/>
            </a:xfrm>
            <a:prstGeom prst="rect">
              <a:avLst/>
            </a:prstGeom>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smtClean="0">
                  <a:solidFill>
                    <a:srgbClr val="7030A0"/>
                  </a:solidFill>
                </a:rPr>
                <a:t>PDS</a:t>
              </a:r>
              <a:endParaRPr lang="en-US" sz="1600" dirty="0">
                <a:solidFill>
                  <a:srgbClr val="7030A0"/>
                </a:solidFill>
              </a:endParaRPr>
            </a:p>
          </p:txBody>
        </p:sp>
        <p:sp>
          <p:nvSpPr>
            <p:cNvPr id="17" name="Title 4">
              <a:extLst>
                <a:ext uri="{FF2B5EF4-FFF2-40B4-BE49-F238E27FC236}">
                  <a16:creationId xmlns:a16="http://schemas.microsoft.com/office/drawing/2014/main" id="{27228BAE-048B-681E-DD8D-BD96B22560E0}"/>
                </a:ext>
              </a:extLst>
            </p:cNvPr>
            <p:cNvSpPr txBox="1">
              <a:spLocks/>
            </p:cNvSpPr>
            <p:nvPr/>
          </p:nvSpPr>
          <p:spPr>
            <a:xfrm>
              <a:off x="788714" y="1452073"/>
              <a:ext cx="938689" cy="470538"/>
            </a:xfrm>
            <a:prstGeom prst="rect">
              <a:avLst/>
            </a:prstGeom>
            <a:solidFill>
              <a:schemeClr val="bg1"/>
            </a:solidFill>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2800" dirty="0" smtClean="0">
                  <a:solidFill>
                    <a:schemeClr val="accent5">
                      <a:lumMod val="50000"/>
                    </a:schemeClr>
                  </a:solidFill>
                </a:rPr>
                <a:t>SDN</a:t>
              </a:r>
              <a:endParaRPr lang="en-US" sz="2800" dirty="0">
                <a:solidFill>
                  <a:schemeClr val="accent5">
                    <a:lumMod val="50000"/>
                  </a:schemeClr>
                </a:solidFill>
              </a:endParaRPr>
            </a:p>
          </p:txBody>
        </p:sp>
        <p:sp>
          <p:nvSpPr>
            <p:cNvPr id="18" name="Title 4">
              <a:extLst>
                <a:ext uri="{FF2B5EF4-FFF2-40B4-BE49-F238E27FC236}">
                  <a16:creationId xmlns:a16="http://schemas.microsoft.com/office/drawing/2014/main" id="{27228BAE-048B-681E-DD8D-BD96B22560E0}"/>
                </a:ext>
              </a:extLst>
            </p:cNvPr>
            <p:cNvSpPr txBox="1">
              <a:spLocks/>
            </p:cNvSpPr>
            <p:nvPr/>
          </p:nvSpPr>
          <p:spPr>
            <a:xfrm>
              <a:off x="1449719" y="1352665"/>
              <a:ext cx="928870" cy="581223"/>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2800" dirty="0" smtClean="0">
                  <a:solidFill>
                    <a:schemeClr val="accent1">
                      <a:lumMod val="75000"/>
                    </a:schemeClr>
                  </a:solidFill>
                </a:rPr>
                <a:t>NFV</a:t>
              </a:r>
              <a:endParaRPr lang="en-US" sz="2800" dirty="0">
                <a:solidFill>
                  <a:schemeClr val="accent1">
                    <a:lumMod val="75000"/>
                  </a:schemeClr>
                </a:solidFill>
              </a:endParaRPr>
            </a:p>
          </p:txBody>
        </p:sp>
      </p:grpSp>
      <p:sp>
        <p:nvSpPr>
          <p:cNvPr id="22" name="Rectangle 21"/>
          <p:cNvSpPr/>
          <p:nvPr/>
        </p:nvSpPr>
        <p:spPr>
          <a:xfrm>
            <a:off x="9507866" y="6056142"/>
            <a:ext cx="2613761" cy="230832"/>
          </a:xfrm>
          <a:prstGeom prst="rect">
            <a:avLst/>
          </a:prstGeom>
        </p:spPr>
        <p:txBody>
          <a:bodyPr wrap="square">
            <a:spAutoFit/>
          </a:bodyPr>
          <a:lstStyle/>
          <a:p>
            <a:r>
              <a:rPr lang="en-US" sz="900" dirty="0"/>
              <a:t>https://www.youtube.com/@AmelOline/videos</a:t>
            </a:r>
          </a:p>
        </p:txBody>
      </p:sp>
      <p:sp>
        <p:nvSpPr>
          <p:cNvPr id="23" name="Rectangle 22"/>
          <p:cNvSpPr/>
          <p:nvPr/>
        </p:nvSpPr>
        <p:spPr>
          <a:xfrm>
            <a:off x="10344774" y="5917643"/>
            <a:ext cx="1623448" cy="230832"/>
          </a:xfrm>
          <a:prstGeom prst="rect">
            <a:avLst/>
          </a:prstGeom>
        </p:spPr>
        <p:txBody>
          <a:bodyPr wrap="square">
            <a:spAutoFit/>
          </a:bodyPr>
          <a:lstStyle/>
          <a:p>
            <a:r>
              <a:rPr lang="en-US" sz="900" dirty="0"/>
              <a:t>https://github.com/siagianp</a:t>
            </a:r>
          </a:p>
        </p:txBody>
      </p:sp>
      <p:sp>
        <p:nvSpPr>
          <p:cNvPr id="24" name="Rectangle 23"/>
          <p:cNvSpPr/>
          <p:nvPr/>
        </p:nvSpPr>
        <p:spPr>
          <a:xfrm>
            <a:off x="8531473" y="6194642"/>
            <a:ext cx="3667194" cy="230832"/>
          </a:xfrm>
          <a:prstGeom prst="rect">
            <a:avLst/>
          </a:prstGeom>
        </p:spPr>
        <p:txBody>
          <a:bodyPr wrap="square">
            <a:spAutoFit/>
          </a:bodyPr>
          <a:lstStyle/>
          <a:p>
            <a:r>
              <a:rPr lang="en-US" sz="900" dirty="0"/>
              <a:t>https://github.com/amelcharolinesgn2/IoT_simulator-mqtt-NodeRed</a:t>
            </a:r>
          </a:p>
        </p:txBody>
      </p:sp>
      <p:sp>
        <p:nvSpPr>
          <p:cNvPr id="25" name="Rectangle 24"/>
          <p:cNvSpPr/>
          <p:nvPr/>
        </p:nvSpPr>
        <p:spPr>
          <a:xfrm>
            <a:off x="8977163" y="6333141"/>
            <a:ext cx="3204723" cy="230832"/>
          </a:xfrm>
          <a:prstGeom prst="rect">
            <a:avLst/>
          </a:prstGeom>
        </p:spPr>
        <p:txBody>
          <a:bodyPr wrap="none">
            <a:spAutoFit/>
          </a:bodyPr>
          <a:lstStyle/>
          <a:p>
            <a:r>
              <a:rPr lang="en-US" sz="900" dirty="0"/>
              <a:t>https://github.com/amelcharolinesgn2/Cloud-Infrastructures</a:t>
            </a:r>
          </a:p>
        </p:txBody>
      </p:sp>
      <p:sp>
        <p:nvSpPr>
          <p:cNvPr id="26" name="Rectangle 25"/>
          <p:cNvSpPr/>
          <p:nvPr/>
        </p:nvSpPr>
        <p:spPr>
          <a:xfrm>
            <a:off x="8444566" y="6506265"/>
            <a:ext cx="3839513" cy="230832"/>
          </a:xfrm>
          <a:prstGeom prst="rect">
            <a:avLst/>
          </a:prstGeom>
        </p:spPr>
        <p:txBody>
          <a:bodyPr wrap="none">
            <a:spAutoFit/>
          </a:bodyPr>
          <a:lstStyle/>
          <a:p>
            <a:r>
              <a:rPr lang="en-US" sz="900" dirty="0"/>
              <a:t>https://github.com/amelcharolinesgn2/ClouD-Infrastructure-SISKA-2025</a:t>
            </a:r>
          </a:p>
        </p:txBody>
      </p:sp>
    </p:spTree>
    <p:extLst>
      <p:ext uri="{BB962C8B-B14F-4D97-AF65-F5344CB8AC3E}">
        <p14:creationId xmlns:p14="http://schemas.microsoft.com/office/powerpoint/2010/main" val="386400268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02907" y="354177"/>
            <a:ext cx="3944413" cy="369332"/>
          </a:xfrm>
          <a:prstGeom prst="rect">
            <a:avLst/>
          </a:prstGeom>
        </p:spPr>
        <p:txBody>
          <a:bodyPr wrap="none">
            <a:spAutoFit/>
          </a:bodyPr>
          <a:lstStyle/>
          <a:p>
            <a:r>
              <a:rPr lang="en-US" b="1" u="sng" dirty="0">
                <a:latin typeface="Times New Roman" pitchFamily="18" charset="0"/>
              </a:rPr>
              <a:t>The BJT as a Switch and an Amplifier</a:t>
            </a:r>
            <a:endParaRPr lang="en-US" dirty="0"/>
          </a:p>
        </p:txBody>
      </p:sp>
      <p:sp>
        <p:nvSpPr>
          <p:cNvPr id="5" name="Rectangle 4"/>
          <p:cNvSpPr/>
          <p:nvPr/>
        </p:nvSpPr>
        <p:spPr>
          <a:xfrm>
            <a:off x="302908" y="723509"/>
            <a:ext cx="5330450" cy="8186737"/>
          </a:xfrm>
          <a:prstGeom prst="rect">
            <a:avLst/>
          </a:prstGeom>
        </p:spPr>
        <p:txBody>
          <a:bodyPr lIns="0" tIns="0" rIns="0" bIns="0"/>
          <a:lstStyle/>
          <a:p>
            <a:pPr eaLnBrk="1" hangingPunct="1">
              <a:lnSpc>
                <a:spcPts val="2900"/>
              </a:lnSpc>
              <a:spcAft>
                <a:spcPts val="625"/>
              </a:spcAft>
            </a:pPr>
            <a:r>
              <a:rPr lang="en-US" sz="2200" b="1" dirty="0">
                <a:latin typeface="Times New Roman" pitchFamily="18" charset="0"/>
              </a:rPr>
              <a:t>The two major applications for BJT are a switch and amplifier.</a:t>
            </a:r>
          </a:p>
          <a:p>
            <a:pPr eaLnBrk="1" hangingPunct="1">
              <a:spcAft>
                <a:spcPts val="1475"/>
              </a:spcAft>
            </a:pPr>
            <a:r>
              <a:rPr lang="en-US" sz="2200" b="1" u="sng" dirty="0">
                <a:solidFill>
                  <a:srgbClr val="7030A0"/>
                </a:solidFill>
                <a:latin typeface="Times New Roman" pitchFamily="18" charset="0"/>
              </a:rPr>
              <a:t>The BJT as a Switch</a:t>
            </a:r>
          </a:p>
          <a:p>
            <a:pPr eaLnBrk="1" hangingPunct="1">
              <a:lnSpc>
                <a:spcPts val="2900"/>
              </a:lnSpc>
            </a:pPr>
            <a:r>
              <a:rPr lang="en-US" sz="2200" dirty="0">
                <a:latin typeface="Times New Roman" pitchFamily="18" charset="0"/>
              </a:rPr>
              <a:t>As mentioned in the previous lecture (lecture 2), the first major application for a BJT is a switching application. When used as an electronic switch, a BJT is normally operated alternately in cutoff and saturation. Many digital circuits use the BJT as a switch, where 0 V means logic 0 (cutoff = open CCT. ) and +5 V means logic 1 (saturation = short CCT</a:t>
            </a:r>
            <a:r>
              <a:rPr lang="en-US" sz="2200" dirty="0" smtClean="0">
                <a:latin typeface="Times New Roman" pitchFamily="18" charset="0"/>
              </a:rPr>
              <a:t>.).</a:t>
            </a:r>
          </a:p>
          <a:p>
            <a:pPr eaLnBrk="1" hangingPunct="1">
              <a:lnSpc>
                <a:spcPts val="2900"/>
              </a:lnSpc>
            </a:pPr>
            <a:endParaRPr lang="en-US" sz="2200" dirty="0">
              <a:latin typeface="Times New Roman" pitchFamily="18" charset="0"/>
            </a:endParaRPr>
          </a:p>
        </p:txBody>
      </p:sp>
      <p:pic>
        <p:nvPicPr>
          <p:cNvPr id="6" name="Picture 5"/>
          <p:cNvPicPr/>
          <p:nvPr/>
        </p:nvPicPr>
        <p:blipFill>
          <a:blip r:embed="rId2">
            <a:extLst>
              <a:ext uri="{28A0092B-C50C-407E-A947-70E740481C1C}">
                <a14:useLocalDpi xmlns:a14="http://schemas.microsoft.com/office/drawing/2010/main" val="0"/>
              </a:ext>
            </a:extLst>
          </a:blip>
          <a:srcRect/>
          <a:stretch>
            <a:fillRect/>
          </a:stretch>
        </p:blipFill>
        <p:spPr bwMode="auto">
          <a:xfrm>
            <a:off x="5845628" y="1314490"/>
            <a:ext cx="6178323" cy="4784090"/>
          </a:xfrm>
          <a:prstGeom prst="rect">
            <a:avLst/>
          </a:prstGeom>
          <a:noFill/>
          <a:ln>
            <a:noFill/>
          </a:ln>
        </p:spPr>
      </p:pic>
    </p:spTree>
    <p:extLst>
      <p:ext uri="{BB962C8B-B14F-4D97-AF65-F5344CB8AC3E}">
        <p14:creationId xmlns:p14="http://schemas.microsoft.com/office/powerpoint/2010/main" val="169413375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342900"/>
            <a:ext cx="5290457" cy="2871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descr="C:\Users\k\Desktop\Untitled.png"/>
          <p:cNvPicPr/>
          <p:nvPr/>
        </p:nvPicPr>
        <p:blipFill>
          <a:blip r:embed="rId3">
            <a:extLst>
              <a:ext uri="{28A0092B-C50C-407E-A947-70E740481C1C}">
                <a14:useLocalDpi xmlns:a14="http://schemas.microsoft.com/office/drawing/2010/main" val="0"/>
              </a:ext>
            </a:extLst>
          </a:blip>
          <a:srcRect/>
          <a:stretch>
            <a:fillRect/>
          </a:stretch>
        </p:blipFill>
        <p:spPr bwMode="auto">
          <a:xfrm>
            <a:off x="4944133" y="2063115"/>
            <a:ext cx="7108190" cy="4794885"/>
          </a:xfrm>
          <a:prstGeom prst="rect">
            <a:avLst/>
          </a:prstGeom>
          <a:noFill/>
          <a:ln>
            <a:noFill/>
          </a:ln>
        </p:spPr>
      </p:pic>
    </p:spTree>
    <p:extLst>
      <p:ext uri="{BB962C8B-B14F-4D97-AF65-F5344CB8AC3E}">
        <p14:creationId xmlns:p14="http://schemas.microsoft.com/office/powerpoint/2010/main" val="259118177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6363" y="239877"/>
            <a:ext cx="2465740" cy="369332"/>
          </a:xfrm>
          <a:prstGeom prst="rect">
            <a:avLst/>
          </a:prstGeom>
        </p:spPr>
        <p:txBody>
          <a:bodyPr wrap="none">
            <a:spAutoFit/>
          </a:bodyPr>
          <a:lstStyle/>
          <a:p>
            <a:r>
              <a:rPr lang="en-US" b="1" dirty="0" smtClean="0">
                <a:solidFill>
                  <a:srgbClr val="7030A0"/>
                </a:solidFill>
              </a:rPr>
              <a:t>The BJT as an Amplifier:</a:t>
            </a:r>
            <a:endParaRPr lang="en-US" b="1" dirty="0">
              <a:solidFill>
                <a:srgbClr val="7030A0"/>
              </a:solidFill>
            </a:endParaRPr>
          </a:p>
        </p:txBody>
      </p:sp>
      <p:sp>
        <p:nvSpPr>
          <p:cNvPr id="3" name="Rectangle 2"/>
          <p:cNvSpPr/>
          <p:nvPr/>
        </p:nvSpPr>
        <p:spPr>
          <a:xfrm>
            <a:off x="136363" y="609209"/>
            <a:ext cx="11881466" cy="6968574"/>
          </a:xfrm>
          <a:prstGeom prst="rect">
            <a:avLst/>
          </a:prstGeom>
        </p:spPr>
        <p:txBody>
          <a:bodyPr wrap="square">
            <a:spAutoFit/>
          </a:bodyPr>
          <a:lstStyle/>
          <a:p>
            <a:pPr algn="just">
              <a:lnSpc>
                <a:spcPts val="2904"/>
              </a:lnSpc>
              <a:spcAft>
                <a:spcPts val="1890"/>
              </a:spcAft>
              <a:defRPr/>
            </a:pPr>
            <a:r>
              <a:rPr lang="en-US" dirty="0">
                <a:latin typeface="Times New Roman"/>
              </a:rPr>
              <a:t>Amplification is the process of linearly increasing the amplitude of an electrical signal and is one of the major properties of a transistor. As you learned, a BJT exhibits current gain (called beta). When a BJT is biased in the active (or linear) region, as previously described, the BE junction has a low resistance due to forward bias and the BC junction has a high resistance due to reverse bias.</a:t>
            </a:r>
          </a:p>
          <a:p>
            <a:pPr algn="just">
              <a:spcAft>
                <a:spcPts val="630"/>
              </a:spcAft>
              <a:defRPr/>
            </a:pPr>
            <a:r>
              <a:rPr lang="en-US" b="1" u="sng" dirty="0">
                <a:latin typeface="Times New Roman"/>
              </a:rPr>
              <a:t>DC and AC Quantities:</a:t>
            </a:r>
          </a:p>
          <a:p>
            <a:pPr algn="just">
              <a:lnSpc>
                <a:spcPts val="2904"/>
              </a:lnSpc>
              <a:spcAft>
                <a:spcPts val="630"/>
              </a:spcAft>
              <a:defRPr/>
            </a:pPr>
            <a:r>
              <a:rPr lang="en-US" dirty="0">
                <a:latin typeface="Times New Roman"/>
              </a:rPr>
              <a:t>Before discussing the concept of transistor amplification, the designations that we will use for the circuit quantities of current, voltage, and resistance must be explained because amplifier circuits have both dc and ac quantities</a:t>
            </a:r>
            <a:r>
              <a:rPr lang="en-US" dirty="0" smtClean="0">
                <a:latin typeface="Times New Roman"/>
              </a:rPr>
              <a:t>. DC </a:t>
            </a:r>
            <a:r>
              <a:rPr lang="en-US" dirty="0">
                <a:latin typeface="Times New Roman"/>
              </a:rPr>
              <a:t>quantities always carry an uppercase (large letter) subscript. For example, </a:t>
            </a:r>
            <a:r>
              <a:rPr lang="en-US" i="1" dirty="0" err="1">
                <a:latin typeface="Times New Roman"/>
              </a:rPr>
              <a:t>I</a:t>
            </a:r>
            <a:r>
              <a:rPr lang="en-US" b="1" i="1" cap="small" spc="150" dirty="0" err="1">
                <a:latin typeface="Times New Roman"/>
              </a:rPr>
              <a:t>b</a:t>
            </a:r>
            <a:r>
              <a:rPr lang="en-US" i="1" dirty="0">
                <a:latin typeface="Times New Roman"/>
              </a:rPr>
              <a:t>, </a:t>
            </a:r>
            <a:r>
              <a:rPr lang="en-US" i="1" dirty="0" err="1">
                <a:latin typeface="Times New Roman"/>
              </a:rPr>
              <a:t>I</a:t>
            </a:r>
            <a:r>
              <a:rPr lang="en-US" b="1" i="1" cap="small" spc="150" dirty="0" err="1">
                <a:latin typeface="Times New Roman"/>
              </a:rPr>
              <a:t>c</a:t>
            </a:r>
            <a:r>
              <a:rPr lang="en-US" i="1" dirty="0">
                <a:latin typeface="Times New Roman"/>
              </a:rPr>
              <a:t>,</a:t>
            </a:r>
            <a:r>
              <a:rPr lang="en-US" dirty="0">
                <a:latin typeface="Times New Roman"/>
              </a:rPr>
              <a:t> and </a:t>
            </a:r>
            <a:r>
              <a:rPr lang="en-US" dirty="0" err="1">
                <a:latin typeface="Times New Roman"/>
              </a:rPr>
              <a:t>I</a:t>
            </a:r>
            <a:r>
              <a:rPr lang="en-US" sz="1050" b="1" cap="small" dirty="0" err="1">
                <a:latin typeface="Times New Roman"/>
              </a:rPr>
              <a:t>e</a:t>
            </a:r>
            <a:r>
              <a:rPr lang="en-US" sz="1050" b="1" cap="small" dirty="0">
                <a:latin typeface="Times New Roman"/>
              </a:rPr>
              <a:t> </a:t>
            </a:r>
            <a:r>
              <a:rPr lang="en-US" dirty="0">
                <a:latin typeface="Times New Roman"/>
              </a:rPr>
              <a:t>are the dc transistor currents. </a:t>
            </a:r>
            <a:r>
              <a:rPr lang="en-US" i="1" dirty="0" err="1">
                <a:latin typeface="Times New Roman"/>
              </a:rPr>
              <a:t>V</a:t>
            </a:r>
            <a:r>
              <a:rPr lang="en-US" b="1" i="1" cap="small" spc="150" dirty="0" err="1">
                <a:latin typeface="Times New Roman"/>
              </a:rPr>
              <a:t>be</a:t>
            </a:r>
            <a:r>
              <a:rPr lang="en-US" i="1" dirty="0">
                <a:latin typeface="Times New Roman"/>
              </a:rPr>
              <a:t>, </a:t>
            </a:r>
            <a:r>
              <a:rPr lang="en-US" i="1" dirty="0" err="1">
                <a:latin typeface="Times New Roman"/>
              </a:rPr>
              <a:t>V</a:t>
            </a:r>
            <a:r>
              <a:rPr lang="en-US" b="1" i="1" cap="small" spc="150" dirty="0" err="1">
                <a:latin typeface="Times New Roman"/>
              </a:rPr>
              <a:t>cb</a:t>
            </a:r>
            <a:r>
              <a:rPr lang="en-US" i="1" dirty="0">
                <a:latin typeface="Times New Roman"/>
              </a:rPr>
              <a:t>,</a:t>
            </a:r>
            <a:r>
              <a:rPr lang="en-US" dirty="0">
                <a:latin typeface="Times New Roman"/>
              </a:rPr>
              <a:t> and </a:t>
            </a:r>
            <a:r>
              <a:rPr lang="en-US" i="1" dirty="0" err="1">
                <a:latin typeface="Times New Roman"/>
              </a:rPr>
              <a:t>V</a:t>
            </a:r>
            <a:r>
              <a:rPr lang="en-US" b="1" i="1" cap="small" spc="150" dirty="0" err="1">
                <a:latin typeface="Times New Roman"/>
              </a:rPr>
              <a:t>ce</a:t>
            </a:r>
            <a:r>
              <a:rPr lang="en-US" sz="1050" b="1" dirty="0">
                <a:latin typeface="Times New Roman"/>
              </a:rPr>
              <a:t> </a:t>
            </a:r>
            <a:r>
              <a:rPr lang="en-US" dirty="0">
                <a:latin typeface="Times New Roman"/>
              </a:rPr>
              <a:t>are the dc voltages from one transistor terminal to another. Single subscripted voltages such as </a:t>
            </a:r>
            <a:r>
              <a:rPr lang="en-US" dirty="0" err="1">
                <a:latin typeface="Times New Roman"/>
              </a:rPr>
              <a:t>V</a:t>
            </a:r>
            <a:r>
              <a:rPr lang="en-US" sz="1050" b="1" cap="small" dirty="0" err="1">
                <a:latin typeface="Times New Roman"/>
              </a:rPr>
              <a:t>b</a:t>
            </a:r>
            <a:r>
              <a:rPr lang="en-US" dirty="0">
                <a:latin typeface="Times New Roman"/>
              </a:rPr>
              <a:t>, V</a:t>
            </a:r>
            <a:r>
              <a:rPr lang="en-US" sz="1050" b="1" cap="small" dirty="0">
                <a:latin typeface="Times New Roman"/>
              </a:rPr>
              <a:t>C</a:t>
            </a:r>
            <a:r>
              <a:rPr lang="en-US" dirty="0">
                <a:latin typeface="Times New Roman"/>
              </a:rPr>
              <a:t>, and </a:t>
            </a:r>
            <a:r>
              <a:rPr lang="en-US" dirty="0" err="1">
                <a:latin typeface="Times New Roman"/>
              </a:rPr>
              <a:t>V</a:t>
            </a:r>
            <a:r>
              <a:rPr lang="en-US" sz="1050" b="1" cap="small" dirty="0" err="1">
                <a:latin typeface="Times New Roman"/>
              </a:rPr>
              <a:t>e</a:t>
            </a:r>
            <a:r>
              <a:rPr lang="en-US" sz="1050" b="1" cap="small" dirty="0">
                <a:latin typeface="Times New Roman"/>
              </a:rPr>
              <a:t> </a:t>
            </a:r>
            <a:r>
              <a:rPr lang="en-US" dirty="0">
                <a:latin typeface="Times New Roman"/>
              </a:rPr>
              <a:t>are dc voltages from the transistor terminals to ground.</a:t>
            </a:r>
          </a:p>
          <a:p>
            <a:pPr marL="165100" indent="-165100">
              <a:lnSpc>
                <a:spcPts val="2904"/>
              </a:lnSpc>
              <a:spcAft>
                <a:spcPts val="630"/>
              </a:spcAft>
              <a:defRPr/>
            </a:pPr>
            <a:r>
              <a:rPr lang="en-US" dirty="0">
                <a:latin typeface="Times New Roman"/>
              </a:rPr>
              <a:t>Ac quantities always carry a lowercase (small letter) subscript. For example, </a:t>
            </a:r>
            <a:r>
              <a:rPr lang="en-US" i="1" dirty="0" err="1">
                <a:latin typeface="Times New Roman"/>
              </a:rPr>
              <a:t>Ib</a:t>
            </a:r>
            <a:r>
              <a:rPr lang="en-US" i="1" dirty="0">
                <a:latin typeface="Times New Roman"/>
              </a:rPr>
              <a:t>, </a:t>
            </a:r>
            <a:r>
              <a:rPr lang="en-US" i="1" dirty="0" err="1">
                <a:latin typeface="Times New Roman"/>
              </a:rPr>
              <a:t>Ic</a:t>
            </a:r>
            <a:r>
              <a:rPr lang="en-US" i="1" dirty="0">
                <a:latin typeface="Times New Roman"/>
              </a:rPr>
              <a:t>,</a:t>
            </a:r>
            <a:r>
              <a:rPr lang="en-US" dirty="0">
                <a:latin typeface="Times New Roman"/>
              </a:rPr>
              <a:t> and </a:t>
            </a:r>
            <a:r>
              <a:rPr lang="en-US" i="1" dirty="0" err="1">
                <a:latin typeface="Times New Roman"/>
              </a:rPr>
              <a:t>Ie</a:t>
            </a:r>
            <a:r>
              <a:rPr lang="en-US" dirty="0">
                <a:latin typeface="Times New Roman"/>
              </a:rPr>
              <a:t> are the ac transistor currents. </a:t>
            </a:r>
            <a:r>
              <a:rPr lang="en-US" i="1" dirty="0" err="1">
                <a:latin typeface="Times New Roman"/>
              </a:rPr>
              <a:t>Vbe</a:t>
            </a:r>
            <a:r>
              <a:rPr lang="en-US" i="1" dirty="0">
                <a:latin typeface="Times New Roman"/>
              </a:rPr>
              <a:t>, </a:t>
            </a:r>
            <a:r>
              <a:rPr lang="en-US" i="1" dirty="0" err="1">
                <a:latin typeface="Times New Roman"/>
              </a:rPr>
              <a:t>Vcb</a:t>
            </a:r>
            <a:r>
              <a:rPr lang="en-US" i="1" dirty="0">
                <a:latin typeface="Times New Roman"/>
              </a:rPr>
              <a:t>,</a:t>
            </a:r>
            <a:r>
              <a:rPr lang="en-US" dirty="0">
                <a:latin typeface="Times New Roman"/>
              </a:rPr>
              <a:t> and </a:t>
            </a:r>
            <a:r>
              <a:rPr lang="en-US" i="1" dirty="0" err="1">
                <a:latin typeface="Times New Roman"/>
              </a:rPr>
              <a:t>Vce</a:t>
            </a:r>
            <a:r>
              <a:rPr lang="en-US" dirty="0">
                <a:latin typeface="Times New Roman"/>
              </a:rPr>
              <a:t> are the ac voltages from one transistor terminal </a:t>
            </a:r>
            <a:r>
              <a:rPr lang="en-US" dirty="0" smtClean="0">
                <a:latin typeface="Times New Roman"/>
              </a:rPr>
              <a:t>to </a:t>
            </a:r>
            <a:r>
              <a:rPr lang="en-US" dirty="0">
                <a:latin typeface="Times New Roman"/>
              </a:rPr>
              <a:t>another. Single subscripted voltages such as </a:t>
            </a:r>
            <a:r>
              <a:rPr lang="en-US" i="1" dirty="0" err="1">
                <a:latin typeface="Times New Roman"/>
              </a:rPr>
              <a:t>Vb</a:t>
            </a:r>
            <a:r>
              <a:rPr lang="en-US" dirty="0">
                <a:latin typeface="Times New Roman"/>
              </a:rPr>
              <a:t>, </a:t>
            </a:r>
            <a:r>
              <a:rPr lang="en-US" i="1" dirty="0" err="1">
                <a:latin typeface="Times New Roman"/>
              </a:rPr>
              <a:t>Vc</a:t>
            </a:r>
            <a:r>
              <a:rPr lang="en-US" dirty="0">
                <a:latin typeface="Times New Roman"/>
              </a:rPr>
              <a:t>, and </a:t>
            </a:r>
            <a:r>
              <a:rPr lang="en-US" i="1" dirty="0" err="1">
                <a:latin typeface="Times New Roman"/>
              </a:rPr>
              <a:t>Ve</a:t>
            </a:r>
            <a:r>
              <a:rPr lang="en-US" dirty="0">
                <a:latin typeface="Times New Roman"/>
              </a:rPr>
              <a:t> are ac voltages from the transistor terminals to ground.</a:t>
            </a:r>
          </a:p>
          <a:p>
            <a:pPr algn="just">
              <a:lnSpc>
                <a:spcPts val="2904"/>
              </a:lnSpc>
              <a:defRPr/>
            </a:pPr>
            <a:r>
              <a:rPr lang="en-US" dirty="0">
                <a:latin typeface="Times New Roman"/>
              </a:rPr>
              <a:t>Circuit resistances external to the transistor itself use the standard capital </a:t>
            </a:r>
            <a:r>
              <a:rPr lang="en-US" i="1" dirty="0">
                <a:latin typeface="Times New Roman"/>
              </a:rPr>
              <a:t>R</a:t>
            </a:r>
            <a:r>
              <a:rPr lang="en-US" dirty="0">
                <a:latin typeface="Times New Roman"/>
              </a:rPr>
              <a:t> with a subscript that identifies the resistance as dc or ac, for example RE is an external dc emitter resistance and </a:t>
            </a:r>
            <a:r>
              <a:rPr lang="en-US" i="1" dirty="0">
                <a:latin typeface="Times New Roman"/>
              </a:rPr>
              <a:t>Re</a:t>
            </a:r>
            <a:r>
              <a:rPr lang="en-US" dirty="0">
                <a:latin typeface="Times New Roman"/>
              </a:rPr>
              <a:t> is an external ac emitter resistance. Also we shall use</a:t>
            </a:r>
          </a:p>
          <a:p>
            <a:pPr algn="just">
              <a:spcAft>
                <a:spcPts val="1470"/>
              </a:spcAft>
              <a:defRPr/>
            </a:pPr>
            <a:r>
              <a:rPr lang="en-US" dirty="0">
                <a:latin typeface="Times New Roman"/>
              </a:rPr>
              <a:t>the internal ac emitter resistance is designated as </a:t>
            </a:r>
            <a:r>
              <a:rPr lang="en-US" i="1" dirty="0">
                <a:latin typeface="Times New Roman"/>
              </a:rPr>
              <a:t>.</a:t>
            </a:r>
          </a:p>
          <a:p>
            <a:pPr algn="just">
              <a:lnSpc>
                <a:spcPts val="2904"/>
              </a:lnSpc>
              <a:defRPr/>
            </a:pPr>
            <a:endParaRPr lang="en-US" dirty="0">
              <a:latin typeface="Times New Roman"/>
            </a:endParaRPr>
          </a:p>
        </p:txBody>
      </p:sp>
      <p:pic>
        <p:nvPicPr>
          <p:cNvPr id="4" name="Picture 3"/>
          <p:cNvPicPr/>
          <p:nvPr/>
        </p:nvPicPr>
        <p:blipFill>
          <a:blip r:embed="rId2">
            <a:extLst>
              <a:ext uri="{28A0092B-C50C-407E-A947-70E740481C1C}">
                <a14:useLocalDpi xmlns:a14="http://schemas.microsoft.com/office/drawing/2010/main" val="0"/>
              </a:ext>
            </a:extLst>
          </a:blip>
          <a:srcRect/>
          <a:stretch>
            <a:fillRect/>
          </a:stretch>
        </p:blipFill>
        <p:spPr bwMode="auto">
          <a:xfrm>
            <a:off x="4706711" y="6477001"/>
            <a:ext cx="343535" cy="380999"/>
          </a:xfrm>
          <a:prstGeom prst="rect">
            <a:avLst/>
          </a:prstGeom>
          <a:noFill/>
          <a:ln>
            <a:noFill/>
          </a:ln>
        </p:spPr>
      </p:pic>
    </p:spTree>
    <p:extLst>
      <p:ext uri="{BB962C8B-B14F-4D97-AF65-F5344CB8AC3E}">
        <p14:creationId xmlns:p14="http://schemas.microsoft.com/office/powerpoint/2010/main" val="267820745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3786" y="217319"/>
            <a:ext cx="11484428" cy="2421176"/>
          </a:xfrm>
          <a:prstGeom prst="rect">
            <a:avLst/>
          </a:prstGeom>
        </p:spPr>
        <p:txBody>
          <a:bodyPr wrap="square">
            <a:spAutoFit/>
          </a:bodyPr>
          <a:lstStyle/>
          <a:p>
            <a:pPr algn="just">
              <a:spcAft>
                <a:spcPts val="1470"/>
              </a:spcAft>
              <a:defRPr/>
            </a:pPr>
            <a:r>
              <a:rPr lang="en-US" b="1" u="sng" dirty="0">
                <a:latin typeface="Times New Roman"/>
              </a:rPr>
              <a:t>Voltage Amplification</a:t>
            </a:r>
          </a:p>
          <a:p>
            <a:pPr algn="just">
              <a:lnSpc>
                <a:spcPts val="2904"/>
              </a:lnSpc>
              <a:defRPr/>
            </a:pPr>
            <a:r>
              <a:rPr lang="en-US" dirty="0">
                <a:latin typeface="Times New Roman"/>
              </a:rPr>
              <a:t>As you have learned, a transistor amplifies current because the collector current is equal to the base current multiplied by the current gain, beta. The base current in a transistor is very small compared to the collector and emitter currents. Because of this, the collector current is approximately equal to the emitter current. Figure below shows basic transistor amplified circuit, where an ac voltage, </a:t>
            </a:r>
            <a:r>
              <a:rPr lang="en-US" i="1" dirty="0">
                <a:latin typeface="Times New Roman"/>
              </a:rPr>
              <a:t>Vin,</a:t>
            </a:r>
            <a:r>
              <a:rPr lang="en-US" dirty="0">
                <a:latin typeface="Times New Roman"/>
              </a:rPr>
              <a:t> is superimposed on the dc bias voltage VBB and the dc bias voltage VCC is connected to the collector through the collector resistor, RC.</a:t>
            </a:r>
          </a:p>
        </p:txBody>
      </p:sp>
      <p:pic>
        <p:nvPicPr>
          <p:cNvPr id="3" name="Picture 2" descr="C:\Users\k\Desktop\Untitl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55446" y="2638495"/>
            <a:ext cx="6221413" cy="4038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6587277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366713" y="212952"/>
            <a:ext cx="11520487" cy="411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eaLnBrk="1" hangingPunct="1">
              <a:lnSpc>
                <a:spcPts val="2900"/>
              </a:lnSpc>
              <a:spcBef>
                <a:spcPts val="1050"/>
              </a:spcBef>
              <a:spcAft>
                <a:spcPts val="625"/>
              </a:spcAft>
            </a:pPr>
            <a:r>
              <a:rPr lang="en-US" sz="2200" dirty="0">
                <a:latin typeface="Times New Roman" pitchFamily="18" charset="0"/>
              </a:rPr>
              <a:t>The ac input voltage produces an ac base current, which results in a much larger ac collector current. The ac collector current produces an ac voltage across </a:t>
            </a:r>
            <a:r>
              <a:rPr lang="en-US" sz="2200" i="1" dirty="0" err="1">
                <a:latin typeface="Times New Roman" pitchFamily="18" charset="0"/>
              </a:rPr>
              <a:t>Rc</a:t>
            </a:r>
            <a:r>
              <a:rPr lang="en-US" sz="2200" dirty="0">
                <a:latin typeface="Times New Roman" pitchFamily="18" charset="0"/>
              </a:rPr>
              <a:t>, thus producing an amplified, but inverted, as illustrated in Figure above.</a:t>
            </a:r>
          </a:p>
          <a:p>
            <a:pPr algn="just" eaLnBrk="1" hangingPunct="1">
              <a:lnSpc>
                <a:spcPts val="2900"/>
              </a:lnSpc>
            </a:pPr>
            <a:r>
              <a:rPr lang="en-US" sz="2200" dirty="0">
                <a:latin typeface="Times New Roman" pitchFamily="18" charset="0"/>
              </a:rPr>
              <a:t>In this amplifier, when base voltage increase, base current increases. It also causes an increase in the collector current which in turn causes a voltage drop in the collector resistor RC. Because the output is situated below the collector resistance RC, the output voltage will decrease as voltage drop across collector resistor increase. Thus it produces a 180 phase shift. (input positive, output negative and vice versa).</a:t>
            </a:r>
          </a:p>
        </p:txBody>
      </p:sp>
      <p:pic>
        <p:nvPicPr>
          <p:cNvPr id="3" name="Picture 2"/>
          <p:cNvPicPr/>
          <p:nvPr/>
        </p:nvPicPr>
        <p:blipFill>
          <a:blip r:embed="rId2">
            <a:extLst>
              <a:ext uri="{28A0092B-C50C-407E-A947-70E740481C1C}">
                <a14:useLocalDpi xmlns:a14="http://schemas.microsoft.com/office/drawing/2010/main" val="0"/>
              </a:ext>
            </a:extLst>
          </a:blip>
          <a:srcRect/>
          <a:stretch>
            <a:fillRect/>
          </a:stretch>
        </p:blipFill>
        <p:spPr bwMode="auto">
          <a:xfrm>
            <a:off x="798353" y="3044142"/>
            <a:ext cx="7315499" cy="3585258"/>
          </a:xfrm>
          <a:prstGeom prst="rect">
            <a:avLst/>
          </a:prstGeom>
          <a:noFill/>
          <a:ln>
            <a:noFill/>
          </a:ln>
        </p:spPr>
      </p:pic>
    </p:spTree>
    <p:extLst>
      <p:ext uri="{BB962C8B-B14F-4D97-AF65-F5344CB8AC3E}">
        <p14:creationId xmlns:p14="http://schemas.microsoft.com/office/powerpoint/2010/main" val="381787978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7113587" cy="347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p:cNvSpPr/>
          <p:nvPr/>
        </p:nvSpPr>
        <p:spPr>
          <a:xfrm>
            <a:off x="418873" y="3479800"/>
            <a:ext cx="9998755" cy="1743075"/>
          </a:xfrm>
          <a:prstGeom prst="rect">
            <a:avLst/>
          </a:prstGeom>
        </p:spPr>
        <p:txBody>
          <a:bodyPr lIns="0" tIns="0" rIns="0" bIns="0"/>
          <a:lstStyle/>
          <a:p>
            <a:pPr algn="just" eaLnBrk="1" fontAlgn="auto" hangingPunct="1">
              <a:spcBef>
                <a:spcPts val="1260"/>
              </a:spcBef>
              <a:spcAft>
                <a:spcPts val="1260"/>
              </a:spcAft>
              <a:defRPr/>
            </a:pPr>
            <a:r>
              <a:rPr lang="en-US" sz="2200" b="1" u="sng" dirty="0">
                <a:latin typeface="Times New Roman"/>
              </a:rPr>
              <a:t>Review Questions </a:t>
            </a:r>
            <a:r>
              <a:rPr lang="en-US" sz="2200" b="1" u="sng" dirty="0" smtClean="0">
                <a:latin typeface="Times New Roman"/>
              </a:rPr>
              <a:t>:</a:t>
            </a:r>
          </a:p>
          <a:p>
            <a:pPr indent="127000" eaLnBrk="1" fontAlgn="auto" hangingPunct="1">
              <a:lnSpc>
                <a:spcPts val="2520"/>
              </a:lnSpc>
              <a:spcBef>
                <a:spcPts val="0"/>
              </a:spcBef>
              <a:spcAft>
                <a:spcPts val="0"/>
              </a:spcAft>
              <a:defRPr/>
            </a:pPr>
            <a:r>
              <a:rPr lang="en-US" sz="2200" dirty="0" smtClean="0">
                <a:latin typeface="Times New Roman"/>
              </a:rPr>
              <a:t>1. When a transistor is used as a switch, in what two states is it operated?</a:t>
            </a:r>
          </a:p>
          <a:p>
            <a:pPr algn="just" eaLnBrk="1" fontAlgn="auto" hangingPunct="1">
              <a:lnSpc>
                <a:spcPts val="2520"/>
              </a:lnSpc>
              <a:spcBef>
                <a:spcPts val="0"/>
              </a:spcBef>
              <a:spcAft>
                <a:spcPts val="0"/>
              </a:spcAft>
              <a:defRPr/>
            </a:pPr>
            <a:r>
              <a:rPr lang="en-US" sz="2200" dirty="0">
                <a:latin typeface="Times New Roman"/>
              </a:rPr>
              <a:t> </a:t>
            </a:r>
            <a:r>
              <a:rPr lang="en-US" sz="2200" dirty="0" smtClean="0">
                <a:latin typeface="Times New Roman"/>
              </a:rPr>
              <a:t>2. When </a:t>
            </a:r>
            <a:r>
              <a:rPr lang="en-US" sz="2200" dirty="0">
                <a:latin typeface="Times New Roman"/>
              </a:rPr>
              <a:t>is the collector current maximum?</a:t>
            </a:r>
          </a:p>
          <a:p>
            <a:pPr algn="just" eaLnBrk="1" fontAlgn="auto" hangingPunct="1">
              <a:lnSpc>
                <a:spcPts val="2520"/>
              </a:lnSpc>
              <a:spcBef>
                <a:spcPts val="0"/>
              </a:spcBef>
              <a:spcAft>
                <a:spcPts val="0"/>
              </a:spcAft>
              <a:defRPr/>
            </a:pPr>
            <a:r>
              <a:rPr lang="en-US" sz="2200" dirty="0">
                <a:latin typeface="Times New Roman"/>
              </a:rPr>
              <a:t> </a:t>
            </a:r>
            <a:r>
              <a:rPr lang="en-US" sz="2200" dirty="0" smtClean="0">
                <a:latin typeface="Times New Roman"/>
              </a:rPr>
              <a:t>3. When </a:t>
            </a:r>
            <a:r>
              <a:rPr lang="en-US" sz="2200" dirty="0">
                <a:latin typeface="Times New Roman"/>
              </a:rPr>
              <a:t>is the collector current approximately zero</a:t>
            </a:r>
            <a:r>
              <a:rPr lang="en-US" sz="2200" dirty="0" smtClean="0">
                <a:latin typeface="Times New Roman"/>
              </a:rPr>
              <a:t>?</a:t>
            </a:r>
          </a:p>
          <a:p>
            <a:pPr algn="just">
              <a:lnSpc>
                <a:spcPts val="2525"/>
              </a:lnSpc>
            </a:pPr>
            <a:r>
              <a:rPr lang="en-US" sz="2200" dirty="0" smtClean="0">
                <a:latin typeface="Times New Roman" pitchFamily="18" charset="0"/>
              </a:rPr>
              <a:t>4. Under what condition is VCE =</a:t>
            </a:r>
            <a:r>
              <a:rPr lang="en-US" sz="2200" i="1" dirty="0" smtClean="0">
                <a:latin typeface="Times New Roman" pitchFamily="18" charset="0"/>
              </a:rPr>
              <a:t>VCC</a:t>
            </a:r>
            <a:r>
              <a:rPr lang="en-US" sz="2200" dirty="0" smtClean="0">
                <a:latin typeface="Times New Roman" pitchFamily="18" charset="0"/>
              </a:rPr>
              <a:t>?</a:t>
            </a:r>
          </a:p>
          <a:p>
            <a:pPr algn="just">
              <a:lnSpc>
                <a:spcPts val="2525"/>
              </a:lnSpc>
            </a:pPr>
            <a:r>
              <a:rPr lang="en-US" sz="2200" dirty="0" smtClean="0">
                <a:latin typeface="Times New Roman" pitchFamily="18" charset="0"/>
              </a:rPr>
              <a:t>5. When is VCE minimum?</a:t>
            </a:r>
          </a:p>
          <a:p>
            <a:pPr algn="just">
              <a:lnSpc>
                <a:spcPts val="2525"/>
              </a:lnSpc>
            </a:pPr>
            <a:r>
              <a:rPr lang="en-US" sz="2200" dirty="0" smtClean="0">
                <a:latin typeface="Times New Roman" pitchFamily="18" charset="0"/>
              </a:rPr>
              <a:t>6. What is amplification?</a:t>
            </a:r>
          </a:p>
          <a:p>
            <a:pPr algn="just">
              <a:lnSpc>
                <a:spcPts val="2525"/>
              </a:lnSpc>
            </a:pPr>
            <a:r>
              <a:rPr lang="en-US" sz="2200" dirty="0" smtClean="0">
                <a:latin typeface="Times New Roman" pitchFamily="18" charset="0"/>
              </a:rPr>
              <a:t>7. How is voltage gain defined?</a:t>
            </a:r>
          </a:p>
          <a:p>
            <a:pPr>
              <a:lnSpc>
                <a:spcPts val="2525"/>
              </a:lnSpc>
            </a:pPr>
            <a:r>
              <a:rPr lang="en-US" sz="2200" dirty="0" smtClean="0">
                <a:latin typeface="Times New Roman" pitchFamily="18" charset="0"/>
              </a:rPr>
              <a:t>8. Name two factors that determine the voltage gain of an amplifier.</a:t>
            </a:r>
          </a:p>
          <a:p>
            <a:pPr algn="just" eaLnBrk="1" fontAlgn="auto" hangingPunct="1">
              <a:lnSpc>
                <a:spcPts val="2520"/>
              </a:lnSpc>
              <a:spcBef>
                <a:spcPts val="0"/>
              </a:spcBef>
              <a:spcAft>
                <a:spcPts val="0"/>
              </a:spcAft>
              <a:defRPr/>
            </a:pPr>
            <a:endParaRPr lang="en-US" sz="2200" dirty="0">
              <a:latin typeface="Times New Roman"/>
            </a:endParaRPr>
          </a:p>
        </p:txBody>
      </p:sp>
    </p:spTree>
    <p:extLst>
      <p:ext uri="{BB962C8B-B14F-4D97-AF65-F5344CB8AC3E}">
        <p14:creationId xmlns:p14="http://schemas.microsoft.com/office/powerpoint/2010/main" val="90822688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Subtitle 2"/>
          <p:cNvSpPr txBox="1">
            <a:spLocks/>
          </p:cNvSpPr>
          <p:nvPr/>
        </p:nvSpPr>
        <p:spPr>
          <a:xfrm>
            <a:off x="1104646" y="3817180"/>
            <a:ext cx="5178582" cy="165576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285750" indent="-285750" algn="just">
              <a:buFontTx/>
              <a:buChar char="-"/>
            </a:pPr>
            <a:endParaRPr lang="en-US" sz="1600" dirty="0">
              <a:latin typeface="Times New Roman" panose="02020603050405020304" pitchFamily="18" charset="0"/>
              <a:cs typeface="Times New Roman" panose="02020603050405020304" pitchFamily="18" charset="0"/>
            </a:endParaRPr>
          </a:p>
        </p:txBody>
      </p:sp>
      <p:sp>
        <p:nvSpPr>
          <p:cNvPr id="9" name="TextBox 8"/>
          <p:cNvSpPr txBox="1"/>
          <p:nvPr/>
        </p:nvSpPr>
        <p:spPr>
          <a:xfrm>
            <a:off x="7592048" y="4424926"/>
            <a:ext cx="4376174" cy="1723549"/>
          </a:xfrm>
          <a:prstGeom prst="rect">
            <a:avLst/>
          </a:prstGeom>
          <a:noFill/>
        </p:spPr>
        <p:txBody>
          <a:bodyPr wrap="square" rtlCol="0">
            <a:spAutoFit/>
          </a:bodyPr>
          <a:lstStyle/>
          <a:p>
            <a:r>
              <a:rPr lang="en-US" sz="6600" dirty="0">
                <a:latin typeface="Edwardian Script ITC" panose="030303020407070D0804" pitchFamily="66" charset="0"/>
              </a:rPr>
              <a:t>Thank You !!</a:t>
            </a:r>
          </a:p>
          <a:p>
            <a:pPr algn="ctr"/>
            <a:r>
              <a:rPr lang="en-US" sz="4000" dirty="0">
                <a:latin typeface="Edwardian Script ITC" panose="030303020407070D0804" pitchFamily="66" charset="0"/>
              </a:rPr>
              <a:t> </a:t>
            </a:r>
          </a:p>
        </p:txBody>
      </p:sp>
      <p:sp>
        <p:nvSpPr>
          <p:cNvPr id="8" name="Rectangle 7"/>
          <p:cNvSpPr/>
          <p:nvPr/>
        </p:nvSpPr>
        <p:spPr>
          <a:xfrm>
            <a:off x="9507866" y="6056142"/>
            <a:ext cx="2613761" cy="230832"/>
          </a:xfrm>
          <a:prstGeom prst="rect">
            <a:avLst/>
          </a:prstGeom>
        </p:spPr>
        <p:txBody>
          <a:bodyPr wrap="square">
            <a:spAutoFit/>
          </a:bodyPr>
          <a:lstStyle/>
          <a:p>
            <a:r>
              <a:rPr lang="en-US" sz="900" dirty="0"/>
              <a:t>https://www.youtube.com/@AmelOline/videos</a:t>
            </a:r>
          </a:p>
        </p:txBody>
      </p:sp>
      <p:sp>
        <p:nvSpPr>
          <p:cNvPr id="10" name="Rectangle 9"/>
          <p:cNvSpPr/>
          <p:nvPr/>
        </p:nvSpPr>
        <p:spPr>
          <a:xfrm>
            <a:off x="10344774" y="5917643"/>
            <a:ext cx="1623448" cy="230832"/>
          </a:xfrm>
          <a:prstGeom prst="rect">
            <a:avLst/>
          </a:prstGeom>
        </p:spPr>
        <p:txBody>
          <a:bodyPr wrap="square">
            <a:spAutoFit/>
          </a:bodyPr>
          <a:lstStyle/>
          <a:p>
            <a:r>
              <a:rPr lang="en-US" sz="900" dirty="0"/>
              <a:t>https://github.com/siagianp</a:t>
            </a:r>
          </a:p>
        </p:txBody>
      </p:sp>
      <p:sp>
        <p:nvSpPr>
          <p:cNvPr id="11" name="Rectangle 10"/>
          <p:cNvSpPr/>
          <p:nvPr/>
        </p:nvSpPr>
        <p:spPr>
          <a:xfrm>
            <a:off x="8531473" y="6194642"/>
            <a:ext cx="3667194" cy="230832"/>
          </a:xfrm>
          <a:prstGeom prst="rect">
            <a:avLst/>
          </a:prstGeom>
        </p:spPr>
        <p:txBody>
          <a:bodyPr wrap="square">
            <a:spAutoFit/>
          </a:bodyPr>
          <a:lstStyle/>
          <a:p>
            <a:r>
              <a:rPr lang="en-US" sz="900" dirty="0"/>
              <a:t>https://github.com/amelcharolinesgn2/IoT_simulator-mqtt-NodeRed</a:t>
            </a:r>
          </a:p>
        </p:txBody>
      </p:sp>
      <p:sp>
        <p:nvSpPr>
          <p:cNvPr id="12" name="Rectangle 11"/>
          <p:cNvSpPr/>
          <p:nvPr/>
        </p:nvSpPr>
        <p:spPr>
          <a:xfrm>
            <a:off x="8977163" y="6333141"/>
            <a:ext cx="3204723" cy="230832"/>
          </a:xfrm>
          <a:prstGeom prst="rect">
            <a:avLst/>
          </a:prstGeom>
        </p:spPr>
        <p:txBody>
          <a:bodyPr wrap="none">
            <a:spAutoFit/>
          </a:bodyPr>
          <a:lstStyle/>
          <a:p>
            <a:r>
              <a:rPr lang="en-US" sz="900" dirty="0"/>
              <a:t>https://github.com/amelcharolinesgn2/Cloud-Infrastructures</a:t>
            </a:r>
          </a:p>
        </p:txBody>
      </p:sp>
      <p:sp>
        <p:nvSpPr>
          <p:cNvPr id="13" name="Rectangle 12"/>
          <p:cNvSpPr/>
          <p:nvPr/>
        </p:nvSpPr>
        <p:spPr>
          <a:xfrm>
            <a:off x="8444566" y="6506265"/>
            <a:ext cx="3839513" cy="230832"/>
          </a:xfrm>
          <a:prstGeom prst="rect">
            <a:avLst/>
          </a:prstGeom>
        </p:spPr>
        <p:txBody>
          <a:bodyPr wrap="none">
            <a:spAutoFit/>
          </a:bodyPr>
          <a:lstStyle/>
          <a:p>
            <a:r>
              <a:rPr lang="en-US" sz="900" dirty="0"/>
              <a:t>https://github.com/amelcharolinesgn2/ClouD-Infrastructure-SISKA-2025</a:t>
            </a:r>
          </a:p>
        </p:txBody>
      </p:sp>
      <p:grpSp>
        <p:nvGrpSpPr>
          <p:cNvPr id="15" name="Group 14"/>
          <p:cNvGrpSpPr/>
          <p:nvPr/>
        </p:nvGrpSpPr>
        <p:grpSpPr>
          <a:xfrm>
            <a:off x="54496" y="359621"/>
            <a:ext cx="4804363" cy="2463094"/>
            <a:chOff x="54496" y="359621"/>
            <a:chExt cx="4804363" cy="2463094"/>
          </a:xfrm>
        </p:grpSpPr>
        <p:pic>
          <p:nvPicPr>
            <p:cNvPr id="16" name="Picture 15"/>
            <p:cNvPicPr>
              <a:picLocks noChangeAspect="1"/>
            </p:cNvPicPr>
            <p:nvPr/>
          </p:nvPicPr>
          <p:blipFill>
            <a:blip r:embed="rId3"/>
            <a:stretch>
              <a:fillRect/>
            </a:stretch>
          </p:blipFill>
          <p:spPr>
            <a:xfrm>
              <a:off x="235105" y="1901987"/>
              <a:ext cx="3104181" cy="263526"/>
            </a:xfrm>
            <a:prstGeom prst="rect">
              <a:avLst/>
            </a:prstGeom>
          </p:spPr>
        </p:pic>
        <p:sp>
          <p:nvSpPr>
            <p:cNvPr id="17" name="Title 4">
              <a:extLst>
                <a:ext uri="{FF2B5EF4-FFF2-40B4-BE49-F238E27FC236}">
                  <a16:creationId xmlns:a16="http://schemas.microsoft.com/office/drawing/2014/main" id="{27228BAE-048B-681E-DD8D-BD96B22560E0}"/>
                </a:ext>
              </a:extLst>
            </p:cNvPr>
            <p:cNvSpPr txBox="1">
              <a:spLocks/>
            </p:cNvSpPr>
            <p:nvPr/>
          </p:nvSpPr>
          <p:spPr>
            <a:xfrm>
              <a:off x="54496" y="1922610"/>
              <a:ext cx="4804363" cy="900105"/>
            </a:xfrm>
            <a:prstGeom prst="rect">
              <a:avLst/>
            </a:prstGeom>
          </p:spPr>
          <p:txBody>
            <a:bodyPr vert="horz" lIns="91440" tIns="45720" rIns="91440" bIns="45720" rtlCol="0" anchor="b">
              <a:normAutofit fontScale="9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dirty="0" smtClean="0">
                  <a:solidFill>
                    <a:schemeClr val="accent1">
                      <a:lumMod val="75000"/>
                    </a:schemeClr>
                  </a:solidFill>
                </a:rPr>
                <a:t>Computer </a:t>
              </a:r>
              <a:r>
                <a:rPr lang="en-US" dirty="0" smtClean="0">
                  <a:solidFill>
                    <a:srgbClr val="00B0F0"/>
                  </a:solidFill>
                </a:rPr>
                <a:t>Vision</a:t>
              </a:r>
              <a:endParaRPr lang="en-US" dirty="0">
                <a:solidFill>
                  <a:srgbClr val="00B0F0"/>
                </a:solidFill>
              </a:endParaRPr>
            </a:p>
          </p:txBody>
        </p:sp>
        <p:grpSp>
          <p:nvGrpSpPr>
            <p:cNvPr id="18" name="Group 17">
              <a:extLst>
                <a:ext uri="{FF2B5EF4-FFF2-40B4-BE49-F238E27FC236}">
                  <a16:creationId xmlns:a16="http://schemas.microsoft.com/office/drawing/2014/main" id="{2AABCB87-2ECC-4C03-B5BB-6EE11C8A4485}"/>
                </a:ext>
              </a:extLst>
            </p:cNvPr>
            <p:cNvGrpSpPr/>
            <p:nvPr/>
          </p:nvGrpSpPr>
          <p:grpSpPr>
            <a:xfrm>
              <a:off x="89638" y="359621"/>
              <a:ext cx="3064025" cy="1516520"/>
              <a:chOff x="4853562" y="1589418"/>
              <a:chExt cx="2609520" cy="1291565"/>
            </a:xfrm>
          </p:grpSpPr>
          <p:sp>
            <p:nvSpPr>
              <p:cNvPr id="25" name="Freeform 24">
                <a:extLst>
                  <a:ext uri="{FF2B5EF4-FFF2-40B4-BE49-F238E27FC236}">
                    <a16:creationId xmlns:a16="http://schemas.microsoft.com/office/drawing/2014/main" id="{03546B24-FABC-4B2A-A80F-B03654D56A7D}"/>
                  </a:ext>
                </a:extLst>
              </p:cNvPr>
              <p:cNvSpPr>
                <a:spLocks noChangeAspect="1"/>
              </p:cNvSpPr>
              <p:nvPr/>
            </p:nvSpPr>
            <p:spPr>
              <a:xfrm flipH="1">
                <a:off x="4853562" y="1589418"/>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ko-KR" altLang="en-US" sz="3601">
                  <a:solidFill>
                    <a:schemeClr val="tx1"/>
                  </a:solidFill>
                </a:endParaRPr>
              </a:p>
            </p:txBody>
          </p:sp>
          <p:sp>
            <p:nvSpPr>
              <p:cNvPr id="26" name="Freeform 25">
                <a:extLst>
                  <a:ext uri="{FF2B5EF4-FFF2-40B4-BE49-F238E27FC236}">
                    <a16:creationId xmlns:a16="http://schemas.microsoft.com/office/drawing/2014/main" id="{02E1A011-CDEA-4BBC-B725-C88AF5464891}"/>
                  </a:ext>
                </a:extLst>
              </p:cNvPr>
              <p:cNvSpPr>
                <a:spLocks noChangeAspect="1"/>
              </p:cNvSpPr>
              <p:nvPr/>
            </p:nvSpPr>
            <p:spPr>
              <a:xfrm flipH="1">
                <a:off x="5230834" y="1678285"/>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ko-KR" altLang="en-US" sz="3601" dirty="0">
                  <a:solidFill>
                    <a:schemeClr val="tx1"/>
                  </a:solidFill>
                </a:endParaRPr>
              </a:p>
            </p:txBody>
          </p:sp>
        </p:grpSp>
        <p:grpSp>
          <p:nvGrpSpPr>
            <p:cNvPr id="19" name="Group 18">
              <a:extLst>
                <a:ext uri="{FF2B5EF4-FFF2-40B4-BE49-F238E27FC236}">
                  <a16:creationId xmlns:a16="http://schemas.microsoft.com/office/drawing/2014/main" id="{AB8BC7BC-BF58-402E-9A69-AA9226DE7CAA}"/>
                </a:ext>
              </a:extLst>
            </p:cNvPr>
            <p:cNvGrpSpPr/>
            <p:nvPr/>
          </p:nvGrpSpPr>
          <p:grpSpPr>
            <a:xfrm>
              <a:off x="1356703" y="883096"/>
              <a:ext cx="1334145" cy="620384"/>
              <a:chOff x="7729280" y="2195997"/>
              <a:chExt cx="2143740" cy="996849"/>
            </a:xfrm>
            <a:solidFill>
              <a:schemeClr val="accent6"/>
            </a:solidFill>
          </p:grpSpPr>
          <p:sp>
            <p:nvSpPr>
              <p:cNvPr id="23" name="Freeform: Shape 66">
                <a:extLst>
                  <a:ext uri="{FF2B5EF4-FFF2-40B4-BE49-F238E27FC236}">
                    <a16:creationId xmlns:a16="http://schemas.microsoft.com/office/drawing/2014/main" id="{2A081543-B9FF-49B1-8EEF-ABDF5438EDCD}"/>
                  </a:ext>
                </a:extLst>
              </p:cNvPr>
              <p:cNvSpPr/>
              <p:nvPr/>
            </p:nvSpPr>
            <p:spPr>
              <a:xfrm>
                <a:off x="7729280" y="2195997"/>
                <a:ext cx="2143740" cy="996849"/>
              </a:xfrm>
              <a:custGeom>
                <a:avLst/>
                <a:gdLst/>
                <a:ahLst/>
                <a:cxnLst/>
                <a:rect l="l" t="t" r="r" b="b"/>
                <a:pathLst>
                  <a:path w="1862733" h="866179">
                    <a:moveTo>
                      <a:pt x="794147" y="204787"/>
                    </a:moveTo>
                    <a:cubicBezTo>
                      <a:pt x="745605" y="204787"/>
                      <a:pt x="701637" y="218416"/>
                      <a:pt x="662244" y="245673"/>
                    </a:cubicBezTo>
                    <a:cubicBezTo>
                      <a:pt x="622851" y="272930"/>
                      <a:pt x="594798" y="309240"/>
                      <a:pt x="578086" y="354601"/>
                    </a:cubicBezTo>
                    <a:cubicBezTo>
                      <a:pt x="568536" y="380467"/>
                      <a:pt x="563761" y="406729"/>
                      <a:pt x="563761" y="433387"/>
                    </a:cubicBezTo>
                    <a:cubicBezTo>
                      <a:pt x="563761" y="488299"/>
                      <a:pt x="582064" y="537440"/>
                      <a:pt x="618670" y="580811"/>
                    </a:cubicBezTo>
                    <a:cubicBezTo>
                      <a:pt x="664031" y="634532"/>
                      <a:pt x="722524" y="661392"/>
                      <a:pt x="794147" y="661392"/>
                    </a:cubicBezTo>
                    <a:cubicBezTo>
                      <a:pt x="865771" y="661392"/>
                      <a:pt x="924462" y="634733"/>
                      <a:pt x="970220" y="581415"/>
                    </a:cubicBezTo>
                    <a:cubicBezTo>
                      <a:pt x="1006826" y="538838"/>
                      <a:pt x="1025128" y="489496"/>
                      <a:pt x="1025128" y="433387"/>
                    </a:cubicBezTo>
                    <a:cubicBezTo>
                      <a:pt x="1025128" y="376088"/>
                      <a:pt x="1006826" y="326547"/>
                      <a:pt x="970220" y="284764"/>
                    </a:cubicBezTo>
                    <a:cubicBezTo>
                      <a:pt x="923265" y="231446"/>
                      <a:pt x="864574" y="204787"/>
                      <a:pt x="794147" y="204787"/>
                    </a:cubicBezTo>
                    <a:close/>
                    <a:moveTo>
                      <a:pt x="1304330" y="24408"/>
                    </a:moveTo>
                    <a:lnTo>
                      <a:pt x="1862733" y="24408"/>
                    </a:lnTo>
                    <a:lnTo>
                      <a:pt x="1862733" y="200620"/>
                    </a:lnTo>
                    <a:lnTo>
                      <a:pt x="1687711" y="200620"/>
                    </a:lnTo>
                    <a:lnTo>
                      <a:pt x="1687711" y="837009"/>
                    </a:lnTo>
                    <a:lnTo>
                      <a:pt x="1476375" y="837009"/>
                    </a:lnTo>
                    <a:lnTo>
                      <a:pt x="1476375" y="200620"/>
                    </a:lnTo>
                    <a:lnTo>
                      <a:pt x="1304330" y="200620"/>
                    </a:lnTo>
                    <a:close/>
                    <a:moveTo>
                      <a:pt x="0" y="24408"/>
                    </a:moveTo>
                    <a:lnTo>
                      <a:pt x="211336" y="24408"/>
                    </a:lnTo>
                    <a:lnTo>
                      <a:pt x="211336" y="837009"/>
                    </a:lnTo>
                    <a:lnTo>
                      <a:pt x="0" y="837009"/>
                    </a:lnTo>
                    <a:close/>
                    <a:moveTo>
                      <a:pt x="794147" y="0"/>
                    </a:moveTo>
                    <a:cubicBezTo>
                      <a:pt x="937022" y="0"/>
                      <a:pt x="1050330" y="47426"/>
                      <a:pt x="1134071" y="142280"/>
                    </a:cubicBezTo>
                    <a:cubicBezTo>
                      <a:pt x="1207493" y="225623"/>
                      <a:pt x="1244204" y="322659"/>
                      <a:pt x="1244204" y="433387"/>
                    </a:cubicBezTo>
                    <a:cubicBezTo>
                      <a:pt x="1244204" y="543719"/>
                      <a:pt x="1207493" y="640556"/>
                      <a:pt x="1134071" y="723900"/>
                    </a:cubicBezTo>
                    <a:cubicBezTo>
                      <a:pt x="1050330" y="818753"/>
                      <a:pt x="937022" y="866179"/>
                      <a:pt x="794147" y="866179"/>
                    </a:cubicBezTo>
                    <a:cubicBezTo>
                      <a:pt x="651669" y="866179"/>
                      <a:pt x="538560" y="818753"/>
                      <a:pt x="454819" y="723900"/>
                    </a:cubicBezTo>
                    <a:cubicBezTo>
                      <a:pt x="381397" y="640556"/>
                      <a:pt x="344686" y="543719"/>
                      <a:pt x="344686" y="433387"/>
                    </a:cubicBezTo>
                    <a:cubicBezTo>
                      <a:pt x="344686" y="382984"/>
                      <a:pt x="354608" y="331291"/>
                      <a:pt x="374452" y="278308"/>
                    </a:cubicBezTo>
                    <a:cubicBezTo>
                      <a:pt x="394296" y="225326"/>
                      <a:pt x="420886" y="179983"/>
                      <a:pt x="454224" y="142280"/>
                    </a:cubicBezTo>
                    <a:cubicBezTo>
                      <a:pt x="537964" y="47426"/>
                      <a:pt x="651272" y="0"/>
                      <a:pt x="794147" y="0"/>
                    </a:cubicBezTo>
                    <a:close/>
                  </a:path>
                </a:pathLst>
              </a:cu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dirty="0"/>
              </a:p>
            </p:txBody>
          </p:sp>
          <p:sp>
            <p:nvSpPr>
              <p:cNvPr id="24" name="Freeform: Shape 67">
                <a:extLst>
                  <a:ext uri="{FF2B5EF4-FFF2-40B4-BE49-F238E27FC236}">
                    <a16:creationId xmlns:a16="http://schemas.microsoft.com/office/drawing/2014/main" id="{275D1FAA-C13F-4A6B-BA37-7704CFB7ADCD}"/>
                  </a:ext>
                </a:extLst>
              </p:cNvPr>
              <p:cNvSpPr/>
              <p:nvPr/>
            </p:nvSpPr>
            <p:spPr>
              <a:xfrm>
                <a:off x="8421007" y="2543552"/>
                <a:ext cx="443936" cy="326800"/>
              </a:xfrm>
              <a:custGeom>
                <a:avLst/>
                <a:gdLst>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788485 w 3738080"/>
                  <a:gd name="connsiteY5" fmla="*/ 1841061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624294 w 3738080"/>
                  <a:gd name="connsiteY5" fmla="*/ 1992174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1858846 w 3738080"/>
                  <a:gd name="connsiteY5" fmla="*/ 1306247 h 2751770"/>
                  <a:gd name="connsiteX6" fmla="*/ 2645621 w 3738080"/>
                  <a:gd name="connsiteY6" fmla="*/ 1504218 h 2751770"/>
                  <a:gd name="connsiteX7" fmla="*/ 2795575 w 3738080"/>
                  <a:gd name="connsiteY7" fmla="*/ 1757331 h 2751770"/>
                  <a:gd name="connsiteX8" fmla="*/ 2539052 w 3738080"/>
                  <a:gd name="connsiteY8" fmla="*/ 1841672 h 2751770"/>
                  <a:gd name="connsiteX9" fmla="*/ 1353947 w 3738080"/>
                  <a:gd name="connsiteY9" fmla="*/ 1778974 h 2751770"/>
                  <a:gd name="connsiteX10" fmla="*/ 982333 w 3738080"/>
                  <a:gd name="connsiteY10" fmla="*/ 1780833 h 2751770"/>
                  <a:gd name="connsiteX11" fmla="*/ 966756 w 3738080"/>
                  <a:gd name="connsiteY11" fmla="*/ 1667407 h 2751770"/>
                  <a:gd name="connsiteX12" fmla="*/ 1217540 w 3738080"/>
                  <a:gd name="connsiteY12" fmla="*/ 1445700 h 2751770"/>
                  <a:gd name="connsiteX13" fmla="*/ 1858846 w 3738080"/>
                  <a:gd name="connsiteY13" fmla="*/ 1306247 h 2751770"/>
                  <a:gd name="connsiteX14" fmla="*/ 1828129 w 3738080"/>
                  <a:gd name="connsiteY14" fmla="*/ 650059 h 2751770"/>
                  <a:gd name="connsiteX15" fmla="*/ 3108200 w 3738080"/>
                  <a:gd name="connsiteY15" fmla="*/ 1008980 h 2751770"/>
                  <a:gd name="connsiteX16" fmla="*/ 3258155 w 3738080"/>
                  <a:gd name="connsiteY16" fmla="*/ 1319033 h 2751770"/>
                  <a:gd name="connsiteX17" fmla="*/ 2937692 w 3738080"/>
                  <a:gd name="connsiteY17" fmla="*/ 1304637 h 2751770"/>
                  <a:gd name="connsiteX18" fmla="*/ 763561 w 3738080"/>
                  <a:gd name="connsiteY18" fmla="*/ 1325535 h 2751770"/>
                  <a:gd name="connsiteX19" fmla="*/ 464412 w 3738080"/>
                  <a:gd name="connsiteY19" fmla="*/ 1278813 h 2751770"/>
                  <a:gd name="connsiteX20" fmla="*/ 450482 w 3738080"/>
                  <a:gd name="connsiteY20" fmla="*/ 1202928 h 2751770"/>
                  <a:gd name="connsiteX21" fmla="*/ 622892 w 3738080"/>
                  <a:gd name="connsiteY21" fmla="*/ 1008979 h 2751770"/>
                  <a:gd name="connsiteX22" fmla="*/ 1828129 w 3738080"/>
                  <a:gd name="connsiteY22" fmla="*/ 650059 h 2751770"/>
                  <a:gd name="connsiteX23" fmla="*/ 1764313 w 3738080"/>
                  <a:gd name="connsiteY23" fmla="*/ 591 h 2751770"/>
                  <a:gd name="connsiteX24" fmla="*/ 3559697 w 3738080"/>
                  <a:gd name="connsiteY24" fmla="*/ 547180 h 2751770"/>
                  <a:gd name="connsiteX25" fmla="*/ 3709650 w 3738080"/>
                  <a:gd name="connsiteY25" fmla="*/ 882310 h 2751770"/>
                  <a:gd name="connsiteX26" fmla="*/ 3367875 w 3738080"/>
                  <a:gd name="connsiteY26" fmla="*/ 834477 h 2751770"/>
                  <a:gd name="connsiteX27" fmla="*/ 318417 w 3738080"/>
                  <a:gd name="connsiteY27" fmla="*/ 884635 h 2751770"/>
                  <a:gd name="connsiteX28" fmla="*/ 19267 w 3738080"/>
                  <a:gd name="connsiteY28" fmla="*/ 846272 h 2751770"/>
                  <a:gd name="connsiteX29" fmla="*/ 275 w 3738080"/>
                  <a:gd name="connsiteY29" fmla="*/ 760137 h 2751770"/>
                  <a:gd name="connsiteX30" fmla="*/ 173484 w 3738080"/>
                  <a:gd name="connsiteY30" fmla="*/ 547180 h 2751770"/>
                  <a:gd name="connsiteX31" fmla="*/ 1764313 w 3738080"/>
                  <a:gd name="connsiteY31" fmla="*/ 591 h 2751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738080" h="2751770">
                    <a:moveTo>
                      <a:pt x="1869041" y="1997576"/>
                    </a:moveTo>
                    <a:cubicBezTo>
                      <a:pt x="2077306" y="1997576"/>
                      <a:pt x="2246138" y="2166408"/>
                      <a:pt x="2246138" y="2374673"/>
                    </a:cubicBezTo>
                    <a:cubicBezTo>
                      <a:pt x="2246138" y="2582938"/>
                      <a:pt x="2077306" y="2751770"/>
                      <a:pt x="1869041" y="2751770"/>
                    </a:cubicBezTo>
                    <a:cubicBezTo>
                      <a:pt x="1660776" y="2751770"/>
                      <a:pt x="1491944" y="2582938"/>
                      <a:pt x="1491944" y="2374673"/>
                    </a:cubicBezTo>
                    <a:cubicBezTo>
                      <a:pt x="1491944" y="2166408"/>
                      <a:pt x="1660776" y="1997576"/>
                      <a:pt x="1869041" y="1997576"/>
                    </a:cubicBezTo>
                    <a:close/>
                    <a:moveTo>
                      <a:pt x="1858846" y="1306247"/>
                    </a:moveTo>
                    <a:cubicBezTo>
                      <a:pt x="2165924" y="1301758"/>
                      <a:pt x="2404940" y="1399722"/>
                      <a:pt x="2645621" y="1504218"/>
                    </a:cubicBezTo>
                    <a:cubicBezTo>
                      <a:pt x="2813424" y="1597955"/>
                      <a:pt x="2823993" y="1678797"/>
                      <a:pt x="2795575" y="1757331"/>
                    </a:cubicBezTo>
                    <a:cubicBezTo>
                      <a:pt x="2761471" y="1842158"/>
                      <a:pt x="2685239" y="1908552"/>
                      <a:pt x="2539052" y="1841672"/>
                    </a:cubicBezTo>
                    <a:cubicBezTo>
                      <a:pt x="2347207" y="1684231"/>
                      <a:pt x="1733351" y="1556050"/>
                      <a:pt x="1353947" y="1778974"/>
                    </a:cubicBezTo>
                    <a:cubicBezTo>
                      <a:pt x="1250080" y="1855218"/>
                      <a:pt x="1037749" y="1915097"/>
                      <a:pt x="982333" y="1780833"/>
                    </a:cubicBezTo>
                    <a:cubicBezTo>
                      <a:pt x="968480" y="1736637"/>
                      <a:pt x="963386" y="1699601"/>
                      <a:pt x="966756" y="1667407"/>
                    </a:cubicBezTo>
                    <a:cubicBezTo>
                      <a:pt x="976866" y="1570822"/>
                      <a:pt x="1063141" y="1517802"/>
                      <a:pt x="1217540" y="1445700"/>
                    </a:cubicBezTo>
                    <a:cubicBezTo>
                      <a:pt x="1465851" y="1348519"/>
                      <a:pt x="1674601" y="1308942"/>
                      <a:pt x="1858846" y="1306247"/>
                    </a:cubicBezTo>
                    <a:close/>
                    <a:moveTo>
                      <a:pt x="1828129" y="650059"/>
                    </a:moveTo>
                    <a:cubicBezTo>
                      <a:pt x="2445754" y="646836"/>
                      <a:pt x="2937662" y="894034"/>
                      <a:pt x="3108200" y="1008980"/>
                    </a:cubicBezTo>
                    <a:cubicBezTo>
                      <a:pt x="3228810" y="1075858"/>
                      <a:pt x="3343409" y="1171509"/>
                      <a:pt x="3258155" y="1319033"/>
                    </a:cubicBezTo>
                    <a:cubicBezTo>
                      <a:pt x="3134282" y="1435449"/>
                      <a:pt x="3057301" y="1393031"/>
                      <a:pt x="2937692" y="1304637"/>
                    </a:cubicBezTo>
                    <a:cubicBezTo>
                      <a:pt x="2647778" y="1191783"/>
                      <a:pt x="2008321" y="619142"/>
                      <a:pt x="763561" y="1325535"/>
                    </a:cubicBezTo>
                    <a:cubicBezTo>
                      <a:pt x="621636" y="1425852"/>
                      <a:pt x="511304" y="1376178"/>
                      <a:pt x="464412" y="1278813"/>
                    </a:cubicBezTo>
                    <a:cubicBezTo>
                      <a:pt x="452398" y="1252494"/>
                      <a:pt x="448110" y="1227223"/>
                      <a:pt x="450482" y="1202928"/>
                    </a:cubicBezTo>
                    <a:cubicBezTo>
                      <a:pt x="457599" y="1130049"/>
                      <a:pt x="524660" y="1065987"/>
                      <a:pt x="622892" y="1008979"/>
                    </a:cubicBezTo>
                    <a:cubicBezTo>
                      <a:pt x="1041721" y="744082"/>
                      <a:pt x="1457554" y="651995"/>
                      <a:pt x="1828129" y="650059"/>
                    </a:cubicBezTo>
                    <a:close/>
                    <a:moveTo>
                      <a:pt x="1764313" y="591"/>
                    </a:moveTo>
                    <a:cubicBezTo>
                      <a:pt x="2430887" y="-13278"/>
                      <a:pt x="3056659" y="218017"/>
                      <a:pt x="3559697" y="547180"/>
                    </a:cubicBezTo>
                    <a:cubicBezTo>
                      <a:pt x="3671781" y="597338"/>
                      <a:pt x="3794905" y="759863"/>
                      <a:pt x="3709650" y="882310"/>
                    </a:cubicBezTo>
                    <a:cubicBezTo>
                      <a:pt x="3594303" y="984791"/>
                      <a:pt x="3449118" y="907547"/>
                      <a:pt x="3367875" y="834477"/>
                    </a:cubicBezTo>
                    <a:cubicBezTo>
                      <a:pt x="3193985" y="725799"/>
                      <a:pt x="1920315" y="-235561"/>
                      <a:pt x="318417" y="884635"/>
                    </a:cubicBezTo>
                    <a:cubicBezTo>
                      <a:pt x="189280" y="993311"/>
                      <a:pt x="70419" y="922739"/>
                      <a:pt x="19267" y="846272"/>
                    </a:cubicBezTo>
                    <a:cubicBezTo>
                      <a:pt x="4410" y="817516"/>
                      <a:pt x="-1388" y="788500"/>
                      <a:pt x="275" y="760137"/>
                    </a:cubicBezTo>
                    <a:cubicBezTo>
                      <a:pt x="5260" y="675044"/>
                      <a:pt x="77384" y="595829"/>
                      <a:pt x="173484" y="547180"/>
                    </a:cubicBezTo>
                    <a:cubicBezTo>
                      <a:pt x="702741" y="170471"/>
                      <a:pt x="1245868" y="11376"/>
                      <a:pt x="1764313" y="591"/>
                    </a:cubicBez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sp>
          <p:nvSpPr>
            <p:cNvPr id="20" name="Subtitle 2">
              <a:extLst>
                <a:ext uri="{FF2B5EF4-FFF2-40B4-BE49-F238E27FC236}">
                  <a16:creationId xmlns:a16="http://schemas.microsoft.com/office/drawing/2014/main" id="{53858C97-DA2F-8866-47CC-CDF4077BBF9D}"/>
                </a:ext>
              </a:extLst>
            </p:cNvPr>
            <p:cNvSpPr txBox="1">
              <a:spLocks/>
            </p:cNvSpPr>
            <p:nvPr/>
          </p:nvSpPr>
          <p:spPr>
            <a:xfrm>
              <a:off x="1727403" y="1099395"/>
              <a:ext cx="729275" cy="203382"/>
            </a:xfrm>
            <a:prstGeom prst="rect">
              <a:avLst/>
            </a:prstGeom>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smtClean="0">
                  <a:solidFill>
                    <a:srgbClr val="7030A0"/>
                  </a:solidFill>
                </a:rPr>
                <a:t>PDS</a:t>
              </a:r>
              <a:endParaRPr lang="en-US" sz="1600" dirty="0">
                <a:solidFill>
                  <a:srgbClr val="7030A0"/>
                </a:solidFill>
              </a:endParaRPr>
            </a:p>
          </p:txBody>
        </p:sp>
        <p:sp>
          <p:nvSpPr>
            <p:cNvPr id="21" name="Title 4">
              <a:extLst>
                <a:ext uri="{FF2B5EF4-FFF2-40B4-BE49-F238E27FC236}">
                  <a16:creationId xmlns:a16="http://schemas.microsoft.com/office/drawing/2014/main" id="{27228BAE-048B-681E-DD8D-BD96B22560E0}"/>
                </a:ext>
              </a:extLst>
            </p:cNvPr>
            <p:cNvSpPr txBox="1">
              <a:spLocks/>
            </p:cNvSpPr>
            <p:nvPr/>
          </p:nvSpPr>
          <p:spPr>
            <a:xfrm>
              <a:off x="788714" y="1452073"/>
              <a:ext cx="938689" cy="470538"/>
            </a:xfrm>
            <a:prstGeom prst="rect">
              <a:avLst/>
            </a:prstGeom>
            <a:solidFill>
              <a:schemeClr val="bg1"/>
            </a:solidFill>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2800" dirty="0" smtClean="0">
                  <a:solidFill>
                    <a:schemeClr val="accent5">
                      <a:lumMod val="50000"/>
                    </a:schemeClr>
                  </a:solidFill>
                </a:rPr>
                <a:t>SDN</a:t>
              </a:r>
              <a:endParaRPr lang="en-US" sz="2800" dirty="0">
                <a:solidFill>
                  <a:schemeClr val="accent5">
                    <a:lumMod val="50000"/>
                  </a:schemeClr>
                </a:solidFill>
              </a:endParaRPr>
            </a:p>
          </p:txBody>
        </p:sp>
        <p:sp>
          <p:nvSpPr>
            <p:cNvPr id="22" name="Title 4">
              <a:extLst>
                <a:ext uri="{FF2B5EF4-FFF2-40B4-BE49-F238E27FC236}">
                  <a16:creationId xmlns:a16="http://schemas.microsoft.com/office/drawing/2014/main" id="{27228BAE-048B-681E-DD8D-BD96B22560E0}"/>
                </a:ext>
              </a:extLst>
            </p:cNvPr>
            <p:cNvSpPr txBox="1">
              <a:spLocks/>
            </p:cNvSpPr>
            <p:nvPr/>
          </p:nvSpPr>
          <p:spPr>
            <a:xfrm>
              <a:off x="1449719" y="1352665"/>
              <a:ext cx="928870" cy="581223"/>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2800" dirty="0" smtClean="0">
                  <a:solidFill>
                    <a:schemeClr val="accent1">
                      <a:lumMod val="75000"/>
                    </a:schemeClr>
                  </a:solidFill>
                </a:rPr>
                <a:t>NFV</a:t>
              </a:r>
              <a:endParaRPr lang="en-US" sz="2800" dirty="0">
                <a:solidFill>
                  <a:schemeClr val="accent1">
                    <a:lumMod val="75000"/>
                  </a:schemeClr>
                </a:solidFill>
              </a:endParaRPr>
            </a:p>
          </p:txBody>
        </p:sp>
      </p:grpSp>
    </p:spTree>
    <p:extLst>
      <p:ext uri="{BB962C8B-B14F-4D97-AF65-F5344CB8AC3E}">
        <p14:creationId xmlns:p14="http://schemas.microsoft.com/office/powerpoint/2010/main" val="80013096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23922</TotalTime>
  <Words>778</Words>
  <Application>Microsoft Office PowerPoint</Application>
  <PresentationFormat>Widescreen</PresentationFormat>
  <Paragraphs>47</Paragraphs>
  <Slides>8</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맑은 고딕</vt:lpstr>
      <vt:lpstr>Arial</vt:lpstr>
      <vt:lpstr>Calibri</vt:lpstr>
      <vt:lpstr>Calibri Light</vt:lpstr>
      <vt:lpstr>Edwardian Script ITC</vt:lpstr>
      <vt:lpstr>Times New Roman</vt:lpstr>
      <vt:lpstr>Office Theme</vt:lpstr>
      <vt:lpstr>9.3_The BJT </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Fish Tracking, Counting, and Behaviour Analysis in Digital Aquaculture</dc:title>
  <dc:creator>pds</dc:creator>
  <cp:lastModifiedBy>Gde</cp:lastModifiedBy>
  <cp:revision>83</cp:revision>
  <dcterms:created xsi:type="dcterms:W3CDTF">2024-10-22T07:52:57Z</dcterms:created>
  <dcterms:modified xsi:type="dcterms:W3CDTF">2026-03-25T05:10:38Z</dcterms:modified>
</cp:coreProperties>
</file>