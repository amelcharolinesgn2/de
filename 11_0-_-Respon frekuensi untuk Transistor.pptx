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4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278" r:id="rId21"/>
    <p:sldId id="29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72042" autoAdjust="0"/>
  </p:normalViewPr>
  <p:slideViewPr>
    <p:cSldViewPr snapToGrid="0">
      <p:cViewPr varScale="1">
        <p:scale>
          <a:sx n="59" d="100"/>
          <a:sy n="59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2600" b="1" smtClean="0"/>
            <a:t>11_1. </a:t>
          </a:r>
          <a:r>
            <a:rPr lang="en-US" sz="4400" b="0" i="0" dirty="0" err="1" smtClean="0"/>
            <a:t>Respon</a:t>
          </a:r>
          <a:r>
            <a:rPr lang="en-US" sz="4400" b="0" i="0" dirty="0" smtClean="0"/>
            <a:t> </a:t>
          </a:r>
          <a:r>
            <a:rPr lang="en-US" sz="4400" b="0" i="0" dirty="0" err="1" smtClean="0"/>
            <a:t>Frekuensi</a:t>
          </a:r>
          <a:r>
            <a:rPr lang="en-US" sz="4400" b="0" i="0" dirty="0" smtClean="0"/>
            <a:t> </a:t>
          </a:r>
          <a:r>
            <a:rPr lang="en-US" sz="4400" b="0" i="0" dirty="0" err="1" smtClean="0"/>
            <a:t>Penguat</a:t>
          </a:r>
          <a:r>
            <a:rPr lang="en-US" sz="4400" b="0" i="0" dirty="0" smtClean="0"/>
            <a:t> Transistor</a:t>
          </a:r>
          <a:endParaRPr lang="en-US" sz="44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rtl="0"/>
          <a:r>
            <a:rPr lang="en-US" b="1" dirty="0" smtClean="0"/>
            <a:t>See the next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smtClean="0"/>
            <a:t>11_1. </a:t>
          </a:r>
          <a:r>
            <a:rPr lang="en-US" sz="4400" b="0" i="0" kern="1200" dirty="0" err="1" smtClean="0"/>
            <a:t>Respon</a:t>
          </a:r>
          <a:r>
            <a:rPr lang="en-US" sz="4400" b="0" i="0" kern="1200" dirty="0" smtClean="0"/>
            <a:t> </a:t>
          </a:r>
          <a:r>
            <a:rPr lang="en-US" sz="4400" b="0" i="0" kern="1200" dirty="0" err="1" smtClean="0"/>
            <a:t>Frekuensi</a:t>
          </a:r>
          <a:r>
            <a:rPr lang="en-US" sz="4400" b="0" i="0" kern="1200" dirty="0" smtClean="0"/>
            <a:t> </a:t>
          </a:r>
          <a:r>
            <a:rPr lang="en-US" sz="4400" b="0" i="0" kern="1200" dirty="0" err="1" smtClean="0"/>
            <a:t>Penguat</a:t>
          </a:r>
          <a:r>
            <a:rPr lang="en-US" sz="4400" b="0" i="0" kern="1200" dirty="0" smtClean="0"/>
            <a:t> Transistor</a:t>
          </a:r>
          <a:endParaRPr lang="en-US" sz="4400" kern="1200" dirty="0"/>
        </a:p>
      </dsp:txBody>
      <dsp:txXfrm>
        <a:off x="457199" y="0"/>
        <a:ext cx="8255379" cy="914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7772400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See the next</a:t>
          </a:r>
          <a:endParaRPr lang="en-US" sz="4200" kern="1200" dirty="0"/>
        </a:p>
      </dsp:txBody>
      <dsp:txXfrm>
        <a:off x="457199" y="0"/>
        <a:ext cx="7772400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</a:p>
          <a:p>
            <a:endParaRPr lang="en-US" dirty="0" smtClean="0"/>
          </a:p>
          <a:p>
            <a:r>
              <a:rPr lang="en-US" dirty="0" smtClean="0"/>
              <a:t>https://ocw.mit.edu/ans7870/RES/RES.6-010/MITRES_6-010S13_comchaptrs.pdf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01196-2467-4D0A-B750-F6764188003A}" type="slidenum">
              <a:rPr lang="id-ID" smtClean="0"/>
              <a:pPr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16744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01196-2467-4D0A-B750-F6764188003A}" type="slidenum">
              <a:rPr lang="id-ID" smtClean="0"/>
              <a:pPr/>
              <a:t>16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53778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.png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9.png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11" Type="http://schemas.openxmlformats.org/officeDocument/2006/relationships/image" Target="../media/image26.png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5.wmf"/><Relationship Id="rId4" Type="http://schemas.openxmlformats.org/officeDocument/2006/relationships/image" Target="../media/image22.png"/><Relationship Id="rId9" Type="http://schemas.openxmlformats.org/officeDocument/2006/relationships/oleObject" Target="../embeddings/oleObject1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7.wmf"/><Relationship Id="rId9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0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 txBox="1">
            <a:spLocks/>
          </p:cNvSpPr>
          <p:nvPr/>
        </p:nvSpPr>
        <p:spPr>
          <a:xfrm>
            <a:off x="5038473" y="1264112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4110" y="395322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063476" y="3415832"/>
            <a:ext cx="9208469" cy="933122"/>
            <a:chOff x="2063476" y="3415832"/>
            <a:chExt cx="9208469" cy="933122"/>
          </a:xfrm>
        </p:grpSpPr>
        <p:graphicFrame>
          <p:nvGraphicFramePr>
            <p:cNvPr id="21" name="Diagram 20"/>
            <p:cNvGraphicFramePr/>
            <p:nvPr>
              <p:extLst>
                <p:ext uri="{D42A27DB-BD31-4B8C-83A1-F6EECF244321}">
                  <p14:modId xmlns:p14="http://schemas.microsoft.com/office/powerpoint/2010/main" val="1361679863"/>
                </p:ext>
              </p:extLst>
            </p:nvPr>
          </p:nvGraphicFramePr>
          <p:xfrm>
            <a:off x="2063476" y="3434555"/>
            <a:ext cx="8712579" cy="9143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27" name="Pie 26"/>
            <p:cNvSpPr/>
            <p:nvPr/>
          </p:nvSpPr>
          <p:spPr>
            <a:xfrm rot="10600249">
              <a:off x="10357546" y="3415832"/>
              <a:ext cx="914399" cy="914399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chemeClr val="accent2"/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</p:grp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1158" y="928671"/>
            <a:ext cx="8458200" cy="1470025"/>
          </a:xfrm>
        </p:spPr>
        <p:txBody>
          <a:bodyPr>
            <a:normAutofit fontScale="90000"/>
          </a:bodyPr>
          <a:lstStyle/>
          <a:p>
            <a:r>
              <a:rPr lang="id-ID" dirty="0" smtClean="0"/>
              <a:t>TANGGAPAN FREKUENSI PENGUAT TRANSISTOR 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9719" y="4000504"/>
            <a:ext cx="9538637" cy="2600896"/>
          </a:xfrm>
        </p:spPr>
        <p:txBody>
          <a:bodyPr>
            <a:normAutofit/>
          </a:bodyPr>
          <a:lstStyle/>
          <a:p>
            <a:pPr algn="just"/>
            <a:r>
              <a:rPr lang="id-ID" dirty="0" smtClean="0"/>
              <a:t>Tanggapan </a:t>
            </a:r>
            <a:r>
              <a:rPr lang="id-ID" dirty="0" smtClean="0"/>
              <a:t>Frekuensi Penguat</a:t>
            </a:r>
          </a:p>
          <a:p>
            <a:pPr algn="just">
              <a:buFont typeface="Wingdings" pitchFamily="2" charset="2"/>
              <a:buChar char="q"/>
            </a:pPr>
            <a:r>
              <a:rPr lang="id-ID" dirty="0" smtClean="0"/>
              <a:t> Analisis Frekuensi Rendah</a:t>
            </a:r>
          </a:p>
          <a:p>
            <a:pPr algn="just">
              <a:buFont typeface="Wingdings" pitchFamily="2" charset="2"/>
              <a:buChar char="q"/>
            </a:pPr>
            <a:r>
              <a:rPr lang="id-ID" dirty="0" smtClean="0"/>
              <a:t> Respon Frekuensi rendah</a:t>
            </a:r>
          </a:p>
          <a:p>
            <a:pPr algn="just">
              <a:buFont typeface="Wingdings" pitchFamily="2" charset="2"/>
              <a:buChar char="q"/>
            </a:pPr>
            <a:r>
              <a:rPr lang="id-ID" dirty="0" smtClean="0"/>
              <a:t> Respon Frekuensi Tinggi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33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96" y="714356"/>
            <a:ext cx="8229600" cy="1066800"/>
          </a:xfrm>
        </p:spPr>
        <p:txBody>
          <a:bodyPr/>
          <a:lstStyle/>
          <a:p>
            <a:r>
              <a:rPr lang="en-US" b="1" dirty="0" smtClean="0"/>
              <a:t>1</a:t>
            </a:r>
            <a:r>
              <a:rPr lang="id-ID" b="1" dirty="0" smtClean="0"/>
              <a:t>.1 </a:t>
            </a:r>
            <a:r>
              <a:rPr lang="id-ID" b="1" dirty="0" smtClean="0"/>
              <a:t>Pendahuluan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827" y="1661421"/>
            <a:ext cx="10330543" cy="4717172"/>
          </a:xfrm>
        </p:spPr>
        <p:txBody>
          <a:bodyPr>
            <a:normAutofit/>
          </a:bodyPr>
          <a:lstStyle/>
          <a:p>
            <a:r>
              <a:rPr lang="en-US" dirty="0" smtClean="0"/>
              <a:t>P</a:t>
            </a:r>
            <a:r>
              <a:rPr lang="id-ID" dirty="0" smtClean="0"/>
              <a:t>enguat memiliki respon terhadap </a:t>
            </a:r>
            <a:r>
              <a:rPr lang="en-US" dirty="0" err="1" smtClean="0"/>
              <a:t>perubahan</a:t>
            </a:r>
            <a:r>
              <a:rPr lang="en-US" dirty="0" smtClean="0"/>
              <a:t> </a:t>
            </a:r>
            <a:r>
              <a:rPr lang="en-US" dirty="0" err="1" smtClean="0"/>
              <a:t>frekuensi</a:t>
            </a:r>
            <a:r>
              <a:rPr lang="en-US" dirty="0" smtClean="0"/>
              <a:t> </a:t>
            </a:r>
            <a:r>
              <a:rPr lang="id-ID" dirty="0" smtClean="0"/>
              <a:t>masukannya</a:t>
            </a:r>
            <a:r>
              <a:rPr lang="en-US" dirty="0" smtClean="0"/>
              <a:t> yang </a:t>
            </a:r>
            <a:r>
              <a:rPr lang="en-US" dirty="0" err="1" smtClean="0"/>
              <a:t>dinyatakan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“</a:t>
            </a:r>
            <a:r>
              <a:rPr lang="en-US" i="1" dirty="0" err="1" smtClean="0">
                <a:solidFill>
                  <a:srgbClr val="FF0000"/>
                </a:solidFill>
              </a:rPr>
              <a:t>fungsi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penguatan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terhadap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frek</a:t>
            </a:r>
            <a:r>
              <a:rPr lang="en-US" i="1" dirty="0" smtClean="0">
                <a:solidFill>
                  <a:srgbClr val="FF0000"/>
                </a:solidFill>
              </a:rPr>
              <a:t>. </a:t>
            </a:r>
            <a:r>
              <a:rPr lang="en-US" i="1" dirty="0" err="1" smtClean="0">
                <a:solidFill>
                  <a:srgbClr val="FF0000"/>
                </a:solidFill>
              </a:rPr>
              <a:t>Masukan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penguat</a:t>
            </a:r>
            <a:r>
              <a:rPr lang="en-US" dirty="0" smtClean="0"/>
              <a:t>”.</a:t>
            </a:r>
            <a:endParaRPr lang="id-ID" dirty="0" smtClean="0"/>
          </a:p>
          <a:p>
            <a:pPr>
              <a:buNone/>
            </a:pPr>
            <a:endParaRPr lang="id-ID" dirty="0" smtClean="0"/>
          </a:p>
          <a:p>
            <a:r>
              <a:rPr lang="en-US" b="1" i="1" dirty="0" err="1" smtClean="0"/>
              <a:t>Akibatnya</a:t>
            </a:r>
            <a:r>
              <a:rPr lang="en-US" b="1" i="1" dirty="0" smtClean="0"/>
              <a:t>:</a:t>
            </a:r>
            <a:r>
              <a:rPr lang="id-ID" b="1" i="1" dirty="0" smtClean="0"/>
              <a:t> </a:t>
            </a:r>
            <a:r>
              <a:rPr lang="id-ID" dirty="0" smtClean="0"/>
              <a:t>penguatan </a:t>
            </a:r>
            <a:r>
              <a:rPr lang="en-US" dirty="0" err="1" smtClean="0"/>
              <a:t>mengalami</a:t>
            </a:r>
            <a:r>
              <a:rPr lang="en-US" dirty="0" smtClean="0"/>
              <a:t> </a:t>
            </a:r>
            <a:r>
              <a:rPr lang="en-US" dirty="0" err="1" smtClean="0"/>
              <a:t>perubahan</a:t>
            </a:r>
            <a:r>
              <a:rPr lang="en-US" dirty="0" smtClean="0"/>
              <a:t> (</a:t>
            </a:r>
            <a:r>
              <a:rPr lang="en-US" dirty="0" err="1" smtClean="0"/>
              <a:t>penaikan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penu</a:t>
            </a:r>
            <a:r>
              <a:rPr lang="id-ID" dirty="0" smtClean="0"/>
              <a:t>run</a:t>
            </a:r>
            <a:r>
              <a:rPr lang="en-US" dirty="0" smtClean="0"/>
              <a:t>an)</a:t>
            </a:r>
          </a:p>
          <a:p>
            <a:endParaRPr lang="en-US" dirty="0" smtClean="0"/>
          </a:p>
          <a:p>
            <a:r>
              <a:rPr lang="en-US" dirty="0" err="1" smtClean="0"/>
              <a:t>Perubahan</a:t>
            </a:r>
            <a:r>
              <a:rPr lang="en-US" dirty="0" smtClean="0"/>
              <a:t> </a:t>
            </a:r>
            <a:r>
              <a:rPr lang="en-US" dirty="0" err="1" smtClean="0"/>
              <a:t>penguatan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akibat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perubahan</a:t>
            </a:r>
            <a:r>
              <a:rPr lang="en-US" dirty="0" smtClean="0"/>
              <a:t> input </a:t>
            </a:r>
            <a:r>
              <a:rPr lang="id-ID" dirty="0" smtClean="0"/>
              <a:t>frekuensi</a:t>
            </a:r>
            <a:r>
              <a:rPr lang="en-US" dirty="0" smtClean="0"/>
              <a:t>-</a:t>
            </a:r>
            <a:r>
              <a:rPr lang="en-US" dirty="0" err="1" smtClean="0"/>
              <a:t>nya</a:t>
            </a:r>
            <a:r>
              <a:rPr lang="en-US" dirty="0" smtClean="0"/>
              <a:t> </a:t>
            </a:r>
            <a:r>
              <a:rPr lang="en-US" dirty="0" err="1" smtClean="0"/>
              <a:t>disebut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rgbClr val="0070C0"/>
                </a:solidFill>
              </a:rPr>
              <a:t>“</a:t>
            </a:r>
            <a:r>
              <a:rPr lang="en-US" b="1" dirty="0" err="1" smtClean="0">
                <a:solidFill>
                  <a:srgbClr val="0070C0"/>
                </a:solidFill>
              </a:rPr>
              <a:t>tanggapan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id-ID" b="1" dirty="0" smtClean="0">
                <a:solidFill>
                  <a:srgbClr val="0070C0"/>
                </a:solidFill>
              </a:rPr>
              <a:t>frekuensi</a:t>
            </a:r>
            <a:r>
              <a:rPr lang="en-US" b="1" dirty="0" smtClean="0">
                <a:solidFill>
                  <a:srgbClr val="0070C0"/>
                </a:solidFill>
              </a:rPr>
              <a:t>”</a:t>
            </a:r>
            <a:r>
              <a:rPr lang="id-ID" b="1" dirty="0" smtClean="0"/>
              <a:t>.</a:t>
            </a:r>
          </a:p>
          <a:p>
            <a:pPr>
              <a:buNone/>
            </a:pPr>
            <a:endParaRPr lang="id-ID" b="1" dirty="0" smtClean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9583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96" y="642918"/>
            <a:ext cx="8229600" cy="64294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1</a:t>
            </a:r>
            <a:r>
              <a:rPr lang="id-ID" sz="3200" b="1" dirty="0" smtClean="0"/>
              <a:t>.2 </a:t>
            </a:r>
            <a:r>
              <a:rPr lang="en-US" sz="3200" b="1" dirty="0" err="1"/>
              <a:t>Kurva</a:t>
            </a:r>
            <a:r>
              <a:rPr lang="en-US" sz="3200" b="1" dirty="0"/>
              <a:t> </a:t>
            </a:r>
            <a:r>
              <a:rPr lang="id-ID" sz="3200" b="1" dirty="0"/>
              <a:t>Respon frekuensi</a:t>
            </a:r>
            <a:r>
              <a:rPr lang="en-US" sz="3200" b="1" dirty="0"/>
              <a:t> </a:t>
            </a:r>
            <a:r>
              <a:rPr lang="id-ID" sz="3200" b="1" dirty="0"/>
              <a:t>Penguat</a:t>
            </a:r>
            <a:endParaRPr lang="id-ID" sz="3200" b="1" dirty="0"/>
          </a:p>
        </p:txBody>
      </p:sp>
      <p:pic>
        <p:nvPicPr>
          <p:cNvPr id="4" name="Content Placeholder 3" descr="http://elektronika-dasar.web.id/wp-content/uploads/2012/05/Kurva-Respon-Frekuensi-Penguat-CE-Kopling-Kapasitor.jpg"/>
          <p:cNvPicPr>
            <a:picLocks noGrp="1"/>
          </p:cNvPicPr>
          <p:nvPr>
            <p:ph idx="1"/>
          </p:nvPr>
        </p:nvPicPr>
        <p:blipFill>
          <a:blip r:embed="rId2">
            <a:lum bright="14000" contrast="-30000"/>
          </a:blip>
          <a:srcRect/>
          <a:stretch>
            <a:fillRect/>
          </a:stretch>
        </p:blipFill>
        <p:spPr bwMode="auto">
          <a:xfrm>
            <a:off x="2806137" y="1657657"/>
            <a:ext cx="6522518" cy="32964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2207568" y="5257236"/>
            <a:ext cx="7974628" cy="1386474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/>
          <a:p>
            <a:pPr marL="365760" indent="-256032">
              <a:spcBef>
                <a:spcPts val="300"/>
              </a:spcBef>
              <a:buClr>
                <a:schemeClr val="accent3"/>
              </a:buClr>
              <a:buFont typeface="Wingdings" pitchFamily="2" charset="2"/>
              <a:buChar char="§"/>
              <a:defRPr/>
            </a:pPr>
            <a:r>
              <a:rPr lang="id-ID" sz="2800" dirty="0"/>
              <a:t>Batas frekuensi di f1 &amp; f2 disebut </a:t>
            </a:r>
            <a:r>
              <a:rPr lang="id-ID" sz="2800" b="1" dirty="0"/>
              <a:t>frekuensi cut-off/ </a:t>
            </a:r>
            <a:r>
              <a:rPr lang="en-US" sz="2800" b="1" dirty="0" err="1"/>
              <a:t>setengah</a:t>
            </a:r>
            <a:r>
              <a:rPr lang="en-US" sz="2800" b="1" dirty="0"/>
              <a:t> </a:t>
            </a:r>
            <a:r>
              <a:rPr lang="en-US" sz="2800" b="1" dirty="0" err="1"/>
              <a:t>daya</a:t>
            </a:r>
            <a:r>
              <a:rPr lang="en-US" sz="2800" b="1" dirty="0"/>
              <a:t> </a:t>
            </a:r>
            <a:r>
              <a:rPr lang="en-US" sz="2800" b="1" dirty="0" err="1"/>
              <a:t>maksimum</a:t>
            </a:r>
            <a:endParaRPr lang="en-US" sz="2800" b="1" dirty="0"/>
          </a:p>
          <a:p>
            <a:pPr marL="365760" indent="-256032">
              <a:spcBef>
                <a:spcPts val="300"/>
              </a:spcBef>
              <a:buClr>
                <a:schemeClr val="accent3"/>
              </a:buClr>
              <a:buFont typeface="Wingdings" pitchFamily="2" charset="2"/>
              <a:buChar char="§"/>
              <a:defRPr/>
            </a:pPr>
            <a:endParaRPr lang="id-ID" sz="2800" b="1" dirty="0"/>
          </a:p>
          <a:p>
            <a:pPr marL="365760" indent="-256032">
              <a:spcBef>
                <a:spcPts val="300"/>
              </a:spcBef>
              <a:buClr>
                <a:schemeClr val="accent3"/>
              </a:buClr>
              <a:buFont typeface="Wingdings" pitchFamily="2" charset="2"/>
              <a:buChar char="§"/>
              <a:defRPr/>
            </a:pPr>
            <a:r>
              <a:rPr lang="id-ID" sz="2800" dirty="0"/>
              <a:t> </a:t>
            </a:r>
            <a:r>
              <a:rPr lang="id-ID" sz="2800" b="1" dirty="0"/>
              <a:t>Bw</a:t>
            </a:r>
            <a:r>
              <a:rPr lang="id-ID" sz="2800" dirty="0"/>
              <a:t> </a:t>
            </a:r>
            <a:r>
              <a:rPr lang="id-ID" sz="2800" i="1" dirty="0"/>
              <a:t>= f2 – f1 = f</a:t>
            </a:r>
            <a:r>
              <a:rPr lang="id-ID" sz="2000" i="1" dirty="0"/>
              <a:t>H</a:t>
            </a:r>
            <a:r>
              <a:rPr lang="id-ID" sz="2800" i="1" dirty="0"/>
              <a:t> – F</a:t>
            </a:r>
            <a:r>
              <a:rPr lang="id-ID" sz="2000" i="1" dirty="0"/>
              <a:t>L</a:t>
            </a:r>
            <a:r>
              <a:rPr lang="en-US" sz="2000" i="1" dirty="0"/>
              <a:t>  </a:t>
            </a:r>
            <a:r>
              <a:rPr lang="en-US" sz="2600" b="1" dirty="0"/>
              <a:t>(</a:t>
            </a:r>
            <a:r>
              <a:rPr lang="en-US" sz="2600" b="1" dirty="0" err="1"/>
              <a:t>menghasilkan</a:t>
            </a:r>
            <a:r>
              <a:rPr lang="en-US" sz="2600" b="1" dirty="0"/>
              <a:t> </a:t>
            </a:r>
            <a:r>
              <a:rPr lang="en-US" sz="2600" b="1" dirty="0" err="1"/>
              <a:t>lebar</a:t>
            </a:r>
            <a:r>
              <a:rPr lang="en-US" sz="2600" b="1" dirty="0"/>
              <a:t> pita </a:t>
            </a:r>
            <a:r>
              <a:rPr lang="en-US" sz="2600" b="1" dirty="0" err="1"/>
              <a:t>penguat</a:t>
            </a:r>
            <a:r>
              <a:rPr lang="en-US" sz="2600" b="1" dirty="0"/>
              <a:t>)</a:t>
            </a:r>
            <a:endParaRPr lang="id-ID" sz="4100" b="1" dirty="0"/>
          </a:p>
        </p:txBody>
      </p:sp>
    </p:spTree>
    <p:extLst>
      <p:ext uri="{BB962C8B-B14F-4D97-AF65-F5344CB8AC3E}">
        <p14:creationId xmlns:p14="http://schemas.microsoft.com/office/powerpoint/2010/main" val="404131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186" y="2204864"/>
            <a:ext cx="11315700" cy="429766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id-ID" sz="2400" dirty="0"/>
              <a:t>Penguatan </a:t>
            </a:r>
            <a:r>
              <a:rPr lang="en-US" sz="2400" dirty="0" err="1"/>
              <a:t>maksimum</a:t>
            </a:r>
            <a:r>
              <a:rPr lang="en-US" sz="2400" dirty="0"/>
              <a:t> </a:t>
            </a:r>
            <a:r>
              <a:rPr lang="id-ID" sz="2400" dirty="0"/>
              <a:t>selalu terjadi pada frekuensi tengah.</a:t>
            </a:r>
            <a:endParaRPr lang="en-US" sz="2400" dirty="0"/>
          </a:p>
          <a:p>
            <a:endParaRPr lang="id-ID" sz="2400" dirty="0"/>
          </a:p>
          <a:p>
            <a:r>
              <a:rPr lang="id-ID" sz="2400" dirty="0"/>
              <a:t>Semakin rendah frekuensi, maka penguatan semakin </a:t>
            </a:r>
            <a:r>
              <a:rPr lang="en-US" sz="2400" dirty="0" err="1"/>
              <a:t>bertambah</a:t>
            </a:r>
            <a:r>
              <a:rPr lang="en-US" sz="2400" dirty="0"/>
              <a:t>          </a:t>
            </a:r>
            <a:r>
              <a:rPr lang="id-ID" sz="2400" dirty="0"/>
              <a:t>disebabkan oleh </a:t>
            </a:r>
            <a:r>
              <a:rPr lang="id-ID" sz="2400" dirty="0">
                <a:solidFill>
                  <a:srgbClr val="FF0000"/>
                </a:solidFill>
              </a:rPr>
              <a:t>faktor reaktansi kapasitif yg besar ( Ce, Cs input &amp; Cc output).</a:t>
            </a:r>
            <a:endParaRPr lang="en-US" sz="2400" dirty="0">
              <a:solidFill>
                <a:srgbClr val="FF0000"/>
              </a:solidFill>
            </a:endParaRPr>
          </a:p>
          <a:p>
            <a:endParaRPr lang="id-ID" sz="2400" dirty="0">
              <a:solidFill>
                <a:srgbClr val="FF0000"/>
              </a:solidFill>
            </a:endParaRPr>
          </a:p>
          <a:p>
            <a:r>
              <a:rPr lang="id-ID" sz="2400" dirty="0"/>
              <a:t>Semakin tinggi frekuensi, penguatan semakin menurun</a:t>
            </a:r>
            <a:r>
              <a:rPr lang="en-US" sz="2400" dirty="0"/>
              <a:t>           </a:t>
            </a:r>
            <a:r>
              <a:rPr lang="id-ID" sz="2400" dirty="0"/>
              <a:t>disebabkan adanya </a:t>
            </a:r>
            <a:r>
              <a:rPr lang="en-US" sz="2400" dirty="0"/>
              <a:t>“</a:t>
            </a:r>
            <a:r>
              <a:rPr lang="id-ID" sz="2400" dirty="0">
                <a:solidFill>
                  <a:srgbClr val="00B0F0"/>
                </a:solidFill>
              </a:rPr>
              <a:t>stray kapasitif (kapasitor liar) yg semakin kecil</a:t>
            </a:r>
            <a:r>
              <a:rPr lang="en-US" sz="2400" dirty="0">
                <a:solidFill>
                  <a:srgbClr val="00B0F0"/>
                </a:solidFill>
              </a:rPr>
              <a:t> (</a:t>
            </a:r>
            <a:r>
              <a:rPr lang="en-US" sz="2400" dirty="0" err="1">
                <a:solidFill>
                  <a:srgbClr val="00B0F0"/>
                </a:solidFill>
              </a:rPr>
              <a:t>reaktansi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 err="1">
                <a:solidFill>
                  <a:srgbClr val="00B0F0"/>
                </a:solidFill>
              </a:rPr>
              <a:t>kapasitif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 err="1">
                <a:solidFill>
                  <a:srgbClr val="00B0F0"/>
                </a:solidFill>
              </a:rPr>
              <a:t>kecil</a:t>
            </a:r>
            <a:r>
              <a:rPr lang="en-US" sz="2400" dirty="0">
                <a:solidFill>
                  <a:srgbClr val="00B0F0"/>
                </a:solidFill>
              </a:rPr>
              <a:t>)” </a:t>
            </a:r>
            <a:r>
              <a:rPr lang="en-US" sz="2400" dirty="0"/>
              <a:t>yang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id-ID" sz="2400" dirty="0"/>
              <a:t>dapat membebani penguatan.</a:t>
            </a:r>
            <a:endParaRPr lang="id-ID" sz="2400" dirty="0"/>
          </a:p>
        </p:txBody>
      </p:sp>
      <p:sp>
        <p:nvSpPr>
          <p:cNvPr id="6" name="Right Arrow 5"/>
          <p:cNvSpPr/>
          <p:nvPr/>
        </p:nvSpPr>
        <p:spPr>
          <a:xfrm>
            <a:off x="8843966" y="3239750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59696" y="692696"/>
            <a:ext cx="4896544" cy="10668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err="1"/>
              <a:t>Analisis</a:t>
            </a:r>
            <a:r>
              <a:rPr lang="en-US" sz="3600" b="1" dirty="0"/>
              <a:t> </a:t>
            </a:r>
            <a:r>
              <a:rPr lang="en-US" sz="3600" b="1" dirty="0" err="1"/>
              <a:t>Kurva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id-ID" sz="3200" b="1" dirty="0">
                <a:solidFill>
                  <a:srgbClr val="C00000"/>
                </a:solidFill>
              </a:rPr>
              <a:t>Penguatan</a:t>
            </a:r>
            <a:r>
              <a:rPr lang="id-ID" sz="3600" b="1" dirty="0"/>
              <a:t> Vs </a:t>
            </a:r>
            <a:r>
              <a:rPr lang="id-ID" sz="3200" b="1" dirty="0">
                <a:solidFill>
                  <a:srgbClr val="0070C0"/>
                </a:solidFill>
              </a:rPr>
              <a:t>Frekuensi</a:t>
            </a:r>
            <a:endParaRPr lang="id-ID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66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19536" y="1412776"/>
                <a:ext cx="8572560" cy="4585696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r>
                  <a:rPr lang="id-ID" sz="2400" dirty="0"/>
                  <a:t>Nilai penguatan di titik f1 dan f2 adalah </a:t>
                </a:r>
                <a:r>
                  <a:rPr lang="id-ID" sz="2400" dirty="0">
                    <a:solidFill>
                      <a:srgbClr val="FF0000"/>
                    </a:solidFill>
                  </a:rPr>
                  <a:t>sebesar setengah daya maksimal keluaran pada frekuensi menengahnya </a:t>
                </a:r>
                <a:r>
                  <a:rPr lang="id-ID" sz="2400" dirty="0"/>
                  <a:t>atau sebesar </a:t>
                </a:r>
                <a:r>
                  <a:rPr lang="en-US" sz="2400" dirty="0"/>
                  <a:t>:</a:t>
                </a:r>
              </a:p>
              <a:p>
                <a:pPr marL="109728" indent="0">
                  <a:buNone/>
                </a:pPr>
                <a:endParaRPr lang="en-US" dirty="0" smtClean="0"/>
              </a:p>
              <a:p>
                <a:pPr marL="109728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𝐶𝑢𝑡</m:t>
                      </m:r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𝑜𝑓𝑓</m:t>
                      </m:r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=0,707 </m:t>
                      </m:r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𝑚𝑖𝑑</m:t>
                          </m:r>
                          <m: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id-ID" sz="2400" dirty="0"/>
                  <a:t>Dalam sistem komunikasi, audio, video, satuan penguatan ini dikonversi ke dalam satuan decibel (dB), besarnya:</a:t>
                </a:r>
              </a:p>
              <a:p>
                <a:pPr>
                  <a:buNone/>
                </a:pPr>
                <a:endParaRPr lang="id-ID" dirty="0" smtClean="0"/>
              </a:p>
              <a:p>
                <a:pPr algn="ctr">
                  <a:buNone/>
                </a:pPr>
                <a:r>
                  <a:rPr lang="id-ID" sz="2400" b="1" dirty="0"/>
                  <a:t>    </a:t>
                </a:r>
                <a:r>
                  <a:rPr lang="id-ID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Av/Av</a:t>
                </a:r>
                <a:r>
                  <a:rPr lang="id-ID" sz="16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mid</a:t>
                </a:r>
                <a:r>
                  <a:rPr lang="id-ID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(dB) = 20 log (Av/Av</a:t>
                </a:r>
                <a:r>
                  <a:rPr lang="id-ID" sz="16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mid </a:t>
                </a:r>
                <a:r>
                  <a:rPr lang="id-ID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)</a:t>
                </a:r>
              </a:p>
              <a:p>
                <a:pPr>
                  <a:buNone/>
                </a:pPr>
                <a:endParaRPr lang="id-ID" b="1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536" y="1412776"/>
                <a:ext cx="8572560" cy="4585696"/>
              </a:xfrm>
              <a:blipFill>
                <a:blip r:embed="rId2"/>
                <a:stretch>
                  <a:fillRect l="-923" t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12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8282" y="500042"/>
            <a:ext cx="8643998" cy="10668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1</a:t>
            </a:r>
            <a:r>
              <a:rPr lang="id-ID" sz="2800" b="1" dirty="0" smtClean="0"/>
              <a:t>.3 </a:t>
            </a:r>
            <a:r>
              <a:rPr lang="id-ID" sz="2800" b="1" dirty="0"/>
              <a:t>Analisis </a:t>
            </a:r>
            <a:r>
              <a:rPr lang="en-US" sz="2800" b="1" dirty="0" err="1"/>
              <a:t>Respon</a:t>
            </a:r>
            <a:r>
              <a:rPr lang="en-US" sz="2800" b="1" dirty="0"/>
              <a:t> </a:t>
            </a:r>
            <a:r>
              <a:rPr lang="en-US" sz="2800" b="1" dirty="0" err="1"/>
              <a:t>Penguat</a:t>
            </a:r>
            <a:r>
              <a:rPr lang="en-US" sz="2800" b="1" dirty="0"/>
              <a:t> </a:t>
            </a:r>
            <a:r>
              <a:rPr lang="en-US" sz="2800" b="1" dirty="0" err="1"/>
              <a:t>pada</a:t>
            </a:r>
            <a:r>
              <a:rPr lang="en-US" sz="2800" b="1" dirty="0"/>
              <a:t> </a:t>
            </a:r>
            <a:r>
              <a:rPr lang="en-US" sz="2800" b="1" dirty="0" err="1"/>
              <a:t>Frekuensi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> </a:t>
            </a:r>
            <a:r>
              <a:rPr lang="en-US" sz="2800" b="1" dirty="0"/>
              <a:t>     </a:t>
            </a:r>
            <a:r>
              <a:rPr lang="en-US" sz="2800" b="1" dirty="0" err="1"/>
              <a:t>Rendah</a:t>
            </a:r>
            <a:r>
              <a:rPr lang="en-US" sz="2800" b="1" dirty="0"/>
              <a:t> (</a:t>
            </a:r>
            <a:r>
              <a:rPr lang="en-US" sz="2800" b="1" i="1" dirty="0"/>
              <a:t>Low Frequency</a:t>
            </a:r>
            <a:r>
              <a:rPr lang="en-US" sz="2800" b="1" dirty="0"/>
              <a:t>)</a:t>
            </a:r>
            <a:endParaRPr lang="id-ID" sz="28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24688" y="1803456"/>
            <a:ext cx="6031552" cy="536634"/>
          </a:xfrm>
        </p:spPr>
        <p:txBody>
          <a:bodyPr>
            <a:normAutofit/>
          </a:bodyPr>
          <a:lstStyle/>
          <a:p>
            <a:r>
              <a:rPr lang="en-US" sz="2400" dirty="0" err="1"/>
              <a:t>Sisi</a:t>
            </a:r>
            <a:r>
              <a:rPr lang="id-ID" sz="2400" dirty="0"/>
              <a:t> input (Cs):</a:t>
            </a:r>
            <a:endParaRPr lang="id-ID" sz="2400" dirty="0"/>
          </a:p>
        </p:txBody>
      </p:sp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10116" y="2586510"/>
            <a:ext cx="5857884" cy="4117325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5125" name="Object 5"/>
          <p:cNvGraphicFramePr>
            <a:graphicFrameLocks noChangeAspect="1"/>
          </p:cNvGraphicFramePr>
          <p:nvPr>
            <p:extLst/>
          </p:nvPr>
        </p:nvGraphicFramePr>
        <p:xfrm>
          <a:off x="2695964" y="2526762"/>
          <a:ext cx="2679956" cy="902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4" imgW="1282680" imgH="431640" progId="Equation.3">
                  <p:embed/>
                </p:oleObj>
              </mc:Choice>
              <mc:Fallback>
                <p:oleObj name="Equation" r:id="rId4" imgW="1282680" imgH="431640" progId="Equation.3">
                  <p:embed/>
                  <p:pic>
                    <p:nvPicPr>
                      <p:cNvPr id="5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964" y="2526762"/>
                        <a:ext cx="2679956" cy="90223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tx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>
            <p:extLst/>
          </p:nvPr>
        </p:nvGraphicFramePr>
        <p:xfrm>
          <a:off x="2495600" y="4071943"/>
          <a:ext cx="2205458" cy="362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6" imgW="1257120" imgH="228600" progId="Equation.3">
                  <p:embed/>
                </p:oleObj>
              </mc:Choice>
              <mc:Fallback>
                <p:oleObj name="Equation" r:id="rId6" imgW="1257120" imgH="228600" progId="Equation.3">
                  <p:embed/>
                  <p:pic>
                    <p:nvPicPr>
                      <p:cNvPr id="51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4071943"/>
                        <a:ext cx="2205458" cy="36227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70C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2500298" y="3528956"/>
            <a:ext cx="1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2501342" y="4577252"/>
            <a:ext cx="1524000" cy="40011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b="1" dirty="0">
                <a:latin typeface="Times New Roman" pitchFamily="18" charset="0"/>
              </a:rPr>
              <a:t>hie = </a:t>
            </a:r>
            <a:r>
              <a:rPr lang="el-GR" sz="2000" b="1" dirty="0">
                <a:latin typeface="Times New Roman" pitchFamily="18" charset="0"/>
              </a:rPr>
              <a:t>β</a:t>
            </a:r>
            <a:r>
              <a:rPr lang="id-ID" sz="2000" b="1" dirty="0">
                <a:latin typeface="Times New Roman" pitchFamily="18" charset="0"/>
              </a:rPr>
              <a:t>re</a:t>
            </a:r>
            <a:endParaRPr lang="en-US" sz="2000" b="1" dirty="0">
              <a:latin typeface="Times New Roman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087888" y="3528957"/>
            <a:ext cx="908070" cy="9052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35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5576" y="995618"/>
            <a:ext cx="6941430" cy="857256"/>
          </a:xfrm>
        </p:spPr>
        <p:txBody>
          <a:bodyPr>
            <a:normAutofit/>
          </a:bodyPr>
          <a:lstStyle/>
          <a:p>
            <a:r>
              <a:rPr lang="en-US" sz="2400" dirty="0" err="1"/>
              <a:t>Sisi</a:t>
            </a:r>
            <a:r>
              <a:rPr lang="en-US" sz="2400" dirty="0"/>
              <a:t> </a:t>
            </a:r>
            <a:r>
              <a:rPr lang="id-ID" sz="2400" dirty="0"/>
              <a:t>ouput (Cc):</a:t>
            </a:r>
            <a:endParaRPr lang="id-ID" sz="2400" dirty="0"/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83832" y="2459634"/>
            <a:ext cx="5889836" cy="4139783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6146" name="Object 2"/>
          <p:cNvGraphicFramePr>
            <a:graphicFrameLocks noChangeAspect="1"/>
          </p:cNvGraphicFramePr>
          <p:nvPr>
            <p:extLst/>
          </p:nvPr>
        </p:nvGraphicFramePr>
        <p:xfrm>
          <a:off x="2567608" y="1952940"/>
          <a:ext cx="2820612" cy="809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4" imgW="1549080" imgH="444240" progId="Equation.3">
                  <p:embed/>
                </p:oleObj>
              </mc:Choice>
              <mc:Fallback>
                <p:oleObj name="Equation" r:id="rId4" imgW="1549080" imgH="444240" progId="Equation.3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1952940"/>
                        <a:ext cx="2820612" cy="8096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tx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2510420" y="2962693"/>
            <a:ext cx="12754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>
            <p:extLst/>
          </p:nvPr>
        </p:nvGraphicFramePr>
        <p:xfrm>
          <a:off x="2567609" y="3610058"/>
          <a:ext cx="1428207" cy="35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6" imgW="901440" imgH="228600" progId="Equation.3">
                  <p:embed/>
                </p:oleObj>
              </mc:Choice>
              <mc:Fallback>
                <p:oleObj name="Equation" r:id="rId6" imgW="901440" imgH="228600" progId="Equation.3">
                  <p:embed/>
                  <p:pic>
                    <p:nvPicPr>
                      <p:cNvPr id="61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9" y="3610058"/>
                        <a:ext cx="1428207" cy="35796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00B0F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5447928" y="2762560"/>
            <a:ext cx="2952328" cy="102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01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772461"/>
            <a:ext cx="8229600" cy="608072"/>
          </a:xfrm>
        </p:spPr>
        <p:txBody>
          <a:bodyPr>
            <a:normAutofit/>
          </a:bodyPr>
          <a:lstStyle/>
          <a:p>
            <a:r>
              <a:rPr lang="en-US" dirty="0" smtClean="0"/>
              <a:t>S</a:t>
            </a:r>
            <a:r>
              <a:rPr lang="id-ID" dirty="0" smtClean="0"/>
              <a:t>isi emiter (Ce: </a:t>
            </a:r>
            <a:r>
              <a:rPr lang="id-ID" i="1" dirty="0" smtClean="0"/>
              <a:t>Capasitor bypass</a:t>
            </a:r>
            <a:r>
              <a:rPr lang="id-ID" dirty="0" smtClean="0"/>
              <a:t>):</a:t>
            </a:r>
            <a:endParaRPr lang="id-ID" dirty="0"/>
          </a:p>
        </p:txBody>
      </p:sp>
      <p:pic>
        <p:nvPicPr>
          <p:cNvPr id="4" name="Picture 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0580" y="2376504"/>
            <a:ext cx="5664577" cy="3981455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6" name="Object 10"/>
          <p:cNvGraphicFramePr>
            <a:graphicFrameLocks noChangeAspect="1"/>
          </p:cNvGraphicFramePr>
          <p:nvPr>
            <p:extLst/>
          </p:nvPr>
        </p:nvGraphicFramePr>
        <p:xfrm>
          <a:off x="3043925" y="1546484"/>
          <a:ext cx="2071702" cy="869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4" imgW="1054080" imgH="444240" progId="Equation.3">
                  <p:embed/>
                </p:oleObj>
              </mc:Choice>
              <mc:Fallback>
                <p:oleObj name="Equation" r:id="rId4" imgW="1054080" imgH="444240" progId="Equation.3">
                  <p:embed/>
                  <p:pic>
                    <p:nvPicPr>
                      <p:cNvPr id="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925" y="1546484"/>
                        <a:ext cx="2071702" cy="86968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tx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2333526" y="2664821"/>
            <a:ext cx="1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>
            <p:extLst/>
          </p:nvPr>
        </p:nvGraphicFramePr>
        <p:xfrm>
          <a:off x="2375942" y="3186169"/>
          <a:ext cx="18478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6" imgW="1384200" imgH="431640" progId="Equation.3">
                  <p:embed/>
                </p:oleObj>
              </mc:Choice>
              <mc:Fallback>
                <p:oleObj name="Equation" r:id="rId6" imgW="1384200" imgH="431640" progId="Equation.3">
                  <p:embed/>
                  <p:pic>
                    <p:nvPicPr>
                      <p:cNvPr id="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942" y="3186169"/>
                        <a:ext cx="1847850" cy="57626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B0F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>
            <p:extLst/>
          </p:nvPr>
        </p:nvGraphicFramePr>
        <p:xfrm>
          <a:off x="2333526" y="4004906"/>
          <a:ext cx="17462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8" imgW="1244520" imgH="228600" progId="Equation.3">
                  <p:embed/>
                </p:oleObj>
              </mc:Choice>
              <mc:Fallback>
                <p:oleObj name="Equation" r:id="rId8" imgW="1244520" imgH="228600" progId="Equation.3">
                  <p:embed/>
                  <p:pic>
                    <p:nvPicPr>
                      <p:cNvPr id="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526" y="4004906"/>
                        <a:ext cx="174625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4274588" y="3274244"/>
            <a:ext cx="276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;</a:t>
            </a:r>
            <a:endParaRPr lang="en-US" sz="2000" dirty="0">
              <a:latin typeface="Times New Roman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015880" y="2492896"/>
            <a:ext cx="3240360" cy="2952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80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3592" y="1484784"/>
            <a:ext cx="7200800" cy="642926"/>
          </a:xfrm>
        </p:spPr>
        <p:txBody>
          <a:bodyPr>
            <a:noAutofit/>
          </a:bodyPr>
          <a:lstStyle/>
          <a:p>
            <a:r>
              <a:rPr lang="id-ID" sz="2800" dirty="0"/>
              <a:t>Kesimpulan </a:t>
            </a:r>
            <a:r>
              <a:rPr lang="en-US" sz="2800" dirty="0"/>
              <a:t>(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adanya</a:t>
            </a:r>
            <a:r>
              <a:rPr lang="en-US" sz="2800" dirty="0"/>
              <a:t> </a:t>
            </a:r>
            <a:r>
              <a:rPr lang="en-US" sz="2800" dirty="0" err="1"/>
              <a:t>pemasangan</a:t>
            </a:r>
            <a:r>
              <a:rPr lang="en-US" sz="2800" dirty="0"/>
              <a:t> </a:t>
            </a:r>
            <a:r>
              <a:rPr lang="en-US" sz="2800" dirty="0" err="1"/>
              <a:t>kapasitor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penguat</a:t>
            </a:r>
            <a:r>
              <a:rPr lang="en-US" sz="2800" dirty="0"/>
              <a:t> BJT)</a:t>
            </a:r>
            <a:r>
              <a:rPr lang="id-ID" sz="2800" dirty="0"/>
              <a:t>:</a:t>
            </a:r>
            <a:endParaRPr lang="id-ID" sz="2800" dirty="0"/>
          </a:p>
        </p:txBody>
      </p:sp>
      <p:sp>
        <p:nvSpPr>
          <p:cNvPr id="4" name="Text Box 11"/>
          <p:cNvSpPr txBox="1">
            <a:spLocks noGrp="1" noChangeArrowheads="1"/>
          </p:cNvSpPr>
          <p:nvPr>
            <p:ph idx="1"/>
          </p:nvPr>
        </p:nvSpPr>
        <p:spPr bwMode="auto">
          <a:xfrm>
            <a:off x="2135560" y="2780928"/>
            <a:ext cx="8115328" cy="2048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id-ID" altLang="en-US" b="1" dirty="0" smtClean="0">
                <a:latin typeface="Times New Roman" pitchFamily="18" charset="0"/>
              </a:rPr>
              <a:t>   </a:t>
            </a:r>
            <a:r>
              <a:rPr lang="id-ID" altLang="en-US" b="1" dirty="0" smtClean="0">
                <a:solidFill>
                  <a:srgbClr val="0070C0"/>
                </a:solidFill>
                <a:latin typeface="Times New Roman" pitchFamily="18" charset="0"/>
              </a:rPr>
              <a:t>Kurva respon 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f</a:t>
            </a:r>
            <a:r>
              <a:rPr lang="id-ID" altLang="en-US" b="1" dirty="0" smtClean="0">
                <a:solidFill>
                  <a:srgbClr val="0070C0"/>
                </a:solidFill>
                <a:latin typeface="Times New Roman" pitchFamily="18" charset="0"/>
              </a:rPr>
              <a:t>rekuensi (</a:t>
            </a:r>
            <a:r>
              <a:rPr lang="en-US" altLang="en-US" b="1" i="1" dirty="0" smtClean="0">
                <a:solidFill>
                  <a:srgbClr val="0070C0"/>
                </a:solidFill>
                <a:latin typeface="Times New Roman" pitchFamily="18" charset="0"/>
              </a:rPr>
              <a:t>Bode plot</a:t>
            </a:r>
            <a:r>
              <a:rPr lang="id-ID" altLang="en-US" b="1" dirty="0" smtClean="0">
                <a:solidFill>
                  <a:srgbClr val="0070C0"/>
                </a:solidFill>
                <a:latin typeface="Times New Roman" pitchFamily="18" charset="0"/>
              </a:rPr>
              <a:t>) menujuk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k</a:t>
            </a:r>
            <a:r>
              <a:rPr lang="id-ID" altLang="en-US" b="1" dirty="0" smtClean="0">
                <a:solidFill>
                  <a:srgbClr val="0070C0"/>
                </a:solidFill>
                <a:latin typeface="Times New Roman" pitchFamily="18" charset="0"/>
              </a:rPr>
              <a:t>an bahwa 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“</a:t>
            </a:r>
            <a:r>
              <a:rPr lang="id-ID" altLang="en-US" b="1" i="1" dirty="0" smtClean="0">
                <a:solidFill>
                  <a:srgbClr val="0070C0"/>
                </a:solidFill>
                <a:latin typeface="Times New Roman" pitchFamily="18" charset="0"/>
              </a:rPr>
              <a:t>antar</a:t>
            </a:r>
            <a:r>
              <a:rPr lang="en-US" altLang="en-US" b="1" i="1" dirty="0" smtClean="0">
                <a:solidFill>
                  <a:srgbClr val="0070C0"/>
                </a:solidFill>
                <a:latin typeface="Times New Roman" pitchFamily="18" charset="0"/>
              </a:rPr>
              <a:t>a</a:t>
            </a:r>
            <a:r>
              <a:rPr lang="id-ID" altLang="en-US" b="1" i="1" dirty="0" smtClean="0">
                <a:solidFill>
                  <a:srgbClr val="0070C0"/>
                </a:solidFill>
                <a:latin typeface="Times New Roman" pitchFamily="18" charset="0"/>
              </a:rPr>
              <a:t> kapasitor yang terpasang memiliki pengaruh berbeda terhadap hasil frekuensi cut off-nya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”</a:t>
            </a:r>
            <a:r>
              <a:rPr lang="id-ID" altLang="en-US" b="1" dirty="0" smtClean="0">
                <a:solidFill>
                  <a:srgbClr val="0070C0"/>
                </a:solidFill>
                <a:latin typeface="Times New Roman" pitchFamily="18" charset="0"/>
              </a:rPr>
              <a:t>.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 </a:t>
            </a:r>
            <a:endParaRPr lang="en-US" altLang="en-US" sz="3200" b="1" dirty="0">
              <a:solidFill>
                <a:srgbClr val="0070C0"/>
              </a:solidFill>
              <a:latin typeface="Times New Roman" pitchFamily="18" charset="0"/>
            </a:endParaRPr>
          </a:p>
          <a:p>
            <a:pPr>
              <a:buNone/>
            </a:pPr>
            <a:endParaRPr lang="en-US" altLang="en-US" sz="20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71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341784"/>
          </a:xfrm>
        </p:spPr>
        <p:txBody>
          <a:bodyPr>
            <a:normAutofit fontScale="90000"/>
          </a:bodyPr>
          <a:lstStyle/>
          <a:p>
            <a:r>
              <a:rPr lang="en-US" sz="2800" dirty="0" err="1"/>
              <a:t>Tugas</a:t>
            </a:r>
            <a:r>
              <a:rPr lang="en-US" sz="2800" dirty="0"/>
              <a:t> </a:t>
            </a:r>
            <a:r>
              <a:rPr lang="en-US" sz="2800" dirty="0" err="1"/>
              <a:t>Soal</a:t>
            </a:r>
            <a:r>
              <a:rPr lang="en-US" sz="2800" dirty="0"/>
              <a:t> 1: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628800"/>
            <a:ext cx="4896544" cy="50405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1800" dirty="0" err="1"/>
              <a:t>Perhatikan</a:t>
            </a:r>
            <a:r>
              <a:rPr lang="en-US" sz="1800" dirty="0"/>
              <a:t> </a:t>
            </a:r>
            <a:r>
              <a:rPr lang="en-US" sz="1800" dirty="0" err="1"/>
              <a:t>rangkaian</a:t>
            </a:r>
            <a:r>
              <a:rPr lang="en-US" sz="1800" dirty="0"/>
              <a:t> </a:t>
            </a:r>
            <a:r>
              <a:rPr lang="en-US" sz="1800" dirty="0" err="1"/>
              <a:t>penguat</a:t>
            </a:r>
            <a:r>
              <a:rPr lang="en-US" sz="1800" dirty="0"/>
              <a:t> BJT </a:t>
            </a:r>
            <a:r>
              <a:rPr lang="en-US" sz="1800" dirty="0" err="1"/>
              <a:t>berikut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: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2177114"/>
            <a:ext cx="4320480" cy="28717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799" y="2794020"/>
            <a:ext cx="4474840" cy="127223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5735960" y="2351721"/>
            <a:ext cx="3672408" cy="44629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None/>
            </a:pPr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n-US" sz="1600" dirty="0" err="1"/>
              <a:t>diketahui</a:t>
            </a:r>
            <a:r>
              <a:rPr lang="en-US" sz="1600" dirty="0"/>
              <a:t> parameter </a:t>
            </a:r>
            <a:r>
              <a:rPr lang="en-US" sz="1600" dirty="0" err="1"/>
              <a:t>penguat</a:t>
            </a:r>
            <a:r>
              <a:rPr lang="en-US" sz="1600" dirty="0"/>
              <a:t> </a:t>
            </a:r>
            <a:r>
              <a:rPr lang="en-US" sz="1600" dirty="0" err="1"/>
              <a:t>sbb</a:t>
            </a:r>
            <a:r>
              <a:rPr lang="en-US" sz="1600" dirty="0"/>
              <a:t>:</a:t>
            </a:r>
            <a:endParaRPr lang="en-US" sz="16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498266" y="4256526"/>
            <a:ext cx="5169735" cy="165929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None/>
            </a:pPr>
            <a:r>
              <a:rPr lang="en-US" sz="1600" dirty="0" err="1"/>
              <a:t>Tentukan</a:t>
            </a:r>
            <a:r>
              <a:rPr lang="en-US" sz="1600" dirty="0"/>
              <a:t> </a:t>
            </a:r>
            <a:r>
              <a:rPr lang="en-US" sz="1600" b="1" dirty="0" err="1"/>
              <a:t>frekuensi</a:t>
            </a:r>
            <a:r>
              <a:rPr lang="en-US" sz="1600" b="1" dirty="0"/>
              <a:t> cut-off  </a:t>
            </a:r>
            <a:r>
              <a:rPr lang="en-US" sz="1600" dirty="0" err="1"/>
              <a:t>frekuensi</a:t>
            </a:r>
            <a:r>
              <a:rPr lang="en-US" sz="1600" dirty="0"/>
              <a:t> </a:t>
            </a:r>
            <a:r>
              <a:rPr lang="en-US" sz="1600" dirty="0" err="1"/>
              <a:t>rendahnya</a:t>
            </a:r>
            <a:r>
              <a:rPr lang="en-US" sz="1600" dirty="0"/>
              <a:t> </a:t>
            </a:r>
            <a:r>
              <a:rPr lang="en-US" sz="1600" dirty="0" err="1"/>
              <a:t>saat</a:t>
            </a:r>
            <a:r>
              <a:rPr lang="en-US" sz="1600" dirty="0"/>
              <a:t>:</a:t>
            </a:r>
          </a:p>
          <a:p>
            <a:pPr marL="452628" indent="-342900">
              <a:buFont typeface="Georgia"/>
              <a:buAutoNum type="alphaLcPeriod"/>
            </a:pP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sisi</a:t>
            </a:r>
            <a:r>
              <a:rPr lang="en-US" sz="1600" dirty="0"/>
              <a:t> input-</a:t>
            </a:r>
            <a:r>
              <a:rPr lang="en-US" sz="1600" dirty="0" err="1"/>
              <a:t>nya</a:t>
            </a:r>
            <a:r>
              <a:rPr lang="en-US" sz="1600" dirty="0"/>
              <a:t> !</a:t>
            </a:r>
          </a:p>
          <a:p>
            <a:pPr marL="452628" indent="-342900">
              <a:buFont typeface="Georgia"/>
              <a:buAutoNum type="alphaLcPeriod"/>
            </a:pP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sisi</a:t>
            </a:r>
            <a:r>
              <a:rPr lang="en-US" sz="1600" dirty="0"/>
              <a:t> output-</a:t>
            </a:r>
            <a:r>
              <a:rPr lang="en-US" sz="1600" dirty="0" err="1"/>
              <a:t>nya</a:t>
            </a:r>
            <a:r>
              <a:rPr lang="en-US" sz="1600" dirty="0"/>
              <a:t> !</a:t>
            </a:r>
          </a:p>
          <a:p>
            <a:pPr marL="452628" indent="-342900">
              <a:buFont typeface="Georgia"/>
              <a:buAutoNum type="alphaLcPeriod"/>
            </a:pP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sisi</a:t>
            </a:r>
            <a:r>
              <a:rPr lang="en-US" sz="1600" dirty="0"/>
              <a:t> bypass-</a:t>
            </a:r>
            <a:r>
              <a:rPr lang="en-US" sz="1600" dirty="0" err="1"/>
              <a:t>nya</a:t>
            </a:r>
            <a:r>
              <a:rPr lang="en-US" sz="1600" dirty="0"/>
              <a:t> 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2874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20" y="714356"/>
            <a:ext cx="8229600" cy="10668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1</a:t>
            </a:r>
            <a:r>
              <a:rPr lang="id-ID" sz="2800" b="1" dirty="0" smtClean="0"/>
              <a:t>.</a:t>
            </a:r>
            <a:r>
              <a:rPr lang="en-US" sz="2800" b="1" dirty="0"/>
              <a:t>4</a:t>
            </a:r>
            <a:r>
              <a:rPr lang="id-ID" sz="2800" b="1" dirty="0"/>
              <a:t> </a:t>
            </a:r>
            <a:r>
              <a:rPr lang="en-US" sz="2800" b="1" dirty="0" err="1"/>
              <a:t>Analisis</a:t>
            </a:r>
            <a:r>
              <a:rPr lang="en-US" sz="2800" b="1" dirty="0"/>
              <a:t> </a:t>
            </a:r>
            <a:r>
              <a:rPr lang="id-ID" sz="2800" b="1" dirty="0"/>
              <a:t>Respon Penguat FET</a:t>
            </a:r>
            <a:r>
              <a:rPr lang="en-US" sz="2800" b="1" dirty="0"/>
              <a:t> </a:t>
            </a:r>
            <a:r>
              <a:rPr lang="en-US" sz="2800" b="1" dirty="0" err="1"/>
              <a:t>pada</a:t>
            </a:r>
            <a:r>
              <a:rPr lang="en-US" sz="2800" b="1" dirty="0"/>
              <a:t> </a:t>
            </a:r>
            <a:br>
              <a:rPr lang="en-US" sz="2800" b="1" dirty="0"/>
            </a:br>
            <a:r>
              <a:rPr lang="en-US" sz="2800" b="1" dirty="0"/>
              <a:t> </a:t>
            </a:r>
            <a:r>
              <a:rPr lang="en-US" sz="2800" b="1" dirty="0"/>
              <a:t>     </a:t>
            </a:r>
            <a:r>
              <a:rPr lang="id-ID" sz="2800" b="1" dirty="0"/>
              <a:t>Frekuensi </a:t>
            </a:r>
            <a:r>
              <a:rPr lang="id-ID" sz="2800" b="1" dirty="0"/>
              <a:t>Rendah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2033223"/>
            <a:ext cx="6480720" cy="428628"/>
          </a:xfrm>
        </p:spPr>
        <p:txBody>
          <a:bodyPr>
            <a:noAutofit/>
          </a:bodyPr>
          <a:lstStyle/>
          <a:p>
            <a:r>
              <a:rPr lang="en-US" sz="2400" dirty="0" err="1"/>
              <a:t>Sisi</a:t>
            </a:r>
            <a:r>
              <a:rPr lang="en-US" sz="2400" dirty="0"/>
              <a:t> </a:t>
            </a:r>
            <a:r>
              <a:rPr lang="id-ID" sz="2400" dirty="0"/>
              <a:t>input </a:t>
            </a:r>
            <a:r>
              <a:rPr lang="en-US" sz="2400" dirty="0"/>
              <a:t>(C</a:t>
            </a:r>
            <a:r>
              <a:rPr lang="en-US" sz="1400" dirty="0"/>
              <a:t>G</a:t>
            </a:r>
            <a:r>
              <a:rPr lang="en-US" sz="2400" dirty="0"/>
              <a:t>)</a:t>
            </a:r>
            <a:endParaRPr lang="id-ID" sz="2400" dirty="0"/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44150" y="3622968"/>
            <a:ext cx="5586874" cy="2786652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9218" name="Object 2"/>
          <p:cNvGraphicFramePr>
            <a:graphicFrameLocks noChangeAspect="1"/>
          </p:cNvGraphicFramePr>
          <p:nvPr>
            <p:extLst/>
          </p:nvPr>
        </p:nvGraphicFramePr>
        <p:xfrm>
          <a:off x="2207569" y="2725198"/>
          <a:ext cx="2654189" cy="785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4" imgW="1587240" imgH="469800" progId="Equation.3">
                  <p:embed/>
                </p:oleObj>
              </mc:Choice>
              <mc:Fallback>
                <p:oleObj name="Equation" r:id="rId4" imgW="1587240" imgH="469800" progId="Equation.3">
                  <p:embed/>
                  <p:pic>
                    <p:nvPicPr>
                      <p:cNvPr id="92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9" y="2725198"/>
                        <a:ext cx="2654189" cy="785868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solidFill>
                          <a:srgbClr val="00B0F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>
            <p:extLst/>
          </p:nvPr>
        </p:nvGraphicFramePr>
        <p:xfrm>
          <a:off x="6822355" y="2954655"/>
          <a:ext cx="857256" cy="318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6" imgW="622080" imgH="228600" progId="Equation.3">
                  <p:embed/>
                </p:oleObj>
              </mc:Choice>
              <mc:Fallback>
                <p:oleObj name="Equation" r:id="rId6" imgW="622080" imgH="228600" progId="Equation.3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2355" y="2954655"/>
                        <a:ext cx="857256" cy="318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591944" y="2873465"/>
            <a:ext cx="1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auto">
          <a:xfrm rot="16200000">
            <a:off x="3019885" y="4200859"/>
            <a:ext cx="1046226" cy="222588"/>
          </a:xfrm>
          <a:prstGeom prst="leftArrow">
            <a:avLst>
              <a:gd name="adj1" fmla="val 50000"/>
              <a:gd name="adj2" fmla="val 53571"/>
            </a:avLst>
          </a:prstGeom>
          <a:solidFill>
            <a:srgbClr val="CC3300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eaVert" wrap="none" anchor="ctr"/>
          <a:lstStyle/>
          <a:p>
            <a:pPr algn="ctr" eaLnBrk="1" hangingPunct="1"/>
            <a:endParaRPr lang="id-ID">
              <a:solidFill>
                <a:srgbClr val="CC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47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07568" y="1264965"/>
                <a:ext cx="8643998" cy="42862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err="1" smtClean="0"/>
                  <a:t>Sisi</a:t>
                </a:r>
                <a:r>
                  <a:rPr lang="id-ID" dirty="0" smtClean="0"/>
                  <a:t> ouput </a:t>
                </a:r>
                <a:r>
                  <a:rPr lang="en-US" dirty="0" smtClean="0"/>
                  <a:t>(C</a:t>
                </a:r>
                <a:r>
                  <a:rPr lang="en-US" sz="1900" dirty="0"/>
                  <a:t>C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 smtClean="0"/>
                  <a:t>C</a:t>
                </a:r>
                <a:r>
                  <a:rPr lang="en-US" sz="1900" dirty="0"/>
                  <a:t>D</a:t>
                </a:r>
                <a:r>
                  <a:rPr lang="en-US" dirty="0" smtClean="0"/>
                  <a:t>)</a:t>
                </a:r>
                <a:endParaRPr lang="id-ID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07568" y="1264965"/>
                <a:ext cx="8643998" cy="428628"/>
              </a:xfrm>
              <a:blipFill>
                <a:blip r:embed="rId3"/>
                <a:stretch>
                  <a:fillRect l="-1058" t="-30000" b="-3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2452662" y="3393548"/>
            <a:ext cx="12326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01075" y="3329044"/>
            <a:ext cx="6619265" cy="3214710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10244" name="Object 4"/>
          <p:cNvGraphicFramePr>
            <a:graphicFrameLocks noChangeAspect="1"/>
          </p:cNvGraphicFramePr>
          <p:nvPr>
            <p:extLst/>
          </p:nvPr>
        </p:nvGraphicFramePr>
        <p:xfrm>
          <a:off x="2592389" y="2106614"/>
          <a:ext cx="2509837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5" imgW="1307880" imgH="431640" progId="Equation.3">
                  <p:embed/>
                </p:oleObj>
              </mc:Choice>
              <mc:Fallback>
                <p:oleObj name="Equation" r:id="rId5" imgW="1307880" imgH="431640" progId="Equation.3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9" y="2106614"/>
                        <a:ext cx="2509837" cy="833437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>
            <p:extLst/>
          </p:nvPr>
        </p:nvGraphicFramePr>
        <p:xfrm>
          <a:off x="2452662" y="3893615"/>
          <a:ext cx="1843138" cy="381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7" imgW="1104840" imgH="228600" progId="Equation.3">
                  <p:embed/>
                </p:oleObj>
              </mc:Choice>
              <mc:Fallback>
                <p:oleObj name="Equation" r:id="rId7" imgW="1104840" imgH="228600" progId="Equation.3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62" y="3893615"/>
                        <a:ext cx="1843138" cy="38133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B0F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Arrow Connector 3"/>
          <p:cNvCxnSpPr/>
          <p:nvPr/>
        </p:nvCxnSpPr>
        <p:spPr>
          <a:xfrm>
            <a:off x="5447928" y="2780928"/>
            <a:ext cx="3024336" cy="19442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58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5561" y="1328832"/>
            <a:ext cx="4478927" cy="42862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Sisi</a:t>
            </a:r>
            <a:r>
              <a:rPr lang="en-US" dirty="0" smtClean="0"/>
              <a:t> </a:t>
            </a:r>
            <a:r>
              <a:rPr lang="id-ID" i="1" dirty="0" smtClean="0"/>
              <a:t>by pass </a:t>
            </a:r>
            <a:r>
              <a:rPr lang="en-US" dirty="0" smtClean="0"/>
              <a:t>(Cs)</a:t>
            </a:r>
            <a:endParaRPr lang="id-ID" dirty="0"/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2380654" y="3022935"/>
            <a:ext cx="1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91578" y="3286124"/>
            <a:ext cx="6619264" cy="3214710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11268" name="Object 4"/>
          <p:cNvGraphicFramePr>
            <a:graphicFrameLocks noChangeAspect="1"/>
          </p:cNvGraphicFramePr>
          <p:nvPr>
            <p:extLst/>
          </p:nvPr>
        </p:nvGraphicFramePr>
        <p:xfrm>
          <a:off x="3666659" y="1998327"/>
          <a:ext cx="2062738" cy="873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4" imgW="1104840" imgH="469800" progId="Equation.3">
                  <p:embed/>
                </p:oleObj>
              </mc:Choice>
              <mc:Fallback>
                <p:oleObj name="Equation" r:id="rId4" imgW="1104840" imgH="469800" progId="Equation.3">
                  <p:embed/>
                  <p:pic>
                    <p:nvPicPr>
                      <p:cNvPr id="11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6659" y="1998327"/>
                        <a:ext cx="2062738" cy="873226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>
            <p:extLst/>
          </p:nvPr>
        </p:nvGraphicFramePr>
        <p:xfrm>
          <a:off x="2783633" y="3526992"/>
          <a:ext cx="2307877" cy="65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6" imgW="1574640" imgH="444240" progId="Equation.3">
                  <p:embed/>
                </p:oleObj>
              </mc:Choice>
              <mc:Fallback>
                <p:oleObj name="Equation" r:id="rId6" imgW="1574640" imgH="444240" progId="Equation.3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3" y="3526992"/>
                        <a:ext cx="2307877" cy="65323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70C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Arrow Connector 3"/>
          <p:cNvCxnSpPr/>
          <p:nvPr/>
        </p:nvCxnSpPr>
        <p:spPr>
          <a:xfrm>
            <a:off x="5729398" y="3022936"/>
            <a:ext cx="3102907" cy="26383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29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8282" y="714356"/>
            <a:ext cx="8229600" cy="10668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1</a:t>
            </a:r>
            <a:r>
              <a:rPr lang="id-ID" sz="2800" b="1" dirty="0" smtClean="0"/>
              <a:t>.</a:t>
            </a:r>
            <a:r>
              <a:rPr lang="en-US" sz="2800" b="1" dirty="0"/>
              <a:t>5</a:t>
            </a:r>
            <a:r>
              <a:rPr lang="id-ID" sz="2800" b="1" dirty="0"/>
              <a:t> </a:t>
            </a:r>
            <a:r>
              <a:rPr lang="en-US" sz="2800" b="1" dirty="0" err="1"/>
              <a:t>Analisis</a:t>
            </a:r>
            <a:r>
              <a:rPr lang="en-US" sz="2800" b="1" dirty="0"/>
              <a:t> </a:t>
            </a:r>
            <a:r>
              <a:rPr lang="id-ID" sz="2800" b="1" dirty="0"/>
              <a:t>Respon Frekuensi Tinggi </a:t>
            </a:r>
            <a:r>
              <a:rPr lang="en-US" sz="2800" b="1" dirty="0" err="1"/>
              <a:t>pada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> </a:t>
            </a:r>
            <a:r>
              <a:rPr lang="en-US" sz="2800" b="1" dirty="0"/>
              <a:t>     </a:t>
            </a:r>
            <a:r>
              <a:rPr lang="id-ID" sz="2800" b="1" dirty="0"/>
              <a:t>Penguat BJT</a:t>
            </a:r>
            <a:endParaRPr lang="id-ID" sz="2800" b="1" dirty="0"/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600056" y="2032388"/>
            <a:ext cx="4067944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id-ID" altLang="en-US" sz="2000" dirty="0">
                <a:latin typeface="Times New Roman" pitchFamily="18" charset="0"/>
              </a:rPr>
              <a:t>Pengaruh nilai kapasitansi terhadap respon frekuensi tinggi penguat BJT:</a:t>
            </a:r>
          </a:p>
          <a:p>
            <a:endParaRPr lang="en-US" altLang="en-US" sz="20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altLang="en-US" sz="2000" b="1" dirty="0">
                <a:latin typeface="Times New Roman" pitchFamily="18" charset="0"/>
              </a:rPr>
              <a:t> </a:t>
            </a:r>
            <a:r>
              <a:rPr lang="id-ID" altLang="en-US" sz="2000" b="1" dirty="0">
                <a:latin typeface="Times New Roman" pitchFamily="18" charset="0"/>
              </a:rPr>
              <a:t>Kapasitansi </a:t>
            </a:r>
            <a:r>
              <a:rPr lang="en-US" altLang="en-US" sz="2000" b="1" dirty="0">
                <a:latin typeface="Times New Roman" pitchFamily="18" charset="0"/>
              </a:rPr>
              <a:t>Junction</a:t>
            </a:r>
            <a:r>
              <a:rPr lang="id-ID" altLang="en-US" sz="2000" b="1" dirty="0">
                <a:latin typeface="Times New Roman" pitchFamily="18" charset="0"/>
              </a:rPr>
              <a:t>:</a:t>
            </a:r>
            <a:endParaRPr lang="en-US" altLang="en-US" sz="2000" b="1" dirty="0">
              <a:latin typeface="Times New Roman" pitchFamily="18" charset="0"/>
            </a:endParaRPr>
          </a:p>
          <a:p>
            <a:pPr lvl="1"/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        </a:t>
            </a:r>
            <a:r>
              <a:rPr lang="en-US" altLang="en-US" sz="2000" b="1" dirty="0" err="1">
                <a:solidFill>
                  <a:srgbClr val="0070C0"/>
                </a:solidFill>
                <a:latin typeface="Times New Roman" pitchFamily="18" charset="0"/>
              </a:rPr>
              <a:t>C</a:t>
            </a:r>
            <a:r>
              <a:rPr lang="en-US" altLang="en-US" sz="2000" b="1" baseline="-25000" dirty="0" err="1">
                <a:solidFill>
                  <a:srgbClr val="0070C0"/>
                </a:solidFill>
                <a:latin typeface="Times New Roman" pitchFamily="18" charset="0"/>
              </a:rPr>
              <a:t>be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, </a:t>
            </a:r>
            <a:r>
              <a:rPr lang="en-US" altLang="en-US" sz="2000" b="1" dirty="0" err="1">
                <a:solidFill>
                  <a:srgbClr val="0070C0"/>
                </a:solidFill>
                <a:latin typeface="Times New Roman" pitchFamily="18" charset="0"/>
              </a:rPr>
              <a:t>C</a:t>
            </a:r>
            <a:r>
              <a:rPr lang="en-US" altLang="en-US" sz="2000" b="1" baseline="-25000" dirty="0" err="1">
                <a:solidFill>
                  <a:srgbClr val="0070C0"/>
                </a:solidFill>
                <a:latin typeface="Times New Roman" pitchFamily="18" charset="0"/>
              </a:rPr>
              <a:t>bc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, </a:t>
            </a:r>
            <a:r>
              <a:rPr lang="en-US" altLang="en-US" sz="2000" b="1" dirty="0" err="1">
                <a:solidFill>
                  <a:srgbClr val="0070C0"/>
                </a:solidFill>
                <a:latin typeface="Times New Roman" pitchFamily="18" charset="0"/>
              </a:rPr>
              <a:t>C</a:t>
            </a:r>
            <a:r>
              <a:rPr lang="en-US" altLang="en-US" sz="2000" b="1" baseline="-25000" dirty="0" err="1">
                <a:solidFill>
                  <a:srgbClr val="0070C0"/>
                </a:solidFill>
                <a:latin typeface="Times New Roman" pitchFamily="18" charset="0"/>
              </a:rPr>
              <a:t>ce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</a:t>
            </a:r>
            <a:endParaRPr lang="en-US" altLang="en-US" sz="2000" b="1" dirty="0">
              <a:solidFill>
                <a:srgbClr val="0070C0"/>
              </a:solidFill>
              <a:latin typeface="Times New Roman" pitchFamily="18" charset="0"/>
            </a:endParaRPr>
          </a:p>
          <a:p>
            <a:pPr lvl="2"/>
            <a:endParaRPr lang="en-US" altLang="en-US" sz="20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altLang="en-US" sz="2000" b="1" dirty="0">
                <a:latin typeface="Times New Roman" pitchFamily="18" charset="0"/>
                <a:cs typeface="Times New Roman" pitchFamily="18" charset="0"/>
              </a:rPr>
              <a:t>Jalur Kapasitansi :</a:t>
            </a: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altLang="en-US" sz="2000" b="1" dirty="0" err="1">
                <a:solidFill>
                  <a:srgbClr val="0070C0"/>
                </a:solidFill>
                <a:latin typeface="Times New Roman" pitchFamily="18" charset="0"/>
              </a:rPr>
              <a:t>C</a:t>
            </a:r>
            <a:r>
              <a:rPr lang="en-US" altLang="en-US" sz="2000" b="1" baseline="-25000" dirty="0" err="1">
                <a:solidFill>
                  <a:srgbClr val="0070C0"/>
                </a:solidFill>
                <a:latin typeface="Times New Roman" pitchFamily="18" charset="0"/>
              </a:rPr>
              <a:t>wi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, </a:t>
            </a:r>
            <a:r>
              <a:rPr lang="en-US" altLang="en-US" sz="2000" b="1" dirty="0" err="1">
                <a:solidFill>
                  <a:srgbClr val="0070C0"/>
                </a:solidFill>
                <a:latin typeface="Times New Roman" pitchFamily="18" charset="0"/>
              </a:rPr>
              <a:t>C</a:t>
            </a:r>
            <a:r>
              <a:rPr lang="en-US" altLang="en-US" sz="2000" b="1" baseline="-25000" dirty="0" err="1">
                <a:solidFill>
                  <a:srgbClr val="0070C0"/>
                </a:solidFill>
                <a:latin typeface="Times New Roman" pitchFamily="18" charset="0"/>
              </a:rPr>
              <a:t>wo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</a:t>
            </a:r>
          </a:p>
          <a:p>
            <a:pPr lvl="1"/>
            <a:endParaRPr lang="en-US" altLang="en-US" sz="2000" b="1" dirty="0">
              <a:solidFill>
                <a:srgbClr val="0070C0"/>
              </a:solidFill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altLang="en-US" sz="2000" b="1" dirty="0">
                <a:latin typeface="Times New Roman" pitchFamily="18" charset="0"/>
              </a:rPr>
              <a:t> </a:t>
            </a:r>
            <a:r>
              <a:rPr lang="id-ID" altLang="en-US" sz="2000" b="1" dirty="0">
                <a:latin typeface="Times New Roman" pitchFamily="18" charset="0"/>
              </a:rPr>
              <a:t>Kopling Kapasitor :</a:t>
            </a:r>
            <a:r>
              <a:rPr lang="en-US" altLang="en-US" sz="2000" b="1" dirty="0">
                <a:latin typeface="Times New Roman" pitchFamily="18" charset="0"/>
              </a:rPr>
              <a:t> </a:t>
            </a:r>
          </a:p>
          <a:p>
            <a:pPr lvl="1"/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            C</a:t>
            </a:r>
            <a:r>
              <a:rPr lang="en-US" altLang="en-US" sz="2000" b="1" baseline="-25000" dirty="0">
                <a:solidFill>
                  <a:srgbClr val="0070C0"/>
                </a:solidFill>
                <a:latin typeface="Times New Roman" pitchFamily="18" charset="0"/>
              </a:rPr>
              <a:t>S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, C</a:t>
            </a:r>
            <a:r>
              <a:rPr lang="en-US" altLang="en-US" sz="2000" b="1" baseline="-25000" dirty="0">
                <a:solidFill>
                  <a:srgbClr val="0070C0"/>
                </a:solidFill>
                <a:latin typeface="Times New Roman" pitchFamily="18" charset="0"/>
              </a:rPr>
              <a:t>C</a:t>
            </a:r>
          </a:p>
          <a:p>
            <a:pPr lvl="1"/>
            <a:endParaRPr lang="en-US" altLang="en-US" sz="20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altLang="en-US" sz="2000" b="1" dirty="0">
                <a:latin typeface="Times New Roman" pitchFamily="18" charset="0"/>
              </a:rPr>
              <a:t> </a:t>
            </a:r>
            <a:r>
              <a:rPr lang="id-ID" altLang="en-US" sz="2000" b="1" dirty="0">
                <a:latin typeface="Times New Roman" pitchFamily="18" charset="0"/>
              </a:rPr>
              <a:t>Kapasitor </a:t>
            </a:r>
            <a:r>
              <a:rPr lang="en-US" altLang="en-US" sz="2000" b="1" dirty="0">
                <a:latin typeface="Times New Roman" pitchFamily="18" charset="0"/>
              </a:rPr>
              <a:t>Bypass</a:t>
            </a:r>
            <a:r>
              <a:rPr lang="id-ID" altLang="en-US" sz="2000" b="1" dirty="0">
                <a:latin typeface="Times New Roman" pitchFamily="18" charset="0"/>
              </a:rPr>
              <a:t> :</a:t>
            </a:r>
            <a:r>
              <a:rPr lang="en-US" altLang="en-US" sz="2000" b="1" dirty="0">
                <a:latin typeface="Times New Roman" pitchFamily="18" charset="0"/>
              </a:rPr>
              <a:t> </a:t>
            </a:r>
            <a:endParaRPr lang="en-US" altLang="en-US" sz="2000" b="1" dirty="0">
              <a:latin typeface="Times New Roman" pitchFamily="18" charset="0"/>
            </a:endParaRPr>
          </a:p>
          <a:p>
            <a:pPr lvl="1"/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                 C</a:t>
            </a:r>
            <a:r>
              <a:rPr lang="en-US" altLang="en-US" sz="2000" b="1" baseline="-25000" dirty="0">
                <a:solidFill>
                  <a:srgbClr val="0070C0"/>
                </a:solidFill>
                <a:latin typeface="Times New Roman" pitchFamily="18" charset="0"/>
              </a:rPr>
              <a:t>E</a:t>
            </a:r>
            <a:endParaRPr lang="en-US" altLang="en-US" sz="2000" b="1" baseline="-25000" dirty="0">
              <a:solidFill>
                <a:srgbClr val="0070C0"/>
              </a:solidFill>
              <a:latin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8358" y="2935204"/>
            <a:ext cx="4787683" cy="3386410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149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20" y="785794"/>
            <a:ext cx="8229600" cy="642942"/>
          </a:xfrm>
        </p:spPr>
        <p:txBody>
          <a:bodyPr>
            <a:normAutofit/>
          </a:bodyPr>
          <a:lstStyle/>
          <a:p>
            <a:r>
              <a:rPr lang="en-US" dirty="0" err="1" smtClean="0"/>
              <a:t>Sisi</a:t>
            </a:r>
            <a:r>
              <a:rPr lang="en-US" dirty="0" smtClean="0"/>
              <a:t> </a:t>
            </a:r>
            <a:r>
              <a:rPr lang="id-ID" dirty="0" smtClean="0"/>
              <a:t>input penguat :</a:t>
            </a:r>
            <a:endParaRPr lang="id-ID" dirty="0"/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99856" y="2624617"/>
            <a:ext cx="5724128" cy="4048774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12290" name="Object 2"/>
          <p:cNvGraphicFramePr>
            <a:graphicFrameLocks noChangeAspect="1"/>
          </p:cNvGraphicFramePr>
          <p:nvPr>
            <p:extLst/>
          </p:nvPr>
        </p:nvGraphicFramePr>
        <p:xfrm>
          <a:off x="3460750" y="1520825"/>
          <a:ext cx="27003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5" imgW="1041120" imgH="444240" progId="Equation.3">
                  <p:embed/>
                </p:oleObj>
              </mc:Choice>
              <mc:Fallback>
                <p:oleObj name="Equation" r:id="rId5" imgW="1041120" imgH="444240" progId="Equation.3">
                  <p:embed/>
                  <p:pic>
                    <p:nvPicPr>
                      <p:cNvPr id="122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1520825"/>
                        <a:ext cx="2700338" cy="114935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>
            <p:extLst/>
          </p:nvPr>
        </p:nvGraphicFramePr>
        <p:xfrm>
          <a:off x="2038350" y="3713536"/>
          <a:ext cx="2286000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7" imgW="1498320" imgH="241200" progId="Equation.3">
                  <p:embed/>
                </p:oleObj>
              </mc:Choice>
              <mc:Fallback>
                <p:oleObj name="Equation" r:id="rId7" imgW="1498320" imgH="241200" progId="Equation.3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3713536"/>
                        <a:ext cx="2286000" cy="36353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70C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1991544" y="2643182"/>
            <a:ext cx="1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>
            <p:extLst/>
          </p:nvPr>
        </p:nvGraphicFramePr>
        <p:xfrm>
          <a:off x="2093913" y="4473575"/>
          <a:ext cx="271621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9" imgW="1739880" imgH="228600" progId="Equation.3">
                  <p:embed/>
                </p:oleObj>
              </mc:Choice>
              <mc:Fallback>
                <p:oleObj name="Equation" r:id="rId9" imgW="1739880" imgH="228600" progId="Equation.3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4473575"/>
                        <a:ext cx="2716212" cy="35083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70C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095473" y="3105150"/>
            <a:ext cx="1907699" cy="39528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1919537" y="5597515"/>
            <a:ext cx="243973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 err="1">
                <a:latin typeface="Times New Roman" pitchFamily="18" charset="0"/>
              </a:rPr>
              <a:t>Nilai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ini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biasanya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sudah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ada</a:t>
            </a:r>
            <a:r>
              <a:rPr lang="en-US" sz="2000" dirty="0">
                <a:latin typeface="Times New Roman" pitchFamily="18" charset="0"/>
              </a:rPr>
              <a:t> di data sheet</a:t>
            </a:r>
            <a:endParaRPr lang="en-US" sz="2000" dirty="0">
              <a:latin typeface="Times New Roman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783632" y="4941168"/>
            <a:ext cx="216024" cy="656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60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20" y="785794"/>
            <a:ext cx="8229600" cy="642942"/>
          </a:xfrm>
        </p:spPr>
        <p:txBody>
          <a:bodyPr>
            <a:normAutofit/>
          </a:bodyPr>
          <a:lstStyle/>
          <a:p>
            <a:r>
              <a:rPr lang="en-US" dirty="0" err="1" smtClean="0"/>
              <a:t>Sisi</a:t>
            </a:r>
            <a:r>
              <a:rPr lang="en-US" dirty="0" smtClean="0"/>
              <a:t> </a:t>
            </a:r>
            <a:r>
              <a:rPr lang="id-ID" dirty="0" smtClean="0"/>
              <a:t>ouput penguat :</a:t>
            </a:r>
            <a:endParaRPr lang="id-ID" dirty="0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>
            <p:extLst/>
          </p:nvPr>
        </p:nvGraphicFramePr>
        <p:xfrm>
          <a:off x="2509838" y="1600201"/>
          <a:ext cx="257016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3" imgW="1130040" imgH="444240" progId="Equation.3">
                  <p:embed/>
                </p:oleObj>
              </mc:Choice>
              <mc:Fallback>
                <p:oleObj name="Equation" r:id="rId3" imgW="1130040" imgH="444240" progId="Equation.3">
                  <p:embed/>
                  <p:pic>
                    <p:nvPicPr>
                      <p:cNvPr id="133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8" y="1600201"/>
                        <a:ext cx="2570162" cy="100012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2166910" y="2643182"/>
            <a:ext cx="1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>
            <p:extLst/>
          </p:nvPr>
        </p:nvGraphicFramePr>
        <p:xfrm>
          <a:off x="2149475" y="3349626"/>
          <a:ext cx="19621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5" imgW="1307880" imgH="241200" progId="Equation.3">
                  <p:embed/>
                </p:oleObj>
              </mc:Choice>
              <mc:Fallback>
                <p:oleObj name="Equation" r:id="rId5" imgW="1307880" imgH="241200" progId="Equation.3">
                  <p:embed/>
                  <p:pic>
                    <p:nvPicPr>
                      <p:cNvPr id="133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3349626"/>
                        <a:ext cx="1962150" cy="3524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70C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>
            <p:extLst/>
          </p:nvPr>
        </p:nvGraphicFramePr>
        <p:xfrm>
          <a:off x="1991544" y="4023792"/>
          <a:ext cx="23383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7" imgW="1587240" imgH="228600" progId="Equation.3">
                  <p:embed/>
                </p:oleObj>
              </mc:Choice>
              <mc:Fallback>
                <p:oleObj name="Equation" r:id="rId7" imgW="1587240" imgH="228600" progId="Equation.3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4023792"/>
                        <a:ext cx="2338388" cy="34131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70C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371948" y="2600302"/>
            <a:ext cx="6215074" cy="4214842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1802048" y="5280739"/>
            <a:ext cx="243973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 err="1">
                <a:latin typeface="Times New Roman" pitchFamily="18" charset="0"/>
              </a:rPr>
              <a:t>Nilai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ini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biasanya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sudah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ada</a:t>
            </a:r>
            <a:r>
              <a:rPr lang="en-US" sz="2000" dirty="0">
                <a:latin typeface="Times New Roman" pitchFamily="18" charset="0"/>
              </a:rPr>
              <a:t> di data sheet</a:t>
            </a:r>
            <a:endParaRPr lang="en-US" sz="2000" dirty="0">
              <a:latin typeface="Times New Roman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2567608" y="4466758"/>
            <a:ext cx="361302" cy="728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43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952596" y="698319"/>
            <a:ext cx="82296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d-ID" altLang="en-US" sz="32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Efek Variasi Nilai </a:t>
            </a:r>
            <a:r>
              <a:rPr lang="en-US" altLang="en-US" sz="3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h</a:t>
            </a:r>
            <a:r>
              <a:rPr lang="en-US" altLang="en-US" sz="3200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fe</a:t>
            </a:r>
            <a:r>
              <a:rPr lang="en-US" altLang="en-US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(</a:t>
            </a:r>
            <a:r>
              <a:rPr lang="id-ID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atau</a:t>
            </a:r>
            <a:r>
              <a:rPr lang="en-US" altLang="en-US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</a:t>
            </a:r>
            <a:r>
              <a:rPr lang="en-US" altLang="en-US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sym typeface="Symbol" pitchFamily="18" charset="2"/>
              </a:rPr>
              <a:t></a:t>
            </a:r>
            <a:r>
              <a:rPr lang="en-US" altLang="en-US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) 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1304072"/>
            <a:ext cx="7786710" cy="5553929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6744072" y="1412776"/>
            <a:ext cx="3729608" cy="2217428"/>
            <a:chOff x="3168" y="576"/>
            <a:chExt cx="2304" cy="1296"/>
          </a:xfrm>
        </p:grpSpPr>
        <p:sp>
          <p:nvSpPr>
            <p:cNvPr id="7" name="Rectangle 14"/>
            <p:cNvSpPr>
              <a:spLocks noChangeArrowheads="1"/>
            </p:cNvSpPr>
            <p:nvPr/>
          </p:nvSpPr>
          <p:spPr bwMode="auto">
            <a:xfrm>
              <a:off x="3168" y="576"/>
              <a:ext cx="2304" cy="1296"/>
            </a:xfrm>
            <a:prstGeom prst="rect">
              <a:avLst/>
            </a:prstGeom>
            <a:solidFill>
              <a:srgbClr val="ECE9D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3264" y="672"/>
              <a:ext cx="192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en-US" b="1" dirty="0" err="1">
                  <a:latin typeface="Times New Roman" pitchFamily="18" charset="0"/>
                </a:rPr>
                <a:t>Dampak</a:t>
              </a:r>
              <a:r>
                <a:rPr lang="en-US" altLang="en-US" b="1" dirty="0">
                  <a:latin typeface="Times New Roman" pitchFamily="18" charset="0"/>
                </a:rPr>
                <a:t> v</a:t>
              </a:r>
              <a:r>
                <a:rPr lang="id-ID" altLang="en-US" b="1" dirty="0">
                  <a:latin typeface="Times New Roman" pitchFamily="18" charset="0"/>
                </a:rPr>
                <a:t>ariasi </a:t>
              </a:r>
              <a:r>
                <a:rPr lang="en-US" altLang="en-US" b="1" dirty="0" err="1">
                  <a:latin typeface="Times New Roman" pitchFamily="18" charset="0"/>
                </a:rPr>
                <a:t>h</a:t>
              </a:r>
              <a:r>
                <a:rPr lang="en-US" altLang="en-US" b="1" baseline="-25000" dirty="0" err="1">
                  <a:latin typeface="Times New Roman" pitchFamily="18" charset="0"/>
                </a:rPr>
                <a:t>fe</a:t>
              </a:r>
              <a:r>
                <a:rPr lang="en-US" altLang="en-US" b="1" dirty="0">
                  <a:latin typeface="Times New Roman" pitchFamily="18" charset="0"/>
                </a:rPr>
                <a:t> (</a:t>
              </a:r>
              <a:r>
                <a:rPr lang="id-ID" altLang="en-US" b="1" dirty="0">
                  <a:latin typeface="Times New Roman" pitchFamily="18" charset="0"/>
                </a:rPr>
                <a:t>atau</a:t>
              </a:r>
              <a:r>
                <a:rPr lang="en-US" altLang="en-US" b="1" dirty="0">
                  <a:latin typeface="Times New Roman" pitchFamily="18" charset="0"/>
                </a:rPr>
                <a:t> </a:t>
              </a:r>
              <a:r>
                <a:rPr lang="en-US" altLang="en-US" b="1" dirty="0">
                  <a:latin typeface="Times New Roman" pitchFamily="18" charset="0"/>
                  <a:sym typeface="Symbol" pitchFamily="18" charset="2"/>
                </a:rPr>
                <a:t></a:t>
              </a:r>
              <a:r>
                <a:rPr lang="en-US" altLang="en-US" b="1" dirty="0">
                  <a:latin typeface="Times New Roman" pitchFamily="18" charset="0"/>
                </a:rPr>
                <a:t>) </a:t>
              </a:r>
              <a:r>
                <a:rPr lang="id-ID" altLang="en-US" b="1" dirty="0">
                  <a:latin typeface="Times New Roman" pitchFamily="18" charset="0"/>
                </a:rPr>
                <a:t>sebuah</a:t>
              </a:r>
              <a:r>
                <a:rPr lang="en-US" altLang="en-US" b="1" dirty="0">
                  <a:latin typeface="Times New Roman" pitchFamily="18" charset="0"/>
                </a:rPr>
                <a:t> transistor</a:t>
              </a:r>
              <a:r>
                <a:rPr lang="id-ID" altLang="en-US" b="1" dirty="0">
                  <a:latin typeface="Times New Roman" pitchFamily="18" charset="0"/>
                </a:rPr>
                <a:t> terhadap</a:t>
              </a:r>
              <a:r>
                <a:rPr lang="en-US" altLang="en-US" b="1" dirty="0">
                  <a:latin typeface="Times New Roman" pitchFamily="18" charset="0"/>
                </a:rPr>
                <a:t> </a:t>
              </a:r>
              <a:r>
                <a:rPr lang="en-US" altLang="en-US" b="1" dirty="0" err="1">
                  <a:latin typeface="Times New Roman" pitchFamily="18" charset="0"/>
                </a:rPr>
                <a:t>fre</a:t>
              </a:r>
              <a:r>
                <a:rPr lang="id-ID" altLang="en-US" b="1" dirty="0">
                  <a:latin typeface="Times New Roman" pitchFamily="18" charset="0"/>
                </a:rPr>
                <a:t>k</a:t>
              </a:r>
              <a:r>
                <a:rPr lang="en-US" altLang="en-US" b="1" dirty="0" err="1">
                  <a:latin typeface="Times New Roman" pitchFamily="18" charset="0"/>
                </a:rPr>
                <a:t>uensi</a:t>
              </a:r>
              <a:r>
                <a:rPr lang="id-ID" altLang="en-US" b="1" dirty="0">
                  <a:latin typeface="Times New Roman" pitchFamily="18" charset="0"/>
                </a:rPr>
                <a:t> kerja penguat :</a:t>
              </a:r>
              <a:endParaRPr lang="en-US" altLang="en-US" b="1" dirty="0">
                <a:solidFill>
                  <a:schemeClr val="accent1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9" name="Object 13"/>
            <p:cNvGraphicFramePr>
              <a:graphicFrameLocks noChangeAspect="1"/>
            </p:cNvGraphicFramePr>
            <p:nvPr>
              <p:extLst/>
            </p:nvPr>
          </p:nvGraphicFramePr>
          <p:xfrm>
            <a:off x="3710" y="1302"/>
            <a:ext cx="1512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1" name="Equation" r:id="rId4" imgW="1562040" imgH="431640" progId="Equation.3">
                    <p:embed/>
                  </p:oleObj>
                </mc:Choice>
                <mc:Fallback>
                  <p:oleObj name="Equation" r:id="rId4" imgW="1562040" imgH="431640" progId="Equation.3">
                    <p:embed/>
                    <p:pic>
                      <p:nvPicPr>
                        <p:cNvPr id="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" y="1302"/>
                          <a:ext cx="1512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7443375" y="4410695"/>
            <a:ext cx="3239757" cy="73866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sz="1400" b="1" dirty="0" err="1">
                <a:solidFill>
                  <a:schemeClr val="accent1"/>
                </a:solidFill>
                <a:latin typeface="Times New Roman" pitchFamily="18" charset="0"/>
              </a:rPr>
              <a:t>Dapat</a:t>
            </a:r>
            <a:r>
              <a:rPr lang="en-US" altLang="en-US" sz="1400" b="1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en-US" altLang="en-US" sz="1400" b="1" dirty="0" err="1">
                <a:solidFill>
                  <a:schemeClr val="accent1"/>
                </a:solidFill>
                <a:latin typeface="Times New Roman" pitchFamily="18" charset="0"/>
              </a:rPr>
              <a:t>mempersempit</a:t>
            </a:r>
            <a:r>
              <a:rPr lang="en-US" altLang="en-US" sz="1400" b="1" dirty="0">
                <a:solidFill>
                  <a:schemeClr val="accent1"/>
                </a:solidFill>
                <a:latin typeface="Times New Roman" pitchFamily="18" charset="0"/>
              </a:rPr>
              <a:t>/</a:t>
            </a:r>
            <a:r>
              <a:rPr lang="en-US" altLang="en-US" sz="1400" b="1" dirty="0" err="1">
                <a:solidFill>
                  <a:schemeClr val="accent1"/>
                </a:solidFill>
                <a:latin typeface="Times New Roman" pitchFamily="18" charset="0"/>
              </a:rPr>
              <a:t>memperlebar</a:t>
            </a:r>
            <a:r>
              <a:rPr lang="en-US" altLang="en-US" sz="1400" b="1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en-US" altLang="en-US" sz="1400" b="1" dirty="0" err="1">
                <a:solidFill>
                  <a:schemeClr val="accent1"/>
                </a:solidFill>
                <a:latin typeface="Times New Roman" pitchFamily="18" charset="0"/>
              </a:rPr>
              <a:t>daerah</a:t>
            </a:r>
            <a:r>
              <a:rPr lang="en-US" altLang="en-US" sz="1400" b="1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en-US" altLang="en-US" sz="1400" b="1" dirty="0" err="1">
                <a:solidFill>
                  <a:schemeClr val="accent1"/>
                </a:solidFill>
                <a:latin typeface="Times New Roman" pitchFamily="18" charset="0"/>
              </a:rPr>
              <a:t>kerja</a:t>
            </a:r>
            <a:r>
              <a:rPr lang="en-US" altLang="en-US" sz="1400" b="1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en-US" altLang="en-US" sz="1400" b="1" dirty="0" err="1">
                <a:solidFill>
                  <a:schemeClr val="accent1"/>
                </a:solidFill>
                <a:latin typeface="Times New Roman" pitchFamily="18" charset="0"/>
              </a:rPr>
              <a:t>frekuensi</a:t>
            </a:r>
            <a:r>
              <a:rPr lang="en-US" altLang="en-US" sz="1400" b="1" dirty="0">
                <a:solidFill>
                  <a:schemeClr val="accent1"/>
                </a:solidFill>
                <a:latin typeface="Times New Roman" pitchFamily="18" charset="0"/>
              </a:rPr>
              <a:t> (bandwidth) </a:t>
            </a:r>
            <a:r>
              <a:rPr lang="en-US" altLang="en-US" sz="1400" b="1" dirty="0" err="1">
                <a:solidFill>
                  <a:schemeClr val="accent1"/>
                </a:solidFill>
                <a:latin typeface="Times New Roman" pitchFamily="18" charset="0"/>
              </a:rPr>
              <a:t>penguat</a:t>
            </a:r>
            <a:r>
              <a:rPr lang="en-US" altLang="en-US" sz="1400" b="1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endParaRPr lang="en-US" altLang="en-US" sz="1400" b="1" dirty="0">
              <a:solidFill>
                <a:schemeClr val="accent1"/>
              </a:solidFill>
              <a:latin typeface="Times New Roman" pitchFamily="18" charset="0"/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8608876" y="3773926"/>
            <a:ext cx="439452" cy="51917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8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96" y="714356"/>
            <a:ext cx="8229600" cy="428612"/>
          </a:xfrm>
        </p:spPr>
        <p:txBody>
          <a:bodyPr>
            <a:noAutofit/>
          </a:bodyPr>
          <a:lstStyle/>
          <a:p>
            <a:r>
              <a:rPr lang="id-ID" sz="3200" dirty="0" smtClean="0"/>
              <a:t>Soal</a:t>
            </a:r>
            <a:r>
              <a:rPr lang="en-US" sz="3200" dirty="0" smtClean="0"/>
              <a:t> </a:t>
            </a:r>
            <a:r>
              <a:rPr lang="en-US" sz="3200" dirty="0"/>
              <a:t>2</a:t>
            </a:r>
            <a:r>
              <a:rPr lang="id-ID" sz="3200" dirty="0"/>
              <a:t>:</a:t>
            </a:r>
            <a:endParaRPr lang="id-ID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929198"/>
            <a:ext cx="4400552" cy="159614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id-ID" dirty="0" smtClean="0"/>
              <a:t>tentukan:</a:t>
            </a:r>
            <a:endParaRPr lang="en-US" dirty="0" smtClean="0"/>
          </a:p>
          <a:p>
            <a:pPr>
              <a:buNone/>
            </a:pPr>
            <a:endParaRPr lang="id-ID" dirty="0" smtClean="0"/>
          </a:p>
          <a:p>
            <a:pPr marL="624078" indent="-514350">
              <a:buAutoNum type="alphaLcPeriod"/>
            </a:pPr>
            <a:r>
              <a:rPr lang="id-ID" sz="2200" i="1" dirty="0"/>
              <a:t>f</a:t>
            </a:r>
            <a:r>
              <a:rPr lang="id-ID" sz="1500" i="1" dirty="0"/>
              <a:t>Hi</a:t>
            </a:r>
            <a:r>
              <a:rPr lang="id-ID" sz="2200" i="1" dirty="0"/>
              <a:t> &amp; f</a:t>
            </a:r>
            <a:r>
              <a:rPr lang="id-ID" sz="1500" i="1" dirty="0"/>
              <a:t>Ho</a:t>
            </a:r>
            <a:endParaRPr lang="id-ID" sz="1700" i="1" dirty="0"/>
          </a:p>
          <a:p>
            <a:pPr marL="624078" indent="-514350">
              <a:buAutoNum type="alphaLcPeriod"/>
            </a:pPr>
            <a:r>
              <a:rPr lang="id-ID" sz="2200" i="1" dirty="0"/>
              <a:t> f</a:t>
            </a:r>
            <a:r>
              <a:rPr lang="el-GR" sz="1300" i="1" dirty="0"/>
              <a:t>β</a:t>
            </a:r>
            <a:endParaRPr lang="id-ID" sz="2200" i="1" dirty="0"/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357298"/>
            <a:ext cx="4643470" cy="3149036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96802" y="2000240"/>
            <a:ext cx="4271199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053166" y="1500174"/>
            <a:ext cx="4400552" cy="428628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365760" indent="-256032">
              <a:spcBef>
                <a:spcPts val="300"/>
              </a:spcBef>
              <a:buClr>
                <a:schemeClr val="accent3"/>
              </a:buClr>
              <a:defRPr/>
            </a:pPr>
            <a:r>
              <a:rPr lang="id-ID" sz="2800" dirty="0"/>
              <a:t> </a:t>
            </a:r>
            <a:r>
              <a:rPr lang="id-ID" sz="2200" dirty="0"/>
              <a:t>Nilai komponen penguat:</a:t>
            </a:r>
            <a:endParaRPr lang="id-ID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371790" y="3429580"/>
                <a:ext cx="109236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𝑀𝑜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𝑝𝐹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790" y="3429580"/>
                <a:ext cx="1092362" cy="215444"/>
              </a:xfrm>
              <a:prstGeom prst="rect">
                <a:avLst/>
              </a:prstGeom>
              <a:blipFill>
                <a:blip r:embed="rId4"/>
                <a:stretch>
                  <a:fillRect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54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474028532"/>
              </p:ext>
            </p:extLst>
          </p:nvPr>
        </p:nvGraphicFramePr>
        <p:xfrm>
          <a:off x="1981200" y="5655129"/>
          <a:ext cx="8229600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Pie 27"/>
          <p:cNvSpPr/>
          <p:nvPr/>
        </p:nvSpPr>
        <p:spPr>
          <a:xfrm rot="10600249">
            <a:off x="9753600" y="565512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3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23796</TotalTime>
  <Words>533</Words>
  <Application>Microsoft Office PowerPoint</Application>
  <PresentationFormat>Widescreen</PresentationFormat>
  <Paragraphs>113</Paragraphs>
  <Slides>21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맑은 고딕</vt:lpstr>
      <vt:lpstr>Arial</vt:lpstr>
      <vt:lpstr>Calibri</vt:lpstr>
      <vt:lpstr>Calibri Light</vt:lpstr>
      <vt:lpstr>Cambria Math</vt:lpstr>
      <vt:lpstr>Edwardian Script ITC</vt:lpstr>
      <vt:lpstr>Georgia</vt:lpstr>
      <vt:lpstr>Symbol</vt:lpstr>
      <vt:lpstr>Times</vt:lpstr>
      <vt:lpstr>Times New Roman</vt:lpstr>
      <vt:lpstr>Wingdings</vt:lpstr>
      <vt:lpstr>Office Theme</vt:lpstr>
      <vt:lpstr>Equation</vt:lpstr>
      <vt:lpstr>PowerPoint Presentation</vt:lpstr>
      <vt:lpstr>TANGGAPAN FREKUENSI PENGUAT TRANSISTOR </vt:lpstr>
      <vt:lpstr>1.1 Pendahuluan</vt:lpstr>
      <vt:lpstr>1.2 Kurva Respon frekuensi Penguat</vt:lpstr>
      <vt:lpstr>Analisis Kurva Penguatan Vs Frekuensi</vt:lpstr>
      <vt:lpstr>PowerPoint Presentation</vt:lpstr>
      <vt:lpstr>1.3 Analisis Respon Penguat pada Frekuensi       Rendah (Low Frequency)</vt:lpstr>
      <vt:lpstr>PowerPoint Presentation</vt:lpstr>
      <vt:lpstr>PowerPoint Presentation</vt:lpstr>
      <vt:lpstr>Kesimpulan (dengan adanya pemasangan kapasitor pada penguat BJT):</vt:lpstr>
      <vt:lpstr>Tugas Soal 1:</vt:lpstr>
      <vt:lpstr>1.4 Analisis Respon Penguat FET pada        Frekuensi Rendah </vt:lpstr>
      <vt:lpstr>PowerPoint Presentation</vt:lpstr>
      <vt:lpstr>PowerPoint Presentation</vt:lpstr>
      <vt:lpstr>1.5 Analisis Respon Frekuensi Tinggi pada       Penguat BJT</vt:lpstr>
      <vt:lpstr>PowerPoint Presentation</vt:lpstr>
      <vt:lpstr>PowerPoint Presentation</vt:lpstr>
      <vt:lpstr>Efek Variasi Nilai hfe (atau ) </vt:lpstr>
      <vt:lpstr>Soal 2:</vt:lpstr>
      <vt:lpstr>PowerPoint Presentation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107</cp:revision>
  <dcterms:created xsi:type="dcterms:W3CDTF">2024-10-22T07:52:57Z</dcterms:created>
  <dcterms:modified xsi:type="dcterms:W3CDTF">2026-03-25T04:44:00Z</dcterms:modified>
</cp:coreProperties>
</file>