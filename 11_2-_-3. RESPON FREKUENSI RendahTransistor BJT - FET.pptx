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4" r:id="rId2"/>
    <p:sldId id="279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278" r:id="rId26"/>
    <p:sldId id="29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72042" autoAdjust="0"/>
  </p:normalViewPr>
  <p:slideViewPr>
    <p:cSldViewPr snapToGrid="0">
      <p:cViewPr varScale="1">
        <p:scale>
          <a:sx n="59" d="100"/>
          <a:sy n="59" d="100"/>
        </p:scale>
        <p:origin x="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2600" b="1" dirty="0" smtClean="0"/>
            <a:t>11_3. </a:t>
          </a:r>
          <a:r>
            <a:rPr lang="en-US" sz="4400" b="0" i="0" dirty="0" err="1" smtClean="0"/>
            <a:t>Respon</a:t>
          </a:r>
          <a:r>
            <a:rPr lang="en-US" sz="4400" b="0" i="0" dirty="0" smtClean="0"/>
            <a:t> </a:t>
          </a:r>
          <a:r>
            <a:rPr lang="en-US" sz="4400" b="0" i="0" dirty="0" err="1" smtClean="0"/>
            <a:t>frekuensi</a:t>
          </a:r>
          <a:r>
            <a:rPr lang="en-US" sz="4400" b="0" i="0" dirty="0" smtClean="0"/>
            <a:t> </a:t>
          </a:r>
          <a:r>
            <a:rPr lang="en-US" sz="4400" b="0" i="0" dirty="0" err="1" smtClean="0"/>
            <a:t>Rendah</a:t>
          </a:r>
          <a:r>
            <a:rPr lang="en-US" sz="4400" b="0" i="0" dirty="0" smtClean="0"/>
            <a:t> Transistor BJT </a:t>
          </a:r>
          <a:r>
            <a:rPr lang="en-US" sz="4400" b="0" i="0" dirty="0" err="1" smtClean="0"/>
            <a:t>dan</a:t>
          </a:r>
          <a:r>
            <a:rPr lang="en-US" sz="4400" b="0" i="0" dirty="0" smtClean="0"/>
            <a:t> FET</a:t>
          </a:r>
          <a:endParaRPr lang="en-US" sz="44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rtl="0"/>
          <a:r>
            <a:rPr lang="en-US" b="1" dirty="0" smtClean="0"/>
            <a:t>See the next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11_3. </a:t>
          </a:r>
          <a:r>
            <a:rPr lang="en-US" sz="4400" b="0" i="0" kern="1200" dirty="0" err="1" smtClean="0"/>
            <a:t>Respon</a:t>
          </a:r>
          <a:r>
            <a:rPr lang="en-US" sz="4400" b="0" i="0" kern="1200" dirty="0" smtClean="0"/>
            <a:t> </a:t>
          </a:r>
          <a:r>
            <a:rPr lang="en-US" sz="4400" b="0" i="0" kern="1200" dirty="0" err="1" smtClean="0"/>
            <a:t>frekuensi</a:t>
          </a:r>
          <a:r>
            <a:rPr lang="en-US" sz="4400" b="0" i="0" kern="1200" dirty="0" smtClean="0"/>
            <a:t> </a:t>
          </a:r>
          <a:r>
            <a:rPr lang="en-US" sz="4400" b="0" i="0" kern="1200" dirty="0" err="1" smtClean="0"/>
            <a:t>Rendah</a:t>
          </a:r>
          <a:r>
            <a:rPr lang="en-US" sz="4400" b="0" i="0" kern="1200" dirty="0" smtClean="0"/>
            <a:t> Transistor BJT </a:t>
          </a:r>
          <a:r>
            <a:rPr lang="en-US" sz="4400" b="0" i="0" kern="1200" dirty="0" err="1" smtClean="0"/>
            <a:t>dan</a:t>
          </a:r>
          <a:r>
            <a:rPr lang="en-US" sz="4400" b="0" i="0" kern="1200" dirty="0" smtClean="0"/>
            <a:t> FET</a:t>
          </a:r>
          <a:endParaRPr lang="en-US" sz="4400" kern="1200" dirty="0"/>
        </a:p>
      </dsp:txBody>
      <dsp:txXfrm>
        <a:off x="457199" y="0"/>
        <a:ext cx="8255379" cy="914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7772400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smtClean="0"/>
            <a:t>See the next</a:t>
          </a:r>
          <a:endParaRPr lang="en-US" sz="4200" kern="1200" dirty="0"/>
        </a:p>
      </dsp:txBody>
      <dsp:txXfrm>
        <a:off x="457199" y="0"/>
        <a:ext cx="7772400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</a:p>
          <a:p>
            <a:endParaRPr lang="en-US" dirty="0" smtClean="0"/>
          </a:p>
          <a:p>
            <a:r>
              <a:rPr lang="en-US" dirty="0" smtClean="0"/>
              <a:t>https://ocw.mit.edu/ans7870/RES/RES.6-010/MITRES_6-010S13_comchaptrs.pdf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https://unacademy.com/lesson/low-frequency-analysis-of-bjt-amplifier/5TUKWO6Z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41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8E1BBC-A62A-483F-86E1-A8D1CD415F5E}" type="slidenum">
              <a:rPr lang="en-US" altLang="id-ID"/>
              <a:pPr>
                <a:spcBef>
                  <a:spcPct val="0"/>
                </a:spcBef>
              </a:pPr>
              <a:t>5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171165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5207BB1-4678-4CC7-BFE8-9CCBC47FDAFD}" type="slidenum">
              <a:rPr lang="en-US" altLang="id-ID"/>
              <a:pPr>
                <a:spcBef>
                  <a:spcPct val="0"/>
                </a:spcBef>
              </a:pPr>
              <a:t>6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500710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2B54ECC-5961-4A1F-A14B-323DE199AE27}" type="slidenum">
              <a:rPr lang="en-US" altLang="id-ID"/>
              <a:pPr>
                <a:spcBef>
                  <a:spcPct val="0"/>
                </a:spcBef>
              </a:pPr>
              <a:t>7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610287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0C9B05-65AF-423D-95F7-8112EA4E6D1F}" type="slidenum">
              <a:rPr lang="en-US" altLang="id-ID"/>
              <a:pPr>
                <a:spcBef>
                  <a:spcPct val="0"/>
                </a:spcBef>
              </a:pPr>
              <a:t>8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119885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3CF33A-7A67-458F-A4C1-3F97DCC43FC6}" type="slidenum">
              <a:rPr lang="en-US" altLang="id-ID"/>
              <a:pPr>
                <a:spcBef>
                  <a:spcPct val="0"/>
                </a:spcBef>
              </a:pPr>
              <a:t>9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689218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CC5631-9A90-468C-B0A2-2A273F2D6814}" type="slidenum">
              <a:rPr lang="en-US" altLang="id-ID"/>
              <a:pPr>
                <a:spcBef>
                  <a:spcPct val="0"/>
                </a:spcBef>
              </a:pPr>
              <a:t>10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128582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192705-0287-455C-8B1E-52A3F2D8A575}" type="slidenum">
              <a:rPr lang="en-US" altLang="id-ID"/>
              <a:pPr>
                <a:spcBef>
                  <a:spcPct val="0"/>
                </a:spcBef>
              </a:pPr>
              <a:t>11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70270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DA6EB1-EE78-45F5-9871-EE17BBCF1D4C}" type="slidenum">
              <a:rPr lang="en-US" altLang="id-ID"/>
              <a:pPr>
                <a:spcBef>
                  <a:spcPct val="0"/>
                </a:spcBef>
              </a:pPr>
              <a:t>12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472985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2A5075-037B-44E0-8A4F-7EB4D4EC087E}" type="slidenum">
              <a:rPr lang="en-US" altLang="id-ID"/>
              <a:pPr>
                <a:spcBef>
                  <a:spcPct val="0"/>
                </a:spcBef>
              </a:pPr>
              <a:t>13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352848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80435C-C321-4A4F-85A6-D66D294975BD}" type="slidenum">
              <a:rPr lang="en-US" altLang="id-ID"/>
              <a:pPr>
                <a:spcBef>
                  <a:spcPct val="0"/>
                </a:spcBef>
              </a:pPr>
              <a:t>14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96845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E61416-EC3F-4A00-958D-D5DA1484334C}" type="slidenum">
              <a:rPr lang="en-US" altLang="id-ID"/>
              <a:pPr>
                <a:spcBef>
                  <a:spcPct val="0"/>
                </a:spcBef>
              </a:pPr>
              <a:t>15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970308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CC86DC-5A2C-4027-B574-381FB0245CB3}" type="slidenum">
              <a:rPr lang="en-US" altLang="id-ID" smtClean="0"/>
              <a:pPr>
                <a:spcBef>
                  <a:spcPct val="0"/>
                </a:spcBef>
              </a:pPr>
              <a:t>16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3986359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CCF0CE-6B1E-4EBB-AF7E-5C6A17E26CA7}" type="slidenum">
              <a:rPr lang="en-US" altLang="id-ID" smtClean="0"/>
              <a:pPr>
                <a:spcBef>
                  <a:spcPct val="0"/>
                </a:spcBef>
              </a:pPr>
              <a:t>17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2812439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48EB8D-D843-4B62-90B2-EB1EBDB0FAFF}" type="slidenum">
              <a:rPr lang="en-US" altLang="id-ID" smtClean="0"/>
              <a:pPr>
                <a:spcBef>
                  <a:spcPct val="0"/>
                </a:spcBef>
              </a:pPr>
              <a:t>18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3653457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68DF1A-0AA4-4C5A-9C59-6E47A5456C42}" type="slidenum">
              <a:rPr lang="en-US" altLang="id-ID" smtClean="0"/>
              <a:pPr>
                <a:spcBef>
                  <a:spcPct val="0"/>
                </a:spcBef>
              </a:pPr>
              <a:t>19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24451457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F0159D2-200B-403F-A063-0D3C580AB96B}" type="slidenum">
              <a:rPr lang="en-US" altLang="id-ID" smtClean="0"/>
              <a:pPr>
                <a:spcBef>
                  <a:spcPct val="0"/>
                </a:spcBef>
              </a:pPr>
              <a:t>20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830715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7DA1623-0644-40D4-9EC6-308B27EE25B1}" type="slidenum">
              <a:rPr lang="en-US" altLang="id-ID" smtClean="0"/>
              <a:pPr>
                <a:spcBef>
                  <a:spcPct val="0"/>
                </a:spcBef>
              </a:pPr>
              <a:t>22</a:t>
            </a:fld>
            <a:endParaRPr lang="en-US" altLang="id-ID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id-ID" smtClean="0">
                <a:latin typeface="Arial" panose="020B0604020202020204" pitchFamily="34" charset="0"/>
                <a:cs typeface="Arial" panose="020B0604020202020204" pitchFamily="34" charset="0"/>
              </a:rPr>
              <a:t>re=1/gm</a:t>
            </a:r>
          </a:p>
        </p:txBody>
      </p:sp>
    </p:spTree>
    <p:extLst>
      <p:ext uri="{BB962C8B-B14F-4D97-AF65-F5344CB8AC3E}">
        <p14:creationId xmlns:p14="http://schemas.microsoft.com/office/powerpoint/2010/main" val="1271500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BC128B9-4032-4AA1-AAAD-3EBE448EB6B5}" type="slidenum">
              <a:rPr lang="en-US" altLang="id-ID" smtClean="0"/>
              <a:pPr>
                <a:spcBef>
                  <a:spcPct val="0"/>
                </a:spcBef>
              </a:pPr>
              <a:t>23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23062055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A7FE9C-74F8-49C7-A1C8-16A0A9A5B22C}" type="slidenum">
              <a:rPr lang="en-US" altLang="id-ID" smtClean="0"/>
              <a:pPr>
                <a:spcBef>
                  <a:spcPct val="0"/>
                </a:spcBef>
              </a:pPr>
              <a:t>24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5861712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4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9.bin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 txBox="1">
            <a:spLocks/>
          </p:cNvSpPr>
          <p:nvPr/>
        </p:nvSpPr>
        <p:spPr>
          <a:xfrm>
            <a:off x="5038473" y="1264112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34110" y="395322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878976450"/>
              </p:ext>
            </p:extLst>
          </p:nvPr>
        </p:nvGraphicFramePr>
        <p:xfrm>
          <a:off x="2063476" y="3434555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6" y="3415832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Respon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 smtClean="0"/>
              <a:t>Rendah</a:t>
            </a:r>
            <a:r>
              <a:rPr lang="en-US" dirty="0" smtClean="0"/>
              <a:t> </a:t>
            </a:r>
            <a:r>
              <a:rPr lang="en-US" dirty="0"/>
              <a:t>transistor BJT </a:t>
            </a:r>
            <a:r>
              <a:rPr lang="en-US" dirty="0" err="1"/>
              <a:t>dan</a:t>
            </a:r>
            <a:r>
              <a:rPr lang="en-US" dirty="0"/>
              <a:t> FET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Capaian</a:t>
            </a:r>
            <a:r>
              <a:rPr lang="en-US" dirty="0" smtClean="0"/>
              <a:t>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Mengerti</a:t>
            </a:r>
            <a:r>
              <a:rPr lang="en-US" dirty="0" smtClean="0"/>
              <a:t> </a:t>
            </a:r>
            <a:r>
              <a:rPr lang="en-US" dirty="0" err="1"/>
              <a:t>respon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 smtClean="0"/>
              <a:t>rendah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dirty="0"/>
              <a:t>model </a:t>
            </a:r>
            <a:r>
              <a:rPr lang="en-US" dirty="0" err="1"/>
              <a:t>penguat</a:t>
            </a:r>
            <a:r>
              <a:rPr lang="en-US" dirty="0"/>
              <a:t> di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 smtClean="0"/>
              <a:t>rendah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 smtClean="0"/>
              <a:t>rendah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konfigurasi</a:t>
            </a:r>
            <a:r>
              <a:rPr lang="en-US" dirty="0"/>
              <a:t> </a:t>
            </a:r>
            <a:r>
              <a:rPr lang="en-US" dirty="0" err="1"/>
              <a:t>penguat</a:t>
            </a:r>
            <a:r>
              <a:rPr lang="en-US" dirty="0"/>
              <a:t>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spesifikasi</a:t>
            </a:r>
            <a:r>
              <a:rPr lang="en-US" dirty="0"/>
              <a:t> </a:t>
            </a:r>
            <a:r>
              <a:rPr lang="en-US" dirty="0" err="1"/>
              <a:t>respon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yang </a:t>
            </a:r>
            <a:r>
              <a:rPr lang="en-US" dirty="0" err="1"/>
              <a:t>diiinginkan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90499" y="5988734"/>
            <a:ext cx="11549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https://unacademy.com/lesson/low-frequency-analysis-of-bjt-amplifier/5TUKWO6Z</a:t>
            </a:r>
          </a:p>
        </p:txBody>
      </p:sp>
    </p:spTree>
    <p:extLst>
      <p:ext uri="{BB962C8B-B14F-4D97-AF65-F5344CB8AC3E}">
        <p14:creationId xmlns:p14="http://schemas.microsoft.com/office/powerpoint/2010/main" val="27783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Respon</a:t>
            </a:r>
            <a:r>
              <a:rPr lang="en-US" dirty="0" smtClean="0"/>
              <a:t> </a:t>
            </a:r>
            <a:r>
              <a:rPr lang="en-US" dirty="0" err="1" smtClean="0"/>
              <a:t>frekuensi</a:t>
            </a:r>
            <a:r>
              <a:rPr lang="en-US" dirty="0" smtClean="0"/>
              <a:t> </a:t>
            </a:r>
            <a:r>
              <a:rPr lang="en-US" dirty="0" smtClean="0"/>
              <a:t>::&gt;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 smtClean="0"/>
              <a:t>representasi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/>
              <a:t>respon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input </a:t>
            </a:r>
            <a:r>
              <a:rPr lang="en-US" dirty="0" smtClean="0"/>
              <a:t>sinusoidal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/>
              <a:t>frekuensi</a:t>
            </a:r>
            <a:r>
              <a:rPr lang="en-US" dirty="0"/>
              <a:t> yang </a:t>
            </a:r>
            <a:r>
              <a:rPr lang="en-US" dirty="0" err="1" smtClean="0"/>
              <a:t>bervariasi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respon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alih</a:t>
            </a:r>
            <a:r>
              <a:rPr lang="en-US" dirty="0"/>
              <a:t> </a:t>
            </a:r>
            <a:r>
              <a:rPr lang="en-US" dirty="0" err="1"/>
              <a:t>sinusoida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50" name="Picture 2" descr="http://1.bp.blogspot.com/-w_onitZ1AUI/U0Jum-X4EPI/AAAAAAAAACs/y_5oqrow74g/s1600/Proses+respon+frekuens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4191001"/>
            <a:ext cx="4739292" cy="183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37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Karakteristik Respon Frekuensi</a:t>
            </a:r>
            <a:endParaRPr lang="en-US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01" y="1295400"/>
            <a:ext cx="8767371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716110" y="3820733"/>
            <a:ext cx="1752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/>
              <a:t>Kapasitor</a:t>
            </a:r>
          </a:p>
          <a:p>
            <a:r>
              <a:rPr lang="id-ID" sz="2800" dirty="0"/>
              <a:t>eksternal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839200" y="3810001"/>
            <a:ext cx="1752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/>
              <a:t>Kapasitor</a:t>
            </a:r>
          </a:p>
          <a:p>
            <a:r>
              <a:rPr lang="id-ID" sz="2800" dirty="0"/>
              <a:t>internal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2753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Respon Frekuensi Rendah</a:t>
            </a:r>
          </a:p>
        </p:txBody>
      </p:sp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1511300"/>
            <a:ext cx="6296025" cy="450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339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Analisis sama seperti sinyal ac kecil dengan asumsi r</a:t>
            </a:r>
            <a:r>
              <a:rPr lang="en-US" altLang="id-ID" sz="2400"/>
              <a:t>d</a:t>
            </a:r>
            <a:r>
              <a:rPr lang="en-US" altLang="id-ID" smtClean="0"/>
              <a:t> diabaikan karena pengaruh frekuensi rendah sangat tidak signifikan terhadap r</a:t>
            </a:r>
            <a:r>
              <a:rPr lang="en-US" altLang="id-ID" sz="2400"/>
              <a:t>d</a:t>
            </a:r>
            <a:r>
              <a:rPr lang="en-US" altLang="id-ID" smtClean="0"/>
              <a:t>.</a:t>
            </a:r>
          </a:p>
          <a:p>
            <a:pPr eaLnBrk="1" hangingPunct="1"/>
            <a:r>
              <a:rPr lang="id-ID" altLang="id-ID" smtClean="0"/>
              <a:t>Pada saat meninjau salah satu kapasitor diasumsikan kapasitor lainnya dibuat hubung singkat atau short circuit.</a:t>
            </a:r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1735347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800"/>
              <a:t>Rangkaian Ekivalen JFET Sinyal ac Kecil (model T)</a:t>
            </a:r>
            <a:endParaRPr lang="ru-RU" sz="3800"/>
          </a:p>
        </p:txBody>
      </p:sp>
      <p:graphicFrame>
        <p:nvGraphicFramePr>
          <p:cNvPr id="32771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2362201" y="1600201"/>
          <a:ext cx="4037013" cy="384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Visio" r:id="rId4" imgW="3057144" imgH="2911043" progId="Visio.Drawing.11">
                  <p:embed/>
                </p:oleObj>
              </mc:Choice>
              <mc:Fallback>
                <p:oleObj name="Visio" r:id="rId4" imgW="3057144" imgH="2911043" progId="Visio.Drawing.11">
                  <p:embed/>
                  <p:pic>
                    <p:nvPicPr>
                      <p:cNvPr id="32771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600201"/>
                        <a:ext cx="4037013" cy="384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553200" y="1524000"/>
          <a:ext cx="3429000" cy="304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Visio" r:id="rId6" imgW="2828020" imgH="2508301" progId="Visio.Drawing.11">
                  <p:embed/>
                </p:oleObj>
              </mc:Choice>
              <mc:Fallback>
                <p:oleObj name="Visio" r:id="rId6" imgW="2828020" imgH="2508301" progId="Visio.Drawing.11">
                  <p:embed/>
                  <p:pic>
                    <p:nvPicPr>
                      <p:cNvPr id="32772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524000"/>
                        <a:ext cx="3429000" cy="304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529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9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981200" y="533401"/>
          <a:ext cx="8458200" cy="529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Visio" r:id="rId4" imgW="4801481" imgH="3004515" progId="Visio.Drawing.11">
                  <p:embed/>
                </p:oleObj>
              </mc:Choice>
              <mc:Fallback>
                <p:oleObj name="Visio" r:id="rId4" imgW="4801481" imgH="3004515" progId="Visio.Drawing.11">
                  <p:embed/>
                  <p:pic>
                    <p:nvPicPr>
                      <p:cNvPr id="34819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33401"/>
                        <a:ext cx="8458200" cy="529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79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Tinjau C</a:t>
            </a:r>
            <a:r>
              <a:rPr lang="en-US" altLang="id-ID" sz="2400"/>
              <a:t>C1</a:t>
            </a: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>
            <a:off x="1524001" y="24204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800">
              <a:latin typeface="Arial" panose="020B0604020202020204" pitchFamily="34" charset="0"/>
            </a:endParaRPr>
          </a:p>
        </p:txBody>
      </p:sp>
      <p:graphicFrame>
        <p:nvGraphicFramePr>
          <p:cNvPr id="36869" name="Object 4"/>
          <p:cNvGraphicFramePr>
            <a:graphicFrameLocks noChangeAspect="1"/>
          </p:cNvGraphicFramePr>
          <p:nvPr>
            <p:extLst/>
          </p:nvPr>
        </p:nvGraphicFramePr>
        <p:xfrm>
          <a:off x="2514600" y="1524000"/>
          <a:ext cx="7391400" cy="424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Visio" r:id="rId4" imgW="4856131" imgH="2793594" progId="Visio.Drawing.11">
                  <p:embed/>
                </p:oleObj>
              </mc:Choice>
              <mc:Fallback>
                <p:oleObj name="Visio" r:id="rId4" imgW="4856131" imgH="2793594" progId="Visio.Drawing.11">
                  <p:embed/>
                  <p:pic>
                    <p:nvPicPr>
                      <p:cNvPr id="3686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524000"/>
                        <a:ext cx="7391400" cy="424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487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title"/>
          </p:nvPr>
        </p:nvSpPr>
        <p:spPr>
          <a:xfrm>
            <a:off x="2152650" y="1678657"/>
            <a:ext cx="7886700" cy="45803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id-ID" altLang="id-ID" smtClean="0"/>
              <a:t> </a:t>
            </a:r>
          </a:p>
        </p:txBody>
      </p:sp>
      <p:sp>
        <p:nvSpPr>
          <p:cNvPr id="38915" name="Rectangle 9"/>
          <p:cNvSpPr>
            <a:spLocks noChangeArrowheads="1"/>
          </p:cNvSpPr>
          <p:nvPr/>
        </p:nvSpPr>
        <p:spPr bwMode="auto">
          <a:xfrm>
            <a:off x="1524001" y="2599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800">
              <a:latin typeface="Arial" panose="020B0604020202020204" pitchFamily="34" charset="0"/>
            </a:endParaRPr>
          </a:p>
        </p:txBody>
      </p:sp>
      <p:graphicFrame>
        <p:nvGraphicFramePr>
          <p:cNvPr id="38916" name="Object 8"/>
          <p:cNvGraphicFramePr>
            <a:graphicFrameLocks noChangeAspect="1"/>
          </p:cNvGraphicFramePr>
          <p:nvPr>
            <p:extLst/>
          </p:nvPr>
        </p:nvGraphicFramePr>
        <p:xfrm>
          <a:off x="1752600" y="1074738"/>
          <a:ext cx="8686800" cy="433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4" imgW="5803900" imgH="2895600" progId="Equation.3">
                  <p:embed/>
                </p:oleObj>
              </mc:Choice>
              <mc:Fallback>
                <p:oleObj name="Equation" r:id="rId4" imgW="5803900" imgH="2895600" progId="Equation.3">
                  <p:embed/>
                  <p:pic>
                    <p:nvPicPr>
                      <p:cNvPr id="389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074738"/>
                        <a:ext cx="8686800" cy="433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042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Tinjau Cs</a:t>
            </a:r>
          </a:p>
        </p:txBody>
      </p:sp>
      <p:sp>
        <p:nvSpPr>
          <p:cNvPr id="40964" name="Rectangle 5"/>
          <p:cNvSpPr>
            <a:spLocks noChangeArrowheads="1"/>
          </p:cNvSpPr>
          <p:nvPr/>
        </p:nvSpPr>
        <p:spPr bwMode="auto">
          <a:xfrm>
            <a:off x="1524001" y="2234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800">
              <a:latin typeface="Arial" panose="020B0604020202020204" pitchFamily="34" charset="0"/>
            </a:endParaRPr>
          </a:p>
        </p:txBody>
      </p:sp>
      <p:graphicFrame>
        <p:nvGraphicFramePr>
          <p:cNvPr id="40965" name="Object 4"/>
          <p:cNvGraphicFramePr>
            <a:graphicFrameLocks noChangeAspect="1"/>
          </p:cNvGraphicFramePr>
          <p:nvPr/>
        </p:nvGraphicFramePr>
        <p:xfrm>
          <a:off x="2057400" y="1371600"/>
          <a:ext cx="7239000" cy="455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Visio" r:id="rId4" imgW="4856131" imgH="3045562" progId="Visio.Drawing.11">
                  <p:embed/>
                </p:oleObj>
              </mc:Choice>
              <mc:Fallback>
                <p:oleObj name="Visio" r:id="rId4" imgW="4856131" imgH="3045562" progId="Visio.Drawing.11">
                  <p:embed/>
                  <p:pic>
                    <p:nvPicPr>
                      <p:cNvPr id="4096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371600"/>
                        <a:ext cx="7239000" cy="455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159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5"/>
          <p:cNvSpPr>
            <a:spLocks noChangeArrowheads="1"/>
          </p:cNvSpPr>
          <p:nvPr/>
        </p:nvSpPr>
        <p:spPr bwMode="auto">
          <a:xfrm>
            <a:off x="1524001" y="1720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800">
              <a:latin typeface="Arial" panose="020B0604020202020204" pitchFamily="34" charset="0"/>
            </a:endParaRPr>
          </a:p>
        </p:txBody>
      </p:sp>
      <p:graphicFrame>
        <p:nvGraphicFramePr>
          <p:cNvPr id="43013" name="Object 4"/>
          <p:cNvGraphicFramePr>
            <a:graphicFrameLocks noChangeAspect="1"/>
          </p:cNvGraphicFramePr>
          <p:nvPr>
            <p:extLst/>
          </p:nvPr>
        </p:nvGraphicFramePr>
        <p:xfrm>
          <a:off x="3508376" y="26988"/>
          <a:ext cx="6778625" cy="663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4" imgW="3085920" imgH="3022560" progId="Equation.3">
                  <p:embed/>
                </p:oleObj>
              </mc:Choice>
              <mc:Fallback>
                <p:oleObj name="Equation" r:id="rId4" imgW="3085920" imgH="3022560" progId="Equation.3">
                  <p:embed/>
                  <p:pic>
                    <p:nvPicPr>
                      <p:cNvPr id="430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376" y="26988"/>
                        <a:ext cx="6778625" cy="663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653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Tinjau C</a:t>
            </a:r>
            <a:r>
              <a:rPr lang="en-US" altLang="id-ID" sz="2400"/>
              <a:t>C2</a:t>
            </a:r>
          </a:p>
        </p:txBody>
      </p:sp>
      <p:sp>
        <p:nvSpPr>
          <p:cNvPr id="45060" name="Rectangle 5"/>
          <p:cNvSpPr>
            <a:spLocks noChangeArrowheads="1"/>
          </p:cNvSpPr>
          <p:nvPr/>
        </p:nvSpPr>
        <p:spPr bwMode="auto">
          <a:xfrm>
            <a:off x="1524001" y="2229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800">
              <a:latin typeface="Arial" panose="020B0604020202020204" pitchFamily="34" charset="0"/>
            </a:endParaRPr>
          </a:p>
        </p:txBody>
      </p:sp>
      <p:graphicFrame>
        <p:nvGraphicFramePr>
          <p:cNvPr id="45061" name="Object 4"/>
          <p:cNvGraphicFramePr>
            <a:graphicFrameLocks noChangeAspect="1"/>
          </p:cNvGraphicFramePr>
          <p:nvPr/>
        </p:nvGraphicFramePr>
        <p:xfrm>
          <a:off x="2209800" y="1447800"/>
          <a:ext cx="7848600" cy="437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Visio" r:id="rId4" imgW="4856131" imgH="2714346" progId="Visio.Drawing.11">
                  <p:embed/>
                </p:oleObj>
              </mc:Choice>
              <mc:Fallback>
                <p:oleObj name="Visio" r:id="rId4" imgW="4856131" imgH="2714346" progId="Visio.Drawing.11">
                  <p:embed/>
                  <p:pic>
                    <p:nvPicPr>
                      <p:cNvPr id="4506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447800"/>
                        <a:ext cx="7848600" cy="437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48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5"/>
          <p:cNvSpPr>
            <a:spLocks noChangeArrowheads="1"/>
          </p:cNvSpPr>
          <p:nvPr/>
        </p:nvSpPr>
        <p:spPr bwMode="auto">
          <a:xfrm>
            <a:off x="1524001" y="13536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800">
              <a:latin typeface="Arial" panose="020B0604020202020204" pitchFamily="34" charset="0"/>
            </a:endParaRPr>
          </a:p>
        </p:txBody>
      </p:sp>
      <p:graphicFrame>
        <p:nvGraphicFramePr>
          <p:cNvPr id="47109" name="Object 4"/>
          <p:cNvGraphicFramePr>
            <a:graphicFrameLocks noChangeAspect="1"/>
          </p:cNvGraphicFramePr>
          <p:nvPr>
            <p:extLst/>
          </p:nvPr>
        </p:nvGraphicFramePr>
        <p:xfrm>
          <a:off x="1752600" y="735012"/>
          <a:ext cx="8915400" cy="543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4" imgW="6197600" imgH="3784600" progId="Equation.3">
                  <p:embed/>
                </p:oleObj>
              </mc:Choice>
              <mc:Fallback>
                <p:oleObj name="Equation" r:id="rId4" imgW="6197600" imgH="3784600" progId="Equation.3">
                  <p:embed/>
                  <p:pic>
                    <p:nvPicPr>
                      <p:cNvPr id="4710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735012"/>
                        <a:ext cx="8915400" cy="543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5831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id-ID" sz="3800"/>
              <a:t>Sehingga saat semua kapasitor bergabung secara bersama maka :</a:t>
            </a:r>
            <a:endParaRPr lang="en-US" altLang="id-ID" sz="3800"/>
          </a:p>
        </p:txBody>
      </p:sp>
      <p:sp>
        <p:nvSpPr>
          <p:cNvPr id="49156" name="Rectangle 5"/>
          <p:cNvSpPr>
            <a:spLocks noChangeArrowheads="1"/>
          </p:cNvSpPr>
          <p:nvPr/>
        </p:nvSpPr>
        <p:spPr bwMode="auto">
          <a:xfrm>
            <a:off x="1524001" y="2991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800">
              <a:latin typeface="Arial" panose="020B0604020202020204" pitchFamily="34" charset="0"/>
            </a:endParaRPr>
          </a:p>
        </p:txBody>
      </p:sp>
      <p:graphicFrame>
        <p:nvGraphicFramePr>
          <p:cNvPr id="49157" name="Object 4"/>
          <p:cNvGraphicFramePr>
            <a:graphicFrameLocks noChangeAspect="1"/>
          </p:cNvGraphicFramePr>
          <p:nvPr/>
        </p:nvGraphicFramePr>
        <p:xfrm>
          <a:off x="2057400" y="1752600"/>
          <a:ext cx="80772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4" imgW="3771900" imgH="508000" progId="Equation.3">
                  <p:embed/>
                </p:oleObj>
              </mc:Choice>
              <mc:Fallback>
                <p:oleObj name="Equation" r:id="rId4" imgW="3771900" imgH="508000" progId="Equation.3">
                  <p:embed/>
                  <p:pic>
                    <p:nvPicPr>
                      <p:cNvPr id="491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752600"/>
                        <a:ext cx="80772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95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Respon Frekuensi Rendah</a:t>
            </a:r>
          </a:p>
        </p:txBody>
      </p:sp>
      <p:pic>
        <p:nvPicPr>
          <p:cNvPr id="3174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49400"/>
            <a:ext cx="7620000" cy="447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993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Analisis sama seperti sinyal ac kecil dengan asumsi r</a:t>
            </a:r>
            <a:r>
              <a:rPr lang="en-US" altLang="id-ID" sz="2400"/>
              <a:t>o</a:t>
            </a:r>
            <a:r>
              <a:rPr lang="en-US" altLang="id-ID" smtClean="0"/>
              <a:t> diabaikan karena pengaruh frekuensi rendah sangat tidak signifikan terhadap r</a:t>
            </a:r>
            <a:r>
              <a:rPr lang="en-US" altLang="id-ID" sz="2400"/>
              <a:t>o</a:t>
            </a:r>
            <a:r>
              <a:rPr lang="en-US" altLang="id-ID" smtClean="0"/>
              <a:t>.</a:t>
            </a:r>
          </a:p>
          <a:p>
            <a:pPr eaLnBrk="1" hangingPunct="1"/>
            <a:r>
              <a:rPr lang="en-US" altLang="id-ID" smtClean="0"/>
              <a:t>Asumsi saat meninjau di kapasitor tertentu kapasitor lainnya dibuat hubung singkat</a:t>
            </a:r>
          </a:p>
        </p:txBody>
      </p:sp>
    </p:spTree>
    <p:extLst>
      <p:ext uri="{BB962C8B-B14F-4D97-AF65-F5344CB8AC3E}">
        <p14:creationId xmlns:p14="http://schemas.microsoft.com/office/powerpoint/2010/main" val="45767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3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1658939" y="1219201"/>
          <a:ext cx="8643937" cy="287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Visio" r:id="rId4" imgW="5231392" imgH="1739392" progId="Visio.Drawing.11">
                  <p:embed/>
                </p:oleObj>
              </mc:Choice>
              <mc:Fallback>
                <p:oleObj name="Visio" r:id="rId4" imgW="5231392" imgH="1739392" progId="Visio.Drawing.11">
                  <p:embed/>
                  <p:pic>
                    <p:nvPicPr>
                      <p:cNvPr id="35843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9" y="1219201"/>
                        <a:ext cx="8643937" cy="287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784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Tinjau Kapasitor C</a:t>
            </a:r>
            <a:r>
              <a:rPr lang="en-US" altLang="id-ID" sz="2000"/>
              <a:t>C1</a:t>
            </a:r>
          </a:p>
        </p:txBody>
      </p:sp>
      <p:graphicFrame>
        <p:nvGraphicFramePr>
          <p:cNvPr id="37891" name="Object 9"/>
          <p:cNvGraphicFramePr>
            <a:graphicFrameLocks noGrp="1" noChangeAspect="1"/>
          </p:cNvGraphicFramePr>
          <p:nvPr>
            <p:ph sz="half" idx="1"/>
          </p:nvPr>
        </p:nvGraphicFramePr>
        <p:xfrm>
          <a:off x="2116138" y="1219200"/>
          <a:ext cx="5961062" cy="198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Visio" r:id="rId4" imgW="5231392" imgH="1739392" progId="Visio.Drawing.11">
                  <p:embed/>
                </p:oleObj>
              </mc:Choice>
              <mc:Fallback>
                <p:oleObj name="Visio" r:id="rId4" imgW="5231392" imgH="1739392" progId="Visio.Drawing.11">
                  <p:embed/>
                  <p:pic>
                    <p:nvPicPr>
                      <p:cNvPr id="37891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138" y="1219200"/>
                        <a:ext cx="5961062" cy="198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1905000" y="3124200"/>
          <a:ext cx="7848600" cy="355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Equation" r:id="rId6" imgW="4483100" imgH="2032000" progId="Equation.3">
                  <p:embed/>
                </p:oleObj>
              </mc:Choice>
              <mc:Fallback>
                <p:oleObj name="Equation" r:id="rId6" imgW="4483100" imgH="2032000" progId="Equation.3">
                  <p:embed/>
                  <p:pic>
                    <p:nvPicPr>
                      <p:cNvPr id="37892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124200"/>
                        <a:ext cx="7848600" cy="355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144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Tinjau Kapasitor C</a:t>
            </a:r>
            <a:r>
              <a:rPr lang="en-US" altLang="id-ID" sz="2000"/>
              <a:t>C2</a:t>
            </a:r>
          </a:p>
        </p:txBody>
      </p:sp>
      <p:graphicFrame>
        <p:nvGraphicFramePr>
          <p:cNvPr id="39939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1981200" y="1219200"/>
          <a:ext cx="64008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Visio" r:id="rId4" imgW="5231392" imgH="1739392" progId="Visio.Drawing.11">
                  <p:embed/>
                </p:oleObj>
              </mc:Choice>
              <mc:Fallback>
                <p:oleObj name="Visio" r:id="rId4" imgW="5231392" imgH="1739392" progId="Visio.Drawing.11">
                  <p:embed/>
                  <p:pic>
                    <p:nvPicPr>
                      <p:cNvPr id="39939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0"/>
                        <a:ext cx="64008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281238" y="3429001"/>
          <a:ext cx="7042150" cy="341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6" imgW="4559300" imgH="2209800" progId="Equation.3">
                  <p:embed/>
                </p:oleObj>
              </mc:Choice>
              <mc:Fallback>
                <p:oleObj name="Equation" r:id="rId6" imgW="4559300" imgH="2209800" progId="Equation.3">
                  <p:embed/>
                  <p:pic>
                    <p:nvPicPr>
                      <p:cNvPr id="3994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3429001"/>
                        <a:ext cx="7042150" cy="341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288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9" name="Picture 5" descr="sedr42021_tb0504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2667000"/>
            <a:ext cx="4200525" cy="237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 descr="sedr42021_tb0504c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960" y="2830862"/>
            <a:ext cx="1402080" cy="234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515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Tinjau Kapasitor C</a:t>
            </a:r>
            <a:r>
              <a:rPr lang="en-US" altLang="id-ID" sz="2400"/>
              <a:t>E</a:t>
            </a:r>
          </a:p>
        </p:txBody>
      </p:sp>
      <p:graphicFrame>
        <p:nvGraphicFramePr>
          <p:cNvPr id="43011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1524000" y="877889"/>
          <a:ext cx="6172200" cy="357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Visio" r:id="rId4" imgW="4367522" imgH="2531466" progId="Visio.Drawing.11">
                  <p:embed/>
                </p:oleObj>
              </mc:Choice>
              <mc:Fallback>
                <p:oleObj name="Visio" r:id="rId4" imgW="4367522" imgH="2531466" progId="Visio.Drawing.11">
                  <p:embed/>
                  <p:pic>
                    <p:nvPicPr>
                      <p:cNvPr id="43011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877889"/>
                        <a:ext cx="6172200" cy="357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5257800" y="2971801"/>
          <a:ext cx="5562600" cy="390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Visio" r:id="rId6" imgW="3604046" imgH="2531466" progId="Visio.Drawing.11">
                  <p:embed/>
                </p:oleObj>
              </mc:Choice>
              <mc:Fallback>
                <p:oleObj name="Visio" r:id="rId6" imgW="3604046" imgH="2531466" progId="Visio.Drawing.11">
                  <p:embed/>
                  <p:pic>
                    <p:nvPicPr>
                      <p:cNvPr id="43012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971801"/>
                        <a:ext cx="5562600" cy="390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AutoShape 14"/>
          <p:cNvSpPr>
            <a:spLocks noChangeArrowheads="1"/>
          </p:cNvSpPr>
          <p:nvPr/>
        </p:nvSpPr>
        <p:spPr bwMode="auto">
          <a:xfrm rot="3984305">
            <a:off x="2470944" y="4539457"/>
            <a:ext cx="1671638" cy="669925"/>
          </a:xfrm>
          <a:prstGeom prst="curvedUpArrow">
            <a:avLst>
              <a:gd name="adj1" fmla="val 49905"/>
              <a:gd name="adj2" fmla="val 99810"/>
              <a:gd name="adj3" fmla="val 33333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800">
              <a:latin typeface="Arial" panose="020B0604020202020204" pitchFamily="34" charset="0"/>
            </a:endParaRPr>
          </a:p>
        </p:txBody>
      </p:sp>
      <p:sp>
        <p:nvSpPr>
          <p:cNvPr id="43014" name="Text Box 15"/>
          <p:cNvSpPr txBox="1">
            <a:spLocks noChangeArrowheads="1"/>
          </p:cNvSpPr>
          <p:nvPr/>
        </p:nvSpPr>
        <p:spPr bwMode="auto">
          <a:xfrm>
            <a:off x="3352800" y="4572001"/>
            <a:ext cx="1187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d-ID" sz="1800" b="1">
                <a:latin typeface="Arial" panose="020B0604020202020204" pitchFamily="34" charset="0"/>
              </a:rPr>
              <a:t>Thevenin</a:t>
            </a:r>
          </a:p>
        </p:txBody>
      </p:sp>
    </p:spTree>
    <p:extLst>
      <p:ext uri="{BB962C8B-B14F-4D97-AF65-F5344CB8AC3E}">
        <p14:creationId xmlns:p14="http://schemas.microsoft.com/office/powerpoint/2010/main" val="346448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133600" y="1408114"/>
          <a:ext cx="7315200" cy="459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4" imgW="4787900" imgH="3009900" progId="Equation.3">
                  <p:embed/>
                </p:oleObj>
              </mc:Choice>
              <mc:Fallback>
                <p:oleObj name="Equation" r:id="rId4" imgW="4787900" imgH="3009900" progId="Equation.3">
                  <p:embed/>
                  <p:pic>
                    <p:nvPicPr>
                      <p:cNvPr id="45058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408114"/>
                        <a:ext cx="7315200" cy="459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600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2487614" y="1633538"/>
          <a:ext cx="6961187" cy="436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4" imgW="4330700" imgH="2717800" progId="Equation.3">
                  <p:embed/>
                </p:oleObj>
              </mc:Choice>
              <mc:Fallback>
                <p:oleObj name="Equation" r:id="rId4" imgW="4330700" imgH="2717800" progId="Equation.3">
                  <p:embed/>
                  <p:pic>
                    <p:nvPicPr>
                      <p:cNvPr id="47106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4" y="1633538"/>
                        <a:ext cx="6961187" cy="436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08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474028532"/>
              </p:ext>
            </p:extLst>
          </p:nvPr>
        </p:nvGraphicFramePr>
        <p:xfrm>
          <a:off x="1981200" y="5655129"/>
          <a:ext cx="8229600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Pie 27"/>
          <p:cNvSpPr/>
          <p:nvPr/>
        </p:nvSpPr>
        <p:spPr>
          <a:xfrm rot="10600249">
            <a:off x="9753600" y="565512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Tentukan nilai C</a:t>
            </a:r>
            <a:r>
              <a:rPr lang="id-ID" baseline="-25000" dirty="0"/>
              <a:t>C</a:t>
            </a:r>
            <a:r>
              <a:rPr lang="id-ID" dirty="0"/>
              <a:t> agar frekuensi </a:t>
            </a:r>
            <a:r>
              <a:rPr lang="id-ID" i="1" dirty="0"/>
              <a:t>cut – off </a:t>
            </a:r>
            <a:r>
              <a:rPr lang="id-ID" dirty="0"/>
              <a:t>bawah sekitar 15 Hz dengan ß = 200 dan r</a:t>
            </a:r>
            <a:r>
              <a:rPr lang="id-ID" baseline="-25000" dirty="0"/>
              <a:t>o</a:t>
            </a:r>
            <a:r>
              <a:rPr lang="id-ID" dirty="0"/>
              <a:t> = ∞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519" y="2800350"/>
            <a:ext cx="334327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3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23803</TotalTime>
  <Words>280</Words>
  <Application>Microsoft Office PowerPoint</Application>
  <PresentationFormat>Widescreen</PresentationFormat>
  <Paragraphs>82</Paragraphs>
  <Slides>26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맑은 고딕</vt:lpstr>
      <vt:lpstr>Arial</vt:lpstr>
      <vt:lpstr>Calibri</vt:lpstr>
      <vt:lpstr>Calibri Light</vt:lpstr>
      <vt:lpstr>Edwardian Script ITC</vt:lpstr>
      <vt:lpstr>Times New Roman</vt:lpstr>
      <vt:lpstr>Wingdings</vt:lpstr>
      <vt:lpstr>Office Theme</vt:lpstr>
      <vt:lpstr>Visio</vt:lpstr>
      <vt:lpstr>Equation</vt:lpstr>
      <vt:lpstr>PowerPoint Presentation</vt:lpstr>
      <vt:lpstr>Respon frekuensi Rendah transistor BJT dan FET</vt:lpstr>
      <vt:lpstr> </vt:lpstr>
      <vt:lpstr>Karakteristik Respon Frekuensi</vt:lpstr>
      <vt:lpstr>Respon Frekuensi Rendah</vt:lpstr>
      <vt:lpstr>PowerPoint Presentation</vt:lpstr>
      <vt:lpstr>Rangkaian Ekivalen JFET Sinyal ac Kecil (model T)</vt:lpstr>
      <vt:lpstr>PowerPoint Presentation</vt:lpstr>
      <vt:lpstr>Tinjau CC1</vt:lpstr>
      <vt:lpstr> </vt:lpstr>
      <vt:lpstr>Tinjau Cs</vt:lpstr>
      <vt:lpstr>PowerPoint Presentation</vt:lpstr>
      <vt:lpstr>Tinjau CC2</vt:lpstr>
      <vt:lpstr>PowerPoint Presentation</vt:lpstr>
      <vt:lpstr>Sehingga saat semua kapasitor bergabung secara bersama maka :</vt:lpstr>
      <vt:lpstr>Respon Frekuensi Rendah</vt:lpstr>
      <vt:lpstr>PowerPoint Presentation</vt:lpstr>
      <vt:lpstr>PowerPoint Presentation</vt:lpstr>
      <vt:lpstr>Tinjau Kapasitor CC1</vt:lpstr>
      <vt:lpstr>Tinjau Kapasitor CC2</vt:lpstr>
      <vt:lpstr>PowerPoint Presentation</vt:lpstr>
      <vt:lpstr>Tinjau Kapasitor CE</vt:lpstr>
      <vt:lpstr>PowerPoint Presentation</vt:lpstr>
      <vt:lpstr>PowerPoint Presentation</vt:lpstr>
      <vt:lpstr>PowerPoint Presentation</vt:lpstr>
      <vt:lpstr>HW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108</cp:revision>
  <dcterms:created xsi:type="dcterms:W3CDTF">2024-10-22T07:52:57Z</dcterms:created>
  <dcterms:modified xsi:type="dcterms:W3CDTF">2026-03-25T01:56:30Z</dcterms:modified>
</cp:coreProperties>
</file>