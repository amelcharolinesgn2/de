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64" r:id="rId2"/>
    <p:sldId id="280" r:id="rId3"/>
    <p:sldId id="281" r:id="rId4"/>
    <p:sldId id="282" r:id="rId5"/>
    <p:sldId id="283" r:id="rId6"/>
    <p:sldId id="284" r:id="rId7"/>
    <p:sldId id="285" r:id="rId8"/>
    <p:sldId id="286" r:id="rId9"/>
    <p:sldId id="287" r:id="rId10"/>
    <p:sldId id="288" r:id="rId11"/>
    <p:sldId id="289" r:id="rId12"/>
    <p:sldId id="290" r:id="rId13"/>
    <p:sldId id="291" r:id="rId14"/>
    <p:sldId id="292" r:id="rId15"/>
    <p:sldId id="293" r:id="rId16"/>
    <p:sldId id="294" r:id="rId17"/>
    <p:sldId id="295" r:id="rId18"/>
    <p:sldId id="296" r:id="rId19"/>
    <p:sldId id="297" r:id="rId20"/>
    <p:sldId id="298" r:id="rId21"/>
    <p:sldId id="299" r:id="rId22"/>
    <p:sldId id="300" r:id="rId23"/>
    <p:sldId id="301" r:id="rId24"/>
    <p:sldId id="302" r:id="rId25"/>
    <p:sldId id="303" r:id="rId26"/>
    <p:sldId id="304" r:id="rId27"/>
    <p:sldId id="305" r:id="rId28"/>
    <p:sldId id="306" r:id="rId29"/>
    <p:sldId id="278"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159" autoAdjust="0"/>
    <p:restoredTop sz="72042" autoAdjust="0"/>
  </p:normalViewPr>
  <p:slideViewPr>
    <p:cSldViewPr snapToGrid="0">
      <p:cViewPr varScale="1">
        <p:scale>
          <a:sx n="83" d="100"/>
          <a:sy n="83" d="100"/>
        </p:scale>
        <p:origin x="1722"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5D0C7D-798A-44DC-AC41-FEC01C38F0EB}" type="datetimeFigureOut">
              <a:rPr lang="en-US" smtClean="0"/>
              <a:t>3/27/2026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1A1DE6-A801-4746-9FC0-8352D20A3103}" type="slidenum">
              <a:rPr lang="en-US" smtClean="0"/>
              <a:t>‹#›</a:t>
            </a:fld>
            <a:endParaRPr lang="en-US"/>
          </a:p>
        </p:txBody>
      </p:sp>
    </p:spTree>
    <p:extLst>
      <p:ext uri="{BB962C8B-B14F-4D97-AF65-F5344CB8AC3E}">
        <p14:creationId xmlns:p14="http://schemas.microsoft.com/office/powerpoint/2010/main" val="28595932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http://www.sophphx.caltech.edu/Physics_5/Experiment_6.pdf</a:t>
            </a:r>
            <a:endParaRPr lang="en-US" dirty="0"/>
          </a:p>
        </p:txBody>
      </p:sp>
      <p:sp>
        <p:nvSpPr>
          <p:cNvPr id="4" name="Slide Number Placeholder 3"/>
          <p:cNvSpPr>
            <a:spLocks noGrp="1"/>
          </p:cNvSpPr>
          <p:nvPr>
            <p:ph type="sldNum" sz="quarter" idx="10"/>
          </p:nvPr>
        </p:nvSpPr>
        <p:spPr/>
        <p:txBody>
          <a:bodyPr/>
          <a:lstStyle/>
          <a:p>
            <a:fld id="{CDC773BF-E5C9-44BF-B19B-39EF1F90376E}" type="slidenum">
              <a:rPr lang="en-US" smtClean="0"/>
              <a:t>1</a:t>
            </a:fld>
            <a:endParaRPr lang="en-US"/>
          </a:p>
        </p:txBody>
      </p:sp>
    </p:spTree>
    <p:extLst>
      <p:ext uri="{BB962C8B-B14F-4D97-AF65-F5344CB8AC3E}">
        <p14:creationId xmlns:p14="http://schemas.microsoft.com/office/powerpoint/2010/main" val="884784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#include &lt;</a:t>
            </a:r>
            <a:r>
              <a:rPr lang="en-US" dirty="0" err="1" smtClean="0"/>
              <a:t>Wire.h</a:t>
            </a:r>
            <a:r>
              <a:rPr lang="en-US" dirty="0" smtClean="0"/>
              <a:t>&gt;</a:t>
            </a:r>
          </a:p>
          <a:p>
            <a:r>
              <a:rPr lang="en-US" dirty="0" smtClean="0"/>
              <a:t>#include &lt;LiquidCrystal_I2C.h&gt;</a:t>
            </a:r>
          </a:p>
          <a:p>
            <a:r>
              <a:rPr lang="en-US" dirty="0" smtClean="0"/>
              <a:t>LiquidCrystal_12C </a:t>
            </a:r>
            <a:r>
              <a:rPr lang="en-US" dirty="0" err="1" smtClean="0"/>
              <a:t>lcd</a:t>
            </a:r>
            <a:r>
              <a:rPr lang="en-US" dirty="0" smtClean="0"/>
              <a:t>(0x27,20,4); // set the LCD address to 0x27 for a 20 chars and</a:t>
            </a:r>
          </a:p>
          <a:p>
            <a:r>
              <a:rPr lang="en-US" dirty="0" smtClean="0"/>
              <a:t>4 line display</a:t>
            </a:r>
          </a:p>
          <a:p>
            <a:r>
              <a:rPr lang="en-US" dirty="0" err="1" smtClean="0"/>
              <a:t>int</a:t>
            </a:r>
            <a:r>
              <a:rPr lang="en-US" dirty="0" smtClean="0"/>
              <a:t> batt=A0, </a:t>
            </a:r>
            <a:r>
              <a:rPr lang="en-US" dirty="0" err="1" smtClean="0"/>
              <a:t>nilai_batt</a:t>
            </a:r>
            <a:r>
              <a:rPr lang="en-US" dirty="0" smtClean="0"/>
              <a:t>, </a:t>
            </a:r>
            <a:r>
              <a:rPr lang="en-US" dirty="0" err="1" smtClean="0"/>
              <a:t>persen_batt</a:t>
            </a:r>
            <a:r>
              <a:rPr lang="en-US" dirty="0" smtClean="0"/>
              <a:t>, </a:t>
            </a:r>
            <a:r>
              <a:rPr lang="en-US" dirty="0" err="1" smtClean="0"/>
              <a:t>nilai_persen_batt</a:t>
            </a:r>
            <a:r>
              <a:rPr lang="en-US" dirty="0" smtClean="0"/>
              <a:t>;//buzzer </a:t>
            </a:r>
            <a:r>
              <a:rPr lang="en-US" dirty="0" err="1" smtClean="0"/>
              <a:t>dan</a:t>
            </a:r>
            <a:r>
              <a:rPr lang="en-US" dirty="0" smtClean="0"/>
              <a:t> sensor </a:t>
            </a:r>
            <a:r>
              <a:rPr lang="en-US" dirty="0" err="1" smtClean="0"/>
              <a:t>baterai</a:t>
            </a:r>
            <a:endParaRPr lang="en-US" dirty="0" smtClean="0"/>
          </a:p>
          <a:p>
            <a:r>
              <a:rPr lang="en-US" dirty="0" err="1" smtClean="0"/>
              <a:t>int</a:t>
            </a:r>
            <a:r>
              <a:rPr lang="en-US" dirty="0" smtClean="0"/>
              <a:t> </a:t>
            </a:r>
            <a:r>
              <a:rPr lang="en-US" dirty="0" err="1" smtClean="0"/>
              <a:t>nilai_densito</a:t>
            </a:r>
            <a:r>
              <a:rPr lang="en-US" dirty="0" smtClean="0"/>
              <a:t>, </a:t>
            </a:r>
            <a:r>
              <a:rPr lang="en-US" dirty="0" err="1" smtClean="0"/>
              <a:t>nilai_persen_densito</a:t>
            </a:r>
            <a:r>
              <a:rPr lang="en-US" dirty="0" smtClean="0"/>
              <a:t>;//</a:t>
            </a:r>
            <a:r>
              <a:rPr lang="en-US" dirty="0" err="1" smtClean="0"/>
              <a:t>variabel</a:t>
            </a:r>
            <a:r>
              <a:rPr lang="en-US" dirty="0" smtClean="0"/>
              <a:t> sensor </a:t>
            </a:r>
            <a:r>
              <a:rPr lang="en-US" dirty="0" err="1" smtClean="0"/>
              <a:t>densito</a:t>
            </a:r>
            <a:endParaRPr lang="en-US" dirty="0" smtClean="0"/>
          </a:p>
          <a:p>
            <a:r>
              <a:rPr lang="en-US" dirty="0" err="1" smtClean="0"/>
              <a:t>const</a:t>
            </a:r>
            <a:r>
              <a:rPr lang="en-US" dirty="0" smtClean="0"/>
              <a:t> float </a:t>
            </a:r>
            <a:r>
              <a:rPr lang="en-US" dirty="0" err="1" smtClean="0"/>
              <a:t>densito</a:t>
            </a:r>
            <a:r>
              <a:rPr lang="en-US" dirty="0" smtClean="0"/>
              <a:t> = A1;//sensor densitometer</a:t>
            </a:r>
          </a:p>
          <a:p>
            <a:r>
              <a:rPr lang="en-US" dirty="0" smtClean="0"/>
              <a:t>float </a:t>
            </a:r>
            <a:r>
              <a:rPr lang="en-US" dirty="0" err="1" smtClean="0"/>
              <a:t>nilai_sensor</a:t>
            </a:r>
            <a:r>
              <a:rPr lang="en-US" dirty="0" smtClean="0"/>
              <a:t>, </a:t>
            </a:r>
            <a:r>
              <a:rPr lang="en-US" dirty="0" err="1" smtClean="0"/>
              <a:t>m_densito</a:t>
            </a:r>
            <a:r>
              <a:rPr lang="en-US" dirty="0" smtClean="0"/>
              <a:t>, </a:t>
            </a:r>
            <a:r>
              <a:rPr lang="en-US" dirty="0" err="1" smtClean="0"/>
              <a:t>o_densito,persen_densito</a:t>
            </a:r>
            <a:r>
              <a:rPr lang="en-US" dirty="0" smtClean="0"/>
              <a:t>;</a:t>
            </a:r>
          </a:p>
          <a:p>
            <a:r>
              <a:rPr lang="en-US" dirty="0" err="1" smtClean="0"/>
              <a:t>int</a:t>
            </a:r>
            <a:r>
              <a:rPr lang="en-US" dirty="0" smtClean="0"/>
              <a:t> </a:t>
            </a:r>
            <a:r>
              <a:rPr lang="en-US" dirty="0" err="1" smtClean="0"/>
              <a:t>buttonStart</a:t>
            </a:r>
            <a:r>
              <a:rPr lang="en-US" dirty="0" smtClean="0"/>
              <a:t> = 3; // Start button</a:t>
            </a:r>
          </a:p>
          <a:p>
            <a:r>
              <a:rPr lang="en-US" dirty="0" err="1" smtClean="0"/>
              <a:t>int</a:t>
            </a:r>
            <a:r>
              <a:rPr lang="en-US" dirty="0" smtClean="0"/>
              <a:t> </a:t>
            </a:r>
            <a:r>
              <a:rPr lang="en-US" dirty="0" err="1" smtClean="0"/>
              <a:t>buttoncal</a:t>
            </a:r>
            <a:r>
              <a:rPr lang="en-US" dirty="0" smtClean="0"/>
              <a:t> = 4; // Start button </a:t>
            </a:r>
            <a:r>
              <a:rPr lang="en-US" dirty="0" err="1" smtClean="0"/>
              <a:t>kalibrasi</a:t>
            </a:r>
            <a:endParaRPr lang="en-US" dirty="0" smtClean="0"/>
          </a:p>
          <a:p>
            <a:r>
              <a:rPr lang="en-US" dirty="0" smtClean="0"/>
              <a:t>float </a:t>
            </a:r>
            <a:r>
              <a:rPr lang="en-US" dirty="0" err="1" smtClean="0"/>
              <a:t>m_batt</a:t>
            </a:r>
            <a:r>
              <a:rPr lang="en-US" dirty="0" smtClean="0"/>
              <a:t>, o batt, voltage;</a:t>
            </a:r>
          </a:p>
          <a:p>
            <a:r>
              <a:rPr lang="en-US" dirty="0" smtClean="0"/>
              <a:t>float </a:t>
            </a:r>
            <a:r>
              <a:rPr lang="en-US" dirty="0" err="1" smtClean="0"/>
              <a:t>battpenuh</a:t>
            </a:r>
            <a:r>
              <a:rPr lang="en-US" dirty="0" smtClean="0"/>
              <a:t>, </a:t>
            </a:r>
            <a:r>
              <a:rPr lang="en-US" dirty="0" err="1" smtClean="0"/>
              <a:t>tegangan</a:t>
            </a:r>
            <a:r>
              <a:rPr lang="en-US" dirty="0" smtClean="0"/>
              <a:t>;</a:t>
            </a:r>
          </a:p>
          <a:p>
            <a:r>
              <a:rPr lang="en-US" dirty="0" err="1" smtClean="0"/>
              <a:t>int</a:t>
            </a:r>
            <a:r>
              <a:rPr lang="en-US" dirty="0" smtClean="0"/>
              <a:t> buzz = 8;</a:t>
            </a:r>
          </a:p>
          <a:p>
            <a:r>
              <a:rPr lang="en-US" dirty="0" err="1" smtClean="0"/>
              <a:t>int</a:t>
            </a:r>
            <a:r>
              <a:rPr lang="en-US" dirty="0" smtClean="0"/>
              <a:t> mode;</a:t>
            </a:r>
          </a:p>
          <a:p>
            <a:r>
              <a:rPr lang="en-US" dirty="0" err="1" smtClean="0"/>
              <a:t>int</a:t>
            </a:r>
            <a:r>
              <a:rPr lang="en-US" dirty="0" smtClean="0"/>
              <a:t> </a:t>
            </a:r>
            <a:r>
              <a:rPr lang="en-US" dirty="0" err="1" smtClean="0"/>
              <a:t>run_nada,sampling</a:t>
            </a:r>
            <a:r>
              <a:rPr lang="en-US" dirty="0" smtClean="0"/>
              <a:t>, count, </a:t>
            </a:r>
            <a:r>
              <a:rPr lang="en-US" dirty="0" err="1" smtClean="0"/>
              <a:t>counter,counters</a:t>
            </a:r>
            <a:r>
              <a:rPr lang="en-US" dirty="0" smtClean="0"/>
              <a:t>;</a:t>
            </a:r>
          </a:p>
          <a:p>
            <a:r>
              <a:rPr lang="en-US" dirty="0" err="1" smtClean="0"/>
              <a:t>boolean</a:t>
            </a:r>
            <a:r>
              <a:rPr lang="en-US" dirty="0" smtClean="0"/>
              <a:t> </a:t>
            </a:r>
            <a:r>
              <a:rPr lang="en-US" dirty="0" err="1" smtClean="0"/>
              <a:t>status_cal,status_baca,tanda</a:t>
            </a:r>
            <a:r>
              <a:rPr lang="en-US" dirty="0" smtClean="0"/>
              <a:t>;</a:t>
            </a:r>
          </a:p>
          <a:p>
            <a:r>
              <a:rPr lang="en-US" dirty="0" smtClean="0"/>
              <a:t>// Call the function </a:t>
            </a:r>
            <a:r>
              <a:rPr lang="en-US" dirty="0" err="1" smtClean="0"/>
              <a:t>baterai</a:t>
            </a:r>
            <a:endParaRPr lang="en-US" dirty="0" smtClean="0"/>
          </a:p>
          <a:p>
            <a:r>
              <a:rPr lang="en-US" dirty="0" smtClean="0"/>
              <a:t>byte smiley[8] = {</a:t>
            </a:r>
          </a:p>
          <a:p>
            <a:r>
              <a:rPr lang="en-US" dirty="0" smtClean="0"/>
              <a:t>0b00001110,</a:t>
            </a:r>
          </a:p>
          <a:p>
            <a:r>
              <a:rPr lang="en-US" dirty="0" smtClean="0"/>
              <a:t>0b00010001,</a:t>
            </a:r>
          </a:p>
          <a:p>
            <a:r>
              <a:rPr lang="en-US" dirty="0" smtClean="0"/>
              <a:t>0b00010001,</a:t>
            </a:r>
          </a:p>
          <a:p>
            <a:r>
              <a:rPr lang="en-US" dirty="0" smtClean="0"/>
              <a:t>0b00010001,</a:t>
            </a:r>
          </a:p>
          <a:p>
            <a:r>
              <a:rPr lang="en-US" dirty="0" smtClean="0"/>
              <a:t>0b00010001,</a:t>
            </a:r>
          </a:p>
          <a:p>
            <a:r>
              <a:rPr lang="en-US" dirty="0" smtClean="0"/>
              <a:t>0b00010001,</a:t>
            </a:r>
          </a:p>
          <a:p>
            <a:r>
              <a:rPr lang="en-US" dirty="0" smtClean="0"/>
              <a:t>0b00010001,</a:t>
            </a:r>
          </a:p>
          <a:p>
            <a:r>
              <a:rPr lang="en-US" dirty="0" smtClean="0"/>
              <a:t>0b00011111</a:t>
            </a:r>
          </a:p>
          <a:p>
            <a:r>
              <a:rPr lang="en-US" dirty="0" smtClean="0"/>
              <a:t>};</a:t>
            </a:r>
          </a:p>
          <a:p>
            <a:r>
              <a:rPr lang="en-US" dirty="0" smtClean="0"/>
              <a:t>byte smiley1[8] = {</a:t>
            </a:r>
          </a:p>
          <a:p>
            <a:r>
              <a:rPr lang="en-US" dirty="0" smtClean="0"/>
              <a:t>0b00001110,</a:t>
            </a:r>
          </a:p>
          <a:p>
            <a:r>
              <a:rPr lang="en-US" dirty="0" smtClean="0"/>
              <a:t>0b00010001,</a:t>
            </a:r>
          </a:p>
          <a:p>
            <a:r>
              <a:rPr lang="en-US" dirty="0" smtClean="0"/>
              <a:t>0b00010001,</a:t>
            </a:r>
          </a:p>
          <a:p>
            <a:r>
              <a:rPr lang="en-US" dirty="0" smtClean="0"/>
              <a:t>0b00010001,</a:t>
            </a:r>
          </a:p>
          <a:p>
            <a:r>
              <a:rPr lang="en-US" dirty="0" smtClean="0"/>
              <a:t>0b00010001,</a:t>
            </a:r>
          </a:p>
          <a:p>
            <a:r>
              <a:rPr lang="en-US" dirty="0" smtClean="0"/>
              <a:t>0b00010001,</a:t>
            </a:r>
          </a:p>
          <a:p>
            <a:r>
              <a:rPr lang="en-US" dirty="0" smtClean="0"/>
              <a:t>0b00011111,</a:t>
            </a:r>
          </a:p>
          <a:p>
            <a:r>
              <a:rPr lang="en-US" dirty="0" smtClean="0"/>
              <a:t>0b00011111</a:t>
            </a:r>
          </a:p>
          <a:p>
            <a:r>
              <a:rPr lang="en-US" dirty="0" smtClean="0"/>
              <a:t>};</a:t>
            </a:r>
          </a:p>
          <a:p>
            <a:r>
              <a:rPr lang="en-US" dirty="0" smtClean="0"/>
              <a:t>byte smiley2[8] = {</a:t>
            </a:r>
          </a:p>
          <a:p>
            <a:r>
              <a:rPr lang="en-US" dirty="0" smtClean="0"/>
              <a:t>0b00001110,</a:t>
            </a:r>
          </a:p>
          <a:p>
            <a:r>
              <a:rPr lang="en-US" dirty="0" smtClean="0"/>
              <a:t>0b00010001,</a:t>
            </a:r>
          </a:p>
          <a:p>
            <a:r>
              <a:rPr lang="en-US" dirty="0" smtClean="0"/>
              <a:t>0b00010001,</a:t>
            </a:r>
          </a:p>
          <a:p>
            <a:r>
              <a:rPr lang="en-US" dirty="0" smtClean="0"/>
              <a:t>0b00010001,</a:t>
            </a:r>
          </a:p>
          <a:p>
            <a:r>
              <a:rPr lang="en-US" dirty="0" smtClean="0"/>
              <a:t>0b00010001,</a:t>
            </a:r>
          </a:p>
          <a:p>
            <a:r>
              <a:rPr lang="en-US" dirty="0" smtClean="0"/>
              <a:t>0b00011111,</a:t>
            </a:r>
          </a:p>
          <a:p>
            <a:r>
              <a:rPr lang="en-US" dirty="0" smtClean="0"/>
              <a:t>0b00011111,</a:t>
            </a:r>
          </a:p>
          <a:p>
            <a:r>
              <a:rPr lang="en-US" dirty="0" smtClean="0"/>
              <a:t>0b00011111</a:t>
            </a:r>
          </a:p>
          <a:p>
            <a:r>
              <a:rPr lang="en-US" dirty="0" smtClean="0"/>
              <a:t>};</a:t>
            </a:r>
          </a:p>
          <a:p>
            <a:r>
              <a:rPr lang="en-US" dirty="0" smtClean="0"/>
              <a:t>byte smiley3[8] = {</a:t>
            </a:r>
          </a:p>
          <a:p>
            <a:r>
              <a:rPr lang="en-US" dirty="0" smtClean="0"/>
              <a:t>0b00001110,</a:t>
            </a:r>
          </a:p>
          <a:p>
            <a:r>
              <a:rPr lang="en-US" dirty="0" smtClean="0"/>
              <a:t>0b00010001,</a:t>
            </a:r>
          </a:p>
          <a:p>
            <a:r>
              <a:rPr lang="en-US" dirty="0" smtClean="0"/>
              <a:t>OWHS</a:t>
            </a:r>
          </a:p>
          <a:p>
            <a:r>
              <a:rPr lang="en-US" dirty="0" smtClean="0"/>
              <a:t>0b00010001,</a:t>
            </a:r>
          </a:p>
          <a:p>
            <a:r>
              <a:rPr lang="en-US" dirty="0" smtClean="0"/>
              <a:t>0b00010001,</a:t>
            </a:r>
          </a:p>
          <a:p>
            <a:r>
              <a:rPr lang="en-US" dirty="0" smtClean="0"/>
              <a:t>0b00011111,</a:t>
            </a:r>
          </a:p>
          <a:p>
            <a:r>
              <a:rPr lang="en-US" dirty="0" smtClean="0"/>
              <a:t>0b00011111,</a:t>
            </a:r>
          </a:p>
          <a:p>
            <a:r>
              <a:rPr lang="en-US" dirty="0" smtClean="0"/>
              <a:t>0b00011111,</a:t>
            </a:r>
          </a:p>
          <a:p>
            <a:r>
              <a:rPr lang="en-US" dirty="0" smtClean="0"/>
              <a:t>0b00011111</a:t>
            </a:r>
          </a:p>
          <a:p>
            <a:r>
              <a:rPr lang="en-US" dirty="0" smtClean="0"/>
              <a:t>};</a:t>
            </a:r>
          </a:p>
          <a:p>
            <a:r>
              <a:rPr lang="en-US" dirty="0" smtClean="0"/>
              <a:t>byte smiley4[8] = {</a:t>
            </a:r>
          </a:p>
          <a:p>
            <a:r>
              <a:rPr lang="en-US" dirty="0" smtClean="0"/>
              <a:t>0b00001110,</a:t>
            </a:r>
          </a:p>
          <a:p>
            <a:r>
              <a:rPr lang="en-US" dirty="0" smtClean="0"/>
              <a:t>0b00010001,</a:t>
            </a:r>
          </a:p>
          <a:p>
            <a:r>
              <a:rPr lang="en-US" dirty="0" smtClean="0"/>
              <a:t>0b00010001,</a:t>
            </a:r>
          </a:p>
          <a:p>
            <a:r>
              <a:rPr lang="en-US" dirty="0" smtClean="0"/>
              <a:t>0b00011111,</a:t>
            </a:r>
          </a:p>
          <a:p>
            <a:r>
              <a:rPr lang="en-US" dirty="0" smtClean="0"/>
              <a:t>0b00011111,</a:t>
            </a:r>
          </a:p>
          <a:p>
            <a:r>
              <a:rPr lang="en-US" dirty="0" smtClean="0"/>
              <a:t>0b00011111,</a:t>
            </a:r>
          </a:p>
          <a:p>
            <a:r>
              <a:rPr lang="en-US" dirty="0" smtClean="0"/>
              <a:t>0b00011111,</a:t>
            </a:r>
          </a:p>
          <a:p>
            <a:r>
              <a:rPr lang="en-US" dirty="0" smtClean="0"/>
              <a:t>0b00011111</a:t>
            </a:r>
          </a:p>
          <a:p>
            <a:r>
              <a:rPr lang="en-US" dirty="0" smtClean="0"/>
              <a:t>};</a:t>
            </a:r>
          </a:p>
          <a:p>
            <a:r>
              <a:rPr lang="en-US" dirty="0" smtClean="0"/>
              <a:t>byte smiley5[8] = {</a:t>
            </a:r>
          </a:p>
          <a:p>
            <a:r>
              <a:rPr lang="en-US" dirty="0" smtClean="0"/>
              <a:t>0b00001110,</a:t>
            </a:r>
          </a:p>
          <a:p>
            <a:r>
              <a:rPr lang="en-US" dirty="0" smtClean="0"/>
              <a:t>0b00010001,</a:t>
            </a:r>
          </a:p>
          <a:p>
            <a:r>
              <a:rPr lang="en-US" dirty="0" smtClean="0"/>
              <a:t>0b00011111,</a:t>
            </a:r>
          </a:p>
          <a:p>
            <a:r>
              <a:rPr lang="en-US" dirty="0" smtClean="0"/>
              <a:t>0b00011111,</a:t>
            </a:r>
          </a:p>
          <a:p>
            <a:r>
              <a:rPr lang="en-US" dirty="0" smtClean="0"/>
              <a:t>0b00011111,</a:t>
            </a:r>
          </a:p>
          <a:p>
            <a:r>
              <a:rPr lang="en-US" dirty="0" smtClean="0"/>
              <a:t>0b00011111, PUS</a:t>
            </a:r>
          </a:p>
          <a:p>
            <a:r>
              <a:rPr lang="en-US" dirty="0" smtClean="0"/>
              <a:t>Ob00011111,</a:t>
            </a:r>
          </a:p>
          <a:p>
            <a:r>
              <a:rPr lang="en-US" dirty="0" smtClean="0"/>
              <a:t>0b00011111</a:t>
            </a:r>
          </a:p>
          <a:p>
            <a:r>
              <a:rPr lang="en-US" dirty="0" smtClean="0"/>
              <a:t>};</a:t>
            </a:r>
          </a:p>
          <a:p>
            <a:r>
              <a:rPr lang="en-US" dirty="0" smtClean="0"/>
              <a:t>byte smiley6[8] = {</a:t>
            </a:r>
          </a:p>
          <a:p>
            <a:r>
              <a:rPr lang="en-US" dirty="0" smtClean="0"/>
              <a:t>0b00001110,</a:t>
            </a:r>
          </a:p>
          <a:p>
            <a:r>
              <a:rPr lang="en-US" dirty="0" smtClean="0"/>
              <a:t>0b00011111,</a:t>
            </a:r>
          </a:p>
          <a:p>
            <a:r>
              <a:rPr lang="en-US" dirty="0" smtClean="0"/>
              <a:t>0b00011111,</a:t>
            </a:r>
          </a:p>
          <a:p>
            <a:r>
              <a:rPr lang="en-US" dirty="0" smtClean="0"/>
              <a:t>0b00011111,</a:t>
            </a:r>
          </a:p>
          <a:p>
            <a:r>
              <a:rPr lang="en-US" dirty="0" smtClean="0"/>
              <a:t>0b00011111,</a:t>
            </a:r>
          </a:p>
          <a:p>
            <a:r>
              <a:rPr lang="en-US" dirty="0" smtClean="0"/>
              <a:t>0b00011111,</a:t>
            </a:r>
          </a:p>
          <a:p>
            <a:r>
              <a:rPr lang="en-US" dirty="0" smtClean="0"/>
              <a:t>0b00011111,</a:t>
            </a:r>
          </a:p>
          <a:p>
            <a:r>
              <a:rPr lang="en-US" dirty="0" smtClean="0"/>
              <a:t>0b00011111</a:t>
            </a:r>
          </a:p>
          <a:p>
            <a:r>
              <a:rPr lang="en-US" dirty="0" smtClean="0"/>
              <a:t>};</a:t>
            </a:r>
          </a:p>
          <a:p>
            <a:r>
              <a:rPr lang="en-US" dirty="0" smtClean="0"/>
              <a:t>byte smiley7[8] = {</a:t>
            </a:r>
          </a:p>
          <a:p>
            <a:r>
              <a:rPr lang="en-US" dirty="0" smtClean="0"/>
              <a:t>B00000,</a:t>
            </a:r>
          </a:p>
          <a:p>
            <a:r>
              <a:rPr lang="en-US" dirty="0" smtClean="0"/>
              <a:t>B10001,</a:t>
            </a:r>
          </a:p>
          <a:p>
            <a:r>
              <a:rPr lang="en-US" dirty="0" smtClean="0"/>
              <a:t>B00000,</a:t>
            </a:r>
          </a:p>
          <a:p>
            <a:r>
              <a:rPr lang="en-US" dirty="0" smtClean="0"/>
              <a:t>B00000,</a:t>
            </a:r>
          </a:p>
          <a:p>
            <a:r>
              <a:rPr lang="en-US" dirty="0" smtClean="0"/>
              <a:t>B10001,</a:t>
            </a:r>
          </a:p>
          <a:p>
            <a:r>
              <a:rPr lang="en-US" dirty="0" smtClean="0"/>
              <a:t>B01110,</a:t>
            </a:r>
          </a:p>
          <a:p>
            <a:r>
              <a:rPr lang="en-US" dirty="0" smtClean="0"/>
              <a:t>B00000,</a:t>
            </a:r>
          </a:p>
          <a:p>
            <a:r>
              <a:rPr lang="en-US" dirty="0" smtClean="0"/>
              <a:t>3;</a:t>
            </a:r>
          </a:p>
          <a:p>
            <a:r>
              <a:rPr lang="en-US" dirty="0" smtClean="0"/>
              <a:t>void nada</a:t>
            </a:r>
            <a:r>
              <a:rPr lang="az-Cyrl-AZ" dirty="0" smtClean="0"/>
              <a:t>О{</a:t>
            </a:r>
          </a:p>
          <a:p>
            <a:r>
              <a:rPr lang="en-US" dirty="0" smtClean="0"/>
              <a:t>if(</a:t>
            </a:r>
            <a:r>
              <a:rPr lang="en-US" dirty="0" err="1" smtClean="0"/>
              <a:t>run_nada</a:t>
            </a:r>
            <a:r>
              <a:rPr lang="en-US" dirty="0" smtClean="0"/>
              <a:t>==1)</a:t>
            </a:r>
          </a:p>
          <a:p>
            <a:r>
              <a:rPr lang="en-US" dirty="0" smtClean="0"/>
              <a:t>{</a:t>
            </a:r>
          </a:p>
          <a:p>
            <a:r>
              <a:rPr lang="en-US" dirty="0" err="1" smtClean="0"/>
              <a:t>digitalWrite</a:t>
            </a:r>
            <a:r>
              <a:rPr lang="en-US" dirty="0" smtClean="0"/>
              <a:t>(buzz, HIGH);</a:t>
            </a:r>
          </a:p>
          <a:p>
            <a:r>
              <a:rPr lang="en-US" dirty="0" smtClean="0"/>
              <a:t>delay(500);</a:t>
            </a:r>
          </a:p>
          <a:p>
            <a:r>
              <a:rPr lang="en-US" dirty="0" err="1" smtClean="0"/>
              <a:t>digitalWrite</a:t>
            </a:r>
            <a:r>
              <a:rPr lang="en-US" dirty="0" smtClean="0"/>
              <a:t>(buzz, LOW);</a:t>
            </a:r>
          </a:p>
          <a:p>
            <a:r>
              <a:rPr lang="en-US" dirty="0" smtClean="0"/>
              <a:t>delay(500);</a:t>
            </a:r>
          </a:p>
          <a:p>
            <a:r>
              <a:rPr lang="en-US" dirty="0" err="1" smtClean="0"/>
              <a:t>digitalWrite</a:t>
            </a:r>
            <a:r>
              <a:rPr lang="en-US" dirty="0" smtClean="0"/>
              <a:t>(</a:t>
            </a:r>
            <a:r>
              <a:rPr lang="en-US" dirty="0" err="1" smtClean="0"/>
              <a:t>buzz,HIGH</a:t>
            </a:r>
            <a:r>
              <a:rPr lang="en-US" dirty="0" smtClean="0"/>
              <a:t>);</a:t>
            </a:r>
          </a:p>
          <a:p>
            <a:r>
              <a:rPr lang="en-US" dirty="0" smtClean="0"/>
              <a:t>delay(500);</a:t>
            </a:r>
          </a:p>
          <a:p>
            <a:r>
              <a:rPr lang="en-US" dirty="0" err="1" smtClean="0"/>
              <a:t>digitalWrite</a:t>
            </a:r>
            <a:r>
              <a:rPr lang="en-US" dirty="0" smtClean="0"/>
              <a:t>(</a:t>
            </a:r>
            <a:r>
              <a:rPr lang="en-US" dirty="0" err="1" smtClean="0"/>
              <a:t>buzz,LOW</a:t>
            </a:r>
            <a:r>
              <a:rPr lang="en-US" dirty="0" smtClean="0"/>
              <a:t>);</a:t>
            </a:r>
          </a:p>
          <a:p>
            <a:r>
              <a:rPr lang="en-US" dirty="0" smtClean="0"/>
              <a:t>delay(500);</a:t>
            </a:r>
          </a:p>
          <a:p>
            <a:r>
              <a:rPr lang="en-US" dirty="0" smtClean="0"/>
              <a:t>else</a:t>
            </a:r>
          </a:p>
          <a:p>
            <a:r>
              <a:rPr lang="en-US" dirty="0" smtClean="0"/>
              <a:t>if(</a:t>
            </a:r>
            <a:r>
              <a:rPr lang="en-US" dirty="0" err="1" smtClean="0"/>
              <a:t>run_nada</a:t>
            </a:r>
            <a:r>
              <a:rPr lang="en-US" dirty="0" smtClean="0"/>
              <a:t>==0)</a:t>
            </a:r>
          </a:p>
          <a:p>
            <a:r>
              <a:rPr lang="en-US" dirty="0" smtClean="0"/>
              <a:t>{</a:t>
            </a:r>
          </a:p>
          <a:p>
            <a:r>
              <a:rPr lang="en-US" dirty="0" err="1" smtClean="0"/>
              <a:t>digitalWrite</a:t>
            </a:r>
            <a:r>
              <a:rPr lang="en-US" dirty="0" smtClean="0"/>
              <a:t>(buzz, HIGH);</a:t>
            </a:r>
          </a:p>
          <a:p>
            <a:r>
              <a:rPr lang="en-US" dirty="0" smtClean="0"/>
              <a:t>delay(500);</a:t>
            </a:r>
          </a:p>
          <a:p>
            <a:r>
              <a:rPr lang="en-US" dirty="0" err="1" smtClean="0"/>
              <a:t>digitalWrite</a:t>
            </a:r>
            <a:r>
              <a:rPr lang="en-US" dirty="0" smtClean="0"/>
              <a:t>(</a:t>
            </a:r>
            <a:r>
              <a:rPr lang="en-US" dirty="0" err="1" smtClean="0"/>
              <a:t>buzz,LOW</a:t>
            </a:r>
            <a:r>
              <a:rPr lang="en-US" dirty="0" smtClean="0"/>
              <a:t>);</a:t>
            </a:r>
          </a:p>
          <a:p>
            <a:r>
              <a:rPr lang="en-US" dirty="0" smtClean="0"/>
              <a:t>delay(500);</a:t>
            </a:r>
          </a:p>
          <a:p>
            <a:r>
              <a:rPr lang="en-US" dirty="0" smtClean="0"/>
              <a:t>else</a:t>
            </a:r>
          </a:p>
          <a:p>
            <a:r>
              <a:rPr lang="en-US" dirty="0" smtClean="0"/>
              <a:t>run nada=0;</a:t>
            </a:r>
          </a:p>
          <a:p>
            <a:r>
              <a:rPr lang="en-US" dirty="0" smtClean="0"/>
              <a:t>//battery);</a:t>
            </a:r>
          </a:p>
          <a:p>
            <a:r>
              <a:rPr lang="en-US" dirty="0" smtClean="0"/>
              <a:t>void battery()</a:t>
            </a:r>
          </a:p>
          <a:p>
            <a:r>
              <a:rPr lang="en-US" dirty="0" err="1" smtClean="0"/>
              <a:t>battpenuh</a:t>
            </a:r>
            <a:r>
              <a:rPr lang="en-US" dirty="0" smtClean="0"/>
              <a:t>=1024/5*3.8;</a:t>
            </a:r>
          </a:p>
          <a:p>
            <a:r>
              <a:rPr lang="en-US" dirty="0" err="1" smtClean="0"/>
              <a:t>nilai_batt-analogRead</a:t>
            </a:r>
            <a:r>
              <a:rPr lang="en-US" dirty="0" smtClean="0"/>
              <a:t>(batt);</a:t>
            </a:r>
          </a:p>
          <a:p>
            <a:r>
              <a:rPr lang="en-US" dirty="0" smtClean="0"/>
              <a:t>m batt=0.85470085;</a:t>
            </a:r>
          </a:p>
          <a:p>
            <a:r>
              <a:rPr lang="en-US" dirty="0" err="1" smtClean="0"/>
              <a:t>o_batt</a:t>
            </a:r>
            <a:r>
              <a:rPr lang="en-US" dirty="0" smtClean="0"/>
              <a:t>=-615.3846;</a:t>
            </a:r>
          </a:p>
          <a:p>
            <a:r>
              <a:rPr lang="en-US" dirty="0" err="1" smtClean="0"/>
              <a:t>persen_batt</a:t>
            </a:r>
            <a:r>
              <a:rPr lang="en-US" dirty="0" smtClean="0"/>
              <a:t>=(</a:t>
            </a:r>
            <a:r>
              <a:rPr lang="en-US" dirty="0" err="1" smtClean="0"/>
              <a:t>nilai_batt</a:t>
            </a:r>
            <a:r>
              <a:rPr lang="en-US" dirty="0" smtClean="0"/>
              <a:t>*</a:t>
            </a:r>
            <a:r>
              <a:rPr lang="en-US" dirty="0" err="1" smtClean="0"/>
              <a:t>m_batt</a:t>
            </a:r>
            <a:r>
              <a:rPr lang="en-US" dirty="0" smtClean="0"/>
              <a:t>)+</a:t>
            </a:r>
            <a:r>
              <a:rPr lang="en-US" dirty="0" err="1" smtClean="0"/>
              <a:t>o_batt</a:t>
            </a:r>
            <a:r>
              <a:rPr lang="en-US" dirty="0" smtClean="0"/>
              <a:t>;</a:t>
            </a:r>
          </a:p>
          <a:p>
            <a:r>
              <a:rPr lang="en-US" dirty="0" smtClean="0"/>
              <a:t>//</a:t>
            </a:r>
            <a:r>
              <a:rPr lang="en-US" dirty="0" err="1" smtClean="0"/>
              <a:t>nilai</a:t>
            </a:r>
            <a:r>
              <a:rPr lang="en-US" dirty="0" smtClean="0"/>
              <a:t> batt=740;</a:t>
            </a:r>
          </a:p>
          <a:p>
            <a:r>
              <a:rPr lang="en-US" dirty="0" err="1" smtClean="0"/>
              <a:t>tegangan</a:t>
            </a:r>
            <a:r>
              <a:rPr lang="en-US" dirty="0" smtClean="0"/>
              <a:t>=</a:t>
            </a:r>
            <a:r>
              <a:rPr lang="en-US" dirty="0" err="1" smtClean="0"/>
              <a:t>nilai_batt</a:t>
            </a:r>
            <a:r>
              <a:rPr lang="en-US" dirty="0" smtClean="0"/>
              <a:t>/204.6;</a:t>
            </a:r>
          </a:p>
          <a:p>
            <a:r>
              <a:rPr lang="en-US" dirty="0" err="1" smtClean="0"/>
              <a:t>tegangan-tegangan</a:t>
            </a:r>
            <a:r>
              <a:rPr lang="en-US" dirty="0" smtClean="0"/>
              <a:t>*2;</a:t>
            </a:r>
          </a:p>
          <a:p>
            <a:r>
              <a:rPr lang="en-US" dirty="0" err="1" smtClean="0"/>
              <a:t>lcd.setCursor</a:t>
            </a:r>
            <a:r>
              <a:rPr lang="en-US" dirty="0" smtClean="0"/>
              <a:t>(18,0);</a:t>
            </a:r>
          </a:p>
          <a:p>
            <a:r>
              <a:rPr lang="en-US" dirty="0" err="1" smtClean="0"/>
              <a:t>Icd.print</a:t>
            </a:r>
            <a:r>
              <a:rPr lang="en-US" dirty="0" smtClean="0"/>
              <a:t>("%");</a:t>
            </a:r>
          </a:p>
          <a:p>
            <a:r>
              <a:rPr lang="en-US" dirty="0" smtClean="0"/>
              <a:t>if(</a:t>
            </a:r>
            <a:r>
              <a:rPr lang="en-US" dirty="0" err="1" smtClean="0"/>
              <a:t>nilai_batt</a:t>
            </a:r>
            <a:r>
              <a:rPr lang="en-US" dirty="0" smtClean="0"/>
              <a:t>&gt;=836){</a:t>
            </a:r>
            <a:r>
              <a:rPr lang="en-US" dirty="0" err="1" smtClean="0"/>
              <a:t>persen_batt</a:t>
            </a:r>
            <a:r>
              <a:rPr lang="en-US" dirty="0" smtClean="0"/>
              <a:t>=100;}</a:t>
            </a:r>
          </a:p>
          <a:p>
            <a:r>
              <a:rPr lang="en-US" dirty="0" smtClean="0"/>
              <a:t>if(</a:t>
            </a:r>
            <a:r>
              <a:rPr lang="en-US" dirty="0" err="1" smtClean="0"/>
              <a:t>persen_batt</a:t>
            </a:r>
            <a:r>
              <a:rPr lang="en-US" dirty="0" smtClean="0"/>
              <a:t>&lt;100){</a:t>
            </a:r>
            <a:r>
              <a:rPr lang="en-US" dirty="0" err="1" smtClean="0"/>
              <a:t>lcd.setCursor</a:t>
            </a:r>
            <a:r>
              <a:rPr lang="en-US" dirty="0" smtClean="0"/>
              <a:t>(17,0);</a:t>
            </a:r>
            <a:r>
              <a:rPr lang="en-US" dirty="0" err="1" smtClean="0"/>
              <a:t>lcd.print</a:t>
            </a:r>
            <a:r>
              <a:rPr lang="en-US" dirty="0" smtClean="0"/>
              <a:t>(');}</a:t>
            </a:r>
          </a:p>
          <a:p>
            <a:r>
              <a:rPr lang="en-US" dirty="0" err="1" smtClean="0"/>
              <a:t>lcd.setCursor</a:t>
            </a:r>
            <a:r>
              <a:rPr lang="en-US" dirty="0" smtClean="0"/>
              <a:t>(15,0);</a:t>
            </a:r>
          </a:p>
          <a:p>
            <a:r>
              <a:rPr lang="en-US" dirty="0" err="1" smtClean="0"/>
              <a:t>lcd.print</a:t>
            </a:r>
            <a:r>
              <a:rPr lang="en-US" dirty="0" smtClean="0"/>
              <a:t>(</a:t>
            </a:r>
            <a:r>
              <a:rPr lang="en-US" dirty="0" err="1" smtClean="0"/>
              <a:t>persen_batt</a:t>
            </a:r>
            <a:r>
              <a:rPr lang="en-US" dirty="0" smtClean="0"/>
              <a:t>, 1);</a:t>
            </a:r>
          </a:p>
          <a:p>
            <a:r>
              <a:rPr lang="en-US" dirty="0" smtClean="0"/>
              <a:t>//</a:t>
            </a:r>
            <a:r>
              <a:rPr lang="en-US" dirty="0" err="1" smtClean="0"/>
              <a:t>lcd.setCursor</a:t>
            </a:r>
            <a:r>
              <a:rPr lang="en-US" dirty="0" smtClean="0"/>
              <a:t>(10,3);</a:t>
            </a:r>
          </a:p>
          <a:p>
            <a:r>
              <a:rPr lang="en-US" dirty="0" smtClean="0"/>
              <a:t>//</a:t>
            </a:r>
            <a:r>
              <a:rPr lang="en-US" dirty="0" err="1" smtClean="0"/>
              <a:t>lcd.print</a:t>
            </a:r>
            <a:r>
              <a:rPr lang="en-US" dirty="0" smtClean="0"/>
              <a:t>(</a:t>
            </a:r>
            <a:r>
              <a:rPr lang="en-US" dirty="0" err="1" smtClean="0"/>
              <a:t>nilai_batt</a:t>
            </a:r>
            <a:r>
              <a:rPr lang="en-US" dirty="0" smtClean="0"/>
              <a:t>);</a:t>
            </a:r>
          </a:p>
          <a:p>
            <a:r>
              <a:rPr lang="en-US" dirty="0" err="1" smtClean="0"/>
              <a:t>Icd.setCursor</a:t>
            </a:r>
            <a:r>
              <a:rPr lang="en-US" dirty="0" smtClean="0"/>
              <a:t>(8,0);</a:t>
            </a:r>
          </a:p>
          <a:p>
            <a:r>
              <a:rPr lang="en-US" dirty="0" err="1" smtClean="0"/>
              <a:t>lcd.print</a:t>
            </a:r>
            <a:r>
              <a:rPr lang="en-US" dirty="0" smtClean="0"/>
              <a:t>(tegangan,2);</a:t>
            </a:r>
          </a:p>
          <a:p>
            <a:r>
              <a:rPr lang="en-US" dirty="0" smtClean="0"/>
              <a:t>if((</a:t>
            </a:r>
            <a:r>
              <a:rPr lang="en-US" dirty="0" err="1" smtClean="0"/>
              <a:t>nilai_batt</a:t>
            </a:r>
            <a:r>
              <a:rPr lang="en-US" dirty="0" smtClean="0"/>
              <a:t>&gt;835)&amp;&amp;(</a:t>
            </a:r>
            <a:r>
              <a:rPr lang="en-US" dirty="0" err="1" smtClean="0"/>
              <a:t>nilai_batt</a:t>
            </a:r>
            <a:r>
              <a:rPr lang="en-US" dirty="0" smtClean="0"/>
              <a:t>&lt;=1023)){</a:t>
            </a:r>
          </a:p>
          <a:p>
            <a:r>
              <a:rPr lang="en-US" dirty="0" err="1" smtClean="0"/>
              <a:t>lcd.createChar</a:t>
            </a:r>
            <a:r>
              <a:rPr lang="en-US" dirty="0" smtClean="0"/>
              <a:t>(0, smiley6);</a:t>
            </a:r>
          </a:p>
          <a:p>
            <a:r>
              <a:rPr lang="en-US" dirty="0" err="1" smtClean="0"/>
              <a:t>lcd.setCursor</a:t>
            </a:r>
            <a:r>
              <a:rPr lang="en-US" dirty="0" smtClean="0"/>
              <a:t>(19,0);</a:t>
            </a:r>
          </a:p>
          <a:p>
            <a:r>
              <a:rPr lang="en-US" dirty="0" err="1" smtClean="0"/>
              <a:t>lcd.write</a:t>
            </a:r>
            <a:r>
              <a:rPr lang="en-US" dirty="0" smtClean="0"/>
              <a:t>(byte(0));</a:t>
            </a:r>
          </a:p>
          <a:p>
            <a:r>
              <a:rPr lang="en-US" dirty="0" smtClean="0"/>
              <a:t>else</a:t>
            </a:r>
          </a:p>
          <a:p>
            <a:r>
              <a:rPr lang="en-US" dirty="0" smtClean="0"/>
              <a:t>if((</a:t>
            </a:r>
            <a:r>
              <a:rPr lang="en-US" dirty="0" err="1" smtClean="0"/>
              <a:t>nilai_batt</a:t>
            </a:r>
            <a:r>
              <a:rPr lang="en-US" dirty="0" smtClean="0"/>
              <a:t>&gt;780)&amp;&amp;(</a:t>
            </a:r>
            <a:r>
              <a:rPr lang="en-US" dirty="0" err="1" smtClean="0"/>
              <a:t>nilai_batt</a:t>
            </a:r>
            <a:r>
              <a:rPr lang="en-US" dirty="0" smtClean="0"/>
              <a:t>&lt;=835)){</a:t>
            </a:r>
          </a:p>
          <a:p>
            <a:r>
              <a:rPr lang="en-US" dirty="0" err="1" smtClean="0"/>
              <a:t>lcd.createChar</a:t>
            </a:r>
            <a:r>
              <a:rPr lang="en-US" dirty="0" smtClean="0"/>
              <a:t>(0, smiley5);</a:t>
            </a:r>
          </a:p>
          <a:p>
            <a:r>
              <a:rPr lang="en-US" dirty="0" err="1" smtClean="0"/>
              <a:t>lcd.setCursor</a:t>
            </a:r>
            <a:r>
              <a:rPr lang="en-US" dirty="0" smtClean="0"/>
              <a:t>(19,0);</a:t>
            </a:r>
          </a:p>
          <a:p>
            <a:r>
              <a:rPr lang="en-US" dirty="0" err="1" smtClean="0"/>
              <a:t>lcd.write</a:t>
            </a:r>
            <a:r>
              <a:rPr lang="en-US" dirty="0" smtClean="0"/>
              <a:t>(byte(0));</a:t>
            </a:r>
          </a:p>
          <a:p>
            <a:r>
              <a:rPr lang="en-US" dirty="0" smtClean="0"/>
              <a:t>else</a:t>
            </a:r>
          </a:p>
          <a:p>
            <a:r>
              <a:rPr lang="en-US" dirty="0" smtClean="0"/>
              <a:t>if((</a:t>
            </a:r>
            <a:r>
              <a:rPr lang="en-US" dirty="0" err="1" smtClean="0"/>
              <a:t>nilai_batt</a:t>
            </a:r>
            <a:r>
              <a:rPr lang="en-US" dirty="0" smtClean="0"/>
              <a:t>&gt;740)&amp;&amp;(</a:t>
            </a:r>
            <a:r>
              <a:rPr lang="en-US" dirty="0" err="1" smtClean="0"/>
              <a:t>nilai_batt</a:t>
            </a:r>
            <a:r>
              <a:rPr lang="en-US" dirty="0" smtClean="0"/>
              <a:t>&lt;=780)){</a:t>
            </a:r>
          </a:p>
          <a:p>
            <a:r>
              <a:rPr lang="en-US" dirty="0" err="1" smtClean="0"/>
              <a:t>lcd.createChar</a:t>
            </a:r>
            <a:r>
              <a:rPr lang="en-US" dirty="0" smtClean="0"/>
              <a:t>(0, smiley4);</a:t>
            </a:r>
          </a:p>
          <a:p>
            <a:r>
              <a:rPr lang="en-US" dirty="0" err="1" smtClean="0"/>
              <a:t>lcd.setCursor</a:t>
            </a:r>
            <a:r>
              <a:rPr lang="en-US" dirty="0" smtClean="0"/>
              <a:t>(19,0);</a:t>
            </a:r>
          </a:p>
          <a:p>
            <a:r>
              <a:rPr lang="en-US" dirty="0" err="1" smtClean="0"/>
              <a:t>lcd.write</a:t>
            </a:r>
            <a:r>
              <a:rPr lang="en-US" dirty="0" smtClean="0"/>
              <a:t>(byte(0));</a:t>
            </a:r>
          </a:p>
          <a:p>
            <a:r>
              <a:rPr lang="en-US" dirty="0" smtClean="0"/>
              <a:t>else</a:t>
            </a:r>
          </a:p>
          <a:p>
            <a:r>
              <a:rPr lang="en-US" dirty="0" smtClean="0"/>
              <a:t>if((</a:t>
            </a:r>
            <a:r>
              <a:rPr lang="en-US" dirty="0" err="1" smtClean="0"/>
              <a:t>nilai_batt</a:t>
            </a:r>
            <a:r>
              <a:rPr lang="en-US" dirty="0" smtClean="0"/>
              <a:t>&gt;700)&amp;&amp;(</a:t>
            </a:r>
            <a:r>
              <a:rPr lang="en-US" dirty="0" err="1" smtClean="0"/>
              <a:t>nilai_batt</a:t>
            </a:r>
            <a:r>
              <a:rPr lang="en-US" dirty="0" smtClean="0"/>
              <a:t>&lt;=740)){</a:t>
            </a:r>
          </a:p>
          <a:p>
            <a:r>
              <a:rPr lang="en-US" dirty="0" err="1" smtClean="0"/>
              <a:t>lcd.createChar</a:t>
            </a:r>
            <a:r>
              <a:rPr lang="en-US" dirty="0" smtClean="0"/>
              <a:t>(0, smiley3);</a:t>
            </a:r>
          </a:p>
          <a:p>
            <a:r>
              <a:rPr lang="en-US" dirty="0" err="1" smtClean="0"/>
              <a:t>lcd.setCursor</a:t>
            </a:r>
            <a:r>
              <a:rPr lang="en-US" dirty="0" smtClean="0"/>
              <a:t>(19,0);</a:t>
            </a:r>
          </a:p>
          <a:p>
            <a:r>
              <a:rPr lang="en-US" dirty="0" err="1" smtClean="0"/>
              <a:t>lcd.write</a:t>
            </a:r>
            <a:r>
              <a:rPr lang="en-US" dirty="0" smtClean="0"/>
              <a:t>(byte(0));</a:t>
            </a:r>
          </a:p>
          <a:p>
            <a:r>
              <a:rPr lang="en-US" dirty="0" smtClean="0"/>
              <a:t>else</a:t>
            </a:r>
          </a:p>
          <a:p>
            <a:r>
              <a:rPr lang="en-US" dirty="0" smtClean="0"/>
              <a:t>if((</a:t>
            </a:r>
            <a:r>
              <a:rPr lang="en-US" dirty="0" err="1" smtClean="0"/>
              <a:t>nilai</a:t>
            </a:r>
            <a:r>
              <a:rPr lang="en-US" dirty="0" smtClean="0"/>
              <a:t> batt&gt;660)&amp;&amp;(</a:t>
            </a:r>
            <a:r>
              <a:rPr lang="en-US" dirty="0" err="1" smtClean="0"/>
              <a:t>nilai</a:t>
            </a:r>
            <a:r>
              <a:rPr lang="en-US" dirty="0" smtClean="0"/>
              <a:t> batt&lt;=700)){|</a:t>
            </a:r>
          </a:p>
          <a:p>
            <a:r>
              <a:rPr lang="en-US" dirty="0" err="1" smtClean="0"/>
              <a:t>lcd.createChar</a:t>
            </a:r>
            <a:r>
              <a:rPr lang="en-US" dirty="0" smtClean="0"/>
              <a:t>(0, smiley2);</a:t>
            </a:r>
          </a:p>
          <a:p>
            <a:r>
              <a:rPr lang="en-US" dirty="0" err="1" smtClean="0"/>
              <a:t>lcd.setCursor</a:t>
            </a:r>
            <a:r>
              <a:rPr lang="en-US" dirty="0" smtClean="0"/>
              <a:t>(19,0);</a:t>
            </a:r>
          </a:p>
          <a:p>
            <a:r>
              <a:rPr lang="en-US" dirty="0" err="1" smtClean="0"/>
              <a:t>lcd.write</a:t>
            </a:r>
            <a:r>
              <a:rPr lang="en-US" dirty="0" smtClean="0"/>
              <a:t>(byte(0));</a:t>
            </a:r>
          </a:p>
          <a:p>
            <a:r>
              <a:rPr lang="en-US" dirty="0" smtClean="0"/>
              <a:t>}else</a:t>
            </a:r>
          </a:p>
          <a:p>
            <a:r>
              <a:rPr lang="en-US" dirty="0" smtClean="0"/>
              <a:t>if((</a:t>
            </a:r>
            <a:r>
              <a:rPr lang="en-US" dirty="0" err="1" smtClean="0"/>
              <a:t>nilai</a:t>
            </a:r>
            <a:r>
              <a:rPr lang="en-US" dirty="0" smtClean="0"/>
              <a:t> batt&gt;620)&amp;&amp;(</a:t>
            </a:r>
            <a:r>
              <a:rPr lang="en-US" dirty="0" err="1" smtClean="0"/>
              <a:t>nilai_batt</a:t>
            </a:r>
            <a:r>
              <a:rPr lang="en-US" dirty="0" smtClean="0"/>
              <a:t>&lt;=660)){|</a:t>
            </a:r>
          </a:p>
          <a:p>
            <a:r>
              <a:rPr lang="en-US" dirty="0" err="1" smtClean="0"/>
              <a:t>lcd.createChar</a:t>
            </a:r>
            <a:r>
              <a:rPr lang="en-US" dirty="0" smtClean="0"/>
              <a:t>(0, smiley1);</a:t>
            </a:r>
          </a:p>
          <a:p>
            <a:r>
              <a:rPr lang="en-US" dirty="0" err="1" smtClean="0"/>
              <a:t>lcd.setCursor</a:t>
            </a:r>
            <a:r>
              <a:rPr lang="en-US" dirty="0" smtClean="0"/>
              <a:t>(19,0);</a:t>
            </a:r>
          </a:p>
          <a:p>
            <a:r>
              <a:rPr lang="en-US" dirty="0" err="1" smtClean="0"/>
              <a:t>lcd.write</a:t>
            </a:r>
            <a:r>
              <a:rPr lang="en-US" dirty="0" smtClean="0"/>
              <a:t>(byte(0));</a:t>
            </a:r>
          </a:p>
          <a:p>
            <a:r>
              <a:rPr lang="en-US" dirty="0" smtClean="0"/>
              <a:t>}else</a:t>
            </a:r>
          </a:p>
          <a:p>
            <a:r>
              <a:rPr lang="en-US" dirty="0" smtClean="0"/>
              <a:t>if((</a:t>
            </a:r>
            <a:r>
              <a:rPr lang="en-US" dirty="0" err="1" smtClean="0"/>
              <a:t>nilai_batt</a:t>
            </a:r>
            <a:r>
              <a:rPr lang="en-US" dirty="0" smtClean="0"/>
              <a:t>&gt;600)&amp;&amp;(</a:t>
            </a:r>
            <a:r>
              <a:rPr lang="en-US" dirty="0" err="1" smtClean="0"/>
              <a:t>nilai_batt</a:t>
            </a:r>
            <a:r>
              <a:rPr lang="en-US" dirty="0" smtClean="0"/>
              <a:t>&lt;=620)){</a:t>
            </a:r>
          </a:p>
          <a:p>
            <a:r>
              <a:rPr lang="en-US" dirty="0" err="1" smtClean="0"/>
              <a:t>lcd.createChar</a:t>
            </a:r>
            <a:r>
              <a:rPr lang="en-US" dirty="0" smtClean="0"/>
              <a:t>(0, smiley);</a:t>
            </a:r>
          </a:p>
          <a:p>
            <a:r>
              <a:rPr lang="en-US" dirty="0" err="1" smtClean="0"/>
              <a:t>Icd.setCursor</a:t>
            </a:r>
            <a:r>
              <a:rPr lang="en-US" dirty="0" smtClean="0"/>
              <a:t>(19,0);</a:t>
            </a:r>
          </a:p>
          <a:p>
            <a:r>
              <a:rPr lang="en-US" dirty="0" err="1" smtClean="0"/>
              <a:t>lcd.write</a:t>
            </a:r>
            <a:r>
              <a:rPr lang="en-US" dirty="0" smtClean="0"/>
              <a:t>(byte(0));</a:t>
            </a:r>
          </a:p>
          <a:p>
            <a:r>
              <a:rPr lang="en-US" dirty="0" err="1" smtClean="0"/>
              <a:t>lcd.setCursor</a:t>
            </a:r>
            <a:r>
              <a:rPr lang="en-US" dirty="0" smtClean="0"/>
              <a:t>(18,0);</a:t>
            </a:r>
          </a:p>
          <a:p>
            <a:r>
              <a:rPr lang="en-US" dirty="0" err="1" smtClean="0"/>
              <a:t>Icd.print</a:t>
            </a:r>
            <a:r>
              <a:rPr lang="en-US" dirty="0" smtClean="0"/>
              <a:t>("!");</a:t>
            </a:r>
          </a:p>
          <a:p>
            <a:r>
              <a:rPr lang="en-US" dirty="0" smtClean="0"/>
              <a:t>nada);</a:t>
            </a:r>
          </a:p>
          <a:p>
            <a:r>
              <a:rPr lang="en-US" dirty="0" smtClean="0"/>
              <a:t>else</a:t>
            </a:r>
          </a:p>
          <a:p>
            <a:r>
              <a:rPr lang="en-US" dirty="0" smtClean="0"/>
              <a:t>delay(20);</a:t>
            </a:r>
          </a:p>
          <a:p>
            <a:endParaRPr lang="en-US" dirty="0" smtClean="0"/>
          </a:p>
          <a:p>
            <a:r>
              <a:rPr lang="en-US" dirty="0" smtClean="0"/>
              <a:t>}</a:t>
            </a:r>
          </a:p>
          <a:p>
            <a:r>
              <a:rPr lang="en-US" dirty="0" smtClean="0"/>
              <a:t>void </a:t>
            </a:r>
            <a:r>
              <a:rPr lang="en-US" dirty="0" err="1" smtClean="0"/>
              <a:t>idel</a:t>
            </a:r>
            <a:r>
              <a:rPr lang="en-US" dirty="0" smtClean="0"/>
              <a:t>(O</a:t>
            </a:r>
          </a:p>
          <a:p>
            <a:r>
              <a:rPr lang="en-US" dirty="0" smtClean="0"/>
              <a:t>}</a:t>
            </a:r>
          </a:p>
          <a:p>
            <a:r>
              <a:rPr lang="en-US" dirty="0" err="1" smtClean="0"/>
              <a:t>lcd.setCursor</a:t>
            </a:r>
            <a:r>
              <a:rPr lang="en-US" dirty="0" smtClean="0"/>
              <a:t>(0,0);</a:t>
            </a:r>
          </a:p>
          <a:p>
            <a:r>
              <a:rPr lang="en-US" dirty="0" err="1" smtClean="0"/>
              <a:t>lcd.print</a:t>
            </a:r>
            <a:r>
              <a:rPr lang="en-US" dirty="0" smtClean="0"/>
              <a:t>("NS= | V ");</a:t>
            </a:r>
          </a:p>
          <a:p>
            <a:r>
              <a:rPr lang="en-US" dirty="0" err="1" smtClean="0"/>
              <a:t>Icd.setCursor</a:t>
            </a:r>
            <a:r>
              <a:rPr lang="en-US" dirty="0" smtClean="0"/>
              <a:t>(0,1);</a:t>
            </a:r>
          </a:p>
          <a:p>
            <a:r>
              <a:rPr lang="en-US" dirty="0" err="1" smtClean="0"/>
              <a:t>Icd.print</a:t>
            </a:r>
            <a:r>
              <a:rPr lang="en-US" dirty="0" smtClean="0"/>
              <a:t>(" ||VD= ");</a:t>
            </a:r>
          </a:p>
          <a:p>
            <a:r>
              <a:rPr lang="en-US" dirty="0" err="1" smtClean="0"/>
              <a:t>lcd.setCursor</a:t>
            </a:r>
            <a:r>
              <a:rPr lang="en-US" dirty="0" smtClean="0"/>
              <a:t>(0,2);</a:t>
            </a:r>
          </a:p>
          <a:p>
            <a:r>
              <a:rPr lang="en-US" dirty="0" err="1" smtClean="0"/>
              <a:t>Icd.print</a:t>
            </a:r>
            <a:r>
              <a:rPr lang="en-US" dirty="0" smtClean="0"/>
              <a:t>("</a:t>
            </a:r>
            <a:r>
              <a:rPr lang="en-US" dirty="0" err="1" smtClean="0"/>
              <a:t>N.Densito</a:t>
            </a:r>
            <a:r>
              <a:rPr lang="en-US" dirty="0" smtClean="0"/>
              <a:t>=</a:t>
            </a:r>
          </a:p>
          <a:p>
            <a:r>
              <a:rPr lang="en-US" dirty="0" err="1" smtClean="0"/>
              <a:t>lcd.setCursor</a:t>
            </a:r>
            <a:r>
              <a:rPr lang="en-US" dirty="0" smtClean="0"/>
              <a:t>(0,3);</a:t>
            </a:r>
          </a:p>
          <a:p>
            <a:r>
              <a:rPr lang="en-US" dirty="0" smtClean="0"/>
              <a:t>||");</a:t>
            </a:r>
          </a:p>
          <a:p>
            <a:r>
              <a:rPr lang="en-US" dirty="0" err="1" smtClean="0"/>
              <a:t>lcd.print</a:t>
            </a:r>
            <a:r>
              <a:rPr lang="en-US" dirty="0" smtClean="0"/>
              <a:t>("==</a:t>
            </a:r>
            <a:r>
              <a:rPr lang="en-US" dirty="0" err="1" smtClean="0"/>
              <a:t>Posisikan</a:t>
            </a:r>
            <a:r>
              <a:rPr lang="en-US" dirty="0" smtClean="0"/>
              <a:t> Sensor==");</a:t>
            </a:r>
          </a:p>
          <a:p>
            <a:r>
              <a:rPr lang="en-US" dirty="0" smtClean="0"/>
              <a:t>delay(1000);</a:t>
            </a:r>
          </a:p>
          <a:p>
            <a:r>
              <a:rPr lang="en-US" dirty="0" smtClean="0"/>
              <a:t>void </a:t>
            </a:r>
            <a:r>
              <a:rPr lang="en-US" dirty="0" err="1" smtClean="0"/>
              <a:t>tampil_judul</a:t>
            </a:r>
            <a:r>
              <a:rPr lang="en-US" dirty="0" smtClean="0"/>
              <a:t>()</a:t>
            </a:r>
          </a:p>
          <a:p>
            <a:r>
              <a:rPr lang="en-US" dirty="0" smtClean="0"/>
              <a:t>}</a:t>
            </a:r>
          </a:p>
          <a:p>
            <a:r>
              <a:rPr lang="en-US" dirty="0" err="1" smtClean="0"/>
              <a:t>lcd.clear</a:t>
            </a:r>
            <a:r>
              <a:rPr lang="en-US" dirty="0" smtClean="0"/>
              <a:t>();</a:t>
            </a:r>
          </a:p>
          <a:p>
            <a:r>
              <a:rPr lang="en-US" dirty="0" err="1" smtClean="0"/>
              <a:t>lcd.setCursor</a:t>
            </a:r>
            <a:r>
              <a:rPr lang="en-US" dirty="0" smtClean="0"/>
              <a:t>(0,0);</a:t>
            </a:r>
          </a:p>
          <a:p>
            <a:r>
              <a:rPr lang="en-US" dirty="0" err="1" smtClean="0"/>
              <a:t>Icd.print</a:t>
            </a:r>
            <a:r>
              <a:rPr lang="en-US" dirty="0" smtClean="0"/>
              <a:t>(" </a:t>
            </a:r>
            <a:r>
              <a:rPr lang="en-US" dirty="0" err="1" smtClean="0"/>
              <a:t>Rancang</a:t>
            </a:r>
            <a:r>
              <a:rPr lang="en-US" dirty="0" smtClean="0"/>
              <a:t> </a:t>
            </a:r>
            <a:r>
              <a:rPr lang="en-US" dirty="0" err="1" smtClean="0"/>
              <a:t>Bangun</a:t>
            </a:r>
            <a:r>
              <a:rPr lang="en-US" dirty="0" smtClean="0"/>
              <a:t> ");</a:t>
            </a:r>
          </a:p>
          <a:p>
            <a:r>
              <a:rPr lang="en-US" dirty="0" err="1" smtClean="0"/>
              <a:t>lcd.setCursor</a:t>
            </a:r>
            <a:r>
              <a:rPr lang="en-US" dirty="0" smtClean="0"/>
              <a:t>(0,1);</a:t>
            </a:r>
          </a:p>
          <a:p>
            <a:r>
              <a:rPr lang="en-US" dirty="0" err="1" smtClean="0"/>
              <a:t>lcd.print</a:t>
            </a:r>
            <a:r>
              <a:rPr lang="en-US" dirty="0" smtClean="0"/>
              <a:t>(" Densitometer ");</a:t>
            </a:r>
          </a:p>
          <a:p>
            <a:r>
              <a:rPr lang="en-US" dirty="0" err="1" smtClean="0"/>
              <a:t>lcd.setCursor</a:t>
            </a:r>
            <a:r>
              <a:rPr lang="en-US" dirty="0" smtClean="0"/>
              <a:t>(0,2);</a:t>
            </a:r>
          </a:p>
          <a:p>
            <a:r>
              <a:rPr lang="en-US" dirty="0" err="1" smtClean="0"/>
              <a:t>lcd.print</a:t>
            </a:r>
            <a:r>
              <a:rPr lang="en-US" dirty="0" smtClean="0"/>
              <a:t>(" </a:t>
            </a:r>
            <a:r>
              <a:rPr lang="en-US" dirty="0" err="1" smtClean="0"/>
              <a:t>Berbasis</a:t>
            </a:r>
            <a:r>
              <a:rPr lang="en-US" dirty="0" smtClean="0"/>
              <a:t> ");</a:t>
            </a:r>
          </a:p>
          <a:p>
            <a:r>
              <a:rPr lang="en-US" dirty="0" err="1" smtClean="0"/>
              <a:t>lcd.setCursor</a:t>
            </a:r>
            <a:r>
              <a:rPr lang="en-US" dirty="0" smtClean="0"/>
              <a:t>(0,3);</a:t>
            </a:r>
          </a:p>
          <a:p>
            <a:r>
              <a:rPr lang="en-US" dirty="0" err="1" smtClean="0"/>
              <a:t>Icd.print</a:t>
            </a:r>
            <a:r>
              <a:rPr lang="en-US" dirty="0" smtClean="0"/>
              <a:t>(" Arduino UNO ");</a:t>
            </a:r>
          </a:p>
          <a:p>
            <a:r>
              <a:rPr lang="en-US" dirty="0" smtClean="0"/>
              <a:t>delay(2000);</a:t>
            </a:r>
          </a:p>
          <a:p>
            <a:r>
              <a:rPr lang="en-US" dirty="0" err="1" smtClean="0"/>
              <a:t>lcd.setCursor</a:t>
            </a:r>
            <a:r>
              <a:rPr lang="en-US" dirty="0" smtClean="0"/>
              <a:t>(0,0);</a:t>
            </a:r>
          </a:p>
          <a:p>
            <a:r>
              <a:rPr lang="en-US" dirty="0" err="1" smtClean="0"/>
              <a:t>lcd.print</a:t>
            </a:r>
            <a:r>
              <a:rPr lang="en-US" dirty="0" smtClean="0"/>
              <a:t>(" </a:t>
            </a:r>
            <a:r>
              <a:rPr lang="en-US" dirty="0" err="1" smtClean="0"/>
              <a:t>Ginalang</a:t>
            </a:r>
            <a:r>
              <a:rPr lang="en-US" dirty="0" smtClean="0"/>
              <a:t> Sindhu A ");</a:t>
            </a:r>
          </a:p>
          <a:p>
            <a:r>
              <a:rPr lang="en-US" dirty="0" err="1" smtClean="0"/>
              <a:t>lcd.setCursor</a:t>
            </a:r>
            <a:r>
              <a:rPr lang="en-US" dirty="0" smtClean="0"/>
              <a:t>(0,1);</a:t>
            </a:r>
          </a:p>
          <a:p>
            <a:r>
              <a:rPr lang="en-US" dirty="0" err="1" smtClean="0"/>
              <a:t>lcd.print</a:t>
            </a:r>
            <a:r>
              <a:rPr lang="en-US" dirty="0" smtClean="0"/>
              <a:t>(" </a:t>
            </a:r>
            <a:r>
              <a:rPr lang="en-US" dirty="0" err="1" smtClean="0"/>
              <a:t>Nim</a:t>
            </a:r>
            <a:r>
              <a:rPr lang="en-US" dirty="0" smtClean="0"/>
              <a:t> : 1904053 ");</a:t>
            </a:r>
          </a:p>
          <a:p>
            <a:r>
              <a:rPr lang="en-US" dirty="0" err="1" smtClean="0"/>
              <a:t>lcd.setCursor</a:t>
            </a:r>
            <a:r>
              <a:rPr lang="en-US" dirty="0" smtClean="0"/>
              <a:t>(0,2);</a:t>
            </a:r>
          </a:p>
          <a:p>
            <a:r>
              <a:rPr lang="en-US" dirty="0" err="1" smtClean="0"/>
              <a:t>Icd.print</a:t>
            </a:r>
            <a:r>
              <a:rPr lang="en-US" dirty="0" smtClean="0"/>
              <a:t>(" Univ. WIDYA HUSADA ");</a:t>
            </a:r>
          </a:p>
          <a:p>
            <a:r>
              <a:rPr lang="en-US" dirty="0" err="1" smtClean="0"/>
              <a:t>lcd.setCursor</a:t>
            </a:r>
            <a:r>
              <a:rPr lang="en-US" dirty="0" smtClean="0"/>
              <a:t>(0,3);</a:t>
            </a:r>
          </a:p>
          <a:p>
            <a:r>
              <a:rPr lang="en-US" dirty="0" err="1" smtClean="0"/>
              <a:t>lcd.print</a:t>
            </a:r>
            <a:r>
              <a:rPr lang="en-US" dirty="0" smtClean="0"/>
              <a:t>("</a:t>
            </a:r>
            <a:r>
              <a:rPr lang="en-US" dirty="0" err="1" smtClean="0"/>
              <a:t>Teknik</a:t>
            </a:r>
            <a:r>
              <a:rPr lang="en-US" dirty="0" smtClean="0"/>
              <a:t> </a:t>
            </a:r>
            <a:r>
              <a:rPr lang="en-US" dirty="0" err="1" smtClean="0"/>
              <a:t>Elektromedik</a:t>
            </a:r>
            <a:r>
              <a:rPr lang="en-US" dirty="0" smtClean="0"/>
              <a:t> ");</a:t>
            </a:r>
          </a:p>
          <a:p>
            <a:r>
              <a:rPr lang="en-US" dirty="0" smtClean="0"/>
              <a:t>delay(2000);</a:t>
            </a:r>
          </a:p>
          <a:p>
            <a:r>
              <a:rPr lang="en-US" dirty="0" smtClean="0"/>
              <a:t>void</a:t>
            </a:r>
          </a:p>
          <a:p>
            <a:r>
              <a:rPr lang="en-US" dirty="0" smtClean="0"/>
              <a:t>{</a:t>
            </a:r>
          </a:p>
          <a:p>
            <a:r>
              <a:rPr lang="en-US" dirty="0" smtClean="0"/>
              <a:t> </a:t>
            </a:r>
            <a:r>
              <a:rPr lang="en-US" dirty="0" err="1" smtClean="0"/>
              <a:t>baca</a:t>
            </a:r>
            <a:r>
              <a:rPr lang="en-US" dirty="0" smtClean="0"/>
              <a:t> sensor </a:t>
            </a:r>
            <a:r>
              <a:rPr lang="en-US" dirty="0" err="1" smtClean="0"/>
              <a:t>densito_cal</a:t>
            </a:r>
            <a:r>
              <a:rPr lang="en-US" dirty="0" smtClean="0"/>
              <a:t>()</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err="1" smtClean="0"/>
              <a:t>lcd.setCursor</a:t>
            </a:r>
            <a:r>
              <a:rPr lang="en-US" dirty="0" smtClean="0"/>
              <a:t>(3,0);</a:t>
            </a:r>
          </a:p>
          <a:p>
            <a:r>
              <a:rPr lang="en-US" dirty="0" err="1" smtClean="0"/>
              <a:t>lcd.print</a:t>
            </a:r>
            <a:r>
              <a:rPr lang="en-US" dirty="0" smtClean="0"/>
              <a:t>(" ");</a:t>
            </a:r>
          </a:p>
          <a:p>
            <a:r>
              <a:rPr lang="en-US" dirty="0" err="1" smtClean="0"/>
              <a:t>lcd.setCursor</a:t>
            </a:r>
            <a:r>
              <a:rPr lang="en-US" dirty="0" smtClean="0"/>
              <a:t>(3,0);</a:t>
            </a:r>
          </a:p>
          <a:p>
            <a:r>
              <a:rPr lang="en-US" dirty="0" err="1" smtClean="0"/>
              <a:t>lcd.print</a:t>
            </a:r>
            <a:r>
              <a:rPr lang="en-US" dirty="0" smtClean="0"/>
              <a:t>(</a:t>
            </a:r>
            <a:r>
              <a:rPr lang="en-US" dirty="0" err="1" smtClean="0"/>
              <a:t>nilai_densito</a:t>
            </a:r>
            <a:r>
              <a:rPr lang="en-US" dirty="0" smtClean="0"/>
              <a:t>);</a:t>
            </a:r>
          </a:p>
          <a:p>
            <a:r>
              <a:rPr lang="en-US" dirty="0" err="1" smtClean="0"/>
              <a:t>Icd.setCursor</a:t>
            </a:r>
            <a:r>
              <a:rPr lang="en-US" dirty="0" smtClean="0"/>
              <a:t>(14,1);</a:t>
            </a:r>
          </a:p>
          <a:p>
            <a:r>
              <a:rPr lang="en-US" dirty="0" err="1" smtClean="0"/>
              <a:t>lcd.print</a:t>
            </a:r>
            <a:r>
              <a:rPr lang="en-US" dirty="0" smtClean="0"/>
              <a:t>(" ");</a:t>
            </a:r>
          </a:p>
          <a:p>
            <a:endParaRPr lang="en-US" dirty="0" smtClean="0"/>
          </a:p>
          <a:p>
            <a:r>
              <a:rPr lang="en-US" dirty="0" err="1" smtClean="0"/>
              <a:t>lcd.setCursor</a:t>
            </a:r>
            <a:r>
              <a:rPr lang="en-US" dirty="0" smtClean="0"/>
              <a:t>(14,1);</a:t>
            </a:r>
          </a:p>
          <a:p>
            <a:r>
              <a:rPr lang="en-US" dirty="0" err="1" smtClean="0"/>
              <a:t>lcd.print</a:t>
            </a:r>
            <a:r>
              <a:rPr lang="en-US" dirty="0" smtClean="0"/>
              <a:t>(voltage);</a:t>
            </a:r>
          </a:p>
          <a:p>
            <a:r>
              <a:rPr lang="en-US" dirty="0" smtClean="0"/>
              <a:t>delay(500);</a:t>
            </a:r>
          </a:p>
          <a:p>
            <a:r>
              <a:rPr lang="en-US" dirty="0" smtClean="0"/>
              <a:t>void baca_kategori_densito_kv60()//</a:t>
            </a:r>
            <a:r>
              <a:rPr lang="en-US" dirty="0" err="1" smtClean="0"/>
              <a:t>kalibrasi</a:t>
            </a:r>
            <a:r>
              <a:rPr lang="en-US" dirty="0" smtClean="0"/>
              <a:t> </a:t>
            </a:r>
            <a:r>
              <a:rPr lang="en-US" dirty="0" err="1" smtClean="0"/>
              <a:t>nilai</a:t>
            </a:r>
            <a:r>
              <a:rPr lang="en-US" dirty="0" smtClean="0"/>
              <a:t> </a:t>
            </a:r>
            <a:r>
              <a:rPr lang="en-US" dirty="0" err="1" smtClean="0"/>
              <a:t>kadar</a:t>
            </a:r>
            <a:r>
              <a:rPr lang="en-US" dirty="0" smtClean="0"/>
              <a:t> </a:t>
            </a:r>
            <a:r>
              <a:rPr lang="en-US" dirty="0" err="1" smtClean="0"/>
              <a:t>densitometri</a:t>
            </a:r>
            <a:r>
              <a:rPr lang="en-US" dirty="0" smtClean="0"/>
              <a:t> </a:t>
            </a:r>
            <a:r>
              <a:rPr lang="en-US" dirty="0" err="1" smtClean="0"/>
              <a:t>seting</a:t>
            </a:r>
            <a:r>
              <a:rPr lang="en-US" dirty="0" smtClean="0"/>
              <a:t> </a:t>
            </a:r>
            <a:r>
              <a:rPr lang="en-US" dirty="0" err="1" smtClean="0"/>
              <a:t>kalibrasi</a:t>
            </a:r>
            <a:endParaRPr lang="en-US" dirty="0" smtClean="0"/>
          </a:p>
          <a:p>
            <a:r>
              <a:rPr lang="en-US" dirty="0" smtClean="0"/>
              <a:t>kv60.</a:t>
            </a:r>
          </a:p>
          <a:p>
            <a:r>
              <a:rPr lang="en-US" dirty="0" smtClean="0"/>
              <a:t>delay(200);</a:t>
            </a:r>
          </a:p>
          <a:p>
            <a:r>
              <a:rPr lang="en-US" dirty="0" smtClean="0"/>
              <a:t>if((</a:t>
            </a:r>
            <a:r>
              <a:rPr lang="en-US" dirty="0" err="1" smtClean="0"/>
              <a:t>nilai_densito</a:t>
            </a:r>
            <a:r>
              <a:rPr lang="en-US" dirty="0" smtClean="0"/>
              <a:t>&gt;25)&amp;&amp;(</a:t>
            </a:r>
            <a:r>
              <a:rPr lang="en-US" dirty="0" err="1" smtClean="0"/>
              <a:t>nilai_densito</a:t>
            </a:r>
            <a:r>
              <a:rPr lang="en-US" dirty="0" smtClean="0"/>
              <a:t>&lt;=28))</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("(1)");</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a:t>
            </a:r>
            <a:r>
              <a:rPr lang="en-US" dirty="0" smtClean="0"/>
              <a:t> </a:t>
            </a:r>
            <a:r>
              <a:rPr lang="en-US" dirty="0" err="1" smtClean="0"/>
              <a:t>densito</a:t>
            </a:r>
            <a:r>
              <a:rPr lang="en-US" dirty="0" smtClean="0"/>
              <a:t>*5.0/1024;</a:t>
            </a:r>
          </a:p>
          <a:p>
            <a:r>
              <a:rPr lang="en-US" dirty="0" smtClean="0"/>
              <a:t>voltage = voltage + 0.15;</a:t>
            </a:r>
          </a:p>
          <a:p>
            <a:r>
              <a:rPr lang="en-US" dirty="0" err="1" smtClean="0"/>
              <a:t>lcd.setCursor</a:t>
            </a:r>
            <a:r>
              <a:rPr lang="en-US" dirty="0" smtClean="0"/>
              <a:t>(10,2);</a:t>
            </a:r>
          </a:p>
          <a:p>
            <a:r>
              <a:rPr lang="en-US" dirty="0" err="1" smtClean="0"/>
              <a:t>Icd.print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&gt;28)&amp;&amp;(</a:t>
            </a:r>
            <a:r>
              <a:rPr lang="en-US" dirty="0" err="1" smtClean="0"/>
              <a:t>nilai_densito</a:t>
            </a:r>
            <a:r>
              <a:rPr lang="en-US" dirty="0" smtClean="0"/>
              <a:t>&lt;=30))</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("(2)");</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+ 0.19;</a:t>
            </a:r>
          </a:p>
          <a:p>
            <a:r>
              <a:rPr lang="en-US" dirty="0" err="1" smtClean="0"/>
              <a:t>lcd.setCursor</a:t>
            </a:r>
            <a:r>
              <a:rPr lang="en-US" dirty="0" smtClean="0"/>
              <a:t>(10,2);</a:t>
            </a:r>
          </a:p>
          <a:p>
            <a:r>
              <a:rPr lang="en-US" dirty="0" err="1" smtClean="0"/>
              <a:t>lcd.print</a:t>
            </a:r>
            <a:r>
              <a:rPr lang="en-US" dirty="0" smtClean="0"/>
              <a:t>("");</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&gt;30)&amp;&amp;(</a:t>
            </a:r>
            <a:r>
              <a:rPr lang="en-US" dirty="0" err="1" smtClean="0"/>
              <a:t>nilai_densito</a:t>
            </a:r>
            <a:r>
              <a:rPr lang="en-US" dirty="0" smtClean="0"/>
              <a:t>&lt;=31))</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("(3)");</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+ 0.30;</a:t>
            </a:r>
          </a:p>
          <a:p>
            <a:r>
              <a:rPr lang="en-US" dirty="0" err="1" smtClean="0"/>
              <a:t>lcd.setCursor</a:t>
            </a:r>
            <a:r>
              <a:rPr lang="en-US" dirty="0" smtClean="0"/>
              <a:t>(10,2);</a:t>
            </a:r>
          </a:p>
          <a:p>
            <a:r>
              <a:rPr lang="en-US" dirty="0" err="1" smtClean="0"/>
              <a:t>Icd.print</a:t>
            </a:r>
            <a:r>
              <a:rPr lang="en-US" dirty="0" smtClean="0"/>
              <a:t>("");</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&gt;31)&amp;&amp;(</a:t>
            </a:r>
            <a:r>
              <a:rPr lang="en-US" dirty="0" err="1" smtClean="0"/>
              <a:t>nilai_densito</a:t>
            </a:r>
            <a:r>
              <a:rPr lang="en-US" dirty="0" smtClean="0"/>
              <a:t>&lt;=33))</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("(4)");</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+ 0.44;</a:t>
            </a:r>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&gt;33)&amp;&amp;(</a:t>
            </a:r>
            <a:r>
              <a:rPr lang="en-US" dirty="0" err="1" smtClean="0"/>
              <a:t>nilai_densito</a:t>
            </a:r>
            <a:r>
              <a:rPr lang="en-US" dirty="0" smtClean="0"/>
              <a:t>&lt;=35))</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("(4)");</a:t>
            </a:r>
          </a:p>
          <a:p>
            <a:r>
              <a:rPr lang="en-US" dirty="0" smtClean="0"/>
              <a:t>//delay(200);</a:t>
            </a:r>
          </a:p>
          <a:p>
            <a:r>
              <a:rPr lang="en-US" dirty="0" err="1" smtClean="0"/>
              <a:t>nilai_densito-analogRead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+ 0.43;</a:t>
            </a:r>
          </a:p>
          <a:p>
            <a:r>
              <a:rPr lang="en-US" dirty="0" err="1" smtClean="0"/>
              <a:t>lcd.setCursor</a:t>
            </a:r>
            <a:r>
              <a:rPr lang="en-US" dirty="0" smtClean="0"/>
              <a:t>(10,2);</a:t>
            </a:r>
          </a:p>
          <a:p>
            <a:r>
              <a:rPr lang="en-US" dirty="0" err="1" smtClean="0"/>
              <a:t>Icd.print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&gt;35)&amp;&amp;(</a:t>
            </a:r>
            <a:r>
              <a:rPr lang="en-US" dirty="0" err="1" smtClean="0"/>
              <a:t>nilai_densito</a:t>
            </a:r>
            <a:r>
              <a:rPr lang="en-US" dirty="0" smtClean="0"/>
              <a:t>&lt;=37))</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("(4)");</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+ 0.42;</a:t>
            </a:r>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&gt;39)&amp;&amp;(</a:t>
            </a:r>
            <a:r>
              <a:rPr lang="en-US" dirty="0" err="1" smtClean="0"/>
              <a:t>nilai_densito</a:t>
            </a:r>
            <a:r>
              <a:rPr lang="en-US" dirty="0" smtClean="0"/>
              <a:t>&lt;=41))</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("(5)");</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+ 0.58;</a:t>
            </a:r>
          </a:p>
          <a:p>
            <a:r>
              <a:rPr lang="en-US" dirty="0" err="1" smtClean="0"/>
              <a:t>lcd.setCursor</a:t>
            </a:r>
            <a:r>
              <a:rPr lang="en-US" dirty="0" smtClean="0"/>
              <a:t>(10,2);</a:t>
            </a:r>
          </a:p>
          <a:p>
            <a:r>
              <a:rPr lang="en-US" dirty="0" err="1" smtClean="0"/>
              <a:t>Icd.print</a:t>
            </a:r>
            <a:r>
              <a:rPr lang="en-US" dirty="0" smtClean="0"/>
              <a:t>(" ");</a:t>
            </a:r>
          </a:p>
          <a:p>
            <a:r>
              <a:rPr lang="en-US" dirty="0" smtClean="0"/>
              <a:t>1cd.setCursor(10,2);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&gt;41)&amp;&amp;(</a:t>
            </a:r>
            <a:r>
              <a:rPr lang="en-US" dirty="0" err="1" smtClean="0"/>
              <a:t>nilai_densito</a:t>
            </a:r>
            <a:r>
              <a:rPr lang="en-US" dirty="0" smtClean="0"/>
              <a:t>&lt;=44))</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("(5)");</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+ 0.57;</a:t>
            </a:r>
          </a:p>
          <a:p>
            <a:r>
              <a:rPr lang="en-US" dirty="0" err="1" smtClean="0"/>
              <a:t>Icd.setCursor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a:t>
            </a:r>
            <a:r>
              <a:rPr lang="en-US" dirty="0" err="1" smtClean="0"/>
              <a:t>els</a:t>
            </a:r>
            <a:endParaRPr lang="en-US" dirty="0" smtClean="0"/>
          </a:p>
          <a:p>
            <a:r>
              <a:rPr lang="en-US" dirty="0" smtClean="0"/>
              <a:t>if((</a:t>
            </a:r>
            <a:r>
              <a:rPr lang="en-US" dirty="0" err="1" smtClean="0"/>
              <a:t>nilai_densito</a:t>
            </a:r>
            <a:r>
              <a:rPr lang="en-US" dirty="0" smtClean="0"/>
              <a:t>&gt;44)&amp;&amp;(</a:t>
            </a:r>
            <a:r>
              <a:rPr lang="en-US" dirty="0" err="1" smtClean="0"/>
              <a:t>nilai_densito</a:t>
            </a:r>
            <a:r>
              <a:rPr lang="en-US" dirty="0" smtClean="0"/>
              <a:t>&lt;=46))</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("(5)");</a:t>
            </a:r>
          </a:p>
          <a:p>
            <a:r>
              <a:rPr lang="en-US" dirty="0" smtClean="0"/>
              <a:t>//delay(200);</a:t>
            </a:r>
          </a:p>
          <a:p>
            <a:r>
              <a:rPr lang="en-US" dirty="0" err="1" smtClean="0"/>
              <a:t>nilai_densito-analogRead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+ 0.56;</a:t>
            </a:r>
          </a:p>
          <a:p>
            <a:r>
              <a:rPr lang="en-US" dirty="0" smtClean="0"/>
              <a:t>1cd.setCursor(10,2);</a:t>
            </a:r>
          </a:p>
          <a:p>
            <a:r>
              <a:rPr lang="en-US" dirty="0" err="1" smtClean="0"/>
              <a:t>lcd.print</a:t>
            </a:r>
            <a:r>
              <a:rPr lang="en-US" dirty="0" smtClean="0"/>
              <a:t>(" ");</a:t>
            </a:r>
          </a:p>
          <a:p>
            <a:r>
              <a:rPr lang="en-US" dirty="0" err="1" smtClean="0"/>
              <a:t>Icd.setCursor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&gt;304)&amp;&amp;(</a:t>
            </a:r>
            <a:r>
              <a:rPr lang="en-US" dirty="0" err="1" smtClean="0"/>
              <a:t>nilai_densito</a:t>
            </a:r>
            <a:r>
              <a:rPr lang="en-US" dirty="0" smtClean="0"/>
              <a:t>&lt;=310))</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("(6)");</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- 0.48;</a:t>
            </a:r>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&gt;310)&amp;&amp;(</a:t>
            </a:r>
            <a:r>
              <a:rPr lang="en-US" dirty="0" err="1" smtClean="0"/>
              <a:t>nilai_densito</a:t>
            </a:r>
            <a:r>
              <a:rPr lang="en-US" dirty="0" smtClean="0"/>
              <a:t>&lt;=314))</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("(6)");</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- 0.52;</a:t>
            </a:r>
          </a:p>
          <a:p>
            <a:r>
              <a:rPr lang="en-US" dirty="0" err="1" smtClean="0"/>
              <a:t>lcd.setCursor</a:t>
            </a:r>
            <a:r>
              <a:rPr lang="en-US" dirty="0" smtClean="0"/>
              <a:t>(10,2);</a:t>
            </a:r>
          </a:p>
          <a:p>
            <a:r>
              <a:rPr lang="en-US" dirty="0" err="1" smtClean="0"/>
              <a:t>lcd.print</a:t>
            </a:r>
            <a:r>
              <a:rPr lang="en-US" dirty="0" smtClean="0"/>
              <a:t>("");</a:t>
            </a:r>
          </a:p>
          <a:p>
            <a:endParaRPr lang="en-US" dirty="0" smtClean="0"/>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&gt;314)&amp;&amp;(</a:t>
            </a:r>
            <a:r>
              <a:rPr lang="en-US" dirty="0" err="1" smtClean="0"/>
              <a:t>nilai_densito</a:t>
            </a:r>
            <a:r>
              <a:rPr lang="en-US" dirty="0" smtClean="0"/>
              <a:t>&lt;=316))</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("(6)");</a:t>
            </a:r>
          </a:p>
          <a:p>
            <a:r>
              <a:rPr lang="en-US" dirty="0" smtClean="0"/>
              <a:t>//delay(200);</a:t>
            </a:r>
          </a:p>
          <a:p>
            <a:r>
              <a:rPr lang="en-US" dirty="0" err="1" smtClean="0"/>
              <a:t>nilai_densito-analogRead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- 0.53;</a:t>
            </a:r>
          </a:p>
          <a:p>
            <a:r>
              <a:rPr lang="en-US" dirty="0" err="1" smtClean="0"/>
              <a:t>lcd.setCursor</a:t>
            </a:r>
            <a:r>
              <a:rPr lang="en-US" dirty="0" smtClean="0"/>
              <a:t>(10,2);</a:t>
            </a:r>
          </a:p>
          <a:p>
            <a:r>
              <a:rPr lang="en-US" dirty="0" err="1" smtClean="0"/>
              <a:t>Icd.print</a:t>
            </a:r>
            <a:r>
              <a:rPr lang="en-US" dirty="0" smtClean="0"/>
              <a:t>(" ");</a:t>
            </a:r>
          </a:p>
          <a:p>
            <a:r>
              <a:rPr lang="en-US" dirty="0" smtClean="0"/>
              <a:t>1cd.setCursor(10,2);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&gt;316)&amp;&amp;(</a:t>
            </a:r>
            <a:r>
              <a:rPr lang="en-US" dirty="0" err="1" smtClean="0"/>
              <a:t>nilai_densito</a:t>
            </a:r>
            <a:r>
              <a:rPr lang="en-US" dirty="0" smtClean="0"/>
              <a:t>&lt;=318))</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("(6)");</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- 0.54;</a:t>
            </a:r>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&gt;318)&amp;&amp;(</a:t>
            </a:r>
            <a:r>
              <a:rPr lang="en-US" dirty="0" err="1" smtClean="0"/>
              <a:t>nilai_densito</a:t>
            </a:r>
            <a:r>
              <a:rPr lang="en-US" dirty="0" smtClean="0"/>
              <a:t>&lt;=320))</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("(6)");</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- 0.55;</a:t>
            </a:r>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&gt;320)&amp;&amp;(</a:t>
            </a:r>
            <a:r>
              <a:rPr lang="en-US" dirty="0" err="1" smtClean="0"/>
              <a:t>nilai_densito</a:t>
            </a:r>
            <a:r>
              <a:rPr lang="en-US" dirty="0" smtClean="0"/>
              <a:t>&lt;=322))</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("(6)");</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- 0.56;</a:t>
            </a:r>
          </a:p>
          <a:p>
            <a:r>
              <a:rPr lang="en-US" dirty="0" smtClean="0"/>
              <a:t>1cd.setCursor(10,2);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&gt;322)&amp;&amp;(</a:t>
            </a:r>
            <a:r>
              <a:rPr lang="en-US" dirty="0" err="1" smtClean="0"/>
              <a:t>nilai_densito</a:t>
            </a:r>
            <a:r>
              <a:rPr lang="en-US" dirty="0" smtClean="0"/>
              <a:t>&lt;=324))</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("(6)");</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- 0.57;</a:t>
            </a:r>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&gt;324)&amp;&amp;(</a:t>
            </a:r>
            <a:r>
              <a:rPr lang="en-US" dirty="0" err="1" smtClean="0"/>
              <a:t>nilai_densito</a:t>
            </a:r>
            <a:r>
              <a:rPr lang="en-US" dirty="0" smtClean="0"/>
              <a:t>&lt;=326))</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("(6)");</a:t>
            </a:r>
          </a:p>
          <a:p>
            <a:r>
              <a:rPr lang="en-US" dirty="0" smtClean="0"/>
              <a:t>//delay(200);</a:t>
            </a:r>
          </a:p>
          <a:p>
            <a:r>
              <a:rPr lang="en-US" dirty="0" err="1" smtClean="0"/>
              <a:t>nilai_densito-analogRead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- 0.58;</a:t>
            </a:r>
          </a:p>
          <a:p>
            <a:r>
              <a:rPr lang="en-US" dirty="0" err="1" smtClean="0"/>
              <a:t>lcd.setCursor</a:t>
            </a:r>
            <a:r>
              <a:rPr lang="en-US" dirty="0" smtClean="0"/>
              <a:t>(10,2);</a:t>
            </a:r>
          </a:p>
          <a:p>
            <a:r>
              <a:rPr lang="en-US" dirty="0" err="1" smtClean="0"/>
              <a:t>lcd.print</a:t>
            </a:r>
            <a:r>
              <a:rPr lang="en-US" dirty="0" smtClean="0"/>
              <a:t>("");</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&gt;326)&amp;&amp;(</a:t>
            </a:r>
            <a:r>
              <a:rPr lang="en-US" dirty="0" err="1" smtClean="0"/>
              <a:t>nilai_densito</a:t>
            </a:r>
            <a:r>
              <a:rPr lang="en-US" dirty="0" smtClean="0"/>
              <a:t>&lt;=328))</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("(6)");</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- 0.59;</a:t>
            </a:r>
          </a:p>
          <a:p>
            <a:r>
              <a:rPr lang="en-US" dirty="0" err="1" smtClean="0"/>
              <a:t>lcd.setCursor</a:t>
            </a:r>
            <a:r>
              <a:rPr lang="en-US" dirty="0" smtClean="0"/>
              <a:t>(10,2);</a:t>
            </a:r>
          </a:p>
          <a:p>
            <a:r>
              <a:rPr lang="en-US" dirty="0" err="1" smtClean="0"/>
              <a:t>Icd.print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&gt;328)&amp;&amp;(</a:t>
            </a:r>
            <a:r>
              <a:rPr lang="en-US" dirty="0" err="1" smtClean="0"/>
              <a:t>nilai_densito</a:t>
            </a:r>
            <a:r>
              <a:rPr lang="en-US" dirty="0" smtClean="0"/>
              <a:t>&lt;=330))</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("(6)");</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- 0.60;</a:t>
            </a:r>
          </a:p>
          <a:p>
            <a:r>
              <a:rPr lang="en-US" dirty="0" err="1" smtClean="0"/>
              <a:t>lcd.setCursor</a:t>
            </a:r>
            <a:r>
              <a:rPr lang="en-US" dirty="0" smtClean="0"/>
              <a:t>(10,2);</a:t>
            </a:r>
          </a:p>
          <a:p>
            <a:r>
              <a:rPr lang="en-US" dirty="0" err="1" smtClean="0"/>
              <a:t>lcd.print</a:t>
            </a:r>
            <a:r>
              <a:rPr lang="en-US" dirty="0" smtClean="0"/>
              <a:t>(" ");</a:t>
            </a:r>
          </a:p>
          <a:p>
            <a:r>
              <a:rPr lang="en-US" dirty="0" err="1" smtClean="0"/>
              <a:t>Icd.setCursor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&gt;330)&amp;&amp;(</a:t>
            </a:r>
            <a:r>
              <a:rPr lang="en-US" dirty="0" err="1" smtClean="0"/>
              <a:t>nilai_densito</a:t>
            </a:r>
            <a:r>
              <a:rPr lang="en-US" dirty="0" smtClean="0"/>
              <a:t>&lt;=334))</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("(6)");</a:t>
            </a:r>
          </a:p>
          <a:p>
            <a:endParaRPr lang="en-US" dirty="0" smtClean="0"/>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- 0.61;</a:t>
            </a:r>
          </a:p>
          <a:p>
            <a:r>
              <a:rPr lang="en-US" dirty="0" smtClean="0"/>
              <a:t>1cd.setCursor(10,2);</a:t>
            </a:r>
          </a:p>
          <a:p>
            <a:r>
              <a:rPr lang="en-US" dirty="0" err="1" smtClean="0"/>
              <a:t>Icd.print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&gt;678)&amp;&amp;(</a:t>
            </a:r>
            <a:r>
              <a:rPr lang="en-US" dirty="0" err="1" smtClean="0"/>
              <a:t>nilai_densito</a:t>
            </a:r>
            <a:r>
              <a:rPr lang="en-US" dirty="0" smtClean="0"/>
              <a:t>&lt;=685))</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("(7)");</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a:t>
            </a:r>
            <a:r>
              <a:rPr lang="en-US" dirty="0" smtClean="0"/>
              <a:t> </a:t>
            </a:r>
            <a:r>
              <a:rPr lang="en-US" dirty="0" err="1" smtClean="0"/>
              <a:t>densito</a:t>
            </a:r>
            <a:r>
              <a:rPr lang="en-US" dirty="0" smtClean="0"/>
              <a:t>*5.0/1024;</a:t>
            </a:r>
          </a:p>
          <a:p>
            <a:r>
              <a:rPr lang="en-US" dirty="0" smtClean="0"/>
              <a:t>voltage = voltage - 2.08;</a:t>
            </a:r>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&gt;685)&amp;&amp;(</a:t>
            </a:r>
            <a:r>
              <a:rPr lang="en-US" dirty="0" err="1" smtClean="0"/>
              <a:t>nilai_densito</a:t>
            </a:r>
            <a:r>
              <a:rPr lang="en-US" dirty="0" smtClean="0"/>
              <a:t>&lt;=691))</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("(7)");</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- 2.11;</a:t>
            </a:r>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endParaRPr lang="en-US" dirty="0" smtClean="0"/>
          </a:p>
          <a:p>
            <a:r>
              <a:rPr lang="en-US" dirty="0" smtClean="0"/>
              <a:t>if((</a:t>
            </a:r>
            <a:r>
              <a:rPr lang="en-US" dirty="0" err="1" smtClean="0"/>
              <a:t>nilai_densito</a:t>
            </a:r>
            <a:r>
              <a:rPr lang="en-US" dirty="0" smtClean="0"/>
              <a:t>&gt;691)&amp;&amp;(</a:t>
            </a:r>
            <a:r>
              <a:rPr lang="en-US" dirty="0" err="1" smtClean="0"/>
              <a:t>nilai_densito</a:t>
            </a:r>
            <a:r>
              <a:rPr lang="en-US" dirty="0" smtClean="0"/>
              <a:t>&lt;=697))</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("(7)");</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- 2.14;</a:t>
            </a:r>
          </a:p>
          <a:p>
            <a:r>
              <a:rPr lang="en-US" dirty="0" smtClean="0"/>
              <a:t>1cd.setCursor(10,2);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&gt;697)&amp;&amp;(</a:t>
            </a:r>
            <a:r>
              <a:rPr lang="en-US" dirty="0" err="1" smtClean="0"/>
              <a:t>nilai_densito</a:t>
            </a:r>
            <a:r>
              <a:rPr lang="en-US" dirty="0" smtClean="0"/>
              <a:t>&lt;=703))</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("(7)");</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- 2.17;</a:t>
            </a:r>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&gt;703)&amp;&amp;(</a:t>
            </a:r>
            <a:r>
              <a:rPr lang="en-US" dirty="0" err="1" smtClean="0"/>
              <a:t>nilai_densito</a:t>
            </a:r>
            <a:r>
              <a:rPr lang="en-US" dirty="0" smtClean="0"/>
              <a:t>&lt;=709))</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("(7)");</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- 2.20;</a:t>
            </a:r>
          </a:p>
          <a:p>
            <a:r>
              <a:rPr lang="en-US" dirty="0" err="1" smtClean="0"/>
              <a:t>lcd.setCursor</a:t>
            </a:r>
            <a:r>
              <a:rPr lang="en-US" dirty="0" smtClean="0"/>
              <a:t>(10,2);</a:t>
            </a:r>
          </a:p>
          <a:p>
            <a:r>
              <a:rPr lang="en-US" dirty="0" err="1" smtClean="0"/>
              <a:t>lcd.print</a:t>
            </a:r>
            <a:r>
              <a:rPr lang="en-US" dirty="0" smtClean="0"/>
              <a:t>("");</a:t>
            </a:r>
          </a:p>
          <a:p>
            <a:endParaRPr lang="en-US" dirty="0" smtClean="0"/>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&gt;824)&amp;&amp;(</a:t>
            </a:r>
            <a:r>
              <a:rPr lang="en-US" dirty="0" err="1" smtClean="0"/>
              <a:t>nilai_densito</a:t>
            </a:r>
            <a:r>
              <a:rPr lang="en-US" dirty="0" smtClean="0"/>
              <a:t>&lt;=830))</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("(8)");</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- 2.52;</a:t>
            </a:r>
          </a:p>
          <a:p>
            <a:r>
              <a:rPr lang="en-US" dirty="0" err="1" smtClean="0"/>
              <a:t>lcd.setCursor</a:t>
            </a:r>
            <a:r>
              <a:rPr lang="en-US" dirty="0" smtClean="0"/>
              <a:t>(10,2);</a:t>
            </a:r>
          </a:p>
          <a:p>
            <a:r>
              <a:rPr lang="en-US" dirty="0" err="1" smtClean="0"/>
              <a:t>lcd.print</a:t>
            </a:r>
            <a:r>
              <a:rPr lang="en-US" dirty="0" smtClean="0"/>
              <a:t>("");</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&gt;830)&amp;&amp;(</a:t>
            </a:r>
            <a:r>
              <a:rPr lang="en-US" dirty="0" err="1" smtClean="0"/>
              <a:t>nilai_densito</a:t>
            </a:r>
            <a:r>
              <a:rPr lang="en-US" dirty="0" smtClean="0"/>
              <a:t>&lt;=836))</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("(8)");</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- 2.55;</a:t>
            </a:r>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&gt;836)&amp;&amp;(</a:t>
            </a:r>
            <a:r>
              <a:rPr lang="en-US" dirty="0" err="1" smtClean="0"/>
              <a:t>nilai_densito</a:t>
            </a:r>
            <a:r>
              <a:rPr lang="en-US" dirty="0" smtClean="0"/>
              <a:t>&lt;=838))</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("(8)");</a:t>
            </a:r>
          </a:p>
          <a:p>
            <a:r>
              <a:rPr lang="en-US" dirty="0" smtClean="0"/>
              <a:t>//delay(200);</a:t>
            </a:r>
          </a:p>
          <a:p>
            <a:r>
              <a:rPr lang="en-US" dirty="0" err="1" smtClean="0"/>
              <a:t>nilai_densito-analogRead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- 2.57;</a:t>
            </a:r>
          </a:p>
          <a:p>
            <a:endParaRPr lang="en-US" dirty="0" smtClean="0"/>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&gt;838)&amp;&amp;(</a:t>
            </a:r>
            <a:r>
              <a:rPr lang="en-US" dirty="0" err="1" smtClean="0"/>
              <a:t>nilai_densito</a:t>
            </a:r>
            <a:r>
              <a:rPr lang="en-US" dirty="0" smtClean="0"/>
              <a:t>&lt;=840))</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("(8)");</a:t>
            </a:r>
          </a:p>
          <a:p>
            <a:r>
              <a:rPr lang="en-US" dirty="0" smtClean="0"/>
              <a:t>//delay(200);</a:t>
            </a:r>
          </a:p>
          <a:p>
            <a:r>
              <a:rPr lang="en-US" dirty="0" err="1" smtClean="0"/>
              <a:t>nilai_densito-analogRead</a:t>
            </a:r>
            <a:r>
              <a:rPr lang="en-US" dirty="0" smtClean="0"/>
              <a:t>(</a:t>
            </a:r>
            <a:r>
              <a:rPr lang="en-US" dirty="0" err="1" smtClean="0"/>
              <a:t>densito</a:t>
            </a:r>
            <a:r>
              <a:rPr lang="en-US" dirty="0" smtClean="0"/>
              <a:t>);</a:t>
            </a:r>
          </a:p>
          <a:p>
            <a:r>
              <a:rPr lang="en-US" dirty="0" smtClean="0"/>
              <a:t>voltage = </a:t>
            </a:r>
            <a:r>
              <a:rPr lang="en-US" dirty="0" err="1" smtClean="0"/>
              <a:t>nilai</a:t>
            </a:r>
            <a:r>
              <a:rPr lang="en-US" dirty="0" smtClean="0"/>
              <a:t> </a:t>
            </a:r>
            <a:r>
              <a:rPr lang="en-US" dirty="0" err="1" smtClean="0"/>
              <a:t>densito</a:t>
            </a:r>
            <a:r>
              <a:rPr lang="en-US" dirty="0" smtClean="0"/>
              <a:t>*5.0/1024;</a:t>
            </a:r>
          </a:p>
          <a:p>
            <a:r>
              <a:rPr lang="en-US" dirty="0" smtClean="0"/>
              <a:t>voltage = voltage - 2.58;</a:t>
            </a:r>
          </a:p>
          <a:p>
            <a:r>
              <a:rPr lang="en-US" dirty="0" smtClean="0"/>
              <a:t>1cd.setCursor(10,2);</a:t>
            </a:r>
          </a:p>
          <a:p>
            <a:r>
              <a:rPr lang="en-US" dirty="0" err="1" smtClean="0"/>
              <a:t>lcd.print</a:t>
            </a:r>
            <a:r>
              <a:rPr lang="en-US" dirty="0" smtClean="0"/>
              <a:t>(" ");</a:t>
            </a:r>
          </a:p>
          <a:p>
            <a:r>
              <a:rPr lang="en-US" dirty="0" err="1" smtClean="0"/>
              <a:t>Icd.setCursor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&gt;840)&amp;&amp;(</a:t>
            </a:r>
            <a:r>
              <a:rPr lang="en-US" dirty="0" err="1" smtClean="0"/>
              <a:t>nilai_densito</a:t>
            </a:r>
            <a:r>
              <a:rPr lang="en-US" dirty="0" smtClean="0"/>
              <a:t>&lt;=842))</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("(8)");</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- 2.59;</a:t>
            </a:r>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&gt;842)&amp;&amp;(</a:t>
            </a:r>
            <a:r>
              <a:rPr lang="en-US" dirty="0" err="1" smtClean="0"/>
              <a:t>nilai_densito</a:t>
            </a:r>
            <a:r>
              <a:rPr lang="en-US" dirty="0" smtClean="0"/>
              <a:t>&lt;=844))</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("(8)");</a:t>
            </a:r>
          </a:p>
          <a:p>
            <a:r>
              <a:rPr lang="en-US" dirty="0" smtClean="0"/>
              <a:t>//delay(200);</a:t>
            </a:r>
          </a:p>
          <a:p>
            <a:r>
              <a:rPr lang="en-US" dirty="0" err="1" smtClean="0"/>
              <a:t>nilai_densito-analogRead</a:t>
            </a:r>
            <a:r>
              <a:rPr lang="en-US" dirty="0" smtClean="0"/>
              <a:t>(</a:t>
            </a:r>
            <a:r>
              <a:rPr lang="en-US" dirty="0" err="1" smtClean="0"/>
              <a:t>densito</a:t>
            </a:r>
            <a:r>
              <a:rPr lang="en-US" dirty="0" smtClean="0"/>
              <a:t>);</a:t>
            </a:r>
          </a:p>
          <a:p>
            <a:endParaRPr lang="en-US" dirty="0" smtClean="0"/>
          </a:p>
          <a:p>
            <a:r>
              <a:rPr lang="en-US" dirty="0" smtClean="0"/>
              <a:t>voltage = </a:t>
            </a:r>
            <a:r>
              <a:rPr lang="en-US" dirty="0" err="1" smtClean="0"/>
              <a:t>nilai_densito</a:t>
            </a:r>
            <a:r>
              <a:rPr lang="en-US" dirty="0" smtClean="0"/>
              <a:t>*5.0/1024;</a:t>
            </a:r>
          </a:p>
          <a:p>
            <a:r>
              <a:rPr lang="en-US" dirty="0" smtClean="0"/>
              <a:t>voltage = voltage - 2.60;</a:t>
            </a:r>
          </a:p>
          <a:p>
            <a:r>
              <a:rPr lang="en-US" dirty="0" smtClean="0"/>
              <a:t>1cd.setCursor(10,2);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&gt;844)&amp;&amp;(</a:t>
            </a:r>
            <a:r>
              <a:rPr lang="en-US" dirty="0" err="1" smtClean="0"/>
              <a:t>nilai_densito</a:t>
            </a:r>
            <a:r>
              <a:rPr lang="en-US" dirty="0" smtClean="0"/>
              <a:t>&lt;=846))</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("(8)");</a:t>
            </a:r>
          </a:p>
          <a:p>
            <a:r>
              <a:rPr lang="en-US" dirty="0" smtClean="0"/>
              <a:t>//delay(200);</a:t>
            </a:r>
          </a:p>
          <a:p>
            <a:r>
              <a:rPr lang="en-US" dirty="0" err="1" smtClean="0"/>
              <a:t>nilai_densito-analogRead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- 2.61;</a:t>
            </a:r>
          </a:p>
          <a:p>
            <a:r>
              <a:rPr lang="en-US" dirty="0" err="1" smtClean="0"/>
              <a:t>lcd.setCursor</a:t>
            </a:r>
            <a:r>
              <a:rPr lang="en-US" dirty="0" smtClean="0"/>
              <a:t>(10,2);</a:t>
            </a:r>
          </a:p>
          <a:p>
            <a:r>
              <a:rPr lang="en-US" dirty="0" err="1" smtClean="0"/>
              <a:t>Icd.print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&gt;877)&amp;&amp;(</a:t>
            </a:r>
            <a:r>
              <a:rPr lang="en-US" dirty="0" err="1" smtClean="0"/>
              <a:t>nilai_densito</a:t>
            </a:r>
            <a:r>
              <a:rPr lang="en-US" dirty="0" smtClean="0"/>
              <a:t>&lt;=883))</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("(9)");</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- 2.61;</a:t>
            </a:r>
          </a:p>
          <a:p>
            <a:r>
              <a:rPr lang="en-US" dirty="0" err="1" smtClean="0"/>
              <a:t>lcd.setCursor</a:t>
            </a:r>
            <a:r>
              <a:rPr lang="en-US" dirty="0" smtClean="0"/>
              <a:t>(10,2);</a:t>
            </a:r>
          </a:p>
          <a:p>
            <a:r>
              <a:rPr lang="en-US" dirty="0" err="1" smtClean="0"/>
              <a:t>Icd.print</a:t>
            </a:r>
            <a:r>
              <a:rPr lang="en-US" dirty="0" smtClean="0"/>
              <a:t>(" ");</a:t>
            </a:r>
          </a:p>
          <a:p>
            <a:r>
              <a:rPr lang="en-US" dirty="0" smtClean="0"/>
              <a:t>1cd.setCursor(10,2);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&gt;883)&amp;&amp;(</a:t>
            </a:r>
            <a:r>
              <a:rPr lang="en-US" dirty="0" err="1" smtClean="0"/>
              <a:t>nilai_densito</a:t>
            </a:r>
            <a:r>
              <a:rPr lang="en-US" dirty="0" smtClean="0"/>
              <a:t>&lt;=889))</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("(9)");</a:t>
            </a:r>
          </a:p>
          <a:p>
            <a:endParaRPr lang="en-US" dirty="0" smtClean="0"/>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- 2.64;</a:t>
            </a:r>
          </a:p>
          <a:p>
            <a:r>
              <a:rPr lang="en-US" dirty="0" smtClean="0"/>
              <a:t>1cd.setCursor(10,2);</a:t>
            </a:r>
          </a:p>
          <a:p>
            <a:r>
              <a:rPr lang="en-US" dirty="0" err="1" smtClean="0"/>
              <a:t>Icd.print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&gt;889)&amp;&amp;(</a:t>
            </a:r>
            <a:r>
              <a:rPr lang="en-US" dirty="0" err="1" smtClean="0"/>
              <a:t>nilai_densito</a:t>
            </a:r>
            <a:r>
              <a:rPr lang="en-US" dirty="0" smtClean="0"/>
              <a:t>&lt;=895))</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("(9)");</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- 2.67;</a:t>
            </a:r>
          </a:p>
          <a:p>
            <a:r>
              <a:rPr lang="en-US" dirty="0" err="1" smtClean="0"/>
              <a:t>lcd.setCursor</a:t>
            </a:r>
            <a:r>
              <a:rPr lang="en-US" dirty="0" smtClean="0"/>
              <a:t>(10,2);</a:t>
            </a:r>
          </a:p>
          <a:p>
            <a:r>
              <a:rPr lang="en-US" dirty="0" err="1" smtClean="0"/>
              <a:t>lcd.print</a:t>
            </a:r>
            <a:r>
              <a:rPr lang="en-US" dirty="0" smtClean="0"/>
              <a:t>(" ");</a:t>
            </a:r>
          </a:p>
          <a:p>
            <a:r>
              <a:rPr lang="en-US" dirty="0" smtClean="0"/>
              <a:t>1cd.setCursor(10,2);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&gt;895)&amp;&amp;(</a:t>
            </a:r>
            <a:r>
              <a:rPr lang="en-US" dirty="0" err="1" smtClean="0"/>
              <a:t>nilai_densito</a:t>
            </a:r>
            <a:r>
              <a:rPr lang="en-US" dirty="0" smtClean="0"/>
              <a:t>&lt;=901))</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("(9)");</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- 2.70;</a:t>
            </a:r>
          </a:p>
          <a:p>
            <a:r>
              <a:rPr lang="en-US" dirty="0" err="1" smtClean="0"/>
              <a:t>lcd.setCursor</a:t>
            </a:r>
            <a:r>
              <a:rPr lang="en-US" dirty="0" smtClean="0"/>
              <a:t>(10,2);</a:t>
            </a:r>
          </a:p>
          <a:p>
            <a:r>
              <a:rPr lang="en-US" dirty="0" err="1" smtClean="0"/>
              <a:t>Icd.print</a:t>
            </a:r>
            <a:r>
              <a:rPr lang="en-US" dirty="0" smtClean="0"/>
              <a:t>(" ");</a:t>
            </a:r>
          </a:p>
          <a:p>
            <a:r>
              <a:rPr lang="en-US" dirty="0" smtClean="0"/>
              <a:t>1cd.setCursor(10,2);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&gt;959)&amp;&amp;(</a:t>
            </a:r>
            <a:r>
              <a:rPr lang="en-US" dirty="0" err="1" smtClean="0"/>
              <a:t>nilai_densito</a:t>
            </a:r>
            <a:r>
              <a:rPr lang="en-US" dirty="0" smtClean="0"/>
              <a:t>&lt;=961))</a:t>
            </a:r>
          </a:p>
          <a:p>
            <a:endParaRPr lang="en-US" dirty="0" smtClean="0"/>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("(10)");</a:t>
            </a:r>
          </a:p>
          <a:p>
            <a:r>
              <a:rPr lang="en-US" dirty="0" smtClean="0"/>
              <a:t>//delay(200);</a:t>
            </a:r>
          </a:p>
          <a:p>
            <a:r>
              <a:rPr lang="en-US" dirty="0" err="1" smtClean="0"/>
              <a:t>nilai_densito-analogRead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- 2.80;</a:t>
            </a:r>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&gt;961)&amp;&amp;(</a:t>
            </a:r>
            <a:r>
              <a:rPr lang="en-US" dirty="0" err="1" smtClean="0"/>
              <a:t>nilai_densito</a:t>
            </a:r>
            <a:r>
              <a:rPr lang="en-US" dirty="0" smtClean="0"/>
              <a:t>&lt;=965))</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("(10)");</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- 2.81;</a:t>
            </a:r>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&gt;975)&amp;&amp;(</a:t>
            </a:r>
            <a:r>
              <a:rPr lang="en-US" dirty="0" err="1" smtClean="0"/>
              <a:t>nilai_densito</a:t>
            </a:r>
            <a:r>
              <a:rPr lang="en-US" dirty="0" smtClean="0"/>
              <a:t>&lt;=979))</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("(10)");</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- 2.73;</a:t>
            </a:r>
          </a:p>
          <a:p>
            <a:r>
              <a:rPr lang="en-US" dirty="0" smtClean="0"/>
              <a:t>1cd.setCursor(10,2);</a:t>
            </a:r>
          </a:p>
          <a:p>
            <a:r>
              <a:rPr lang="en-US" dirty="0" err="1" smtClean="0"/>
              <a:t>Icd.print</a:t>
            </a:r>
            <a:r>
              <a:rPr lang="en-US" dirty="0" smtClean="0"/>
              <a:t>("");</a:t>
            </a:r>
          </a:p>
          <a:p>
            <a:r>
              <a:rPr lang="en-US" dirty="0" err="1" smtClean="0"/>
              <a:t>lcd.setCursor</a:t>
            </a:r>
            <a:r>
              <a:rPr lang="en-US" dirty="0" smtClean="0"/>
              <a:t>(10,2);</a:t>
            </a:r>
          </a:p>
          <a:p>
            <a:r>
              <a:rPr lang="en-US" dirty="0" err="1" smtClean="0"/>
              <a:t>lcd.print</a:t>
            </a:r>
            <a:r>
              <a:rPr lang="en-US" dirty="0" smtClean="0"/>
              <a:t>(voltage,2);</a:t>
            </a:r>
          </a:p>
          <a:p>
            <a:endParaRPr lang="en-US" dirty="0" smtClean="0"/>
          </a:p>
          <a:p>
            <a:r>
              <a:rPr lang="en-US" dirty="0" smtClean="0"/>
              <a:t>}else</a:t>
            </a:r>
          </a:p>
          <a:p>
            <a:r>
              <a:rPr lang="en-US" dirty="0" smtClean="0"/>
              <a:t>if((</a:t>
            </a:r>
            <a:r>
              <a:rPr lang="en-US" dirty="0" err="1" smtClean="0"/>
              <a:t>nilai_densito</a:t>
            </a:r>
            <a:r>
              <a:rPr lang="en-US" dirty="0" smtClean="0"/>
              <a:t>&gt;979)&amp;&amp;(</a:t>
            </a:r>
            <a:r>
              <a:rPr lang="en-US" dirty="0" err="1" smtClean="0"/>
              <a:t>nilai_densito</a:t>
            </a:r>
            <a:r>
              <a:rPr lang="en-US" dirty="0" smtClean="0"/>
              <a:t>&lt;=983))</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("(10)");</a:t>
            </a:r>
          </a:p>
          <a:p>
            <a:r>
              <a:rPr lang="en-US" dirty="0" smtClean="0"/>
              <a:t>//delay(200);</a:t>
            </a:r>
          </a:p>
          <a:p>
            <a:r>
              <a:rPr lang="en-US" dirty="0" err="1" smtClean="0"/>
              <a:t>nilai_densito-analogRead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- 2.78;</a:t>
            </a:r>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delay(200);</a:t>
            </a:r>
          </a:p>
          <a:p>
            <a:r>
              <a:rPr lang="en-US" dirty="0" smtClean="0"/>
              <a:t>void baca_kategori_densito_kv80()//</a:t>
            </a:r>
            <a:r>
              <a:rPr lang="en-US" dirty="0" err="1" smtClean="0"/>
              <a:t>kalibrasi</a:t>
            </a:r>
            <a:r>
              <a:rPr lang="en-US" dirty="0" smtClean="0"/>
              <a:t> </a:t>
            </a:r>
            <a:r>
              <a:rPr lang="en-US" dirty="0" err="1" smtClean="0"/>
              <a:t>nilai</a:t>
            </a:r>
            <a:r>
              <a:rPr lang="en-US" dirty="0" smtClean="0"/>
              <a:t> </a:t>
            </a:r>
            <a:r>
              <a:rPr lang="en-US" dirty="0" err="1" smtClean="0"/>
              <a:t>kadar</a:t>
            </a:r>
            <a:r>
              <a:rPr lang="en-US" dirty="0" smtClean="0"/>
              <a:t> </a:t>
            </a:r>
            <a:r>
              <a:rPr lang="en-US" dirty="0" err="1" smtClean="0"/>
              <a:t>densitometri</a:t>
            </a:r>
            <a:r>
              <a:rPr lang="en-US" dirty="0" smtClean="0"/>
              <a:t> </a:t>
            </a:r>
            <a:r>
              <a:rPr lang="en-US" dirty="0" err="1" smtClean="0"/>
              <a:t>seting</a:t>
            </a:r>
            <a:r>
              <a:rPr lang="en-US" dirty="0" smtClean="0"/>
              <a:t> </a:t>
            </a:r>
            <a:r>
              <a:rPr lang="en-US" dirty="0" err="1" smtClean="0"/>
              <a:t>kalibrasi</a:t>
            </a:r>
            <a:endParaRPr lang="en-US" dirty="0" smtClean="0"/>
          </a:p>
          <a:p>
            <a:r>
              <a:rPr lang="en-US" dirty="0" smtClean="0"/>
              <a:t>kv80.....</a:t>
            </a:r>
          </a:p>
          <a:p>
            <a:r>
              <a:rPr lang="en-US" dirty="0" smtClean="0"/>
              <a:t>delay(200);</a:t>
            </a:r>
          </a:p>
          <a:p>
            <a:r>
              <a:rPr lang="en-US" dirty="0" smtClean="0"/>
              <a:t>if((</a:t>
            </a:r>
            <a:r>
              <a:rPr lang="en-US" dirty="0" err="1" smtClean="0"/>
              <a:t>nilai_densito</a:t>
            </a:r>
            <a:r>
              <a:rPr lang="en-US" dirty="0" smtClean="0"/>
              <a:t>&gt;574)&amp;&amp;(</a:t>
            </a:r>
            <a:r>
              <a:rPr lang="en-US" dirty="0" err="1" smtClean="0"/>
              <a:t>nilai_densito</a:t>
            </a:r>
            <a:r>
              <a:rPr lang="en-US" dirty="0" smtClean="0"/>
              <a:t>&lt;=580))</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("(1)");</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- 1.68;</a:t>
            </a:r>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&gt;580)&amp;&amp;(</a:t>
            </a:r>
            <a:r>
              <a:rPr lang="en-US" dirty="0" err="1" smtClean="0"/>
              <a:t>nilai_densito</a:t>
            </a:r>
            <a:r>
              <a:rPr lang="en-US" dirty="0" smtClean="0"/>
              <a:t>&lt;=584))</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("(1)");</a:t>
            </a:r>
          </a:p>
          <a:p>
            <a:endParaRPr lang="en-US" dirty="0" smtClean="0"/>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- 1.71;</a:t>
            </a:r>
          </a:p>
          <a:p>
            <a:r>
              <a:rPr lang="en-US" dirty="0" smtClean="0"/>
              <a:t>1cd.setCursor(10,2);</a:t>
            </a:r>
          </a:p>
          <a:p>
            <a:r>
              <a:rPr lang="en-US" dirty="0" err="1" smtClean="0"/>
              <a:t>lcd.print</a:t>
            </a:r>
            <a:r>
              <a:rPr lang="en-US" dirty="0" smtClean="0"/>
              <a:t>(" ");</a:t>
            </a:r>
          </a:p>
          <a:p>
            <a:r>
              <a:rPr lang="en-US" dirty="0" smtClean="0"/>
              <a:t>1cd.setCursor(10,2);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&gt;584)&amp;&amp;(</a:t>
            </a:r>
            <a:r>
              <a:rPr lang="en-US" dirty="0" err="1" smtClean="0"/>
              <a:t>nilai_densito</a:t>
            </a:r>
            <a:r>
              <a:rPr lang="en-US" dirty="0" smtClean="0"/>
              <a:t>&lt;=588))</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("(1)");</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- 1.72;</a:t>
            </a:r>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&gt;588)&amp;&amp;(</a:t>
            </a:r>
            <a:r>
              <a:rPr lang="en-US" dirty="0" err="1" smtClean="0"/>
              <a:t>nilai_densito</a:t>
            </a:r>
            <a:r>
              <a:rPr lang="en-US" dirty="0" smtClean="0"/>
              <a:t>&lt;=594))</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("(1)");</a:t>
            </a:r>
          </a:p>
          <a:p>
            <a:r>
              <a:rPr lang="en-US" dirty="0" smtClean="0"/>
              <a:t>//delay(200);</a:t>
            </a:r>
          </a:p>
          <a:p>
            <a:r>
              <a:rPr lang="en-US" dirty="0" err="1" smtClean="0"/>
              <a:t>nilai_densito-analogRead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- 1.75;</a:t>
            </a:r>
          </a:p>
          <a:p>
            <a:r>
              <a:rPr lang="en-US" dirty="0" err="1" smtClean="0"/>
              <a:t>lcd.setCursor</a:t>
            </a:r>
            <a:r>
              <a:rPr lang="en-US" dirty="0" smtClean="0"/>
              <a:t>(10,2);</a:t>
            </a:r>
          </a:p>
          <a:p>
            <a:r>
              <a:rPr lang="en-US" dirty="0" err="1" smtClean="0"/>
              <a:t>Icd.print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&gt;594)&amp;&amp;(</a:t>
            </a:r>
            <a:r>
              <a:rPr lang="en-US" dirty="0" err="1" smtClean="0"/>
              <a:t>nilai_densito</a:t>
            </a:r>
            <a:r>
              <a:rPr lang="en-US" dirty="0" smtClean="0"/>
              <a:t>&lt;=600))</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("(1)");</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- 1.78;</a:t>
            </a:r>
          </a:p>
          <a:p>
            <a:r>
              <a:rPr lang="en-US" dirty="0" err="1" smtClean="0"/>
              <a:t>lcd.setCursor</a:t>
            </a:r>
            <a:r>
              <a:rPr lang="en-US" dirty="0" smtClean="0"/>
              <a:t>(10,2);</a:t>
            </a:r>
          </a:p>
          <a:p>
            <a:r>
              <a:rPr lang="en-US" dirty="0" err="1" smtClean="0"/>
              <a:t>lcd.print</a:t>
            </a:r>
            <a:r>
              <a:rPr lang="en-US" dirty="0" smtClean="0"/>
              <a:t>(" ");</a:t>
            </a:r>
          </a:p>
          <a:p>
            <a:r>
              <a:rPr lang="en-US" dirty="0" smtClean="0"/>
              <a:t>1cd.setCursor(10,2);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&gt;600)&amp;&amp;(</a:t>
            </a:r>
            <a:r>
              <a:rPr lang="en-US" dirty="0" err="1" smtClean="0"/>
              <a:t>nilai_densito</a:t>
            </a:r>
            <a:r>
              <a:rPr lang="en-US" dirty="0" smtClean="0"/>
              <a:t>&lt;=606))</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("(1)");</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- 1.81;</a:t>
            </a:r>
          </a:p>
          <a:p>
            <a:r>
              <a:rPr lang="en-US" dirty="0" err="1" smtClean="0"/>
              <a:t>lcd.setCursor</a:t>
            </a:r>
            <a:r>
              <a:rPr lang="en-US" dirty="0" smtClean="0"/>
              <a:t>(10,2);</a:t>
            </a:r>
          </a:p>
          <a:p>
            <a:r>
              <a:rPr lang="en-US" dirty="0" err="1" smtClean="0"/>
              <a:t>Icd.print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&gt;625)&amp;&amp;(</a:t>
            </a:r>
            <a:r>
              <a:rPr lang="en-US" dirty="0" err="1" smtClean="0"/>
              <a:t>nilai_densito</a:t>
            </a:r>
            <a:r>
              <a:rPr lang="en-US" dirty="0" smtClean="0"/>
              <a:t>&lt;=631))</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("(2)");</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- 1.88;</a:t>
            </a:r>
          </a:p>
          <a:p>
            <a:r>
              <a:rPr lang="en-US" dirty="0" err="1" smtClean="0"/>
              <a:t>lcd.setCursor</a:t>
            </a:r>
            <a:r>
              <a:rPr lang="en-US" dirty="0" smtClean="0"/>
              <a:t>(10,2);</a:t>
            </a:r>
          </a:p>
          <a:p>
            <a:r>
              <a:rPr lang="en-US" dirty="0" err="1" smtClean="0"/>
              <a:t>Icd.print</a:t>
            </a:r>
            <a:r>
              <a:rPr lang="en-US" dirty="0" smtClean="0"/>
              <a:t>(" ");</a:t>
            </a:r>
          </a:p>
          <a:p>
            <a:r>
              <a:rPr lang="en-US" dirty="0" err="1" smtClean="0"/>
              <a:t>lcd.setCursor</a:t>
            </a:r>
            <a:r>
              <a:rPr lang="en-US" dirty="0" smtClean="0"/>
              <a:t>(10,2);</a:t>
            </a:r>
          </a:p>
          <a:p>
            <a:r>
              <a:rPr lang="en-US" dirty="0" smtClean="0"/>
              <a:t>}else</a:t>
            </a:r>
          </a:p>
          <a:p>
            <a:r>
              <a:rPr lang="en-US" dirty="0" smtClean="0"/>
              <a:t>if((</a:t>
            </a:r>
            <a:r>
              <a:rPr lang="en-US" dirty="0" err="1" smtClean="0"/>
              <a:t>nilai_densito</a:t>
            </a:r>
            <a:r>
              <a:rPr lang="en-US" dirty="0" smtClean="0"/>
              <a:t>&gt;631)&amp;&amp;(</a:t>
            </a:r>
            <a:r>
              <a:rPr lang="en-US" dirty="0" err="1" smtClean="0"/>
              <a:t>nilai_densito</a:t>
            </a:r>
            <a:r>
              <a:rPr lang="en-US" dirty="0" smtClean="0"/>
              <a:t>&lt;=637))</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("(2)");</a:t>
            </a:r>
          </a:p>
          <a:p>
            <a:r>
              <a:rPr lang="en-US" dirty="0" smtClean="0"/>
              <a:t>//delay(200);</a:t>
            </a:r>
          </a:p>
          <a:p>
            <a:r>
              <a:rPr lang="en-US" dirty="0" err="1" smtClean="0"/>
              <a:t>nilai_densito-analogRead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- 1.91;</a:t>
            </a:r>
          </a:p>
          <a:p>
            <a:r>
              <a:rPr lang="en-US" dirty="0" smtClean="0"/>
              <a:t>1cd.setCursor(10,2);</a:t>
            </a:r>
          </a:p>
          <a:p>
            <a:r>
              <a:rPr lang="en-US" dirty="0" err="1" smtClean="0"/>
              <a:t>Icd.print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&gt;637)&amp;&amp;(</a:t>
            </a:r>
            <a:r>
              <a:rPr lang="en-US" dirty="0" err="1" smtClean="0"/>
              <a:t>nilai_densito</a:t>
            </a:r>
            <a:r>
              <a:rPr lang="en-US" dirty="0" smtClean="0"/>
              <a:t>&lt;=644))</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("(2)");</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- 1.94;</a:t>
            </a:r>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&gt;644)&amp;&amp;(</a:t>
            </a:r>
            <a:r>
              <a:rPr lang="en-US" dirty="0" err="1" smtClean="0"/>
              <a:t>nilai_densito</a:t>
            </a:r>
            <a:r>
              <a:rPr lang="en-US" dirty="0" smtClean="0"/>
              <a:t>&lt;=650))</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Icd.print</a:t>
            </a:r>
            <a:r>
              <a:rPr lang="en-US" dirty="0" smtClean="0"/>
              <a:t>("(2)");</a:t>
            </a:r>
          </a:p>
          <a:p>
            <a:r>
              <a:rPr lang="en-US" dirty="0" smtClean="0"/>
              <a:t>//delay(200);</a:t>
            </a:r>
          </a:p>
          <a:p>
            <a:r>
              <a:rPr lang="en-US" dirty="0" err="1" smtClean="0"/>
              <a:t>nilai_densito-analogRead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- 1.97;</a:t>
            </a:r>
          </a:p>
          <a:p>
            <a:r>
              <a:rPr lang="en-US" dirty="0" err="1" smtClean="0"/>
              <a:t>Icd.setCursor</a:t>
            </a:r>
            <a:r>
              <a:rPr lang="en-US" dirty="0" smtClean="0"/>
              <a:t>(10,2);</a:t>
            </a:r>
          </a:p>
          <a:p>
            <a:r>
              <a:rPr lang="en-US" dirty="0" err="1" smtClean="0"/>
              <a:t>lcd.print</a:t>
            </a:r>
            <a:r>
              <a:rPr lang="en-US" dirty="0" smtClean="0"/>
              <a:t>(" ");</a:t>
            </a:r>
          </a:p>
          <a:p>
            <a:endParaRPr lang="en-US" dirty="0" smtClean="0"/>
          </a:p>
          <a:p>
            <a:r>
              <a:rPr lang="en-US" dirty="0" smtClean="0"/>
              <a:t>1cd.setCursor(10,2);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&gt;650)&amp;&amp;(</a:t>
            </a:r>
            <a:r>
              <a:rPr lang="en-US" dirty="0" err="1" smtClean="0"/>
              <a:t>nilai_densito</a:t>
            </a:r>
            <a:r>
              <a:rPr lang="en-US" dirty="0" smtClean="0"/>
              <a:t>&lt;=656))</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("(2)");</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- 2.00;</a:t>
            </a:r>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&gt;732)&amp;&amp;(</a:t>
            </a:r>
            <a:r>
              <a:rPr lang="en-US" dirty="0" err="1" smtClean="0"/>
              <a:t>nilai_densito</a:t>
            </a:r>
            <a:r>
              <a:rPr lang="en-US" dirty="0" smtClean="0"/>
              <a:t>&lt;=738))</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("(3)");</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- 2.30;</a:t>
            </a:r>
          </a:p>
          <a:p>
            <a:r>
              <a:rPr lang="en-US" dirty="0" err="1" smtClean="0"/>
              <a:t>lcd.setCursor</a:t>
            </a:r>
            <a:r>
              <a:rPr lang="en-US" dirty="0" smtClean="0"/>
              <a:t>(10,2);</a:t>
            </a:r>
          </a:p>
          <a:p>
            <a:r>
              <a:rPr lang="en-US" dirty="0" err="1" smtClean="0"/>
              <a:t>Icd.print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&gt;738)&amp;&amp;(</a:t>
            </a:r>
            <a:r>
              <a:rPr lang="en-US" dirty="0" err="1" smtClean="0"/>
              <a:t>nilai_densito</a:t>
            </a:r>
            <a:r>
              <a:rPr lang="en-US" dirty="0" smtClean="0"/>
              <a:t>&lt;=744))</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("(3)");</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- 2.33;</a:t>
            </a:r>
          </a:p>
          <a:p>
            <a:endParaRPr lang="en-US" dirty="0" smtClean="0"/>
          </a:p>
          <a:p>
            <a:r>
              <a:rPr lang="en-US" dirty="0" err="1" smtClean="0"/>
              <a:t>lcd.setCursor</a:t>
            </a:r>
            <a:r>
              <a:rPr lang="en-US" dirty="0" smtClean="0"/>
              <a:t>(10,2);</a:t>
            </a:r>
          </a:p>
          <a:p>
            <a:r>
              <a:rPr lang="en-US" dirty="0" err="1" smtClean="0"/>
              <a:t>Icd.print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&gt;744)&amp;&amp;(</a:t>
            </a:r>
            <a:r>
              <a:rPr lang="en-US" dirty="0" err="1" smtClean="0"/>
              <a:t>nilai_densito</a:t>
            </a:r>
            <a:r>
              <a:rPr lang="en-US" dirty="0" smtClean="0"/>
              <a:t>&lt;=750))</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("(3)");</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- 2.36;</a:t>
            </a:r>
          </a:p>
          <a:p>
            <a:r>
              <a:rPr lang="en-US" dirty="0" smtClean="0"/>
              <a:t>1cd.setCursor(10,2);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&gt;750)&amp;&amp;(</a:t>
            </a:r>
            <a:r>
              <a:rPr lang="en-US" dirty="0" err="1" smtClean="0"/>
              <a:t>nilai_densito</a:t>
            </a:r>
            <a:r>
              <a:rPr lang="en-US" dirty="0" smtClean="0"/>
              <a:t>&lt;=756))</a:t>
            </a:r>
          </a:p>
          <a:p>
            <a:r>
              <a:rPr lang="en-US" dirty="0" smtClean="0"/>
              <a:t>{</a:t>
            </a:r>
          </a:p>
          <a:p>
            <a:r>
              <a:rPr lang="en-US" dirty="0" smtClean="0"/>
              <a:t>//</a:t>
            </a:r>
            <a:r>
              <a:rPr lang="en-US" dirty="0" err="1" smtClean="0"/>
              <a:t>lcd.setCursor</a:t>
            </a:r>
            <a:r>
              <a:rPr lang="en-US" dirty="0" smtClean="0"/>
              <a:t>(6,1);</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- 2.39;</a:t>
            </a:r>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Icd.print</a:t>
            </a:r>
            <a:r>
              <a:rPr lang="en-US" dirty="0" smtClean="0"/>
              <a:t>(voltage,2);</a:t>
            </a:r>
          </a:p>
          <a:p>
            <a:r>
              <a:rPr lang="en-US" dirty="0" smtClean="0"/>
              <a:t>}else</a:t>
            </a:r>
          </a:p>
          <a:p>
            <a:r>
              <a:rPr lang="en-US" dirty="0" smtClean="0"/>
              <a:t>if((</a:t>
            </a:r>
            <a:r>
              <a:rPr lang="en-US" dirty="0" err="1" smtClean="0"/>
              <a:t>nilai_densito</a:t>
            </a:r>
            <a:r>
              <a:rPr lang="en-US" dirty="0" smtClean="0"/>
              <a:t>&gt;839)&amp;&amp;(</a:t>
            </a:r>
            <a:r>
              <a:rPr lang="en-US" dirty="0" err="1" smtClean="0"/>
              <a:t>nilai_densito</a:t>
            </a:r>
            <a:r>
              <a:rPr lang="en-US" dirty="0" smtClean="0"/>
              <a:t>&lt;=842))</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("(4)");</a:t>
            </a:r>
          </a:p>
          <a:p>
            <a:r>
              <a:rPr lang="en-US" dirty="0" smtClean="0"/>
              <a:t>//delay(200);</a:t>
            </a:r>
          </a:p>
          <a:p>
            <a:endParaRPr lang="en-US" dirty="0" smtClean="0"/>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- 2.63;</a:t>
            </a:r>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&gt;842)&amp;&amp;(</a:t>
            </a:r>
            <a:r>
              <a:rPr lang="en-US" dirty="0" err="1" smtClean="0"/>
              <a:t>nilai_densito</a:t>
            </a:r>
            <a:r>
              <a:rPr lang="en-US" dirty="0" smtClean="0"/>
              <a:t>&lt;=846))</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("(4)");</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- 2.64;</a:t>
            </a:r>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&gt;846)&amp;&amp;(</a:t>
            </a:r>
            <a:r>
              <a:rPr lang="en-US" dirty="0" err="1" smtClean="0"/>
              <a:t>nilai_densito</a:t>
            </a:r>
            <a:r>
              <a:rPr lang="en-US" dirty="0" smtClean="0"/>
              <a:t>&lt;=850))</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("(4)");</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- 2.66;</a:t>
            </a:r>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&gt;850)&amp;&amp;(</a:t>
            </a:r>
            <a:r>
              <a:rPr lang="en-US" dirty="0" err="1" smtClean="0"/>
              <a:t>nilai_densito</a:t>
            </a:r>
            <a:r>
              <a:rPr lang="en-US" dirty="0" smtClean="0"/>
              <a:t>&lt;=855))</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("(4)");</a:t>
            </a:r>
          </a:p>
          <a:p>
            <a:r>
              <a:rPr lang="en-US" dirty="0" smtClean="0"/>
              <a:t>//delay(200);</a:t>
            </a:r>
          </a:p>
          <a:p>
            <a:r>
              <a:rPr lang="en-US" dirty="0" err="1" smtClean="0"/>
              <a:t>nilai_densito-analogRead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- 2.69;</a:t>
            </a:r>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&gt;855)&amp;&amp;(</a:t>
            </a:r>
            <a:r>
              <a:rPr lang="en-US" dirty="0" err="1" smtClean="0"/>
              <a:t>nilai_densito</a:t>
            </a:r>
            <a:r>
              <a:rPr lang="en-US" dirty="0" smtClean="0"/>
              <a:t>&lt;=861))</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("(4)");</a:t>
            </a:r>
          </a:p>
          <a:p>
            <a:r>
              <a:rPr lang="en-US" dirty="0" smtClean="0"/>
              <a:t>//delay(200);</a:t>
            </a:r>
          </a:p>
          <a:p>
            <a:r>
              <a:rPr lang="en-US" dirty="0" err="1" smtClean="0"/>
              <a:t>nilai_densitoanalogRead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- 2.71;</a:t>
            </a:r>
          </a:p>
          <a:p>
            <a:r>
              <a:rPr lang="en-US" dirty="0" err="1" smtClean="0"/>
              <a:t>lcd.setCursor</a:t>
            </a:r>
            <a:r>
              <a:rPr lang="en-US" dirty="0" smtClean="0"/>
              <a:t>(10,2);</a:t>
            </a:r>
          </a:p>
          <a:p>
            <a:r>
              <a:rPr lang="en-US" dirty="0" err="1" smtClean="0"/>
              <a:t>lcd.print</a:t>
            </a:r>
            <a:r>
              <a:rPr lang="en-US" dirty="0" smtClean="0"/>
              <a:t>("");</a:t>
            </a:r>
          </a:p>
          <a:p>
            <a:r>
              <a:rPr lang="en-US" dirty="0" smtClean="0"/>
              <a:t>1cd.setCursor(10,2);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&gt;871)&amp;&amp;(</a:t>
            </a:r>
            <a:r>
              <a:rPr lang="en-US" dirty="0" err="1" smtClean="0"/>
              <a:t>nilai_densito</a:t>
            </a:r>
            <a:r>
              <a:rPr lang="en-US" dirty="0" smtClean="0"/>
              <a:t>&lt;=877))</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("(5)");</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- 2.62;</a:t>
            </a:r>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&gt;877)&amp;&amp;(</a:t>
            </a:r>
            <a:r>
              <a:rPr lang="en-US" dirty="0" err="1" smtClean="0"/>
              <a:t>nilai_densito</a:t>
            </a:r>
            <a:r>
              <a:rPr lang="en-US" dirty="0" smtClean="0"/>
              <a:t>&lt;=883))</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("(5)");</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- 2.68;</a:t>
            </a:r>
          </a:p>
          <a:p>
            <a:r>
              <a:rPr lang="en-US" dirty="0" err="1" smtClean="0"/>
              <a:t>lcd.setCursor</a:t>
            </a:r>
            <a:r>
              <a:rPr lang="en-US" dirty="0" smtClean="0"/>
              <a:t>(10,2);</a:t>
            </a:r>
          </a:p>
          <a:p>
            <a:r>
              <a:rPr lang="en-US" dirty="0" err="1" smtClean="0"/>
              <a:t>Icd.print</a:t>
            </a:r>
            <a:r>
              <a:rPr lang="en-US" dirty="0" smtClean="0"/>
              <a:t>(" ");</a:t>
            </a:r>
          </a:p>
          <a:p>
            <a:r>
              <a:rPr lang="en-US" dirty="0" smtClean="0"/>
              <a:t>1cd.setCursor(10,2);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&gt;883)&amp;&amp;(</a:t>
            </a:r>
            <a:r>
              <a:rPr lang="en-US" dirty="0" err="1" smtClean="0"/>
              <a:t>nilai_densito</a:t>
            </a:r>
            <a:r>
              <a:rPr lang="en-US" dirty="0" smtClean="0"/>
              <a:t>&lt;=889))</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("(5)");</a:t>
            </a:r>
          </a:p>
          <a:p>
            <a:r>
              <a:rPr lang="en-US" dirty="0" smtClean="0"/>
              <a:t>//delay(200);</a:t>
            </a:r>
          </a:p>
          <a:p>
            <a:r>
              <a:rPr lang="en-US" dirty="0" err="1" smtClean="0"/>
              <a:t>nilai_densito-analogRead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- 2.71;</a:t>
            </a:r>
          </a:p>
          <a:p>
            <a:r>
              <a:rPr lang="en-US" dirty="0" smtClean="0"/>
              <a:t>1cd.setCursor(10,2);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err="1" smtClean="0"/>
              <a:t>Belse</a:t>
            </a:r>
            <a:endParaRPr lang="en-US" dirty="0" smtClean="0"/>
          </a:p>
          <a:p>
            <a:r>
              <a:rPr lang="en-US" dirty="0" smtClean="0"/>
              <a:t>if((</a:t>
            </a:r>
            <a:r>
              <a:rPr lang="en-US" dirty="0" err="1" smtClean="0"/>
              <a:t>nilai_densito</a:t>
            </a:r>
            <a:r>
              <a:rPr lang="en-US" dirty="0" smtClean="0"/>
              <a:t>&gt;889)&amp;&amp;(</a:t>
            </a:r>
            <a:r>
              <a:rPr lang="en-US" dirty="0" err="1" smtClean="0"/>
              <a:t>nilai_densito</a:t>
            </a:r>
            <a:r>
              <a:rPr lang="en-US" dirty="0" smtClean="0"/>
              <a:t>&lt;=895))</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Icd.print</a:t>
            </a:r>
            <a:r>
              <a:rPr lang="en-US" dirty="0" smtClean="0"/>
              <a:t>("(5)");</a:t>
            </a:r>
          </a:p>
          <a:p>
            <a:r>
              <a:rPr lang="en-US" dirty="0" smtClean="0"/>
              <a:t>//delay(200);</a:t>
            </a:r>
          </a:p>
          <a:p>
            <a:r>
              <a:rPr lang="en-US" dirty="0" err="1" smtClean="0"/>
              <a:t>nilai_densito-analogRead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- 2.74;</a:t>
            </a:r>
          </a:p>
          <a:p>
            <a:r>
              <a:rPr lang="en-US" dirty="0" err="1" smtClean="0"/>
              <a:t>Icd.setCursor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&gt;895)&amp;&amp;(</a:t>
            </a:r>
            <a:r>
              <a:rPr lang="en-US" dirty="0" err="1" smtClean="0"/>
              <a:t>nilai_densito</a:t>
            </a:r>
            <a:r>
              <a:rPr lang="en-US" dirty="0" smtClean="0"/>
              <a:t>&lt;=901))</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("(5)");</a:t>
            </a:r>
          </a:p>
          <a:p>
            <a:r>
              <a:rPr lang="en-US" dirty="0" smtClean="0"/>
              <a:t>//delay(200);</a:t>
            </a:r>
          </a:p>
          <a:p>
            <a:r>
              <a:rPr lang="en-US" dirty="0" err="1" smtClean="0"/>
              <a:t>nilai_densito-analogRead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- 2.77;</a:t>
            </a:r>
          </a:p>
          <a:p>
            <a:r>
              <a:rPr lang="en-US" dirty="0" smtClean="0"/>
              <a:t>1cd.setCursor(10,2);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&gt;926)&amp;&amp;(</a:t>
            </a:r>
            <a:r>
              <a:rPr lang="en-US" dirty="0" err="1" smtClean="0"/>
              <a:t>nilai_densito</a:t>
            </a:r>
            <a:r>
              <a:rPr lang="en-US" dirty="0" smtClean="0"/>
              <a:t>&lt;=932))</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("(6)");</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- 2.77;</a:t>
            </a:r>
          </a:p>
          <a:p>
            <a:r>
              <a:rPr lang="en-US" dirty="0" err="1" smtClean="0"/>
              <a:t>lcd.setCursor</a:t>
            </a:r>
            <a:r>
              <a:rPr lang="en-US" dirty="0" smtClean="0"/>
              <a:t>(10,2);</a:t>
            </a:r>
          </a:p>
          <a:p>
            <a:r>
              <a:rPr lang="en-US" dirty="0" err="1" smtClean="0"/>
              <a:t>Icd.print</a:t>
            </a:r>
            <a:r>
              <a:rPr lang="en-US" dirty="0" smtClean="0"/>
              <a:t>(" ");</a:t>
            </a:r>
          </a:p>
          <a:p>
            <a:r>
              <a:rPr lang="en-US" dirty="0" smtClean="0"/>
              <a:t>1cd.setCursor(10,2);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&gt;932)&amp;&amp;(</a:t>
            </a:r>
            <a:r>
              <a:rPr lang="en-US" dirty="0" err="1" smtClean="0"/>
              <a:t>nilai_densito</a:t>
            </a:r>
            <a:r>
              <a:rPr lang="en-US" dirty="0" smtClean="0"/>
              <a:t>&lt;=936))</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("(6)");</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- 2.80;</a:t>
            </a:r>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&gt;936)&amp;&amp;(</a:t>
            </a:r>
            <a:r>
              <a:rPr lang="en-US" dirty="0" err="1" smtClean="0"/>
              <a:t>nilai_densito</a:t>
            </a:r>
            <a:r>
              <a:rPr lang="en-US" dirty="0" smtClean="0"/>
              <a:t>&lt;=941))</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("(6)");</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- 2.82;</a:t>
            </a:r>
          </a:p>
          <a:p>
            <a:r>
              <a:rPr lang="en-US" dirty="0" smtClean="0"/>
              <a:t>1cd.setCursor(10,2);</a:t>
            </a:r>
          </a:p>
          <a:p>
            <a:r>
              <a:rPr lang="en-US" dirty="0" err="1" smtClean="0"/>
              <a:t>lcd.print</a:t>
            </a:r>
            <a:r>
              <a:rPr lang="en-US" dirty="0" smtClean="0"/>
              <a:t>("");</a:t>
            </a:r>
          </a:p>
          <a:p>
            <a:r>
              <a:rPr lang="en-US" dirty="0" smtClean="0"/>
              <a:t>1cd.setCursor(10,2);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&gt;941)&amp;&amp;(</a:t>
            </a:r>
            <a:r>
              <a:rPr lang="en-US" dirty="0" err="1" smtClean="0"/>
              <a:t>nilai_densito</a:t>
            </a:r>
            <a:r>
              <a:rPr lang="en-US" dirty="0" smtClean="0"/>
              <a:t>&lt;=945))</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("(6)");</a:t>
            </a:r>
          </a:p>
          <a:p>
            <a:r>
              <a:rPr lang="en-US" dirty="0" smtClean="0"/>
              <a:t>//delay(200);</a:t>
            </a:r>
          </a:p>
          <a:p>
            <a:r>
              <a:rPr lang="en-US" dirty="0" err="1" smtClean="0"/>
              <a:t>nilai_densito-analogRead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- 2.84;</a:t>
            </a:r>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&gt;945)&amp;&amp;(</a:t>
            </a:r>
            <a:r>
              <a:rPr lang="en-US" dirty="0" err="1" smtClean="0"/>
              <a:t>nilai_densito</a:t>
            </a:r>
            <a:r>
              <a:rPr lang="en-US" dirty="0" smtClean="0"/>
              <a:t>&lt;=951))</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("(6)");</a:t>
            </a:r>
          </a:p>
          <a:p>
            <a:r>
              <a:rPr lang="en-US" dirty="0" smtClean="0"/>
              <a:t>//delay(200);</a:t>
            </a:r>
          </a:p>
          <a:p>
            <a:r>
              <a:rPr lang="en-US" dirty="0" err="1" smtClean="0"/>
              <a:t>nilai_densito-analogRead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- 2.86;</a:t>
            </a:r>
          </a:p>
          <a:p>
            <a:r>
              <a:rPr lang="en-US" dirty="0" err="1" smtClean="0"/>
              <a:t>lcd.setCursor</a:t>
            </a:r>
            <a:r>
              <a:rPr lang="en-US" dirty="0" smtClean="0"/>
              <a:t>(10,2);</a:t>
            </a:r>
          </a:p>
          <a:p>
            <a:r>
              <a:rPr lang="en-US" dirty="0" err="1" smtClean="0"/>
              <a:t>lcd.print</a:t>
            </a:r>
            <a:r>
              <a:rPr lang="en-US" dirty="0" smtClean="0"/>
              <a:t>(" ");</a:t>
            </a:r>
          </a:p>
          <a:p>
            <a:r>
              <a:rPr lang="en-US" dirty="0" smtClean="0"/>
              <a:t>1cd.setCursor(10,2);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&gt;949)&amp;&amp;(</a:t>
            </a:r>
            <a:r>
              <a:rPr lang="en-US" dirty="0" err="1" smtClean="0"/>
              <a:t>nilai_densito</a:t>
            </a:r>
            <a:r>
              <a:rPr lang="en-US" dirty="0" smtClean="0"/>
              <a:t>&lt;=953))</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("(7)");</a:t>
            </a:r>
          </a:p>
          <a:p>
            <a:r>
              <a:rPr lang="en-US" dirty="0" smtClean="0"/>
              <a:t>//delay(200);</a:t>
            </a:r>
          </a:p>
          <a:p>
            <a:r>
              <a:rPr lang="en-US" dirty="0" err="1" smtClean="0"/>
              <a:t>nilai_densito-analogRead</a:t>
            </a:r>
            <a:r>
              <a:rPr lang="en-US" dirty="0" smtClean="0"/>
              <a:t>(</a:t>
            </a:r>
            <a:r>
              <a:rPr lang="en-US" dirty="0" err="1" smtClean="0"/>
              <a:t>densito</a:t>
            </a:r>
            <a:r>
              <a:rPr lang="en-US" dirty="0" smtClean="0"/>
              <a:t>);</a:t>
            </a:r>
          </a:p>
          <a:p>
            <a:r>
              <a:rPr lang="en-US" dirty="0" smtClean="0"/>
              <a:t>voltage = </a:t>
            </a:r>
            <a:r>
              <a:rPr lang="en-US" dirty="0" err="1" smtClean="0"/>
              <a:t>nilai</a:t>
            </a:r>
            <a:r>
              <a:rPr lang="en-US" dirty="0" smtClean="0"/>
              <a:t> </a:t>
            </a:r>
            <a:r>
              <a:rPr lang="en-US" dirty="0" err="1" smtClean="0"/>
              <a:t>densito</a:t>
            </a:r>
            <a:r>
              <a:rPr lang="en-US" dirty="0" smtClean="0"/>
              <a:t>*5.0/1024;</a:t>
            </a:r>
          </a:p>
          <a:p>
            <a:r>
              <a:rPr lang="en-US" dirty="0" smtClean="0"/>
              <a:t>voltage = voltage - 2.78;</a:t>
            </a:r>
          </a:p>
          <a:p>
            <a:r>
              <a:rPr lang="en-US" dirty="0" smtClean="0"/>
              <a:t>1cd.setCursor(10,2);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&gt;953)&amp;&amp;(</a:t>
            </a:r>
            <a:r>
              <a:rPr lang="en-US" dirty="0" err="1" smtClean="0"/>
              <a:t>nilai_densito</a:t>
            </a:r>
            <a:r>
              <a:rPr lang="en-US" dirty="0" smtClean="0"/>
              <a:t>&lt;=957))</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("(7)");</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- 2.79;</a:t>
            </a:r>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&gt;957)&amp;&amp;(</a:t>
            </a:r>
            <a:r>
              <a:rPr lang="en-US" dirty="0" err="1" smtClean="0"/>
              <a:t>nilai_densito</a:t>
            </a:r>
            <a:r>
              <a:rPr lang="en-US" dirty="0" smtClean="0"/>
              <a:t>&lt;=961))</a:t>
            </a:r>
          </a:p>
          <a:p>
            <a:r>
              <a:rPr lang="en-US" dirty="0" smtClean="0"/>
              <a:t>//</a:t>
            </a:r>
            <a:r>
              <a:rPr lang="en-US" dirty="0" err="1" smtClean="0"/>
              <a:t>lcd.setCursor</a:t>
            </a:r>
            <a:r>
              <a:rPr lang="en-US" dirty="0" smtClean="0"/>
              <a:t>(6,1); //</a:t>
            </a:r>
            <a:r>
              <a:rPr lang="en-US" dirty="0" err="1" smtClean="0"/>
              <a:t>lcd.print</a:t>
            </a:r>
            <a:r>
              <a:rPr lang="en-US" dirty="0" smtClean="0"/>
              <a:t>("(7)");</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a:t>
            </a:r>
            <a:r>
              <a:rPr lang="en-US" dirty="0" smtClean="0"/>
              <a:t> </a:t>
            </a:r>
            <a:r>
              <a:rPr lang="en-US" dirty="0" err="1" smtClean="0"/>
              <a:t>densito</a:t>
            </a:r>
            <a:r>
              <a:rPr lang="en-US" dirty="0" smtClean="0"/>
              <a:t>*5.0/1024;</a:t>
            </a:r>
          </a:p>
          <a:p>
            <a:r>
              <a:rPr lang="en-US" dirty="0" smtClean="0"/>
              <a:t>voltage = voltage - 2.82;</a:t>
            </a:r>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&gt;961)&amp;&amp;(</a:t>
            </a:r>
            <a:r>
              <a:rPr lang="en-US" dirty="0" err="1" smtClean="0"/>
              <a:t>nilai_densito</a:t>
            </a:r>
            <a:r>
              <a:rPr lang="en-US" dirty="0" smtClean="0"/>
              <a:t>&lt;=965))</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("(7)");</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- 2.84;</a:t>
            </a:r>
          </a:p>
          <a:p>
            <a:r>
              <a:rPr lang="en-US" dirty="0" smtClean="0"/>
              <a:t>1cd.setCursor(10,2);</a:t>
            </a:r>
          </a:p>
          <a:p>
            <a:r>
              <a:rPr lang="en-US" dirty="0" err="1" smtClean="0"/>
              <a:t>Icd.print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&gt;965)&amp;&amp;(</a:t>
            </a:r>
            <a:r>
              <a:rPr lang="en-US" dirty="0" err="1" smtClean="0"/>
              <a:t>nilai_densito</a:t>
            </a:r>
            <a:r>
              <a:rPr lang="en-US" dirty="0" smtClean="0"/>
              <a:t>&lt;=968))</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("(7)");</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- 2.85;</a:t>
            </a:r>
          </a:p>
          <a:p>
            <a:r>
              <a:rPr lang="en-US" dirty="0" err="1" smtClean="0"/>
              <a:t>lcd.setCursor</a:t>
            </a:r>
            <a:r>
              <a:rPr lang="en-US" dirty="0" smtClean="0"/>
              <a:t>(10,2);</a:t>
            </a:r>
          </a:p>
          <a:p>
            <a:r>
              <a:rPr lang="en-US" dirty="0" err="1" smtClean="0"/>
              <a:t>Icd.print</a:t>
            </a:r>
            <a:r>
              <a:rPr lang="en-US" dirty="0" smtClean="0"/>
              <a:t>(" ");</a:t>
            </a:r>
          </a:p>
          <a:p>
            <a:r>
              <a:rPr lang="en-US" dirty="0" err="1" smtClean="0"/>
              <a:t>Icd.setCursor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&gt;961)&amp;&amp;(</a:t>
            </a:r>
            <a:r>
              <a:rPr lang="en-US" dirty="0" err="1" smtClean="0"/>
              <a:t>nilai_densito</a:t>
            </a:r>
            <a:r>
              <a:rPr lang="en-US" dirty="0" smtClean="0"/>
              <a:t>&lt;=967))</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("(8)");</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- 2.79;</a:t>
            </a:r>
          </a:p>
          <a:p>
            <a:r>
              <a:rPr lang="en-US" dirty="0" err="1" smtClean="0"/>
              <a:t>lcd.setCursor</a:t>
            </a:r>
            <a:r>
              <a:rPr lang="en-US" dirty="0" smtClean="0"/>
              <a:t>(10,2);</a:t>
            </a:r>
          </a:p>
          <a:p>
            <a:r>
              <a:rPr lang="en-US" dirty="0" err="1" smtClean="0"/>
              <a:t>Icd.print</a:t>
            </a:r>
            <a:r>
              <a:rPr lang="en-US" dirty="0" smtClean="0"/>
              <a:t>(" ");</a:t>
            </a:r>
          </a:p>
          <a:p>
            <a:r>
              <a:rPr lang="en-US" dirty="0" smtClean="0"/>
              <a:t>1cd.setCursor(10,2);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&gt;967)&amp;&amp;(</a:t>
            </a:r>
            <a:r>
              <a:rPr lang="en-US" dirty="0" err="1" smtClean="0"/>
              <a:t>nilai_densito</a:t>
            </a:r>
            <a:r>
              <a:rPr lang="en-US" dirty="0" smtClean="0"/>
              <a:t>&lt;=971))</a:t>
            </a:r>
          </a:p>
          <a:p>
            <a:r>
              <a:rPr lang="en-US" dirty="0" smtClean="0"/>
              <a:t>if((</a:t>
            </a:r>
            <a:r>
              <a:rPr lang="en-US" dirty="0" err="1" smtClean="0"/>
              <a:t>nilai_densito</a:t>
            </a:r>
            <a:r>
              <a:rPr lang="en-US" dirty="0" smtClean="0"/>
              <a:t>&gt;967)&amp;&amp;(</a:t>
            </a:r>
            <a:r>
              <a:rPr lang="en-US" dirty="0" err="1" smtClean="0"/>
              <a:t>nilai_densito</a:t>
            </a:r>
            <a:r>
              <a:rPr lang="en-US" dirty="0" smtClean="0"/>
              <a:t>&lt;=971))</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("(8)");</a:t>
            </a:r>
          </a:p>
          <a:p>
            <a:r>
              <a:rPr lang="en-US" dirty="0" smtClean="0"/>
              <a:t>//delay(200);</a:t>
            </a:r>
          </a:p>
          <a:p>
            <a:r>
              <a:rPr lang="en-US" dirty="0" err="1" smtClean="0"/>
              <a:t>nilai_densito-analogRead</a:t>
            </a:r>
            <a:r>
              <a:rPr lang="en-US" dirty="0" smtClean="0"/>
              <a:t>(</a:t>
            </a:r>
            <a:r>
              <a:rPr lang="en-US" dirty="0" err="1" smtClean="0"/>
              <a:t>densito</a:t>
            </a:r>
            <a:r>
              <a:rPr lang="en-US" dirty="0" smtClean="0"/>
              <a:t>);</a:t>
            </a:r>
          </a:p>
          <a:p>
            <a:r>
              <a:rPr lang="en-US" dirty="0" smtClean="0"/>
              <a:t>voltage = </a:t>
            </a:r>
            <a:r>
              <a:rPr lang="en-US" dirty="0" err="1" smtClean="0"/>
              <a:t>nilai</a:t>
            </a:r>
            <a:r>
              <a:rPr lang="en-US" dirty="0" smtClean="0"/>
              <a:t> </a:t>
            </a:r>
            <a:r>
              <a:rPr lang="en-US" dirty="0" err="1" smtClean="0"/>
              <a:t>densito</a:t>
            </a:r>
            <a:r>
              <a:rPr lang="en-US" dirty="0" smtClean="0"/>
              <a:t>*5.0/1024;</a:t>
            </a:r>
          </a:p>
          <a:p>
            <a:r>
              <a:rPr lang="en-US" dirty="0" smtClean="0"/>
              <a:t>voltage = voltage - 2.71;</a:t>
            </a:r>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&gt;971)&amp;&amp;(</a:t>
            </a:r>
            <a:r>
              <a:rPr lang="en-US" dirty="0" err="1" smtClean="0"/>
              <a:t>nilai_densito</a:t>
            </a:r>
            <a:r>
              <a:rPr lang="en-US" dirty="0" smtClean="0"/>
              <a:t>&lt;=975))</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("(8)");</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- 2.73;</a:t>
            </a:r>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&gt;975)&amp;&amp;(</a:t>
            </a:r>
            <a:r>
              <a:rPr lang="en-US" dirty="0" err="1" smtClean="0"/>
              <a:t>nilai_densito</a:t>
            </a:r>
            <a:r>
              <a:rPr lang="en-US" dirty="0" smtClean="0"/>
              <a:t>&lt;=977))</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("(8)");</a:t>
            </a:r>
          </a:p>
          <a:p>
            <a:r>
              <a:rPr lang="en-US" dirty="0" smtClean="0"/>
              <a:t>//delay(200);</a:t>
            </a:r>
          </a:p>
          <a:p>
            <a:r>
              <a:rPr lang="en-US" dirty="0" err="1" smtClean="0"/>
              <a:t>nilai_densito-analogRead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- 2.75;</a:t>
            </a:r>
          </a:p>
          <a:p>
            <a:r>
              <a:rPr lang="en-US" dirty="0" err="1" smtClean="0"/>
              <a:t>Icd.setCursor</a:t>
            </a:r>
            <a:r>
              <a:rPr lang="en-US" dirty="0" smtClean="0"/>
              <a:t>(10,2);</a:t>
            </a:r>
          </a:p>
          <a:p>
            <a:r>
              <a:rPr lang="en-US" dirty="0" err="1" smtClean="0"/>
              <a:t>lcd.print</a:t>
            </a:r>
            <a:r>
              <a:rPr lang="en-US" dirty="0" smtClean="0"/>
              <a:t>(" ");</a:t>
            </a:r>
          </a:p>
          <a:p>
            <a:r>
              <a:rPr lang="en-US" dirty="0" err="1" smtClean="0"/>
              <a:t>Icd.setCursor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&gt;977)&amp;&amp;(</a:t>
            </a:r>
            <a:r>
              <a:rPr lang="en-US" dirty="0" err="1" smtClean="0"/>
              <a:t>nilai_densito</a:t>
            </a:r>
            <a:r>
              <a:rPr lang="en-US" dirty="0" smtClean="0"/>
              <a:t>&lt;=982))</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("(8)");</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- 2.76;</a:t>
            </a:r>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&gt;980)&amp;&amp;(</a:t>
            </a:r>
            <a:r>
              <a:rPr lang="en-US" dirty="0" err="1" smtClean="0"/>
              <a:t>nilai_densito</a:t>
            </a:r>
            <a:r>
              <a:rPr lang="en-US" dirty="0" smtClean="0"/>
              <a:t>&lt;=986))</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("(9)");</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- 2.68;</a:t>
            </a:r>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&gt;986)&amp;&amp;(</a:t>
            </a:r>
            <a:r>
              <a:rPr lang="en-US" dirty="0" err="1" smtClean="0"/>
              <a:t>nilai_densito</a:t>
            </a:r>
            <a:r>
              <a:rPr lang="en-US" dirty="0" smtClean="0"/>
              <a:t>&lt;=990))</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("(9)");</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- 2.7;</a:t>
            </a:r>
          </a:p>
          <a:p>
            <a:r>
              <a:rPr lang="en-US" dirty="0" err="1" smtClean="0"/>
              <a:t>Icd.setCursor</a:t>
            </a:r>
            <a:r>
              <a:rPr lang="en-US" dirty="0" smtClean="0"/>
              <a:t>(10,2);</a:t>
            </a:r>
          </a:p>
          <a:p>
            <a:r>
              <a:rPr lang="en-US" dirty="0" err="1" smtClean="0"/>
              <a:t>Icd.print</a:t>
            </a:r>
            <a:r>
              <a:rPr lang="en-US" dirty="0" smtClean="0"/>
              <a:t>("");</a:t>
            </a:r>
          </a:p>
          <a:p>
            <a:r>
              <a:rPr lang="en-US" dirty="0" smtClean="0"/>
              <a:t>1cd.setCursor(10,2);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&gt;990)&amp;&amp;(</a:t>
            </a:r>
            <a:r>
              <a:rPr lang="en-US" dirty="0" err="1" smtClean="0"/>
              <a:t>nilai_densito</a:t>
            </a:r>
            <a:r>
              <a:rPr lang="en-US" dirty="0" smtClean="0"/>
              <a:t>&lt;=995))</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("(9)");</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- 2.72;</a:t>
            </a:r>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&gt;992)&amp;&amp;(</a:t>
            </a:r>
            <a:r>
              <a:rPr lang="en-US" dirty="0" err="1" smtClean="0"/>
              <a:t>nilai_densito</a:t>
            </a:r>
            <a:r>
              <a:rPr lang="en-US" dirty="0" smtClean="0"/>
              <a:t>&lt;=994))</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Icd.print</a:t>
            </a:r>
            <a:r>
              <a:rPr lang="en-US" dirty="0" smtClean="0"/>
              <a:t>("(10)");</a:t>
            </a:r>
          </a:p>
          <a:p>
            <a:r>
              <a:rPr lang="en-US" dirty="0" smtClean="0"/>
              <a:t>//delay(200);</a:t>
            </a:r>
          </a:p>
          <a:p>
            <a:r>
              <a:rPr lang="en-US" dirty="0" err="1" smtClean="0"/>
              <a:t>nilai_densito-analogRead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- 2.62;</a:t>
            </a:r>
          </a:p>
          <a:p>
            <a:r>
              <a:rPr lang="en-US" dirty="0" err="1" smtClean="0"/>
              <a:t>lcd.setCursor</a:t>
            </a:r>
            <a:r>
              <a:rPr lang="en-US" dirty="0" smtClean="0"/>
              <a:t>(10,2);</a:t>
            </a:r>
          </a:p>
          <a:p>
            <a:r>
              <a:rPr lang="en-US" dirty="0" err="1" smtClean="0"/>
              <a:t>Icd.print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&gt;994)&amp;&amp;(</a:t>
            </a:r>
            <a:r>
              <a:rPr lang="en-US" dirty="0" err="1" smtClean="0"/>
              <a:t>nilai_densito</a:t>
            </a:r>
            <a:r>
              <a:rPr lang="en-US" dirty="0" smtClean="0"/>
              <a:t>&lt;=995))</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("(10)");</a:t>
            </a:r>
          </a:p>
          <a:p>
            <a:r>
              <a:rPr lang="en-US" dirty="0" smtClean="0"/>
              <a:t>//delay(200);</a:t>
            </a:r>
          </a:p>
          <a:p>
            <a:r>
              <a:rPr lang="en-US" dirty="0" err="1" smtClean="0"/>
              <a:t>nilai_densito-analogRead</a:t>
            </a:r>
            <a:r>
              <a:rPr lang="en-US" dirty="0" smtClean="0"/>
              <a:t>(</a:t>
            </a:r>
            <a:r>
              <a:rPr lang="en-US" dirty="0" err="1" smtClean="0"/>
              <a:t>densito</a:t>
            </a:r>
            <a:r>
              <a:rPr lang="en-US" dirty="0" smtClean="0"/>
              <a:t>);</a:t>
            </a:r>
          </a:p>
          <a:p>
            <a:r>
              <a:rPr lang="en-US" dirty="0" smtClean="0"/>
              <a:t>voltage = </a:t>
            </a:r>
            <a:r>
              <a:rPr lang="en-US" dirty="0" err="1" smtClean="0"/>
              <a:t>nilai</a:t>
            </a:r>
            <a:r>
              <a:rPr lang="en-US" dirty="0" smtClean="0"/>
              <a:t> </a:t>
            </a:r>
            <a:r>
              <a:rPr lang="en-US" dirty="0" err="1" smtClean="0"/>
              <a:t>densito</a:t>
            </a:r>
            <a:r>
              <a:rPr lang="en-US" dirty="0" smtClean="0"/>
              <a:t>*5.0/1024;</a:t>
            </a:r>
          </a:p>
          <a:p>
            <a:r>
              <a:rPr lang="en-US" dirty="0" smtClean="0"/>
              <a:t>voltage = voltage - 2.63;</a:t>
            </a:r>
          </a:p>
          <a:p>
            <a:r>
              <a:rPr lang="en-US" dirty="0" smtClean="0"/>
              <a:t>1cd.setCursor(10,2);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&gt;995)&amp;&amp;(</a:t>
            </a:r>
            <a:r>
              <a:rPr lang="en-US" dirty="0" err="1" smtClean="0"/>
              <a:t>nilai_densito</a:t>
            </a:r>
            <a:r>
              <a:rPr lang="en-US" dirty="0" smtClean="0"/>
              <a:t>&lt;=1001))</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("(10)");</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- 2.64;</a:t>
            </a:r>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delay(200);</a:t>
            </a:r>
          </a:p>
          <a:p>
            <a:r>
              <a:rPr lang="en-US" dirty="0" smtClean="0"/>
              <a:t>void </a:t>
            </a:r>
            <a:r>
              <a:rPr lang="en-US" dirty="0" err="1" smtClean="0"/>
              <a:t>baca_sensor_densito_proses</a:t>
            </a:r>
            <a:r>
              <a:rPr lang="en-US" dirty="0" smtClean="0"/>
              <a:t>()</a:t>
            </a:r>
          </a:p>
          <a:p>
            <a:r>
              <a:rPr lang="en-US" dirty="0" smtClean="0"/>
              <a:t>delay(500);</a:t>
            </a:r>
          </a:p>
          <a:p>
            <a:r>
              <a:rPr lang="en-US" dirty="0" smtClean="0"/>
              <a:t>count=15;</a:t>
            </a:r>
          </a:p>
          <a:p>
            <a:r>
              <a:rPr lang="en-US" dirty="0" smtClean="0"/>
              <a:t>while(count&gt;0)</a:t>
            </a:r>
          </a:p>
          <a:p>
            <a:r>
              <a:rPr lang="en-US" dirty="0" smtClean="0"/>
              <a:t>{</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err="1" smtClean="0"/>
              <a:t>lcd.setCursor</a:t>
            </a:r>
            <a:r>
              <a:rPr lang="en-US" dirty="0" smtClean="0"/>
              <a:t>(14,1);</a:t>
            </a:r>
          </a:p>
          <a:p>
            <a:r>
              <a:rPr lang="en-US" dirty="0" err="1" smtClean="0"/>
              <a:t>lcd.print</a:t>
            </a:r>
            <a:r>
              <a:rPr lang="en-US" dirty="0" smtClean="0"/>
              <a:t>(" "); |</a:t>
            </a:r>
          </a:p>
          <a:p>
            <a:r>
              <a:rPr lang="en-US" dirty="0" err="1" smtClean="0"/>
              <a:t>lcd.setCursor</a:t>
            </a:r>
            <a:r>
              <a:rPr lang="en-US" dirty="0" smtClean="0"/>
              <a:t>(14,1);</a:t>
            </a:r>
          </a:p>
          <a:p>
            <a:r>
              <a:rPr lang="en-US" dirty="0" err="1" smtClean="0"/>
              <a:t>lcd.print</a:t>
            </a:r>
            <a:r>
              <a:rPr lang="en-US" dirty="0" smtClean="0"/>
              <a:t>(voltage);</a:t>
            </a:r>
          </a:p>
          <a:p>
            <a:r>
              <a:rPr lang="en-US" dirty="0" smtClean="0"/>
              <a:t>1cd.setCursor(3, 0);</a:t>
            </a:r>
          </a:p>
          <a:p>
            <a:r>
              <a:rPr lang="en-US" dirty="0" err="1" smtClean="0"/>
              <a:t>lcd.print</a:t>
            </a:r>
            <a:r>
              <a:rPr lang="en-US" dirty="0" smtClean="0"/>
              <a:t>(" ");</a:t>
            </a:r>
          </a:p>
          <a:p>
            <a:r>
              <a:rPr lang="en-US" dirty="0" err="1" smtClean="0"/>
              <a:t>lcd.setCursor</a:t>
            </a:r>
            <a:r>
              <a:rPr lang="en-US" dirty="0" smtClean="0"/>
              <a:t>(3, 0);</a:t>
            </a:r>
          </a:p>
          <a:p>
            <a:r>
              <a:rPr lang="en-US" dirty="0" err="1" smtClean="0"/>
              <a:t>Icd.print</a:t>
            </a:r>
            <a:r>
              <a:rPr lang="en-US" dirty="0" smtClean="0"/>
              <a:t>(</a:t>
            </a:r>
            <a:r>
              <a:rPr lang="en-US" dirty="0" err="1" smtClean="0"/>
              <a:t>nilai_densito</a:t>
            </a:r>
            <a:r>
              <a:rPr lang="en-US" dirty="0" smtClean="0"/>
              <a:t>);</a:t>
            </a:r>
          </a:p>
          <a:p>
            <a:r>
              <a:rPr lang="en-US" dirty="0" smtClean="0"/>
              <a:t>delay(400);</a:t>
            </a:r>
          </a:p>
          <a:p>
            <a:r>
              <a:rPr lang="en-US" dirty="0" smtClean="0"/>
              <a:t>count=count-1;</a:t>
            </a:r>
          </a:p>
          <a:p>
            <a:r>
              <a:rPr lang="en-US" dirty="0" smtClean="0"/>
              <a:t>}</a:t>
            </a:r>
          </a:p>
          <a:p>
            <a:r>
              <a:rPr lang="en-US" dirty="0" smtClean="0"/>
              <a:t>delay(200);</a:t>
            </a:r>
          </a:p>
          <a:p>
            <a:r>
              <a:rPr lang="en-US" dirty="0" smtClean="0"/>
              <a:t>void </a:t>
            </a:r>
            <a:r>
              <a:rPr lang="en-US" dirty="0" err="1" smtClean="0"/>
              <a:t>proses_awal</a:t>
            </a:r>
            <a:r>
              <a:rPr lang="en-US" dirty="0" smtClean="0"/>
              <a:t>()</a:t>
            </a:r>
          </a:p>
          <a:p>
            <a:r>
              <a:rPr lang="en-US" dirty="0" smtClean="0"/>
              <a:t>sampling=20;</a:t>
            </a:r>
          </a:p>
          <a:p>
            <a:r>
              <a:rPr lang="en-US" dirty="0" smtClean="0"/>
              <a:t>1cd.setCursor(0,3);</a:t>
            </a:r>
          </a:p>
          <a:p>
            <a:r>
              <a:rPr lang="en-US" dirty="0" smtClean="0"/>
              <a:t>while(sampling!=0)</a:t>
            </a:r>
          </a:p>
          <a:p>
            <a:r>
              <a:rPr lang="en-US" dirty="0" smtClean="0"/>
              <a:t>delay(50);</a:t>
            </a:r>
          </a:p>
          <a:p>
            <a:r>
              <a:rPr lang="en-US" dirty="0" err="1" smtClean="0"/>
              <a:t>lcd.print</a:t>
            </a:r>
            <a:r>
              <a:rPr lang="en-US" dirty="0" smtClean="0"/>
              <a:t>('.');</a:t>
            </a:r>
          </a:p>
          <a:p>
            <a:r>
              <a:rPr lang="en-US" dirty="0" smtClean="0"/>
              <a:t>sampling--;</a:t>
            </a:r>
          </a:p>
          <a:p>
            <a:r>
              <a:rPr lang="en-US" dirty="0" smtClean="0"/>
              <a:t>nada();</a:t>
            </a:r>
          </a:p>
          <a:p>
            <a:r>
              <a:rPr lang="en-US" dirty="0" smtClean="0"/>
              <a:t>}</a:t>
            </a:r>
          </a:p>
          <a:p>
            <a:r>
              <a:rPr lang="en-US" dirty="0" smtClean="0"/>
              <a:t>void setup(void)</a:t>
            </a:r>
          </a:p>
          <a:p>
            <a:r>
              <a:rPr lang="en-US" dirty="0" smtClean="0"/>
              <a:t>{</a:t>
            </a:r>
          </a:p>
          <a:p>
            <a:r>
              <a:rPr lang="en-US" dirty="0" err="1" smtClean="0"/>
              <a:t>lcd.init</a:t>
            </a:r>
            <a:r>
              <a:rPr lang="en-US" dirty="0" smtClean="0"/>
              <a:t>(); // initialize the </a:t>
            </a:r>
            <a:r>
              <a:rPr lang="en-US" dirty="0" err="1" smtClean="0"/>
              <a:t>lcd</a:t>
            </a:r>
            <a:endParaRPr lang="en-US" dirty="0" smtClean="0"/>
          </a:p>
          <a:p>
            <a:r>
              <a:rPr lang="en-US" dirty="0" err="1" smtClean="0"/>
              <a:t>lcd.init</a:t>
            </a:r>
            <a:r>
              <a:rPr lang="en-US" dirty="0" smtClean="0"/>
              <a:t>();</a:t>
            </a:r>
          </a:p>
          <a:p>
            <a:r>
              <a:rPr lang="en-US" dirty="0" smtClean="0"/>
              <a:t>// Print a message to the LCD.</a:t>
            </a:r>
          </a:p>
          <a:p>
            <a:r>
              <a:rPr lang="en-US" dirty="0" err="1" smtClean="0"/>
              <a:t>lcd.backlight</a:t>
            </a:r>
            <a:r>
              <a:rPr lang="en-US" dirty="0" smtClean="0"/>
              <a:t>();</a:t>
            </a:r>
          </a:p>
          <a:p>
            <a:r>
              <a:rPr lang="en-US" dirty="0" err="1" smtClean="0"/>
              <a:t>pinMode</a:t>
            </a:r>
            <a:r>
              <a:rPr lang="en-US" dirty="0" smtClean="0"/>
              <a:t>(</a:t>
            </a:r>
            <a:r>
              <a:rPr lang="en-US" dirty="0" err="1" smtClean="0"/>
              <a:t>buzz,OUTPUT</a:t>
            </a:r>
            <a:r>
              <a:rPr lang="en-US" dirty="0" smtClean="0"/>
              <a:t>);</a:t>
            </a:r>
          </a:p>
          <a:p>
            <a:r>
              <a:rPr lang="en-US" dirty="0" err="1" smtClean="0"/>
              <a:t>pinMode</a:t>
            </a:r>
            <a:r>
              <a:rPr lang="en-US" dirty="0" smtClean="0"/>
              <a:t>(</a:t>
            </a:r>
            <a:r>
              <a:rPr lang="en-US" dirty="0" err="1" smtClean="0"/>
              <a:t>buttonStart</a:t>
            </a:r>
            <a:r>
              <a:rPr lang="en-US" dirty="0" smtClean="0"/>
              <a:t>, INPUT);</a:t>
            </a:r>
          </a:p>
          <a:p>
            <a:r>
              <a:rPr lang="en-US" dirty="0" err="1" smtClean="0"/>
              <a:t>digitalWrite</a:t>
            </a:r>
            <a:r>
              <a:rPr lang="en-US" dirty="0" smtClean="0"/>
              <a:t>(</a:t>
            </a:r>
            <a:r>
              <a:rPr lang="en-US" dirty="0" err="1" smtClean="0"/>
              <a:t>buttonStart</a:t>
            </a:r>
            <a:r>
              <a:rPr lang="en-US" dirty="0" smtClean="0"/>
              <a:t>, HIGH)</a:t>
            </a:r>
          </a:p>
          <a:p>
            <a:r>
              <a:rPr lang="en-US" dirty="0" err="1" smtClean="0"/>
              <a:t>pinMode</a:t>
            </a:r>
            <a:r>
              <a:rPr lang="en-US" dirty="0" smtClean="0"/>
              <a:t>(</a:t>
            </a:r>
            <a:r>
              <a:rPr lang="en-US" dirty="0" err="1" smtClean="0"/>
              <a:t>buttoncal</a:t>
            </a:r>
            <a:r>
              <a:rPr lang="en-US" dirty="0" smtClean="0"/>
              <a:t>, INPUT);</a:t>
            </a:r>
          </a:p>
          <a:p>
            <a:r>
              <a:rPr lang="en-US" dirty="0" err="1" smtClean="0"/>
              <a:t>digitalWrite</a:t>
            </a:r>
            <a:r>
              <a:rPr lang="en-US" dirty="0" smtClean="0"/>
              <a:t>(</a:t>
            </a:r>
            <a:r>
              <a:rPr lang="en-US" dirty="0" err="1" smtClean="0"/>
              <a:t>buttoncal</a:t>
            </a:r>
            <a:r>
              <a:rPr lang="en-US" dirty="0" smtClean="0"/>
              <a:t>, HIGH);</a:t>
            </a:r>
          </a:p>
          <a:p>
            <a:r>
              <a:rPr lang="en-US" dirty="0" smtClean="0"/>
              <a:t>run nada=1;</a:t>
            </a:r>
          </a:p>
          <a:p>
            <a:r>
              <a:rPr lang="en-US" dirty="0" smtClean="0"/>
              <a:t>nada);</a:t>
            </a:r>
          </a:p>
          <a:p>
            <a:r>
              <a:rPr lang="en-US" dirty="0" err="1" smtClean="0"/>
              <a:t>run_nada</a:t>
            </a:r>
            <a:r>
              <a:rPr lang="en-US" dirty="0" smtClean="0"/>
              <a:t>=0;</a:t>
            </a:r>
          </a:p>
          <a:p>
            <a:r>
              <a:rPr lang="en-US" dirty="0" err="1" smtClean="0"/>
              <a:t>tampil_judul</a:t>
            </a:r>
            <a:r>
              <a:rPr lang="en-US" dirty="0" smtClean="0"/>
              <a:t>();</a:t>
            </a:r>
          </a:p>
          <a:p>
            <a:r>
              <a:rPr lang="en-US" dirty="0" smtClean="0"/>
              <a:t>delay(200);</a:t>
            </a:r>
          </a:p>
          <a:p>
            <a:r>
              <a:rPr lang="en-US" dirty="0" err="1" smtClean="0"/>
              <a:t>idel</a:t>
            </a:r>
            <a:r>
              <a:rPr lang="en-US" dirty="0" smtClean="0"/>
              <a:t>);</a:t>
            </a:r>
          </a:p>
          <a:p>
            <a:r>
              <a:rPr lang="en-US" dirty="0" smtClean="0"/>
              <a:t>delay(200);</a:t>
            </a:r>
          </a:p>
          <a:p>
            <a:r>
              <a:rPr lang="en-US" dirty="0" smtClean="0"/>
              <a:t>void loop(void)</a:t>
            </a:r>
          </a:p>
          <a:p>
            <a:r>
              <a:rPr lang="en-US" dirty="0" smtClean="0"/>
              <a:t>if (</a:t>
            </a:r>
            <a:r>
              <a:rPr lang="en-US" dirty="0" err="1" smtClean="0"/>
              <a:t>digitalRead</a:t>
            </a:r>
            <a:r>
              <a:rPr lang="en-US" dirty="0" smtClean="0"/>
              <a:t>(button Start) ==LOW)</a:t>
            </a:r>
          </a:p>
          <a:p>
            <a:r>
              <a:rPr lang="en-US" dirty="0" smtClean="0"/>
              <a:t>nada();</a:t>
            </a:r>
          </a:p>
          <a:p>
            <a:r>
              <a:rPr lang="en-US" dirty="0" smtClean="0"/>
              <a:t>counters=counters+1;</a:t>
            </a:r>
          </a:p>
          <a:p>
            <a:r>
              <a:rPr lang="en-US" dirty="0" smtClean="0"/>
              <a:t>counters=counters;</a:t>
            </a:r>
          </a:p>
          <a:p>
            <a:r>
              <a:rPr lang="en-US" dirty="0" err="1" smtClean="0"/>
              <a:t>lcd.setCursor</a:t>
            </a:r>
            <a:r>
              <a:rPr lang="en-US" dirty="0" smtClean="0"/>
              <a:t>(17,2);</a:t>
            </a:r>
          </a:p>
          <a:p>
            <a:r>
              <a:rPr lang="en-US" dirty="0" err="1" smtClean="0"/>
              <a:t>lcd.print</a:t>
            </a:r>
            <a:r>
              <a:rPr lang="en-US" dirty="0" smtClean="0"/>
              <a:t>(counters);</a:t>
            </a:r>
          </a:p>
          <a:p>
            <a:r>
              <a:rPr lang="en-US" dirty="0" smtClean="0"/>
              <a:t>if(counters==1){</a:t>
            </a:r>
            <a:r>
              <a:rPr lang="en-US" dirty="0" err="1" smtClean="0"/>
              <a:t>status_baca</a:t>
            </a:r>
            <a:r>
              <a:rPr lang="en-US" dirty="0" smtClean="0"/>
              <a:t>=1;counters=counters;}</a:t>
            </a:r>
          </a:p>
          <a:p>
            <a:r>
              <a:rPr lang="en-US" dirty="0" smtClean="0"/>
              <a:t>if(counters=2){</a:t>
            </a:r>
            <a:r>
              <a:rPr lang="en-US" dirty="0" err="1" smtClean="0"/>
              <a:t>status_baca</a:t>
            </a:r>
            <a:r>
              <a:rPr lang="en-US" dirty="0" smtClean="0"/>
              <a:t>=0;counters=0;counter=0;1cd.setCursor(17,2);</a:t>
            </a:r>
            <a:r>
              <a:rPr lang="en-US" dirty="0" err="1" smtClean="0"/>
              <a:t>lcd.print</a:t>
            </a:r>
            <a:r>
              <a:rPr lang="en-US" dirty="0" smtClean="0"/>
              <a:t>(c</a:t>
            </a:r>
          </a:p>
          <a:p>
            <a:r>
              <a:rPr lang="en-US" dirty="0" err="1" smtClean="0"/>
              <a:t>ounters</a:t>
            </a:r>
            <a:r>
              <a:rPr lang="en-US" dirty="0" smtClean="0"/>
              <a:t>);</a:t>
            </a:r>
            <a:r>
              <a:rPr lang="en-US" dirty="0" err="1" smtClean="0"/>
              <a:t>idel</a:t>
            </a:r>
            <a:r>
              <a:rPr lang="en-US" dirty="0" smtClean="0"/>
              <a:t>();}</a:t>
            </a:r>
          </a:p>
          <a:p>
            <a:r>
              <a:rPr lang="en-US" dirty="0" smtClean="0"/>
              <a:t>}</a:t>
            </a:r>
          </a:p>
          <a:p>
            <a:r>
              <a:rPr lang="en-US" dirty="0" smtClean="0"/>
              <a:t>}</a:t>
            </a:r>
          </a:p>
          <a:p>
            <a:r>
              <a:rPr lang="en-US" dirty="0" smtClean="0"/>
              <a:t>if (digital Read(</a:t>
            </a:r>
            <a:r>
              <a:rPr lang="en-US" dirty="0" err="1" smtClean="0"/>
              <a:t>buttoncal</a:t>
            </a:r>
            <a:r>
              <a:rPr lang="en-US" dirty="0" smtClean="0"/>
              <a:t>) == LOW)</a:t>
            </a:r>
          </a:p>
          <a:p>
            <a:r>
              <a:rPr lang="en-US" dirty="0" smtClean="0"/>
              <a:t>nada);</a:t>
            </a:r>
          </a:p>
          <a:p>
            <a:r>
              <a:rPr lang="en-US" dirty="0" smtClean="0"/>
              <a:t>counter=counter+1;</a:t>
            </a:r>
          </a:p>
          <a:p>
            <a:r>
              <a:rPr lang="en-US" dirty="0" smtClean="0"/>
              <a:t>counter=counter;</a:t>
            </a:r>
          </a:p>
          <a:p>
            <a:r>
              <a:rPr lang="en-US" dirty="0" err="1" smtClean="0"/>
              <a:t>lcd.setCursor</a:t>
            </a:r>
            <a:r>
              <a:rPr lang="en-US" dirty="0" smtClean="0"/>
              <a:t>(17,2);</a:t>
            </a:r>
          </a:p>
          <a:p>
            <a:r>
              <a:rPr lang="en-US" dirty="0" err="1" smtClean="0"/>
              <a:t>lcd.print</a:t>
            </a:r>
            <a:r>
              <a:rPr lang="en-US" dirty="0" smtClean="0"/>
              <a:t>(counter);</a:t>
            </a:r>
          </a:p>
          <a:p>
            <a:r>
              <a:rPr lang="en-US" dirty="0" smtClean="0"/>
              <a:t>if(counter==1){</a:t>
            </a:r>
            <a:r>
              <a:rPr lang="en-US" dirty="0" err="1" smtClean="0"/>
              <a:t>status_cal</a:t>
            </a:r>
            <a:r>
              <a:rPr lang="en-US" dirty="0" smtClean="0"/>
              <a:t>=1;counter=</a:t>
            </a:r>
            <a:r>
              <a:rPr lang="en-US" dirty="0" err="1" smtClean="0"/>
              <a:t>counter;lcd.setCursor</a:t>
            </a:r>
            <a:r>
              <a:rPr lang="en-US" dirty="0" smtClean="0"/>
              <a:t>(0,1);</a:t>
            </a:r>
            <a:r>
              <a:rPr lang="en-US" dirty="0" err="1" smtClean="0"/>
              <a:t>lcd.print</a:t>
            </a:r>
            <a:r>
              <a:rPr lang="en-US" dirty="0" smtClean="0"/>
              <a:t>(" ");}</a:t>
            </a:r>
          </a:p>
          <a:p>
            <a:r>
              <a:rPr lang="en-US" dirty="0" smtClean="0"/>
              <a:t>if(counter==2){mode=1;counter=</a:t>
            </a:r>
            <a:r>
              <a:rPr lang="en-US" dirty="0" err="1" smtClean="0"/>
              <a:t>counter;status_cal</a:t>
            </a:r>
            <a:r>
              <a:rPr lang="en-US" dirty="0" smtClean="0"/>
              <a:t>=0;lcd.setCursor(0,1);</a:t>
            </a:r>
            <a:r>
              <a:rPr lang="en-US" dirty="0" err="1" smtClean="0"/>
              <a:t>lcd.print</a:t>
            </a:r>
            <a:r>
              <a:rPr lang="en-US" dirty="0" smtClean="0"/>
              <a:t>("F</a:t>
            </a:r>
          </a:p>
          <a:p>
            <a:r>
              <a:rPr lang="en-US" dirty="0" smtClean="0"/>
              <a:t>Kv60");}</a:t>
            </a:r>
          </a:p>
          <a:p>
            <a:r>
              <a:rPr lang="en-US" dirty="0" smtClean="0"/>
              <a:t>if(counter==3){mode=2;counter=counter; </a:t>
            </a:r>
            <a:r>
              <a:rPr lang="en-US" dirty="0" err="1" smtClean="0"/>
              <a:t>status_cal</a:t>
            </a:r>
            <a:r>
              <a:rPr lang="en-US" dirty="0" smtClean="0"/>
              <a:t>=0;lcd.setCursor(0,1);</a:t>
            </a:r>
            <a:r>
              <a:rPr lang="en-US" dirty="0" err="1" smtClean="0"/>
              <a:t>lcd.print</a:t>
            </a:r>
            <a:r>
              <a:rPr lang="en-US" dirty="0" smtClean="0"/>
              <a:t>("F</a:t>
            </a:r>
          </a:p>
          <a:p>
            <a:r>
              <a:rPr lang="en-US" dirty="0" smtClean="0"/>
              <a:t>Kv80");}</a:t>
            </a:r>
          </a:p>
          <a:p>
            <a:r>
              <a:rPr lang="en-US" dirty="0" smtClean="0"/>
              <a:t>if(counter==4){</a:t>
            </a:r>
            <a:r>
              <a:rPr lang="en-US" dirty="0" err="1" smtClean="0"/>
              <a:t>status_cal</a:t>
            </a:r>
            <a:r>
              <a:rPr lang="en-US" dirty="0" smtClean="0"/>
              <a:t>=0;counter=0;lcd.setCursor(17,2);</a:t>
            </a:r>
            <a:r>
              <a:rPr lang="en-US" dirty="0" err="1" smtClean="0"/>
              <a:t>lcd.print</a:t>
            </a:r>
            <a:r>
              <a:rPr lang="en-US" dirty="0" smtClean="0"/>
              <a:t>(counter);</a:t>
            </a:r>
            <a:r>
              <a:rPr lang="en-US" dirty="0" err="1" smtClean="0"/>
              <a:t>idel</a:t>
            </a:r>
            <a:r>
              <a:rPr lang="en-US" dirty="0" smtClean="0"/>
              <a:t>();}</a:t>
            </a:r>
          </a:p>
          <a:p>
            <a:r>
              <a:rPr lang="en-US" dirty="0" smtClean="0"/>
              <a:t>}</a:t>
            </a:r>
          </a:p>
          <a:p>
            <a:r>
              <a:rPr lang="en-US" dirty="0" smtClean="0"/>
              <a:t>if (</a:t>
            </a:r>
            <a:r>
              <a:rPr lang="en-US" dirty="0" err="1" smtClean="0"/>
              <a:t>status_baca</a:t>
            </a:r>
            <a:r>
              <a:rPr lang="en-US" dirty="0" smtClean="0"/>
              <a:t>==1)</a:t>
            </a:r>
          </a:p>
          <a:p>
            <a:r>
              <a:rPr lang="en-US" dirty="0" smtClean="0"/>
              <a:t>{</a:t>
            </a:r>
          </a:p>
          <a:p>
            <a:r>
              <a:rPr lang="en-US" dirty="0" smtClean="0"/>
              <a:t>}</a:t>
            </a:r>
          </a:p>
          <a:p>
            <a:r>
              <a:rPr lang="en-US" dirty="0" smtClean="0"/>
              <a:t>delay(200);</a:t>
            </a:r>
          </a:p>
          <a:p>
            <a:r>
              <a:rPr lang="en-US" dirty="0" smtClean="0"/>
              <a:t>delay(200);</a:t>
            </a:r>
          </a:p>
          <a:p>
            <a:r>
              <a:rPr lang="en-US" dirty="0" err="1" smtClean="0"/>
              <a:t>proses_awal</a:t>
            </a:r>
            <a:r>
              <a:rPr lang="en-US" dirty="0" smtClean="0"/>
              <a:t>);</a:t>
            </a:r>
          </a:p>
          <a:p>
            <a:r>
              <a:rPr lang="en-US" dirty="0" smtClean="0"/>
              <a:t>//</a:t>
            </a:r>
            <a:r>
              <a:rPr lang="en-US" dirty="0" err="1" smtClean="0"/>
              <a:t>baca_sensor_densito_proses</a:t>
            </a:r>
            <a:r>
              <a:rPr lang="en-US" dirty="0" smtClean="0"/>
              <a:t>();</a:t>
            </a:r>
          </a:p>
          <a:p>
            <a:r>
              <a:rPr lang="en-US" dirty="0" err="1" smtClean="0"/>
              <a:t>baca_sensor_densito_cal</a:t>
            </a:r>
            <a:r>
              <a:rPr lang="en-US" dirty="0" smtClean="0"/>
              <a:t>();</a:t>
            </a:r>
          </a:p>
          <a:p>
            <a:r>
              <a:rPr lang="en-US" dirty="0" smtClean="0"/>
              <a:t>if(mode==1){baca_kategori_densito_kv600);}</a:t>
            </a:r>
          </a:p>
          <a:p>
            <a:r>
              <a:rPr lang="en-US" dirty="0" smtClean="0"/>
              <a:t>if(mode=2){baca_kategori_densito_kv80(0);}</a:t>
            </a:r>
          </a:p>
          <a:p>
            <a:r>
              <a:rPr lang="en-US" dirty="0" err="1" smtClean="0"/>
              <a:t>nadaO</a:t>
            </a:r>
            <a:r>
              <a:rPr lang="en-US" dirty="0" smtClean="0"/>
              <a:t>;</a:t>
            </a:r>
          </a:p>
          <a:p>
            <a:r>
              <a:rPr lang="en-US" dirty="0" smtClean="0"/>
              <a:t>nada();</a:t>
            </a:r>
          </a:p>
          <a:p>
            <a:r>
              <a:rPr lang="en-US" dirty="0" smtClean="0"/>
              <a:t>status bac</a:t>
            </a:r>
            <a:r>
              <a:rPr lang="az-Cyrl-AZ" dirty="0" smtClean="0"/>
              <a:t>а=0;</a:t>
            </a:r>
          </a:p>
          <a:p>
            <a:r>
              <a:rPr lang="en-US" dirty="0" smtClean="0"/>
              <a:t>if (</a:t>
            </a:r>
            <a:r>
              <a:rPr lang="en-US" dirty="0" err="1" smtClean="0"/>
              <a:t>status_cal</a:t>
            </a:r>
            <a:r>
              <a:rPr lang="en-US" dirty="0" smtClean="0"/>
              <a:t>==1)</a:t>
            </a:r>
          </a:p>
          <a:p>
            <a:r>
              <a:rPr lang="en-US" dirty="0" smtClean="0"/>
              <a:t>}</a:t>
            </a:r>
          </a:p>
          <a:p>
            <a:r>
              <a:rPr lang="en-US" dirty="0" err="1" smtClean="0"/>
              <a:t>baca</a:t>
            </a:r>
            <a:r>
              <a:rPr lang="en-US" dirty="0" smtClean="0"/>
              <a:t> sensor </a:t>
            </a:r>
            <a:r>
              <a:rPr lang="en-US" dirty="0" err="1" smtClean="0"/>
              <a:t>densito_cal</a:t>
            </a:r>
            <a:r>
              <a:rPr lang="en-US" dirty="0" smtClean="0"/>
              <a:t>();</a:t>
            </a:r>
          </a:p>
          <a:p>
            <a:r>
              <a:rPr lang="en-US" dirty="0" smtClean="0"/>
              <a:t>battery);</a:t>
            </a:r>
          </a:p>
          <a:p>
            <a:r>
              <a:rPr lang="en-US" dirty="0" smtClean="0"/>
              <a:t>delay(10);</a:t>
            </a:r>
          </a:p>
          <a:p>
            <a:r>
              <a:rPr lang="en-US" dirty="0" smtClean="0"/>
              <a:t>}</a:t>
            </a:r>
          </a:p>
          <a:p>
            <a:endParaRPr lang="en-US" dirty="0" smtClean="0"/>
          </a:p>
          <a:p>
            <a:endParaRPr lang="en-US" dirty="0" smtClean="0"/>
          </a:p>
          <a:p>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F71A1DE6-A801-4746-9FC0-8352D20A3103}" type="slidenum">
              <a:rPr lang="en-US" smtClean="0"/>
              <a:t>6</a:t>
            </a:fld>
            <a:endParaRPr lang="en-US"/>
          </a:p>
        </p:txBody>
      </p:sp>
    </p:spTree>
    <p:extLst>
      <p:ext uri="{BB962C8B-B14F-4D97-AF65-F5344CB8AC3E}">
        <p14:creationId xmlns:p14="http://schemas.microsoft.com/office/powerpoint/2010/main" val="41757712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#include &lt;</a:t>
            </a:r>
            <a:r>
              <a:rPr lang="en-US" dirty="0" err="1" smtClean="0"/>
              <a:t>Wire.h</a:t>
            </a:r>
            <a:r>
              <a:rPr lang="en-US" dirty="0" smtClean="0"/>
              <a:t>&gt;</a:t>
            </a:r>
          </a:p>
          <a:p>
            <a:r>
              <a:rPr lang="en-US" dirty="0" smtClean="0"/>
              <a:t>#include &lt;LiquidCrystal_I2C.h&gt;</a:t>
            </a:r>
          </a:p>
          <a:p>
            <a:r>
              <a:rPr lang="en-US" dirty="0" smtClean="0"/>
              <a:t>LiquidCrystal_12C </a:t>
            </a:r>
            <a:r>
              <a:rPr lang="en-US" dirty="0" err="1" smtClean="0"/>
              <a:t>lcd</a:t>
            </a:r>
            <a:r>
              <a:rPr lang="en-US" dirty="0" smtClean="0"/>
              <a:t>(0x27,20,4); // set the LCD address to 0x27 for a 20 chars and</a:t>
            </a:r>
          </a:p>
          <a:p>
            <a:r>
              <a:rPr lang="en-US" dirty="0" smtClean="0"/>
              <a:t>4 line display</a:t>
            </a:r>
          </a:p>
          <a:p>
            <a:r>
              <a:rPr lang="en-US" dirty="0" err="1" smtClean="0"/>
              <a:t>int</a:t>
            </a:r>
            <a:r>
              <a:rPr lang="en-US" dirty="0" smtClean="0"/>
              <a:t> batt=A0, </a:t>
            </a:r>
            <a:r>
              <a:rPr lang="en-US" dirty="0" err="1" smtClean="0"/>
              <a:t>nilai_batt</a:t>
            </a:r>
            <a:r>
              <a:rPr lang="en-US" dirty="0" smtClean="0"/>
              <a:t>, </a:t>
            </a:r>
            <a:r>
              <a:rPr lang="en-US" dirty="0" err="1" smtClean="0"/>
              <a:t>persen_batt</a:t>
            </a:r>
            <a:r>
              <a:rPr lang="en-US" dirty="0" smtClean="0"/>
              <a:t>, </a:t>
            </a:r>
            <a:r>
              <a:rPr lang="en-US" dirty="0" err="1" smtClean="0"/>
              <a:t>nilai_persen_batt</a:t>
            </a:r>
            <a:r>
              <a:rPr lang="en-US" dirty="0" smtClean="0"/>
              <a:t>;//buzzer </a:t>
            </a:r>
            <a:r>
              <a:rPr lang="en-US" dirty="0" err="1" smtClean="0"/>
              <a:t>dan</a:t>
            </a:r>
            <a:r>
              <a:rPr lang="en-US" dirty="0" smtClean="0"/>
              <a:t> sensor </a:t>
            </a:r>
            <a:r>
              <a:rPr lang="en-US" dirty="0" err="1" smtClean="0"/>
              <a:t>baterai</a:t>
            </a:r>
            <a:endParaRPr lang="en-US" dirty="0" smtClean="0"/>
          </a:p>
          <a:p>
            <a:r>
              <a:rPr lang="en-US" dirty="0" err="1" smtClean="0"/>
              <a:t>int</a:t>
            </a:r>
            <a:r>
              <a:rPr lang="en-US" dirty="0" smtClean="0"/>
              <a:t> </a:t>
            </a:r>
            <a:r>
              <a:rPr lang="en-US" dirty="0" err="1" smtClean="0"/>
              <a:t>nilai_densito</a:t>
            </a:r>
            <a:r>
              <a:rPr lang="en-US" dirty="0" smtClean="0"/>
              <a:t>, </a:t>
            </a:r>
            <a:r>
              <a:rPr lang="en-US" dirty="0" err="1" smtClean="0"/>
              <a:t>nilai_persen_densito</a:t>
            </a:r>
            <a:r>
              <a:rPr lang="en-US" dirty="0" smtClean="0"/>
              <a:t>;//</a:t>
            </a:r>
            <a:r>
              <a:rPr lang="en-US" dirty="0" err="1" smtClean="0"/>
              <a:t>variabel</a:t>
            </a:r>
            <a:r>
              <a:rPr lang="en-US" dirty="0" smtClean="0"/>
              <a:t> sensor </a:t>
            </a:r>
            <a:r>
              <a:rPr lang="en-US" dirty="0" err="1" smtClean="0"/>
              <a:t>densito</a:t>
            </a:r>
            <a:endParaRPr lang="en-US" dirty="0" smtClean="0"/>
          </a:p>
          <a:p>
            <a:r>
              <a:rPr lang="en-US" dirty="0" err="1" smtClean="0"/>
              <a:t>const</a:t>
            </a:r>
            <a:r>
              <a:rPr lang="en-US" dirty="0" smtClean="0"/>
              <a:t> float </a:t>
            </a:r>
            <a:r>
              <a:rPr lang="en-US" dirty="0" err="1" smtClean="0"/>
              <a:t>densito</a:t>
            </a:r>
            <a:r>
              <a:rPr lang="en-US" dirty="0" smtClean="0"/>
              <a:t> = A1;//sensor densitometer</a:t>
            </a:r>
          </a:p>
          <a:p>
            <a:r>
              <a:rPr lang="en-US" dirty="0" smtClean="0"/>
              <a:t>float </a:t>
            </a:r>
            <a:r>
              <a:rPr lang="en-US" dirty="0" err="1" smtClean="0"/>
              <a:t>nilai_sensor</a:t>
            </a:r>
            <a:r>
              <a:rPr lang="en-US" dirty="0" smtClean="0"/>
              <a:t>, </a:t>
            </a:r>
            <a:r>
              <a:rPr lang="en-US" dirty="0" err="1" smtClean="0"/>
              <a:t>m_densito</a:t>
            </a:r>
            <a:r>
              <a:rPr lang="en-US" dirty="0" smtClean="0"/>
              <a:t>, </a:t>
            </a:r>
            <a:r>
              <a:rPr lang="en-US" dirty="0" err="1" smtClean="0"/>
              <a:t>o_densito,persen_densito</a:t>
            </a:r>
            <a:r>
              <a:rPr lang="en-US" dirty="0" smtClean="0"/>
              <a:t>;</a:t>
            </a:r>
          </a:p>
          <a:p>
            <a:r>
              <a:rPr lang="en-US" dirty="0" err="1" smtClean="0"/>
              <a:t>int</a:t>
            </a:r>
            <a:r>
              <a:rPr lang="en-US" dirty="0" smtClean="0"/>
              <a:t> </a:t>
            </a:r>
            <a:r>
              <a:rPr lang="en-US" dirty="0" err="1" smtClean="0"/>
              <a:t>buttonStart</a:t>
            </a:r>
            <a:r>
              <a:rPr lang="en-US" dirty="0" smtClean="0"/>
              <a:t> = 3; // Start button</a:t>
            </a:r>
          </a:p>
          <a:p>
            <a:r>
              <a:rPr lang="en-US" dirty="0" err="1" smtClean="0"/>
              <a:t>int</a:t>
            </a:r>
            <a:r>
              <a:rPr lang="en-US" dirty="0" smtClean="0"/>
              <a:t> </a:t>
            </a:r>
            <a:r>
              <a:rPr lang="en-US" dirty="0" err="1" smtClean="0"/>
              <a:t>buttoncal</a:t>
            </a:r>
            <a:r>
              <a:rPr lang="en-US" dirty="0" smtClean="0"/>
              <a:t> = 4; // Start button </a:t>
            </a:r>
            <a:r>
              <a:rPr lang="en-US" dirty="0" err="1" smtClean="0"/>
              <a:t>kalibrasi</a:t>
            </a:r>
            <a:endParaRPr lang="en-US" dirty="0" smtClean="0"/>
          </a:p>
          <a:p>
            <a:r>
              <a:rPr lang="en-US" dirty="0" smtClean="0"/>
              <a:t>float </a:t>
            </a:r>
            <a:r>
              <a:rPr lang="en-US" dirty="0" err="1" smtClean="0"/>
              <a:t>m_batt</a:t>
            </a:r>
            <a:r>
              <a:rPr lang="en-US" dirty="0" smtClean="0"/>
              <a:t>, o batt, voltage;</a:t>
            </a:r>
          </a:p>
          <a:p>
            <a:r>
              <a:rPr lang="en-US" dirty="0" smtClean="0"/>
              <a:t>float </a:t>
            </a:r>
            <a:r>
              <a:rPr lang="en-US" dirty="0" err="1" smtClean="0"/>
              <a:t>battpenuh</a:t>
            </a:r>
            <a:r>
              <a:rPr lang="en-US" dirty="0" smtClean="0"/>
              <a:t>, </a:t>
            </a:r>
            <a:r>
              <a:rPr lang="en-US" dirty="0" err="1" smtClean="0"/>
              <a:t>tegangan</a:t>
            </a:r>
            <a:r>
              <a:rPr lang="en-US" dirty="0" smtClean="0"/>
              <a:t>;</a:t>
            </a:r>
          </a:p>
          <a:p>
            <a:r>
              <a:rPr lang="en-US" dirty="0" err="1" smtClean="0"/>
              <a:t>int</a:t>
            </a:r>
            <a:r>
              <a:rPr lang="en-US" dirty="0" smtClean="0"/>
              <a:t> buzz = 8;</a:t>
            </a:r>
          </a:p>
          <a:p>
            <a:r>
              <a:rPr lang="en-US" dirty="0" err="1" smtClean="0"/>
              <a:t>int</a:t>
            </a:r>
            <a:r>
              <a:rPr lang="en-US" dirty="0" smtClean="0"/>
              <a:t> mode;</a:t>
            </a:r>
          </a:p>
          <a:p>
            <a:r>
              <a:rPr lang="en-US" dirty="0" err="1" smtClean="0"/>
              <a:t>int</a:t>
            </a:r>
            <a:r>
              <a:rPr lang="en-US" dirty="0" smtClean="0"/>
              <a:t> </a:t>
            </a:r>
            <a:r>
              <a:rPr lang="en-US" dirty="0" err="1" smtClean="0"/>
              <a:t>run_nada,sampling</a:t>
            </a:r>
            <a:r>
              <a:rPr lang="en-US" dirty="0" smtClean="0"/>
              <a:t>, count, </a:t>
            </a:r>
            <a:r>
              <a:rPr lang="en-US" dirty="0" err="1" smtClean="0"/>
              <a:t>counter,counters</a:t>
            </a:r>
            <a:r>
              <a:rPr lang="en-US" dirty="0" smtClean="0"/>
              <a:t>;</a:t>
            </a:r>
          </a:p>
          <a:p>
            <a:r>
              <a:rPr lang="en-US" dirty="0" err="1" smtClean="0"/>
              <a:t>boolean</a:t>
            </a:r>
            <a:r>
              <a:rPr lang="en-US" dirty="0" smtClean="0"/>
              <a:t> </a:t>
            </a:r>
            <a:r>
              <a:rPr lang="en-US" dirty="0" err="1" smtClean="0"/>
              <a:t>status_cal,status_baca,tanda</a:t>
            </a:r>
            <a:r>
              <a:rPr lang="en-US" dirty="0" smtClean="0"/>
              <a:t>;</a:t>
            </a:r>
          </a:p>
          <a:p>
            <a:r>
              <a:rPr lang="en-US" dirty="0" smtClean="0"/>
              <a:t>// Call the function </a:t>
            </a:r>
            <a:r>
              <a:rPr lang="en-US" dirty="0" err="1" smtClean="0"/>
              <a:t>baterai</a:t>
            </a:r>
            <a:endParaRPr lang="en-US" dirty="0" smtClean="0"/>
          </a:p>
          <a:p>
            <a:r>
              <a:rPr lang="en-US" dirty="0" smtClean="0"/>
              <a:t>byte smiley[8] = {</a:t>
            </a:r>
          </a:p>
          <a:p>
            <a:r>
              <a:rPr lang="en-US" dirty="0" smtClean="0"/>
              <a:t>0b00001110,</a:t>
            </a:r>
          </a:p>
          <a:p>
            <a:r>
              <a:rPr lang="en-US" dirty="0" smtClean="0"/>
              <a:t>0b00010001,</a:t>
            </a:r>
          </a:p>
          <a:p>
            <a:r>
              <a:rPr lang="en-US" dirty="0" smtClean="0"/>
              <a:t>0b00010001,</a:t>
            </a:r>
          </a:p>
          <a:p>
            <a:r>
              <a:rPr lang="en-US" dirty="0" smtClean="0"/>
              <a:t>0b00010001,</a:t>
            </a:r>
          </a:p>
          <a:p>
            <a:r>
              <a:rPr lang="en-US" dirty="0" smtClean="0"/>
              <a:t>0b00010001,</a:t>
            </a:r>
          </a:p>
          <a:p>
            <a:r>
              <a:rPr lang="en-US" dirty="0" smtClean="0"/>
              <a:t>0b00010001,</a:t>
            </a:r>
          </a:p>
          <a:p>
            <a:r>
              <a:rPr lang="en-US" dirty="0" smtClean="0"/>
              <a:t>0b00010001,</a:t>
            </a:r>
          </a:p>
          <a:p>
            <a:r>
              <a:rPr lang="en-US" dirty="0" smtClean="0"/>
              <a:t>0b00011111</a:t>
            </a:r>
          </a:p>
          <a:p>
            <a:r>
              <a:rPr lang="en-US" dirty="0" smtClean="0"/>
              <a:t>};</a:t>
            </a:r>
          </a:p>
          <a:p>
            <a:r>
              <a:rPr lang="en-US" dirty="0" smtClean="0"/>
              <a:t>byte smiley1[8] = {</a:t>
            </a:r>
          </a:p>
          <a:p>
            <a:r>
              <a:rPr lang="en-US" dirty="0" smtClean="0"/>
              <a:t>0b00001110,</a:t>
            </a:r>
          </a:p>
          <a:p>
            <a:r>
              <a:rPr lang="en-US" dirty="0" smtClean="0"/>
              <a:t>0b00010001,</a:t>
            </a:r>
          </a:p>
          <a:p>
            <a:r>
              <a:rPr lang="en-US" dirty="0" smtClean="0"/>
              <a:t>0b00010001,</a:t>
            </a:r>
          </a:p>
          <a:p>
            <a:r>
              <a:rPr lang="en-US" dirty="0" smtClean="0"/>
              <a:t>0b00010001,</a:t>
            </a:r>
          </a:p>
          <a:p>
            <a:r>
              <a:rPr lang="en-US" dirty="0" smtClean="0"/>
              <a:t>0b00010001,</a:t>
            </a:r>
          </a:p>
          <a:p>
            <a:r>
              <a:rPr lang="en-US" dirty="0" smtClean="0"/>
              <a:t>0b00010001,</a:t>
            </a:r>
          </a:p>
          <a:p>
            <a:r>
              <a:rPr lang="en-US" dirty="0" smtClean="0"/>
              <a:t>0b00011111,</a:t>
            </a:r>
          </a:p>
          <a:p>
            <a:r>
              <a:rPr lang="en-US" dirty="0" smtClean="0"/>
              <a:t>0b00011111</a:t>
            </a:r>
          </a:p>
          <a:p>
            <a:r>
              <a:rPr lang="en-US" dirty="0" smtClean="0"/>
              <a:t>};</a:t>
            </a:r>
          </a:p>
          <a:p>
            <a:r>
              <a:rPr lang="en-US" dirty="0" smtClean="0"/>
              <a:t>byte smiley2[8] = {</a:t>
            </a:r>
          </a:p>
          <a:p>
            <a:r>
              <a:rPr lang="en-US" dirty="0" smtClean="0"/>
              <a:t>0b00001110,</a:t>
            </a:r>
          </a:p>
          <a:p>
            <a:r>
              <a:rPr lang="en-US" dirty="0" smtClean="0"/>
              <a:t>0b00010001,</a:t>
            </a:r>
          </a:p>
          <a:p>
            <a:r>
              <a:rPr lang="en-US" dirty="0" smtClean="0"/>
              <a:t>0b00010001,</a:t>
            </a:r>
          </a:p>
          <a:p>
            <a:r>
              <a:rPr lang="en-US" dirty="0" smtClean="0"/>
              <a:t>0b00010001,</a:t>
            </a:r>
          </a:p>
          <a:p>
            <a:r>
              <a:rPr lang="en-US" dirty="0" smtClean="0"/>
              <a:t>0b00010001,</a:t>
            </a:r>
          </a:p>
          <a:p>
            <a:r>
              <a:rPr lang="en-US" dirty="0" smtClean="0"/>
              <a:t>0b00011111,</a:t>
            </a:r>
          </a:p>
          <a:p>
            <a:r>
              <a:rPr lang="en-US" dirty="0" smtClean="0"/>
              <a:t>0b00011111,</a:t>
            </a:r>
          </a:p>
          <a:p>
            <a:r>
              <a:rPr lang="en-US" dirty="0" smtClean="0"/>
              <a:t>0b00011111</a:t>
            </a:r>
          </a:p>
          <a:p>
            <a:r>
              <a:rPr lang="en-US" dirty="0" smtClean="0"/>
              <a:t>};</a:t>
            </a:r>
          </a:p>
          <a:p>
            <a:r>
              <a:rPr lang="en-US" dirty="0" smtClean="0"/>
              <a:t>byte smiley3[8] = {</a:t>
            </a:r>
          </a:p>
          <a:p>
            <a:r>
              <a:rPr lang="en-US" dirty="0" smtClean="0"/>
              <a:t>0b00001110,</a:t>
            </a:r>
          </a:p>
          <a:p>
            <a:r>
              <a:rPr lang="en-US" dirty="0" smtClean="0"/>
              <a:t>0b00010001,</a:t>
            </a:r>
          </a:p>
          <a:p>
            <a:r>
              <a:rPr lang="en-US" dirty="0" smtClean="0"/>
              <a:t>OWHS</a:t>
            </a:r>
          </a:p>
          <a:p>
            <a:r>
              <a:rPr lang="en-US" dirty="0" smtClean="0"/>
              <a:t>0b00010001,</a:t>
            </a:r>
          </a:p>
          <a:p>
            <a:r>
              <a:rPr lang="en-US" dirty="0" smtClean="0"/>
              <a:t>0b00010001,</a:t>
            </a:r>
          </a:p>
          <a:p>
            <a:r>
              <a:rPr lang="en-US" dirty="0" smtClean="0"/>
              <a:t>0b00011111,</a:t>
            </a:r>
          </a:p>
          <a:p>
            <a:r>
              <a:rPr lang="en-US" dirty="0" smtClean="0"/>
              <a:t>0b00011111,</a:t>
            </a:r>
          </a:p>
          <a:p>
            <a:r>
              <a:rPr lang="en-US" dirty="0" smtClean="0"/>
              <a:t>0b00011111,</a:t>
            </a:r>
          </a:p>
          <a:p>
            <a:r>
              <a:rPr lang="en-US" dirty="0" smtClean="0"/>
              <a:t>0b00011111</a:t>
            </a:r>
          </a:p>
          <a:p>
            <a:r>
              <a:rPr lang="en-US" dirty="0" smtClean="0"/>
              <a:t>};</a:t>
            </a:r>
          </a:p>
          <a:p>
            <a:r>
              <a:rPr lang="en-US" dirty="0" smtClean="0"/>
              <a:t>byte smiley4[8] = {</a:t>
            </a:r>
          </a:p>
          <a:p>
            <a:r>
              <a:rPr lang="en-US" dirty="0" smtClean="0"/>
              <a:t>0b00001110,</a:t>
            </a:r>
          </a:p>
          <a:p>
            <a:r>
              <a:rPr lang="en-US" dirty="0" smtClean="0"/>
              <a:t>0b00010001,</a:t>
            </a:r>
          </a:p>
          <a:p>
            <a:r>
              <a:rPr lang="en-US" dirty="0" smtClean="0"/>
              <a:t>0b00010001,</a:t>
            </a:r>
          </a:p>
          <a:p>
            <a:r>
              <a:rPr lang="en-US" dirty="0" smtClean="0"/>
              <a:t>0b00011111,</a:t>
            </a:r>
          </a:p>
          <a:p>
            <a:r>
              <a:rPr lang="en-US" dirty="0" smtClean="0"/>
              <a:t>0b00011111,</a:t>
            </a:r>
          </a:p>
          <a:p>
            <a:r>
              <a:rPr lang="en-US" dirty="0" smtClean="0"/>
              <a:t>0b00011111,</a:t>
            </a:r>
          </a:p>
          <a:p>
            <a:r>
              <a:rPr lang="en-US" dirty="0" smtClean="0"/>
              <a:t>0b00011111,</a:t>
            </a:r>
          </a:p>
          <a:p>
            <a:r>
              <a:rPr lang="en-US" dirty="0" smtClean="0"/>
              <a:t>0b00011111</a:t>
            </a:r>
          </a:p>
          <a:p>
            <a:r>
              <a:rPr lang="en-US" dirty="0" smtClean="0"/>
              <a:t>};</a:t>
            </a:r>
          </a:p>
          <a:p>
            <a:r>
              <a:rPr lang="en-US" dirty="0" smtClean="0"/>
              <a:t>byte smiley5[8] = {</a:t>
            </a:r>
          </a:p>
          <a:p>
            <a:r>
              <a:rPr lang="en-US" dirty="0" smtClean="0"/>
              <a:t>0b00001110,</a:t>
            </a:r>
          </a:p>
          <a:p>
            <a:r>
              <a:rPr lang="en-US" dirty="0" smtClean="0"/>
              <a:t>0b00010001,</a:t>
            </a:r>
          </a:p>
          <a:p>
            <a:r>
              <a:rPr lang="en-US" dirty="0" smtClean="0"/>
              <a:t>0b00011111,</a:t>
            </a:r>
          </a:p>
          <a:p>
            <a:r>
              <a:rPr lang="en-US" dirty="0" smtClean="0"/>
              <a:t>0b00011111,</a:t>
            </a:r>
          </a:p>
          <a:p>
            <a:r>
              <a:rPr lang="en-US" dirty="0" smtClean="0"/>
              <a:t>0b00011111,</a:t>
            </a:r>
          </a:p>
          <a:p>
            <a:r>
              <a:rPr lang="en-US" dirty="0" smtClean="0"/>
              <a:t>0b00011111, PUS</a:t>
            </a:r>
          </a:p>
          <a:p>
            <a:r>
              <a:rPr lang="en-US" dirty="0" smtClean="0"/>
              <a:t>Ob00011111,</a:t>
            </a:r>
          </a:p>
          <a:p>
            <a:r>
              <a:rPr lang="en-US" dirty="0" smtClean="0"/>
              <a:t>0b00011111</a:t>
            </a:r>
          </a:p>
          <a:p>
            <a:r>
              <a:rPr lang="en-US" dirty="0" smtClean="0"/>
              <a:t>};</a:t>
            </a:r>
          </a:p>
          <a:p>
            <a:r>
              <a:rPr lang="en-US" dirty="0" smtClean="0"/>
              <a:t>byte smiley6[8] = {</a:t>
            </a:r>
          </a:p>
          <a:p>
            <a:r>
              <a:rPr lang="en-US" dirty="0" smtClean="0"/>
              <a:t>0b00001110,</a:t>
            </a:r>
          </a:p>
          <a:p>
            <a:r>
              <a:rPr lang="en-US" dirty="0" smtClean="0"/>
              <a:t>0b00011111,</a:t>
            </a:r>
          </a:p>
          <a:p>
            <a:r>
              <a:rPr lang="en-US" dirty="0" smtClean="0"/>
              <a:t>0b00011111,</a:t>
            </a:r>
          </a:p>
          <a:p>
            <a:r>
              <a:rPr lang="en-US" dirty="0" smtClean="0"/>
              <a:t>0b00011111,</a:t>
            </a:r>
          </a:p>
          <a:p>
            <a:r>
              <a:rPr lang="en-US" dirty="0" smtClean="0"/>
              <a:t>0b00011111,</a:t>
            </a:r>
          </a:p>
          <a:p>
            <a:r>
              <a:rPr lang="en-US" dirty="0" smtClean="0"/>
              <a:t>0b00011111,</a:t>
            </a:r>
          </a:p>
          <a:p>
            <a:r>
              <a:rPr lang="en-US" dirty="0" smtClean="0"/>
              <a:t>0b00011111,</a:t>
            </a:r>
          </a:p>
          <a:p>
            <a:r>
              <a:rPr lang="en-US" dirty="0" smtClean="0"/>
              <a:t>0b00011111</a:t>
            </a:r>
          </a:p>
          <a:p>
            <a:r>
              <a:rPr lang="en-US" dirty="0" smtClean="0"/>
              <a:t>};</a:t>
            </a:r>
          </a:p>
          <a:p>
            <a:r>
              <a:rPr lang="en-US" dirty="0" smtClean="0"/>
              <a:t>byte smiley7[8] = {</a:t>
            </a:r>
          </a:p>
          <a:p>
            <a:r>
              <a:rPr lang="en-US" dirty="0" smtClean="0"/>
              <a:t>B00000,</a:t>
            </a:r>
          </a:p>
          <a:p>
            <a:r>
              <a:rPr lang="en-US" dirty="0" smtClean="0"/>
              <a:t>B10001,</a:t>
            </a:r>
          </a:p>
          <a:p>
            <a:r>
              <a:rPr lang="en-US" dirty="0" smtClean="0"/>
              <a:t>B00000,</a:t>
            </a:r>
          </a:p>
          <a:p>
            <a:r>
              <a:rPr lang="en-US" dirty="0" smtClean="0"/>
              <a:t>B00000,</a:t>
            </a:r>
          </a:p>
          <a:p>
            <a:r>
              <a:rPr lang="en-US" dirty="0" smtClean="0"/>
              <a:t>B10001,</a:t>
            </a:r>
          </a:p>
          <a:p>
            <a:r>
              <a:rPr lang="en-US" dirty="0" smtClean="0"/>
              <a:t>B01110,</a:t>
            </a:r>
          </a:p>
          <a:p>
            <a:r>
              <a:rPr lang="en-US" dirty="0" smtClean="0"/>
              <a:t>B00000,</a:t>
            </a:r>
          </a:p>
          <a:p>
            <a:r>
              <a:rPr lang="en-US" dirty="0" smtClean="0"/>
              <a:t>3;</a:t>
            </a:r>
          </a:p>
          <a:p>
            <a:r>
              <a:rPr lang="en-US" dirty="0" smtClean="0"/>
              <a:t>void nada</a:t>
            </a:r>
            <a:r>
              <a:rPr lang="az-Cyrl-AZ" dirty="0" smtClean="0"/>
              <a:t>О{</a:t>
            </a:r>
          </a:p>
          <a:p>
            <a:r>
              <a:rPr lang="en-US" dirty="0" smtClean="0"/>
              <a:t>if(</a:t>
            </a:r>
            <a:r>
              <a:rPr lang="en-US" dirty="0" err="1" smtClean="0"/>
              <a:t>run_nada</a:t>
            </a:r>
            <a:r>
              <a:rPr lang="en-US" dirty="0" smtClean="0"/>
              <a:t>==1)</a:t>
            </a:r>
          </a:p>
          <a:p>
            <a:r>
              <a:rPr lang="en-US" dirty="0" smtClean="0"/>
              <a:t>{</a:t>
            </a:r>
          </a:p>
          <a:p>
            <a:r>
              <a:rPr lang="en-US" dirty="0" err="1" smtClean="0"/>
              <a:t>digitalWrite</a:t>
            </a:r>
            <a:r>
              <a:rPr lang="en-US" dirty="0" smtClean="0"/>
              <a:t>(buzz, HIGH);</a:t>
            </a:r>
          </a:p>
          <a:p>
            <a:r>
              <a:rPr lang="en-US" dirty="0" smtClean="0"/>
              <a:t>delay(500);</a:t>
            </a:r>
          </a:p>
          <a:p>
            <a:r>
              <a:rPr lang="en-US" dirty="0" err="1" smtClean="0"/>
              <a:t>digitalWrite</a:t>
            </a:r>
            <a:r>
              <a:rPr lang="en-US" dirty="0" smtClean="0"/>
              <a:t>(buzz, LOW);</a:t>
            </a:r>
          </a:p>
          <a:p>
            <a:r>
              <a:rPr lang="en-US" dirty="0" smtClean="0"/>
              <a:t>delay(500);</a:t>
            </a:r>
          </a:p>
          <a:p>
            <a:r>
              <a:rPr lang="en-US" dirty="0" err="1" smtClean="0"/>
              <a:t>digitalWrite</a:t>
            </a:r>
            <a:r>
              <a:rPr lang="en-US" dirty="0" smtClean="0"/>
              <a:t>(</a:t>
            </a:r>
            <a:r>
              <a:rPr lang="en-US" dirty="0" err="1" smtClean="0"/>
              <a:t>buzz,HIGH</a:t>
            </a:r>
            <a:r>
              <a:rPr lang="en-US" dirty="0" smtClean="0"/>
              <a:t>);</a:t>
            </a:r>
          </a:p>
          <a:p>
            <a:r>
              <a:rPr lang="en-US" dirty="0" smtClean="0"/>
              <a:t>delay(500);</a:t>
            </a:r>
          </a:p>
          <a:p>
            <a:r>
              <a:rPr lang="en-US" dirty="0" err="1" smtClean="0"/>
              <a:t>digitalWrite</a:t>
            </a:r>
            <a:r>
              <a:rPr lang="en-US" dirty="0" smtClean="0"/>
              <a:t>(</a:t>
            </a:r>
            <a:r>
              <a:rPr lang="en-US" dirty="0" err="1" smtClean="0"/>
              <a:t>buzz,LOW</a:t>
            </a:r>
            <a:r>
              <a:rPr lang="en-US" dirty="0" smtClean="0"/>
              <a:t>);</a:t>
            </a:r>
          </a:p>
          <a:p>
            <a:r>
              <a:rPr lang="en-US" dirty="0" smtClean="0"/>
              <a:t>delay(500);</a:t>
            </a:r>
          </a:p>
          <a:p>
            <a:r>
              <a:rPr lang="en-US" dirty="0" smtClean="0"/>
              <a:t>else</a:t>
            </a:r>
          </a:p>
          <a:p>
            <a:r>
              <a:rPr lang="en-US" dirty="0" smtClean="0"/>
              <a:t>if(</a:t>
            </a:r>
            <a:r>
              <a:rPr lang="en-US" dirty="0" err="1" smtClean="0"/>
              <a:t>run_nada</a:t>
            </a:r>
            <a:r>
              <a:rPr lang="en-US" dirty="0" smtClean="0"/>
              <a:t>==0)</a:t>
            </a:r>
          </a:p>
          <a:p>
            <a:r>
              <a:rPr lang="en-US" dirty="0" smtClean="0"/>
              <a:t>{</a:t>
            </a:r>
          </a:p>
          <a:p>
            <a:r>
              <a:rPr lang="en-US" dirty="0" err="1" smtClean="0"/>
              <a:t>digitalWrite</a:t>
            </a:r>
            <a:r>
              <a:rPr lang="en-US" dirty="0" smtClean="0"/>
              <a:t>(buzz, HIGH);</a:t>
            </a:r>
          </a:p>
          <a:p>
            <a:r>
              <a:rPr lang="en-US" dirty="0" smtClean="0"/>
              <a:t>delay(500);</a:t>
            </a:r>
          </a:p>
          <a:p>
            <a:r>
              <a:rPr lang="en-US" dirty="0" err="1" smtClean="0"/>
              <a:t>digitalWrite</a:t>
            </a:r>
            <a:r>
              <a:rPr lang="en-US" dirty="0" smtClean="0"/>
              <a:t>(</a:t>
            </a:r>
            <a:r>
              <a:rPr lang="en-US" dirty="0" err="1" smtClean="0"/>
              <a:t>buzz,LOW</a:t>
            </a:r>
            <a:r>
              <a:rPr lang="en-US" dirty="0" smtClean="0"/>
              <a:t>);</a:t>
            </a:r>
          </a:p>
          <a:p>
            <a:r>
              <a:rPr lang="en-US" dirty="0" smtClean="0"/>
              <a:t>delay(500);</a:t>
            </a:r>
          </a:p>
          <a:p>
            <a:r>
              <a:rPr lang="en-US" dirty="0" smtClean="0"/>
              <a:t>else</a:t>
            </a:r>
          </a:p>
          <a:p>
            <a:r>
              <a:rPr lang="en-US" dirty="0" smtClean="0"/>
              <a:t>run nada=0;</a:t>
            </a:r>
          </a:p>
          <a:p>
            <a:r>
              <a:rPr lang="en-US" dirty="0" smtClean="0"/>
              <a:t>//battery);</a:t>
            </a:r>
          </a:p>
          <a:p>
            <a:r>
              <a:rPr lang="en-US" dirty="0" smtClean="0"/>
              <a:t>void battery()</a:t>
            </a:r>
          </a:p>
          <a:p>
            <a:r>
              <a:rPr lang="en-US" dirty="0" err="1" smtClean="0"/>
              <a:t>battpenuh</a:t>
            </a:r>
            <a:r>
              <a:rPr lang="en-US" dirty="0" smtClean="0"/>
              <a:t>=1024/5*3.8;</a:t>
            </a:r>
          </a:p>
          <a:p>
            <a:r>
              <a:rPr lang="en-US" dirty="0" err="1" smtClean="0"/>
              <a:t>nilai_batt-analogRead</a:t>
            </a:r>
            <a:r>
              <a:rPr lang="en-US" dirty="0" smtClean="0"/>
              <a:t>(batt);</a:t>
            </a:r>
          </a:p>
          <a:p>
            <a:r>
              <a:rPr lang="en-US" dirty="0" smtClean="0"/>
              <a:t>m batt=0.85470085;</a:t>
            </a:r>
          </a:p>
          <a:p>
            <a:r>
              <a:rPr lang="en-US" dirty="0" err="1" smtClean="0"/>
              <a:t>o_batt</a:t>
            </a:r>
            <a:r>
              <a:rPr lang="en-US" dirty="0" smtClean="0"/>
              <a:t>=-615.3846;</a:t>
            </a:r>
          </a:p>
          <a:p>
            <a:r>
              <a:rPr lang="en-US" dirty="0" err="1" smtClean="0"/>
              <a:t>persen_batt</a:t>
            </a:r>
            <a:r>
              <a:rPr lang="en-US" dirty="0" smtClean="0"/>
              <a:t>=(</a:t>
            </a:r>
            <a:r>
              <a:rPr lang="en-US" dirty="0" err="1" smtClean="0"/>
              <a:t>nilai_batt</a:t>
            </a:r>
            <a:r>
              <a:rPr lang="en-US" dirty="0" smtClean="0"/>
              <a:t>*</a:t>
            </a:r>
            <a:r>
              <a:rPr lang="en-US" dirty="0" err="1" smtClean="0"/>
              <a:t>m_batt</a:t>
            </a:r>
            <a:r>
              <a:rPr lang="en-US" dirty="0" smtClean="0"/>
              <a:t>)+</a:t>
            </a:r>
            <a:r>
              <a:rPr lang="en-US" dirty="0" err="1" smtClean="0"/>
              <a:t>o_batt</a:t>
            </a:r>
            <a:r>
              <a:rPr lang="en-US" dirty="0" smtClean="0"/>
              <a:t>;</a:t>
            </a:r>
          </a:p>
          <a:p>
            <a:r>
              <a:rPr lang="en-US" dirty="0" smtClean="0"/>
              <a:t>//</a:t>
            </a:r>
            <a:r>
              <a:rPr lang="en-US" dirty="0" err="1" smtClean="0"/>
              <a:t>nilai</a:t>
            </a:r>
            <a:r>
              <a:rPr lang="en-US" dirty="0" smtClean="0"/>
              <a:t> batt=740;</a:t>
            </a:r>
          </a:p>
          <a:p>
            <a:r>
              <a:rPr lang="en-US" dirty="0" err="1" smtClean="0"/>
              <a:t>tegangan</a:t>
            </a:r>
            <a:r>
              <a:rPr lang="en-US" dirty="0" smtClean="0"/>
              <a:t>=</a:t>
            </a:r>
            <a:r>
              <a:rPr lang="en-US" dirty="0" err="1" smtClean="0"/>
              <a:t>nilai_batt</a:t>
            </a:r>
            <a:r>
              <a:rPr lang="en-US" dirty="0" smtClean="0"/>
              <a:t>/204.6;</a:t>
            </a:r>
          </a:p>
          <a:p>
            <a:r>
              <a:rPr lang="en-US" dirty="0" err="1" smtClean="0"/>
              <a:t>tegangan-tegangan</a:t>
            </a:r>
            <a:r>
              <a:rPr lang="en-US" dirty="0" smtClean="0"/>
              <a:t>*2;</a:t>
            </a:r>
          </a:p>
          <a:p>
            <a:r>
              <a:rPr lang="en-US" dirty="0" err="1" smtClean="0"/>
              <a:t>lcd.setCursor</a:t>
            </a:r>
            <a:r>
              <a:rPr lang="en-US" dirty="0" smtClean="0"/>
              <a:t>(18,0);</a:t>
            </a:r>
          </a:p>
          <a:p>
            <a:r>
              <a:rPr lang="en-US" dirty="0" err="1" smtClean="0"/>
              <a:t>Icd.print</a:t>
            </a:r>
            <a:r>
              <a:rPr lang="en-US" dirty="0" smtClean="0"/>
              <a:t>("%");</a:t>
            </a:r>
          </a:p>
          <a:p>
            <a:r>
              <a:rPr lang="en-US" dirty="0" smtClean="0"/>
              <a:t>if(</a:t>
            </a:r>
            <a:r>
              <a:rPr lang="en-US" dirty="0" err="1" smtClean="0"/>
              <a:t>nilai_batt</a:t>
            </a:r>
            <a:r>
              <a:rPr lang="en-US" dirty="0" smtClean="0"/>
              <a:t>&gt;=836){</a:t>
            </a:r>
            <a:r>
              <a:rPr lang="en-US" dirty="0" err="1" smtClean="0"/>
              <a:t>persen_batt</a:t>
            </a:r>
            <a:r>
              <a:rPr lang="en-US" dirty="0" smtClean="0"/>
              <a:t>=100;}</a:t>
            </a:r>
          </a:p>
          <a:p>
            <a:r>
              <a:rPr lang="en-US" dirty="0" smtClean="0"/>
              <a:t>if(</a:t>
            </a:r>
            <a:r>
              <a:rPr lang="en-US" dirty="0" err="1" smtClean="0"/>
              <a:t>persen_batt</a:t>
            </a:r>
            <a:r>
              <a:rPr lang="en-US" dirty="0" smtClean="0"/>
              <a:t>&lt;100){</a:t>
            </a:r>
            <a:r>
              <a:rPr lang="en-US" dirty="0" err="1" smtClean="0"/>
              <a:t>lcd.setCursor</a:t>
            </a:r>
            <a:r>
              <a:rPr lang="en-US" dirty="0" smtClean="0"/>
              <a:t>(17,0);</a:t>
            </a:r>
            <a:r>
              <a:rPr lang="en-US" dirty="0" err="1" smtClean="0"/>
              <a:t>lcd.print</a:t>
            </a:r>
            <a:r>
              <a:rPr lang="en-US" dirty="0" smtClean="0"/>
              <a:t>(');}</a:t>
            </a:r>
          </a:p>
          <a:p>
            <a:r>
              <a:rPr lang="en-US" dirty="0" err="1" smtClean="0"/>
              <a:t>lcd.setCursor</a:t>
            </a:r>
            <a:r>
              <a:rPr lang="en-US" dirty="0" smtClean="0"/>
              <a:t>(15,0);</a:t>
            </a:r>
          </a:p>
          <a:p>
            <a:r>
              <a:rPr lang="en-US" dirty="0" err="1" smtClean="0"/>
              <a:t>lcd.print</a:t>
            </a:r>
            <a:r>
              <a:rPr lang="en-US" dirty="0" smtClean="0"/>
              <a:t>(</a:t>
            </a:r>
            <a:r>
              <a:rPr lang="en-US" dirty="0" err="1" smtClean="0"/>
              <a:t>persen_batt</a:t>
            </a:r>
            <a:r>
              <a:rPr lang="en-US" dirty="0" smtClean="0"/>
              <a:t>, 1);</a:t>
            </a:r>
          </a:p>
          <a:p>
            <a:r>
              <a:rPr lang="en-US" dirty="0" smtClean="0"/>
              <a:t>//</a:t>
            </a:r>
            <a:r>
              <a:rPr lang="en-US" dirty="0" err="1" smtClean="0"/>
              <a:t>lcd.setCursor</a:t>
            </a:r>
            <a:r>
              <a:rPr lang="en-US" dirty="0" smtClean="0"/>
              <a:t>(10,3);</a:t>
            </a:r>
          </a:p>
          <a:p>
            <a:r>
              <a:rPr lang="en-US" dirty="0" smtClean="0"/>
              <a:t>//</a:t>
            </a:r>
            <a:r>
              <a:rPr lang="en-US" dirty="0" err="1" smtClean="0"/>
              <a:t>lcd.print</a:t>
            </a:r>
            <a:r>
              <a:rPr lang="en-US" dirty="0" smtClean="0"/>
              <a:t>(</a:t>
            </a:r>
            <a:r>
              <a:rPr lang="en-US" dirty="0" err="1" smtClean="0"/>
              <a:t>nilai_batt</a:t>
            </a:r>
            <a:r>
              <a:rPr lang="en-US" dirty="0" smtClean="0"/>
              <a:t>);</a:t>
            </a:r>
          </a:p>
          <a:p>
            <a:r>
              <a:rPr lang="en-US" dirty="0" err="1" smtClean="0"/>
              <a:t>Icd.setCursor</a:t>
            </a:r>
            <a:r>
              <a:rPr lang="en-US" dirty="0" smtClean="0"/>
              <a:t>(8,0);</a:t>
            </a:r>
          </a:p>
          <a:p>
            <a:r>
              <a:rPr lang="en-US" dirty="0" err="1" smtClean="0"/>
              <a:t>lcd.print</a:t>
            </a:r>
            <a:r>
              <a:rPr lang="en-US" dirty="0" smtClean="0"/>
              <a:t>(tegangan,2);</a:t>
            </a:r>
          </a:p>
          <a:p>
            <a:r>
              <a:rPr lang="en-US" dirty="0" smtClean="0"/>
              <a:t>if((</a:t>
            </a:r>
            <a:r>
              <a:rPr lang="en-US" dirty="0" err="1" smtClean="0"/>
              <a:t>nilai_batt</a:t>
            </a:r>
            <a:r>
              <a:rPr lang="en-US" dirty="0" smtClean="0"/>
              <a:t>&gt;835)&amp;&amp;(</a:t>
            </a:r>
            <a:r>
              <a:rPr lang="en-US" dirty="0" err="1" smtClean="0"/>
              <a:t>nilai_batt</a:t>
            </a:r>
            <a:r>
              <a:rPr lang="en-US" dirty="0" smtClean="0"/>
              <a:t>&lt;=1023)){</a:t>
            </a:r>
          </a:p>
          <a:p>
            <a:r>
              <a:rPr lang="en-US" dirty="0" err="1" smtClean="0"/>
              <a:t>lcd.createChar</a:t>
            </a:r>
            <a:r>
              <a:rPr lang="en-US" dirty="0" smtClean="0"/>
              <a:t>(0, smiley6);</a:t>
            </a:r>
          </a:p>
          <a:p>
            <a:r>
              <a:rPr lang="en-US" dirty="0" err="1" smtClean="0"/>
              <a:t>lcd.setCursor</a:t>
            </a:r>
            <a:r>
              <a:rPr lang="en-US" dirty="0" smtClean="0"/>
              <a:t>(19,0);</a:t>
            </a:r>
          </a:p>
          <a:p>
            <a:r>
              <a:rPr lang="en-US" dirty="0" err="1" smtClean="0"/>
              <a:t>lcd.write</a:t>
            </a:r>
            <a:r>
              <a:rPr lang="en-US" dirty="0" smtClean="0"/>
              <a:t>(byte(0));</a:t>
            </a:r>
          </a:p>
          <a:p>
            <a:r>
              <a:rPr lang="en-US" dirty="0" smtClean="0"/>
              <a:t>else</a:t>
            </a:r>
          </a:p>
          <a:p>
            <a:r>
              <a:rPr lang="en-US" dirty="0" smtClean="0"/>
              <a:t>if((</a:t>
            </a:r>
            <a:r>
              <a:rPr lang="en-US" dirty="0" err="1" smtClean="0"/>
              <a:t>nilai_batt</a:t>
            </a:r>
            <a:r>
              <a:rPr lang="en-US" dirty="0" smtClean="0"/>
              <a:t>&gt;780)&amp;&amp;(</a:t>
            </a:r>
            <a:r>
              <a:rPr lang="en-US" dirty="0" err="1" smtClean="0"/>
              <a:t>nilai_batt</a:t>
            </a:r>
            <a:r>
              <a:rPr lang="en-US" dirty="0" smtClean="0"/>
              <a:t>&lt;=835)){</a:t>
            </a:r>
          </a:p>
          <a:p>
            <a:r>
              <a:rPr lang="en-US" dirty="0" err="1" smtClean="0"/>
              <a:t>lcd.createChar</a:t>
            </a:r>
            <a:r>
              <a:rPr lang="en-US" dirty="0" smtClean="0"/>
              <a:t>(0, smiley5);</a:t>
            </a:r>
          </a:p>
          <a:p>
            <a:r>
              <a:rPr lang="en-US" dirty="0" err="1" smtClean="0"/>
              <a:t>lcd.setCursor</a:t>
            </a:r>
            <a:r>
              <a:rPr lang="en-US" dirty="0" smtClean="0"/>
              <a:t>(19,0);</a:t>
            </a:r>
          </a:p>
          <a:p>
            <a:r>
              <a:rPr lang="en-US" dirty="0" err="1" smtClean="0"/>
              <a:t>lcd.write</a:t>
            </a:r>
            <a:r>
              <a:rPr lang="en-US" dirty="0" smtClean="0"/>
              <a:t>(byte(0));</a:t>
            </a:r>
          </a:p>
          <a:p>
            <a:r>
              <a:rPr lang="en-US" dirty="0" smtClean="0"/>
              <a:t>else</a:t>
            </a:r>
          </a:p>
          <a:p>
            <a:r>
              <a:rPr lang="en-US" dirty="0" smtClean="0"/>
              <a:t>if((</a:t>
            </a:r>
            <a:r>
              <a:rPr lang="en-US" dirty="0" err="1" smtClean="0"/>
              <a:t>nilai_batt</a:t>
            </a:r>
            <a:r>
              <a:rPr lang="en-US" dirty="0" smtClean="0"/>
              <a:t>&gt;740)&amp;&amp;(</a:t>
            </a:r>
            <a:r>
              <a:rPr lang="en-US" dirty="0" err="1" smtClean="0"/>
              <a:t>nilai_batt</a:t>
            </a:r>
            <a:r>
              <a:rPr lang="en-US" dirty="0" smtClean="0"/>
              <a:t>&lt;=780)){</a:t>
            </a:r>
          </a:p>
          <a:p>
            <a:r>
              <a:rPr lang="en-US" dirty="0" err="1" smtClean="0"/>
              <a:t>lcd.createChar</a:t>
            </a:r>
            <a:r>
              <a:rPr lang="en-US" dirty="0" smtClean="0"/>
              <a:t>(0, smiley4);</a:t>
            </a:r>
          </a:p>
          <a:p>
            <a:r>
              <a:rPr lang="en-US" dirty="0" err="1" smtClean="0"/>
              <a:t>lcd.setCursor</a:t>
            </a:r>
            <a:r>
              <a:rPr lang="en-US" dirty="0" smtClean="0"/>
              <a:t>(19,0);</a:t>
            </a:r>
          </a:p>
          <a:p>
            <a:r>
              <a:rPr lang="en-US" dirty="0" err="1" smtClean="0"/>
              <a:t>lcd.write</a:t>
            </a:r>
            <a:r>
              <a:rPr lang="en-US" dirty="0" smtClean="0"/>
              <a:t>(byte(0));</a:t>
            </a:r>
          </a:p>
          <a:p>
            <a:r>
              <a:rPr lang="en-US" dirty="0" smtClean="0"/>
              <a:t>else</a:t>
            </a:r>
          </a:p>
          <a:p>
            <a:r>
              <a:rPr lang="en-US" dirty="0" smtClean="0"/>
              <a:t>if((</a:t>
            </a:r>
            <a:r>
              <a:rPr lang="en-US" dirty="0" err="1" smtClean="0"/>
              <a:t>nilai_batt</a:t>
            </a:r>
            <a:r>
              <a:rPr lang="en-US" dirty="0" smtClean="0"/>
              <a:t>&gt;700)&amp;&amp;(</a:t>
            </a:r>
            <a:r>
              <a:rPr lang="en-US" dirty="0" err="1" smtClean="0"/>
              <a:t>nilai_batt</a:t>
            </a:r>
            <a:r>
              <a:rPr lang="en-US" dirty="0" smtClean="0"/>
              <a:t>&lt;=740)){</a:t>
            </a:r>
          </a:p>
          <a:p>
            <a:r>
              <a:rPr lang="en-US" dirty="0" err="1" smtClean="0"/>
              <a:t>lcd.createChar</a:t>
            </a:r>
            <a:r>
              <a:rPr lang="en-US" dirty="0" smtClean="0"/>
              <a:t>(0, smiley3);</a:t>
            </a:r>
          </a:p>
          <a:p>
            <a:r>
              <a:rPr lang="en-US" dirty="0" err="1" smtClean="0"/>
              <a:t>lcd.setCursor</a:t>
            </a:r>
            <a:r>
              <a:rPr lang="en-US" dirty="0" smtClean="0"/>
              <a:t>(19,0);</a:t>
            </a:r>
          </a:p>
          <a:p>
            <a:r>
              <a:rPr lang="en-US" dirty="0" err="1" smtClean="0"/>
              <a:t>lcd.write</a:t>
            </a:r>
            <a:r>
              <a:rPr lang="en-US" dirty="0" smtClean="0"/>
              <a:t>(byte(0));</a:t>
            </a:r>
          </a:p>
          <a:p>
            <a:r>
              <a:rPr lang="en-US" dirty="0" smtClean="0"/>
              <a:t>else</a:t>
            </a:r>
          </a:p>
          <a:p>
            <a:r>
              <a:rPr lang="en-US" dirty="0" smtClean="0"/>
              <a:t>if((</a:t>
            </a:r>
            <a:r>
              <a:rPr lang="en-US" dirty="0" err="1" smtClean="0"/>
              <a:t>nilai</a:t>
            </a:r>
            <a:r>
              <a:rPr lang="en-US" dirty="0" smtClean="0"/>
              <a:t> batt&gt;660)&amp;&amp;(</a:t>
            </a:r>
            <a:r>
              <a:rPr lang="en-US" dirty="0" err="1" smtClean="0"/>
              <a:t>nilai</a:t>
            </a:r>
            <a:r>
              <a:rPr lang="en-US" dirty="0" smtClean="0"/>
              <a:t> batt&lt;=700)){|</a:t>
            </a:r>
          </a:p>
          <a:p>
            <a:r>
              <a:rPr lang="en-US" dirty="0" err="1" smtClean="0"/>
              <a:t>lcd.createChar</a:t>
            </a:r>
            <a:r>
              <a:rPr lang="en-US" dirty="0" smtClean="0"/>
              <a:t>(0, smiley2);</a:t>
            </a:r>
          </a:p>
          <a:p>
            <a:r>
              <a:rPr lang="en-US" dirty="0" err="1" smtClean="0"/>
              <a:t>lcd.setCursor</a:t>
            </a:r>
            <a:r>
              <a:rPr lang="en-US" dirty="0" smtClean="0"/>
              <a:t>(19,0);</a:t>
            </a:r>
          </a:p>
          <a:p>
            <a:r>
              <a:rPr lang="en-US" dirty="0" err="1" smtClean="0"/>
              <a:t>lcd.write</a:t>
            </a:r>
            <a:r>
              <a:rPr lang="en-US" dirty="0" smtClean="0"/>
              <a:t>(byte(0));</a:t>
            </a:r>
          </a:p>
          <a:p>
            <a:r>
              <a:rPr lang="en-US" dirty="0" smtClean="0"/>
              <a:t>}else</a:t>
            </a:r>
          </a:p>
          <a:p>
            <a:r>
              <a:rPr lang="en-US" dirty="0" smtClean="0"/>
              <a:t>if((</a:t>
            </a:r>
            <a:r>
              <a:rPr lang="en-US" dirty="0" err="1" smtClean="0"/>
              <a:t>nilai</a:t>
            </a:r>
            <a:r>
              <a:rPr lang="en-US" dirty="0" smtClean="0"/>
              <a:t> batt&gt;620)&amp;&amp;(</a:t>
            </a:r>
            <a:r>
              <a:rPr lang="en-US" dirty="0" err="1" smtClean="0"/>
              <a:t>nilai_batt</a:t>
            </a:r>
            <a:r>
              <a:rPr lang="en-US" dirty="0" smtClean="0"/>
              <a:t>&lt;=660)){|</a:t>
            </a:r>
          </a:p>
          <a:p>
            <a:r>
              <a:rPr lang="en-US" dirty="0" err="1" smtClean="0"/>
              <a:t>lcd.createChar</a:t>
            </a:r>
            <a:r>
              <a:rPr lang="en-US" dirty="0" smtClean="0"/>
              <a:t>(0, smiley1);</a:t>
            </a:r>
          </a:p>
          <a:p>
            <a:r>
              <a:rPr lang="en-US" dirty="0" err="1" smtClean="0"/>
              <a:t>lcd.setCursor</a:t>
            </a:r>
            <a:r>
              <a:rPr lang="en-US" dirty="0" smtClean="0"/>
              <a:t>(19,0);</a:t>
            </a:r>
          </a:p>
          <a:p>
            <a:r>
              <a:rPr lang="en-US" dirty="0" err="1" smtClean="0"/>
              <a:t>lcd.write</a:t>
            </a:r>
            <a:r>
              <a:rPr lang="en-US" dirty="0" smtClean="0"/>
              <a:t>(byte(0));</a:t>
            </a:r>
          </a:p>
          <a:p>
            <a:r>
              <a:rPr lang="en-US" dirty="0" smtClean="0"/>
              <a:t>}else</a:t>
            </a:r>
          </a:p>
          <a:p>
            <a:r>
              <a:rPr lang="en-US" dirty="0" smtClean="0"/>
              <a:t>if((</a:t>
            </a:r>
            <a:r>
              <a:rPr lang="en-US" dirty="0" err="1" smtClean="0"/>
              <a:t>nilai_batt</a:t>
            </a:r>
            <a:r>
              <a:rPr lang="en-US" dirty="0" smtClean="0"/>
              <a:t>&gt;600)&amp;&amp;(</a:t>
            </a:r>
            <a:r>
              <a:rPr lang="en-US" dirty="0" err="1" smtClean="0"/>
              <a:t>nilai_batt</a:t>
            </a:r>
            <a:r>
              <a:rPr lang="en-US" dirty="0" smtClean="0"/>
              <a:t>&lt;=620)){</a:t>
            </a:r>
          </a:p>
          <a:p>
            <a:r>
              <a:rPr lang="en-US" dirty="0" err="1" smtClean="0"/>
              <a:t>lcd.createChar</a:t>
            </a:r>
            <a:r>
              <a:rPr lang="en-US" dirty="0" smtClean="0"/>
              <a:t>(0, smiley);</a:t>
            </a:r>
          </a:p>
          <a:p>
            <a:r>
              <a:rPr lang="en-US" dirty="0" err="1" smtClean="0"/>
              <a:t>Icd.setCursor</a:t>
            </a:r>
            <a:r>
              <a:rPr lang="en-US" dirty="0" smtClean="0"/>
              <a:t>(19,0);</a:t>
            </a:r>
          </a:p>
          <a:p>
            <a:r>
              <a:rPr lang="en-US" dirty="0" err="1" smtClean="0"/>
              <a:t>lcd.write</a:t>
            </a:r>
            <a:r>
              <a:rPr lang="en-US" dirty="0" smtClean="0"/>
              <a:t>(byte(0));</a:t>
            </a:r>
          </a:p>
          <a:p>
            <a:r>
              <a:rPr lang="en-US" dirty="0" err="1" smtClean="0"/>
              <a:t>lcd.setCursor</a:t>
            </a:r>
            <a:r>
              <a:rPr lang="en-US" dirty="0" smtClean="0"/>
              <a:t>(18,0);</a:t>
            </a:r>
          </a:p>
          <a:p>
            <a:r>
              <a:rPr lang="en-US" dirty="0" err="1" smtClean="0"/>
              <a:t>Icd.print</a:t>
            </a:r>
            <a:r>
              <a:rPr lang="en-US" dirty="0" smtClean="0"/>
              <a:t>("!");</a:t>
            </a:r>
          </a:p>
          <a:p>
            <a:r>
              <a:rPr lang="en-US" dirty="0" smtClean="0"/>
              <a:t>nada);</a:t>
            </a:r>
          </a:p>
          <a:p>
            <a:r>
              <a:rPr lang="en-US" dirty="0" smtClean="0"/>
              <a:t>else</a:t>
            </a:r>
          </a:p>
          <a:p>
            <a:r>
              <a:rPr lang="en-US" dirty="0" smtClean="0"/>
              <a:t>delay(20);</a:t>
            </a:r>
          </a:p>
          <a:p>
            <a:endParaRPr lang="en-US" dirty="0" smtClean="0"/>
          </a:p>
          <a:p>
            <a:r>
              <a:rPr lang="en-US" dirty="0" smtClean="0"/>
              <a:t>}</a:t>
            </a:r>
          </a:p>
          <a:p>
            <a:r>
              <a:rPr lang="en-US" dirty="0" smtClean="0"/>
              <a:t>void </a:t>
            </a:r>
            <a:r>
              <a:rPr lang="en-US" dirty="0" err="1" smtClean="0"/>
              <a:t>idel</a:t>
            </a:r>
            <a:r>
              <a:rPr lang="en-US" dirty="0" smtClean="0"/>
              <a:t>(O</a:t>
            </a:r>
          </a:p>
          <a:p>
            <a:r>
              <a:rPr lang="en-US" dirty="0" smtClean="0"/>
              <a:t>}</a:t>
            </a:r>
          </a:p>
          <a:p>
            <a:r>
              <a:rPr lang="en-US" dirty="0" err="1" smtClean="0"/>
              <a:t>lcd.setCursor</a:t>
            </a:r>
            <a:r>
              <a:rPr lang="en-US" dirty="0" smtClean="0"/>
              <a:t>(0,0);</a:t>
            </a:r>
          </a:p>
          <a:p>
            <a:r>
              <a:rPr lang="en-US" dirty="0" err="1" smtClean="0"/>
              <a:t>lcd.print</a:t>
            </a:r>
            <a:r>
              <a:rPr lang="en-US" dirty="0" smtClean="0"/>
              <a:t>("NS= | V ");</a:t>
            </a:r>
          </a:p>
          <a:p>
            <a:r>
              <a:rPr lang="en-US" dirty="0" err="1" smtClean="0"/>
              <a:t>Icd.setCursor</a:t>
            </a:r>
            <a:r>
              <a:rPr lang="en-US" dirty="0" smtClean="0"/>
              <a:t>(0,1);</a:t>
            </a:r>
          </a:p>
          <a:p>
            <a:r>
              <a:rPr lang="en-US" dirty="0" err="1" smtClean="0"/>
              <a:t>Icd.print</a:t>
            </a:r>
            <a:r>
              <a:rPr lang="en-US" dirty="0" smtClean="0"/>
              <a:t>(" ||VD= ");</a:t>
            </a:r>
          </a:p>
          <a:p>
            <a:r>
              <a:rPr lang="en-US" dirty="0" err="1" smtClean="0"/>
              <a:t>lcd.setCursor</a:t>
            </a:r>
            <a:r>
              <a:rPr lang="en-US" dirty="0" smtClean="0"/>
              <a:t>(0,2);</a:t>
            </a:r>
          </a:p>
          <a:p>
            <a:r>
              <a:rPr lang="en-US" dirty="0" err="1" smtClean="0"/>
              <a:t>Icd.print</a:t>
            </a:r>
            <a:r>
              <a:rPr lang="en-US" dirty="0" smtClean="0"/>
              <a:t>("</a:t>
            </a:r>
            <a:r>
              <a:rPr lang="en-US" dirty="0" err="1" smtClean="0"/>
              <a:t>N.Densito</a:t>
            </a:r>
            <a:r>
              <a:rPr lang="en-US" dirty="0" smtClean="0"/>
              <a:t>=</a:t>
            </a:r>
          </a:p>
          <a:p>
            <a:r>
              <a:rPr lang="en-US" dirty="0" err="1" smtClean="0"/>
              <a:t>lcd.setCursor</a:t>
            </a:r>
            <a:r>
              <a:rPr lang="en-US" dirty="0" smtClean="0"/>
              <a:t>(0,3);</a:t>
            </a:r>
          </a:p>
          <a:p>
            <a:r>
              <a:rPr lang="en-US" dirty="0" smtClean="0"/>
              <a:t>||");</a:t>
            </a:r>
          </a:p>
          <a:p>
            <a:r>
              <a:rPr lang="en-US" dirty="0" err="1" smtClean="0"/>
              <a:t>lcd.print</a:t>
            </a:r>
            <a:r>
              <a:rPr lang="en-US" dirty="0" smtClean="0"/>
              <a:t>("==</a:t>
            </a:r>
            <a:r>
              <a:rPr lang="en-US" dirty="0" err="1" smtClean="0"/>
              <a:t>Posisikan</a:t>
            </a:r>
            <a:r>
              <a:rPr lang="en-US" dirty="0" smtClean="0"/>
              <a:t> Sensor==");</a:t>
            </a:r>
          </a:p>
          <a:p>
            <a:r>
              <a:rPr lang="en-US" dirty="0" smtClean="0"/>
              <a:t>delay(1000);</a:t>
            </a:r>
          </a:p>
          <a:p>
            <a:r>
              <a:rPr lang="en-US" dirty="0" smtClean="0"/>
              <a:t>void </a:t>
            </a:r>
            <a:r>
              <a:rPr lang="en-US" dirty="0" err="1" smtClean="0"/>
              <a:t>tampil_judul</a:t>
            </a:r>
            <a:r>
              <a:rPr lang="en-US" dirty="0" smtClean="0"/>
              <a:t>()</a:t>
            </a:r>
          </a:p>
          <a:p>
            <a:r>
              <a:rPr lang="en-US" dirty="0" smtClean="0"/>
              <a:t>}</a:t>
            </a:r>
          </a:p>
          <a:p>
            <a:r>
              <a:rPr lang="en-US" dirty="0" err="1" smtClean="0"/>
              <a:t>lcd.clear</a:t>
            </a:r>
            <a:r>
              <a:rPr lang="en-US" dirty="0" smtClean="0"/>
              <a:t>();</a:t>
            </a:r>
          </a:p>
          <a:p>
            <a:r>
              <a:rPr lang="en-US" dirty="0" err="1" smtClean="0"/>
              <a:t>lcd.setCursor</a:t>
            </a:r>
            <a:r>
              <a:rPr lang="en-US" dirty="0" smtClean="0"/>
              <a:t>(0,0);</a:t>
            </a:r>
          </a:p>
          <a:p>
            <a:r>
              <a:rPr lang="en-US" dirty="0" err="1" smtClean="0"/>
              <a:t>Icd.print</a:t>
            </a:r>
            <a:r>
              <a:rPr lang="en-US" dirty="0" smtClean="0"/>
              <a:t>(" </a:t>
            </a:r>
            <a:r>
              <a:rPr lang="en-US" dirty="0" err="1" smtClean="0"/>
              <a:t>Rancang</a:t>
            </a:r>
            <a:r>
              <a:rPr lang="en-US" dirty="0" smtClean="0"/>
              <a:t> </a:t>
            </a:r>
            <a:r>
              <a:rPr lang="en-US" dirty="0" err="1" smtClean="0"/>
              <a:t>Bangun</a:t>
            </a:r>
            <a:r>
              <a:rPr lang="en-US" dirty="0" smtClean="0"/>
              <a:t> ");</a:t>
            </a:r>
          </a:p>
          <a:p>
            <a:r>
              <a:rPr lang="en-US" dirty="0" err="1" smtClean="0"/>
              <a:t>lcd.setCursor</a:t>
            </a:r>
            <a:r>
              <a:rPr lang="en-US" dirty="0" smtClean="0"/>
              <a:t>(0,1);</a:t>
            </a:r>
          </a:p>
          <a:p>
            <a:r>
              <a:rPr lang="en-US" dirty="0" err="1" smtClean="0"/>
              <a:t>lcd.print</a:t>
            </a:r>
            <a:r>
              <a:rPr lang="en-US" dirty="0" smtClean="0"/>
              <a:t>(" Densitometer ");</a:t>
            </a:r>
          </a:p>
          <a:p>
            <a:r>
              <a:rPr lang="en-US" dirty="0" err="1" smtClean="0"/>
              <a:t>lcd.setCursor</a:t>
            </a:r>
            <a:r>
              <a:rPr lang="en-US" dirty="0" smtClean="0"/>
              <a:t>(0,2);</a:t>
            </a:r>
          </a:p>
          <a:p>
            <a:r>
              <a:rPr lang="en-US" dirty="0" err="1" smtClean="0"/>
              <a:t>lcd.print</a:t>
            </a:r>
            <a:r>
              <a:rPr lang="en-US" dirty="0" smtClean="0"/>
              <a:t>(" </a:t>
            </a:r>
            <a:r>
              <a:rPr lang="en-US" dirty="0" err="1" smtClean="0"/>
              <a:t>Berbasis</a:t>
            </a:r>
            <a:r>
              <a:rPr lang="en-US" dirty="0" smtClean="0"/>
              <a:t> ");</a:t>
            </a:r>
          </a:p>
          <a:p>
            <a:r>
              <a:rPr lang="en-US" dirty="0" err="1" smtClean="0"/>
              <a:t>lcd.setCursor</a:t>
            </a:r>
            <a:r>
              <a:rPr lang="en-US" dirty="0" smtClean="0"/>
              <a:t>(0,3);</a:t>
            </a:r>
          </a:p>
          <a:p>
            <a:r>
              <a:rPr lang="en-US" dirty="0" err="1" smtClean="0"/>
              <a:t>Icd.print</a:t>
            </a:r>
            <a:r>
              <a:rPr lang="en-US" dirty="0" smtClean="0"/>
              <a:t>(" Arduino UNO ");</a:t>
            </a:r>
          </a:p>
          <a:p>
            <a:r>
              <a:rPr lang="en-US" dirty="0" smtClean="0"/>
              <a:t>delay(2000);</a:t>
            </a:r>
          </a:p>
          <a:p>
            <a:r>
              <a:rPr lang="en-US" dirty="0" err="1" smtClean="0"/>
              <a:t>lcd.setCursor</a:t>
            </a:r>
            <a:r>
              <a:rPr lang="en-US" dirty="0" smtClean="0"/>
              <a:t>(0,0);</a:t>
            </a:r>
          </a:p>
          <a:p>
            <a:r>
              <a:rPr lang="en-US" dirty="0" err="1" smtClean="0"/>
              <a:t>lcd.print</a:t>
            </a:r>
            <a:r>
              <a:rPr lang="en-US" dirty="0" smtClean="0"/>
              <a:t>(" </a:t>
            </a:r>
            <a:r>
              <a:rPr lang="en-US" dirty="0" err="1" smtClean="0"/>
              <a:t>Ginalang</a:t>
            </a:r>
            <a:r>
              <a:rPr lang="en-US" dirty="0" smtClean="0"/>
              <a:t> Sindhu A ");</a:t>
            </a:r>
          </a:p>
          <a:p>
            <a:r>
              <a:rPr lang="en-US" dirty="0" err="1" smtClean="0"/>
              <a:t>lcd.setCursor</a:t>
            </a:r>
            <a:r>
              <a:rPr lang="en-US" dirty="0" smtClean="0"/>
              <a:t>(0,1);</a:t>
            </a:r>
          </a:p>
          <a:p>
            <a:r>
              <a:rPr lang="en-US" dirty="0" err="1" smtClean="0"/>
              <a:t>lcd.print</a:t>
            </a:r>
            <a:r>
              <a:rPr lang="en-US" dirty="0" smtClean="0"/>
              <a:t>(" </a:t>
            </a:r>
            <a:r>
              <a:rPr lang="en-US" dirty="0" err="1" smtClean="0"/>
              <a:t>Nim</a:t>
            </a:r>
            <a:r>
              <a:rPr lang="en-US" dirty="0" smtClean="0"/>
              <a:t> : 1904053 ");</a:t>
            </a:r>
          </a:p>
          <a:p>
            <a:r>
              <a:rPr lang="en-US" dirty="0" err="1" smtClean="0"/>
              <a:t>lcd.setCursor</a:t>
            </a:r>
            <a:r>
              <a:rPr lang="en-US" dirty="0" smtClean="0"/>
              <a:t>(0,2);</a:t>
            </a:r>
          </a:p>
          <a:p>
            <a:r>
              <a:rPr lang="en-US" dirty="0" err="1" smtClean="0"/>
              <a:t>Icd.print</a:t>
            </a:r>
            <a:r>
              <a:rPr lang="en-US" dirty="0" smtClean="0"/>
              <a:t>(" Univ. WIDYA HUSADA ");</a:t>
            </a:r>
          </a:p>
          <a:p>
            <a:r>
              <a:rPr lang="en-US" dirty="0" err="1" smtClean="0"/>
              <a:t>lcd.setCursor</a:t>
            </a:r>
            <a:r>
              <a:rPr lang="en-US" dirty="0" smtClean="0"/>
              <a:t>(0,3);</a:t>
            </a:r>
          </a:p>
          <a:p>
            <a:r>
              <a:rPr lang="en-US" dirty="0" err="1" smtClean="0"/>
              <a:t>lcd.print</a:t>
            </a:r>
            <a:r>
              <a:rPr lang="en-US" dirty="0" smtClean="0"/>
              <a:t>("</a:t>
            </a:r>
            <a:r>
              <a:rPr lang="en-US" dirty="0" err="1" smtClean="0"/>
              <a:t>Teknik</a:t>
            </a:r>
            <a:r>
              <a:rPr lang="en-US" dirty="0" smtClean="0"/>
              <a:t> </a:t>
            </a:r>
            <a:r>
              <a:rPr lang="en-US" dirty="0" err="1" smtClean="0"/>
              <a:t>Elektromedik</a:t>
            </a:r>
            <a:r>
              <a:rPr lang="en-US" dirty="0" smtClean="0"/>
              <a:t> ");</a:t>
            </a:r>
          </a:p>
          <a:p>
            <a:r>
              <a:rPr lang="en-US" dirty="0" smtClean="0"/>
              <a:t>delay(2000);</a:t>
            </a:r>
          </a:p>
          <a:p>
            <a:r>
              <a:rPr lang="en-US" dirty="0" smtClean="0"/>
              <a:t>void</a:t>
            </a:r>
          </a:p>
          <a:p>
            <a:r>
              <a:rPr lang="en-US" dirty="0" smtClean="0"/>
              <a:t>{</a:t>
            </a:r>
          </a:p>
          <a:p>
            <a:r>
              <a:rPr lang="en-US" dirty="0" smtClean="0"/>
              <a:t> </a:t>
            </a:r>
            <a:r>
              <a:rPr lang="en-US" dirty="0" err="1" smtClean="0"/>
              <a:t>baca</a:t>
            </a:r>
            <a:r>
              <a:rPr lang="en-US" dirty="0" smtClean="0"/>
              <a:t> sensor </a:t>
            </a:r>
            <a:r>
              <a:rPr lang="en-US" dirty="0" err="1" smtClean="0"/>
              <a:t>densito_cal</a:t>
            </a:r>
            <a:r>
              <a:rPr lang="en-US" dirty="0" smtClean="0"/>
              <a:t>()</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err="1" smtClean="0"/>
              <a:t>lcd.setCursor</a:t>
            </a:r>
            <a:r>
              <a:rPr lang="en-US" dirty="0" smtClean="0"/>
              <a:t>(3,0);</a:t>
            </a:r>
          </a:p>
          <a:p>
            <a:r>
              <a:rPr lang="en-US" dirty="0" err="1" smtClean="0"/>
              <a:t>lcd.print</a:t>
            </a:r>
            <a:r>
              <a:rPr lang="en-US" dirty="0" smtClean="0"/>
              <a:t>(" ");</a:t>
            </a:r>
          </a:p>
          <a:p>
            <a:r>
              <a:rPr lang="en-US" dirty="0" err="1" smtClean="0"/>
              <a:t>lcd.setCursor</a:t>
            </a:r>
            <a:r>
              <a:rPr lang="en-US" dirty="0" smtClean="0"/>
              <a:t>(3,0);</a:t>
            </a:r>
          </a:p>
          <a:p>
            <a:r>
              <a:rPr lang="en-US" dirty="0" err="1" smtClean="0"/>
              <a:t>lcd.print</a:t>
            </a:r>
            <a:r>
              <a:rPr lang="en-US" dirty="0" smtClean="0"/>
              <a:t>(</a:t>
            </a:r>
            <a:r>
              <a:rPr lang="en-US" dirty="0" err="1" smtClean="0"/>
              <a:t>nilai_densito</a:t>
            </a:r>
            <a:r>
              <a:rPr lang="en-US" dirty="0" smtClean="0"/>
              <a:t>);</a:t>
            </a:r>
          </a:p>
          <a:p>
            <a:r>
              <a:rPr lang="en-US" dirty="0" err="1" smtClean="0"/>
              <a:t>Icd.setCursor</a:t>
            </a:r>
            <a:r>
              <a:rPr lang="en-US" dirty="0" smtClean="0"/>
              <a:t>(14,1);</a:t>
            </a:r>
          </a:p>
          <a:p>
            <a:r>
              <a:rPr lang="en-US" dirty="0" err="1" smtClean="0"/>
              <a:t>lcd.print</a:t>
            </a:r>
            <a:r>
              <a:rPr lang="en-US" dirty="0" smtClean="0"/>
              <a:t>(" ");</a:t>
            </a:r>
          </a:p>
          <a:p>
            <a:endParaRPr lang="en-US" dirty="0" smtClean="0"/>
          </a:p>
          <a:p>
            <a:r>
              <a:rPr lang="en-US" dirty="0" err="1" smtClean="0"/>
              <a:t>lcd.setCursor</a:t>
            </a:r>
            <a:r>
              <a:rPr lang="en-US" dirty="0" smtClean="0"/>
              <a:t>(14,1);</a:t>
            </a:r>
          </a:p>
          <a:p>
            <a:r>
              <a:rPr lang="en-US" dirty="0" err="1" smtClean="0"/>
              <a:t>lcd.print</a:t>
            </a:r>
            <a:r>
              <a:rPr lang="en-US" dirty="0" smtClean="0"/>
              <a:t>(voltage);</a:t>
            </a:r>
          </a:p>
          <a:p>
            <a:r>
              <a:rPr lang="en-US" dirty="0" smtClean="0"/>
              <a:t>delay(500);</a:t>
            </a:r>
          </a:p>
          <a:p>
            <a:r>
              <a:rPr lang="en-US" dirty="0" smtClean="0"/>
              <a:t>void baca_kategori_densito_kv60()//</a:t>
            </a:r>
            <a:r>
              <a:rPr lang="en-US" dirty="0" err="1" smtClean="0"/>
              <a:t>kalibrasi</a:t>
            </a:r>
            <a:r>
              <a:rPr lang="en-US" dirty="0" smtClean="0"/>
              <a:t> </a:t>
            </a:r>
            <a:r>
              <a:rPr lang="en-US" dirty="0" err="1" smtClean="0"/>
              <a:t>nilai</a:t>
            </a:r>
            <a:r>
              <a:rPr lang="en-US" dirty="0" smtClean="0"/>
              <a:t> </a:t>
            </a:r>
            <a:r>
              <a:rPr lang="en-US" dirty="0" err="1" smtClean="0"/>
              <a:t>kadar</a:t>
            </a:r>
            <a:r>
              <a:rPr lang="en-US" dirty="0" smtClean="0"/>
              <a:t> </a:t>
            </a:r>
            <a:r>
              <a:rPr lang="en-US" dirty="0" err="1" smtClean="0"/>
              <a:t>densitometri</a:t>
            </a:r>
            <a:r>
              <a:rPr lang="en-US" dirty="0" smtClean="0"/>
              <a:t> </a:t>
            </a:r>
            <a:r>
              <a:rPr lang="en-US" dirty="0" err="1" smtClean="0"/>
              <a:t>seting</a:t>
            </a:r>
            <a:r>
              <a:rPr lang="en-US" dirty="0" smtClean="0"/>
              <a:t> </a:t>
            </a:r>
            <a:r>
              <a:rPr lang="en-US" dirty="0" err="1" smtClean="0"/>
              <a:t>kalibrasi</a:t>
            </a:r>
            <a:endParaRPr lang="en-US" dirty="0" smtClean="0"/>
          </a:p>
          <a:p>
            <a:r>
              <a:rPr lang="en-US" dirty="0" smtClean="0"/>
              <a:t>kv60.</a:t>
            </a:r>
          </a:p>
          <a:p>
            <a:r>
              <a:rPr lang="en-US" dirty="0" smtClean="0"/>
              <a:t>delay(200);</a:t>
            </a:r>
          </a:p>
          <a:p>
            <a:r>
              <a:rPr lang="en-US" dirty="0" smtClean="0"/>
              <a:t>if((</a:t>
            </a:r>
            <a:r>
              <a:rPr lang="en-US" dirty="0" err="1" smtClean="0"/>
              <a:t>nilai_densito</a:t>
            </a:r>
            <a:r>
              <a:rPr lang="en-US" dirty="0" smtClean="0"/>
              <a:t>&gt;25)&amp;&amp;(</a:t>
            </a:r>
            <a:r>
              <a:rPr lang="en-US" dirty="0" err="1" smtClean="0"/>
              <a:t>nilai_densito</a:t>
            </a:r>
            <a:r>
              <a:rPr lang="en-US" dirty="0" smtClean="0"/>
              <a:t>&lt;=28))</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("(1)");</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a:t>
            </a:r>
            <a:r>
              <a:rPr lang="en-US" dirty="0" smtClean="0"/>
              <a:t> </a:t>
            </a:r>
            <a:r>
              <a:rPr lang="en-US" dirty="0" err="1" smtClean="0"/>
              <a:t>densito</a:t>
            </a:r>
            <a:r>
              <a:rPr lang="en-US" dirty="0" smtClean="0"/>
              <a:t>*5.0/1024;</a:t>
            </a:r>
          </a:p>
          <a:p>
            <a:r>
              <a:rPr lang="en-US" dirty="0" smtClean="0"/>
              <a:t>voltage = voltage + 0.15;</a:t>
            </a:r>
          </a:p>
          <a:p>
            <a:r>
              <a:rPr lang="en-US" dirty="0" err="1" smtClean="0"/>
              <a:t>lcd.setCursor</a:t>
            </a:r>
            <a:r>
              <a:rPr lang="en-US" dirty="0" smtClean="0"/>
              <a:t>(10,2);</a:t>
            </a:r>
          </a:p>
          <a:p>
            <a:r>
              <a:rPr lang="en-US" dirty="0" err="1" smtClean="0"/>
              <a:t>Icd.print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&gt;28)&amp;&amp;(</a:t>
            </a:r>
            <a:r>
              <a:rPr lang="en-US" dirty="0" err="1" smtClean="0"/>
              <a:t>nilai_densito</a:t>
            </a:r>
            <a:r>
              <a:rPr lang="en-US" dirty="0" smtClean="0"/>
              <a:t>&lt;=30))</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("(2)");</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+ 0.19;</a:t>
            </a:r>
          </a:p>
          <a:p>
            <a:r>
              <a:rPr lang="en-US" dirty="0" err="1" smtClean="0"/>
              <a:t>lcd.setCursor</a:t>
            </a:r>
            <a:r>
              <a:rPr lang="en-US" dirty="0" smtClean="0"/>
              <a:t>(10,2);</a:t>
            </a:r>
          </a:p>
          <a:p>
            <a:r>
              <a:rPr lang="en-US" dirty="0" err="1" smtClean="0"/>
              <a:t>lcd.print</a:t>
            </a:r>
            <a:r>
              <a:rPr lang="en-US" dirty="0" smtClean="0"/>
              <a:t>("");</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&gt;30)&amp;&amp;(</a:t>
            </a:r>
            <a:r>
              <a:rPr lang="en-US" dirty="0" err="1" smtClean="0"/>
              <a:t>nilai_densito</a:t>
            </a:r>
            <a:r>
              <a:rPr lang="en-US" dirty="0" smtClean="0"/>
              <a:t>&lt;=31))</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("(3)");</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+ 0.30;</a:t>
            </a:r>
          </a:p>
          <a:p>
            <a:r>
              <a:rPr lang="en-US" dirty="0" err="1" smtClean="0"/>
              <a:t>lcd.setCursor</a:t>
            </a:r>
            <a:r>
              <a:rPr lang="en-US" dirty="0" smtClean="0"/>
              <a:t>(10,2);</a:t>
            </a:r>
          </a:p>
          <a:p>
            <a:r>
              <a:rPr lang="en-US" dirty="0" err="1" smtClean="0"/>
              <a:t>Icd.print</a:t>
            </a:r>
            <a:r>
              <a:rPr lang="en-US" dirty="0" smtClean="0"/>
              <a:t>("");</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&gt;31)&amp;&amp;(</a:t>
            </a:r>
            <a:r>
              <a:rPr lang="en-US" dirty="0" err="1" smtClean="0"/>
              <a:t>nilai_densito</a:t>
            </a:r>
            <a:r>
              <a:rPr lang="en-US" dirty="0" smtClean="0"/>
              <a:t>&lt;=33))</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("(4)");</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+ 0.44;</a:t>
            </a:r>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&gt;33)&amp;&amp;(</a:t>
            </a:r>
            <a:r>
              <a:rPr lang="en-US" dirty="0" err="1" smtClean="0"/>
              <a:t>nilai_densito</a:t>
            </a:r>
            <a:r>
              <a:rPr lang="en-US" dirty="0" smtClean="0"/>
              <a:t>&lt;=35))</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("(4)");</a:t>
            </a:r>
          </a:p>
          <a:p>
            <a:r>
              <a:rPr lang="en-US" dirty="0" smtClean="0"/>
              <a:t>//delay(200);</a:t>
            </a:r>
          </a:p>
          <a:p>
            <a:r>
              <a:rPr lang="en-US" dirty="0" err="1" smtClean="0"/>
              <a:t>nilai_densito-analogRead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+ 0.43;</a:t>
            </a:r>
          </a:p>
          <a:p>
            <a:r>
              <a:rPr lang="en-US" dirty="0" err="1" smtClean="0"/>
              <a:t>lcd.setCursor</a:t>
            </a:r>
            <a:r>
              <a:rPr lang="en-US" dirty="0" smtClean="0"/>
              <a:t>(10,2);</a:t>
            </a:r>
          </a:p>
          <a:p>
            <a:r>
              <a:rPr lang="en-US" dirty="0" err="1" smtClean="0"/>
              <a:t>Icd.print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&gt;35)&amp;&amp;(</a:t>
            </a:r>
            <a:r>
              <a:rPr lang="en-US" dirty="0" err="1" smtClean="0"/>
              <a:t>nilai_densito</a:t>
            </a:r>
            <a:r>
              <a:rPr lang="en-US" dirty="0" smtClean="0"/>
              <a:t>&lt;=37))</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("(4)");</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+ 0.42;</a:t>
            </a:r>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&gt;39)&amp;&amp;(</a:t>
            </a:r>
            <a:r>
              <a:rPr lang="en-US" dirty="0" err="1" smtClean="0"/>
              <a:t>nilai_densito</a:t>
            </a:r>
            <a:r>
              <a:rPr lang="en-US" dirty="0" smtClean="0"/>
              <a:t>&lt;=41))</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("(5)");</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+ 0.58;</a:t>
            </a:r>
          </a:p>
          <a:p>
            <a:r>
              <a:rPr lang="en-US" dirty="0" err="1" smtClean="0"/>
              <a:t>lcd.setCursor</a:t>
            </a:r>
            <a:r>
              <a:rPr lang="en-US" dirty="0" smtClean="0"/>
              <a:t>(10,2);</a:t>
            </a:r>
          </a:p>
          <a:p>
            <a:r>
              <a:rPr lang="en-US" dirty="0" err="1" smtClean="0"/>
              <a:t>Icd.print</a:t>
            </a:r>
            <a:r>
              <a:rPr lang="en-US" dirty="0" smtClean="0"/>
              <a:t>(" ");</a:t>
            </a:r>
          </a:p>
          <a:p>
            <a:r>
              <a:rPr lang="en-US" dirty="0" smtClean="0"/>
              <a:t>1cd.setCursor(10,2);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&gt;41)&amp;&amp;(</a:t>
            </a:r>
            <a:r>
              <a:rPr lang="en-US" dirty="0" err="1" smtClean="0"/>
              <a:t>nilai_densito</a:t>
            </a:r>
            <a:r>
              <a:rPr lang="en-US" dirty="0" smtClean="0"/>
              <a:t>&lt;=44))</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("(5)");</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+ 0.57;</a:t>
            </a:r>
          </a:p>
          <a:p>
            <a:r>
              <a:rPr lang="en-US" dirty="0" err="1" smtClean="0"/>
              <a:t>Icd.setCursor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a:t>
            </a:r>
            <a:r>
              <a:rPr lang="en-US" dirty="0" err="1" smtClean="0"/>
              <a:t>els</a:t>
            </a:r>
            <a:endParaRPr lang="en-US" dirty="0" smtClean="0"/>
          </a:p>
          <a:p>
            <a:r>
              <a:rPr lang="en-US" dirty="0" smtClean="0"/>
              <a:t>if((</a:t>
            </a:r>
            <a:r>
              <a:rPr lang="en-US" dirty="0" err="1" smtClean="0"/>
              <a:t>nilai_densito</a:t>
            </a:r>
            <a:r>
              <a:rPr lang="en-US" dirty="0" smtClean="0"/>
              <a:t>&gt;44)&amp;&amp;(</a:t>
            </a:r>
            <a:r>
              <a:rPr lang="en-US" dirty="0" err="1" smtClean="0"/>
              <a:t>nilai_densito</a:t>
            </a:r>
            <a:r>
              <a:rPr lang="en-US" dirty="0" smtClean="0"/>
              <a:t>&lt;=46))</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("(5)");</a:t>
            </a:r>
          </a:p>
          <a:p>
            <a:r>
              <a:rPr lang="en-US" dirty="0" smtClean="0"/>
              <a:t>//delay(200);</a:t>
            </a:r>
          </a:p>
          <a:p>
            <a:r>
              <a:rPr lang="en-US" dirty="0" err="1" smtClean="0"/>
              <a:t>nilai_densito-analogRead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+ 0.56;</a:t>
            </a:r>
          </a:p>
          <a:p>
            <a:r>
              <a:rPr lang="en-US" dirty="0" smtClean="0"/>
              <a:t>1cd.setCursor(10,2);</a:t>
            </a:r>
          </a:p>
          <a:p>
            <a:r>
              <a:rPr lang="en-US" dirty="0" err="1" smtClean="0"/>
              <a:t>lcd.print</a:t>
            </a:r>
            <a:r>
              <a:rPr lang="en-US" dirty="0" smtClean="0"/>
              <a:t>(" ");</a:t>
            </a:r>
          </a:p>
          <a:p>
            <a:r>
              <a:rPr lang="en-US" dirty="0" err="1" smtClean="0"/>
              <a:t>Icd.setCursor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&gt;304)&amp;&amp;(</a:t>
            </a:r>
            <a:r>
              <a:rPr lang="en-US" dirty="0" err="1" smtClean="0"/>
              <a:t>nilai_densito</a:t>
            </a:r>
            <a:r>
              <a:rPr lang="en-US" dirty="0" smtClean="0"/>
              <a:t>&lt;=310))</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("(6)");</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- 0.48;</a:t>
            </a:r>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&gt;310)&amp;&amp;(</a:t>
            </a:r>
            <a:r>
              <a:rPr lang="en-US" dirty="0" err="1" smtClean="0"/>
              <a:t>nilai_densito</a:t>
            </a:r>
            <a:r>
              <a:rPr lang="en-US" dirty="0" smtClean="0"/>
              <a:t>&lt;=314))</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("(6)");</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- 0.52;</a:t>
            </a:r>
          </a:p>
          <a:p>
            <a:r>
              <a:rPr lang="en-US" dirty="0" err="1" smtClean="0"/>
              <a:t>lcd.setCursor</a:t>
            </a:r>
            <a:r>
              <a:rPr lang="en-US" dirty="0" smtClean="0"/>
              <a:t>(10,2);</a:t>
            </a:r>
          </a:p>
          <a:p>
            <a:r>
              <a:rPr lang="en-US" dirty="0" err="1" smtClean="0"/>
              <a:t>lcd.print</a:t>
            </a:r>
            <a:r>
              <a:rPr lang="en-US" dirty="0" smtClean="0"/>
              <a:t>("");</a:t>
            </a:r>
          </a:p>
          <a:p>
            <a:endParaRPr lang="en-US" dirty="0" smtClean="0"/>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&gt;314)&amp;&amp;(</a:t>
            </a:r>
            <a:r>
              <a:rPr lang="en-US" dirty="0" err="1" smtClean="0"/>
              <a:t>nilai_densito</a:t>
            </a:r>
            <a:r>
              <a:rPr lang="en-US" dirty="0" smtClean="0"/>
              <a:t>&lt;=316))</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("(6)");</a:t>
            </a:r>
          </a:p>
          <a:p>
            <a:r>
              <a:rPr lang="en-US" dirty="0" smtClean="0"/>
              <a:t>//delay(200);</a:t>
            </a:r>
          </a:p>
          <a:p>
            <a:r>
              <a:rPr lang="en-US" dirty="0" err="1" smtClean="0"/>
              <a:t>nilai_densito-analogRead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- 0.53;</a:t>
            </a:r>
          </a:p>
          <a:p>
            <a:r>
              <a:rPr lang="en-US" dirty="0" err="1" smtClean="0"/>
              <a:t>lcd.setCursor</a:t>
            </a:r>
            <a:r>
              <a:rPr lang="en-US" dirty="0" smtClean="0"/>
              <a:t>(10,2);</a:t>
            </a:r>
          </a:p>
          <a:p>
            <a:r>
              <a:rPr lang="en-US" dirty="0" err="1" smtClean="0"/>
              <a:t>Icd.print</a:t>
            </a:r>
            <a:r>
              <a:rPr lang="en-US" dirty="0" smtClean="0"/>
              <a:t>(" ");</a:t>
            </a:r>
          </a:p>
          <a:p>
            <a:r>
              <a:rPr lang="en-US" dirty="0" smtClean="0"/>
              <a:t>1cd.setCursor(10,2);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&gt;316)&amp;&amp;(</a:t>
            </a:r>
            <a:r>
              <a:rPr lang="en-US" dirty="0" err="1" smtClean="0"/>
              <a:t>nilai_densito</a:t>
            </a:r>
            <a:r>
              <a:rPr lang="en-US" dirty="0" smtClean="0"/>
              <a:t>&lt;=318))</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("(6)");</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- 0.54;</a:t>
            </a:r>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&gt;318)&amp;&amp;(</a:t>
            </a:r>
            <a:r>
              <a:rPr lang="en-US" dirty="0" err="1" smtClean="0"/>
              <a:t>nilai_densito</a:t>
            </a:r>
            <a:r>
              <a:rPr lang="en-US" dirty="0" smtClean="0"/>
              <a:t>&lt;=320))</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("(6)");</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- 0.55;</a:t>
            </a:r>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&gt;320)&amp;&amp;(</a:t>
            </a:r>
            <a:r>
              <a:rPr lang="en-US" dirty="0" err="1" smtClean="0"/>
              <a:t>nilai_densito</a:t>
            </a:r>
            <a:r>
              <a:rPr lang="en-US" dirty="0" smtClean="0"/>
              <a:t>&lt;=322))</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("(6)");</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- 0.56;</a:t>
            </a:r>
          </a:p>
          <a:p>
            <a:r>
              <a:rPr lang="en-US" dirty="0" smtClean="0"/>
              <a:t>1cd.setCursor(10,2);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&gt;322)&amp;&amp;(</a:t>
            </a:r>
            <a:r>
              <a:rPr lang="en-US" dirty="0" err="1" smtClean="0"/>
              <a:t>nilai_densito</a:t>
            </a:r>
            <a:r>
              <a:rPr lang="en-US" dirty="0" smtClean="0"/>
              <a:t>&lt;=324))</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("(6)");</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- 0.57;</a:t>
            </a:r>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&gt;324)&amp;&amp;(</a:t>
            </a:r>
            <a:r>
              <a:rPr lang="en-US" dirty="0" err="1" smtClean="0"/>
              <a:t>nilai_densito</a:t>
            </a:r>
            <a:r>
              <a:rPr lang="en-US" dirty="0" smtClean="0"/>
              <a:t>&lt;=326))</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("(6)");</a:t>
            </a:r>
          </a:p>
          <a:p>
            <a:r>
              <a:rPr lang="en-US" dirty="0" smtClean="0"/>
              <a:t>//delay(200);</a:t>
            </a:r>
          </a:p>
          <a:p>
            <a:r>
              <a:rPr lang="en-US" dirty="0" err="1" smtClean="0"/>
              <a:t>nilai_densito-analogRead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- 0.58;</a:t>
            </a:r>
          </a:p>
          <a:p>
            <a:r>
              <a:rPr lang="en-US" dirty="0" err="1" smtClean="0"/>
              <a:t>lcd.setCursor</a:t>
            </a:r>
            <a:r>
              <a:rPr lang="en-US" dirty="0" smtClean="0"/>
              <a:t>(10,2);</a:t>
            </a:r>
          </a:p>
          <a:p>
            <a:r>
              <a:rPr lang="en-US" dirty="0" err="1" smtClean="0"/>
              <a:t>lcd.print</a:t>
            </a:r>
            <a:r>
              <a:rPr lang="en-US" dirty="0" smtClean="0"/>
              <a:t>("");</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&gt;326)&amp;&amp;(</a:t>
            </a:r>
            <a:r>
              <a:rPr lang="en-US" dirty="0" err="1" smtClean="0"/>
              <a:t>nilai_densito</a:t>
            </a:r>
            <a:r>
              <a:rPr lang="en-US" dirty="0" smtClean="0"/>
              <a:t>&lt;=328))</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("(6)");</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- 0.59;</a:t>
            </a:r>
          </a:p>
          <a:p>
            <a:r>
              <a:rPr lang="en-US" dirty="0" err="1" smtClean="0"/>
              <a:t>lcd.setCursor</a:t>
            </a:r>
            <a:r>
              <a:rPr lang="en-US" dirty="0" smtClean="0"/>
              <a:t>(10,2);</a:t>
            </a:r>
          </a:p>
          <a:p>
            <a:r>
              <a:rPr lang="en-US" dirty="0" err="1" smtClean="0"/>
              <a:t>Icd.print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&gt;328)&amp;&amp;(</a:t>
            </a:r>
            <a:r>
              <a:rPr lang="en-US" dirty="0" err="1" smtClean="0"/>
              <a:t>nilai_densito</a:t>
            </a:r>
            <a:r>
              <a:rPr lang="en-US" dirty="0" smtClean="0"/>
              <a:t>&lt;=330))</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("(6)");</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- 0.60;</a:t>
            </a:r>
          </a:p>
          <a:p>
            <a:r>
              <a:rPr lang="en-US" dirty="0" err="1" smtClean="0"/>
              <a:t>lcd.setCursor</a:t>
            </a:r>
            <a:r>
              <a:rPr lang="en-US" dirty="0" smtClean="0"/>
              <a:t>(10,2);</a:t>
            </a:r>
          </a:p>
          <a:p>
            <a:r>
              <a:rPr lang="en-US" dirty="0" err="1" smtClean="0"/>
              <a:t>lcd.print</a:t>
            </a:r>
            <a:r>
              <a:rPr lang="en-US" dirty="0" smtClean="0"/>
              <a:t>(" ");</a:t>
            </a:r>
          </a:p>
          <a:p>
            <a:r>
              <a:rPr lang="en-US" dirty="0" err="1" smtClean="0"/>
              <a:t>Icd.setCursor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&gt;330)&amp;&amp;(</a:t>
            </a:r>
            <a:r>
              <a:rPr lang="en-US" dirty="0" err="1" smtClean="0"/>
              <a:t>nilai_densito</a:t>
            </a:r>
            <a:r>
              <a:rPr lang="en-US" dirty="0" smtClean="0"/>
              <a:t>&lt;=334))</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("(6)");</a:t>
            </a:r>
          </a:p>
          <a:p>
            <a:endParaRPr lang="en-US" dirty="0" smtClean="0"/>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- 0.61;</a:t>
            </a:r>
          </a:p>
          <a:p>
            <a:r>
              <a:rPr lang="en-US" dirty="0" smtClean="0"/>
              <a:t>1cd.setCursor(10,2);</a:t>
            </a:r>
          </a:p>
          <a:p>
            <a:r>
              <a:rPr lang="en-US" dirty="0" err="1" smtClean="0"/>
              <a:t>Icd.print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&gt;678)&amp;&amp;(</a:t>
            </a:r>
            <a:r>
              <a:rPr lang="en-US" dirty="0" err="1" smtClean="0"/>
              <a:t>nilai_densito</a:t>
            </a:r>
            <a:r>
              <a:rPr lang="en-US" dirty="0" smtClean="0"/>
              <a:t>&lt;=685))</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("(7)");</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a:t>
            </a:r>
            <a:r>
              <a:rPr lang="en-US" dirty="0" smtClean="0"/>
              <a:t> </a:t>
            </a:r>
            <a:r>
              <a:rPr lang="en-US" dirty="0" err="1" smtClean="0"/>
              <a:t>densito</a:t>
            </a:r>
            <a:r>
              <a:rPr lang="en-US" dirty="0" smtClean="0"/>
              <a:t>*5.0/1024;</a:t>
            </a:r>
          </a:p>
          <a:p>
            <a:r>
              <a:rPr lang="en-US" dirty="0" smtClean="0"/>
              <a:t>voltage = voltage - 2.08;</a:t>
            </a:r>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&gt;685)&amp;&amp;(</a:t>
            </a:r>
            <a:r>
              <a:rPr lang="en-US" dirty="0" err="1" smtClean="0"/>
              <a:t>nilai_densito</a:t>
            </a:r>
            <a:r>
              <a:rPr lang="en-US" dirty="0" smtClean="0"/>
              <a:t>&lt;=691))</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("(7)");</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- 2.11;</a:t>
            </a:r>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endParaRPr lang="en-US" dirty="0" smtClean="0"/>
          </a:p>
          <a:p>
            <a:r>
              <a:rPr lang="en-US" dirty="0" smtClean="0"/>
              <a:t>if((</a:t>
            </a:r>
            <a:r>
              <a:rPr lang="en-US" dirty="0" err="1" smtClean="0"/>
              <a:t>nilai_densito</a:t>
            </a:r>
            <a:r>
              <a:rPr lang="en-US" dirty="0" smtClean="0"/>
              <a:t>&gt;691)&amp;&amp;(</a:t>
            </a:r>
            <a:r>
              <a:rPr lang="en-US" dirty="0" err="1" smtClean="0"/>
              <a:t>nilai_densito</a:t>
            </a:r>
            <a:r>
              <a:rPr lang="en-US" dirty="0" smtClean="0"/>
              <a:t>&lt;=697))</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("(7)");</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- 2.14;</a:t>
            </a:r>
          </a:p>
          <a:p>
            <a:r>
              <a:rPr lang="en-US" dirty="0" smtClean="0"/>
              <a:t>1cd.setCursor(10,2);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&gt;697)&amp;&amp;(</a:t>
            </a:r>
            <a:r>
              <a:rPr lang="en-US" dirty="0" err="1" smtClean="0"/>
              <a:t>nilai_densito</a:t>
            </a:r>
            <a:r>
              <a:rPr lang="en-US" dirty="0" smtClean="0"/>
              <a:t>&lt;=703))</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("(7)");</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- 2.17;</a:t>
            </a:r>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&gt;703)&amp;&amp;(</a:t>
            </a:r>
            <a:r>
              <a:rPr lang="en-US" dirty="0" err="1" smtClean="0"/>
              <a:t>nilai_densito</a:t>
            </a:r>
            <a:r>
              <a:rPr lang="en-US" dirty="0" smtClean="0"/>
              <a:t>&lt;=709))</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("(7)");</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- 2.20;</a:t>
            </a:r>
          </a:p>
          <a:p>
            <a:r>
              <a:rPr lang="en-US" dirty="0" err="1" smtClean="0"/>
              <a:t>lcd.setCursor</a:t>
            </a:r>
            <a:r>
              <a:rPr lang="en-US" dirty="0" smtClean="0"/>
              <a:t>(10,2);</a:t>
            </a:r>
          </a:p>
          <a:p>
            <a:r>
              <a:rPr lang="en-US" dirty="0" err="1" smtClean="0"/>
              <a:t>lcd.print</a:t>
            </a:r>
            <a:r>
              <a:rPr lang="en-US" dirty="0" smtClean="0"/>
              <a:t>("");</a:t>
            </a:r>
          </a:p>
          <a:p>
            <a:endParaRPr lang="en-US" dirty="0" smtClean="0"/>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&gt;824)&amp;&amp;(</a:t>
            </a:r>
            <a:r>
              <a:rPr lang="en-US" dirty="0" err="1" smtClean="0"/>
              <a:t>nilai_densito</a:t>
            </a:r>
            <a:r>
              <a:rPr lang="en-US" dirty="0" smtClean="0"/>
              <a:t>&lt;=830))</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("(8)");</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- 2.52;</a:t>
            </a:r>
          </a:p>
          <a:p>
            <a:r>
              <a:rPr lang="en-US" dirty="0" err="1" smtClean="0"/>
              <a:t>lcd.setCursor</a:t>
            </a:r>
            <a:r>
              <a:rPr lang="en-US" dirty="0" smtClean="0"/>
              <a:t>(10,2);</a:t>
            </a:r>
          </a:p>
          <a:p>
            <a:r>
              <a:rPr lang="en-US" dirty="0" err="1" smtClean="0"/>
              <a:t>lcd.print</a:t>
            </a:r>
            <a:r>
              <a:rPr lang="en-US" dirty="0" smtClean="0"/>
              <a:t>("");</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&gt;830)&amp;&amp;(</a:t>
            </a:r>
            <a:r>
              <a:rPr lang="en-US" dirty="0" err="1" smtClean="0"/>
              <a:t>nilai_densito</a:t>
            </a:r>
            <a:r>
              <a:rPr lang="en-US" dirty="0" smtClean="0"/>
              <a:t>&lt;=836))</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("(8)");</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- 2.55;</a:t>
            </a:r>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&gt;836)&amp;&amp;(</a:t>
            </a:r>
            <a:r>
              <a:rPr lang="en-US" dirty="0" err="1" smtClean="0"/>
              <a:t>nilai_densito</a:t>
            </a:r>
            <a:r>
              <a:rPr lang="en-US" dirty="0" smtClean="0"/>
              <a:t>&lt;=838))</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("(8)");</a:t>
            </a:r>
          </a:p>
          <a:p>
            <a:r>
              <a:rPr lang="en-US" dirty="0" smtClean="0"/>
              <a:t>//delay(200);</a:t>
            </a:r>
          </a:p>
          <a:p>
            <a:r>
              <a:rPr lang="en-US" dirty="0" err="1" smtClean="0"/>
              <a:t>nilai_densito-analogRead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- 2.57;</a:t>
            </a:r>
          </a:p>
          <a:p>
            <a:endParaRPr lang="en-US" dirty="0" smtClean="0"/>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&gt;838)&amp;&amp;(</a:t>
            </a:r>
            <a:r>
              <a:rPr lang="en-US" dirty="0" err="1" smtClean="0"/>
              <a:t>nilai_densito</a:t>
            </a:r>
            <a:r>
              <a:rPr lang="en-US" dirty="0" smtClean="0"/>
              <a:t>&lt;=840))</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("(8)");</a:t>
            </a:r>
          </a:p>
          <a:p>
            <a:r>
              <a:rPr lang="en-US" dirty="0" smtClean="0"/>
              <a:t>//delay(200);</a:t>
            </a:r>
          </a:p>
          <a:p>
            <a:r>
              <a:rPr lang="en-US" dirty="0" err="1" smtClean="0"/>
              <a:t>nilai_densito-analogRead</a:t>
            </a:r>
            <a:r>
              <a:rPr lang="en-US" dirty="0" smtClean="0"/>
              <a:t>(</a:t>
            </a:r>
            <a:r>
              <a:rPr lang="en-US" dirty="0" err="1" smtClean="0"/>
              <a:t>densito</a:t>
            </a:r>
            <a:r>
              <a:rPr lang="en-US" dirty="0" smtClean="0"/>
              <a:t>);</a:t>
            </a:r>
          </a:p>
          <a:p>
            <a:r>
              <a:rPr lang="en-US" dirty="0" smtClean="0"/>
              <a:t>voltage = </a:t>
            </a:r>
            <a:r>
              <a:rPr lang="en-US" dirty="0" err="1" smtClean="0"/>
              <a:t>nilai</a:t>
            </a:r>
            <a:r>
              <a:rPr lang="en-US" dirty="0" smtClean="0"/>
              <a:t> </a:t>
            </a:r>
            <a:r>
              <a:rPr lang="en-US" dirty="0" err="1" smtClean="0"/>
              <a:t>densito</a:t>
            </a:r>
            <a:r>
              <a:rPr lang="en-US" dirty="0" smtClean="0"/>
              <a:t>*5.0/1024;</a:t>
            </a:r>
          </a:p>
          <a:p>
            <a:r>
              <a:rPr lang="en-US" dirty="0" smtClean="0"/>
              <a:t>voltage = voltage - 2.58;</a:t>
            </a:r>
          </a:p>
          <a:p>
            <a:r>
              <a:rPr lang="en-US" dirty="0" smtClean="0"/>
              <a:t>1cd.setCursor(10,2);</a:t>
            </a:r>
          </a:p>
          <a:p>
            <a:r>
              <a:rPr lang="en-US" dirty="0" err="1" smtClean="0"/>
              <a:t>lcd.print</a:t>
            </a:r>
            <a:r>
              <a:rPr lang="en-US" dirty="0" smtClean="0"/>
              <a:t>(" ");</a:t>
            </a:r>
          </a:p>
          <a:p>
            <a:r>
              <a:rPr lang="en-US" dirty="0" err="1" smtClean="0"/>
              <a:t>Icd.setCursor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&gt;840)&amp;&amp;(</a:t>
            </a:r>
            <a:r>
              <a:rPr lang="en-US" dirty="0" err="1" smtClean="0"/>
              <a:t>nilai_densito</a:t>
            </a:r>
            <a:r>
              <a:rPr lang="en-US" dirty="0" smtClean="0"/>
              <a:t>&lt;=842))</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("(8)");</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- 2.59;</a:t>
            </a:r>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&gt;842)&amp;&amp;(</a:t>
            </a:r>
            <a:r>
              <a:rPr lang="en-US" dirty="0" err="1" smtClean="0"/>
              <a:t>nilai_densito</a:t>
            </a:r>
            <a:r>
              <a:rPr lang="en-US" dirty="0" smtClean="0"/>
              <a:t>&lt;=844))</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("(8)");</a:t>
            </a:r>
          </a:p>
          <a:p>
            <a:r>
              <a:rPr lang="en-US" dirty="0" smtClean="0"/>
              <a:t>//delay(200);</a:t>
            </a:r>
          </a:p>
          <a:p>
            <a:r>
              <a:rPr lang="en-US" dirty="0" err="1" smtClean="0"/>
              <a:t>nilai_densito-analogRead</a:t>
            </a:r>
            <a:r>
              <a:rPr lang="en-US" dirty="0" smtClean="0"/>
              <a:t>(</a:t>
            </a:r>
            <a:r>
              <a:rPr lang="en-US" dirty="0" err="1" smtClean="0"/>
              <a:t>densito</a:t>
            </a:r>
            <a:r>
              <a:rPr lang="en-US" dirty="0" smtClean="0"/>
              <a:t>);</a:t>
            </a:r>
          </a:p>
          <a:p>
            <a:endParaRPr lang="en-US" dirty="0" smtClean="0"/>
          </a:p>
          <a:p>
            <a:r>
              <a:rPr lang="en-US" dirty="0" smtClean="0"/>
              <a:t>voltage = </a:t>
            </a:r>
            <a:r>
              <a:rPr lang="en-US" dirty="0" err="1" smtClean="0"/>
              <a:t>nilai_densito</a:t>
            </a:r>
            <a:r>
              <a:rPr lang="en-US" dirty="0" smtClean="0"/>
              <a:t>*5.0/1024;</a:t>
            </a:r>
          </a:p>
          <a:p>
            <a:r>
              <a:rPr lang="en-US" dirty="0" smtClean="0"/>
              <a:t>voltage = voltage - 2.60;</a:t>
            </a:r>
          </a:p>
          <a:p>
            <a:r>
              <a:rPr lang="en-US" dirty="0" smtClean="0"/>
              <a:t>1cd.setCursor(10,2);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&gt;844)&amp;&amp;(</a:t>
            </a:r>
            <a:r>
              <a:rPr lang="en-US" dirty="0" err="1" smtClean="0"/>
              <a:t>nilai_densito</a:t>
            </a:r>
            <a:r>
              <a:rPr lang="en-US" dirty="0" smtClean="0"/>
              <a:t>&lt;=846))</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("(8)");</a:t>
            </a:r>
          </a:p>
          <a:p>
            <a:r>
              <a:rPr lang="en-US" dirty="0" smtClean="0"/>
              <a:t>//delay(200);</a:t>
            </a:r>
          </a:p>
          <a:p>
            <a:r>
              <a:rPr lang="en-US" dirty="0" err="1" smtClean="0"/>
              <a:t>nilai_densito-analogRead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- 2.61;</a:t>
            </a:r>
          </a:p>
          <a:p>
            <a:r>
              <a:rPr lang="en-US" dirty="0" err="1" smtClean="0"/>
              <a:t>lcd.setCursor</a:t>
            </a:r>
            <a:r>
              <a:rPr lang="en-US" dirty="0" smtClean="0"/>
              <a:t>(10,2);</a:t>
            </a:r>
          </a:p>
          <a:p>
            <a:r>
              <a:rPr lang="en-US" dirty="0" err="1" smtClean="0"/>
              <a:t>Icd.print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&gt;877)&amp;&amp;(</a:t>
            </a:r>
            <a:r>
              <a:rPr lang="en-US" dirty="0" err="1" smtClean="0"/>
              <a:t>nilai_densito</a:t>
            </a:r>
            <a:r>
              <a:rPr lang="en-US" dirty="0" smtClean="0"/>
              <a:t>&lt;=883))</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("(9)");</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- 2.61;</a:t>
            </a:r>
          </a:p>
          <a:p>
            <a:r>
              <a:rPr lang="en-US" dirty="0" err="1" smtClean="0"/>
              <a:t>lcd.setCursor</a:t>
            </a:r>
            <a:r>
              <a:rPr lang="en-US" dirty="0" smtClean="0"/>
              <a:t>(10,2);</a:t>
            </a:r>
          </a:p>
          <a:p>
            <a:r>
              <a:rPr lang="en-US" dirty="0" err="1" smtClean="0"/>
              <a:t>Icd.print</a:t>
            </a:r>
            <a:r>
              <a:rPr lang="en-US" dirty="0" smtClean="0"/>
              <a:t>(" ");</a:t>
            </a:r>
          </a:p>
          <a:p>
            <a:r>
              <a:rPr lang="en-US" dirty="0" smtClean="0"/>
              <a:t>1cd.setCursor(10,2);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&gt;883)&amp;&amp;(</a:t>
            </a:r>
            <a:r>
              <a:rPr lang="en-US" dirty="0" err="1" smtClean="0"/>
              <a:t>nilai_densito</a:t>
            </a:r>
            <a:r>
              <a:rPr lang="en-US" dirty="0" smtClean="0"/>
              <a:t>&lt;=889))</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("(9)");</a:t>
            </a:r>
          </a:p>
          <a:p>
            <a:endParaRPr lang="en-US" dirty="0" smtClean="0"/>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- 2.64;</a:t>
            </a:r>
          </a:p>
          <a:p>
            <a:r>
              <a:rPr lang="en-US" dirty="0" smtClean="0"/>
              <a:t>1cd.setCursor(10,2);</a:t>
            </a:r>
          </a:p>
          <a:p>
            <a:r>
              <a:rPr lang="en-US" dirty="0" err="1" smtClean="0"/>
              <a:t>Icd.print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&gt;889)&amp;&amp;(</a:t>
            </a:r>
            <a:r>
              <a:rPr lang="en-US" dirty="0" err="1" smtClean="0"/>
              <a:t>nilai_densito</a:t>
            </a:r>
            <a:r>
              <a:rPr lang="en-US" dirty="0" smtClean="0"/>
              <a:t>&lt;=895))</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("(9)");</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- 2.67;</a:t>
            </a:r>
          </a:p>
          <a:p>
            <a:r>
              <a:rPr lang="en-US" dirty="0" err="1" smtClean="0"/>
              <a:t>lcd.setCursor</a:t>
            </a:r>
            <a:r>
              <a:rPr lang="en-US" dirty="0" smtClean="0"/>
              <a:t>(10,2);</a:t>
            </a:r>
          </a:p>
          <a:p>
            <a:r>
              <a:rPr lang="en-US" dirty="0" err="1" smtClean="0"/>
              <a:t>lcd.print</a:t>
            </a:r>
            <a:r>
              <a:rPr lang="en-US" dirty="0" smtClean="0"/>
              <a:t>(" ");</a:t>
            </a:r>
          </a:p>
          <a:p>
            <a:r>
              <a:rPr lang="en-US" dirty="0" smtClean="0"/>
              <a:t>1cd.setCursor(10,2);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&gt;895)&amp;&amp;(</a:t>
            </a:r>
            <a:r>
              <a:rPr lang="en-US" dirty="0" err="1" smtClean="0"/>
              <a:t>nilai_densito</a:t>
            </a:r>
            <a:r>
              <a:rPr lang="en-US" dirty="0" smtClean="0"/>
              <a:t>&lt;=901))</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("(9)");</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- 2.70;</a:t>
            </a:r>
          </a:p>
          <a:p>
            <a:r>
              <a:rPr lang="en-US" dirty="0" err="1" smtClean="0"/>
              <a:t>lcd.setCursor</a:t>
            </a:r>
            <a:r>
              <a:rPr lang="en-US" dirty="0" smtClean="0"/>
              <a:t>(10,2);</a:t>
            </a:r>
          </a:p>
          <a:p>
            <a:r>
              <a:rPr lang="en-US" dirty="0" err="1" smtClean="0"/>
              <a:t>Icd.print</a:t>
            </a:r>
            <a:r>
              <a:rPr lang="en-US" dirty="0" smtClean="0"/>
              <a:t>(" ");</a:t>
            </a:r>
          </a:p>
          <a:p>
            <a:r>
              <a:rPr lang="en-US" dirty="0" smtClean="0"/>
              <a:t>1cd.setCursor(10,2);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&gt;959)&amp;&amp;(</a:t>
            </a:r>
            <a:r>
              <a:rPr lang="en-US" dirty="0" err="1" smtClean="0"/>
              <a:t>nilai_densito</a:t>
            </a:r>
            <a:r>
              <a:rPr lang="en-US" dirty="0" smtClean="0"/>
              <a:t>&lt;=961))</a:t>
            </a:r>
          </a:p>
          <a:p>
            <a:endParaRPr lang="en-US" dirty="0" smtClean="0"/>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("(10)");</a:t>
            </a:r>
          </a:p>
          <a:p>
            <a:r>
              <a:rPr lang="en-US" dirty="0" smtClean="0"/>
              <a:t>//delay(200);</a:t>
            </a:r>
          </a:p>
          <a:p>
            <a:r>
              <a:rPr lang="en-US" dirty="0" err="1" smtClean="0"/>
              <a:t>nilai_densito-analogRead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- 2.80;</a:t>
            </a:r>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&gt;961)&amp;&amp;(</a:t>
            </a:r>
            <a:r>
              <a:rPr lang="en-US" dirty="0" err="1" smtClean="0"/>
              <a:t>nilai_densito</a:t>
            </a:r>
            <a:r>
              <a:rPr lang="en-US" dirty="0" smtClean="0"/>
              <a:t>&lt;=965))</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("(10)");</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- 2.81;</a:t>
            </a:r>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&gt;975)&amp;&amp;(</a:t>
            </a:r>
            <a:r>
              <a:rPr lang="en-US" dirty="0" err="1" smtClean="0"/>
              <a:t>nilai_densito</a:t>
            </a:r>
            <a:r>
              <a:rPr lang="en-US" dirty="0" smtClean="0"/>
              <a:t>&lt;=979))</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("(10)");</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- 2.73;</a:t>
            </a:r>
          </a:p>
          <a:p>
            <a:r>
              <a:rPr lang="en-US" dirty="0" smtClean="0"/>
              <a:t>1cd.setCursor(10,2);</a:t>
            </a:r>
          </a:p>
          <a:p>
            <a:r>
              <a:rPr lang="en-US" dirty="0" err="1" smtClean="0"/>
              <a:t>Icd.print</a:t>
            </a:r>
            <a:r>
              <a:rPr lang="en-US" dirty="0" smtClean="0"/>
              <a:t>("");</a:t>
            </a:r>
          </a:p>
          <a:p>
            <a:r>
              <a:rPr lang="en-US" dirty="0" err="1" smtClean="0"/>
              <a:t>lcd.setCursor</a:t>
            </a:r>
            <a:r>
              <a:rPr lang="en-US" dirty="0" smtClean="0"/>
              <a:t>(10,2);</a:t>
            </a:r>
          </a:p>
          <a:p>
            <a:r>
              <a:rPr lang="en-US" dirty="0" err="1" smtClean="0"/>
              <a:t>lcd.print</a:t>
            </a:r>
            <a:r>
              <a:rPr lang="en-US" dirty="0" smtClean="0"/>
              <a:t>(voltage,2);</a:t>
            </a:r>
          </a:p>
          <a:p>
            <a:endParaRPr lang="en-US" dirty="0" smtClean="0"/>
          </a:p>
          <a:p>
            <a:r>
              <a:rPr lang="en-US" dirty="0" smtClean="0"/>
              <a:t>}else</a:t>
            </a:r>
          </a:p>
          <a:p>
            <a:r>
              <a:rPr lang="en-US" dirty="0" smtClean="0"/>
              <a:t>if((</a:t>
            </a:r>
            <a:r>
              <a:rPr lang="en-US" dirty="0" err="1" smtClean="0"/>
              <a:t>nilai_densito</a:t>
            </a:r>
            <a:r>
              <a:rPr lang="en-US" dirty="0" smtClean="0"/>
              <a:t>&gt;979)&amp;&amp;(</a:t>
            </a:r>
            <a:r>
              <a:rPr lang="en-US" dirty="0" err="1" smtClean="0"/>
              <a:t>nilai_densito</a:t>
            </a:r>
            <a:r>
              <a:rPr lang="en-US" dirty="0" smtClean="0"/>
              <a:t>&lt;=983))</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("(10)");</a:t>
            </a:r>
          </a:p>
          <a:p>
            <a:r>
              <a:rPr lang="en-US" dirty="0" smtClean="0"/>
              <a:t>//delay(200);</a:t>
            </a:r>
          </a:p>
          <a:p>
            <a:r>
              <a:rPr lang="en-US" dirty="0" err="1" smtClean="0"/>
              <a:t>nilai_densito-analogRead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- 2.78;</a:t>
            </a:r>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delay(200);</a:t>
            </a:r>
          </a:p>
          <a:p>
            <a:r>
              <a:rPr lang="en-US" dirty="0" smtClean="0"/>
              <a:t>void baca_kategori_densito_kv80()//</a:t>
            </a:r>
            <a:r>
              <a:rPr lang="en-US" dirty="0" err="1" smtClean="0"/>
              <a:t>kalibrasi</a:t>
            </a:r>
            <a:r>
              <a:rPr lang="en-US" dirty="0" smtClean="0"/>
              <a:t> </a:t>
            </a:r>
            <a:r>
              <a:rPr lang="en-US" dirty="0" err="1" smtClean="0"/>
              <a:t>nilai</a:t>
            </a:r>
            <a:r>
              <a:rPr lang="en-US" dirty="0" smtClean="0"/>
              <a:t> </a:t>
            </a:r>
            <a:r>
              <a:rPr lang="en-US" dirty="0" err="1" smtClean="0"/>
              <a:t>kadar</a:t>
            </a:r>
            <a:r>
              <a:rPr lang="en-US" dirty="0" smtClean="0"/>
              <a:t> </a:t>
            </a:r>
            <a:r>
              <a:rPr lang="en-US" dirty="0" err="1" smtClean="0"/>
              <a:t>densitometri</a:t>
            </a:r>
            <a:r>
              <a:rPr lang="en-US" dirty="0" smtClean="0"/>
              <a:t> </a:t>
            </a:r>
            <a:r>
              <a:rPr lang="en-US" dirty="0" err="1" smtClean="0"/>
              <a:t>seting</a:t>
            </a:r>
            <a:r>
              <a:rPr lang="en-US" dirty="0" smtClean="0"/>
              <a:t> </a:t>
            </a:r>
            <a:r>
              <a:rPr lang="en-US" dirty="0" err="1" smtClean="0"/>
              <a:t>kalibrasi</a:t>
            </a:r>
            <a:endParaRPr lang="en-US" dirty="0" smtClean="0"/>
          </a:p>
          <a:p>
            <a:r>
              <a:rPr lang="en-US" dirty="0" smtClean="0"/>
              <a:t>kv80.....</a:t>
            </a:r>
          </a:p>
          <a:p>
            <a:r>
              <a:rPr lang="en-US" dirty="0" smtClean="0"/>
              <a:t>delay(200);</a:t>
            </a:r>
          </a:p>
          <a:p>
            <a:r>
              <a:rPr lang="en-US" dirty="0" smtClean="0"/>
              <a:t>if((</a:t>
            </a:r>
            <a:r>
              <a:rPr lang="en-US" dirty="0" err="1" smtClean="0"/>
              <a:t>nilai_densito</a:t>
            </a:r>
            <a:r>
              <a:rPr lang="en-US" dirty="0" smtClean="0"/>
              <a:t>&gt;574)&amp;&amp;(</a:t>
            </a:r>
            <a:r>
              <a:rPr lang="en-US" dirty="0" err="1" smtClean="0"/>
              <a:t>nilai_densito</a:t>
            </a:r>
            <a:r>
              <a:rPr lang="en-US" dirty="0" smtClean="0"/>
              <a:t>&lt;=580))</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("(1)");</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- 1.68;</a:t>
            </a:r>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&gt;580)&amp;&amp;(</a:t>
            </a:r>
            <a:r>
              <a:rPr lang="en-US" dirty="0" err="1" smtClean="0"/>
              <a:t>nilai_densito</a:t>
            </a:r>
            <a:r>
              <a:rPr lang="en-US" dirty="0" smtClean="0"/>
              <a:t>&lt;=584))</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("(1)");</a:t>
            </a:r>
          </a:p>
          <a:p>
            <a:endParaRPr lang="en-US" dirty="0" smtClean="0"/>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- 1.71;</a:t>
            </a:r>
          </a:p>
          <a:p>
            <a:r>
              <a:rPr lang="en-US" dirty="0" smtClean="0"/>
              <a:t>1cd.setCursor(10,2);</a:t>
            </a:r>
          </a:p>
          <a:p>
            <a:r>
              <a:rPr lang="en-US" dirty="0" err="1" smtClean="0"/>
              <a:t>lcd.print</a:t>
            </a:r>
            <a:r>
              <a:rPr lang="en-US" dirty="0" smtClean="0"/>
              <a:t>(" ");</a:t>
            </a:r>
          </a:p>
          <a:p>
            <a:r>
              <a:rPr lang="en-US" dirty="0" smtClean="0"/>
              <a:t>1cd.setCursor(10,2);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&gt;584)&amp;&amp;(</a:t>
            </a:r>
            <a:r>
              <a:rPr lang="en-US" dirty="0" err="1" smtClean="0"/>
              <a:t>nilai_densito</a:t>
            </a:r>
            <a:r>
              <a:rPr lang="en-US" dirty="0" smtClean="0"/>
              <a:t>&lt;=588))</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("(1)");</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- 1.72;</a:t>
            </a:r>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&gt;588)&amp;&amp;(</a:t>
            </a:r>
            <a:r>
              <a:rPr lang="en-US" dirty="0" err="1" smtClean="0"/>
              <a:t>nilai_densito</a:t>
            </a:r>
            <a:r>
              <a:rPr lang="en-US" dirty="0" smtClean="0"/>
              <a:t>&lt;=594))</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("(1)");</a:t>
            </a:r>
          </a:p>
          <a:p>
            <a:r>
              <a:rPr lang="en-US" dirty="0" smtClean="0"/>
              <a:t>//delay(200);</a:t>
            </a:r>
          </a:p>
          <a:p>
            <a:r>
              <a:rPr lang="en-US" dirty="0" err="1" smtClean="0"/>
              <a:t>nilai_densito-analogRead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- 1.75;</a:t>
            </a:r>
          </a:p>
          <a:p>
            <a:r>
              <a:rPr lang="en-US" dirty="0" err="1" smtClean="0"/>
              <a:t>lcd.setCursor</a:t>
            </a:r>
            <a:r>
              <a:rPr lang="en-US" dirty="0" smtClean="0"/>
              <a:t>(10,2);</a:t>
            </a:r>
          </a:p>
          <a:p>
            <a:r>
              <a:rPr lang="en-US" dirty="0" err="1" smtClean="0"/>
              <a:t>Icd.print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&gt;594)&amp;&amp;(</a:t>
            </a:r>
            <a:r>
              <a:rPr lang="en-US" dirty="0" err="1" smtClean="0"/>
              <a:t>nilai_densito</a:t>
            </a:r>
            <a:r>
              <a:rPr lang="en-US" dirty="0" smtClean="0"/>
              <a:t>&lt;=600))</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("(1)");</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- 1.78;</a:t>
            </a:r>
          </a:p>
          <a:p>
            <a:r>
              <a:rPr lang="en-US" dirty="0" err="1" smtClean="0"/>
              <a:t>lcd.setCursor</a:t>
            </a:r>
            <a:r>
              <a:rPr lang="en-US" dirty="0" smtClean="0"/>
              <a:t>(10,2);</a:t>
            </a:r>
          </a:p>
          <a:p>
            <a:r>
              <a:rPr lang="en-US" dirty="0" err="1" smtClean="0"/>
              <a:t>lcd.print</a:t>
            </a:r>
            <a:r>
              <a:rPr lang="en-US" dirty="0" smtClean="0"/>
              <a:t>(" ");</a:t>
            </a:r>
          </a:p>
          <a:p>
            <a:r>
              <a:rPr lang="en-US" dirty="0" smtClean="0"/>
              <a:t>1cd.setCursor(10,2);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&gt;600)&amp;&amp;(</a:t>
            </a:r>
            <a:r>
              <a:rPr lang="en-US" dirty="0" err="1" smtClean="0"/>
              <a:t>nilai_densito</a:t>
            </a:r>
            <a:r>
              <a:rPr lang="en-US" dirty="0" smtClean="0"/>
              <a:t>&lt;=606))</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("(1)");</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- 1.81;</a:t>
            </a:r>
          </a:p>
          <a:p>
            <a:r>
              <a:rPr lang="en-US" dirty="0" err="1" smtClean="0"/>
              <a:t>lcd.setCursor</a:t>
            </a:r>
            <a:r>
              <a:rPr lang="en-US" dirty="0" smtClean="0"/>
              <a:t>(10,2);</a:t>
            </a:r>
          </a:p>
          <a:p>
            <a:r>
              <a:rPr lang="en-US" dirty="0" err="1" smtClean="0"/>
              <a:t>Icd.print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&gt;625)&amp;&amp;(</a:t>
            </a:r>
            <a:r>
              <a:rPr lang="en-US" dirty="0" err="1" smtClean="0"/>
              <a:t>nilai_densito</a:t>
            </a:r>
            <a:r>
              <a:rPr lang="en-US" dirty="0" smtClean="0"/>
              <a:t>&lt;=631))</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("(2)");</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- 1.88;</a:t>
            </a:r>
          </a:p>
          <a:p>
            <a:r>
              <a:rPr lang="en-US" dirty="0" err="1" smtClean="0"/>
              <a:t>lcd.setCursor</a:t>
            </a:r>
            <a:r>
              <a:rPr lang="en-US" dirty="0" smtClean="0"/>
              <a:t>(10,2);</a:t>
            </a:r>
          </a:p>
          <a:p>
            <a:r>
              <a:rPr lang="en-US" dirty="0" err="1" smtClean="0"/>
              <a:t>Icd.print</a:t>
            </a:r>
            <a:r>
              <a:rPr lang="en-US" dirty="0" smtClean="0"/>
              <a:t>(" ");</a:t>
            </a:r>
          </a:p>
          <a:p>
            <a:r>
              <a:rPr lang="en-US" dirty="0" err="1" smtClean="0"/>
              <a:t>lcd.setCursor</a:t>
            </a:r>
            <a:r>
              <a:rPr lang="en-US" dirty="0" smtClean="0"/>
              <a:t>(10,2);</a:t>
            </a:r>
          </a:p>
          <a:p>
            <a:r>
              <a:rPr lang="en-US" dirty="0" smtClean="0"/>
              <a:t>}else</a:t>
            </a:r>
          </a:p>
          <a:p>
            <a:r>
              <a:rPr lang="en-US" dirty="0" smtClean="0"/>
              <a:t>if((</a:t>
            </a:r>
            <a:r>
              <a:rPr lang="en-US" dirty="0" err="1" smtClean="0"/>
              <a:t>nilai_densito</a:t>
            </a:r>
            <a:r>
              <a:rPr lang="en-US" dirty="0" smtClean="0"/>
              <a:t>&gt;631)&amp;&amp;(</a:t>
            </a:r>
            <a:r>
              <a:rPr lang="en-US" dirty="0" err="1" smtClean="0"/>
              <a:t>nilai_densito</a:t>
            </a:r>
            <a:r>
              <a:rPr lang="en-US" dirty="0" smtClean="0"/>
              <a:t>&lt;=637))</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("(2)");</a:t>
            </a:r>
          </a:p>
          <a:p>
            <a:r>
              <a:rPr lang="en-US" dirty="0" smtClean="0"/>
              <a:t>//delay(200);</a:t>
            </a:r>
          </a:p>
          <a:p>
            <a:r>
              <a:rPr lang="en-US" dirty="0" err="1" smtClean="0"/>
              <a:t>nilai_densito-analogRead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- 1.91;</a:t>
            </a:r>
          </a:p>
          <a:p>
            <a:r>
              <a:rPr lang="en-US" dirty="0" smtClean="0"/>
              <a:t>1cd.setCursor(10,2);</a:t>
            </a:r>
          </a:p>
          <a:p>
            <a:r>
              <a:rPr lang="en-US" dirty="0" err="1" smtClean="0"/>
              <a:t>Icd.print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&gt;637)&amp;&amp;(</a:t>
            </a:r>
            <a:r>
              <a:rPr lang="en-US" dirty="0" err="1" smtClean="0"/>
              <a:t>nilai_densito</a:t>
            </a:r>
            <a:r>
              <a:rPr lang="en-US" dirty="0" smtClean="0"/>
              <a:t>&lt;=644))</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("(2)");</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- 1.94;</a:t>
            </a:r>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&gt;644)&amp;&amp;(</a:t>
            </a:r>
            <a:r>
              <a:rPr lang="en-US" dirty="0" err="1" smtClean="0"/>
              <a:t>nilai_densito</a:t>
            </a:r>
            <a:r>
              <a:rPr lang="en-US" dirty="0" smtClean="0"/>
              <a:t>&lt;=650))</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Icd.print</a:t>
            </a:r>
            <a:r>
              <a:rPr lang="en-US" dirty="0" smtClean="0"/>
              <a:t>("(2)");</a:t>
            </a:r>
          </a:p>
          <a:p>
            <a:r>
              <a:rPr lang="en-US" dirty="0" smtClean="0"/>
              <a:t>//delay(200);</a:t>
            </a:r>
          </a:p>
          <a:p>
            <a:r>
              <a:rPr lang="en-US" dirty="0" err="1" smtClean="0"/>
              <a:t>nilai_densito-analogRead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- 1.97;</a:t>
            </a:r>
          </a:p>
          <a:p>
            <a:r>
              <a:rPr lang="en-US" dirty="0" err="1" smtClean="0"/>
              <a:t>Icd.setCursor</a:t>
            </a:r>
            <a:r>
              <a:rPr lang="en-US" dirty="0" smtClean="0"/>
              <a:t>(10,2);</a:t>
            </a:r>
          </a:p>
          <a:p>
            <a:r>
              <a:rPr lang="en-US" dirty="0" err="1" smtClean="0"/>
              <a:t>lcd.print</a:t>
            </a:r>
            <a:r>
              <a:rPr lang="en-US" dirty="0" smtClean="0"/>
              <a:t>(" ");</a:t>
            </a:r>
          </a:p>
          <a:p>
            <a:endParaRPr lang="en-US" dirty="0" smtClean="0"/>
          </a:p>
          <a:p>
            <a:r>
              <a:rPr lang="en-US" dirty="0" smtClean="0"/>
              <a:t>1cd.setCursor(10,2);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&gt;650)&amp;&amp;(</a:t>
            </a:r>
            <a:r>
              <a:rPr lang="en-US" dirty="0" err="1" smtClean="0"/>
              <a:t>nilai_densito</a:t>
            </a:r>
            <a:r>
              <a:rPr lang="en-US" dirty="0" smtClean="0"/>
              <a:t>&lt;=656))</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("(2)");</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- 2.00;</a:t>
            </a:r>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&gt;732)&amp;&amp;(</a:t>
            </a:r>
            <a:r>
              <a:rPr lang="en-US" dirty="0" err="1" smtClean="0"/>
              <a:t>nilai_densito</a:t>
            </a:r>
            <a:r>
              <a:rPr lang="en-US" dirty="0" smtClean="0"/>
              <a:t>&lt;=738))</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("(3)");</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- 2.30;</a:t>
            </a:r>
          </a:p>
          <a:p>
            <a:r>
              <a:rPr lang="en-US" dirty="0" err="1" smtClean="0"/>
              <a:t>lcd.setCursor</a:t>
            </a:r>
            <a:r>
              <a:rPr lang="en-US" dirty="0" smtClean="0"/>
              <a:t>(10,2);</a:t>
            </a:r>
          </a:p>
          <a:p>
            <a:r>
              <a:rPr lang="en-US" dirty="0" err="1" smtClean="0"/>
              <a:t>Icd.print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&gt;738)&amp;&amp;(</a:t>
            </a:r>
            <a:r>
              <a:rPr lang="en-US" dirty="0" err="1" smtClean="0"/>
              <a:t>nilai_densito</a:t>
            </a:r>
            <a:r>
              <a:rPr lang="en-US" dirty="0" smtClean="0"/>
              <a:t>&lt;=744))</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("(3)");</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- 2.33;</a:t>
            </a:r>
          </a:p>
          <a:p>
            <a:endParaRPr lang="en-US" dirty="0" smtClean="0"/>
          </a:p>
          <a:p>
            <a:r>
              <a:rPr lang="en-US" dirty="0" err="1" smtClean="0"/>
              <a:t>lcd.setCursor</a:t>
            </a:r>
            <a:r>
              <a:rPr lang="en-US" dirty="0" smtClean="0"/>
              <a:t>(10,2);</a:t>
            </a:r>
          </a:p>
          <a:p>
            <a:r>
              <a:rPr lang="en-US" dirty="0" err="1" smtClean="0"/>
              <a:t>Icd.print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&gt;744)&amp;&amp;(</a:t>
            </a:r>
            <a:r>
              <a:rPr lang="en-US" dirty="0" err="1" smtClean="0"/>
              <a:t>nilai_densito</a:t>
            </a:r>
            <a:r>
              <a:rPr lang="en-US" dirty="0" smtClean="0"/>
              <a:t>&lt;=750))</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("(3)");</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- 2.36;</a:t>
            </a:r>
          </a:p>
          <a:p>
            <a:r>
              <a:rPr lang="en-US" dirty="0" smtClean="0"/>
              <a:t>1cd.setCursor(10,2);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&gt;750)&amp;&amp;(</a:t>
            </a:r>
            <a:r>
              <a:rPr lang="en-US" dirty="0" err="1" smtClean="0"/>
              <a:t>nilai_densito</a:t>
            </a:r>
            <a:r>
              <a:rPr lang="en-US" dirty="0" smtClean="0"/>
              <a:t>&lt;=756))</a:t>
            </a:r>
          </a:p>
          <a:p>
            <a:r>
              <a:rPr lang="en-US" dirty="0" smtClean="0"/>
              <a:t>{</a:t>
            </a:r>
          </a:p>
          <a:p>
            <a:r>
              <a:rPr lang="en-US" dirty="0" smtClean="0"/>
              <a:t>//</a:t>
            </a:r>
            <a:r>
              <a:rPr lang="en-US" dirty="0" err="1" smtClean="0"/>
              <a:t>lcd.setCursor</a:t>
            </a:r>
            <a:r>
              <a:rPr lang="en-US" dirty="0" smtClean="0"/>
              <a:t>(6,1);</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- 2.39;</a:t>
            </a:r>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Icd.print</a:t>
            </a:r>
            <a:r>
              <a:rPr lang="en-US" dirty="0" smtClean="0"/>
              <a:t>(voltage,2);</a:t>
            </a:r>
          </a:p>
          <a:p>
            <a:r>
              <a:rPr lang="en-US" dirty="0" smtClean="0"/>
              <a:t>}else</a:t>
            </a:r>
          </a:p>
          <a:p>
            <a:r>
              <a:rPr lang="en-US" dirty="0" smtClean="0"/>
              <a:t>if((</a:t>
            </a:r>
            <a:r>
              <a:rPr lang="en-US" dirty="0" err="1" smtClean="0"/>
              <a:t>nilai_densito</a:t>
            </a:r>
            <a:r>
              <a:rPr lang="en-US" dirty="0" smtClean="0"/>
              <a:t>&gt;839)&amp;&amp;(</a:t>
            </a:r>
            <a:r>
              <a:rPr lang="en-US" dirty="0" err="1" smtClean="0"/>
              <a:t>nilai_densito</a:t>
            </a:r>
            <a:r>
              <a:rPr lang="en-US" dirty="0" smtClean="0"/>
              <a:t>&lt;=842))</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("(4)");</a:t>
            </a:r>
          </a:p>
          <a:p>
            <a:r>
              <a:rPr lang="en-US" dirty="0" smtClean="0"/>
              <a:t>//delay(200);</a:t>
            </a:r>
          </a:p>
          <a:p>
            <a:endParaRPr lang="en-US" dirty="0" smtClean="0"/>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- 2.63;</a:t>
            </a:r>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&gt;842)&amp;&amp;(</a:t>
            </a:r>
            <a:r>
              <a:rPr lang="en-US" dirty="0" err="1" smtClean="0"/>
              <a:t>nilai_densito</a:t>
            </a:r>
            <a:r>
              <a:rPr lang="en-US" dirty="0" smtClean="0"/>
              <a:t>&lt;=846))</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("(4)");</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- 2.64;</a:t>
            </a:r>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&gt;846)&amp;&amp;(</a:t>
            </a:r>
            <a:r>
              <a:rPr lang="en-US" dirty="0" err="1" smtClean="0"/>
              <a:t>nilai_densito</a:t>
            </a:r>
            <a:r>
              <a:rPr lang="en-US" dirty="0" smtClean="0"/>
              <a:t>&lt;=850))</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("(4)");</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- 2.66;</a:t>
            </a:r>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&gt;850)&amp;&amp;(</a:t>
            </a:r>
            <a:r>
              <a:rPr lang="en-US" dirty="0" err="1" smtClean="0"/>
              <a:t>nilai_densito</a:t>
            </a:r>
            <a:r>
              <a:rPr lang="en-US" dirty="0" smtClean="0"/>
              <a:t>&lt;=855))</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("(4)");</a:t>
            </a:r>
          </a:p>
          <a:p>
            <a:r>
              <a:rPr lang="en-US" dirty="0" smtClean="0"/>
              <a:t>//delay(200);</a:t>
            </a:r>
          </a:p>
          <a:p>
            <a:r>
              <a:rPr lang="en-US" dirty="0" err="1" smtClean="0"/>
              <a:t>nilai_densito-analogRead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- 2.69;</a:t>
            </a:r>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&gt;855)&amp;&amp;(</a:t>
            </a:r>
            <a:r>
              <a:rPr lang="en-US" dirty="0" err="1" smtClean="0"/>
              <a:t>nilai_densito</a:t>
            </a:r>
            <a:r>
              <a:rPr lang="en-US" dirty="0" smtClean="0"/>
              <a:t>&lt;=861))</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("(4)");</a:t>
            </a:r>
          </a:p>
          <a:p>
            <a:r>
              <a:rPr lang="en-US" dirty="0" smtClean="0"/>
              <a:t>//delay(200);</a:t>
            </a:r>
          </a:p>
          <a:p>
            <a:r>
              <a:rPr lang="en-US" dirty="0" err="1" smtClean="0"/>
              <a:t>nilai_densitoanalogRead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- 2.71;</a:t>
            </a:r>
          </a:p>
          <a:p>
            <a:r>
              <a:rPr lang="en-US" dirty="0" err="1" smtClean="0"/>
              <a:t>lcd.setCursor</a:t>
            </a:r>
            <a:r>
              <a:rPr lang="en-US" dirty="0" smtClean="0"/>
              <a:t>(10,2);</a:t>
            </a:r>
          </a:p>
          <a:p>
            <a:r>
              <a:rPr lang="en-US" dirty="0" err="1" smtClean="0"/>
              <a:t>lcd.print</a:t>
            </a:r>
            <a:r>
              <a:rPr lang="en-US" dirty="0" smtClean="0"/>
              <a:t>("");</a:t>
            </a:r>
          </a:p>
          <a:p>
            <a:r>
              <a:rPr lang="en-US" dirty="0" smtClean="0"/>
              <a:t>1cd.setCursor(10,2);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&gt;871)&amp;&amp;(</a:t>
            </a:r>
            <a:r>
              <a:rPr lang="en-US" dirty="0" err="1" smtClean="0"/>
              <a:t>nilai_densito</a:t>
            </a:r>
            <a:r>
              <a:rPr lang="en-US" dirty="0" smtClean="0"/>
              <a:t>&lt;=877))</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("(5)");</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- 2.62;</a:t>
            </a:r>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&gt;877)&amp;&amp;(</a:t>
            </a:r>
            <a:r>
              <a:rPr lang="en-US" dirty="0" err="1" smtClean="0"/>
              <a:t>nilai_densito</a:t>
            </a:r>
            <a:r>
              <a:rPr lang="en-US" dirty="0" smtClean="0"/>
              <a:t>&lt;=883))</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("(5)");</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- 2.68;</a:t>
            </a:r>
          </a:p>
          <a:p>
            <a:r>
              <a:rPr lang="en-US" dirty="0" err="1" smtClean="0"/>
              <a:t>lcd.setCursor</a:t>
            </a:r>
            <a:r>
              <a:rPr lang="en-US" dirty="0" smtClean="0"/>
              <a:t>(10,2);</a:t>
            </a:r>
          </a:p>
          <a:p>
            <a:r>
              <a:rPr lang="en-US" dirty="0" err="1" smtClean="0"/>
              <a:t>Icd.print</a:t>
            </a:r>
            <a:r>
              <a:rPr lang="en-US" dirty="0" smtClean="0"/>
              <a:t>(" ");</a:t>
            </a:r>
          </a:p>
          <a:p>
            <a:r>
              <a:rPr lang="en-US" dirty="0" smtClean="0"/>
              <a:t>1cd.setCursor(10,2);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&gt;883)&amp;&amp;(</a:t>
            </a:r>
            <a:r>
              <a:rPr lang="en-US" dirty="0" err="1" smtClean="0"/>
              <a:t>nilai_densito</a:t>
            </a:r>
            <a:r>
              <a:rPr lang="en-US" dirty="0" smtClean="0"/>
              <a:t>&lt;=889))</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("(5)");</a:t>
            </a:r>
          </a:p>
          <a:p>
            <a:r>
              <a:rPr lang="en-US" dirty="0" smtClean="0"/>
              <a:t>//delay(200);</a:t>
            </a:r>
          </a:p>
          <a:p>
            <a:r>
              <a:rPr lang="en-US" dirty="0" err="1" smtClean="0"/>
              <a:t>nilai_densito-analogRead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- 2.71;</a:t>
            </a:r>
          </a:p>
          <a:p>
            <a:r>
              <a:rPr lang="en-US" dirty="0" smtClean="0"/>
              <a:t>1cd.setCursor(10,2);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err="1" smtClean="0"/>
              <a:t>Belse</a:t>
            </a:r>
            <a:endParaRPr lang="en-US" dirty="0" smtClean="0"/>
          </a:p>
          <a:p>
            <a:r>
              <a:rPr lang="en-US" dirty="0" smtClean="0"/>
              <a:t>if((</a:t>
            </a:r>
            <a:r>
              <a:rPr lang="en-US" dirty="0" err="1" smtClean="0"/>
              <a:t>nilai_densito</a:t>
            </a:r>
            <a:r>
              <a:rPr lang="en-US" dirty="0" smtClean="0"/>
              <a:t>&gt;889)&amp;&amp;(</a:t>
            </a:r>
            <a:r>
              <a:rPr lang="en-US" dirty="0" err="1" smtClean="0"/>
              <a:t>nilai_densito</a:t>
            </a:r>
            <a:r>
              <a:rPr lang="en-US" dirty="0" smtClean="0"/>
              <a:t>&lt;=895))</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Icd.print</a:t>
            </a:r>
            <a:r>
              <a:rPr lang="en-US" dirty="0" smtClean="0"/>
              <a:t>("(5)");</a:t>
            </a:r>
          </a:p>
          <a:p>
            <a:r>
              <a:rPr lang="en-US" dirty="0" smtClean="0"/>
              <a:t>//delay(200);</a:t>
            </a:r>
          </a:p>
          <a:p>
            <a:r>
              <a:rPr lang="en-US" dirty="0" err="1" smtClean="0"/>
              <a:t>nilai_densito-analogRead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- 2.74;</a:t>
            </a:r>
          </a:p>
          <a:p>
            <a:r>
              <a:rPr lang="en-US" dirty="0" err="1" smtClean="0"/>
              <a:t>Icd.setCursor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&gt;895)&amp;&amp;(</a:t>
            </a:r>
            <a:r>
              <a:rPr lang="en-US" dirty="0" err="1" smtClean="0"/>
              <a:t>nilai_densito</a:t>
            </a:r>
            <a:r>
              <a:rPr lang="en-US" dirty="0" smtClean="0"/>
              <a:t>&lt;=901))</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("(5)");</a:t>
            </a:r>
          </a:p>
          <a:p>
            <a:r>
              <a:rPr lang="en-US" dirty="0" smtClean="0"/>
              <a:t>//delay(200);</a:t>
            </a:r>
          </a:p>
          <a:p>
            <a:r>
              <a:rPr lang="en-US" dirty="0" err="1" smtClean="0"/>
              <a:t>nilai_densito-analogRead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- 2.77;</a:t>
            </a:r>
          </a:p>
          <a:p>
            <a:r>
              <a:rPr lang="en-US" dirty="0" smtClean="0"/>
              <a:t>1cd.setCursor(10,2);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&gt;926)&amp;&amp;(</a:t>
            </a:r>
            <a:r>
              <a:rPr lang="en-US" dirty="0" err="1" smtClean="0"/>
              <a:t>nilai_densito</a:t>
            </a:r>
            <a:r>
              <a:rPr lang="en-US" dirty="0" smtClean="0"/>
              <a:t>&lt;=932))</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("(6)");</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- 2.77;</a:t>
            </a:r>
          </a:p>
          <a:p>
            <a:r>
              <a:rPr lang="en-US" dirty="0" err="1" smtClean="0"/>
              <a:t>lcd.setCursor</a:t>
            </a:r>
            <a:r>
              <a:rPr lang="en-US" dirty="0" smtClean="0"/>
              <a:t>(10,2);</a:t>
            </a:r>
          </a:p>
          <a:p>
            <a:r>
              <a:rPr lang="en-US" dirty="0" err="1" smtClean="0"/>
              <a:t>Icd.print</a:t>
            </a:r>
            <a:r>
              <a:rPr lang="en-US" dirty="0" smtClean="0"/>
              <a:t>(" ");</a:t>
            </a:r>
          </a:p>
          <a:p>
            <a:r>
              <a:rPr lang="en-US" dirty="0" smtClean="0"/>
              <a:t>1cd.setCursor(10,2);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&gt;932)&amp;&amp;(</a:t>
            </a:r>
            <a:r>
              <a:rPr lang="en-US" dirty="0" err="1" smtClean="0"/>
              <a:t>nilai_densito</a:t>
            </a:r>
            <a:r>
              <a:rPr lang="en-US" dirty="0" smtClean="0"/>
              <a:t>&lt;=936))</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("(6)");</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- 2.80;</a:t>
            </a:r>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&gt;936)&amp;&amp;(</a:t>
            </a:r>
            <a:r>
              <a:rPr lang="en-US" dirty="0" err="1" smtClean="0"/>
              <a:t>nilai_densito</a:t>
            </a:r>
            <a:r>
              <a:rPr lang="en-US" dirty="0" smtClean="0"/>
              <a:t>&lt;=941))</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("(6)");</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- 2.82;</a:t>
            </a:r>
          </a:p>
          <a:p>
            <a:r>
              <a:rPr lang="en-US" dirty="0" smtClean="0"/>
              <a:t>1cd.setCursor(10,2);</a:t>
            </a:r>
          </a:p>
          <a:p>
            <a:r>
              <a:rPr lang="en-US" dirty="0" err="1" smtClean="0"/>
              <a:t>lcd.print</a:t>
            </a:r>
            <a:r>
              <a:rPr lang="en-US" dirty="0" smtClean="0"/>
              <a:t>("");</a:t>
            </a:r>
          </a:p>
          <a:p>
            <a:r>
              <a:rPr lang="en-US" dirty="0" smtClean="0"/>
              <a:t>1cd.setCursor(10,2);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&gt;941)&amp;&amp;(</a:t>
            </a:r>
            <a:r>
              <a:rPr lang="en-US" dirty="0" err="1" smtClean="0"/>
              <a:t>nilai_densito</a:t>
            </a:r>
            <a:r>
              <a:rPr lang="en-US" dirty="0" smtClean="0"/>
              <a:t>&lt;=945))</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("(6)");</a:t>
            </a:r>
          </a:p>
          <a:p>
            <a:r>
              <a:rPr lang="en-US" dirty="0" smtClean="0"/>
              <a:t>//delay(200);</a:t>
            </a:r>
          </a:p>
          <a:p>
            <a:r>
              <a:rPr lang="en-US" dirty="0" err="1" smtClean="0"/>
              <a:t>nilai_densito-analogRead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- 2.84;</a:t>
            </a:r>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&gt;945)&amp;&amp;(</a:t>
            </a:r>
            <a:r>
              <a:rPr lang="en-US" dirty="0" err="1" smtClean="0"/>
              <a:t>nilai_densito</a:t>
            </a:r>
            <a:r>
              <a:rPr lang="en-US" dirty="0" smtClean="0"/>
              <a:t>&lt;=951))</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("(6)");</a:t>
            </a:r>
          </a:p>
          <a:p>
            <a:r>
              <a:rPr lang="en-US" dirty="0" smtClean="0"/>
              <a:t>//delay(200);</a:t>
            </a:r>
          </a:p>
          <a:p>
            <a:r>
              <a:rPr lang="en-US" dirty="0" err="1" smtClean="0"/>
              <a:t>nilai_densito-analogRead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- 2.86;</a:t>
            </a:r>
          </a:p>
          <a:p>
            <a:r>
              <a:rPr lang="en-US" dirty="0" err="1" smtClean="0"/>
              <a:t>lcd.setCursor</a:t>
            </a:r>
            <a:r>
              <a:rPr lang="en-US" dirty="0" smtClean="0"/>
              <a:t>(10,2);</a:t>
            </a:r>
          </a:p>
          <a:p>
            <a:r>
              <a:rPr lang="en-US" dirty="0" err="1" smtClean="0"/>
              <a:t>lcd.print</a:t>
            </a:r>
            <a:r>
              <a:rPr lang="en-US" dirty="0" smtClean="0"/>
              <a:t>(" ");</a:t>
            </a:r>
          </a:p>
          <a:p>
            <a:r>
              <a:rPr lang="en-US" dirty="0" smtClean="0"/>
              <a:t>1cd.setCursor(10,2);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&gt;949)&amp;&amp;(</a:t>
            </a:r>
            <a:r>
              <a:rPr lang="en-US" dirty="0" err="1" smtClean="0"/>
              <a:t>nilai_densito</a:t>
            </a:r>
            <a:r>
              <a:rPr lang="en-US" dirty="0" smtClean="0"/>
              <a:t>&lt;=953))</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("(7)");</a:t>
            </a:r>
          </a:p>
          <a:p>
            <a:r>
              <a:rPr lang="en-US" dirty="0" smtClean="0"/>
              <a:t>//delay(200);</a:t>
            </a:r>
          </a:p>
          <a:p>
            <a:r>
              <a:rPr lang="en-US" dirty="0" err="1" smtClean="0"/>
              <a:t>nilai_densito-analogRead</a:t>
            </a:r>
            <a:r>
              <a:rPr lang="en-US" dirty="0" smtClean="0"/>
              <a:t>(</a:t>
            </a:r>
            <a:r>
              <a:rPr lang="en-US" dirty="0" err="1" smtClean="0"/>
              <a:t>densito</a:t>
            </a:r>
            <a:r>
              <a:rPr lang="en-US" dirty="0" smtClean="0"/>
              <a:t>);</a:t>
            </a:r>
          </a:p>
          <a:p>
            <a:r>
              <a:rPr lang="en-US" dirty="0" smtClean="0"/>
              <a:t>voltage = </a:t>
            </a:r>
            <a:r>
              <a:rPr lang="en-US" dirty="0" err="1" smtClean="0"/>
              <a:t>nilai</a:t>
            </a:r>
            <a:r>
              <a:rPr lang="en-US" dirty="0" smtClean="0"/>
              <a:t> </a:t>
            </a:r>
            <a:r>
              <a:rPr lang="en-US" dirty="0" err="1" smtClean="0"/>
              <a:t>densito</a:t>
            </a:r>
            <a:r>
              <a:rPr lang="en-US" dirty="0" smtClean="0"/>
              <a:t>*5.0/1024;</a:t>
            </a:r>
          </a:p>
          <a:p>
            <a:r>
              <a:rPr lang="en-US" dirty="0" smtClean="0"/>
              <a:t>voltage = voltage - 2.78;</a:t>
            </a:r>
          </a:p>
          <a:p>
            <a:r>
              <a:rPr lang="en-US" dirty="0" smtClean="0"/>
              <a:t>1cd.setCursor(10,2);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&gt;953)&amp;&amp;(</a:t>
            </a:r>
            <a:r>
              <a:rPr lang="en-US" dirty="0" err="1" smtClean="0"/>
              <a:t>nilai_densito</a:t>
            </a:r>
            <a:r>
              <a:rPr lang="en-US" dirty="0" smtClean="0"/>
              <a:t>&lt;=957))</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("(7)");</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- 2.79;</a:t>
            </a:r>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&gt;957)&amp;&amp;(</a:t>
            </a:r>
            <a:r>
              <a:rPr lang="en-US" dirty="0" err="1" smtClean="0"/>
              <a:t>nilai_densito</a:t>
            </a:r>
            <a:r>
              <a:rPr lang="en-US" dirty="0" smtClean="0"/>
              <a:t>&lt;=961))</a:t>
            </a:r>
          </a:p>
          <a:p>
            <a:r>
              <a:rPr lang="en-US" dirty="0" smtClean="0"/>
              <a:t>//</a:t>
            </a:r>
            <a:r>
              <a:rPr lang="en-US" dirty="0" err="1" smtClean="0"/>
              <a:t>lcd.setCursor</a:t>
            </a:r>
            <a:r>
              <a:rPr lang="en-US" dirty="0" smtClean="0"/>
              <a:t>(6,1); //</a:t>
            </a:r>
            <a:r>
              <a:rPr lang="en-US" dirty="0" err="1" smtClean="0"/>
              <a:t>lcd.print</a:t>
            </a:r>
            <a:r>
              <a:rPr lang="en-US" dirty="0" smtClean="0"/>
              <a:t>("(7)");</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a:t>
            </a:r>
            <a:r>
              <a:rPr lang="en-US" dirty="0" smtClean="0"/>
              <a:t> </a:t>
            </a:r>
            <a:r>
              <a:rPr lang="en-US" dirty="0" err="1" smtClean="0"/>
              <a:t>densito</a:t>
            </a:r>
            <a:r>
              <a:rPr lang="en-US" dirty="0" smtClean="0"/>
              <a:t>*5.0/1024;</a:t>
            </a:r>
          </a:p>
          <a:p>
            <a:r>
              <a:rPr lang="en-US" dirty="0" smtClean="0"/>
              <a:t>voltage = voltage - 2.82;</a:t>
            </a:r>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&gt;961)&amp;&amp;(</a:t>
            </a:r>
            <a:r>
              <a:rPr lang="en-US" dirty="0" err="1" smtClean="0"/>
              <a:t>nilai_densito</a:t>
            </a:r>
            <a:r>
              <a:rPr lang="en-US" dirty="0" smtClean="0"/>
              <a:t>&lt;=965))</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("(7)");</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- 2.84;</a:t>
            </a:r>
          </a:p>
          <a:p>
            <a:r>
              <a:rPr lang="en-US" dirty="0" smtClean="0"/>
              <a:t>1cd.setCursor(10,2);</a:t>
            </a:r>
          </a:p>
          <a:p>
            <a:r>
              <a:rPr lang="en-US" dirty="0" err="1" smtClean="0"/>
              <a:t>Icd.print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&gt;965)&amp;&amp;(</a:t>
            </a:r>
            <a:r>
              <a:rPr lang="en-US" dirty="0" err="1" smtClean="0"/>
              <a:t>nilai_densito</a:t>
            </a:r>
            <a:r>
              <a:rPr lang="en-US" dirty="0" smtClean="0"/>
              <a:t>&lt;=968))</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("(7)");</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- 2.85;</a:t>
            </a:r>
          </a:p>
          <a:p>
            <a:r>
              <a:rPr lang="en-US" dirty="0" err="1" smtClean="0"/>
              <a:t>lcd.setCursor</a:t>
            </a:r>
            <a:r>
              <a:rPr lang="en-US" dirty="0" smtClean="0"/>
              <a:t>(10,2);</a:t>
            </a:r>
          </a:p>
          <a:p>
            <a:r>
              <a:rPr lang="en-US" dirty="0" err="1" smtClean="0"/>
              <a:t>Icd.print</a:t>
            </a:r>
            <a:r>
              <a:rPr lang="en-US" dirty="0" smtClean="0"/>
              <a:t>(" ");</a:t>
            </a:r>
          </a:p>
          <a:p>
            <a:r>
              <a:rPr lang="en-US" dirty="0" err="1" smtClean="0"/>
              <a:t>Icd.setCursor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&gt;961)&amp;&amp;(</a:t>
            </a:r>
            <a:r>
              <a:rPr lang="en-US" dirty="0" err="1" smtClean="0"/>
              <a:t>nilai_densito</a:t>
            </a:r>
            <a:r>
              <a:rPr lang="en-US" dirty="0" smtClean="0"/>
              <a:t>&lt;=967))</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("(8)");</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- 2.79;</a:t>
            </a:r>
          </a:p>
          <a:p>
            <a:r>
              <a:rPr lang="en-US" dirty="0" err="1" smtClean="0"/>
              <a:t>lcd.setCursor</a:t>
            </a:r>
            <a:r>
              <a:rPr lang="en-US" dirty="0" smtClean="0"/>
              <a:t>(10,2);</a:t>
            </a:r>
          </a:p>
          <a:p>
            <a:r>
              <a:rPr lang="en-US" dirty="0" err="1" smtClean="0"/>
              <a:t>Icd.print</a:t>
            </a:r>
            <a:r>
              <a:rPr lang="en-US" dirty="0" smtClean="0"/>
              <a:t>(" ");</a:t>
            </a:r>
          </a:p>
          <a:p>
            <a:r>
              <a:rPr lang="en-US" dirty="0" smtClean="0"/>
              <a:t>1cd.setCursor(10,2);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&gt;967)&amp;&amp;(</a:t>
            </a:r>
            <a:r>
              <a:rPr lang="en-US" dirty="0" err="1" smtClean="0"/>
              <a:t>nilai_densito</a:t>
            </a:r>
            <a:r>
              <a:rPr lang="en-US" dirty="0" smtClean="0"/>
              <a:t>&lt;=971))</a:t>
            </a:r>
          </a:p>
          <a:p>
            <a:r>
              <a:rPr lang="en-US" dirty="0" smtClean="0"/>
              <a:t>if((</a:t>
            </a:r>
            <a:r>
              <a:rPr lang="en-US" dirty="0" err="1" smtClean="0"/>
              <a:t>nilai_densito</a:t>
            </a:r>
            <a:r>
              <a:rPr lang="en-US" dirty="0" smtClean="0"/>
              <a:t>&gt;967)&amp;&amp;(</a:t>
            </a:r>
            <a:r>
              <a:rPr lang="en-US" dirty="0" err="1" smtClean="0"/>
              <a:t>nilai_densito</a:t>
            </a:r>
            <a:r>
              <a:rPr lang="en-US" dirty="0" smtClean="0"/>
              <a:t>&lt;=971))</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("(8)");</a:t>
            </a:r>
          </a:p>
          <a:p>
            <a:r>
              <a:rPr lang="en-US" dirty="0" smtClean="0"/>
              <a:t>//delay(200);</a:t>
            </a:r>
          </a:p>
          <a:p>
            <a:r>
              <a:rPr lang="en-US" dirty="0" err="1" smtClean="0"/>
              <a:t>nilai_densito-analogRead</a:t>
            </a:r>
            <a:r>
              <a:rPr lang="en-US" dirty="0" smtClean="0"/>
              <a:t>(</a:t>
            </a:r>
            <a:r>
              <a:rPr lang="en-US" dirty="0" err="1" smtClean="0"/>
              <a:t>densito</a:t>
            </a:r>
            <a:r>
              <a:rPr lang="en-US" dirty="0" smtClean="0"/>
              <a:t>);</a:t>
            </a:r>
          </a:p>
          <a:p>
            <a:r>
              <a:rPr lang="en-US" dirty="0" smtClean="0"/>
              <a:t>voltage = </a:t>
            </a:r>
            <a:r>
              <a:rPr lang="en-US" dirty="0" err="1" smtClean="0"/>
              <a:t>nilai</a:t>
            </a:r>
            <a:r>
              <a:rPr lang="en-US" dirty="0" smtClean="0"/>
              <a:t> </a:t>
            </a:r>
            <a:r>
              <a:rPr lang="en-US" dirty="0" err="1" smtClean="0"/>
              <a:t>densito</a:t>
            </a:r>
            <a:r>
              <a:rPr lang="en-US" dirty="0" smtClean="0"/>
              <a:t>*5.0/1024;</a:t>
            </a:r>
          </a:p>
          <a:p>
            <a:r>
              <a:rPr lang="en-US" dirty="0" smtClean="0"/>
              <a:t>voltage = voltage - 2.71;</a:t>
            </a:r>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&gt;971)&amp;&amp;(</a:t>
            </a:r>
            <a:r>
              <a:rPr lang="en-US" dirty="0" err="1" smtClean="0"/>
              <a:t>nilai_densito</a:t>
            </a:r>
            <a:r>
              <a:rPr lang="en-US" dirty="0" smtClean="0"/>
              <a:t>&lt;=975))</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("(8)");</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- 2.73;</a:t>
            </a:r>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&gt;975)&amp;&amp;(</a:t>
            </a:r>
            <a:r>
              <a:rPr lang="en-US" dirty="0" err="1" smtClean="0"/>
              <a:t>nilai_densito</a:t>
            </a:r>
            <a:r>
              <a:rPr lang="en-US" dirty="0" smtClean="0"/>
              <a:t>&lt;=977))</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("(8)");</a:t>
            </a:r>
          </a:p>
          <a:p>
            <a:r>
              <a:rPr lang="en-US" dirty="0" smtClean="0"/>
              <a:t>//delay(200);</a:t>
            </a:r>
          </a:p>
          <a:p>
            <a:r>
              <a:rPr lang="en-US" dirty="0" err="1" smtClean="0"/>
              <a:t>nilai_densito-analogRead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- 2.75;</a:t>
            </a:r>
          </a:p>
          <a:p>
            <a:r>
              <a:rPr lang="en-US" dirty="0" err="1" smtClean="0"/>
              <a:t>Icd.setCursor</a:t>
            </a:r>
            <a:r>
              <a:rPr lang="en-US" dirty="0" smtClean="0"/>
              <a:t>(10,2);</a:t>
            </a:r>
          </a:p>
          <a:p>
            <a:r>
              <a:rPr lang="en-US" dirty="0" err="1" smtClean="0"/>
              <a:t>lcd.print</a:t>
            </a:r>
            <a:r>
              <a:rPr lang="en-US" dirty="0" smtClean="0"/>
              <a:t>(" ");</a:t>
            </a:r>
          </a:p>
          <a:p>
            <a:r>
              <a:rPr lang="en-US" dirty="0" err="1" smtClean="0"/>
              <a:t>Icd.setCursor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&gt;977)&amp;&amp;(</a:t>
            </a:r>
            <a:r>
              <a:rPr lang="en-US" dirty="0" err="1" smtClean="0"/>
              <a:t>nilai_densito</a:t>
            </a:r>
            <a:r>
              <a:rPr lang="en-US" dirty="0" smtClean="0"/>
              <a:t>&lt;=982))</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("(8)");</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- 2.76;</a:t>
            </a:r>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&gt;980)&amp;&amp;(</a:t>
            </a:r>
            <a:r>
              <a:rPr lang="en-US" dirty="0" err="1" smtClean="0"/>
              <a:t>nilai_densito</a:t>
            </a:r>
            <a:r>
              <a:rPr lang="en-US" dirty="0" smtClean="0"/>
              <a:t>&lt;=986))</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("(9)");</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- 2.68;</a:t>
            </a:r>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&gt;986)&amp;&amp;(</a:t>
            </a:r>
            <a:r>
              <a:rPr lang="en-US" dirty="0" err="1" smtClean="0"/>
              <a:t>nilai_densito</a:t>
            </a:r>
            <a:r>
              <a:rPr lang="en-US" dirty="0" smtClean="0"/>
              <a:t>&lt;=990))</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("(9)");</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- 2.7;</a:t>
            </a:r>
          </a:p>
          <a:p>
            <a:r>
              <a:rPr lang="en-US" dirty="0" err="1" smtClean="0"/>
              <a:t>Icd.setCursor</a:t>
            </a:r>
            <a:r>
              <a:rPr lang="en-US" dirty="0" smtClean="0"/>
              <a:t>(10,2);</a:t>
            </a:r>
          </a:p>
          <a:p>
            <a:r>
              <a:rPr lang="en-US" dirty="0" err="1" smtClean="0"/>
              <a:t>Icd.print</a:t>
            </a:r>
            <a:r>
              <a:rPr lang="en-US" dirty="0" smtClean="0"/>
              <a:t>("");</a:t>
            </a:r>
          </a:p>
          <a:p>
            <a:r>
              <a:rPr lang="en-US" dirty="0" smtClean="0"/>
              <a:t>1cd.setCursor(10,2);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&gt;990)&amp;&amp;(</a:t>
            </a:r>
            <a:r>
              <a:rPr lang="en-US" dirty="0" err="1" smtClean="0"/>
              <a:t>nilai_densito</a:t>
            </a:r>
            <a:r>
              <a:rPr lang="en-US" dirty="0" smtClean="0"/>
              <a:t>&lt;=995))</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("(9)");</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- 2.72;</a:t>
            </a:r>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&gt;992)&amp;&amp;(</a:t>
            </a:r>
            <a:r>
              <a:rPr lang="en-US" dirty="0" err="1" smtClean="0"/>
              <a:t>nilai_densito</a:t>
            </a:r>
            <a:r>
              <a:rPr lang="en-US" dirty="0" smtClean="0"/>
              <a:t>&lt;=994))</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Icd.print</a:t>
            </a:r>
            <a:r>
              <a:rPr lang="en-US" dirty="0" smtClean="0"/>
              <a:t>("(10)");</a:t>
            </a:r>
          </a:p>
          <a:p>
            <a:r>
              <a:rPr lang="en-US" dirty="0" smtClean="0"/>
              <a:t>//delay(200);</a:t>
            </a:r>
          </a:p>
          <a:p>
            <a:r>
              <a:rPr lang="en-US" dirty="0" err="1" smtClean="0"/>
              <a:t>nilai_densito-analogRead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- 2.62;</a:t>
            </a:r>
          </a:p>
          <a:p>
            <a:r>
              <a:rPr lang="en-US" dirty="0" err="1" smtClean="0"/>
              <a:t>lcd.setCursor</a:t>
            </a:r>
            <a:r>
              <a:rPr lang="en-US" dirty="0" smtClean="0"/>
              <a:t>(10,2);</a:t>
            </a:r>
          </a:p>
          <a:p>
            <a:r>
              <a:rPr lang="en-US" dirty="0" err="1" smtClean="0"/>
              <a:t>Icd.print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&gt;994)&amp;&amp;(</a:t>
            </a:r>
            <a:r>
              <a:rPr lang="en-US" dirty="0" err="1" smtClean="0"/>
              <a:t>nilai_densito</a:t>
            </a:r>
            <a:r>
              <a:rPr lang="en-US" dirty="0" smtClean="0"/>
              <a:t>&lt;=995))</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("(10)");</a:t>
            </a:r>
          </a:p>
          <a:p>
            <a:r>
              <a:rPr lang="en-US" dirty="0" smtClean="0"/>
              <a:t>//delay(200);</a:t>
            </a:r>
          </a:p>
          <a:p>
            <a:r>
              <a:rPr lang="en-US" dirty="0" err="1" smtClean="0"/>
              <a:t>nilai_densito-analogRead</a:t>
            </a:r>
            <a:r>
              <a:rPr lang="en-US" dirty="0" smtClean="0"/>
              <a:t>(</a:t>
            </a:r>
            <a:r>
              <a:rPr lang="en-US" dirty="0" err="1" smtClean="0"/>
              <a:t>densito</a:t>
            </a:r>
            <a:r>
              <a:rPr lang="en-US" dirty="0" smtClean="0"/>
              <a:t>);</a:t>
            </a:r>
          </a:p>
          <a:p>
            <a:r>
              <a:rPr lang="en-US" dirty="0" smtClean="0"/>
              <a:t>voltage = </a:t>
            </a:r>
            <a:r>
              <a:rPr lang="en-US" dirty="0" err="1" smtClean="0"/>
              <a:t>nilai</a:t>
            </a:r>
            <a:r>
              <a:rPr lang="en-US" dirty="0" smtClean="0"/>
              <a:t> </a:t>
            </a:r>
            <a:r>
              <a:rPr lang="en-US" dirty="0" err="1" smtClean="0"/>
              <a:t>densito</a:t>
            </a:r>
            <a:r>
              <a:rPr lang="en-US" dirty="0" smtClean="0"/>
              <a:t>*5.0/1024;</a:t>
            </a:r>
          </a:p>
          <a:p>
            <a:r>
              <a:rPr lang="en-US" dirty="0" smtClean="0"/>
              <a:t>voltage = voltage - 2.63;</a:t>
            </a:r>
          </a:p>
          <a:p>
            <a:r>
              <a:rPr lang="en-US" dirty="0" smtClean="0"/>
              <a:t>1cd.setCursor(10,2);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if((</a:t>
            </a:r>
            <a:r>
              <a:rPr lang="en-US" dirty="0" err="1" smtClean="0"/>
              <a:t>nilai_densito</a:t>
            </a:r>
            <a:r>
              <a:rPr lang="en-US" dirty="0" smtClean="0"/>
              <a:t>&gt;995)&amp;&amp;(</a:t>
            </a:r>
            <a:r>
              <a:rPr lang="en-US" dirty="0" err="1" smtClean="0"/>
              <a:t>nilai_densito</a:t>
            </a:r>
            <a:r>
              <a:rPr lang="en-US" dirty="0" smtClean="0"/>
              <a:t>&lt;=1001))</a:t>
            </a:r>
          </a:p>
          <a:p>
            <a:r>
              <a:rPr lang="en-US" dirty="0" smtClean="0"/>
              <a:t>{</a:t>
            </a:r>
          </a:p>
          <a:p>
            <a:r>
              <a:rPr lang="en-US" dirty="0" smtClean="0"/>
              <a:t>//</a:t>
            </a:r>
            <a:r>
              <a:rPr lang="en-US" dirty="0" err="1" smtClean="0"/>
              <a:t>lcd.setCursor</a:t>
            </a:r>
            <a:r>
              <a:rPr lang="en-US" dirty="0" smtClean="0"/>
              <a:t>(6,1);</a:t>
            </a:r>
          </a:p>
          <a:p>
            <a:r>
              <a:rPr lang="en-US" dirty="0" smtClean="0"/>
              <a:t>//</a:t>
            </a:r>
            <a:r>
              <a:rPr lang="en-US" dirty="0" err="1" smtClean="0"/>
              <a:t>lcd.print</a:t>
            </a:r>
            <a:r>
              <a:rPr lang="en-US" dirty="0" smtClean="0"/>
              <a:t>("(10)");</a:t>
            </a:r>
          </a:p>
          <a:p>
            <a:r>
              <a:rPr lang="en-US" dirty="0" smtClean="0"/>
              <a:t>//delay(200);</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smtClean="0"/>
              <a:t>voltage = voltage - 2.64;</a:t>
            </a:r>
          </a:p>
          <a:p>
            <a:r>
              <a:rPr lang="en-US" dirty="0" err="1" smtClean="0"/>
              <a:t>lcd.setCursor</a:t>
            </a:r>
            <a:r>
              <a:rPr lang="en-US" dirty="0" smtClean="0"/>
              <a:t>(10,2);</a:t>
            </a:r>
          </a:p>
          <a:p>
            <a:r>
              <a:rPr lang="en-US" dirty="0" err="1" smtClean="0"/>
              <a:t>lcd.print</a:t>
            </a:r>
            <a:r>
              <a:rPr lang="en-US" dirty="0" smtClean="0"/>
              <a:t>(" ");</a:t>
            </a:r>
          </a:p>
          <a:p>
            <a:r>
              <a:rPr lang="en-US" dirty="0" err="1" smtClean="0"/>
              <a:t>lcd.setCursor</a:t>
            </a:r>
            <a:r>
              <a:rPr lang="en-US" dirty="0" smtClean="0"/>
              <a:t>(10,2);</a:t>
            </a:r>
          </a:p>
          <a:p>
            <a:r>
              <a:rPr lang="en-US" dirty="0" err="1" smtClean="0"/>
              <a:t>lcd.print</a:t>
            </a:r>
            <a:r>
              <a:rPr lang="en-US" dirty="0" smtClean="0"/>
              <a:t>(voltage,2);</a:t>
            </a:r>
          </a:p>
          <a:p>
            <a:r>
              <a:rPr lang="en-US" dirty="0" smtClean="0"/>
              <a:t>else</a:t>
            </a:r>
          </a:p>
          <a:p>
            <a:r>
              <a:rPr lang="en-US" dirty="0" smtClean="0"/>
              <a:t>delay(200);</a:t>
            </a:r>
          </a:p>
          <a:p>
            <a:r>
              <a:rPr lang="en-US" dirty="0" smtClean="0"/>
              <a:t>void </a:t>
            </a:r>
            <a:r>
              <a:rPr lang="en-US" dirty="0" err="1" smtClean="0"/>
              <a:t>baca_sensor_densito_proses</a:t>
            </a:r>
            <a:r>
              <a:rPr lang="en-US" dirty="0" smtClean="0"/>
              <a:t>()</a:t>
            </a:r>
          </a:p>
          <a:p>
            <a:r>
              <a:rPr lang="en-US" dirty="0" smtClean="0"/>
              <a:t>delay(500);</a:t>
            </a:r>
          </a:p>
          <a:p>
            <a:r>
              <a:rPr lang="en-US" dirty="0" smtClean="0"/>
              <a:t>count=15;</a:t>
            </a:r>
          </a:p>
          <a:p>
            <a:r>
              <a:rPr lang="en-US" dirty="0" smtClean="0"/>
              <a:t>while(count&gt;0)</a:t>
            </a:r>
          </a:p>
          <a:p>
            <a:r>
              <a:rPr lang="en-US" dirty="0" smtClean="0"/>
              <a:t>{</a:t>
            </a:r>
          </a:p>
          <a:p>
            <a:r>
              <a:rPr lang="en-US" dirty="0" err="1" smtClean="0"/>
              <a:t>nilai_densito</a:t>
            </a:r>
            <a:r>
              <a:rPr lang="en-US" dirty="0" smtClean="0"/>
              <a:t>=</a:t>
            </a:r>
            <a:r>
              <a:rPr lang="en-US" dirty="0" err="1" smtClean="0"/>
              <a:t>analogRead</a:t>
            </a:r>
            <a:r>
              <a:rPr lang="en-US" dirty="0" smtClean="0"/>
              <a:t>(</a:t>
            </a:r>
            <a:r>
              <a:rPr lang="en-US" dirty="0" err="1" smtClean="0"/>
              <a:t>densito</a:t>
            </a:r>
            <a:r>
              <a:rPr lang="en-US" dirty="0" smtClean="0"/>
              <a:t>);</a:t>
            </a:r>
          </a:p>
          <a:p>
            <a:r>
              <a:rPr lang="en-US" dirty="0" smtClean="0"/>
              <a:t>voltage = </a:t>
            </a:r>
            <a:r>
              <a:rPr lang="en-US" dirty="0" err="1" smtClean="0"/>
              <a:t>nilai_densito</a:t>
            </a:r>
            <a:r>
              <a:rPr lang="en-US" dirty="0" smtClean="0"/>
              <a:t>*5.0/1024;</a:t>
            </a:r>
          </a:p>
          <a:p>
            <a:r>
              <a:rPr lang="en-US" dirty="0" err="1" smtClean="0"/>
              <a:t>lcd.setCursor</a:t>
            </a:r>
            <a:r>
              <a:rPr lang="en-US" dirty="0" smtClean="0"/>
              <a:t>(14,1);</a:t>
            </a:r>
          </a:p>
          <a:p>
            <a:r>
              <a:rPr lang="en-US" dirty="0" err="1" smtClean="0"/>
              <a:t>lcd.print</a:t>
            </a:r>
            <a:r>
              <a:rPr lang="en-US" dirty="0" smtClean="0"/>
              <a:t>(" "); |</a:t>
            </a:r>
          </a:p>
          <a:p>
            <a:r>
              <a:rPr lang="en-US" dirty="0" err="1" smtClean="0"/>
              <a:t>lcd.setCursor</a:t>
            </a:r>
            <a:r>
              <a:rPr lang="en-US" dirty="0" smtClean="0"/>
              <a:t>(14,1);</a:t>
            </a:r>
          </a:p>
          <a:p>
            <a:r>
              <a:rPr lang="en-US" dirty="0" err="1" smtClean="0"/>
              <a:t>lcd.print</a:t>
            </a:r>
            <a:r>
              <a:rPr lang="en-US" dirty="0" smtClean="0"/>
              <a:t>(voltage);</a:t>
            </a:r>
          </a:p>
          <a:p>
            <a:r>
              <a:rPr lang="en-US" dirty="0" smtClean="0"/>
              <a:t>1cd.setCursor(3, 0);</a:t>
            </a:r>
          </a:p>
          <a:p>
            <a:r>
              <a:rPr lang="en-US" dirty="0" err="1" smtClean="0"/>
              <a:t>lcd.print</a:t>
            </a:r>
            <a:r>
              <a:rPr lang="en-US" dirty="0" smtClean="0"/>
              <a:t>(" ");</a:t>
            </a:r>
          </a:p>
          <a:p>
            <a:r>
              <a:rPr lang="en-US" dirty="0" err="1" smtClean="0"/>
              <a:t>lcd.setCursor</a:t>
            </a:r>
            <a:r>
              <a:rPr lang="en-US" dirty="0" smtClean="0"/>
              <a:t>(3, 0);</a:t>
            </a:r>
          </a:p>
          <a:p>
            <a:r>
              <a:rPr lang="en-US" dirty="0" err="1" smtClean="0"/>
              <a:t>Icd.print</a:t>
            </a:r>
            <a:r>
              <a:rPr lang="en-US" dirty="0" smtClean="0"/>
              <a:t>(</a:t>
            </a:r>
            <a:r>
              <a:rPr lang="en-US" dirty="0" err="1" smtClean="0"/>
              <a:t>nilai_densito</a:t>
            </a:r>
            <a:r>
              <a:rPr lang="en-US" dirty="0" smtClean="0"/>
              <a:t>);</a:t>
            </a:r>
          </a:p>
          <a:p>
            <a:r>
              <a:rPr lang="en-US" dirty="0" smtClean="0"/>
              <a:t>delay(400);</a:t>
            </a:r>
          </a:p>
          <a:p>
            <a:r>
              <a:rPr lang="en-US" dirty="0" smtClean="0"/>
              <a:t>count=count-1;</a:t>
            </a:r>
          </a:p>
          <a:p>
            <a:r>
              <a:rPr lang="en-US" dirty="0" smtClean="0"/>
              <a:t>}</a:t>
            </a:r>
          </a:p>
          <a:p>
            <a:r>
              <a:rPr lang="en-US" dirty="0" smtClean="0"/>
              <a:t>delay(200);</a:t>
            </a:r>
          </a:p>
          <a:p>
            <a:r>
              <a:rPr lang="en-US" dirty="0" smtClean="0"/>
              <a:t>void </a:t>
            </a:r>
            <a:r>
              <a:rPr lang="en-US" dirty="0" err="1" smtClean="0"/>
              <a:t>proses_awal</a:t>
            </a:r>
            <a:r>
              <a:rPr lang="en-US" dirty="0" smtClean="0"/>
              <a:t>()</a:t>
            </a:r>
          </a:p>
          <a:p>
            <a:r>
              <a:rPr lang="en-US" dirty="0" smtClean="0"/>
              <a:t>sampling=20;</a:t>
            </a:r>
          </a:p>
          <a:p>
            <a:r>
              <a:rPr lang="en-US" dirty="0" smtClean="0"/>
              <a:t>1cd.setCursor(0,3);</a:t>
            </a:r>
          </a:p>
          <a:p>
            <a:r>
              <a:rPr lang="en-US" dirty="0" smtClean="0"/>
              <a:t>while(sampling!=0)</a:t>
            </a:r>
          </a:p>
          <a:p>
            <a:r>
              <a:rPr lang="en-US" dirty="0" smtClean="0"/>
              <a:t>delay(50);</a:t>
            </a:r>
          </a:p>
          <a:p>
            <a:r>
              <a:rPr lang="en-US" dirty="0" err="1" smtClean="0"/>
              <a:t>lcd.print</a:t>
            </a:r>
            <a:r>
              <a:rPr lang="en-US" dirty="0" smtClean="0"/>
              <a:t>('.');</a:t>
            </a:r>
          </a:p>
          <a:p>
            <a:r>
              <a:rPr lang="en-US" dirty="0" smtClean="0"/>
              <a:t>sampling--;</a:t>
            </a:r>
          </a:p>
          <a:p>
            <a:r>
              <a:rPr lang="en-US" dirty="0" smtClean="0"/>
              <a:t>nada();</a:t>
            </a:r>
          </a:p>
          <a:p>
            <a:r>
              <a:rPr lang="en-US" dirty="0" smtClean="0"/>
              <a:t>}</a:t>
            </a:r>
          </a:p>
          <a:p>
            <a:r>
              <a:rPr lang="en-US" dirty="0" smtClean="0"/>
              <a:t>void setup(void)</a:t>
            </a:r>
          </a:p>
          <a:p>
            <a:r>
              <a:rPr lang="en-US" dirty="0" smtClean="0"/>
              <a:t>{</a:t>
            </a:r>
          </a:p>
          <a:p>
            <a:r>
              <a:rPr lang="en-US" dirty="0" err="1" smtClean="0"/>
              <a:t>lcd.init</a:t>
            </a:r>
            <a:r>
              <a:rPr lang="en-US" dirty="0" smtClean="0"/>
              <a:t>(); // initialize the </a:t>
            </a:r>
            <a:r>
              <a:rPr lang="en-US" dirty="0" err="1" smtClean="0"/>
              <a:t>lcd</a:t>
            </a:r>
            <a:endParaRPr lang="en-US" dirty="0" smtClean="0"/>
          </a:p>
          <a:p>
            <a:r>
              <a:rPr lang="en-US" dirty="0" err="1" smtClean="0"/>
              <a:t>lcd.init</a:t>
            </a:r>
            <a:r>
              <a:rPr lang="en-US" dirty="0" smtClean="0"/>
              <a:t>();</a:t>
            </a:r>
          </a:p>
          <a:p>
            <a:r>
              <a:rPr lang="en-US" dirty="0" smtClean="0"/>
              <a:t>// Print a message to the LCD.</a:t>
            </a:r>
          </a:p>
          <a:p>
            <a:r>
              <a:rPr lang="en-US" dirty="0" err="1" smtClean="0"/>
              <a:t>lcd.backlight</a:t>
            </a:r>
            <a:r>
              <a:rPr lang="en-US" dirty="0" smtClean="0"/>
              <a:t>();</a:t>
            </a:r>
          </a:p>
          <a:p>
            <a:r>
              <a:rPr lang="en-US" dirty="0" err="1" smtClean="0"/>
              <a:t>pinMode</a:t>
            </a:r>
            <a:r>
              <a:rPr lang="en-US" dirty="0" smtClean="0"/>
              <a:t>(</a:t>
            </a:r>
            <a:r>
              <a:rPr lang="en-US" dirty="0" err="1" smtClean="0"/>
              <a:t>buzz,OUTPUT</a:t>
            </a:r>
            <a:r>
              <a:rPr lang="en-US" dirty="0" smtClean="0"/>
              <a:t>);</a:t>
            </a:r>
          </a:p>
          <a:p>
            <a:r>
              <a:rPr lang="en-US" dirty="0" err="1" smtClean="0"/>
              <a:t>pinMode</a:t>
            </a:r>
            <a:r>
              <a:rPr lang="en-US" dirty="0" smtClean="0"/>
              <a:t>(</a:t>
            </a:r>
            <a:r>
              <a:rPr lang="en-US" dirty="0" err="1" smtClean="0"/>
              <a:t>buttonStart</a:t>
            </a:r>
            <a:r>
              <a:rPr lang="en-US" dirty="0" smtClean="0"/>
              <a:t>, INPUT);</a:t>
            </a:r>
          </a:p>
          <a:p>
            <a:r>
              <a:rPr lang="en-US" dirty="0" err="1" smtClean="0"/>
              <a:t>digitalWrite</a:t>
            </a:r>
            <a:r>
              <a:rPr lang="en-US" dirty="0" smtClean="0"/>
              <a:t>(</a:t>
            </a:r>
            <a:r>
              <a:rPr lang="en-US" dirty="0" err="1" smtClean="0"/>
              <a:t>buttonStart</a:t>
            </a:r>
            <a:r>
              <a:rPr lang="en-US" dirty="0" smtClean="0"/>
              <a:t>, HIGH)</a:t>
            </a:r>
          </a:p>
          <a:p>
            <a:r>
              <a:rPr lang="en-US" dirty="0" err="1" smtClean="0"/>
              <a:t>pinMode</a:t>
            </a:r>
            <a:r>
              <a:rPr lang="en-US" dirty="0" smtClean="0"/>
              <a:t>(</a:t>
            </a:r>
            <a:r>
              <a:rPr lang="en-US" dirty="0" err="1" smtClean="0"/>
              <a:t>buttoncal</a:t>
            </a:r>
            <a:r>
              <a:rPr lang="en-US" dirty="0" smtClean="0"/>
              <a:t>, INPUT);</a:t>
            </a:r>
          </a:p>
          <a:p>
            <a:r>
              <a:rPr lang="en-US" dirty="0" err="1" smtClean="0"/>
              <a:t>digitalWrite</a:t>
            </a:r>
            <a:r>
              <a:rPr lang="en-US" dirty="0" smtClean="0"/>
              <a:t>(</a:t>
            </a:r>
            <a:r>
              <a:rPr lang="en-US" dirty="0" err="1" smtClean="0"/>
              <a:t>buttoncal</a:t>
            </a:r>
            <a:r>
              <a:rPr lang="en-US" dirty="0" smtClean="0"/>
              <a:t>, HIGH);</a:t>
            </a:r>
          </a:p>
          <a:p>
            <a:r>
              <a:rPr lang="en-US" dirty="0" smtClean="0"/>
              <a:t>run nada=1;</a:t>
            </a:r>
          </a:p>
          <a:p>
            <a:r>
              <a:rPr lang="en-US" dirty="0" smtClean="0"/>
              <a:t>nada);</a:t>
            </a:r>
          </a:p>
          <a:p>
            <a:r>
              <a:rPr lang="en-US" dirty="0" err="1" smtClean="0"/>
              <a:t>run_nada</a:t>
            </a:r>
            <a:r>
              <a:rPr lang="en-US" dirty="0" smtClean="0"/>
              <a:t>=0;</a:t>
            </a:r>
          </a:p>
          <a:p>
            <a:r>
              <a:rPr lang="en-US" dirty="0" err="1" smtClean="0"/>
              <a:t>tampil_judul</a:t>
            </a:r>
            <a:r>
              <a:rPr lang="en-US" dirty="0" smtClean="0"/>
              <a:t>();</a:t>
            </a:r>
          </a:p>
          <a:p>
            <a:r>
              <a:rPr lang="en-US" dirty="0" smtClean="0"/>
              <a:t>delay(200);</a:t>
            </a:r>
          </a:p>
          <a:p>
            <a:r>
              <a:rPr lang="en-US" dirty="0" err="1" smtClean="0"/>
              <a:t>idel</a:t>
            </a:r>
            <a:r>
              <a:rPr lang="en-US" dirty="0" smtClean="0"/>
              <a:t>);</a:t>
            </a:r>
          </a:p>
          <a:p>
            <a:r>
              <a:rPr lang="en-US" dirty="0" smtClean="0"/>
              <a:t>delay(200);</a:t>
            </a:r>
          </a:p>
          <a:p>
            <a:r>
              <a:rPr lang="en-US" dirty="0" smtClean="0"/>
              <a:t>void loop(void)</a:t>
            </a:r>
          </a:p>
          <a:p>
            <a:r>
              <a:rPr lang="en-US" dirty="0" smtClean="0"/>
              <a:t>if (</a:t>
            </a:r>
            <a:r>
              <a:rPr lang="en-US" dirty="0" err="1" smtClean="0"/>
              <a:t>digitalRead</a:t>
            </a:r>
            <a:r>
              <a:rPr lang="en-US" dirty="0" smtClean="0"/>
              <a:t>(button Start) ==LOW)</a:t>
            </a:r>
          </a:p>
          <a:p>
            <a:r>
              <a:rPr lang="en-US" dirty="0" smtClean="0"/>
              <a:t>nada();</a:t>
            </a:r>
          </a:p>
          <a:p>
            <a:r>
              <a:rPr lang="en-US" dirty="0" smtClean="0"/>
              <a:t>counters=counters+1;</a:t>
            </a:r>
          </a:p>
          <a:p>
            <a:r>
              <a:rPr lang="en-US" dirty="0" smtClean="0"/>
              <a:t>counters=counters;</a:t>
            </a:r>
          </a:p>
          <a:p>
            <a:r>
              <a:rPr lang="en-US" dirty="0" err="1" smtClean="0"/>
              <a:t>lcd.setCursor</a:t>
            </a:r>
            <a:r>
              <a:rPr lang="en-US" dirty="0" smtClean="0"/>
              <a:t>(17,2);</a:t>
            </a:r>
          </a:p>
          <a:p>
            <a:r>
              <a:rPr lang="en-US" dirty="0" err="1" smtClean="0"/>
              <a:t>lcd.print</a:t>
            </a:r>
            <a:r>
              <a:rPr lang="en-US" dirty="0" smtClean="0"/>
              <a:t>(counters);</a:t>
            </a:r>
          </a:p>
          <a:p>
            <a:r>
              <a:rPr lang="en-US" dirty="0" smtClean="0"/>
              <a:t>if(counters==1){</a:t>
            </a:r>
            <a:r>
              <a:rPr lang="en-US" dirty="0" err="1" smtClean="0"/>
              <a:t>status_baca</a:t>
            </a:r>
            <a:r>
              <a:rPr lang="en-US" dirty="0" smtClean="0"/>
              <a:t>=1;counters=counters;}</a:t>
            </a:r>
          </a:p>
          <a:p>
            <a:r>
              <a:rPr lang="en-US" dirty="0" smtClean="0"/>
              <a:t>if(counters=2){</a:t>
            </a:r>
            <a:r>
              <a:rPr lang="en-US" dirty="0" err="1" smtClean="0"/>
              <a:t>status_baca</a:t>
            </a:r>
            <a:r>
              <a:rPr lang="en-US" dirty="0" smtClean="0"/>
              <a:t>=0;counters=0;counter=0;1cd.setCursor(17,2);</a:t>
            </a:r>
            <a:r>
              <a:rPr lang="en-US" dirty="0" err="1" smtClean="0"/>
              <a:t>lcd.print</a:t>
            </a:r>
            <a:r>
              <a:rPr lang="en-US" dirty="0" smtClean="0"/>
              <a:t>(c</a:t>
            </a:r>
          </a:p>
          <a:p>
            <a:r>
              <a:rPr lang="en-US" dirty="0" err="1" smtClean="0"/>
              <a:t>ounters</a:t>
            </a:r>
            <a:r>
              <a:rPr lang="en-US" dirty="0" smtClean="0"/>
              <a:t>);</a:t>
            </a:r>
            <a:r>
              <a:rPr lang="en-US" dirty="0" err="1" smtClean="0"/>
              <a:t>idel</a:t>
            </a:r>
            <a:r>
              <a:rPr lang="en-US" dirty="0" smtClean="0"/>
              <a:t>();}</a:t>
            </a:r>
          </a:p>
          <a:p>
            <a:r>
              <a:rPr lang="en-US" dirty="0" smtClean="0"/>
              <a:t>}</a:t>
            </a:r>
          </a:p>
          <a:p>
            <a:r>
              <a:rPr lang="en-US" dirty="0" smtClean="0"/>
              <a:t>}</a:t>
            </a:r>
          </a:p>
          <a:p>
            <a:r>
              <a:rPr lang="en-US" dirty="0" smtClean="0"/>
              <a:t>if (digital Read(</a:t>
            </a:r>
            <a:r>
              <a:rPr lang="en-US" dirty="0" err="1" smtClean="0"/>
              <a:t>buttoncal</a:t>
            </a:r>
            <a:r>
              <a:rPr lang="en-US" dirty="0" smtClean="0"/>
              <a:t>) == LOW)</a:t>
            </a:r>
          </a:p>
          <a:p>
            <a:r>
              <a:rPr lang="en-US" dirty="0" smtClean="0"/>
              <a:t>nada);</a:t>
            </a:r>
          </a:p>
          <a:p>
            <a:r>
              <a:rPr lang="en-US" dirty="0" smtClean="0"/>
              <a:t>counter=counter+1;</a:t>
            </a:r>
          </a:p>
          <a:p>
            <a:r>
              <a:rPr lang="en-US" dirty="0" smtClean="0"/>
              <a:t>counter=counter;</a:t>
            </a:r>
          </a:p>
          <a:p>
            <a:r>
              <a:rPr lang="en-US" dirty="0" err="1" smtClean="0"/>
              <a:t>lcd.setCursor</a:t>
            </a:r>
            <a:r>
              <a:rPr lang="en-US" dirty="0" smtClean="0"/>
              <a:t>(17,2);</a:t>
            </a:r>
          </a:p>
          <a:p>
            <a:r>
              <a:rPr lang="en-US" dirty="0" err="1" smtClean="0"/>
              <a:t>lcd.print</a:t>
            </a:r>
            <a:r>
              <a:rPr lang="en-US" dirty="0" smtClean="0"/>
              <a:t>(counter);</a:t>
            </a:r>
          </a:p>
          <a:p>
            <a:r>
              <a:rPr lang="en-US" dirty="0" smtClean="0"/>
              <a:t>if(counter==1){</a:t>
            </a:r>
            <a:r>
              <a:rPr lang="en-US" dirty="0" err="1" smtClean="0"/>
              <a:t>status_cal</a:t>
            </a:r>
            <a:r>
              <a:rPr lang="en-US" dirty="0" smtClean="0"/>
              <a:t>=1;counter=</a:t>
            </a:r>
            <a:r>
              <a:rPr lang="en-US" dirty="0" err="1" smtClean="0"/>
              <a:t>counter;lcd.setCursor</a:t>
            </a:r>
            <a:r>
              <a:rPr lang="en-US" dirty="0" smtClean="0"/>
              <a:t>(0,1);</a:t>
            </a:r>
            <a:r>
              <a:rPr lang="en-US" dirty="0" err="1" smtClean="0"/>
              <a:t>lcd.print</a:t>
            </a:r>
            <a:r>
              <a:rPr lang="en-US" dirty="0" smtClean="0"/>
              <a:t>(" ");}</a:t>
            </a:r>
          </a:p>
          <a:p>
            <a:r>
              <a:rPr lang="en-US" dirty="0" smtClean="0"/>
              <a:t>if(counter==2){mode=1;counter=</a:t>
            </a:r>
            <a:r>
              <a:rPr lang="en-US" dirty="0" err="1" smtClean="0"/>
              <a:t>counter;status_cal</a:t>
            </a:r>
            <a:r>
              <a:rPr lang="en-US" dirty="0" smtClean="0"/>
              <a:t>=0;lcd.setCursor(0,1);</a:t>
            </a:r>
            <a:r>
              <a:rPr lang="en-US" dirty="0" err="1" smtClean="0"/>
              <a:t>lcd.print</a:t>
            </a:r>
            <a:r>
              <a:rPr lang="en-US" dirty="0" smtClean="0"/>
              <a:t>("F</a:t>
            </a:r>
          </a:p>
          <a:p>
            <a:r>
              <a:rPr lang="en-US" dirty="0" smtClean="0"/>
              <a:t>Kv60");}</a:t>
            </a:r>
          </a:p>
          <a:p>
            <a:r>
              <a:rPr lang="en-US" dirty="0" smtClean="0"/>
              <a:t>if(counter==3){mode=2;counter=counter; </a:t>
            </a:r>
            <a:r>
              <a:rPr lang="en-US" dirty="0" err="1" smtClean="0"/>
              <a:t>status_cal</a:t>
            </a:r>
            <a:r>
              <a:rPr lang="en-US" dirty="0" smtClean="0"/>
              <a:t>=0;lcd.setCursor(0,1);</a:t>
            </a:r>
            <a:r>
              <a:rPr lang="en-US" dirty="0" err="1" smtClean="0"/>
              <a:t>lcd.print</a:t>
            </a:r>
            <a:r>
              <a:rPr lang="en-US" dirty="0" smtClean="0"/>
              <a:t>("F</a:t>
            </a:r>
          </a:p>
          <a:p>
            <a:r>
              <a:rPr lang="en-US" dirty="0" smtClean="0"/>
              <a:t>Kv80");}</a:t>
            </a:r>
          </a:p>
          <a:p>
            <a:r>
              <a:rPr lang="en-US" dirty="0" smtClean="0"/>
              <a:t>if(counter==4){</a:t>
            </a:r>
            <a:r>
              <a:rPr lang="en-US" dirty="0" err="1" smtClean="0"/>
              <a:t>status_cal</a:t>
            </a:r>
            <a:r>
              <a:rPr lang="en-US" dirty="0" smtClean="0"/>
              <a:t>=0;counter=0;lcd.setCursor(17,2);</a:t>
            </a:r>
            <a:r>
              <a:rPr lang="en-US" dirty="0" err="1" smtClean="0"/>
              <a:t>lcd.print</a:t>
            </a:r>
            <a:r>
              <a:rPr lang="en-US" dirty="0" smtClean="0"/>
              <a:t>(counter);</a:t>
            </a:r>
            <a:r>
              <a:rPr lang="en-US" dirty="0" err="1" smtClean="0"/>
              <a:t>idel</a:t>
            </a:r>
            <a:r>
              <a:rPr lang="en-US" dirty="0" smtClean="0"/>
              <a:t>();}</a:t>
            </a:r>
          </a:p>
          <a:p>
            <a:r>
              <a:rPr lang="en-US" dirty="0" smtClean="0"/>
              <a:t>}</a:t>
            </a:r>
          </a:p>
          <a:p>
            <a:r>
              <a:rPr lang="en-US" dirty="0" smtClean="0"/>
              <a:t>if (</a:t>
            </a:r>
            <a:r>
              <a:rPr lang="en-US" dirty="0" err="1" smtClean="0"/>
              <a:t>status_baca</a:t>
            </a:r>
            <a:r>
              <a:rPr lang="en-US" dirty="0" smtClean="0"/>
              <a:t>==1)</a:t>
            </a:r>
          </a:p>
          <a:p>
            <a:r>
              <a:rPr lang="en-US" dirty="0" smtClean="0"/>
              <a:t>{</a:t>
            </a:r>
          </a:p>
          <a:p>
            <a:r>
              <a:rPr lang="en-US" dirty="0" smtClean="0"/>
              <a:t>}</a:t>
            </a:r>
          </a:p>
          <a:p>
            <a:r>
              <a:rPr lang="en-US" dirty="0" smtClean="0"/>
              <a:t>delay(200);</a:t>
            </a:r>
          </a:p>
          <a:p>
            <a:r>
              <a:rPr lang="en-US" dirty="0" smtClean="0"/>
              <a:t>delay(200);</a:t>
            </a:r>
          </a:p>
          <a:p>
            <a:r>
              <a:rPr lang="en-US" dirty="0" err="1" smtClean="0"/>
              <a:t>proses_awal</a:t>
            </a:r>
            <a:r>
              <a:rPr lang="en-US" dirty="0" smtClean="0"/>
              <a:t>);</a:t>
            </a:r>
          </a:p>
          <a:p>
            <a:r>
              <a:rPr lang="en-US" dirty="0" smtClean="0"/>
              <a:t>//</a:t>
            </a:r>
            <a:r>
              <a:rPr lang="en-US" dirty="0" err="1" smtClean="0"/>
              <a:t>baca_sensor_densito_proses</a:t>
            </a:r>
            <a:r>
              <a:rPr lang="en-US" dirty="0" smtClean="0"/>
              <a:t>();</a:t>
            </a:r>
          </a:p>
          <a:p>
            <a:r>
              <a:rPr lang="en-US" dirty="0" err="1" smtClean="0"/>
              <a:t>baca_sensor_densito_cal</a:t>
            </a:r>
            <a:r>
              <a:rPr lang="en-US" dirty="0" smtClean="0"/>
              <a:t>();</a:t>
            </a:r>
          </a:p>
          <a:p>
            <a:r>
              <a:rPr lang="en-US" dirty="0" smtClean="0"/>
              <a:t>if(mode==1){baca_kategori_densito_kv600);}</a:t>
            </a:r>
          </a:p>
          <a:p>
            <a:r>
              <a:rPr lang="en-US" dirty="0" smtClean="0"/>
              <a:t>if(mode=2){baca_kategori_densito_kv80(0);}</a:t>
            </a:r>
          </a:p>
          <a:p>
            <a:r>
              <a:rPr lang="en-US" dirty="0" err="1" smtClean="0"/>
              <a:t>nadaO</a:t>
            </a:r>
            <a:r>
              <a:rPr lang="en-US" dirty="0" smtClean="0"/>
              <a:t>;</a:t>
            </a:r>
          </a:p>
          <a:p>
            <a:r>
              <a:rPr lang="en-US" dirty="0" smtClean="0"/>
              <a:t>nada();</a:t>
            </a:r>
          </a:p>
          <a:p>
            <a:r>
              <a:rPr lang="en-US" dirty="0" smtClean="0"/>
              <a:t>status bac</a:t>
            </a:r>
            <a:r>
              <a:rPr lang="az-Cyrl-AZ" dirty="0" smtClean="0"/>
              <a:t>а=0;</a:t>
            </a:r>
          </a:p>
          <a:p>
            <a:r>
              <a:rPr lang="en-US" dirty="0" smtClean="0"/>
              <a:t>if (</a:t>
            </a:r>
            <a:r>
              <a:rPr lang="en-US" dirty="0" err="1" smtClean="0"/>
              <a:t>status_cal</a:t>
            </a:r>
            <a:r>
              <a:rPr lang="en-US" dirty="0" smtClean="0"/>
              <a:t>==1)</a:t>
            </a:r>
          </a:p>
          <a:p>
            <a:r>
              <a:rPr lang="en-US" dirty="0" smtClean="0"/>
              <a:t>}</a:t>
            </a:r>
          </a:p>
          <a:p>
            <a:r>
              <a:rPr lang="en-US" dirty="0" err="1" smtClean="0"/>
              <a:t>baca</a:t>
            </a:r>
            <a:r>
              <a:rPr lang="en-US" dirty="0" smtClean="0"/>
              <a:t> sensor </a:t>
            </a:r>
            <a:r>
              <a:rPr lang="en-US" dirty="0" err="1" smtClean="0"/>
              <a:t>densito_cal</a:t>
            </a:r>
            <a:r>
              <a:rPr lang="en-US" dirty="0" smtClean="0"/>
              <a:t>();</a:t>
            </a:r>
          </a:p>
          <a:p>
            <a:r>
              <a:rPr lang="en-US" dirty="0" smtClean="0"/>
              <a:t>battery);</a:t>
            </a:r>
          </a:p>
          <a:p>
            <a:r>
              <a:rPr lang="en-US" dirty="0" smtClean="0"/>
              <a:t>delay(10);</a:t>
            </a:r>
          </a:p>
          <a:p>
            <a:r>
              <a:rPr lang="en-US" dirty="0" smtClean="0"/>
              <a:t>}</a:t>
            </a:r>
          </a:p>
          <a:p>
            <a:endParaRPr lang="en-US" dirty="0" smtClean="0"/>
          </a:p>
          <a:p>
            <a:endParaRPr lang="en-US" dirty="0" smtClean="0"/>
          </a:p>
          <a:p>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F71A1DE6-A801-4746-9FC0-8352D20A3103}" type="slidenum">
              <a:rPr lang="en-US" smtClean="0"/>
              <a:t>7</a:t>
            </a:fld>
            <a:endParaRPr lang="en-US"/>
          </a:p>
        </p:txBody>
      </p:sp>
    </p:spTree>
    <p:extLst>
      <p:ext uri="{BB962C8B-B14F-4D97-AF65-F5344CB8AC3E}">
        <p14:creationId xmlns:p14="http://schemas.microsoft.com/office/powerpoint/2010/main" val="41606257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C77EA2CC-FABD-466D-82E8-AC953C7EC0CC}" type="slidenum">
              <a:rPr lang="en-US" smtClean="0"/>
              <a:t>29</a:t>
            </a:fld>
            <a:endParaRPr lang="en-US"/>
          </a:p>
        </p:txBody>
      </p:sp>
    </p:spTree>
    <p:extLst>
      <p:ext uri="{BB962C8B-B14F-4D97-AF65-F5344CB8AC3E}">
        <p14:creationId xmlns:p14="http://schemas.microsoft.com/office/powerpoint/2010/main" val="40873288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7BBB5D1-B60B-4B38-B17E-7765EA145201}" type="datetimeFigureOut">
              <a:rPr lang="en-US" smtClean="0"/>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884090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7BBB5D1-B60B-4B38-B17E-7765EA145201}" type="datetimeFigureOut">
              <a:rPr lang="en-US" smtClean="0"/>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16220346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7BBB5D1-B60B-4B38-B17E-7765EA145201}" type="datetimeFigureOut">
              <a:rPr lang="en-US" smtClean="0"/>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3468882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7BBB5D1-B60B-4B38-B17E-7765EA145201}" type="datetimeFigureOut">
              <a:rPr lang="en-US" smtClean="0"/>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39443962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7BBB5D1-B60B-4B38-B17E-7765EA145201}" type="datetimeFigureOut">
              <a:rPr lang="en-US" smtClean="0"/>
              <a:t>3/27/2026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20223424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7BBB5D1-B60B-4B38-B17E-7765EA145201}" type="datetimeFigureOut">
              <a:rPr lang="en-US" smtClean="0"/>
              <a:t>3/27/2026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33620848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BBB5D1-B60B-4B38-B17E-7765EA145201}" type="datetimeFigureOut">
              <a:rPr lang="en-US" smtClean="0"/>
              <a:t>3/27/2026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562924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7BBB5D1-B60B-4B38-B17E-7765EA145201}" type="datetimeFigureOut">
              <a:rPr lang="en-US" smtClean="0"/>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2775841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7BBB5D1-B60B-4B38-B17E-7765EA145201}" type="datetimeFigureOut">
              <a:rPr lang="en-US" smtClean="0"/>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2201192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7BBB5D1-B60B-4B38-B17E-7765EA145201}" type="datetimeFigureOut">
              <a:rPr lang="en-US" smtClean="0"/>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10736697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7BBB5D1-B60B-4B38-B17E-7765EA145201}" type="datetimeFigureOut">
              <a:rPr lang="en-US" smtClean="0"/>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29795665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BBB5D1-B60B-4B38-B17E-7765EA145201}" type="datetimeFigureOut">
              <a:rPr lang="en-US" smtClean="0"/>
              <a:t>3/27/2026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EF42857-403A-4A86-BF79-9A4C4603A143}" type="slidenum">
              <a:rPr lang="en-US" smtClean="0"/>
              <a:t>‹#›</a:t>
            </a:fld>
            <a:endParaRPr lang="en-US"/>
          </a:p>
        </p:txBody>
      </p:sp>
    </p:spTree>
    <p:extLst>
      <p:ext uri="{BB962C8B-B14F-4D97-AF65-F5344CB8AC3E}">
        <p14:creationId xmlns:p14="http://schemas.microsoft.com/office/powerpoint/2010/main" val="26558989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6677" y="2721459"/>
            <a:ext cx="9144000" cy="1510320"/>
          </a:xfrm>
        </p:spPr>
        <p:txBody>
          <a:bodyPr>
            <a:normAutofit/>
          </a:bodyPr>
          <a:lstStyle/>
          <a:p>
            <a:pPr algn="l"/>
            <a:r>
              <a:rPr lang="en-US" b="1" smtClean="0">
                <a:solidFill>
                  <a:schemeClr val="bg1">
                    <a:lumMod val="85000"/>
                  </a:schemeClr>
                </a:solidFill>
              </a:rPr>
              <a:t>10.1_Application Electronics</a:t>
            </a:r>
            <a:endParaRPr lang="en-US" dirty="0"/>
          </a:p>
        </p:txBody>
      </p:sp>
      <p:sp>
        <p:nvSpPr>
          <p:cNvPr id="13" name="Subtitle 2"/>
          <p:cNvSpPr txBox="1">
            <a:spLocks/>
          </p:cNvSpPr>
          <p:nvPr/>
        </p:nvSpPr>
        <p:spPr>
          <a:xfrm>
            <a:off x="2893786" y="3309896"/>
            <a:ext cx="5287688" cy="52107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dirty="0">
              <a:solidFill>
                <a:srgbClr val="00B0F0"/>
              </a:solidFill>
            </a:endParaRPr>
          </a:p>
        </p:txBody>
      </p:sp>
      <p:grpSp>
        <p:nvGrpSpPr>
          <p:cNvPr id="20" name="Group 19"/>
          <p:cNvGrpSpPr/>
          <p:nvPr/>
        </p:nvGrpSpPr>
        <p:grpSpPr>
          <a:xfrm>
            <a:off x="54496" y="359621"/>
            <a:ext cx="4804363" cy="2463094"/>
            <a:chOff x="54496" y="359621"/>
            <a:chExt cx="4804363" cy="2463094"/>
          </a:xfrm>
        </p:grpSpPr>
        <p:pic>
          <p:nvPicPr>
            <p:cNvPr id="19" name="Picture 18"/>
            <p:cNvPicPr>
              <a:picLocks noChangeAspect="1"/>
            </p:cNvPicPr>
            <p:nvPr/>
          </p:nvPicPr>
          <p:blipFill>
            <a:blip r:embed="rId3"/>
            <a:stretch>
              <a:fillRect/>
            </a:stretch>
          </p:blipFill>
          <p:spPr>
            <a:xfrm>
              <a:off x="235105" y="1901987"/>
              <a:ext cx="3104181" cy="263526"/>
            </a:xfrm>
            <a:prstGeom prst="rect">
              <a:avLst/>
            </a:prstGeom>
          </p:spPr>
        </p:pic>
        <p:sp>
          <p:nvSpPr>
            <p:cNvPr id="6" name="Title 4">
              <a:extLst>
                <a:ext uri="{FF2B5EF4-FFF2-40B4-BE49-F238E27FC236}">
                  <a16:creationId xmlns:a16="http://schemas.microsoft.com/office/drawing/2014/main" id="{27228BAE-048B-681E-DD8D-BD96B22560E0}"/>
                </a:ext>
              </a:extLst>
            </p:cNvPr>
            <p:cNvSpPr txBox="1">
              <a:spLocks/>
            </p:cNvSpPr>
            <p:nvPr/>
          </p:nvSpPr>
          <p:spPr>
            <a:xfrm>
              <a:off x="54496" y="1922610"/>
              <a:ext cx="4804363" cy="900105"/>
            </a:xfrm>
            <a:prstGeom prst="rect">
              <a:avLst/>
            </a:prstGeom>
          </p:spPr>
          <p:txBody>
            <a:bodyPr vert="horz" lIns="91440" tIns="45720" rIns="91440" bIns="45720" rtlCol="0" anchor="b">
              <a:normAutofit fontScale="9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dirty="0" smtClean="0">
                  <a:solidFill>
                    <a:schemeClr val="accent1">
                      <a:lumMod val="75000"/>
                    </a:schemeClr>
                  </a:solidFill>
                </a:rPr>
                <a:t>Computer </a:t>
              </a:r>
              <a:r>
                <a:rPr lang="en-US" dirty="0" smtClean="0">
                  <a:solidFill>
                    <a:srgbClr val="00B0F0"/>
                  </a:solidFill>
                </a:rPr>
                <a:t>Vision</a:t>
              </a:r>
              <a:endParaRPr lang="en-US" dirty="0">
                <a:solidFill>
                  <a:srgbClr val="00B0F0"/>
                </a:solidFill>
              </a:endParaRPr>
            </a:p>
          </p:txBody>
        </p:sp>
        <p:grpSp>
          <p:nvGrpSpPr>
            <p:cNvPr id="7" name="Group 6">
              <a:extLst>
                <a:ext uri="{FF2B5EF4-FFF2-40B4-BE49-F238E27FC236}">
                  <a16:creationId xmlns:a16="http://schemas.microsoft.com/office/drawing/2014/main" id="{2AABCB87-2ECC-4C03-B5BB-6EE11C8A4485}"/>
                </a:ext>
              </a:extLst>
            </p:cNvPr>
            <p:cNvGrpSpPr/>
            <p:nvPr/>
          </p:nvGrpSpPr>
          <p:grpSpPr>
            <a:xfrm>
              <a:off x="89638" y="359621"/>
              <a:ext cx="3064025" cy="1516520"/>
              <a:chOff x="4853562" y="1589418"/>
              <a:chExt cx="2609520" cy="1291565"/>
            </a:xfrm>
          </p:grpSpPr>
          <p:sp>
            <p:nvSpPr>
              <p:cNvPr id="8" name="Freeform 7">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a:solidFill>
                    <a:schemeClr val="tx1"/>
                  </a:solidFill>
                </a:endParaRPr>
              </a:p>
            </p:txBody>
          </p:sp>
          <p:sp>
            <p:nvSpPr>
              <p:cNvPr id="9" name="Freeform 8">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dirty="0">
                  <a:solidFill>
                    <a:schemeClr val="tx1"/>
                  </a:solidFill>
                </a:endParaRPr>
              </a:p>
            </p:txBody>
          </p:sp>
        </p:grpSp>
        <p:grpSp>
          <p:nvGrpSpPr>
            <p:cNvPr id="10" name="Group 9">
              <a:extLst>
                <a:ext uri="{FF2B5EF4-FFF2-40B4-BE49-F238E27FC236}">
                  <a16:creationId xmlns:a16="http://schemas.microsoft.com/office/drawing/2014/main" id="{AB8BC7BC-BF58-402E-9A69-AA9226DE7CAA}"/>
                </a:ext>
              </a:extLst>
            </p:cNvPr>
            <p:cNvGrpSpPr/>
            <p:nvPr/>
          </p:nvGrpSpPr>
          <p:grpSpPr>
            <a:xfrm>
              <a:off x="1356703" y="883096"/>
              <a:ext cx="1334145" cy="620384"/>
              <a:chOff x="7729280" y="2195997"/>
              <a:chExt cx="2143740" cy="996849"/>
            </a:xfrm>
            <a:solidFill>
              <a:schemeClr val="accent6"/>
            </a:solidFill>
          </p:grpSpPr>
          <p:sp>
            <p:nvSpPr>
              <p:cNvPr id="11" name="Freeform: Shape 66">
                <a:extLst>
                  <a:ext uri="{FF2B5EF4-FFF2-40B4-BE49-F238E27FC236}">
                    <a16:creationId xmlns:a16="http://schemas.microsoft.com/office/drawing/2014/main" id="{2A081543-B9FF-49B1-8EEF-ABDF5438EDCD}"/>
                  </a:ext>
                </a:extLst>
              </p:cNvPr>
              <p:cNvSpPr/>
              <p:nvPr/>
            </p:nvSpPr>
            <p:spPr>
              <a:xfrm>
                <a:off x="7729280" y="2195997"/>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dirty="0"/>
              </a:p>
            </p:txBody>
          </p:sp>
          <p:sp>
            <p:nvSpPr>
              <p:cNvPr id="12" name="Freeform: Shape 67">
                <a:extLst>
                  <a:ext uri="{FF2B5EF4-FFF2-40B4-BE49-F238E27FC236}">
                    <a16:creationId xmlns:a16="http://schemas.microsoft.com/office/drawing/2014/main" id="{275D1FAA-C13F-4A6B-BA37-7704CFB7ADCD}"/>
                  </a:ext>
                </a:extLst>
              </p:cNvPr>
              <p:cNvSpPr/>
              <p:nvPr/>
            </p:nvSpPr>
            <p:spPr>
              <a:xfrm>
                <a:off x="8421007" y="2543552"/>
                <a:ext cx="443936" cy="326800"/>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14" name="Subtitle 2">
              <a:extLst>
                <a:ext uri="{FF2B5EF4-FFF2-40B4-BE49-F238E27FC236}">
                  <a16:creationId xmlns:a16="http://schemas.microsoft.com/office/drawing/2014/main" id="{53858C97-DA2F-8866-47CC-CDF4077BBF9D}"/>
                </a:ext>
              </a:extLst>
            </p:cNvPr>
            <p:cNvSpPr txBox="1">
              <a:spLocks/>
            </p:cNvSpPr>
            <p:nvPr/>
          </p:nvSpPr>
          <p:spPr>
            <a:xfrm>
              <a:off x="1727403" y="1099395"/>
              <a:ext cx="729275" cy="203382"/>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smtClean="0">
                  <a:solidFill>
                    <a:srgbClr val="7030A0"/>
                  </a:solidFill>
                </a:rPr>
                <a:t>PDS</a:t>
              </a:r>
              <a:endParaRPr lang="en-US" sz="1600" dirty="0">
                <a:solidFill>
                  <a:srgbClr val="7030A0"/>
                </a:solidFill>
              </a:endParaRPr>
            </a:p>
          </p:txBody>
        </p:sp>
        <p:sp>
          <p:nvSpPr>
            <p:cNvPr id="17" name="Title 4">
              <a:extLst>
                <a:ext uri="{FF2B5EF4-FFF2-40B4-BE49-F238E27FC236}">
                  <a16:creationId xmlns:a16="http://schemas.microsoft.com/office/drawing/2014/main" id="{27228BAE-048B-681E-DD8D-BD96B22560E0}"/>
                </a:ext>
              </a:extLst>
            </p:cNvPr>
            <p:cNvSpPr txBox="1">
              <a:spLocks/>
            </p:cNvSpPr>
            <p:nvPr/>
          </p:nvSpPr>
          <p:spPr>
            <a:xfrm>
              <a:off x="788714" y="1452073"/>
              <a:ext cx="938689" cy="470538"/>
            </a:xfrm>
            <a:prstGeom prst="rect">
              <a:avLst/>
            </a:prstGeom>
            <a:solidFill>
              <a:schemeClr val="bg1"/>
            </a:solidFill>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2800" dirty="0" smtClean="0">
                  <a:solidFill>
                    <a:schemeClr val="accent5">
                      <a:lumMod val="50000"/>
                    </a:schemeClr>
                  </a:solidFill>
                </a:rPr>
                <a:t>SDN</a:t>
              </a:r>
              <a:endParaRPr lang="en-US" sz="2800" dirty="0">
                <a:solidFill>
                  <a:schemeClr val="accent5">
                    <a:lumMod val="50000"/>
                  </a:schemeClr>
                </a:solidFill>
              </a:endParaRPr>
            </a:p>
          </p:txBody>
        </p:sp>
        <p:sp>
          <p:nvSpPr>
            <p:cNvPr id="18" name="Title 4">
              <a:extLst>
                <a:ext uri="{FF2B5EF4-FFF2-40B4-BE49-F238E27FC236}">
                  <a16:creationId xmlns:a16="http://schemas.microsoft.com/office/drawing/2014/main" id="{27228BAE-048B-681E-DD8D-BD96B22560E0}"/>
                </a:ext>
              </a:extLst>
            </p:cNvPr>
            <p:cNvSpPr txBox="1">
              <a:spLocks/>
            </p:cNvSpPr>
            <p:nvPr/>
          </p:nvSpPr>
          <p:spPr>
            <a:xfrm>
              <a:off x="1449719" y="1352665"/>
              <a:ext cx="928870" cy="581223"/>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2800" dirty="0" smtClean="0">
                  <a:solidFill>
                    <a:schemeClr val="accent1">
                      <a:lumMod val="75000"/>
                    </a:schemeClr>
                  </a:solidFill>
                </a:rPr>
                <a:t>NFV</a:t>
              </a:r>
              <a:endParaRPr lang="en-US" sz="2800" dirty="0">
                <a:solidFill>
                  <a:schemeClr val="accent1">
                    <a:lumMod val="75000"/>
                  </a:schemeClr>
                </a:solidFill>
              </a:endParaRPr>
            </a:p>
          </p:txBody>
        </p:sp>
      </p:grpSp>
      <p:sp>
        <p:nvSpPr>
          <p:cNvPr id="22" name="Rectangle 21"/>
          <p:cNvSpPr/>
          <p:nvPr/>
        </p:nvSpPr>
        <p:spPr>
          <a:xfrm>
            <a:off x="9507866" y="6056142"/>
            <a:ext cx="2613761" cy="230832"/>
          </a:xfrm>
          <a:prstGeom prst="rect">
            <a:avLst/>
          </a:prstGeom>
        </p:spPr>
        <p:txBody>
          <a:bodyPr wrap="square">
            <a:spAutoFit/>
          </a:bodyPr>
          <a:lstStyle/>
          <a:p>
            <a:r>
              <a:rPr lang="en-US" sz="900" dirty="0"/>
              <a:t>https://www.youtube.com/@AmelOline/videos</a:t>
            </a:r>
          </a:p>
        </p:txBody>
      </p:sp>
      <p:sp>
        <p:nvSpPr>
          <p:cNvPr id="23" name="Rectangle 22"/>
          <p:cNvSpPr/>
          <p:nvPr/>
        </p:nvSpPr>
        <p:spPr>
          <a:xfrm>
            <a:off x="10344774" y="5917643"/>
            <a:ext cx="1623448" cy="230832"/>
          </a:xfrm>
          <a:prstGeom prst="rect">
            <a:avLst/>
          </a:prstGeom>
        </p:spPr>
        <p:txBody>
          <a:bodyPr wrap="square">
            <a:spAutoFit/>
          </a:bodyPr>
          <a:lstStyle/>
          <a:p>
            <a:r>
              <a:rPr lang="en-US" sz="900" dirty="0"/>
              <a:t>https://github.com/siagianp</a:t>
            </a:r>
          </a:p>
        </p:txBody>
      </p:sp>
      <p:sp>
        <p:nvSpPr>
          <p:cNvPr id="24" name="Rectangle 23"/>
          <p:cNvSpPr/>
          <p:nvPr/>
        </p:nvSpPr>
        <p:spPr>
          <a:xfrm>
            <a:off x="8531473" y="6194642"/>
            <a:ext cx="3667194" cy="230832"/>
          </a:xfrm>
          <a:prstGeom prst="rect">
            <a:avLst/>
          </a:prstGeom>
        </p:spPr>
        <p:txBody>
          <a:bodyPr wrap="square">
            <a:spAutoFit/>
          </a:bodyPr>
          <a:lstStyle/>
          <a:p>
            <a:r>
              <a:rPr lang="en-US" sz="900" dirty="0"/>
              <a:t>https://github.com/amelcharolinesgn2/IoT_simulator-mqtt-NodeRed</a:t>
            </a:r>
          </a:p>
        </p:txBody>
      </p:sp>
      <p:sp>
        <p:nvSpPr>
          <p:cNvPr id="25" name="Rectangle 24"/>
          <p:cNvSpPr/>
          <p:nvPr/>
        </p:nvSpPr>
        <p:spPr>
          <a:xfrm>
            <a:off x="8977163" y="6333141"/>
            <a:ext cx="3204723" cy="230832"/>
          </a:xfrm>
          <a:prstGeom prst="rect">
            <a:avLst/>
          </a:prstGeom>
        </p:spPr>
        <p:txBody>
          <a:bodyPr wrap="none">
            <a:spAutoFit/>
          </a:bodyPr>
          <a:lstStyle/>
          <a:p>
            <a:r>
              <a:rPr lang="en-US" sz="900" dirty="0"/>
              <a:t>https://github.com/amelcharolinesgn2/Cloud-Infrastructures</a:t>
            </a:r>
          </a:p>
        </p:txBody>
      </p:sp>
      <p:sp>
        <p:nvSpPr>
          <p:cNvPr id="26" name="Rectangle 25"/>
          <p:cNvSpPr/>
          <p:nvPr/>
        </p:nvSpPr>
        <p:spPr>
          <a:xfrm>
            <a:off x="8444566" y="6506265"/>
            <a:ext cx="3839513" cy="230832"/>
          </a:xfrm>
          <a:prstGeom prst="rect">
            <a:avLst/>
          </a:prstGeom>
        </p:spPr>
        <p:txBody>
          <a:bodyPr wrap="none">
            <a:spAutoFit/>
          </a:bodyPr>
          <a:lstStyle/>
          <a:p>
            <a:r>
              <a:rPr lang="en-US" sz="900" dirty="0"/>
              <a:t>https://github.com/amelcharolinesgn2/ClouD-Infrastructure-SISKA-2025</a:t>
            </a:r>
          </a:p>
        </p:txBody>
      </p:sp>
    </p:spTree>
    <p:extLst>
      <p:ext uri="{BB962C8B-B14F-4D97-AF65-F5344CB8AC3E}">
        <p14:creationId xmlns:p14="http://schemas.microsoft.com/office/powerpoint/2010/main" val="386400268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985838" y="2063750"/>
            <a:ext cx="10515600" cy="1325563"/>
          </a:xfrm>
        </p:spPr>
        <p:txBody>
          <a:bodyPr/>
          <a:lstStyle/>
          <a:p>
            <a:r>
              <a:rPr lang="en-US" dirty="0"/>
              <a:t>What is a </a:t>
            </a:r>
            <a:r>
              <a:rPr lang="en-US" dirty="0" smtClean="0"/>
              <a:t>Apps Electronics ?</a:t>
            </a:r>
            <a:endParaRPr lang="en-US" dirty="0"/>
          </a:p>
        </p:txBody>
      </p:sp>
      <p:sp>
        <p:nvSpPr>
          <p:cNvPr id="2" name="Rectangle 1"/>
          <p:cNvSpPr/>
          <p:nvPr/>
        </p:nvSpPr>
        <p:spPr>
          <a:xfrm>
            <a:off x="182107" y="6265327"/>
            <a:ext cx="6061531" cy="369332"/>
          </a:xfrm>
          <a:prstGeom prst="rect">
            <a:avLst/>
          </a:prstGeom>
        </p:spPr>
        <p:txBody>
          <a:bodyPr wrap="none">
            <a:spAutoFit/>
          </a:bodyPr>
          <a:lstStyle/>
          <a:p>
            <a:r>
              <a:rPr lang="en-US" dirty="0"/>
              <a:t>http://www.sophphx.caltech.edu/Physics_5/Experiment_6.pdf</a:t>
            </a:r>
          </a:p>
        </p:txBody>
      </p:sp>
      <p:sp>
        <p:nvSpPr>
          <p:cNvPr id="3" name="Rectangle 2"/>
          <p:cNvSpPr/>
          <p:nvPr/>
        </p:nvSpPr>
        <p:spPr>
          <a:xfrm>
            <a:off x="182107" y="5710139"/>
            <a:ext cx="6096000" cy="646331"/>
          </a:xfrm>
          <a:prstGeom prst="rect">
            <a:avLst/>
          </a:prstGeom>
        </p:spPr>
        <p:txBody>
          <a:bodyPr>
            <a:spAutoFit/>
          </a:bodyPr>
          <a:lstStyle/>
          <a:p>
            <a:r>
              <a:rPr lang="en-US" dirty="0"/>
              <a:t>https://github.com/kubi48/TransistorTester-documentation/tree/main/Hardware</a:t>
            </a:r>
          </a:p>
        </p:txBody>
      </p:sp>
    </p:spTree>
    <p:extLst>
      <p:ext uri="{BB962C8B-B14F-4D97-AF65-F5344CB8AC3E}">
        <p14:creationId xmlns:p14="http://schemas.microsoft.com/office/powerpoint/2010/main" val="315965150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83999"/>
          </a:xfrm>
        </p:spPr>
        <p:txBody>
          <a:bodyPr>
            <a:normAutofit fontScale="90000"/>
          </a:bodyPr>
          <a:lstStyle/>
          <a:p>
            <a:r>
              <a:rPr lang="en-US" dirty="0" err="1"/>
              <a:t>Rangkaian</a:t>
            </a:r>
            <a:r>
              <a:rPr lang="en-US" dirty="0"/>
              <a:t> Power Supply</a:t>
            </a:r>
          </a:p>
        </p:txBody>
      </p:sp>
      <p:pic>
        <p:nvPicPr>
          <p:cNvPr id="4" name="Content Placeholder 3"/>
          <p:cNvPicPr>
            <a:picLocks noGrp="1" noChangeAspect="1"/>
          </p:cNvPicPr>
          <p:nvPr>
            <p:ph idx="1"/>
          </p:nvPr>
        </p:nvPicPr>
        <p:blipFill>
          <a:blip r:embed="rId2"/>
          <a:stretch>
            <a:fillRect/>
          </a:stretch>
        </p:blipFill>
        <p:spPr>
          <a:xfrm>
            <a:off x="838200" y="1241695"/>
            <a:ext cx="5620473" cy="2948340"/>
          </a:xfrm>
          <a:prstGeom prst="rect">
            <a:avLst/>
          </a:prstGeom>
        </p:spPr>
      </p:pic>
      <p:sp>
        <p:nvSpPr>
          <p:cNvPr id="5" name="Rectangle 4"/>
          <p:cNvSpPr/>
          <p:nvPr/>
        </p:nvSpPr>
        <p:spPr>
          <a:xfrm>
            <a:off x="6458673" y="365125"/>
            <a:ext cx="5255999" cy="3323987"/>
          </a:xfrm>
          <a:prstGeom prst="rect">
            <a:avLst/>
          </a:prstGeom>
        </p:spPr>
        <p:txBody>
          <a:bodyPr wrap="square">
            <a:spAutoFit/>
          </a:bodyPr>
          <a:lstStyle/>
          <a:p>
            <a:pPr algn="just"/>
            <a:r>
              <a:rPr lang="en-US" sz="1400" dirty="0"/>
              <a:t>power </a:t>
            </a:r>
            <a:r>
              <a:rPr lang="en-US" sz="1400" dirty="0" err="1"/>
              <a:t>suplay</a:t>
            </a:r>
            <a:r>
              <a:rPr lang="en-US" sz="1400" dirty="0"/>
              <a:t> </a:t>
            </a:r>
            <a:r>
              <a:rPr lang="en-US" sz="1400" dirty="0" err="1"/>
              <a:t>berfungsi</a:t>
            </a:r>
            <a:r>
              <a:rPr lang="en-US" sz="1400" dirty="0"/>
              <a:t> </a:t>
            </a:r>
            <a:r>
              <a:rPr lang="en-US" sz="1400" dirty="0" err="1"/>
              <a:t>sebagai</a:t>
            </a:r>
            <a:r>
              <a:rPr lang="en-US" sz="1400" dirty="0"/>
              <a:t> </a:t>
            </a:r>
            <a:r>
              <a:rPr lang="en-US" sz="1400" dirty="0" err="1"/>
              <a:t>sumber</a:t>
            </a:r>
            <a:r>
              <a:rPr lang="en-US" sz="1400" dirty="0"/>
              <a:t> </a:t>
            </a:r>
            <a:r>
              <a:rPr lang="en-US" sz="1400" dirty="0" err="1"/>
              <a:t>tegangan</a:t>
            </a:r>
            <a:r>
              <a:rPr lang="en-US" sz="1400" dirty="0"/>
              <a:t> DC </a:t>
            </a:r>
            <a:r>
              <a:rPr lang="en-US" sz="1400" dirty="0" err="1" smtClean="0"/>
              <a:t>untuk</a:t>
            </a:r>
            <a:r>
              <a:rPr lang="en-US" sz="1400" dirty="0" smtClean="0"/>
              <a:t> </a:t>
            </a:r>
            <a:r>
              <a:rPr lang="en-US" sz="1400" dirty="0" err="1" smtClean="0"/>
              <a:t>mengisi</a:t>
            </a:r>
            <a:r>
              <a:rPr lang="en-US" sz="1400" dirty="0" smtClean="0"/>
              <a:t> </a:t>
            </a:r>
            <a:r>
              <a:rPr lang="en-US" sz="1400" dirty="0" err="1"/>
              <a:t>ulang</a:t>
            </a:r>
            <a:r>
              <a:rPr lang="en-US" sz="1400" dirty="0"/>
              <a:t> </a:t>
            </a:r>
            <a:r>
              <a:rPr lang="en-US" sz="1400" dirty="0" err="1"/>
              <a:t>daya</a:t>
            </a:r>
            <a:r>
              <a:rPr lang="en-US" sz="1400" dirty="0"/>
              <a:t> </a:t>
            </a:r>
            <a:r>
              <a:rPr lang="en-US" sz="1400" dirty="0" err="1"/>
              <a:t>pada</a:t>
            </a:r>
            <a:r>
              <a:rPr lang="en-US" sz="1400" dirty="0"/>
              <a:t> </a:t>
            </a:r>
            <a:r>
              <a:rPr lang="en-US" sz="1400" dirty="0" err="1"/>
              <a:t>baterai</a:t>
            </a:r>
            <a:r>
              <a:rPr lang="en-US" sz="1400" dirty="0"/>
              <a:t> </a:t>
            </a:r>
            <a:r>
              <a:rPr lang="en-US" sz="1400" dirty="0" err="1"/>
              <a:t>untuk</a:t>
            </a:r>
            <a:r>
              <a:rPr lang="en-US" sz="1400" dirty="0"/>
              <a:t> </a:t>
            </a:r>
            <a:r>
              <a:rPr lang="en-US" sz="1400" dirty="0" err="1"/>
              <a:t>menyuplai</a:t>
            </a:r>
            <a:r>
              <a:rPr lang="en-US" sz="1400" dirty="0"/>
              <a:t> </a:t>
            </a:r>
            <a:r>
              <a:rPr lang="en-US" sz="1400" dirty="0" err="1"/>
              <a:t>tegangan</a:t>
            </a:r>
            <a:r>
              <a:rPr lang="en-US" sz="1400" dirty="0"/>
              <a:t> </a:t>
            </a:r>
            <a:r>
              <a:rPr lang="en-US" sz="1400" dirty="0" err="1"/>
              <a:t>keseluruh</a:t>
            </a:r>
            <a:r>
              <a:rPr lang="en-US" sz="1400" dirty="0"/>
              <a:t> </a:t>
            </a:r>
            <a:r>
              <a:rPr lang="en-US" sz="1400" dirty="0" err="1"/>
              <a:t>rangkaian</a:t>
            </a:r>
            <a:r>
              <a:rPr lang="en-US" sz="1400" dirty="0"/>
              <a:t>.</a:t>
            </a:r>
          </a:p>
          <a:p>
            <a:pPr algn="just"/>
            <a:r>
              <a:rPr lang="en-US" sz="1400" dirty="0" err="1"/>
              <a:t>Rangkaian</a:t>
            </a:r>
            <a:r>
              <a:rPr lang="en-US" sz="1400" dirty="0"/>
              <a:t> </a:t>
            </a:r>
            <a:r>
              <a:rPr lang="en-US" sz="1400" dirty="0" err="1"/>
              <a:t>ini</a:t>
            </a:r>
            <a:r>
              <a:rPr lang="en-US" sz="1400" dirty="0"/>
              <a:t> </a:t>
            </a:r>
            <a:r>
              <a:rPr lang="en-US" sz="1400" dirty="0" err="1"/>
              <a:t>bersumber</a:t>
            </a:r>
            <a:r>
              <a:rPr lang="en-US" sz="1400" dirty="0"/>
              <a:t> </a:t>
            </a:r>
            <a:r>
              <a:rPr lang="en-US" sz="1400" dirty="0" err="1"/>
              <a:t>dari</a:t>
            </a:r>
            <a:r>
              <a:rPr lang="en-US" sz="1400" dirty="0"/>
              <a:t> </a:t>
            </a:r>
            <a:r>
              <a:rPr lang="en-US" sz="1400" dirty="0" err="1"/>
              <a:t>tegangan</a:t>
            </a:r>
            <a:r>
              <a:rPr lang="en-US" sz="1400" dirty="0"/>
              <a:t> 220V AC yang </a:t>
            </a:r>
            <a:r>
              <a:rPr lang="en-US" sz="1400" dirty="0" err="1"/>
              <a:t>masuk</a:t>
            </a:r>
            <a:r>
              <a:rPr lang="en-US" sz="1400" dirty="0"/>
              <a:t> </a:t>
            </a:r>
            <a:r>
              <a:rPr lang="en-US" sz="1400" dirty="0" err="1"/>
              <a:t>kedalam</a:t>
            </a:r>
            <a:r>
              <a:rPr lang="en-US" sz="1400" dirty="0"/>
              <a:t> </a:t>
            </a:r>
            <a:r>
              <a:rPr lang="en-US" sz="1400" dirty="0" err="1"/>
              <a:t>trafo</a:t>
            </a:r>
            <a:r>
              <a:rPr lang="en-US" sz="1400" dirty="0"/>
              <a:t> </a:t>
            </a:r>
            <a:r>
              <a:rPr lang="en-US" sz="1400" dirty="0" smtClean="0"/>
              <a:t>step down </a:t>
            </a:r>
            <a:r>
              <a:rPr lang="en-US" sz="1400" dirty="0" err="1"/>
              <a:t>untuk</a:t>
            </a:r>
            <a:r>
              <a:rPr lang="en-US" sz="1400" dirty="0"/>
              <a:t> </a:t>
            </a:r>
            <a:r>
              <a:rPr lang="en-US" sz="1400" dirty="0" err="1"/>
              <a:t>diturunkan</a:t>
            </a:r>
            <a:r>
              <a:rPr lang="en-US" sz="1400" dirty="0"/>
              <a:t> </a:t>
            </a:r>
            <a:r>
              <a:rPr lang="en-US" sz="1400" dirty="0" err="1"/>
              <a:t>dari</a:t>
            </a:r>
            <a:r>
              <a:rPr lang="en-US" sz="1400" dirty="0"/>
              <a:t> 220V AC </a:t>
            </a:r>
            <a:r>
              <a:rPr lang="en-US" sz="1400" dirty="0" err="1"/>
              <a:t>menjadi</a:t>
            </a:r>
            <a:r>
              <a:rPr lang="en-US" sz="1400" dirty="0"/>
              <a:t> +12V AC </a:t>
            </a:r>
            <a:r>
              <a:rPr lang="en-US" sz="1400" dirty="0" err="1"/>
              <a:t>dengan</a:t>
            </a:r>
            <a:r>
              <a:rPr lang="en-US" sz="1400" dirty="0"/>
              <a:t> fuse </a:t>
            </a:r>
            <a:r>
              <a:rPr lang="en-US" sz="1400" dirty="0" err="1" smtClean="0"/>
              <a:t>sebagai</a:t>
            </a:r>
            <a:r>
              <a:rPr lang="en-US" sz="1400" dirty="0" smtClean="0"/>
              <a:t> </a:t>
            </a:r>
            <a:r>
              <a:rPr lang="en-US" sz="1400" dirty="0" err="1" smtClean="0"/>
              <a:t>pengaman</a:t>
            </a:r>
            <a:r>
              <a:rPr lang="en-US" sz="1400" dirty="0" smtClean="0"/>
              <a:t> </a:t>
            </a:r>
            <a:r>
              <a:rPr lang="en-US" sz="1400" dirty="0" err="1"/>
              <a:t>pada</a:t>
            </a:r>
            <a:r>
              <a:rPr lang="en-US" sz="1400" dirty="0"/>
              <a:t> </a:t>
            </a:r>
            <a:r>
              <a:rPr lang="en-US" sz="1400" dirty="0" err="1"/>
              <a:t>saat</a:t>
            </a:r>
            <a:r>
              <a:rPr lang="en-US" sz="1400" dirty="0"/>
              <a:t> </a:t>
            </a:r>
            <a:r>
              <a:rPr lang="en-US" sz="1400" dirty="0" err="1"/>
              <a:t>rangkaian</a:t>
            </a:r>
            <a:r>
              <a:rPr lang="en-US" sz="1400" dirty="0"/>
              <a:t> </a:t>
            </a:r>
            <a:r>
              <a:rPr lang="en-US" sz="1400" dirty="0" err="1"/>
              <a:t>mengalami</a:t>
            </a:r>
            <a:r>
              <a:rPr lang="en-US" sz="1400" dirty="0"/>
              <a:t> short circuit. </a:t>
            </a:r>
            <a:r>
              <a:rPr lang="en-US" sz="1400" dirty="0" err="1"/>
              <a:t>Lalu</a:t>
            </a:r>
            <a:r>
              <a:rPr lang="en-US" sz="1400" dirty="0"/>
              <a:t> 12V AC </a:t>
            </a:r>
            <a:r>
              <a:rPr lang="en-US" sz="1400" dirty="0" err="1" smtClean="0"/>
              <a:t>disearahkan</a:t>
            </a:r>
            <a:r>
              <a:rPr lang="en-US" sz="1400" dirty="0" smtClean="0"/>
              <a:t> </a:t>
            </a:r>
            <a:r>
              <a:rPr lang="en-US" sz="1400" dirty="0" err="1" smtClean="0"/>
              <a:t>oleh</a:t>
            </a:r>
            <a:r>
              <a:rPr lang="en-US" sz="1400" dirty="0" smtClean="0"/>
              <a:t> </a:t>
            </a:r>
            <a:r>
              <a:rPr lang="en-US" sz="1400" dirty="0" err="1"/>
              <a:t>dioda</a:t>
            </a:r>
            <a:r>
              <a:rPr lang="en-US" sz="1400" dirty="0"/>
              <a:t> bridge (bridge rectifier) </a:t>
            </a:r>
            <a:r>
              <a:rPr lang="en-US" sz="1400" dirty="0" err="1"/>
              <a:t>menjadi</a:t>
            </a:r>
            <a:r>
              <a:rPr lang="en-US" sz="1400" dirty="0"/>
              <a:t> </a:t>
            </a:r>
            <a:r>
              <a:rPr lang="en-US" sz="1400" dirty="0" err="1"/>
              <a:t>tegangan</a:t>
            </a:r>
            <a:r>
              <a:rPr lang="en-US" sz="1400" dirty="0"/>
              <a:t> DC. </a:t>
            </a:r>
            <a:r>
              <a:rPr lang="en-US" sz="1400" dirty="0" err="1"/>
              <a:t>Untuk</a:t>
            </a:r>
            <a:r>
              <a:rPr lang="en-US" sz="1400" dirty="0"/>
              <a:t> </a:t>
            </a:r>
            <a:r>
              <a:rPr lang="en-US" sz="1400" dirty="0" err="1" smtClean="0"/>
              <a:t>mengurangi</a:t>
            </a:r>
            <a:r>
              <a:rPr lang="en-US" sz="1400" dirty="0"/>
              <a:t> ripple </a:t>
            </a:r>
            <a:r>
              <a:rPr lang="en-US" sz="1400" dirty="0" err="1"/>
              <a:t>pada</a:t>
            </a:r>
            <a:r>
              <a:rPr lang="en-US" sz="1400" dirty="0"/>
              <a:t> </a:t>
            </a:r>
            <a:r>
              <a:rPr lang="en-US" sz="1400" dirty="0" err="1"/>
              <a:t>tegangan</a:t>
            </a:r>
            <a:r>
              <a:rPr lang="en-US" sz="1400" dirty="0"/>
              <a:t> output </a:t>
            </a:r>
            <a:r>
              <a:rPr lang="en-US" sz="1400" dirty="0" err="1"/>
              <a:t>dioda</a:t>
            </a:r>
            <a:r>
              <a:rPr lang="en-US" sz="1400" dirty="0"/>
              <a:t> bridge, </a:t>
            </a:r>
            <a:r>
              <a:rPr lang="en-US" sz="1400" dirty="0" err="1"/>
              <a:t>maka</a:t>
            </a:r>
            <a:r>
              <a:rPr lang="en-US" sz="1400" dirty="0"/>
              <a:t> </a:t>
            </a:r>
            <a:r>
              <a:rPr lang="en-US" sz="1400" dirty="0" err="1"/>
              <a:t>ditambahkan</a:t>
            </a:r>
            <a:r>
              <a:rPr lang="en-US" sz="1400" dirty="0"/>
              <a:t> </a:t>
            </a:r>
            <a:r>
              <a:rPr lang="en-US" sz="1400" dirty="0" err="1"/>
              <a:t>kapasitor</a:t>
            </a:r>
            <a:r>
              <a:rPr lang="en-US" sz="1400" dirty="0"/>
              <a:t> </a:t>
            </a:r>
            <a:r>
              <a:rPr lang="en-US" sz="1400" dirty="0" err="1"/>
              <a:t>sebagai</a:t>
            </a:r>
            <a:r>
              <a:rPr lang="en-US" sz="1400" dirty="0"/>
              <a:t> filter. </a:t>
            </a:r>
            <a:r>
              <a:rPr lang="en-US" sz="1400" dirty="0" err="1"/>
              <a:t>Tegangan</a:t>
            </a:r>
            <a:r>
              <a:rPr lang="en-US" sz="1400" dirty="0"/>
              <a:t> DC </a:t>
            </a:r>
            <a:r>
              <a:rPr lang="en-US" sz="1400" dirty="0" err="1"/>
              <a:t>hasil</a:t>
            </a:r>
            <a:r>
              <a:rPr lang="en-US" sz="1400" dirty="0"/>
              <a:t> filter </a:t>
            </a:r>
            <a:r>
              <a:rPr lang="en-US" sz="1400" dirty="0" err="1"/>
              <a:t>oleh</a:t>
            </a:r>
            <a:r>
              <a:rPr lang="en-US" sz="1400" dirty="0"/>
              <a:t> </a:t>
            </a:r>
            <a:r>
              <a:rPr lang="en-US" sz="1400" dirty="0" err="1"/>
              <a:t>kapasitor</a:t>
            </a:r>
            <a:r>
              <a:rPr lang="en-US" sz="1400" dirty="0"/>
              <a:t> </a:t>
            </a:r>
            <a:r>
              <a:rPr lang="en-US" sz="1400" dirty="0" err="1"/>
              <a:t>lalu</a:t>
            </a:r>
            <a:r>
              <a:rPr lang="en-US" sz="1400" dirty="0"/>
              <a:t> </a:t>
            </a:r>
            <a:r>
              <a:rPr lang="en-US" sz="1400" dirty="0" err="1"/>
              <a:t>masuk</a:t>
            </a:r>
            <a:r>
              <a:rPr lang="en-US" sz="1400" dirty="0"/>
              <a:t> </a:t>
            </a:r>
            <a:r>
              <a:rPr lang="en-US" sz="1400" dirty="0" err="1"/>
              <a:t>ke</a:t>
            </a:r>
            <a:r>
              <a:rPr lang="en-US" sz="1400" dirty="0"/>
              <a:t> IC regulator LM317 </a:t>
            </a:r>
            <a:r>
              <a:rPr lang="en-US" sz="1400" dirty="0" err="1"/>
              <a:t>dan</a:t>
            </a:r>
            <a:r>
              <a:rPr lang="en-US" sz="1400" dirty="0"/>
              <a:t> variable resistor </a:t>
            </a:r>
            <a:r>
              <a:rPr lang="en-US" sz="1400" dirty="0" err="1"/>
              <a:t>berfungsi</a:t>
            </a:r>
            <a:r>
              <a:rPr lang="en-US" sz="1400" dirty="0"/>
              <a:t> </a:t>
            </a:r>
            <a:r>
              <a:rPr lang="en-US" sz="1400" dirty="0" err="1"/>
              <a:t>untuk</a:t>
            </a:r>
            <a:r>
              <a:rPr lang="en-US" sz="1400" dirty="0"/>
              <a:t> </a:t>
            </a:r>
            <a:r>
              <a:rPr lang="en-US" sz="1400" dirty="0" err="1"/>
              <a:t>mengatur</a:t>
            </a:r>
            <a:r>
              <a:rPr lang="en-US" sz="1400" dirty="0"/>
              <a:t> </a:t>
            </a:r>
            <a:r>
              <a:rPr lang="en-US" sz="1400" dirty="0" err="1"/>
              <a:t>tegangan</a:t>
            </a:r>
            <a:r>
              <a:rPr lang="en-US" sz="1400" dirty="0"/>
              <a:t> yang </a:t>
            </a:r>
            <a:r>
              <a:rPr lang="en-US" sz="1400" dirty="0" err="1"/>
              <a:t>dibutuhkan</a:t>
            </a:r>
            <a:r>
              <a:rPr lang="en-US" sz="1400" dirty="0"/>
              <a:t> </a:t>
            </a:r>
            <a:r>
              <a:rPr lang="en-US" sz="1400" dirty="0" err="1"/>
              <a:t>untuk</a:t>
            </a:r>
            <a:r>
              <a:rPr lang="en-US" sz="1400" dirty="0"/>
              <a:t> </a:t>
            </a:r>
            <a:r>
              <a:rPr lang="en-US" sz="1400" dirty="0" err="1"/>
              <a:t>mengisi</a:t>
            </a:r>
            <a:r>
              <a:rPr lang="en-US" sz="1400" dirty="0"/>
              <a:t> </a:t>
            </a:r>
            <a:r>
              <a:rPr lang="en-US" sz="1400" dirty="0" err="1"/>
              <a:t>baterai</a:t>
            </a:r>
            <a:r>
              <a:rPr lang="en-US" sz="1400" dirty="0"/>
              <a:t> </a:t>
            </a:r>
            <a:r>
              <a:rPr lang="en-US" sz="1400" dirty="0" err="1"/>
              <a:t>serta</a:t>
            </a:r>
            <a:r>
              <a:rPr lang="en-US" sz="1400" dirty="0"/>
              <a:t> </a:t>
            </a:r>
            <a:r>
              <a:rPr lang="en-US" sz="1400" dirty="0" err="1"/>
              <a:t>menstabilkan</a:t>
            </a:r>
            <a:r>
              <a:rPr lang="en-US" sz="1400" dirty="0"/>
              <a:t> </a:t>
            </a:r>
            <a:r>
              <a:rPr lang="en-US" sz="1400" dirty="0" err="1"/>
              <a:t>tegangan</a:t>
            </a:r>
            <a:r>
              <a:rPr lang="en-US" sz="1400" dirty="0"/>
              <a:t>. </a:t>
            </a:r>
            <a:r>
              <a:rPr lang="en-US" sz="1400" dirty="0" err="1"/>
              <a:t>Tegangan</a:t>
            </a:r>
            <a:r>
              <a:rPr lang="en-US" sz="1400" dirty="0"/>
              <a:t> yang </a:t>
            </a:r>
            <a:r>
              <a:rPr lang="en-US" sz="1400" dirty="0" err="1"/>
              <a:t>diatur</a:t>
            </a:r>
            <a:r>
              <a:rPr lang="en-US" sz="1400" dirty="0"/>
              <a:t> </a:t>
            </a:r>
            <a:r>
              <a:rPr lang="en-US" sz="1400" dirty="0" err="1"/>
              <a:t>sekitar</a:t>
            </a:r>
            <a:r>
              <a:rPr lang="en-US" sz="1400" dirty="0"/>
              <a:t> 9,1V DC output IC regulator LM317 </a:t>
            </a:r>
            <a:r>
              <a:rPr lang="en-US" sz="1400" dirty="0" err="1"/>
              <a:t>untuk</a:t>
            </a:r>
            <a:r>
              <a:rPr lang="en-US" sz="1400" dirty="0"/>
              <a:t> </a:t>
            </a:r>
            <a:r>
              <a:rPr lang="en-US" sz="1400" dirty="0" err="1"/>
              <a:t>mengecas</a:t>
            </a:r>
            <a:r>
              <a:rPr lang="en-US" sz="1400" dirty="0"/>
              <a:t> </a:t>
            </a:r>
            <a:r>
              <a:rPr lang="en-US" sz="1400" dirty="0" err="1"/>
              <a:t>baterai</a:t>
            </a:r>
            <a:r>
              <a:rPr lang="en-US" sz="1400" dirty="0"/>
              <a:t> 8,4V DC. </a:t>
            </a:r>
            <a:r>
              <a:rPr lang="en-US" sz="1400" dirty="0" err="1"/>
              <a:t>Perencanaan</a:t>
            </a:r>
            <a:r>
              <a:rPr lang="en-US" sz="1400" dirty="0"/>
              <a:t> </a:t>
            </a:r>
            <a:r>
              <a:rPr lang="en-US" sz="1400" dirty="0" err="1"/>
              <a:t>tegangan</a:t>
            </a:r>
            <a:r>
              <a:rPr lang="en-US" sz="1400" dirty="0"/>
              <a:t> yang </a:t>
            </a:r>
            <a:r>
              <a:rPr lang="en-US" sz="1400" dirty="0" err="1"/>
              <a:t>keluar</a:t>
            </a:r>
            <a:r>
              <a:rPr lang="en-US" sz="1400" dirty="0"/>
              <a:t> </a:t>
            </a:r>
            <a:r>
              <a:rPr lang="en-US" sz="1400" dirty="0" err="1"/>
              <a:t>dari</a:t>
            </a:r>
            <a:r>
              <a:rPr lang="en-US" sz="1400" dirty="0"/>
              <a:t> LM3 17 </a:t>
            </a:r>
            <a:r>
              <a:rPr lang="en-US" sz="1400" dirty="0" err="1"/>
              <a:t>dengan</a:t>
            </a:r>
            <a:r>
              <a:rPr lang="en-US" sz="1400" dirty="0"/>
              <a:t> </a:t>
            </a:r>
            <a:r>
              <a:rPr lang="en-US" sz="1400" dirty="0" err="1"/>
              <a:t>nilai</a:t>
            </a:r>
            <a:r>
              <a:rPr lang="en-US" sz="1400" dirty="0"/>
              <a:t> minimal 1,25 V </a:t>
            </a:r>
            <a:r>
              <a:rPr lang="en-US" sz="1400" dirty="0" err="1"/>
              <a:t>dan</a:t>
            </a:r>
            <a:r>
              <a:rPr lang="en-US" sz="1400" dirty="0"/>
              <a:t> </a:t>
            </a:r>
            <a:r>
              <a:rPr lang="en-US" sz="1400" dirty="0" err="1"/>
              <a:t>nilai</a:t>
            </a:r>
            <a:r>
              <a:rPr lang="en-US" sz="1400" dirty="0"/>
              <a:t> </a:t>
            </a:r>
            <a:r>
              <a:rPr lang="en-US" sz="1400" dirty="0" err="1"/>
              <a:t>maksimal</a:t>
            </a:r>
            <a:r>
              <a:rPr lang="en-US" sz="1400" dirty="0"/>
              <a:t> 37 V.</a:t>
            </a:r>
          </a:p>
        </p:txBody>
      </p:sp>
      <p:sp>
        <p:nvSpPr>
          <p:cNvPr id="6" name="Rectangle 5"/>
          <p:cNvSpPr/>
          <p:nvPr/>
        </p:nvSpPr>
        <p:spPr>
          <a:xfrm>
            <a:off x="272737" y="4482606"/>
            <a:ext cx="2088457" cy="369332"/>
          </a:xfrm>
          <a:prstGeom prst="rect">
            <a:avLst/>
          </a:prstGeom>
        </p:spPr>
        <p:txBody>
          <a:bodyPr wrap="none">
            <a:spAutoFit/>
          </a:bodyPr>
          <a:lstStyle/>
          <a:p>
            <a:r>
              <a:rPr lang="en-US" dirty="0"/>
              <a:t>IC adjustable LM317</a:t>
            </a:r>
          </a:p>
        </p:txBody>
      </p:sp>
      <mc:AlternateContent xmlns:mc="http://schemas.openxmlformats.org/markup-compatibility/2006" xmlns:a14="http://schemas.microsoft.com/office/drawing/2010/main">
        <mc:Choice Requires="a14">
          <p:sp>
            <p:nvSpPr>
              <p:cNvPr id="7" name="TextBox 6"/>
              <p:cNvSpPr txBox="1"/>
              <p:nvPr/>
            </p:nvSpPr>
            <p:spPr>
              <a:xfrm>
                <a:off x="272737" y="5006009"/>
                <a:ext cx="2235484" cy="5671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𝑅</m:t>
                      </m:r>
                      <m:r>
                        <a:rPr lang="en-US" b="0" i="1" smtClean="0">
                          <a:latin typeface="Cambria Math" panose="02040503050406030204" pitchFamily="18" charset="0"/>
                        </a:rPr>
                        <m:t>5=</m:t>
                      </m:r>
                      <m:r>
                        <a:rPr lang="en-US" b="0" i="1" smtClean="0">
                          <a:latin typeface="Cambria Math" panose="02040503050406030204" pitchFamily="18" charset="0"/>
                        </a:rPr>
                        <m:t>𝑅</m:t>
                      </m:r>
                      <m:r>
                        <a:rPr lang="en-US" b="0" i="1" smtClean="0">
                          <a:latin typeface="Cambria Math" panose="02040503050406030204" pitchFamily="18" charset="0"/>
                        </a:rPr>
                        <m:t>4 </m:t>
                      </m:r>
                      <m:r>
                        <a:rPr lang="en-US" b="0" i="1" smtClean="0">
                          <a:latin typeface="Cambria Math" panose="02040503050406030204" pitchFamily="18" charset="0"/>
                        </a:rPr>
                        <m:t>𝑥</m:t>
                      </m:r>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𝑉𝑜𝑢𝑡</m:t>
                          </m:r>
                        </m:num>
                        <m:den>
                          <m:r>
                            <a:rPr lang="en-US" b="0" i="1" smtClean="0">
                              <a:latin typeface="Cambria Math" panose="02040503050406030204" pitchFamily="18" charset="0"/>
                            </a:rPr>
                            <m:t>𝑉𝑟𝑒𝑓</m:t>
                          </m:r>
                        </m:den>
                      </m:f>
                      <m:r>
                        <a:rPr lang="en-US" b="0" i="1" smtClean="0">
                          <a:latin typeface="Cambria Math" panose="02040503050406030204" pitchFamily="18" charset="0"/>
                        </a:rPr>
                        <m:t>−1)</m:t>
                      </m:r>
                    </m:oMath>
                  </m:oMathPara>
                </a14:m>
                <a:endParaRPr lang="en-US" dirty="0"/>
              </a:p>
            </p:txBody>
          </p:sp>
        </mc:Choice>
        <mc:Fallback xmlns="">
          <p:sp>
            <p:nvSpPr>
              <p:cNvPr id="7" name="TextBox 6"/>
              <p:cNvSpPr txBox="1">
                <a:spLocks noRot="1" noChangeAspect="1" noMove="1" noResize="1" noEditPoints="1" noAdjustHandles="1" noChangeArrowheads="1" noChangeShapeType="1" noTextEdit="1"/>
              </p:cNvSpPr>
              <p:nvPr/>
            </p:nvSpPr>
            <p:spPr>
              <a:xfrm>
                <a:off x="272737" y="5006009"/>
                <a:ext cx="2235484" cy="567143"/>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272737" y="5727223"/>
                <a:ext cx="5130059" cy="414537"/>
              </a:xfrm>
              <a:prstGeom prst="rect">
                <a:avLst/>
              </a:prstGeom>
              <a:noFill/>
            </p:spPr>
            <p:txBody>
              <a:bodyPr wrap="none" lIns="0" tIns="0" rIns="0" bIns="0" rtlCol="0">
                <a:spAutoFit/>
              </a:bodyPr>
              <a:lstStyle/>
              <a:p>
                <a:r>
                  <a:rPr lang="en-US" b="0" dirty="0" smtClean="0"/>
                  <a:t>Vout</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 </m:t>
                    </m:r>
                    <m:r>
                      <a:rPr lang="en-US" b="0" i="1" smtClean="0">
                        <a:latin typeface="Cambria Math" panose="02040503050406030204" pitchFamily="18" charset="0"/>
                      </a:rPr>
                      <m:t>𝑟𝑒𝑓</m:t>
                    </m:r>
                    <m:d>
                      <m:dPr>
                        <m:ctrlPr>
                          <a:rPr lang="en-US" b="0" i="1" smtClean="0">
                            <a:latin typeface="Cambria Math" panose="02040503050406030204" pitchFamily="18" charset="0"/>
                          </a:rPr>
                        </m:ctrlPr>
                      </m:dPr>
                      <m:e>
                        <m:r>
                          <a:rPr lang="en-US" b="0" i="1" smtClean="0">
                            <a:latin typeface="Cambria Math" panose="02040503050406030204" pitchFamily="18" charset="0"/>
                          </a:rPr>
                          <m:t>1+</m:t>
                        </m:r>
                        <m:f>
                          <m:fPr>
                            <m:ctrlPr>
                              <a:rPr lang="en-US" i="1">
                                <a:latin typeface="Cambria Math" panose="02040503050406030204" pitchFamily="18" charset="0"/>
                              </a:rPr>
                            </m:ctrlPr>
                          </m:fPr>
                          <m:num>
                            <m:r>
                              <a:rPr lang="en-US" b="0" i="1" smtClean="0">
                                <a:latin typeface="Cambria Math" panose="02040503050406030204" pitchFamily="18" charset="0"/>
                              </a:rPr>
                              <m:t>𝑅</m:t>
                            </m:r>
                            <m:r>
                              <a:rPr lang="en-US" b="0" i="1" smtClean="0">
                                <a:latin typeface="Cambria Math" panose="02040503050406030204" pitchFamily="18" charset="0"/>
                              </a:rPr>
                              <m:t>5</m:t>
                            </m:r>
                          </m:num>
                          <m:den>
                            <m:r>
                              <a:rPr lang="en-US" b="0" i="1" smtClean="0">
                                <a:latin typeface="Cambria Math" panose="02040503050406030204" pitchFamily="18" charset="0"/>
                              </a:rPr>
                              <m:t>𝑅</m:t>
                            </m:r>
                            <m:r>
                              <a:rPr lang="en-US" b="0" i="1" smtClean="0">
                                <a:latin typeface="Cambria Math" panose="02040503050406030204" pitchFamily="18" charset="0"/>
                              </a:rPr>
                              <m:t>4</m:t>
                            </m:r>
                          </m:den>
                        </m:f>
                      </m:e>
                    </m:d>
                    <m:r>
                      <a:rPr lang="en-US" b="0" i="1" smtClean="0">
                        <a:latin typeface="Cambria Math" panose="02040503050406030204" pitchFamily="18" charset="0"/>
                      </a:rPr>
                      <m:t>=1,25 (1+</m:t>
                    </m:r>
                    <m:f>
                      <m:fPr>
                        <m:ctrlPr>
                          <a:rPr lang="en-US" b="0" i="1" smtClean="0">
                            <a:latin typeface="Cambria Math" panose="02040503050406030204" pitchFamily="18" charset="0"/>
                          </a:rPr>
                        </m:ctrlPr>
                      </m:fPr>
                      <m:num>
                        <m:r>
                          <a:rPr lang="en-US" b="0" i="1" smtClean="0">
                            <a:latin typeface="Cambria Math" panose="02040503050406030204" pitchFamily="18" charset="0"/>
                          </a:rPr>
                          <m:t>2951,6 </m:t>
                        </m:r>
                        <m:r>
                          <a:rPr lang="en-US" b="0" i="1" smtClean="0">
                            <a:latin typeface="Cambria Math" panose="02040503050406030204" pitchFamily="18" charset="0"/>
                          </a:rPr>
                          <m:t>𝑜h𝑚</m:t>
                        </m:r>
                      </m:num>
                      <m:den>
                        <m:r>
                          <a:rPr lang="en-US" b="0" i="1" smtClean="0">
                            <a:latin typeface="Cambria Math" panose="02040503050406030204" pitchFamily="18" charset="0"/>
                          </a:rPr>
                          <m:t>470 </m:t>
                        </m:r>
                        <m:r>
                          <a:rPr lang="en-US" b="0" i="1" smtClean="0">
                            <a:latin typeface="Cambria Math" panose="02040503050406030204" pitchFamily="18" charset="0"/>
                          </a:rPr>
                          <m:t>𝑜h𝑚</m:t>
                        </m:r>
                      </m:den>
                    </m:f>
                    <m:r>
                      <a:rPr lang="en-US" b="0" i="1" smtClean="0">
                        <a:latin typeface="Cambria Math" panose="02040503050406030204" pitchFamily="18" charset="0"/>
                      </a:rPr>
                      <m:t>=9,1 </m:t>
                    </m:r>
                    <m:r>
                      <a:rPr lang="en-US" b="0" i="1" smtClean="0">
                        <a:latin typeface="Cambria Math" panose="02040503050406030204" pitchFamily="18" charset="0"/>
                      </a:rPr>
                      <m:t>𝑉</m:t>
                    </m:r>
                  </m:oMath>
                </a14:m>
                <a:endParaRPr lang="en-US" dirty="0"/>
              </a:p>
            </p:txBody>
          </p:sp>
        </mc:Choice>
        <mc:Fallback xmlns="">
          <p:sp>
            <p:nvSpPr>
              <p:cNvPr id="8" name="TextBox 7"/>
              <p:cNvSpPr txBox="1">
                <a:spLocks noRot="1" noChangeAspect="1" noMove="1" noResize="1" noEditPoints="1" noAdjustHandles="1" noChangeArrowheads="1" noChangeShapeType="1" noTextEdit="1"/>
              </p:cNvSpPr>
              <p:nvPr/>
            </p:nvSpPr>
            <p:spPr>
              <a:xfrm>
                <a:off x="272737" y="5727223"/>
                <a:ext cx="5130059" cy="414537"/>
              </a:xfrm>
              <a:prstGeom prst="rect">
                <a:avLst/>
              </a:prstGeom>
              <a:blipFill>
                <a:blip r:embed="rId4"/>
                <a:stretch>
                  <a:fillRect l="-2854" t="-1471" r="-713" b="-176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2653628" y="5006009"/>
                <a:ext cx="2777748" cy="54970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𝑅</m:t>
                      </m:r>
                      <m:r>
                        <a:rPr lang="en-US" b="0" i="1" smtClean="0">
                          <a:latin typeface="Cambria Math" panose="02040503050406030204" pitchFamily="18" charset="0"/>
                        </a:rPr>
                        <m:t>5=470 </m:t>
                      </m:r>
                      <m:r>
                        <a:rPr lang="en-US" b="0" i="1" smtClean="0">
                          <a:latin typeface="Cambria Math" panose="02040503050406030204" pitchFamily="18" charset="0"/>
                        </a:rPr>
                        <m:t>𝑜h𝑚</m:t>
                      </m:r>
                      <m:r>
                        <a:rPr lang="en-US" b="0" i="1" smtClean="0">
                          <a:latin typeface="Cambria Math" panose="02040503050406030204" pitchFamily="18" charset="0"/>
                        </a:rPr>
                        <m:t> </m:t>
                      </m:r>
                      <m:r>
                        <a:rPr lang="en-US" b="0" i="1" smtClean="0">
                          <a:latin typeface="Cambria Math" panose="02040503050406030204" pitchFamily="18" charset="0"/>
                        </a:rPr>
                        <m:t>𝑥</m:t>
                      </m:r>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9,1</m:t>
                          </m:r>
                        </m:num>
                        <m:den>
                          <m:r>
                            <a:rPr lang="en-US" b="0" i="1" smtClean="0">
                              <a:latin typeface="Cambria Math" panose="02040503050406030204" pitchFamily="18" charset="0"/>
                            </a:rPr>
                            <m:t>1,25</m:t>
                          </m:r>
                        </m:den>
                      </m:f>
                      <m:r>
                        <a:rPr lang="en-US" b="0" i="1" smtClean="0">
                          <a:latin typeface="Cambria Math" panose="02040503050406030204" pitchFamily="18" charset="0"/>
                        </a:rPr>
                        <m:t>−1)</m:t>
                      </m:r>
                    </m:oMath>
                  </m:oMathPara>
                </a14:m>
                <a:endParaRPr lang="en-US" dirty="0"/>
              </a:p>
            </p:txBody>
          </p:sp>
        </mc:Choice>
        <mc:Fallback xmlns="">
          <p:sp>
            <p:nvSpPr>
              <p:cNvPr id="9" name="TextBox 8"/>
              <p:cNvSpPr txBox="1">
                <a:spLocks noRot="1" noChangeAspect="1" noMove="1" noResize="1" noEditPoints="1" noAdjustHandles="1" noChangeArrowheads="1" noChangeShapeType="1" noTextEdit="1"/>
              </p:cNvSpPr>
              <p:nvPr/>
            </p:nvSpPr>
            <p:spPr>
              <a:xfrm>
                <a:off x="2653628" y="5006009"/>
                <a:ext cx="2777748" cy="54970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5576783" y="5142360"/>
                <a:ext cx="3420552" cy="276999"/>
              </a:xfrm>
              <a:prstGeom prst="rect">
                <a:avLst/>
              </a:prstGeom>
              <a:noFill/>
            </p:spPr>
            <p:txBody>
              <a:bodyPr wrap="none" lIns="0" tIns="0" rIns="0" bIns="0" rtlCol="0">
                <a:spAutoFit/>
              </a:bodyPr>
              <a:lstStyle/>
              <a:p>
                <a14:m>
                  <m:oMath xmlns:m="http://schemas.openxmlformats.org/officeDocument/2006/math">
                    <m:r>
                      <a:rPr lang="en-US" b="0" i="1" smtClean="0">
                        <a:latin typeface="Cambria Math" panose="02040503050406030204" pitchFamily="18" charset="0"/>
                      </a:rPr>
                      <m:t>𝑅</m:t>
                    </m:r>
                    <m:r>
                      <a:rPr lang="en-US" b="0" i="1" smtClean="0">
                        <a:latin typeface="Cambria Math" panose="02040503050406030204" pitchFamily="18" charset="0"/>
                      </a:rPr>
                      <m:t>5=470 </m:t>
                    </m:r>
                    <m:r>
                      <a:rPr lang="en-US" b="0" i="1" smtClean="0">
                        <a:latin typeface="Cambria Math" panose="02040503050406030204" pitchFamily="18" charset="0"/>
                      </a:rPr>
                      <m:t>𝑜h𝑚</m:t>
                    </m:r>
                    <m:r>
                      <a:rPr lang="en-US" b="0" i="1" smtClean="0">
                        <a:latin typeface="Cambria Math" panose="02040503050406030204" pitchFamily="18" charset="0"/>
                      </a:rPr>
                      <m:t> </m:t>
                    </m:r>
                    <m:r>
                      <a:rPr lang="en-US" b="0" i="1" smtClean="0">
                        <a:latin typeface="Cambria Math" panose="02040503050406030204" pitchFamily="18" charset="0"/>
                      </a:rPr>
                      <m:t>𝑥</m:t>
                    </m:r>
                    <m:r>
                      <a:rPr lang="en-US" b="0" i="1" smtClean="0">
                        <a:latin typeface="Cambria Math" panose="02040503050406030204" pitchFamily="18" charset="0"/>
                      </a:rPr>
                      <m:t> 6,28</m:t>
                    </m:r>
                  </m:oMath>
                </a14:m>
                <a:r>
                  <a:rPr lang="en-US" dirty="0" smtClean="0"/>
                  <a:t> =2951,6 ohm</a:t>
                </a:r>
                <a:endParaRPr lang="en-US" dirty="0"/>
              </a:p>
            </p:txBody>
          </p:sp>
        </mc:Choice>
        <mc:Fallback xmlns="">
          <p:sp>
            <p:nvSpPr>
              <p:cNvPr id="10" name="TextBox 9"/>
              <p:cNvSpPr txBox="1">
                <a:spLocks noRot="1" noChangeAspect="1" noMove="1" noResize="1" noEditPoints="1" noAdjustHandles="1" noChangeArrowheads="1" noChangeShapeType="1" noTextEdit="1"/>
              </p:cNvSpPr>
              <p:nvPr/>
            </p:nvSpPr>
            <p:spPr>
              <a:xfrm>
                <a:off x="5576783" y="5142360"/>
                <a:ext cx="3420552" cy="276999"/>
              </a:xfrm>
              <a:prstGeom prst="rect">
                <a:avLst/>
              </a:prstGeom>
              <a:blipFill>
                <a:blip r:embed="rId6"/>
                <a:stretch>
                  <a:fillRect l="-2496" t="-28889" r="-3209" b="-51111"/>
                </a:stretch>
              </a:blipFill>
            </p:spPr>
            <p:txBody>
              <a:bodyPr/>
              <a:lstStyle/>
              <a:p>
                <a:r>
                  <a:rPr lang="en-US">
                    <a:noFill/>
                  </a:rPr>
                  <a:t> </a:t>
                </a:r>
              </a:p>
            </p:txBody>
          </p:sp>
        </mc:Fallback>
      </mc:AlternateContent>
    </p:spTree>
    <p:extLst>
      <p:ext uri="{BB962C8B-B14F-4D97-AF65-F5344CB8AC3E}">
        <p14:creationId xmlns:p14="http://schemas.microsoft.com/office/powerpoint/2010/main" val="154318017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70293" y="462337"/>
            <a:ext cx="11634159" cy="1477328"/>
          </a:xfrm>
          <a:prstGeom prst="rect">
            <a:avLst/>
          </a:prstGeom>
        </p:spPr>
        <p:txBody>
          <a:bodyPr wrap="square">
            <a:spAutoFit/>
          </a:bodyPr>
          <a:lstStyle/>
          <a:p>
            <a:r>
              <a:rPr lang="en-US" dirty="0" err="1"/>
              <a:t>Baterai</a:t>
            </a:r>
            <a:r>
              <a:rPr lang="en-US" dirty="0"/>
              <a:t> yang </a:t>
            </a:r>
            <a:r>
              <a:rPr lang="en-US" dirty="0" err="1"/>
              <a:t>digunakan</a:t>
            </a:r>
            <a:r>
              <a:rPr lang="en-US" dirty="0"/>
              <a:t> </a:t>
            </a:r>
            <a:r>
              <a:rPr lang="en-US" dirty="0" err="1"/>
              <a:t>merupakan</a:t>
            </a:r>
            <a:r>
              <a:rPr lang="en-US" dirty="0"/>
              <a:t> </a:t>
            </a:r>
            <a:r>
              <a:rPr lang="en-US" dirty="0" err="1"/>
              <a:t>baterai</a:t>
            </a:r>
            <a:r>
              <a:rPr lang="en-US" dirty="0"/>
              <a:t> </a:t>
            </a:r>
            <a:r>
              <a:rPr lang="en-US" dirty="0" err="1"/>
              <a:t>jenis</a:t>
            </a:r>
            <a:r>
              <a:rPr lang="en-US" dirty="0"/>
              <a:t> lithium </a:t>
            </a:r>
            <a:r>
              <a:rPr lang="en-US" dirty="0" err="1"/>
              <a:t>polimer</a:t>
            </a:r>
            <a:r>
              <a:rPr lang="en-US" dirty="0"/>
              <a:t> yang </a:t>
            </a:r>
            <a:r>
              <a:rPr lang="en-US" dirty="0" err="1"/>
              <a:t>disusun</a:t>
            </a:r>
            <a:r>
              <a:rPr lang="en-US" dirty="0"/>
              <a:t> </a:t>
            </a:r>
            <a:r>
              <a:rPr lang="en-US" dirty="0" err="1"/>
              <a:t>dari</a:t>
            </a:r>
            <a:r>
              <a:rPr lang="en-US" dirty="0"/>
              <a:t> 2 </a:t>
            </a:r>
            <a:r>
              <a:rPr lang="en-US" dirty="0" err="1" smtClean="0"/>
              <a:t>buah</a:t>
            </a:r>
            <a:r>
              <a:rPr lang="en-US" dirty="0" smtClean="0"/>
              <a:t> cell </a:t>
            </a:r>
            <a:r>
              <a:rPr lang="en-US" dirty="0" err="1"/>
              <a:t>dengan</a:t>
            </a:r>
            <a:r>
              <a:rPr lang="en-US" dirty="0"/>
              <a:t> </a:t>
            </a:r>
            <a:r>
              <a:rPr lang="en-US" dirty="0" err="1"/>
              <a:t>tegangan</a:t>
            </a:r>
            <a:r>
              <a:rPr lang="en-US" dirty="0"/>
              <a:t> </a:t>
            </a:r>
            <a:r>
              <a:rPr lang="en-US" dirty="0" err="1"/>
              <a:t>maksimal</a:t>
            </a:r>
            <a:r>
              <a:rPr lang="en-US" dirty="0"/>
              <a:t> 4,2V </a:t>
            </a:r>
            <a:r>
              <a:rPr lang="en-US" dirty="0" err="1"/>
              <a:t>untuk</a:t>
            </a:r>
            <a:r>
              <a:rPr lang="en-US" dirty="0"/>
              <a:t> </a:t>
            </a:r>
            <a:r>
              <a:rPr lang="en-US" dirty="0" err="1"/>
              <a:t>tiap</a:t>
            </a:r>
            <a:r>
              <a:rPr lang="en-US" dirty="0"/>
              <a:t> cell </a:t>
            </a:r>
            <a:r>
              <a:rPr lang="en-US" dirty="0" err="1"/>
              <a:t>dan</a:t>
            </a:r>
            <a:r>
              <a:rPr lang="en-US" dirty="0"/>
              <a:t> </a:t>
            </a:r>
            <a:r>
              <a:rPr lang="en-US" dirty="0" err="1"/>
              <a:t>kapasitas</a:t>
            </a:r>
            <a:r>
              <a:rPr lang="en-US" dirty="0"/>
              <a:t> </a:t>
            </a:r>
            <a:r>
              <a:rPr lang="en-US" dirty="0" err="1"/>
              <a:t>baterai</a:t>
            </a:r>
            <a:r>
              <a:rPr lang="en-US" dirty="0"/>
              <a:t> </a:t>
            </a:r>
            <a:r>
              <a:rPr lang="en-US" dirty="0" err="1"/>
              <a:t>adalah</a:t>
            </a:r>
            <a:r>
              <a:rPr lang="en-US" dirty="0"/>
              <a:t> 1100mAh</a:t>
            </a:r>
            <a:r>
              <a:rPr lang="en-US" dirty="0" smtClean="0"/>
              <a:t>. Yang </a:t>
            </a:r>
            <a:r>
              <a:rPr lang="en-US" dirty="0" err="1"/>
              <a:t>artinya</a:t>
            </a:r>
            <a:r>
              <a:rPr lang="en-US" dirty="0"/>
              <a:t>, </a:t>
            </a:r>
            <a:r>
              <a:rPr lang="en-US" dirty="0" err="1"/>
              <a:t>baterai</a:t>
            </a:r>
            <a:r>
              <a:rPr lang="en-US" dirty="0"/>
              <a:t> </a:t>
            </a:r>
            <a:r>
              <a:rPr lang="en-US" dirty="0" err="1"/>
              <a:t>dapat</a:t>
            </a:r>
            <a:r>
              <a:rPr lang="en-US" dirty="0"/>
              <a:t> </a:t>
            </a:r>
            <a:r>
              <a:rPr lang="en-US" dirty="0" err="1"/>
              <a:t>mengalirkan</a:t>
            </a:r>
            <a:r>
              <a:rPr lang="en-US" dirty="0"/>
              <a:t> </a:t>
            </a:r>
            <a:r>
              <a:rPr lang="en-US" dirty="0" err="1"/>
              <a:t>arus</a:t>
            </a:r>
            <a:r>
              <a:rPr lang="en-US" dirty="0"/>
              <a:t> </a:t>
            </a:r>
            <a:r>
              <a:rPr lang="en-US" dirty="0" err="1"/>
              <a:t>sebesar</a:t>
            </a:r>
            <a:r>
              <a:rPr lang="en-US" dirty="0"/>
              <a:t> 1100mAh </a:t>
            </a:r>
            <a:r>
              <a:rPr lang="en-US" dirty="0" err="1"/>
              <a:t>dalam</a:t>
            </a:r>
            <a:r>
              <a:rPr lang="en-US" dirty="0"/>
              <a:t> </a:t>
            </a:r>
            <a:r>
              <a:rPr lang="en-US" dirty="0" err="1"/>
              <a:t>waktu</a:t>
            </a:r>
            <a:r>
              <a:rPr lang="en-US" dirty="0"/>
              <a:t> 1 jam. </a:t>
            </a:r>
            <a:r>
              <a:rPr lang="en-US" dirty="0" err="1" smtClean="0"/>
              <a:t>Dengan</a:t>
            </a:r>
            <a:r>
              <a:rPr lang="en-US" dirty="0" smtClean="0"/>
              <a:t> kata </a:t>
            </a:r>
            <a:r>
              <a:rPr lang="en-US" dirty="0"/>
              <a:t>lain </a:t>
            </a:r>
            <a:r>
              <a:rPr lang="en-US" dirty="0" err="1"/>
              <a:t>energinya</a:t>
            </a:r>
            <a:r>
              <a:rPr lang="en-US" dirty="0"/>
              <a:t> </a:t>
            </a:r>
            <a:r>
              <a:rPr lang="en-US" dirty="0" err="1"/>
              <a:t>akan</a:t>
            </a:r>
            <a:r>
              <a:rPr lang="en-US" dirty="0"/>
              <a:t> </a:t>
            </a:r>
            <a:r>
              <a:rPr lang="en-US" dirty="0" err="1"/>
              <a:t>habis</a:t>
            </a:r>
            <a:r>
              <a:rPr lang="en-US" dirty="0"/>
              <a:t> </a:t>
            </a:r>
            <a:r>
              <a:rPr lang="en-US" dirty="0" err="1"/>
              <a:t>jika</a:t>
            </a:r>
            <a:r>
              <a:rPr lang="en-US" dirty="0"/>
              <a:t> </a:t>
            </a:r>
            <a:r>
              <a:rPr lang="en-US" dirty="0" err="1"/>
              <a:t>diberi</a:t>
            </a:r>
            <a:r>
              <a:rPr lang="en-US" dirty="0"/>
              <a:t> </a:t>
            </a:r>
            <a:r>
              <a:rPr lang="en-US" dirty="0" err="1"/>
              <a:t>beban</a:t>
            </a:r>
            <a:r>
              <a:rPr lang="en-US" dirty="0"/>
              <a:t> 1100mA. Beban </a:t>
            </a:r>
            <a:r>
              <a:rPr lang="en-US" dirty="0" err="1"/>
              <a:t>arus</a:t>
            </a:r>
            <a:r>
              <a:rPr lang="en-US" dirty="0"/>
              <a:t> </a:t>
            </a:r>
            <a:r>
              <a:rPr lang="en-US" dirty="0" err="1"/>
              <a:t>seluruh</a:t>
            </a:r>
            <a:r>
              <a:rPr lang="en-US" dirty="0"/>
              <a:t> </a:t>
            </a:r>
            <a:r>
              <a:rPr lang="en-US" dirty="0" err="1"/>
              <a:t>rangkaian</a:t>
            </a:r>
            <a:r>
              <a:rPr lang="en-US" dirty="0"/>
              <a:t> </a:t>
            </a:r>
            <a:r>
              <a:rPr lang="en-US" dirty="0" err="1"/>
              <a:t>alat</a:t>
            </a:r>
            <a:endParaRPr lang="en-US" dirty="0"/>
          </a:p>
          <a:p>
            <a:r>
              <a:rPr lang="en-US" dirty="0" err="1"/>
              <a:t>bernilai</a:t>
            </a:r>
            <a:r>
              <a:rPr lang="en-US" dirty="0"/>
              <a:t> 146,9mA. </a:t>
            </a:r>
            <a:r>
              <a:rPr lang="en-US" dirty="0" err="1"/>
              <a:t>Secara</a:t>
            </a:r>
            <a:r>
              <a:rPr lang="en-US" dirty="0"/>
              <a:t> </a:t>
            </a:r>
            <a:r>
              <a:rPr lang="en-US" dirty="0" err="1"/>
              <a:t>teori</a:t>
            </a:r>
            <a:r>
              <a:rPr lang="en-US" dirty="0"/>
              <a:t>, </a:t>
            </a:r>
            <a:r>
              <a:rPr lang="en-US" dirty="0" err="1"/>
              <a:t>hasil</a:t>
            </a:r>
            <a:r>
              <a:rPr lang="en-US" dirty="0"/>
              <a:t> </a:t>
            </a:r>
            <a:r>
              <a:rPr lang="en-US" dirty="0" err="1"/>
              <a:t>perhitungan</a:t>
            </a:r>
            <a:r>
              <a:rPr lang="en-US" dirty="0"/>
              <a:t> </a:t>
            </a:r>
            <a:r>
              <a:rPr lang="en-US" dirty="0" err="1"/>
              <a:t>waktu</a:t>
            </a:r>
            <a:r>
              <a:rPr lang="en-US" dirty="0"/>
              <a:t> </a:t>
            </a:r>
            <a:r>
              <a:rPr lang="en-US" dirty="0" err="1"/>
              <a:t>habis</a:t>
            </a:r>
            <a:r>
              <a:rPr lang="en-US" dirty="0"/>
              <a:t> </a:t>
            </a:r>
            <a:r>
              <a:rPr lang="en-US" dirty="0" err="1"/>
              <a:t>baterai</a:t>
            </a:r>
            <a:r>
              <a:rPr lang="en-US" dirty="0"/>
              <a:t> </a:t>
            </a:r>
            <a:r>
              <a:rPr lang="en-US" dirty="0" err="1"/>
              <a:t>yaitu</a:t>
            </a:r>
            <a:r>
              <a:rPr lang="en-US" dirty="0" smtClean="0"/>
              <a:t>:</a:t>
            </a:r>
          </a:p>
          <a:p>
            <a:r>
              <a:rPr lang="en-US" dirty="0" err="1"/>
              <a:t>Kapasitas</a:t>
            </a:r>
            <a:r>
              <a:rPr lang="en-US" dirty="0"/>
              <a:t> </a:t>
            </a:r>
            <a:r>
              <a:rPr lang="en-US" dirty="0" err="1"/>
              <a:t>baterai</a:t>
            </a:r>
            <a:r>
              <a:rPr lang="en-US" dirty="0"/>
              <a:t> </a:t>
            </a:r>
            <a:r>
              <a:rPr lang="en-US" dirty="0" smtClean="0"/>
              <a:t>:</a:t>
            </a:r>
            <a:endParaRPr lang="en-US" dirty="0"/>
          </a:p>
        </p:txBody>
      </p:sp>
      <mc:AlternateContent xmlns:mc="http://schemas.openxmlformats.org/markup-compatibility/2006" xmlns:a14="http://schemas.microsoft.com/office/drawing/2010/main">
        <mc:Choice Requires="a14">
          <p:sp>
            <p:nvSpPr>
              <p:cNvPr id="5" name="TextBox 4"/>
              <p:cNvSpPr txBox="1"/>
              <p:nvPr/>
            </p:nvSpPr>
            <p:spPr>
              <a:xfrm>
                <a:off x="652300" y="2124786"/>
                <a:ext cx="8402044" cy="428900"/>
              </a:xfrm>
              <a:prstGeom prst="rect">
                <a:avLst/>
              </a:prstGeom>
              <a:noFill/>
            </p:spPr>
            <p:txBody>
              <a:bodyPr wrap="none" lIns="0" tIns="0" rIns="0" bIns="0" rtlCol="0">
                <a:spAutoFit/>
              </a:bodyPr>
              <a:lstStyle/>
              <a:p>
                <a:r>
                  <a:rPr lang="en-US" b="0" dirty="0" smtClean="0"/>
                  <a:t>Waktu </a:t>
                </a:r>
                <a:r>
                  <a:rPr lang="en-US" b="0" dirty="0" err="1" smtClean="0"/>
                  <a:t>habis</a:t>
                </a:r>
                <a14:m>
                  <m:oMath xmlns:m="http://schemas.openxmlformats.org/officeDocument/2006/math">
                    <m:r>
                      <a:rPr lang="en-US" b="0" i="0" smtClean="0">
                        <a:latin typeface="Cambria Math" panose="02040503050406030204" pitchFamily="18" charset="0"/>
                      </a:rPr>
                      <m:t> </m:t>
                    </m:r>
                    <m:r>
                      <a:rPr lang="en-US" b="0" i="1" smtClean="0">
                        <a:latin typeface="Cambria Math" panose="02040503050406030204" pitchFamily="18" charset="0"/>
                      </a:rPr>
                      <m:t>=</m:t>
                    </m:r>
                    <m:r>
                      <a:rPr lang="en-US" i="1">
                        <a:latin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rPr>
                          <m:t>𝑁𝑖𝑙𝑎𝑖</m:t>
                        </m:r>
                        <m:r>
                          <a:rPr lang="en-US" b="0" i="1" smtClean="0">
                            <a:latin typeface="Cambria Math" panose="02040503050406030204" pitchFamily="18" charset="0"/>
                          </a:rPr>
                          <m:t> </m:t>
                        </m:r>
                        <m:r>
                          <a:rPr lang="en-US" b="0" i="1" smtClean="0">
                            <a:latin typeface="Cambria Math" panose="02040503050406030204" pitchFamily="18" charset="0"/>
                          </a:rPr>
                          <m:t>𝑘𝑎𝑝𝑎𝑠𝑖𝑡𝑜𝑟</m:t>
                        </m:r>
                      </m:num>
                      <m:den>
                        <m:r>
                          <a:rPr lang="en-US" b="0" i="1" smtClean="0">
                            <a:latin typeface="Cambria Math" panose="02040503050406030204" pitchFamily="18" charset="0"/>
                          </a:rPr>
                          <m:t>𝐴𝑟𝑢𝑠</m:t>
                        </m:r>
                        <m:r>
                          <a:rPr lang="en-US" b="0" i="1" smtClean="0">
                            <a:latin typeface="Cambria Math" panose="02040503050406030204" pitchFamily="18" charset="0"/>
                          </a:rPr>
                          <m:t> </m:t>
                        </m:r>
                        <m:r>
                          <a:rPr lang="en-US" b="0" i="1" smtClean="0">
                            <a:latin typeface="Cambria Math" panose="02040503050406030204" pitchFamily="18" charset="0"/>
                          </a:rPr>
                          <m:t>𝑏𝑒𝑏𝑎𝑛</m:t>
                        </m:r>
                      </m:den>
                    </m:f>
                    <m:r>
                      <a:rPr lang="en-US" b="0" i="1" smtClean="0">
                        <a:latin typeface="Cambria Math" panose="02040503050406030204" pitchFamily="18" charset="0"/>
                      </a:rPr>
                      <m:t>. </m:t>
                    </m:r>
                    <m:r>
                      <a:rPr lang="en-US" b="0" i="1" smtClean="0">
                        <a:latin typeface="Cambria Math" panose="02040503050406030204" pitchFamily="18" charset="0"/>
                      </a:rPr>
                      <m:t>60</m:t>
                    </m:r>
                    <m:r>
                      <a:rPr lang="en-US" b="0" i="1" smtClean="0">
                        <a:latin typeface="Cambria Math" panose="02040503050406030204" pitchFamily="18" charset="0"/>
                      </a:rPr>
                      <m:t> </m:t>
                    </m:r>
                    <m:r>
                      <a:rPr lang="en-US" b="0" i="1" smtClean="0">
                        <a:latin typeface="Cambria Math" panose="02040503050406030204" pitchFamily="18" charset="0"/>
                      </a:rPr>
                      <m:t>𝑚𝑒𝑛𝑖𝑡</m:t>
                    </m:r>
                    <m:r>
                      <a:rPr lang="en-US" b="0" i="1" smtClean="0">
                        <a:latin typeface="Cambria Math" panose="02040503050406030204" pitchFamily="18" charset="0"/>
                      </a:rPr>
                      <m:t> = </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1100</m:t>
                            </m:r>
                            <m:r>
                              <a:rPr lang="en-US" b="0" i="1" smtClean="0">
                                <a:latin typeface="Cambria Math" panose="02040503050406030204" pitchFamily="18" charset="0"/>
                              </a:rPr>
                              <m:t>𝑚𝐴</m:t>
                            </m:r>
                            <m:r>
                              <a:rPr lang="en-US" b="0" i="1" smtClean="0">
                                <a:latin typeface="Cambria Math" panose="02040503050406030204" pitchFamily="18" charset="0"/>
                              </a:rPr>
                              <m:t>h</m:t>
                            </m:r>
                          </m:num>
                          <m:den>
                            <m:r>
                              <a:rPr lang="en-US" b="0" i="1" smtClean="0">
                                <a:latin typeface="Cambria Math" panose="02040503050406030204" pitchFamily="18" charset="0"/>
                              </a:rPr>
                              <m:t>146</m:t>
                            </m:r>
                            <m:r>
                              <a:rPr lang="en-US" b="0" i="1" smtClean="0">
                                <a:latin typeface="Cambria Math" panose="02040503050406030204" pitchFamily="18" charset="0"/>
                              </a:rPr>
                              <m:t>,</m:t>
                            </m:r>
                            <m:r>
                              <a:rPr lang="en-US" b="0" i="1" smtClean="0">
                                <a:latin typeface="Cambria Math" panose="02040503050406030204" pitchFamily="18" charset="0"/>
                              </a:rPr>
                              <m:t>9</m:t>
                            </m:r>
                            <m:r>
                              <a:rPr lang="en-US" b="0" i="1" smtClean="0">
                                <a:latin typeface="Cambria Math" panose="02040503050406030204" pitchFamily="18" charset="0"/>
                              </a:rPr>
                              <m:t> </m:t>
                            </m:r>
                            <m:r>
                              <a:rPr lang="en-US" b="0" i="1" smtClean="0">
                                <a:latin typeface="Cambria Math" panose="02040503050406030204" pitchFamily="18" charset="0"/>
                              </a:rPr>
                              <m:t>𝑚𝐴</m:t>
                            </m:r>
                          </m:den>
                        </m:f>
                      </m:e>
                    </m:d>
                    <m:r>
                      <a:rPr lang="en-US" b="0" i="1" smtClean="0">
                        <a:latin typeface="Cambria Math" panose="02040503050406030204" pitchFamily="18" charset="0"/>
                      </a:rPr>
                      <m:t>. </m:t>
                    </m:r>
                    <m:r>
                      <a:rPr lang="en-US" b="0" i="1" smtClean="0">
                        <a:latin typeface="Cambria Math" panose="02040503050406030204" pitchFamily="18" charset="0"/>
                      </a:rPr>
                      <m:t>60</m:t>
                    </m:r>
                    <m:r>
                      <a:rPr lang="en-US" b="0" i="1" smtClean="0">
                        <a:latin typeface="Cambria Math" panose="02040503050406030204" pitchFamily="18" charset="0"/>
                      </a:rPr>
                      <m:t> </m:t>
                    </m:r>
                    <m:r>
                      <a:rPr lang="en-US" b="0" i="1" smtClean="0">
                        <a:latin typeface="Cambria Math" panose="02040503050406030204" pitchFamily="18" charset="0"/>
                      </a:rPr>
                      <m:t>𝑚𝑒𝑛𝑖𝑡</m:t>
                    </m:r>
                    <m:r>
                      <a:rPr lang="en-US" b="0" i="1" smtClean="0">
                        <a:latin typeface="Cambria Math" panose="02040503050406030204" pitchFamily="18" charset="0"/>
                      </a:rPr>
                      <m:t>=</m:t>
                    </m:r>
                    <m:r>
                      <a:rPr lang="en-US" b="0" i="1" smtClean="0">
                        <a:latin typeface="Cambria Math" panose="02040503050406030204" pitchFamily="18" charset="0"/>
                      </a:rPr>
                      <m:t>7</m:t>
                    </m:r>
                    <m:r>
                      <a:rPr lang="en-US" b="0" i="1" smtClean="0">
                        <a:latin typeface="Cambria Math" panose="02040503050406030204" pitchFamily="18" charset="0"/>
                      </a:rPr>
                      <m:t> </m:t>
                    </m:r>
                    <m:r>
                      <a:rPr lang="en-US" b="0" i="1" smtClean="0">
                        <a:latin typeface="Cambria Math" panose="02040503050406030204" pitchFamily="18" charset="0"/>
                      </a:rPr>
                      <m:t>𝐽𝑎𝑚</m:t>
                    </m:r>
                    <m:r>
                      <a:rPr lang="en-US" b="0" i="1" smtClean="0">
                        <a:latin typeface="Cambria Math" panose="02040503050406030204" pitchFamily="18" charset="0"/>
                      </a:rPr>
                      <m:t> </m:t>
                    </m:r>
                    <m:r>
                      <a:rPr lang="en-US" b="0" i="1" smtClean="0">
                        <a:latin typeface="Cambria Math" panose="02040503050406030204" pitchFamily="18" charset="0"/>
                      </a:rPr>
                      <m:t>28</m:t>
                    </m:r>
                    <m:r>
                      <a:rPr lang="en-US" b="0" i="1" smtClean="0">
                        <a:latin typeface="Cambria Math" panose="02040503050406030204" pitchFamily="18" charset="0"/>
                      </a:rPr>
                      <m:t> </m:t>
                    </m:r>
                    <m:r>
                      <a:rPr lang="en-US" b="0" i="1" smtClean="0">
                        <a:latin typeface="Cambria Math" panose="02040503050406030204" pitchFamily="18" charset="0"/>
                      </a:rPr>
                      <m:t>𝑚𝑒𝑛𝑖𝑡</m:t>
                    </m:r>
                  </m:oMath>
                </a14:m>
                <a:endParaRPr lang="en-US" dirty="0"/>
              </a:p>
            </p:txBody>
          </p:sp>
        </mc:Choice>
        <mc:Fallback xmlns="">
          <p:sp>
            <p:nvSpPr>
              <p:cNvPr id="5" name="TextBox 4"/>
              <p:cNvSpPr txBox="1">
                <a:spLocks noRot="1" noChangeAspect="1" noMove="1" noResize="1" noEditPoints="1" noAdjustHandles="1" noChangeArrowheads="1" noChangeShapeType="1" noTextEdit="1"/>
              </p:cNvSpPr>
              <p:nvPr/>
            </p:nvSpPr>
            <p:spPr>
              <a:xfrm>
                <a:off x="652300" y="2124786"/>
                <a:ext cx="8402044" cy="428900"/>
              </a:xfrm>
              <a:prstGeom prst="rect">
                <a:avLst/>
              </a:prstGeom>
              <a:blipFill>
                <a:blip r:embed="rId2"/>
                <a:stretch>
                  <a:fillRect l="-1669" t="-2857" b="-14286"/>
                </a:stretch>
              </a:blipFill>
            </p:spPr>
            <p:txBody>
              <a:bodyPr/>
              <a:lstStyle/>
              <a:p>
                <a:r>
                  <a:rPr lang="en-US">
                    <a:noFill/>
                  </a:rPr>
                  <a:t> </a:t>
                </a:r>
              </a:p>
            </p:txBody>
          </p:sp>
        </mc:Fallback>
      </mc:AlternateContent>
      <p:sp>
        <p:nvSpPr>
          <p:cNvPr id="6" name="Rectangle 5"/>
          <p:cNvSpPr/>
          <p:nvPr/>
        </p:nvSpPr>
        <p:spPr>
          <a:xfrm>
            <a:off x="270292" y="2738807"/>
            <a:ext cx="11634159" cy="2585323"/>
          </a:xfrm>
          <a:prstGeom prst="rect">
            <a:avLst/>
          </a:prstGeom>
        </p:spPr>
        <p:txBody>
          <a:bodyPr wrap="square">
            <a:spAutoFit/>
          </a:bodyPr>
          <a:lstStyle/>
          <a:p>
            <a:pPr algn="just"/>
            <a:r>
              <a:rPr lang="en-US" dirty="0" err="1"/>
              <a:t>dioda</a:t>
            </a:r>
            <a:r>
              <a:rPr lang="en-US" dirty="0"/>
              <a:t> agar </a:t>
            </a:r>
            <a:r>
              <a:rPr lang="en-US" dirty="0" err="1"/>
              <a:t>baterai</a:t>
            </a:r>
            <a:r>
              <a:rPr lang="en-US" dirty="0"/>
              <a:t> </a:t>
            </a:r>
            <a:r>
              <a:rPr lang="en-US" dirty="0" err="1"/>
              <a:t>tidak</a:t>
            </a:r>
            <a:r>
              <a:rPr lang="en-US" dirty="0"/>
              <a:t> </a:t>
            </a:r>
            <a:r>
              <a:rPr lang="en-US" dirty="0" err="1"/>
              <a:t>mengalami</a:t>
            </a:r>
            <a:r>
              <a:rPr lang="en-US" dirty="0"/>
              <a:t> </a:t>
            </a:r>
            <a:r>
              <a:rPr lang="en-US" dirty="0" err="1"/>
              <a:t>tegangan</a:t>
            </a:r>
            <a:r>
              <a:rPr lang="en-US" dirty="0"/>
              <a:t> </a:t>
            </a:r>
            <a:r>
              <a:rPr lang="en-US" dirty="0" err="1"/>
              <a:t>balik</a:t>
            </a:r>
            <a:r>
              <a:rPr lang="en-US" dirty="0"/>
              <a:t> yang </a:t>
            </a:r>
            <a:r>
              <a:rPr lang="en-US" dirty="0" err="1"/>
              <a:t>menyebabkan</a:t>
            </a:r>
            <a:r>
              <a:rPr lang="en-US" dirty="0"/>
              <a:t> </a:t>
            </a:r>
            <a:r>
              <a:rPr lang="en-US" dirty="0" err="1"/>
              <a:t>baterai</a:t>
            </a:r>
            <a:r>
              <a:rPr lang="en-US" dirty="0"/>
              <a:t> </a:t>
            </a:r>
            <a:r>
              <a:rPr lang="en-US" dirty="0" err="1"/>
              <a:t>kehilangan</a:t>
            </a:r>
            <a:r>
              <a:rPr lang="en-US" dirty="0"/>
              <a:t> </a:t>
            </a:r>
            <a:r>
              <a:rPr lang="en-US" dirty="0" err="1"/>
              <a:t>daya</a:t>
            </a:r>
            <a:r>
              <a:rPr lang="en-US" dirty="0"/>
              <a:t>. </a:t>
            </a:r>
            <a:r>
              <a:rPr lang="en-US" dirty="0" err="1"/>
              <a:t>Pada</a:t>
            </a:r>
            <a:r>
              <a:rPr lang="en-US" dirty="0"/>
              <a:t> </a:t>
            </a:r>
            <a:r>
              <a:rPr lang="en-US" dirty="0" err="1"/>
              <a:t>rangkaian</a:t>
            </a:r>
            <a:r>
              <a:rPr lang="en-US" dirty="0"/>
              <a:t> charger </a:t>
            </a:r>
            <a:r>
              <a:rPr lang="en-US" dirty="0" err="1"/>
              <a:t>ini</a:t>
            </a:r>
            <a:r>
              <a:rPr lang="en-US" dirty="0"/>
              <a:t>, </a:t>
            </a:r>
            <a:r>
              <a:rPr lang="en-US" dirty="0" err="1"/>
              <a:t>terdapat</a:t>
            </a:r>
            <a:r>
              <a:rPr lang="en-US" dirty="0"/>
              <a:t> </a:t>
            </a:r>
            <a:r>
              <a:rPr lang="en-US" dirty="0" err="1"/>
              <a:t>indikator</a:t>
            </a:r>
            <a:r>
              <a:rPr lang="en-US" dirty="0"/>
              <a:t> </a:t>
            </a:r>
            <a:r>
              <a:rPr lang="en-US" dirty="0" err="1"/>
              <a:t>pengisian</a:t>
            </a:r>
            <a:r>
              <a:rPr lang="en-US" dirty="0"/>
              <a:t> </a:t>
            </a:r>
            <a:r>
              <a:rPr lang="en-US" dirty="0" err="1"/>
              <a:t>baterai</a:t>
            </a:r>
            <a:r>
              <a:rPr lang="en-US" dirty="0"/>
              <a:t> </a:t>
            </a:r>
            <a:r>
              <a:rPr lang="en-US" dirty="0" err="1"/>
              <a:t>menggunakan</a:t>
            </a:r>
            <a:r>
              <a:rPr lang="en-US" dirty="0"/>
              <a:t> LED. </a:t>
            </a:r>
            <a:r>
              <a:rPr lang="en-US" dirty="0" err="1"/>
              <a:t>Indikator</a:t>
            </a:r>
            <a:r>
              <a:rPr lang="en-US" dirty="0"/>
              <a:t> </a:t>
            </a:r>
            <a:r>
              <a:rPr lang="en-US" dirty="0" err="1"/>
              <a:t>pengisian</a:t>
            </a:r>
            <a:r>
              <a:rPr lang="en-US" dirty="0"/>
              <a:t> </a:t>
            </a:r>
            <a:r>
              <a:rPr lang="en-US" dirty="0" err="1"/>
              <a:t>baterai</a:t>
            </a:r>
            <a:r>
              <a:rPr lang="en-US" dirty="0"/>
              <a:t> </a:t>
            </a:r>
            <a:r>
              <a:rPr lang="en-US" dirty="0" err="1"/>
              <a:t>memanfaatkan</a:t>
            </a:r>
            <a:r>
              <a:rPr lang="en-US" dirty="0"/>
              <a:t> </a:t>
            </a:r>
            <a:r>
              <a:rPr lang="en-US" dirty="0" err="1"/>
              <a:t>adanya</a:t>
            </a:r>
            <a:r>
              <a:rPr lang="en-US" dirty="0"/>
              <a:t> </a:t>
            </a:r>
            <a:r>
              <a:rPr lang="en-US" dirty="0" err="1"/>
              <a:t>arus</a:t>
            </a:r>
            <a:r>
              <a:rPr lang="en-US" dirty="0"/>
              <a:t> </a:t>
            </a:r>
            <a:r>
              <a:rPr lang="en-US" dirty="0" err="1"/>
              <a:t>pada</a:t>
            </a:r>
            <a:r>
              <a:rPr lang="en-US" dirty="0"/>
              <a:t> proses </a:t>
            </a:r>
            <a:r>
              <a:rPr lang="en-US" dirty="0" err="1"/>
              <a:t>pengisian</a:t>
            </a:r>
            <a:r>
              <a:rPr lang="en-US" dirty="0"/>
              <a:t> </a:t>
            </a:r>
            <a:r>
              <a:rPr lang="en-US" dirty="0" err="1"/>
              <a:t>baterai</a:t>
            </a:r>
            <a:r>
              <a:rPr lang="en-US" dirty="0"/>
              <a:t>. </a:t>
            </a:r>
            <a:r>
              <a:rPr lang="en-US" dirty="0" err="1"/>
              <a:t>Arus</a:t>
            </a:r>
            <a:r>
              <a:rPr lang="en-US" dirty="0"/>
              <a:t> </a:t>
            </a:r>
            <a:r>
              <a:rPr lang="en-US" dirty="0" err="1"/>
              <a:t>mengalir</a:t>
            </a:r>
            <a:r>
              <a:rPr lang="en-US" dirty="0"/>
              <a:t> </a:t>
            </a:r>
            <a:r>
              <a:rPr lang="en-US" dirty="0" err="1"/>
              <a:t>dari</a:t>
            </a:r>
            <a:r>
              <a:rPr lang="en-US" dirty="0"/>
              <a:t> </a:t>
            </a:r>
            <a:r>
              <a:rPr lang="en-US" dirty="0" err="1"/>
              <a:t>potensial</a:t>
            </a:r>
            <a:r>
              <a:rPr lang="en-US" dirty="0"/>
              <a:t> </a:t>
            </a:r>
            <a:r>
              <a:rPr lang="en-US" dirty="0" err="1"/>
              <a:t>tinggi</a:t>
            </a:r>
            <a:r>
              <a:rPr lang="en-US" dirty="0"/>
              <a:t> </a:t>
            </a:r>
            <a:r>
              <a:rPr lang="en-US" dirty="0" err="1"/>
              <a:t>ke</a:t>
            </a:r>
            <a:r>
              <a:rPr lang="en-US" dirty="0"/>
              <a:t> </a:t>
            </a:r>
            <a:r>
              <a:rPr lang="en-US" dirty="0" err="1"/>
              <a:t>potensial</a:t>
            </a:r>
            <a:r>
              <a:rPr lang="en-US" dirty="0"/>
              <a:t> </a:t>
            </a:r>
            <a:r>
              <a:rPr lang="en-US" dirty="0" err="1"/>
              <a:t>rendah</a:t>
            </a:r>
            <a:r>
              <a:rPr lang="en-US" dirty="0"/>
              <a:t>. </a:t>
            </a:r>
            <a:r>
              <a:rPr lang="en-US" dirty="0" err="1"/>
              <a:t>Ketika</a:t>
            </a:r>
            <a:r>
              <a:rPr lang="en-US" dirty="0"/>
              <a:t> </a:t>
            </a:r>
            <a:r>
              <a:rPr lang="en-US" dirty="0" err="1"/>
              <a:t>terdapat</a:t>
            </a:r>
            <a:r>
              <a:rPr lang="en-US" dirty="0"/>
              <a:t> </a:t>
            </a:r>
            <a:r>
              <a:rPr lang="en-US" dirty="0" err="1"/>
              <a:t>arus</a:t>
            </a:r>
            <a:r>
              <a:rPr lang="en-US" dirty="0"/>
              <a:t> </a:t>
            </a:r>
            <a:r>
              <a:rPr lang="en-US" dirty="0" err="1"/>
              <a:t>pada</a:t>
            </a:r>
            <a:r>
              <a:rPr lang="en-US" dirty="0"/>
              <a:t> </a:t>
            </a:r>
            <a:r>
              <a:rPr lang="en-US" dirty="0" err="1"/>
              <a:t>saat</a:t>
            </a:r>
            <a:r>
              <a:rPr lang="en-US" dirty="0"/>
              <a:t> proses </a:t>
            </a:r>
            <a:r>
              <a:rPr lang="en-US" dirty="0" err="1"/>
              <a:t>pengisian</a:t>
            </a:r>
            <a:r>
              <a:rPr lang="en-US" dirty="0"/>
              <a:t> </a:t>
            </a:r>
            <a:r>
              <a:rPr lang="en-US" dirty="0" err="1"/>
              <a:t>baterai</a:t>
            </a:r>
            <a:r>
              <a:rPr lang="en-US" dirty="0"/>
              <a:t>, </a:t>
            </a:r>
            <a:r>
              <a:rPr lang="en-US" dirty="0" err="1"/>
              <a:t>maka</a:t>
            </a:r>
            <a:r>
              <a:rPr lang="en-US" dirty="0"/>
              <a:t> di R6 </a:t>
            </a:r>
            <a:r>
              <a:rPr lang="en-US" dirty="0" err="1"/>
              <a:t>akan</a:t>
            </a:r>
            <a:r>
              <a:rPr lang="en-US" dirty="0"/>
              <a:t> </a:t>
            </a:r>
            <a:r>
              <a:rPr lang="en-US" dirty="0" err="1"/>
              <a:t>terdapat</a:t>
            </a:r>
            <a:r>
              <a:rPr lang="en-US" dirty="0"/>
              <a:t> </a:t>
            </a:r>
            <a:r>
              <a:rPr lang="en-US" dirty="0" err="1"/>
              <a:t>arus</a:t>
            </a:r>
            <a:r>
              <a:rPr lang="en-US" dirty="0"/>
              <a:t>. </a:t>
            </a:r>
            <a:r>
              <a:rPr lang="en-US" dirty="0" err="1"/>
              <a:t>Jika</a:t>
            </a:r>
            <a:r>
              <a:rPr lang="en-US" dirty="0"/>
              <a:t> </a:t>
            </a:r>
            <a:r>
              <a:rPr lang="en-US" dirty="0" err="1"/>
              <a:t>terdapat</a:t>
            </a:r>
            <a:r>
              <a:rPr lang="en-US" dirty="0"/>
              <a:t> </a:t>
            </a:r>
            <a:r>
              <a:rPr lang="en-US" dirty="0" err="1"/>
              <a:t>arus</a:t>
            </a:r>
            <a:r>
              <a:rPr lang="en-US" dirty="0"/>
              <a:t> </a:t>
            </a:r>
            <a:r>
              <a:rPr lang="en-US" dirty="0" err="1"/>
              <a:t>dan</a:t>
            </a:r>
            <a:r>
              <a:rPr lang="en-US" dirty="0"/>
              <a:t> </a:t>
            </a:r>
            <a:r>
              <a:rPr lang="en-US" dirty="0" err="1"/>
              <a:t>hambatan</a:t>
            </a:r>
            <a:r>
              <a:rPr lang="en-US" dirty="0"/>
              <a:t> </a:t>
            </a:r>
            <a:r>
              <a:rPr lang="en-US" dirty="0" err="1"/>
              <a:t>resisitor</a:t>
            </a:r>
            <a:r>
              <a:rPr lang="en-US" dirty="0"/>
              <a:t>, </a:t>
            </a:r>
            <a:r>
              <a:rPr lang="en-US" dirty="0" err="1"/>
              <a:t>maka</a:t>
            </a:r>
            <a:r>
              <a:rPr lang="en-US" dirty="0"/>
              <a:t> </a:t>
            </a:r>
            <a:r>
              <a:rPr lang="en-US" dirty="0" err="1"/>
              <a:t>sesuai</a:t>
            </a:r>
            <a:r>
              <a:rPr lang="en-US" dirty="0"/>
              <a:t> </a:t>
            </a:r>
            <a:r>
              <a:rPr lang="en-US" dirty="0" err="1"/>
              <a:t>dengan</a:t>
            </a:r>
            <a:r>
              <a:rPr lang="en-US" dirty="0"/>
              <a:t> </a:t>
            </a:r>
            <a:r>
              <a:rPr lang="en-US" dirty="0" err="1"/>
              <a:t>hukum</a:t>
            </a:r>
            <a:r>
              <a:rPr lang="en-US" dirty="0"/>
              <a:t> ohm </a:t>
            </a:r>
            <a:r>
              <a:rPr lang="en-US" dirty="0" err="1"/>
              <a:t>akan</a:t>
            </a:r>
            <a:r>
              <a:rPr lang="en-US" dirty="0"/>
              <a:t> </a:t>
            </a:r>
            <a:r>
              <a:rPr lang="en-US" dirty="0" err="1"/>
              <a:t>ada</a:t>
            </a:r>
            <a:r>
              <a:rPr lang="en-US" dirty="0"/>
              <a:t> </a:t>
            </a:r>
            <a:r>
              <a:rPr lang="en-US" dirty="0" err="1"/>
              <a:t>tegangan</a:t>
            </a:r>
            <a:r>
              <a:rPr lang="en-US" dirty="0"/>
              <a:t> </a:t>
            </a:r>
            <a:r>
              <a:rPr lang="en-US" dirty="0" err="1"/>
              <a:t>sesuai</a:t>
            </a:r>
            <a:r>
              <a:rPr lang="en-US" dirty="0"/>
              <a:t> </a:t>
            </a:r>
            <a:r>
              <a:rPr lang="en-US" dirty="0" err="1"/>
              <a:t>dengan</a:t>
            </a:r>
            <a:r>
              <a:rPr lang="en-US" dirty="0"/>
              <a:t> </a:t>
            </a:r>
            <a:r>
              <a:rPr lang="en-US" dirty="0" err="1"/>
              <a:t>besar</a:t>
            </a:r>
            <a:r>
              <a:rPr lang="en-US" dirty="0"/>
              <a:t> </a:t>
            </a:r>
            <a:r>
              <a:rPr lang="en-US" dirty="0" err="1"/>
              <a:t>arus</a:t>
            </a:r>
            <a:r>
              <a:rPr lang="en-US" dirty="0"/>
              <a:t> yang </a:t>
            </a:r>
            <a:r>
              <a:rPr lang="en-US" dirty="0" err="1"/>
              <a:t>mengalir</a:t>
            </a:r>
            <a:r>
              <a:rPr lang="en-US" dirty="0"/>
              <a:t>. </a:t>
            </a:r>
            <a:r>
              <a:rPr lang="en-US" dirty="0" err="1"/>
              <a:t>Tegangan</a:t>
            </a:r>
            <a:r>
              <a:rPr lang="en-US" dirty="0"/>
              <a:t> </a:t>
            </a:r>
            <a:r>
              <a:rPr lang="en-US" dirty="0" err="1"/>
              <a:t>ini</a:t>
            </a:r>
            <a:r>
              <a:rPr lang="en-US" dirty="0"/>
              <a:t> yang </a:t>
            </a:r>
            <a:r>
              <a:rPr lang="en-US" dirty="0" err="1"/>
              <a:t>digunakan</a:t>
            </a:r>
            <a:r>
              <a:rPr lang="en-US" dirty="0"/>
              <a:t> </a:t>
            </a:r>
            <a:r>
              <a:rPr lang="en-US" dirty="0" err="1"/>
              <a:t>untuk</a:t>
            </a:r>
            <a:r>
              <a:rPr lang="en-US" dirty="0"/>
              <a:t> </a:t>
            </a:r>
            <a:r>
              <a:rPr lang="en-US" dirty="0" err="1"/>
              <a:t>membuat</a:t>
            </a:r>
            <a:r>
              <a:rPr lang="en-US" dirty="0"/>
              <a:t> transistor C945 yang </a:t>
            </a:r>
            <a:r>
              <a:rPr lang="en-US" dirty="0" err="1"/>
              <a:t>berfungsi</a:t>
            </a:r>
            <a:r>
              <a:rPr lang="en-US" dirty="0"/>
              <a:t> </a:t>
            </a:r>
            <a:r>
              <a:rPr lang="en-US" dirty="0" err="1"/>
              <a:t>sebagai</a:t>
            </a:r>
            <a:r>
              <a:rPr lang="en-US" dirty="0"/>
              <a:t> </a:t>
            </a:r>
            <a:r>
              <a:rPr lang="en-US" dirty="0" err="1"/>
              <a:t>saklar</a:t>
            </a:r>
            <a:r>
              <a:rPr lang="en-US" dirty="0"/>
              <a:t> </a:t>
            </a:r>
            <a:r>
              <a:rPr lang="en-US" dirty="0" err="1"/>
              <a:t>otomatis</a:t>
            </a:r>
            <a:r>
              <a:rPr lang="en-US" dirty="0"/>
              <a:t> </a:t>
            </a:r>
            <a:r>
              <a:rPr lang="en-US" dirty="0" err="1"/>
              <a:t>untuk</a:t>
            </a:r>
            <a:r>
              <a:rPr lang="en-US" dirty="0"/>
              <a:t> </a:t>
            </a:r>
            <a:r>
              <a:rPr lang="en-US" dirty="0" err="1"/>
              <a:t>bekerja</a:t>
            </a:r>
            <a:r>
              <a:rPr lang="en-US" dirty="0"/>
              <a:t> </a:t>
            </a:r>
            <a:r>
              <a:rPr lang="en-US" dirty="0" err="1"/>
              <a:t>menghidupkan</a:t>
            </a:r>
            <a:r>
              <a:rPr lang="en-US" dirty="0"/>
              <a:t> LED </a:t>
            </a:r>
            <a:r>
              <a:rPr lang="en-US" dirty="0" err="1"/>
              <a:t>sebagai</a:t>
            </a:r>
            <a:r>
              <a:rPr lang="en-US" dirty="0"/>
              <a:t> </a:t>
            </a:r>
            <a:r>
              <a:rPr lang="en-US" dirty="0" err="1"/>
              <a:t>indikator</a:t>
            </a:r>
            <a:r>
              <a:rPr lang="en-US" dirty="0"/>
              <a:t> </a:t>
            </a:r>
            <a:r>
              <a:rPr lang="en-US" dirty="0" err="1"/>
              <a:t>alat</a:t>
            </a:r>
            <a:r>
              <a:rPr lang="en-US" dirty="0"/>
              <a:t> </a:t>
            </a:r>
            <a:r>
              <a:rPr lang="en-US" dirty="0" err="1"/>
              <a:t>pada</a:t>
            </a:r>
            <a:r>
              <a:rPr lang="en-US" dirty="0"/>
              <a:t> </a:t>
            </a:r>
            <a:r>
              <a:rPr lang="en-US" dirty="0" err="1"/>
              <a:t>saat</a:t>
            </a:r>
            <a:r>
              <a:rPr lang="en-US" dirty="0"/>
              <a:t> proses </a:t>
            </a:r>
            <a:r>
              <a:rPr lang="en-US" dirty="0" err="1"/>
              <a:t>pengisian</a:t>
            </a:r>
            <a:r>
              <a:rPr lang="en-US" dirty="0"/>
              <a:t> </a:t>
            </a:r>
            <a:r>
              <a:rPr lang="en-US" dirty="0" err="1"/>
              <a:t>berlangsung</a:t>
            </a:r>
            <a:r>
              <a:rPr lang="en-US" dirty="0"/>
              <a:t>. </a:t>
            </a:r>
            <a:r>
              <a:rPr lang="en-US" dirty="0" err="1"/>
              <a:t>Jika</a:t>
            </a:r>
            <a:r>
              <a:rPr lang="en-US" dirty="0"/>
              <a:t> </a:t>
            </a:r>
            <a:r>
              <a:rPr lang="en-US" dirty="0" err="1"/>
              <a:t>arus</a:t>
            </a:r>
            <a:r>
              <a:rPr lang="en-US" dirty="0"/>
              <a:t> input </a:t>
            </a:r>
            <a:r>
              <a:rPr lang="en-US" dirty="0" err="1"/>
              <a:t>baterai</a:t>
            </a:r>
            <a:r>
              <a:rPr lang="en-US" dirty="0"/>
              <a:t> </a:t>
            </a:r>
            <a:r>
              <a:rPr lang="en-US" dirty="0" err="1"/>
              <a:t>sama</a:t>
            </a:r>
            <a:r>
              <a:rPr lang="en-US" dirty="0"/>
              <a:t> </a:t>
            </a:r>
            <a:r>
              <a:rPr lang="en-US" dirty="0" err="1"/>
              <a:t>dengan</a:t>
            </a:r>
            <a:r>
              <a:rPr lang="en-US" dirty="0"/>
              <a:t> </a:t>
            </a:r>
            <a:r>
              <a:rPr lang="en-US" dirty="0" err="1"/>
              <a:t>arus</a:t>
            </a:r>
            <a:r>
              <a:rPr lang="en-US" dirty="0"/>
              <a:t> </a:t>
            </a:r>
            <a:r>
              <a:rPr lang="en-US" dirty="0" err="1"/>
              <a:t>baterai</a:t>
            </a:r>
            <a:r>
              <a:rPr lang="en-US" dirty="0"/>
              <a:t>, </a:t>
            </a:r>
            <a:r>
              <a:rPr lang="en-US" dirty="0" err="1"/>
              <a:t>maka</a:t>
            </a:r>
            <a:r>
              <a:rPr lang="en-US" dirty="0"/>
              <a:t> proses </a:t>
            </a:r>
            <a:r>
              <a:rPr lang="en-US" dirty="0" err="1"/>
              <a:t>pengisian</a:t>
            </a:r>
            <a:r>
              <a:rPr lang="en-US" dirty="0"/>
              <a:t> </a:t>
            </a:r>
            <a:r>
              <a:rPr lang="en-US" dirty="0" err="1"/>
              <a:t>berada</a:t>
            </a:r>
            <a:r>
              <a:rPr lang="en-US" dirty="0"/>
              <a:t> </a:t>
            </a:r>
            <a:r>
              <a:rPr lang="en-US" dirty="0" err="1"/>
              <a:t>pada</a:t>
            </a:r>
            <a:r>
              <a:rPr lang="en-US" dirty="0"/>
              <a:t> </a:t>
            </a:r>
            <a:r>
              <a:rPr lang="en-US" dirty="0" err="1"/>
              <a:t>posisi</a:t>
            </a:r>
            <a:r>
              <a:rPr lang="en-US" dirty="0"/>
              <a:t> </a:t>
            </a:r>
            <a:r>
              <a:rPr lang="en-US" dirty="0" err="1"/>
              <a:t>seimbang</a:t>
            </a:r>
            <a:r>
              <a:rPr lang="en-US" dirty="0"/>
              <a:t> </a:t>
            </a:r>
            <a:r>
              <a:rPr lang="en-US" dirty="0" err="1"/>
              <a:t>atau</a:t>
            </a:r>
            <a:r>
              <a:rPr lang="en-US" dirty="0"/>
              <a:t> </a:t>
            </a:r>
            <a:r>
              <a:rPr lang="en-US" dirty="0" err="1"/>
              <a:t>tidak</a:t>
            </a:r>
            <a:r>
              <a:rPr lang="en-US" dirty="0"/>
              <a:t> </a:t>
            </a:r>
            <a:r>
              <a:rPr lang="en-US" dirty="0" err="1"/>
              <a:t>ada</a:t>
            </a:r>
            <a:r>
              <a:rPr lang="en-US" dirty="0"/>
              <a:t> </a:t>
            </a:r>
            <a:r>
              <a:rPr lang="en-US" dirty="0" err="1"/>
              <a:t>arus</a:t>
            </a:r>
            <a:r>
              <a:rPr lang="en-US" dirty="0"/>
              <a:t> yang </a:t>
            </a:r>
            <a:r>
              <a:rPr lang="en-US" dirty="0" err="1"/>
              <a:t>mengalir</a:t>
            </a:r>
            <a:r>
              <a:rPr lang="en-US" dirty="0"/>
              <a:t> </a:t>
            </a:r>
            <a:r>
              <a:rPr lang="en-US" dirty="0" err="1"/>
              <a:t>dan</a:t>
            </a:r>
            <a:r>
              <a:rPr lang="en-US" dirty="0"/>
              <a:t> LED </a:t>
            </a:r>
            <a:r>
              <a:rPr lang="en-US" dirty="0" err="1"/>
              <a:t>akan</a:t>
            </a:r>
            <a:r>
              <a:rPr lang="en-US" dirty="0"/>
              <a:t> </a:t>
            </a:r>
            <a:r>
              <a:rPr lang="en-US" dirty="0" err="1"/>
              <a:t>mati</a:t>
            </a:r>
            <a:r>
              <a:rPr lang="en-US" dirty="0" smtClean="0"/>
              <a:t>.</a:t>
            </a:r>
          </a:p>
          <a:p>
            <a:pPr algn="just"/>
            <a:r>
              <a:rPr lang="en-US" dirty="0" err="1" smtClean="0"/>
              <a:t>Pembagi</a:t>
            </a:r>
            <a:r>
              <a:rPr lang="en-US" dirty="0" smtClean="0"/>
              <a:t> </a:t>
            </a:r>
            <a:r>
              <a:rPr lang="en-US" dirty="0" err="1" smtClean="0"/>
              <a:t>tegangan</a:t>
            </a:r>
            <a:r>
              <a:rPr lang="en-US" dirty="0" smtClean="0"/>
              <a:t>:</a:t>
            </a:r>
            <a:endParaRPr lang="en-US" dirty="0"/>
          </a:p>
        </p:txBody>
      </p:sp>
      <mc:AlternateContent xmlns:mc="http://schemas.openxmlformats.org/markup-compatibility/2006" xmlns:a14="http://schemas.microsoft.com/office/drawing/2010/main">
        <mc:Choice Requires="a14">
          <p:sp>
            <p:nvSpPr>
              <p:cNvPr id="7" name="TextBox 6"/>
              <p:cNvSpPr txBox="1"/>
              <p:nvPr/>
            </p:nvSpPr>
            <p:spPr>
              <a:xfrm>
                <a:off x="410760" y="5546445"/>
                <a:ext cx="5438540" cy="414537"/>
              </a:xfrm>
              <a:prstGeom prst="rect">
                <a:avLst/>
              </a:prstGeom>
              <a:noFill/>
            </p:spPr>
            <p:txBody>
              <a:bodyPr wrap="none" lIns="0" tIns="0" rIns="0" bIns="0" rtlCol="0">
                <a:spAutoFit/>
              </a:bodyPr>
              <a:lstStyle/>
              <a:p>
                <a:r>
                  <a:rPr lang="en-US" b="0" dirty="0" smtClean="0"/>
                  <a:t>Vout</a:t>
                </a:r>
                <a14:m>
                  <m:oMath xmlns:m="http://schemas.openxmlformats.org/officeDocument/2006/math">
                    <m:r>
                      <a:rPr lang="en-US" b="0" i="0" smtClean="0">
                        <a:latin typeface="Cambria Math" panose="02040503050406030204" pitchFamily="18" charset="0"/>
                      </a:rPr>
                      <m:t> </m:t>
                    </m:r>
                    <m:r>
                      <a:rPr lang="en-US" b="0" i="1" smtClean="0">
                        <a:latin typeface="Cambria Math" panose="02040503050406030204" pitchFamily="18" charset="0"/>
                      </a:rPr>
                      <m:t>=</m:t>
                    </m:r>
                    <m:r>
                      <a:rPr lang="en-US" i="1">
                        <a:latin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rPr>
                          <m:t>𝑅</m:t>
                        </m:r>
                        <m:r>
                          <a:rPr lang="en-US" b="0" i="1" smtClean="0">
                            <a:latin typeface="Cambria Math" panose="02040503050406030204" pitchFamily="18" charset="0"/>
                          </a:rPr>
                          <m:t>1</m:t>
                        </m:r>
                      </m:num>
                      <m:den>
                        <m:r>
                          <a:rPr lang="en-US" b="0" i="1" smtClean="0">
                            <a:latin typeface="Cambria Math" panose="02040503050406030204" pitchFamily="18" charset="0"/>
                          </a:rPr>
                          <m:t>𝑅</m:t>
                        </m:r>
                        <m: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𝑅</m:t>
                        </m:r>
                        <m:r>
                          <a:rPr lang="en-US" b="0" i="1" smtClean="0">
                            <a:latin typeface="Cambria Math" panose="02040503050406030204" pitchFamily="18" charset="0"/>
                          </a:rPr>
                          <m:t>2</m:t>
                        </m:r>
                      </m:den>
                    </m:f>
                    <m:r>
                      <a:rPr lang="en-US" b="0" i="1" smtClean="0">
                        <a:latin typeface="Cambria Math" panose="02040503050406030204" pitchFamily="18" charset="0"/>
                      </a:rPr>
                      <m:t>. </m:t>
                    </m:r>
                    <m:r>
                      <a:rPr lang="en-US" b="0" i="1" smtClean="0">
                        <a:latin typeface="Cambria Math" panose="02040503050406030204" pitchFamily="18" charset="0"/>
                      </a:rPr>
                      <m:t>𝑉𝑖𝑛</m:t>
                    </m:r>
                    <m:r>
                      <a:rPr lang="en-US" b="0" i="1" smtClean="0">
                        <a:latin typeface="Cambria Math" panose="02040503050406030204" pitchFamily="18" charset="0"/>
                      </a:rPr>
                      <m:t> = </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10</m:t>
                            </m:r>
                            <m:r>
                              <a:rPr lang="en-US" b="0" i="1" smtClean="0">
                                <a:latin typeface="Cambria Math" panose="02040503050406030204" pitchFamily="18" charset="0"/>
                              </a:rPr>
                              <m:t> </m:t>
                            </m:r>
                            <m:r>
                              <a:rPr lang="en-US" b="0" i="1" smtClean="0">
                                <a:latin typeface="Cambria Math" panose="02040503050406030204" pitchFamily="18" charset="0"/>
                              </a:rPr>
                              <m:t>𝐾𝑜</m:t>
                            </m:r>
                            <m:r>
                              <a:rPr lang="en-US" b="0" i="1" smtClean="0">
                                <a:latin typeface="Cambria Math" panose="02040503050406030204" pitchFamily="18" charset="0"/>
                              </a:rPr>
                              <m:t>h</m:t>
                            </m:r>
                            <m:r>
                              <a:rPr lang="en-US" b="0" i="1" smtClean="0">
                                <a:latin typeface="Cambria Math" panose="02040503050406030204" pitchFamily="18" charset="0"/>
                              </a:rPr>
                              <m:t>𝑚</m:t>
                            </m:r>
                          </m:num>
                          <m:den>
                            <m:r>
                              <a:rPr lang="en-US" b="0" i="1" smtClean="0">
                                <a:latin typeface="Cambria Math" panose="02040503050406030204" pitchFamily="18" charset="0"/>
                              </a:rPr>
                              <m:t>10</m:t>
                            </m:r>
                            <m:r>
                              <a:rPr lang="en-US" b="0" i="1" smtClean="0">
                                <a:latin typeface="Cambria Math" panose="02040503050406030204" pitchFamily="18" charset="0"/>
                              </a:rPr>
                              <m:t> </m:t>
                            </m:r>
                            <m:r>
                              <a:rPr lang="en-US" b="0" i="1" smtClean="0">
                                <a:latin typeface="Cambria Math" panose="02040503050406030204" pitchFamily="18" charset="0"/>
                              </a:rPr>
                              <m:t>𝑘𝑜</m:t>
                            </m:r>
                            <m:r>
                              <a:rPr lang="en-US" b="0" i="1" smtClean="0">
                                <a:latin typeface="Cambria Math" panose="02040503050406030204" pitchFamily="18" charset="0"/>
                              </a:rPr>
                              <m:t>h</m:t>
                            </m:r>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10</m:t>
                            </m:r>
                            <m:r>
                              <a:rPr lang="en-US" b="0" i="1" smtClean="0">
                                <a:latin typeface="Cambria Math" panose="02040503050406030204" pitchFamily="18" charset="0"/>
                              </a:rPr>
                              <m:t> </m:t>
                            </m:r>
                            <m:r>
                              <a:rPr lang="en-US" b="0" i="1" smtClean="0">
                                <a:latin typeface="Cambria Math" panose="02040503050406030204" pitchFamily="18" charset="0"/>
                              </a:rPr>
                              <m:t>𝑘</m:t>
                            </m:r>
                            <m:r>
                              <a:rPr lang="en-US" b="0" i="1" smtClean="0">
                                <a:latin typeface="Cambria Math" panose="02040503050406030204" pitchFamily="18" charset="0"/>
                              </a:rPr>
                              <m:t> </m:t>
                            </m:r>
                            <m:r>
                              <a:rPr lang="en-US" b="0" i="1" smtClean="0">
                                <a:latin typeface="Cambria Math" panose="02040503050406030204" pitchFamily="18" charset="0"/>
                              </a:rPr>
                              <m:t>𝑜</m:t>
                            </m:r>
                            <m:r>
                              <a:rPr lang="en-US" b="0" i="1" smtClean="0">
                                <a:latin typeface="Cambria Math" panose="02040503050406030204" pitchFamily="18" charset="0"/>
                              </a:rPr>
                              <m:t>h</m:t>
                            </m:r>
                            <m:r>
                              <a:rPr lang="en-US" b="0" i="1" smtClean="0">
                                <a:latin typeface="Cambria Math" panose="02040503050406030204" pitchFamily="18" charset="0"/>
                              </a:rPr>
                              <m:t>𝑚</m:t>
                            </m:r>
                          </m:den>
                        </m:f>
                      </m:e>
                    </m:d>
                    <m:r>
                      <a:rPr lang="en-US" b="0" i="1" smtClean="0">
                        <a:latin typeface="Cambria Math" panose="02040503050406030204" pitchFamily="18" charset="0"/>
                      </a:rPr>
                      <m:t>. </m:t>
                    </m:r>
                    <m:r>
                      <a:rPr lang="en-US" b="0" i="1" smtClean="0">
                        <a:latin typeface="Cambria Math" panose="02040503050406030204" pitchFamily="18" charset="0"/>
                      </a:rPr>
                      <m:t>8</m:t>
                    </m:r>
                    <m:r>
                      <a:rPr lang="en-US" b="0" i="1" smtClean="0">
                        <a:latin typeface="Cambria Math" panose="02040503050406030204" pitchFamily="18" charset="0"/>
                      </a:rPr>
                      <m:t>,</m:t>
                    </m:r>
                    <m:r>
                      <a:rPr lang="en-US" b="0" i="1" smtClean="0">
                        <a:latin typeface="Cambria Math" panose="02040503050406030204" pitchFamily="18" charset="0"/>
                      </a:rPr>
                      <m:t>4</m:t>
                    </m:r>
                    <m:r>
                      <a:rPr lang="en-US" b="0" i="1" smtClean="0">
                        <a:latin typeface="Cambria Math" panose="02040503050406030204" pitchFamily="18" charset="0"/>
                      </a:rPr>
                      <m:t> </m:t>
                    </m:r>
                    <m:r>
                      <a:rPr lang="en-US" b="0" i="1" smtClean="0">
                        <a:latin typeface="Cambria Math" panose="02040503050406030204" pitchFamily="18" charset="0"/>
                      </a:rPr>
                      <m:t>𝑣</m:t>
                    </m:r>
                    <m:r>
                      <a:rPr lang="en-US" b="0" i="1" smtClean="0">
                        <a:latin typeface="Cambria Math" panose="02040503050406030204" pitchFamily="18" charset="0"/>
                      </a:rPr>
                      <m:t>=</m:t>
                    </m:r>
                    <m:r>
                      <a:rPr lang="en-US" b="0" i="1" smtClean="0">
                        <a:latin typeface="Cambria Math" panose="02040503050406030204" pitchFamily="18" charset="0"/>
                      </a:rPr>
                      <m:t>4</m:t>
                    </m:r>
                    <m:r>
                      <a:rPr lang="en-US" b="0" i="1" smtClean="0">
                        <a:latin typeface="Cambria Math" panose="02040503050406030204" pitchFamily="18" charset="0"/>
                      </a:rPr>
                      <m:t>,</m:t>
                    </m:r>
                    <m:r>
                      <a:rPr lang="en-US" b="0" i="1" smtClean="0">
                        <a:latin typeface="Cambria Math" panose="02040503050406030204" pitchFamily="18" charset="0"/>
                      </a:rPr>
                      <m:t>2</m:t>
                    </m:r>
                    <m:r>
                      <a:rPr lang="en-US" b="0" i="1" smtClean="0">
                        <a:latin typeface="Cambria Math" panose="02040503050406030204" pitchFamily="18" charset="0"/>
                      </a:rPr>
                      <m:t> </m:t>
                    </m:r>
                    <m:r>
                      <a:rPr lang="en-US" b="0" i="1" smtClean="0">
                        <a:latin typeface="Cambria Math" panose="02040503050406030204" pitchFamily="18" charset="0"/>
                      </a:rPr>
                      <m:t>𝑣</m:t>
                    </m:r>
                  </m:oMath>
                </a14:m>
                <a:endParaRPr lang="en-US" dirty="0"/>
              </a:p>
            </p:txBody>
          </p:sp>
        </mc:Choice>
        <mc:Fallback xmlns="">
          <p:sp>
            <p:nvSpPr>
              <p:cNvPr id="7" name="TextBox 6"/>
              <p:cNvSpPr txBox="1">
                <a:spLocks noRot="1" noChangeAspect="1" noMove="1" noResize="1" noEditPoints="1" noAdjustHandles="1" noChangeArrowheads="1" noChangeShapeType="1" noTextEdit="1"/>
              </p:cNvSpPr>
              <p:nvPr/>
            </p:nvSpPr>
            <p:spPr>
              <a:xfrm>
                <a:off x="410760" y="5546445"/>
                <a:ext cx="5438540" cy="414537"/>
              </a:xfrm>
              <a:prstGeom prst="rect">
                <a:avLst/>
              </a:prstGeom>
              <a:blipFill>
                <a:blip r:embed="rId3"/>
                <a:stretch>
                  <a:fillRect l="-2576" t="-1471" r="-112" b="-17647"/>
                </a:stretch>
              </a:blipFill>
            </p:spPr>
            <p:txBody>
              <a:bodyPr/>
              <a:lstStyle/>
              <a:p>
                <a:r>
                  <a:rPr lang="en-US">
                    <a:noFill/>
                  </a:rPr>
                  <a:t> </a:t>
                </a:r>
              </a:p>
            </p:txBody>
          </p:sp>
        </mc:Fallback>
      </mc:AlternateContent>
    </p:spTree>
    <p:extLst>
      <p:ext uri="{BB962C8B-B14F-4D97-AF65-F5344CB8AC3E}">
        <p14:creationId xmlns:p14="http://schemas.microsoft.com/office/powerpoint/2010/main" val="277409844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70293" y="462337"/>
            <a:ext cx="11634159" cy="369332"/>
          </a:xfrm>
          <a:prstGeom prst="rect">
            <a:avLst/>
          </a:prstGeom>
        </p:spPr>
        <p:txBody>
          <a:bodyPr wrap="square">
            <a:spAutoFit/>
          </a:bodyPr>
          <a:lstStyle/>
          <a:p>
            <a:r>
              <a:rPr lang="en-US" dirty="0" smtClean="0"/>
              <a:t>Fuse:</a:t>
            </a:r>
            <a:endParaRPr lang="en-US" dirty="0"/>
          </a:p>
        </p:txBody>
      </p:sp>
      <mc:AlternateContent xmlns:mc="http://schemas.openxmlformats.org/markup-compatibility/2006" xmlns:a14="http://schemas.microsoft.com/office/drawing/2010/main">
        <mc:Choice Requires="a14">
          <p:sp>
            <p:nvSpPr>
              <p:cNvPr id="6" name="TextBox 5"/>
              <p:cNvSpPr txBox="1"/>
              <p:nvPr/>
            </p:nvSpPr>
            <p:spPr>
              <a:xfrm>
                <a:off x="484505" y="1115574"/>
                <a:ext cx="2755306"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n-US" dirty="0"/>
                        <m:t>Pp</m:t>
                      </m:r>
                      <m:r>
                        <a:rPr lang="en-US" b="0" i="1" smtClean="0">
                          <a:latin typeface="Cambria Math" panose="02040503050406030204" pitchFamily="18" charset="0"/>
                        </a:rPr>
                        <m:t>=</m:t>
                      </m:r>
                      <m:r>
                        <m:rPr>
                          <m:nor/>
                        </m:rPr>
                        <a:rPr lang="en-US" dirty="0"/>
                        <m:t>Ps</m:t>
                      </m:r>
                    </m:oMath>
                  </m:oMathPara>
                </a14:m>
                <a:endParaRPr lang="en-US" dirty="0" smtClean="0"/>
              </a:p>
              <a:p>
                <a:r>
                  <a:rPr lang="en-US" dirty="0" smtClean="0"/>
                  <a:t>Ps = </a:t>
                </a:r>
                <a:r>
                  <a:rPr lang="en-US" dirty="0" err="1" smtClean="0"/>
                  <a:t>Voutx</a:t>
                </a:r>
                <a:r>
                  <a:rPr lang="en-US" dirty="0" smtClean="0"/>
                  <a:t> </a:t>
                </a:r>
                <a:r>
                  <a:rPr lang="en-US" dirty="0" err="1" smtClean="0"/>
                  <a:t>Itrafo</a:t>
                </a:r>
                <a:r>
                  <a:rPr lang="en-US" dirty="0" smtClean="0"/>
                  <a:t>= 12v AC . 1A</a:t>
                </a:r>
                <a:endParaRPr lang="en-US" dirty="0"/>
              </a:p>
            </p:txBody>
          </p:sp>
        </mc:Choice>
        <mc:Fallback xmlns="">
          <p:sp>
            <p:nvSpPr>
              <p:cNvPr id="6" name="TextBox 5"/>
              <p:cNvSpPr txBox="1">
                <a:spLocks noRot="1" noChangeAspect="1" noMove="1" noResize="1" noEditPoints="1" noAdjustHandles="1" noChangeArrowheads="1" noChangeShapeType="1" noTextEdit="1"/>
              </p:cNvSpPr>
              <p:nvPr/>
            </p:nvSpPr>
            <p:spPr>
              <a:xfrm>
                <a:off x="484505" y="1115574"/>
                <a:ext cx="2755306" cy="553998"/>
              </a:xfrm>
              <a:prstGeom prst="rect">
                <a:avLst/>
              </a:prstGeom>
              <a:blipFill>
                <a:blip r:embed="rId2"/>
                <a:stretch>
                  <a:fillRect l="-5088" r="-4425" b="-25275"/>
                </a:stretch>
              </a:blipFill>
            </p:spPr>
            <p:txBody>
              <a:bodyPr/>
              <a:lstStyle/>
              <a:p>
                <a:r>
                  <a:rPr lang="en-US">
                    <a:noFill/>
                  </a:rPr>
                  <a:t> </a:t>
                </a:r>
              </a:p>
            </p:txBody>
          </p:sp>
        </mc:Fallback>
      </mc:AlternateContent>
      <p:sp>
        <p:nvSpPr>
          <p:cNvPr id="7" name="Rectangle 6"/>
          <p:cNvSpPr/>
          <p:nvPr/>
        </p:nvSpPr>
        <p:spPr>
          <a:xfrm>
            <a:off x="270293" y="1786014"/>
            <a:ext cx="1472244" cy="369332"/>
          </a:xfrm>
          <a:prstGeom prst="rect">
            <a:avLst/>
          </a:prstGeom>
        </p:spPr>
        <p:txBody>
          <a:bodyPr wrap="square">
            <a:spAutoFit/>
          </a:bodyPr>
          <a:lstStyle/>
          <a:p>
            <a:r>
              <a:rPr lang="en-US" dirty="0" smtClean="0"/>
              <a:t>1 Fuse:</a:t>
            </a:r>
            <a:endParaRPr lang="en-US" dirty="0"/>
          </a:p>
        </p:txBody>
      </p:sp>
      <mc:AlternateContent xmlns:mc="http://schemas.openxmlformats.org/markup-compatibility/2006" xmlns:a14="http://schemas.microsoft.com/office/drawing/2010/main">
        <mc:Choice Requires="a14">
          <p:sp>
            <p:nvSpPr>
              <p:cNvPr id="8" name="TextBox 7"/>
              <p:cNvSpPr txBox="1"/>
              <p:nvPr/>
            </p:nvSpPr>
            <p:spPr>
              <a:xfrm>
                <a:off x="272736" y="2155346"/>
                <a:ext cx="6162569" cy="432811"/>
              </a:xfrm>
              <a:prstGeom prst="rect">
                <a:avLst/>
              </a:prstGeom>
              <a:noFill/>
            </p:spPr>
            <p:txBody>
              <a:bodyPr wrap="square" lIns="0" tIns="0" rIns="0" bIns="0" rtlCol="0">
                <a:spAutoFit/>
              </a:bodyPr>
              <a:lstStyle/>
              <a:p>
                <a14:m>
                  <m:oMath xmlns:m="http://schemas.openxmlformats.org/officeDocument/2006/math">
                    <m:r>
                      <a:rPr lang="en-US" b="0" i="1" smtClean="0">
                        <a:latin typeface="Cambria Math" panose="02040503050406030204" pitchFamily="18" charset="0"/>
                      </a:rPr>
                      <m:t>1 </m:t>
                    </m:r>
                    <m:r>
                      <a:rPr lang="en-US" b="0" i="1" smtClean="0">
                        <a:latin typeface="Cambria Math" panose="02040503050406030204" pitchFamily="18" charset="0"/>
                      </a:rPr>
                      <m:t>𝐹𝑢𝑠𝑒</m:t>
                    </m:r>
                    <m:r>
                      <a:rPr lang="en-US" b="0" i="1" smtClean="0">
                        <a:latin typeface="Cambria Math" panose="02040503050406030204" pitchFamily="18" charset="0"/>
                      </a:rPr>
                      <m:t>=</m:t>
                    </m:r>
                    <m:f>
                      <m:fPr>
                        <m:ctrlPr>
                          <a:rPr lang="en-US" i="1">
                            <a:latin typeface="Cambria Math" panose="02040503050406030204" pitchFamily="18" charset="0"/>
                          </a:rPr>
                        </m:ctrlPr>
                      </m:fPr>
                      <m:num>
                        <m:r>
                          <m:rPr>
                            <m:nor/>
                          </m:rPr>
                          <a:rPr lang="en-US" dirty="0"/>
                          <m:t>Ps</m:t>
                        </m:r>
                      </m:num>
                      <m:den>
                        <m:r>
                          <a:rPr lang="en-US" i="1">
                            <a:latin typeface="Cambria Math" panose="02040503050406030204" pitchFamily="18" charset="0"/>
                          </a:rPr>
                          <m:t>𝑉𝑖𝑛</m:t>
                        </m:r>
                      </m:den>
                    </m:f>
                    <m:r>
                      <m:rPr>
                        <m:nor/>
                      </m:rPr>
                      <a:rPr lang="en-US" dirty="0"/>
                      <m:t> </m:t>
                    </m:r>
                    <m:r>
                      <m:rPr>
                        <m:nor/>
                      </m:rPr>
                      <a:rPr lang="en-US" b="0" i="0" dirty="0" smtClean="0"/>
                      <m:t>= </m:t>
                    </m:r>
                    <m:f>
                      <m:fPr>
                        <m:ctrlPr>
                          <a:rPr lang="en-US" b="0" i="1" smtClean="0">
                            <a:latin typeface="Cambria Math" panose="02040503050406030204" pitchFamily="18" charset="0"/>
                          </a:rPr>
                        </m:ctrlPr>
                      </m:fPr>
                      <m:num>
                        <m:r>
                          <a:rPr lang="en-US" b="0" i="1" smtClean="0">
                            <a:latin typeface="Cambria Math" panose="02040503050406030204" pitchFamily="18" charset="0"/>
                          </a:rPr>
                          <m:t>12 </m:t>
                        </m:r>
                        <m:r>
                          <a:rPr lang="en-US" b="0" i="1" smtClean="0">
                            <a:latin typeface="Cambria Math" panose="02040503050406030204" pitchFamily="18" charset="0"/>
                          </a:rPr>
                          <m:t>𝑊</m:t>
                        </m:r>
                      </m:num>
                      <m:den>
                        <m:r>
                          <a:rPr lang="en-US" b="0" i="1" smtClean="0">
                            <a:latin typeface="Cambria Math" panose="02040503050406030204" pitchFamily="18" charset="0"/>
                          </a:rPr>
                          <m:t>220 </m:t>
                        </m:r>
                        <m:r>
                          <a:rPr lang="en-US" b="0" i="1" smtClean="0">
                            <a:latin typeface="Cambria Math" panose="02040503050406030204" pitchFamily="18" charset="0"/>
                          </a:rPr>
                          <m:t>𝑣</m:t>
                        </m:r>
                        <m:r>
                          <a:rPr lang="en-US" b="0" i="1" smtClean="0">
                            <a:latin typeface="Cambria Math" panose="02040503050406030204" pitchFamily="18" charset="0"/>
                          </a:rPr>
                          <m:t> </m:t>
                        </m:r>
                        <m:r>
                          <a:rPr lang="en-US" b="0" i="1" smtClean="0">
                            <a:latin typeface="Cambria Math" panose="02040503050406030204" pitchFamily="18" charset="0"/>
                          </a:rPr>
                          <m:t>𝐴𝐶</m:t>
                        </m:r>
                      </m:den>
                    </m:f>
                  </m:oMath>
                </a14:m>
                <a:r>
                  <a:rPr lang="en-US" dirty="0" smtClean="0"/>
                  <a:t>=0,05 A </a:t>
                </a:r>
                <a:endParaRPr lang="en-US" dirty="0"/>
              </a:p>
            </p:txBody>
          </p:sp>
        </mc:Choice>
        <mc:Fallback xmlns="">
          <p:sp>
            <p:nvSpPr>
              <p:cNvPr id="8" name="TextBox 7"/>
              <p:cNvSpPr txBox="1">
                <a:spLocks noRot="1" noChangeAspect="1" noMove="1" noResize="1" noEditPoints="1" noAdjustHandles="1" noChangeArrowheads="1" noChangeShapeType="1" noTextEdit="1"/>
              </p:cNvSpPr>
              <p:nvPr/>
            </p:nvSpPr>
            <p:spPr>
              <a:xfrm>
                <a:off x="272736" y="2155346"/>
                <a:ext cx="6162569" cy="432811"/>
              </a:xfrm>
              <a:prstGeom prst="rect">
                <a:avLst/>
              </a:prstGeom>
              <a:blipFill>
                <a:blip r:embed="rId3"/>
                <a:stretch>
                  <a:fillRect b="-18310"/>
                </a:stretch>
              </a:blipFill>
            </p:spPr>
            <p:txBody>
              <a:bodyPr/>
              <a:lstStyle/>
              <a:p>
                <a:r>
                  <a:rPr lang="en-US">
                    <a:noFill/>
                  </a:rPr>
                  <a:t> </a:t>
                </a:r>
              </a:p>
            </p:txBody>
          </p:sp>
        </mc:Fallback>
      </mc:AlternateContent>
      <p:sp>
        <p:nvSpPr>
          <p:cNvPr id="9" name="Rectangle 8"/>
          <p:cNvSpPr/>
          <p:nvPr/>
        </p:nvSpPr>
        <p:spPr>
          <a:xfrm>
            <a:off x="270293" y="2740359"/>
            <a:ext cx="4042915" cy="1754326"/>
          </a:xfrm>
          <a:prstGeom prst="rect">
            <a:avLst/>
          </a:prstGeom>
        </p:spPr>
        <p:txBody>
          <a:bodyPr wrap="square">
            <a:spAutoFit/>
          </a:bodyPr>
          <a:lstStyle/>
          <a:p>
            <a:r>
              <a:rPr lang="en-US" dirty="0" smtClean="0"/>
              <a:t>Notes: </a:t>
            </a:r>
          </a:p>
          <a:p>
            <a:r>
              <a:rPr lang="en-US" dirty="0" smtClean="0"/>
              <a:t>Pp </a:t>
            </a:r>
            <a:r>
              <a:rPr lang="en-US" dirty="0"/>
              <a:t>= </a:t>
            </a:r>
            <a:r>
              <a:rPr lang="en-US" dirty="0" err="1"/>
              <a:t>Daya</a:t>
            </a:r>
            <a:r>
              <a:rPr lang="en-US" dirty="0"/>
              <a:t> Primer</a:t>
            </a:r>
          </a:p>
          <a:p>
            <a:r>
              <a:rPr lang="en-US" dirty="0"/>
              <a:t>Ps = </a:t>
            </a:r>
            <a:r>
              <a:rPr lang="en-US" dirty="0" err="1"/>
              <a:t>Daya</a:t>
            </a:r>
            <a:r>
              <a:rPr lang="en-US" dirty="0"/>
              <a:t> </a:t>
            </a:r>
            <a:r>
              <a:rPr lang="en-US" dirty="0" err="1"/>
              <a:t>Sekunder</a:t>
            </a:r>
            <a:endParaRPr lang="en-US" dirty="0"/>
          </a:p>
          <a:p>
            <a:r>
              <a:rPr lang="en-US" dirty="0" err="1"/>
              <a:t>Dengan</a:t>
            </a:r>
            <a:r>
              <a:rPr lang="en-US" dirty="0"/>
              <a:t> </a:t>
            </a:r>
            <a:r>
              <a:rPr lang="en-US" dirty="0" err="1"/>
              <a:t>perhitungan</a:t>
            </a:r>
            <a:r>
              <a:rPr lang="en-US" dirty="0"/>
              <a:t> </a:t>
            </a:r>
            <a:r>
              <a:rPr lang="en-US" dirty="0" err="1"/>
              <a:t>diatas</a:t>
            </a:r>
            <a:r>
              <a:rPr lang="en-US" dirty="0"/>
              <a:t> </a:t>
            </a:r>
            <a:r>
              <a:rPr lang="en-US" dirty="0" err="1"/>
              <a:t>maka</a:t>
            </a:r>
            <a:r>
              <a:rPr lang="en-US" dirty="0"/>
              <a:t> fuse yang </a:t>
            </a:r>
            <a:r>
              <a:rPr lang="en-US" dirty="0" err="1"/>
              <a:t>seharunya</a:t>
            </a:r>
            <a:r>
              <a:rPr lang="en-US" dirty="0"/>
              <a:t> di </a:t>
            </a:r>
            <a:r>
              <a:rPr lang="en-US" dirty="0" err="1"/>
              <a:t>pakai</a:t>
            </a:r>
            <a:r>
              <a:rPr lang="en-US" dirty="0"/>
              <a:t> </a:t>
            </a:r>
            <a:r>
              <a:rPr lang="en-US" dirty="0" err="1" smtClean="0"/>
              <a:t>yaitu</a:t>
            </a:r>
            <a:r>
              <a:rPr lang="en-US" dirty="0" smtClean="0"/>
              <a:t> </a:t>
            </a:r>
            <a:r>
              <a:rPr lang="en-US" dirty="0" err="1" smtClean="0"/>
              <a:t>sebesar</a:t>
            </a:r>
            <a:r>
              <a:rPr lang="en-US" dirty="0" smtClean="0"/>
              <a:t> </a:t>
            </a:r>
            <a:r>
              <a:rPr lang="en-US" dirty="0"/>
              <a:t>0,05 A.</a:t>
            </a:r>
          </a:p>
        </p:txBody>
      </p:sp>
      <p:sp>
        <p:nvSpPr>
          <p:cNvPr id="10" name="Rectangle 9"/>
          <p:cNvSpPr/>
          <p:nvPr/>
        </p:nvSpPr>
        <p:spPr>
          <a:xfrm>
            <a:off x="5455229" y="277671"/>
            <a:ext cx="1960152" cy="369332"/>
          </a:xfrm>
          <a:prstGeom prst="rect">
            <a:avLst/>
          </a:prstGeom>
        </p:spPr>
        <p:txBody>
          <a:bodyPr wrap="none">
            <a:spAutoFit/>
          </a:bodyPr>
          <a:lstStyle/>
          <a:p>
            <a:r>
              <a:rPr lang="en-US" dirty="0"/>
              <a:t>Sensor </a:t>
            </a:r>
            <a:r>
              <a:rPr lang="en-US" dirty="0" err="1"/>
              <a:t>Photodioda</a:t>
            </a:r>
            <a:endParaRPr lang="en-US" dirty="0"/>
          </a:p>
        </p:txBody>
      </p:sp>
      <p:pic>
        <p:nvPicPr>
          <p:cNvPr id="11" name="Picture 10"/>
          <p:cNvPicPr>
            <a:picLocks noChangeAspect="1"/>
          </p:cNvPicPr>
          <p:nvPr/>
        </p:nvPicPr>
        <p:blipFill>
          <a:blip r:embed="rId4"/>
          <a:stretch>
            <a:fillRect/>
          </a:stretch>
        </p:blipFill>
        <p:spPr>
          <a:xfrm>
            <a:off x="5534193" y="898047"/>
            <a:ext cx="3762375" cy="1543050"/>
          </a:xfrm>
          <a:prstGeom prst="rect">
            <a:avLst/>
          </a:prstGeom>
        </p:spPr>
      </p:pic>
      <p:sp>
        <p:nvSpPr>
          <p:cNvPr id="12" name="Rectangle 11"/>
          <p:cNvSpPr/>
          <p:nvPr/>
        </p:nvSpPr>
        <p:spPr>
          <a:xfrm>
            <a:off x="5101086" y="2957489"/>
            <a:ext cx="6544573" cy="3970318"/>
          </a:xfrm>
          <a:prstGeom prst="rect">
            <a:avLst/>
          </a:prstGeom>
        </p:spPr>
        <p:txBody>
          <a:bodyPr wrap="square">
            <a:spAutoFit/>
          </a:bodyPr>
          <a:lstStyle/>
          <a:p>
            <a:pPr algn="just"/>
            <a:r>
              <a:rPr lang="en-US" dirty="0" err="1"/>
              <a:t>Photodioda</a:t>
            </a:r>
            <a:r>
              <a:rPr lang="en-US" dirty="0"/>
              <a:t> </a:t>
            </a:r>
            <a:r>
              <a:rPr lang="en-US" dirty="0" err="1"/>
              <a:t>sebagai</a:t>
            </a:r>
            <a:r>
              <a:rPr lang="en-US" dirty="0"/>
              <a:t> sensor, LED </a:t>
            </a:r>
            <a:r>
              <a:rPr lang="en-US" dirty="0" err="1"/>
              <a:t>sebagai</a:t>
            </a:r>
            <a:r>
              <a:rPr lang="en-US" dirty="0"/>
              <a:t> </a:t>
            </a:r>
            <a:r>
              <a:rPr lang="en-US" dirty="0" err="1" smtClean="0"/>
              <a:t>cahaya</a:t>
            </a:r>
            <a:r>
              <a:rPr lang="en-US" dirty="0" smtClean="0"/>
              <a:t> yang </a:t>
            </a:r>
            <a:r>
              <a:rPr lang="en-US" dirty="0" err="1"/>
              <a:t>menembus</a:t>
            </a:r>
            <a:r>
              <a:rPr lang="en-US" dirty="0"/>
              <a:t> film </a:t>
            </a:r>
            <a:r>
              <a:rPr lang="en-US" dirty="0" err="1"/>
              <a:t>dan</a:t>
            </a:r>
            <a:r>
              <a:rPr lang="en-US" dirty="0"/>
              <a:t> IC LM358 </a:t>
            </a:r>
            <a:r>
              <a:rPr lang="en-US" dirty="0" err="1"/>
              <a:t>sebagai</a:t>
            </a:r>
            <a:r>
              <a:rPr lang="en-US" dirty="0"/>
              <a:t> buffer </a:t>
            </a:r>
            <a:r>
              <a:rPr lang="en-US" dirty="0" err="1"/>
              <a:t>pada</a:t>
            </a:r>
            <a:r>
              <a:rPr lang="en-US" dirty="0"/>
              <a:t> </a:t>
            </a:r>
            <a:r>
              <a:rPr lang="en-US" dirty="0" err="1"/>
              <a:t>rangkaian</a:t>
            </a:r>
            <a:r>
              <a:rPr lang="en-US" dirty="0"/>
              <a:t>. </a:t>
            </a:r>
            <a:r>
              <a:rPr lang="en-US" dirty="0" smtClean="0"/>
              <a:t>Sensor </a:t>
            </a:r>
            <a:r>
              <a:rPr lang="en-US" dirty="0" err="1" smtClean="0"/>
              <a:t>photodioda</a:t>
            </a:r>
            <a:r>
              <a:rPr lang="en-US" dirty="0" smtClean="0"/>
              <a:t> </a:t>
            </a:r>
            <a:r>
              <a:rPr lang="en-US" dirty="0" err="1"/>
              <a:t>dioperasikan</a:t>
            </a:r>
            <a:r>
              <a:rPr lang="en-US" dirty="0"/>
              <a:t> bias </a:t>
            </a:r>
            <a:r>
              <a:rPr lang="en-US" dirty="0" err="1"/>
              <a:t>mundur</a:t>
            </a:r>
            <a:r>
              <a:rPr lang="en-US" dirty="0"/>
              <a:t> (reverse bias). </a:t>
            </a:r>
            <a:r>
              <a:rPr lang="en-US" dirty="0" err="1"/>
              <a:t>semakin</a:t>
            </a:r>
            <a:r>
              <a:rPr lang="en-US" dirty="0"/>
              <a:t> </a:t>
            </a:r>
            <a:r>
              <a:rPr lang="en-US" dirty="0" err="1"/>
              <a:t>besar</a:t>
            </a:r>
            <a:r>
              <a:rPr lang="en-US" dirty="0"/>
              <a:t> </a:t>
            </a:r>
            <a:r>
              <a:rPr lang="en-US" dirty="0" err="1"/>
              <a:t>intensitas</a:t>
            </a:r>
            <a:r>
              <a:rPr lang="en-US" dirty="0"/>
              <a:t> </a:t>
            </a:r>
            <a:r>
              <a:rPr lang="en-US" dirty="0" err="1"/>
              <a:t>cahaya</a:t>
            </a:r>
            <a:r>
              <a:rPr lang="en-US" dirty="0"/>
              <a:t> yang </a:t>
            </a:r>
            <a:r>
              <a:rPr lang="en-US" dirty="0" err="1"/>
              <a:t>diterima</a:t>
            </a:r>
            <a:r>
              <a:rPr lang="en-US" dirty="0"/>
              <a:t> </a:t>
            </a:r>
            <a:r>
              <a:rPr lang="en-US" dirty="0" err="1"/>
              <a:t>oleh</a:t>
            </a:r>
            <a:r>
              <a:rPr lang="en-US" dirty="0"/>
              <a:t> sensor </a:t>
            </a:r>
            <a:r>
              <a:rPr lang="en-US" dirty="0" err="1"/>
              <a:t>maka</a:t>
            </a:r>
            <a:r>
              <a:rPr lang="en-US" dirty="0"/>
              <a:t> </a:t>
            </a:r>
            <a:r>
              <a:rPr lang="en-US" dirty="0" err="1"/>
              <a:t>tegangan</a:t>
            </a:r>
            <a:r>
              <a:rPr lang="en-US" dirty="0"/>
              <a:t> output </a:t>
            </a:r>
            <a:r>
              <a:rPr lang="en-US" dirty="0" err="1"/>
              <a:t>akan</a:t>
            </a:r>
            <a:r>
              <a:rPr lang="en-US" dirty="0"/>
              <a:t> </a:t>
            </a:r>
            <a:r>
              <a:rPr lang="en-US" dirty="0" err="1"/>
              <a:t>semakin</a:t>
            </a:r>
            <a:r>
              <a:rPr lang="en-US" dirty="0"/>
              <a:t> </a:t>
            </a:r>
            <a:r>
              <a:rPr lang="en-US" dirty="0" err="1"/>
              <a:t>kecil</a:t>
            </a:r>
            <a:r>
              <a:rPr lang="en-US" dirty="0"/>
              <a:t> </a:t>
            </a:r>
            <a:r>
              <a:rPr lang="en-US" dirty="0" err="1"/>
              <a:t>dan</a:t>
            </a:r>
            <a:r>
              <a:rPr lang="en-US" dirty="0"/>
              <a:t> </a:t>
            </a:r>
            <a:r>
              <a:rPr lang="en-US" dirty="0" err="1"/>
              <a:t>semakin</a:t>
            </a:r>
            <a:r>
              <a:rPr lang="en-US" dirty="0"/>
              <a:t> </a:t>
            </a:r>
            <a:r>
              <a:rPr lang="en-US" dirty="0" err="1"/>
              <a:t>sedikit</a:t>
            </a:r>
            <a:r>
              <a:rPr lang="en-US" dirty="0"/>
              <a:t> </a:t>
            </a:r>
            <a:r>
              <a:rPr lang="en-US" dirty="0" err="1"/>
              <a:t>intensitas</a:t>
            </a:r>
            <a:r>
              <a:rPr lang="en-US" dirty="0"/>
              <a:t> </a:t>
            </a:r>
            <a:r>
              <a:rPr lang="en-US" dirty="0" err="1"/>
              <a:t>cahaya</a:t>
            </a:r>
            <a:r>
              <a:rPr lang="en-US" dirty="0"/>
              <a:t> yang </a:t>
            </a:r>
            <a:r>
              <a:rPr lang="en-US" dirty="0" err="1"/>
              <a:t>diterima</a:t>
            </a:r>
            <a:r>
              <a:rPr lang="en-US" dirty="0"/>
              <a:t> </a:t>
            </a:r>
            <a:r>
              <a:rPr lang="en-US" dirty="0" err="1"/>
              <a:t>oleh</a:t>
            </a:r>
            <a:r>
              <a:rPr lang="en-US" dirty="0"/>
              <a:t> sensor </a:t>
            </a:r>
            <a:r>
              <a:rPr lang="en-US" dirty="0" err="1"/>
              <a:t>maka</a:t>
            </a:r>
            <a:r>
              <a:rPr lang="en-US" dirty="0"/>
              <a:t> </a:t>
            </a:r>
            <a:r>
              <a:rPr lang="en-US" dirty="0" err="1"/>
              <a:t>tegangan</a:t>
            </a:r>
            <a:r>
              <a:rPr lang="en-US" dirty="0"/>
              <a:t> output </a:t>
            </a:r>
            <a:r>
              <a:rPr lang="en-US" dirty="0" err="1"/>
              <a:t>akan</a:t>
            </a:r>
            <a:r>
              <a:rPr lang="en-US" dirty="0"/>
              <a:t> </a:t>
            </a:r>
            <a:r>
              <a:rPr lang="en-US" dirty="0" err="1"/>
              <a:t>semakin</a:t>
            </a:r>
            <a:r>
              <a:rPr lang="en-US" dirty="0"/>
              <a:t> </a:t>
            </a:r>
            <a:r>
              <a:rPr lang="en-US" dirty="0" err="1"/>
              <a:t>bertambah</a:t>
            </a:r>
            <a:r>
              <a:rPr lang="en-US" dirty="0"/>
              <a:t>. </a:t>
            </a:r>
            <a:r>
              <a:rPr lang="en-US" dirty="0" err="1"/>
              <a:t>Pada</a:t>
            </a:r>
            <a:r>
              <a:rPr lang="en-US" dirty="0"/>
              <a:t> </a:t>
            </a:r>
            <a:r>
              <a:rPr lang="en-US" dirty="0" err="1"/>
              <a:t>saat</a:t>
            </a:r>
            <a:r>
              <a:rPr lang="en-US" dirty="0"/>
              <a:t> film di </a:t>
            </a:r>
            <a:r>
              <a:rPr lang="en-US" dirty="0" err="1"/>
              <a:t>letakkan</a:t>
            </a:r>
            <a:r>
              <a:rPr lang="en-US" dirty="0"/>
              <a:t> </a:t>
            </a:r>
            <a:r>
              <a:rPr lang="en-US" dirty="0" err="1"/>
              <a:t>diantara</a:t>
            </a:r>
            <a:r>
              <a:rPr lang="en-US" dirty="0"/>
              <a:t> LED </a:t>
            </a:r>
            <a:r>
              <a:rPr lang="en-US" dirty="0" err="1"/>
              <a:t>dan</a:t>
            </a:r>
            <a:r>
              <a:rPr lang="en-US" dirty="0"/>
              <a:t> </a:t>
            </a:r>
            <a:r>
              <a:rPr lang="en-US" dirty="0" err="1"/>
              <a:t>photodioda</a:t>
            </a:r>
            <a:r>
              <a:rPr lang="en-US" dirty="0"/>
              <a:t>, </a:t>
            </a:r>
            <a:r>
              <a:rPr lang="en-US" dirty="0" err="1"/>
              <a:t>photodioda</a:t>
            </a:r>
            <a:r>
              <a:rPr lang="en-US" dirty="0"/>
              <a:t> </a:t>
            </a:r>
            <a:r>
              <a:rPr lang="en-US" dirty="0" err="1"/>
              <a:t>akan</a:t>
            </a:r>
            <a:r>
              <a:rPr lang="en-US" dirty="0"/>
              <a:t> </a:t>
            </a:r>
            <a:r>
              <a:rPr lang="en-US" dirty="0" err="1"/>
              <a:t>menghasilkan</a:t>
            </a:r>
            <a:r>
              <a:rPr lang="en-US" dirty="0"/>
              <a:t> output </a:t>
            </a:r>
            <a:r>
              <a:rPr lang="en-US" dirty="0" err="1"/>
              <a:t>berupa</a:t>
            </a:r>
            <a:r>
              <a:rPr lang="en-US" dirty="0"/>
              <a:t> </a:t>
            </a:r>
            <a:r>
              <a:rPr lang="en-US" dirty="0" err="1"/>
              <a:t>tegangan</a:t>
            </a:r>
            <a:r>
              <a:rPr lang="en-US" dirty="0"/>
              <a:t> </a:t>
            </a:r>
            <a:r>
              <a:rPr lang="en-US" dirty="0" err="1"/>
              <a:t>sesuai</a:t>
            </a:r>
            <a:r>
              <a:rPr lang="en-US" dirty="0"/>
              <a:t> </a:t>
            </a:r>
            <a:r>
              <a:rPr lang="en-US" dirty="0" err="1"/>
              <a:t>dengan</a:t>
            </a:r>
            <a:r>
              <a:rPr lang="en-US" dirty="0"/>
              <a:t> </a:t>
            </a:r>
            <a:r>
              <a:rPr lang="en-US" dirty="0" err="1"/>
              <a:t>intensitas</a:t>
            </a:r>
            <a:r>
              <a:rPr lang="en-US" dirty="0"/>
              <a:t> </a:t>
            </a:r>
            <a:r>
              <a:rPr lang="en-US" dirty="0" err="1"/>
              <a:t>cahaya</a:t>
            </a:r>
            <a:r>
              <a:rPr lang="en-US" dirty="0"/>
              <a:t> film yang di </a:t>
            </a:r>
            <a:r>
              <a:rPr lang="en-US" dirty="0" err="1"/>
              <a:t>letakkan</a:t>
            </a:r>
            <a:r>
              <a:rPr lang="en-US" dirty="0"/>
              <a:t>. </a:t>
            </a:r>
            <a:r>
              <a:rPr lang="en-US" dirty="0" err="1"/>
              <a:t>Tegangan</a:t>
            </a:r>
            <a:r>
              <a:rPr lang="en-US" dirty="0"/>
              <a:t> yang </a:t>
            </a:r>
            <a:r>
              <a:rPr lang="en-US" dirty="0" err="1"/>
              <a:t>dihasilkan</a:t>
            </a:r>
            <a:r>
              <a:rPr lang="en-US" dirty="0"/>
              <a:t> </a:t>
            </a:r>
            <a:r>
              <a:rPr lang="en-US" dirty="0" err="1"/>
              <a:t>oleh</a:t>
            </a:r>
            <a:r>
              <a:rPr lang="en-US" dirty="0"/>
              <a:t> sensor </a:t>
            </a:r>
            <a:r>
              <a:rPr lang="en-US" dirty="0" err="1"/>
              <a:t>akan</a:t>
            </a:r>
            <a:r>
              <a:rPr lang="en-US" dirty="0"/>
              <a:t> </a:t>
            </a:r>
            <a:r>
              <a:rPr lang="en-US" dirty="0" err="1"/>
              <a:t>masuk</a:t>
            </a:r>
            <a:r>
              <a:rPr lang="en-US" dirty="0"/>
              <a:t> </a:t>
            </a:r>
            <a:r>
              <a:rPr lang="en-US" dirty="0" err="1"/>
              <a:t>ke</a:t>
            </a:r>
            <a:r>
              <a:rPr lang="en-US" dirty="0"/>
              <a:t> </a:t>
            </a:r>
            <a:r>
              <a:rPr lang="en-US" dirty="0" err="1"/>
              <a:t>rangkaian</a:t>
            </a:r>
            <a:r>
              <a:rPr lang="en-US" dirty="0"/>
              <a:t> IC LM358 yang </a:t>
            </a:r>
            <a:r>
              <a:rPr lang="en-US" dirty="0" err="1"/>
              <a:t>berfungsi</a:t>
            </a:r>
            <a:r>
              <a:rPr lang="en-US" dirty="0"/>
              <a:t> </a:t>
            </a:r>
            <a:r>
              <a:rPr lang="en-US" dirty="0" err="1"/>
              <a:t>sebagai</a:t>
            </a:r>
            <a:r>
              <a:rPr lang="en-US" dirty="0"/>
              <a:t> </a:t>
            </a:r>
            <a:r>
              <a:rPr lang="en-US" dirty="0" err="1"/>
              <a:t>rangkaian</a:t>
            </a:r>
            <a:r>
              <a:rPr lang="en-US" dirty="0"/>
              <a:t> buffer </a:t>
            </a:r>
            <a:r>
              <a:rPr lang="en-US" dirty="0" err="1"/>
              <a:t>atau</a:t>
            </a:r>
            <a:r>
              <a:rPr lang="en-US" dirty="0"/>
              <a:t> </a:t>
            </a:r>
            <a:r>
              <a:rPr lang="en-US" dirty="0" err="1"/>
              <a:t>rangkaian</a:t>
            </a:r>
            <a:r>
              <a:rPr lang="en-US" dirty="0"/>
              <a:t> </a:t>
            </a:r>
            <a:r>
              <a:rPr lang="en-US" dirty="0" err="1"/>
              <a:t>penyangga</a:t>
            </a:r>
            <a:r>
              <a:rPr lang="en-US" dirty="0"/>
              <a:t> </a:t>
            </a:r>
            <a:r>
              <a:rPr lang="en-US" dirty="0" err="1"/>
              <a:t>yaitu</a:t>
            </a:r>
            <a:r>
              <a:rPr lang="en-US" dirty="0"/>
              <a:t> </a:t>
            </a:r>
            <a:r>
              <a:rPr lang="en-US" dirty="0" err="1"/>
              <a:t>Vout</a:t>
            </a:r>
            <a:r>
              <a:rPr lang="en-US" dirty="0"/>
              <a:t>=Vin. </a:t>
            </a:r>
            <a:r>
              <a:rPr lang="en-US" dirty="0" err="1"/>
              <a:t>Tegangan</a:t>
            </a:r>
            <a:r>
              <a:rPr lang="en-US" dirty="0"/>
              <a:t> </a:t>
            </a:r>
            <a:r>
              <a:rPr lang="en-US" dirty="0" err="1"/>
              <a:t>menghasilkan</a:t>
            </a:r>
            <a:r>
              <a:rPr lang="en-US" dirty="0"/>
              <a:t> </a:t>
            </a:r>
            <a:r>
              <a:rPr lang="en-US" dirty="0" err="1"/>
              <a:t>penguatan</a:t>
            </a:r>
            <a:r>
              <a:rPr lang="en-US" dirty="0"/>
              <a:t> = 1, </a:t>
            </a:r>
            <a:r>
              <a:rPr lang="en-US" dirty="0" err="1"/>
              <a:t>dan</a:t>
            </a:r>
            <a:r>
              <a:rPr lang="en-US" dirty="0"/>
              <a:t> </a:t>
            </a:r>
            <a:r>
              <a:rPr lang="en-US" dirty="0" err="1"/>
              <a:t>arus</a:t>
            </a:r>
            <a:r>
              <a:rPr lang="en-US" dirty="0"/>
              <a:t> </a:t>
            </a:r>
            <a:r>
              <a:rPr lang="en-US" dirty="0" err="1"/>
              <a:t>diperbesar</a:t>
            </a:r>
            <a:r>
              <a:rPr lang="en-US" dirty="0"/>
              <a:t> agar </a:t>
            </a:r>
            <a:r>
              <a:rPr lang="en-US" dirty="0" err="1"/>
              <a:t>pembacaan</a:t>
            </a:r>
            <a:r>
              <a:rPr lang="en-US" dirty="0"/>
              <a:t> </a:t>
            </a:r>
            <a:r>
              <a:rPr lang="en-US" dirty="0" err="1"/>
              <a:t>oleh</a:t>
            </a:r>
            <a:r>
              <a:rPr lang="en-US" dirty="0"/>
              <a:t> sensor </a:t>
            </a:r>
            <a:r>
              <a:rPr lang="en-US" dirty="0" err="1"/>
              <a:t>lebih</a:t>
            </a:r>
            <a:r>
              <a:rPr lang="en-US" dirty="0"/>
              <a:t> </a:t>
            </a:r>
            <a:r>
              <a:rPr lang="en-US" dirty="0" err="1"/>
              <a:t>stabil</a:t>
            </a:r>
            <a:r>
              <a:rPr lang="en-US" dirty="0"/>
              <a:t> </a:t>
            </a:r>
            <a:r>
              <a:rPr lang="en-US" dirty="0" err="1"/>
              <a:t>saat</a:t>
            </a:r>
            <a:r>
              <a:rPr lang="en-US" dirty="0"/>
              <a:t> </a:t>
            </a:r>
            <a:r>
              <a:rPr lang="en-US" dirty="0" err="1"/>
              <a:t>masuk</a:t>
            </a:r>
            <a:r>
              <a:rPr lang="en-US" dirty="0"/>
              <a:t> </a:t>
            </a:r>
            <a:r>
              <a:rPr lang="en-US" dirty="0" err="1"/>
              <a:t>ke</a:t>
            </a:r>
            <a:r>
              <a:rPr lang="en-US" dirty="0"/>
              <a:t> </a:t>
            </a:r>
            <a:r>
              <a:rPr lang="en-US" dirty="0" err="1"/>
              <a:t>mikrokontroler</a:t>
            </a:r>
            <a:r>
              <a:rPr lang="en-US" dirty="0"/>
              <a:t>.</a:t>
            </a:r>
          </a:p>
        </p:txBody>
      </p:sp>
    </p:spTree>
    <p:extLst>
      <p:ext uri="{BB962C8B-B14F-4D97-AF65-F5344CB8AC3E}">
        <p14:creationId xmlns:p14="http://schemas.microsoft.com/office/powerpoint/2010/main" val="253114430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Aplikasi</a:t>
            </a:r>
            <a:r>
              <a:rPr lang="en-US" dirty="0" smtClean="0"/>
              <a:t> 1 : </a:t>
            </a:r>
            <a:r>
              <a:rPr lang="en-US" dirty="0" err="1" smtClean="0"/>
              <a:t>Densito</a:t>
            </a:r>
            <a:r>
              <a:rPr lang="en-US" dirty="0" smtClean="0"/>
              <a:t> meter</a:t>
            </a:r>
            <a:endParaRPr lang="en-US" dirty="0"/>
          </a:p>
        </p:txBody>
      </p:sp>
      <p:pic>
        <p:nvPicPr>
          <p:cNvPr id="4" name="Content Placeholder 3"/>
          <p:cNvPicPr>
            <a:picLocks noGrp="1" noChangeAspect="1"/>
          </p:cNvPicPr>
          <p:nvPr>
            <p:ph idx="1"/>
          </p:nvPr>
        </p:nvPicPr>
        <p:blipFill>
          <a:blip r:embed="rId3"/>
          <a:stretch>
            <a:fillRect/>
          </a:stretch>
        </p:blipFill>
        <p:spPr>
          <a:xfrm>
            <a:off x="3514725" y="2220119"/>
            <a:ext cx="5162550" cy="3562350"/>
          </a:xfrm>
          <a:prstGeom prst="rect">
            <a:avLst/>
          </a:prstGeom>
        </p:spPr>
      </p:pic>
    </p:spTree>
    <p:extLst>
      <p:ext uri="{BB962C8B-B14F-4D97-AF65-F5344CB8AC3E}">
        <p14:creationId xmlns:p14="http://schemas.microsoft.com/office/powerpoint/2010/main" val="274536009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Aplikasi</a:t>
            </a:r>
            <a:r>
              <a:rPr lang="en-US" dirty="0" smtClean="0"/>
              <a:t> 2 : </a:t>
            </a:r>
            <a:r>
              <a:rPr lang="en-US" b="1" dirty="0"/>
              <a:t>Home Automation </a:t>
            </a:r>
            <a:r>
              <a:rPr lang="en-US" dirty="0" smtClean="0"/>
              <a:t>Using Arduino</a:t>
            </a:r>
            <a:endParaRPr lang="en-US" dirty="0"/>
          </a:p>
        </p:txBody>
      </p:sp>
      <p:pic>
        <p:nvPicPr>
          <p:cNvPr id="5" name="Content Placeholder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38200" y="2801031"/>
            <a:ext cx="2076450" cy="2200275"/>
          </a:xfrm>
          <a:prstGeom prst="rect">
            <a:avLst/>
          </a:prstGeom>
        </p:spPr>
      </p:pic>
      <p:pic>
        <p:nvPicPr>
          <p:cNvPr id="6" name="Content Placeholder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57449" y="1859799"/>
            <a:ext cx="6571343" cy="3815050"/>
          </a:xfrm>
          <a:prstGeom prst="rect">
            <a:avLst/>
          </a:prstGeom>
        </p:spPr>
      </p:pic>
    </p:spTree>
    <p:extLst>
      <p:ext uri="{BB962C8B-B14F-4D97-AF65-F5344CB8AC3E}">
        <p14:creationId xmlns:p14="http://schemas.microsoft.com/office/powerpoint/2010/main" val="105795873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50587" y="624110"/>
            <a:ext cx="6589199" cy="1280890"/>
          </a:xfrm>
        </p:spPr>
        <p:txBody>
          <a:bodyPr>
            <a:normAutofit/>
          </a:bodyPr>
          <a:lstStyle/>
          <a:p>
            <a:r>
              <a:rPr lang="en-US" sz="4000" b="1" dirty="0">
                <a:latin typeface="Times New Roman" panose="02020603050405020304" pitchFamily="18" charset="0"/>
                <a:cs typeface="Times New Roman" panose="02020603050405020304" pitchFamily="18" charset="0"/>
              </a:rPr>
              <a:t>What is Home Automation?</a:t>
            </a:r>
          </a:p>
        </p:txBody>
      </p:sp>
      <p:sp>
        <p:nvSpPr>
          <p:cNvPr id="3" name="Content Placeholder 2"/>
          <p:cNvSpPr>
            <a:spLocks noGrp="1"/>
          </p:cNvSpPr>
          <p:nvPr>
            <p:ph idx="1"/>
          </p:nvPr>
        </p:nvSpPr>
        <p:spPr>
          <a:xfrm>
            <a:off x="2950586" y="1905000"/>
            <a:ext cx="7021378" cy="3911184"/>
          </a:xfrm>
        </p:spPr>
        <p:txBody>
          <a:bodyPr>
            <a:normAutofit lnSpcReduction="10000"/>
          </a:bodyPr>
          <a:lstStyle/>
          <a:p>
            <a:r>
              <a:rPr lang="en-US" sz="2400" dirty="0">
                <a:latin typeface="Times New Roman" panose="02020603050405020304" pitchFamily="18" charset="0"/>
                <a:cs typeface="Times New Roman" panose="02020603050405020304" pitchFamily="18" charset="0"/>
              </a:rPr>
              <a:t>Home automation involves introducing a degree of computerized or automatic control to certain electrical and electronics system in a building. </a:t>
            </a:r>
          </a:p>
          <a:p>
            <a:r>
              <a:rPr lang="en-US" sz="2400" dirty="0">
                <a:latin typeface="Times New Roman" panose="02020603050405020304" pitchFamily="18" charset="0"/>
                <a:cs typeface="Times New Roman" panose="02020603050405020304" pitchFamily="18" charset="0"/>
              </a:rPr>
              <a:t>These lighting, temperature control, etc.., this paper demonstrate a simple home automation system which contains a remote mobile host controller and several client module (home appliances). </a:t>
            </a:r>
          </a:p>
          <a:p>
            <a:r>
              <a:rPr lang="en-US" sz="2400" dirty="0">
                <a:latin typeface="Times New Roman" panose="02020603050405020304" pitchFamily="18" charset="0"/>
                <a:cs typeface="Times New Roman" panose="02020603050405020304" pitchFamily="18" charset="0"/>
              </a:rPr>
              <a:t>The client modules communicate with host controllers through a wireless device such as a Bluetooth enabled mobile phone, in this case, an android based smart phone. </a:t>
            </a:r>
          </a:p>
        </p:txBody>
      </p:sp>
    </p:spTree>
    <p:extLst>
      <p:ext uri="{BB962C8B-B14F-4D97-AF65-F5344CB8AC3E}">
        <p14:creationId xmlns:p14="http://schemas.microsoft.com/office/powerpoint/2010/main" val="192014183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chemeClr val="tx1">
                    <a:lumMod val="85000"/>
                    <a:lumOff val="15000"/>
                  </a:schemeClr>
                </a:solidFill>
                <a:latin typeface="Times New Roman" panose="02020603050405020304" pitchFamily="18" charset="0"/>
                <a:cs typeface="Times New Roman" panose="02020603050405020304" pitchFamily="18" charset="0"/>
              </a:rPr>
              <a:t>What are the benefits of an automated home?</a:t>
            </a:r>
            <a:br>
              <a:rPr lang="en-US" b="1" dirty="0">
                <a:solidFill>
                  <a:schemeClr val="tx1">
                    <a:lumMod val="85000"/>
                    <a:lumOff val="15000"/>
                  </a:schemeClr>
                </a:solidFill>
                <a:latin typeface="Times New Roman" panose="02020603050405020304" pitchFamily="18" charset="0"/>
                <a:cs typeface="Times New Roman" panose="02020603050405020304" pitchFamily="18" charset="0"/>
              </a:rPr>
            </a:br>
            <a:endParaRPr lang="en-US" dirty="0">
              <a:solidFill>
                <a:schemeClr val="tx1">
                  <a:lumMod val="85000"/>
                  <a:lumOff val="1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967492" y="2015733"/>
            <a:ext cx="6571343" cy="4070274"/>
          </a:xfrm>
        </p:spPr>
        <p:txBody>
          <a:bodyPr/>
          <a:lstStyle/>
          <a:p>
            <a:pPr>
              <a:buFont typeface="Wingdings" panose="05000000000000000000" pitchFamily="2" charset="2"/>
              <a:buChar char="§"/>
            </a:pPr>
            <a:r>
              <a:rPr lang="en-US" sz="2400" dirty="0"/>
              <a:t>Home automation keeps your home secure by being able to look your front door from your smart phone or tablet and do not be worry. because you misplaced your keys inside home.</a:t>
            </a:r>
          </a:p>
          <a:p>
            <a:pPr>
              <a:buFont typeface="Wingdings" panose="05000000000000000000" pitchFamily="2" charset="2"/>
              <a:buChar char="§"/>
            </a:pPr>
            <a:r>
              <a:rPr lang="en-US" sz="2400" dirty="0"/>
              <a:t>Home automation saves your money.</a:t>
            </a:r>
          </a:p>
          <a:p>
            <a:pPr>
              <a:buFont typeface="Wingdings" panose="05000000000000000000" pitchFamily="2" charset="2"/>
              <a:buChar char="§"/>
            </a:pPr>
            <a:endParaRPr lang="en-US" sz="2400" dirty="0"/>
          </a:p>
          <a:p>
            <a:pPr>
              <a:buFont typeface="Wingdings" panose="05000000000000000000" pitchFamily="2" charset="2"/>
              <a:buChar char="§"/>
            </a:pPr>
            <a:endParaRPr lang="en-US" dirty="0"/>
          </a:p>
        </p:txBody>
      </p:sp>
    </p:spTree>
    <p:extLst>
      <p:ext uri="{BB962C8B-B14F-4D97-AF65-F5344CB8AC3E}">
        <p14:creationId xmlns:p14="http://schemas.microsoft.com/office/powerpoint/2010/main" val="401257562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chemeClr val="tx1">
                    <a:lumMod val="85000"/>
                    <a:lumOff val="15000"/>
                  </a:schemeClr>
                </a:solidFill>
                <a:latin typeface="Times New Roman" panose="02020603050405020304" pitchFamily="18" charset="0"/>
                <a:cs typeface="Times New Roman" panose="02020603050405020304" pitchFamily="18" charset="0"/>
              </a:rPr>
              <a:t>What are the benefits of an automated home?</a:t>
            </a:r>
            <a:br>
              <a:rPr lang="en-US" b="1" dirty="0">
                <a:solidFill>
                  <a:schemeClr val="tx1">
                    <a:lumMod val="85000"/>
                    <a:lumOff val="15000"/>
                  </a:schemeClr>
                </a:solidFill>
                <a:latin typeface="Times New Roman" panose="02020603050405020304" pitchFamily="18" charset="0"/>
                <a:cs typeface="Times New Roman" panose="02020603050405020304" pitchFamily="18" charset="0"/>
              </a:rPr>
            </a:br>
            <a:endParaRPr lang="en-US" dirty="0"/>
          </a:p>
        </p:txBody>
      </p:sp>
      <p:sp>
        <p:nvSpPr>
          <p:cNvPr id="3" name="Content Placeholder 2"/>
          <p:cNvSpPr>
            <a:spLocks noGrp="1"/>
          </p:cNvSpPr>
          <p:nvPr>
            <p:ph idx="1"/>
          </p:nvPr>
        </p:nvSpPr>
        <p:spPr>
          <a:xfrm>
            <a:off x="2993933" y="2060704"/>
            <a:ext cx="6571343" cy="3450613"/>
          </a:xfrm>
        </p:spPr>
        <p:txBody>
          <a:bodyPr/>
          <a:lstStyle/>
          <a:p>
            <a:r>
              <a:rPr lang="en-US" sz="2400" dirty="0"/>
              <a:t>Home automation keeps your family comfortable. </a:t>
            </a:r>
            <a:r>
              <a:rPr lang="en-US" dirty="0"/>
              <a:t>.</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93932" y="2667627"/>
            <a:ext cx="4196350" cy="3185549"/>
          </a:xfrm>
          <a:prstGeom prst="rect">
            <a:avLst/>
          </a:prstGeom>
        </p:spPr>
      </p:pic>
    </p:spTree>
    <p:extLst>
      <p:ext uri="{BB962C8B-B14F-4D97-AF65-F5344CB8AC3E}">
        <p14:creationId xmlns:p14="http://schemas.microsoft.com/office/powerpoint/2010/main" val="248759715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chemeClr val="tx1">
                    <a:lumMod val="85000"/>
                    <a:lumOff val="15000"/>
                  </a:schemeClr>
                </a:solidFill>
                <a:latin typeface="Times New Roman" panose="02020603050405020304" pitchFamily="18" charset="0"/>
                <a:cs typeface="Times New Roman" panose="02020603050405020304" pitchFamily="18" charset="0"/>
              </a:rPr>
              <a:t>What are the benefits of an automated home?</a:t>
            </a:r>
            <a:br>
              <a:rPr lang="en-US" b="1" dirty="0">
                <a:solidFill>
                  <a:schemeClr val="tx1">
                    <a:lumMod val="85000"/>
                    <a:lumOff val="15000"/>
                  </a:schemeClr>
                </a:solidFill>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967492" y="2015734"/>
            <a:ext cx="6571343" cy="3680529"/>
          </a:xfrm>
        </p:spPr>
        <p:txBody>
          <a:bodyPr/>
          <a:lstStyle/>
          <a:p>
            <a:r>
              <a:rPr lang="en-US" sz="2400" dirty="0"/>
              <a:t>control over your home from any location .</a:t>
            </a:r>
          </a:p>
          <a:p>
            <a:r>
              <a:rPr lang="en-US" sz="2400" dirty="0"/>
              <a:t>The greatest benefits of home automation system are added of sense of security and peace of mind.</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67492" y="3855997"/>
            <a:ext cx="4387683" cy="2058254"/>
          </a:xfrm>
          <a:prstGeom prst="rect">
            <a:avLst/>
          </a:prstGeom>
        </p:spPr>
      </p:pic>
    </p:spTree>
    <p:extLst>
      <p:ext uri="{BB962C8B-B14F-4D97-AF65-F5344CB8AC3E}">
        <p14:creationId xmlns:p14="http://schemas.microsoft.com/office/powerpoint/2010/main" val="6439262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Disadvantages of home automation:</a:t>
            </a:r>
          </a:p>
        </p:txBody>
      </p:sp>
      <p:sp>
        <p:nvSpPr>
          <p:cNvPr id="3" name="Content Placeholder 2"/>
          <p:cNvSpPr>
            <a:spLocks noGrp="1"/>
          </p:cNvSpPr>
          <p:nvPr>
            <p:ph idx="1"/>
          </p:nvPr>
        </p:nvSpPr>
        <p:spPr/>
        <p:txBody>
          <a:bodyPr/>
          <a:lstStyle/>
          <a:p>
            <a:r>
              <a:rPr lang="en-US" sz="2400" dirty="0"/>
              <a:t>Equipment and installation costs.</a:t>
            </a:r>
          </a:p>
          <a:p>
            <a:r>
              <a:rPr lang="en-US" sz="2400" dirty="0"/>
              <a:t>System Compatibility.</a:t>
            </a:r>
            <a:endParaRPr lang="en-US" sz="2400" b="1" dirty="0"/>
          </a:p>
          <a:p>
            <a:r>
              <a:rPr lang="en-US" sz="2400" dirty="0"/>
              <a:t>Human errors.</a:t>
            </a:r>
          </a:p>
          <a:p>
            <a:endParaRPr lang="en-US" sz="2400" dirty="0"/>
          </a:p>
          <a:p>
            <a:endParaRPr lang="en-US" b="1" dirty="0"/>
          </a:p>
        </p:txBody>
      </p:sp>
      <p:pic>
        <p:nvPicPr>
          <p:cNvPr id="4" name="Picture 3" descr="C:\Users\kanan\AppData\Local\Microsoft\Windows\INetCacheContent.Word\h-m-2.jpg"/>
          <p:cNvPicPr/>
          <p:nvPr/>
        </p:nvPicPr>
        <p:blipFill>
          <a:blip r:embed="rId2">
            <a:extLst>
              <a:ext uri="{28A0092B-C50C-407E-A947-70E740481C1C}">
                <a14:useLocalDpi xmlns:a14="http://schemas.microsoft.com/office/drawing/2010/main" val="0"/>
              </a:ext>
            </a:extLst>
          </a:blip>
          <a:srcRect/>
          <a:stretch>
            <a:fillRect/>
          </a:stretch>
        </p:blipFill>
        <p:spPr bwMode="auto">
          <a:xfrm>
            <a:off x="6930254" y="2857766"/>
            <a:ext cx="2608580" cy="2608580"/>
          </a:xfrm>
          <a:prstGeom prst="rect">
            <a:avLst/>
          </a:prstGeom>
          <a:noFill/>
          <a:ln>
            <a:noFill/>
          </a:ln>
        </p:spPr>
      </p:pic>
    </p:spTree>
    <p:extLst>
      <p:ext uri="{BB962C8B-B14F-4D97-AF65-F5344CB8AC3E}">
        <p14:creationId xmlns:p14="http://schemas.microsoft.com/office/powerpoint/2010/main" val="186874181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83372" y="726656"/>
            <a:ext cx="6571343" cy="1049235"/>
          </a:xfrm>
        </p:spPr>
        <p:txBody>
          <a:bodyPr/>
          <a:lstStyle/>
          <a:p>
            <a:r>
              <a:rPr lang="en-US" dirty="0"/>
              <a:t>Technology used:</a:t>
            </a:r>
          </a:p>
        </p:txBody>
      </p:sp>
      <p:sp>
        <p:nvSpPr>
          <p:cNvPr id="3" name="Content Placeholder 2"/>
          <p:cNvSpPr>
            <a:spLocks noGrp="1"/>
          </p:cNvSpPr>
          <p:nvPr>
            <p:ph idx="1"/>
          </p:nvPr>
        </p:nvSpPr>
        <p:spPr>
          <a:xfrm>
            <a:off x="2483371" y="1880821"/>
            <a:ext cx="7055464" cy="3755480"/>
          </a:xfrm>
        </p:spPr>
        <p:txBody>
          <a:bodyPr/>
          <a:lstStyle/>
          <a:p>
            <a:pPr marL="0" lvl="1" indent="0">
              <a:buClr>
                <a:schemeClr val="accent3"/>
              </a:buClr>
              <a:buSzPct val="95000"/>
              <a:buNone/>
            </a:pPr>
            <a:r>
              <a:rPr lang="en-US" sz="2600" b="1" dirty="0">
                <a:solidFill>
                  <a:schemeClr val="tx1">
                    <a:lumMod val="95000"/>
                    <a:lumOff val="5000"/>
                  </a:schemeClr>
                </a:solidFill>
              </a:rPr>
              <a:t>   Arduino Uno</a:t>
            </a:r>
          </a:p>
          <a:p>
            <a:pPr lvl="1"/>
            <a:r>
              <a:rPr lang="en-US" sz="2000" dirty="0"/>
              <a:t>The main piece in our project is an </a:t>
            </a:r>
            <a:r>
              <a:rPr lang="en-US" sz="2000" dirty="0" err="1"/>
              <a:t>arduino</a:t>
            </a:r>
            <a:r>
              <a:rPr lang="en-US" sz="2000" dirty="0"/>
              <a:t> ATmega328 kit attached by GPRS/GSM Shield.</a:t>
            </a:r>
          </a:p>
          <a:p>
            <a:pPr marL="0" indent="0">
              <a:buNone/>
            </a:pPr>
            <a:endParaRPr lang="en-US" dirty="0"/>
          </a:p>
        </p:txBody>
      </p:sp>
      <p:pic>
        <p:nvPicPr>
          <p:cNvPr id="5" name="Picture 4" descr="E:\Users\audai\السنةالخامسة\Graduation project 2\Images\download.jpg"/>
          <p:cNvPicPr/>
          <p:nvPr/>
        </p:nvPicPr>
        <p:blipFill>
          <a:blip r:embed="rId2">
            <a:extLst>
              <a:ext uri="{28A0092B-C50C-407E-A947-70E740481C1C}">
                <a14:useLocalDpi xmlns:a14="http://schemas.microsoft.com/office/drawing/2010/main" val="0"/>
              </a:ext>
            </a:extLst>
          </a:blip>
          <a:srcRect/>
          <a:stretch>
            <a:fillRect/>
          </a:stretch>
        </p:blipFill>
        <p:spPr bwMode="auto">
          <a:xfrm>
            <a:off x="2618282" y="3372787"/>
            <a:ext cx="5426439" cy="2263514"/>
          </a:xfrm>
          <a:prstGeom prst="rect">
            <a:avLst/>
          </a:prstGeom>
          <a:noFill/>
          <a:ln>
            <a:noFill/>
          </a:ln>
        </p:spPr>
      </p:pic>
    </p:spTree>
    <p:extLst>
      <p:ext uri="{BB962C8B-B14F-4D97-AF65-F5344CB8AC3E}">
        <p14:creationId xmlns:p14="http://schemas.microsoft.com/office/powerpoint/2010/main" val="180218253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459250" y="1368968"/>
            <a:ext cx="6589200" cy="1269991"/>
          </a:xfrm>
        </p:spPr>
        <p:txBody>
          <a:bodyPr>
            <a:normAutofit fontScale="90000"/>
          </a:bodyPr>
          <a:lstStyle/>
          <a:p>
            <a:r>
              <a:rPr lang="en-US" sz="4000" b="1" dirty="0">
                <a:latin typeface="Times New Roman" panose="02020603050405020304" pitchFamily="18" charset="0"/>
                <a:cs typeface="Times New Roman" panose="02020603050405020304" pitchFamily="18" charset="0"/>
              </a:rPr>
              <a:t>CONTENT:</a:t>
            </a:r>
            <a:r>
              <a:rPr lang="en-US" sz="2400" b="1" dirty="0">
                <a:latin typeface="Times New Roman" panose="02020603050405020304" pitchFamily="18" charset="0"/>
                <a:cs typeface="Times New Roman" panose="02020603050405020304" pitchFamily="18" charset="0"/>
              </a:rPr>
              <a:t/>
            </a: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 </a:t>
            </a: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 </a:t>
            </a:r>
            <a:r>
              <a:rPr lang="en-US" sz="2700" b="1" dirty="0">
                <a:latin typeface="Times New Roman" panose="02020603050405020304" pitchFamily="18" charset="0"/>
                <a:cs typeface="Times New Roman" panose="02020603050405020304" pitchFamily="18" charset="0"/>
              </a:rPr>
              <a:t/>
            </a:r>
            <a:br>
              <a:rPr lang="en-US" sz="2700" b="1" dirty="0">
                <a:latin typeface="Times New Roman" panose="02020603050405020304" pitchFamily="18" charset="0"/>
                <a:cs typeface="Times New Roman" panose="02020603050405020304" pitchFamily="18" charset="0"/>
              </a:rPr>
            </a:br>
            <a:endParaRPr lang="en-US" sz="2700" b="1" dirty="0">
              <a:latin typeface="Times New Roman" panose="02020603050405020304" pitchFamily="18" charset="0"/>
              <a:cs typeface="Times New Roman" panose="02020603050405020304" pitchFamily="18" charset="0"/>
            </a:endParaRPr>
          </a:p>
        </p:txBody>
      </p:sp>
      <p:pic>
        <p:nvPicPr>
          <p:cNvPr id="9" name="Picture 8"/>
          <p:cNvPicPr>
            <a:picLocks noChangeAspect="1"/>
          </p:cNvPicPr>
          <p:nvPr/>
        </p:nvPicPr>
        <p:blipFill>
          <a:blip r:embed="rId2"/>
          <a:stretch>
            <a:fillRect/>
          </a:stretch>
        </p:blipFill>
        <p:spPr>
          <a:xfrm>
            <a:off x="6449901" y="2638959"/>
            <a:ext cx="2267032" cy="2561274"/>
          </a:xfrm>
          <a:prstGeom prst="rect">
            <a:avLst/>
          </a:prstGeom>
        </p:spPr>
      </p:pic>
      <p:sp>
        <p:nvSpPr>
          <p:cNvPr id="2" name="Rectangle 1"/>
          <p:cNvSpPr/>
          <p:nvPr/>
        </p:nvSpPr>
        <p:spPr>
          <a:xfrm>
            <a:off x="1459250" y="2924788"/>
            <a:ext cx="4572001" cy="3323987"/>
          </a:xfrm>
          <a:prstGeom prst="rect">
            <a:avLst/>
          </a:prstGeom>
        </p:spPr>
        <p:txBody>
          <a:bodyPr>
            <a:spAutoFit/>
          </a:bodyPr>
          <a:lstStyle/>
          <a:p>
            <a:pPr marL="285750" indent="-28575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Introduction</a:t>
            </a:r>
          </a:p>
          <a:p>
            <a:pPr marL="285750" indent="-28575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Components used</a:t>
            </a:r>
          </a:p>
          <a:p>
            <a:pPr marL="285750" indent="-28575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Bluetooth module</a:t>
            </a:r>
          </a:p>
          <a:p>
            <a:pPr marL="285750" indent="-28575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Relays</a:t>
            </a:r>
          </a:p>
          <a:p>
            <a:pPr marL="285750" indent="-28575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Screen shots</a:t>
            </a:r>
          </a:p>
          <a:p>
            <a:pPr marL="285750" indent="-285750">
              <a:buFont typeface="Arial" panose="020B0604020202020204" pitchFamily="34" charset="0"/>
              <a:buChar char="•"/>
            </a:pPr>
            <a:r>
              <a:rPr lang="en-US" sz="2400" b="1" dirty="0">
                <a:latin typeface="Times New Roman" panose="02020603050405020304" pitchFamily="18" charset="0"/>
              </a:rPr>
              <a:t>Implementation</a:t>
            </a:r>
          </a:p>
          <a:p>
            <a:pPr marL="285750" indent="-285750">
              <a:buFont typeface="Arial" panose="020B0604020202020204" pitchFamily="34" charset="0"/>
              <a:buChar char="•"/>
            </a:pPr>
            <a:r>
              <a:rPr lang="en-US" sz="2400" b="1" dirty="0">
                <a:latin typeface="Times New Roman" panose="02020603050405020304" pitchFamily="18" charset="0"/>
              </a:rPr>
              <a:t> Android ADK</a:t>
            </a:r>
          </a:p>
          <a:p>
            <a:pPr marL="285750" indent="-285750">
              <a:buFont typeface="Arial" panose="020B0604020202020204" pitchFamily="34" charset="0"/>
              <a:buChar char="•"/>
            </a:pPr>
            <a:r>
              <a:rPr lang="en-US" sz="2400" b="1" dirty="0">
                <a:latin typeface="Times New Roman" panose="02020603050405020304" pitchFamily="18" charset="0"/>
              </a:rPr>
              <a:t> Software design</a:t>
            </a:r>
          </a:p>
          <a:p>
            <a:endParaRPr lang="en-US" dirty="0"/>
          </a:p>
        </p:txBody>
      </p:sp>
    </p:spTree>
    <p:extLst>
      <p:ext uri="{BB962C8B-B14F-4D97-AF65-F5344CB8AC3E}">
        <p14:creationId xmlns:p14="http://schemas.microsoft.com/office/powerpoint/2010/main" val="355092428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CONTENT:</a:t>
            </a:r>
            <a:endParaRPr lang="en-US" sz="4000" dirty="0"/>
          </a:p>
        </p:txBody>
      </p:sp>
      <p:sp>
        <p:nvSpPr>
          <p:cNvPr id="3" name="Content Placeholder 2"/>
          <p:cNvSpPr>
            <a:spLocks noGrp="1"/>
          </p:cNvSpPr>
          <p:nvPr>
            <p:ph idx="1"/>
          </p:nvPr>
        </p:nvSpPr>
        <p:spPr/>
        <p:txBody>
          <a:bodyPr/>
          <a:lstStyle/>
          <a:p>
            <a:pPr>
              <a:buFont typeface="Wingdings" panose="05000000000000000000" pitchFamily="2" charset="2"/>
              <a:buChar char="§"/>
            </a:pPr>
            <a:r>
              <a:rPr lang="en-US" b="1" dirty="0">
                <a:latin typeface="Times New Roman" panose="02020603050405020304" pitchFamily="18" charset="0"/>
              </a:rPr>
              <a:t>Block diagram and hardware  design .</a:t>
            </a:r>
          </a:p>
          <a:p>
            <a:pPr>
              <a:buFont typeface="Wingdings" panose="05000000000000000000" pitchFamily="2" charset="2"/>
              <a:buChar char="§"/>
            </a:pPr>
            <a:r>
              <a:rPr lang="en-US" b="1" dirty="0">
                <a:latin typeface="Times New Roman" panose="02020603050405020304" pitchFamily="18" charset="0"/>
              </a:rPr>
              <a:t>Home automation.</a:t>
            </a:r>
          </a:p>
          <a:p>
            <a:pPr>
              <a:buFont typeface="Wingdings" panose="05000000000000000000" pitchFamily="2" charset="2"/>
              <a:buChar char="§"/>
            </a:pPr>
            <a:r>
              <a:rPr lang="en-US" b="1" dirty="0">
                <a:latin typeface="Times New Roman" panose="02020603050405020304" pitchFamily="18" charset="0"/>
              </a:rPr>
              <a:t>Conclusion.</a:t>
            </a:r>
            <a:br>
              <a:rPr lang="en-US" b="1" dirty="0">
                <a:latin typeface="Times New Roman" panose="02020603050405020304" pitchFamily="18" charset="0"/>
              </a:rPr>
            </a:br>
            <a:endParaRPr lang="en-US" dirty="0"/>
          </a:p>
        </p:txBody>
      </p:sp>
      <p:sp>
        <p:nvSpPr>
          <p:cNvPr id="4" name="Rectangle 3"/>
          <p:cNvSpPr/>
          <p:nvPr/>
        </p:nvSpPr>
        <p:spPr>
          <a:xfrm>
            <a:off x="5423380" y="3244334"/>
            <a:ext cx="242374" cy="369332"/>
          </a:xfrm>
          <a:prstGeom prst="rect">
            <a:avLst/>
          </a:prstGeom>
        </p:spPr>
        <p:txBody>
          <a:bodyPr wrap="none">
            <a:spAutoFit/>
          </a:bodyPr>
          <a:lstStyle/>
          <a:p>
            <a:r>
              <a:rPr lang="en-US" b="1" dirty="0">
                <a:latin typeface="Times New Roman" panose="02020603050405020304" pitchFamily="18" charset="0"/>
              </a:rPr>
              <a:t> </a:t>
            </a:r>
            <a:endParaRPr lang="en-US" dirty="0"/>
          </a:p>
        </p:txBody>
      </p:sp>
    </p:spTree>
    <p:extLst>
      <p:ext uri="{BB962C8B-B14F-4D97-AF65-F5344CB8AC3E}">
        <p14:creationId xmlns:p14="http://schemas.microsoft.com/office/powerpoint/2010/main" val="145178640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991529" y="637758"/>
            <a:ext cx="7075970" cy="645132"/>
          </a:xfrm>
        </p:spPr>
        <p:txBody>
          <a:bodyPr>
            <a:normAutofit fontScale="90000"/>
          </a:bodyPr>
          <a:lstStyle/>
          <a:p>
            <a:r>
              <a:rPr lang="en-US" b="1" dirty="0">
                <a:latin typeface="Times New Roman" panose="02020603050405020304" pitchFamily="18" charset="0"/>
                <a:cs typeface="Times New Roman" panose="02020603050405020304" pitchFamily="18" charset="0"/>
              </a:rPr>
              <a:t>INTRODUCTION</a:t>
            </a:r>
          </a:p>
        </p:txBody>
      </p:sp>
      <p:sp>
        <p:nvSpPr>
          <p:cNvPr id="4" name="Content Placeholder 3"/>
          <p:cNvSpPr>
            <a:spLocks noGrp="1"/>
          </p:cNvSpPr>
          <p:nvPr>
            <p:ph idx="1"/>
          </p:nvPr>
        </p:nvSpPr>
        <p:spPr>
          <a:xfrm>
            <a:off x="2991530" y="1918816"/>
            <a:ext cx="6879591" cy="4212161"/>
          </a:xfrm>
        </p:spPr>
        <p:txBody>
          <a:bodyPr>
            <a:normAutofit/>
          </a:bodyPr>
          <a:lstStyle/>
          <a:p>
            <a:r>
              <a:rPr lang="en-US" sz="2400" dirty="0">
                <a:latin typeface="Times New Roman" panose="02020603050405020304" pitchFamily="18" charset="0"/>
                <a:cs typeface="Times New Roman" panose="02020603050405020304" pitchFamily="18" charset="0"/>
              </a:rPr>
              <a:t>There is an increasing demand for smart homes, where appliances react automatically to changing environmental conditions and can be easily controlled through one common device.</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This paper presents a possible solution whereby the user controls devices by employing a central </a:t>
            </a:r>
            <a:r>
              <a:rPr lang="en-US" sz="2400" b="1" dirty="0">
                <a:latin typeface="Times New Roman" panose="02020603050405020304" pitchFamily="18" charset="0"/>
                <a:cs typeface="Times New Roman" panose="02020603050405020304" pitchFamily="18" charset="0"/>
              </a:rPr>
              <a:t>Field Programmable Gate Array</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FPGA</a:t>
            </a:r>
            <a:r>
              <a:rPr lang="en-US" sz="2400" dirty="0">
                <a:latin typeface="Times New Roman" panose="02020603050405020304" pitchFamily="18" charset="0"/>
                <a:cs typeface="Times New Roman" panose="02020603050405020304" pitchFamily="18" charset="0"/>
              </a:rPr>
              <a:t>), where control is communicated to the FPGA from a mobile phone through its Bluetooth interface.</a:t>
            </a:r>
          </a:p>
        </p:txBody>
      </p:sp>
    </p:spTree>
    <p:extLst>
      <p:ext uri="{BB962C8B-B14F-4D97-AF65-F5344CB8AC3E}">
        <p14:creationId xmlns:p14="http://schemas.microsoft.com/office/powerpoint/2010/main" val="399462940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2473" y="665054"/>
            <a:ext cx="7035026" cy="686075"/>
          </a:xfrm>
        </p:spPr>
        <p:txBody>
          <a:bodyPr>
            <a:normAutofit fontScale="90000"/>
          </a:bodyPr>
          <a:lstStyle/>
          <a:p>
            <a:r>
              <a:rPr lang="en-US" b="1" dirty="0">
                <a:latin typeface="Times New Roman" panose="02020603050405020304" pitchFamily="18" charset="0"/>
                <a:cs typeface="Times New Roman" panose="02020603050405020304" pitchFamily="18" charset="0"/>
              </a:rPr>
              <a:t>COMPONETNS USED:</a:t>
            </a:r>
          </a:p>
        </p:txBody>
      </p:sp>
      <p:sp>
        <p:nvSpPr>
          <p:cNvPr id="3" name="Content Placeholder 2"/>
          <p:cNvSpPr>
            <a:spLocks noGrp="1"/>
          </p:cNvSpPr>
          <p:nvPr>
            <p:ph idx="1"/>
          </p:nvPr>
        </p:nvSpPr>
        <p:spPr>
          <a:xfrm>
            <a:off x="3032473" y="1932464"/>
            <a:ext cx="6849610" cy="3868731"/>
          </a:xfrm>
        </p:spPr>
        <p:txBody>
          <a:bodyPr>
            <a:normAutofit/>
          </a:bodyPr>
          <a:lstStyle/>
          <a:p>
            <a:r>
              <a:rPr lang="en-US" sz="2400" b="1" dirty="0">
                <a:latin typeface="Times New Roman" panose="02020603050405020304" pitchFamily="18" charset="0"/>
                <a:cs typeface="Times New Roman" panose="02020603050405020304" pitchFamily="18" charset="0"/>
              </a:rPr>
              <a:t>The Main components used :</a:t>
            </a:r>
          </a:p>
          <a:p>
            <a:pPr marL="0" indent="0">
              <a:buNone/>
            </a:pPr>
            <a:r>
              <a:rPr lang="en-US" sz="2400" b="1" dirty="0">
                <a:latin typeface="Times New Roman" panose="02020603050405020304" pitchFamily="18" charset="0"/>
                <a:cs typeface="Times New Roman" panose="02020603050405020304" pitchFamily="18" charset="0"/>
              </a:rPr>
              <a:t>                1)  Bluetooth module .</a:t>
            </a:r>
          </a:p>
          <a:p>
            <a:pPr marL="0" indent="0">
              <a:buNone/>
            </a:pPr>
            <a:r>
              <a:rPr lang="en-US" sz="2400" b="1" dirty="0">
                <a:latin typeface="Times New Roman" panose="02020603050405020304" pitchFamily="18" charset="0"/>
                <a:cs typeface="Times New Roman" panose="02020603050405020304" pitchFamily="18" charset="0"/>
              </a:rPr>
              <a:t>                 </a:t>
            </a:r>
          </a:p>
          <a:p>
            <a:pPr marL="0" indent="0">
              <a:buNone/>
            </a:pPr>
            <a:r>
              <a:rPr lang="en-US" sz="2400" b="1" dirty="0">
                <a:latin typeface="Times New Roman" panose="02020603050405020304" pitchFamily="18" charset="0"/>
                <a:cs typeface="Times New Roman" panose="02020603050405020304" pitchFamily="18" charset="0"/>
              </a:rPr>
              <a:t>                         2)  Relay.</a:t>
            </a:r>
          </a:p>
        </p:txBody>
      </p:sp>
    </p:spTree>
    <p:extLst>
      <p:ext uri="{BB962C8B-B14F-4D97-AF65-F5344CB8AC3E}">
        <p14:creationId xmlns:p14="http://schemas.microsoft.com/office/powerpoint/2010/main" val="14989570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9D67D-9B8A-504A-9C89-0391AD18C99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B81E5AB-ECD1-3947-9779-193EC91A0F99}"/>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38002560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48050" y="591534"/>
            <a:ext cx="2629584" cy="685421"/>
          </a:xfrm>
        </p:spPr>
        <p:txBody>
          <a:bodyPr>
            <a:normAutofit/>
          </a:bodyPr>
          <a:lstStyle/>
          <a:p>
            <a:r>
              <a:rPr lang="en-US" sz="3600" b="1" dirty="0">
                <a:latin typeface="Times New Roman" panose="02020603050405020304" pitchFamily="18" charset="0"/>
                <a:cs typeface="Times New Roman" panose="02020603050405020304" pitchFamily="18" charset="0"/>
              </a:rPr>
              <a:t>Relay :</a:t>
            </a:r>
          </a:p>
        </p:txBody>
      </p:sp>
      <p:sp>
        <p:nvSpPr>
          <p:cNvPr id="4" name="Text Placeholder 3"/>
          <p:cNvSpPr>
            <a:spLocks noGrp="1"/>
          </p:cNvSpPr>
          <p:nvPr>
            <p:ph type="body" sz="half" idx="2"/>
          </p:nvPr>
        </p:nvSpPr>
        <p:spPr>
          <a:xfrm>
            <a:off x="6441627" y="1621180"/>
            <a:ext cx="3857884" cy="4262436"/>
          </a:xfrm>
        </p:spPr>
        <p:txBody>
          <a:bodyPr>
            <a:normAutofit/>
          </a:bodyPr>
          <a:lstStyle/>
          <a:p>
            <a:pPr marL="285750" indent="-28575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 relay is an electrically operated switch.</a:t>
            </a:r>
          </a:p>
          <a:p>
            <a:pPr marL="285750" indent="-28575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Relays are used where it is necessary to control a circuit by a low-power signal.</a:t>
            </a:r>
          </a:p>
          <a:p>
            <a:pPr marL="285750" indent="-28575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Relays protect electrical circuits from overload or faults.</a:t>
            </a:r>
          </a:p>
        </p:txBody>
      </p:sp>
      <p:pic>
        <p:nvPicPr>
          <p:cNvPr id="1027" name="Picture 3" descr="imag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8046" y="2308117"/>
            <a:ext cx="3639589" cy="2888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1105674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solidFill>
                  <a:schemeClr val="tx1">
                    <a:lumMod val="95000"/>
                    <a:lumOff val="5000"/>
                  </a:schemeClr>
                </a:solidFill>
                <a:latin typeface="Times New Roman" panose="02020603050405020304" pitchFamily="18" charset="0"/>
                <a:cs typeface="Times New Roman" panose="02020603050405020304" pitchFamily="18" charset="0"/>
              </a:rPr>
              <a:t>Relay working :</a:t>
            </a: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67492" y="2241478"/>
            <a:ext cx="6786109" cy="33630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8694310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solidFill>
                  <a:schemeClr val="tx1">
                    <a:lumMod val="85000"/>
                    <a:lumOff val="15000"/>
                  </a:schemeClr>
                </a:solidFill>
                <a:latin typeface="Times New Roman" panose="02020603050405020304" pitchFamily="18" charset="0"/>
                <a:cs typeface="Times New Roman" panose="02020603050405020304" pitchFamily="18" charset="0"/>
              </a:rPr>
              <a:t>Interface</a:t>
            </a:r>
            <a:r>
              <a:rPr lang="en-US" dirty="0">
                <a:solidFill>
                  <a:schemeClr val="tx1">
                    <a:lumMod val="95000"/>
                    <a:lumOff val="5000"/>
                  </a:schemeClr>
                </a:solidFill>
              </a:rPr>
              <a:t> :</a:t>
            </a:r>
          </a:p>
        </p:txBody>
      </p:sp>
      <p:pic>
        <p:nvPicPr>
          <p:cNvPr id="6"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967491" y="2099093"/>
            <a:ext cx="6571343" cy="3436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7046168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67491" y="519708"/>
            <a:ext cx="6571343" cy="1211213"/>
          </a:xfrm>
        </p:spPr>
        <p:txBody>
          <a:bodyPr>
            <a:normAutofit/>
          </a:bodyPr>
          <a:lstStyle/>
          <a:p>
            <a:r>
              <a:rPr lang="en-US" sz="2800" b="1" dirty="0">
                <a:solidFill>
                  <a:schemeClr val="tx1">
                    <a:lumMod val="95000"/>
                    <a:lumOff val="5000"/>
                  </a:schemeClr>
                </a:solidFill>
                <a:latin typeface="Times New Roman" panose="02020603050405020304" pitchFamily="18" charset="0"/>
                <a:cs typeface="Times New Roman" panose="02020603050405020304" pitchFamily="18" charset="0"/>
              </a:rPr>
              <a:t>PROTUES  Connection(circuit diagram ) </a:t>
            </a:r>
            <a:endParaRPr lang="en-US" sz="28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pic>
        <p:nvPicPr>
          <p:cNvPr id="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967491" y="2176033"/>
            <a:ext cx="6571343" cy="3595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8311246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67492" y="774541"/>
            <a:ext cx="6571343" cy="1049235"/>
          </a:xfrm>
        </p:spPr>
        <p:txBody>
          <a:bodyPr>
            <a:normAutofit fontScale="90000"/>
          </a:bodyPr>
          <a:lstStyle/>
          <a:p>
            <a:r>
              <a:rPr lang="en-US" b="1" dirty="0">
                <a:solidFill>
                  <a:schemeClr val="tx1">
                    <a:lumMod val="95000"/>
                    <a:lumOff val="5000"/>
                  </a:schemeClr>
                </a:solidFill>
                <a:latin typeface="Times New Roman" panose="02020603050405020304" pitchFamily="18" charset="0"/>
                <a:cs typeface="Times New Roman" panose="02020603050405020304" pitchFamily="18" charset="0"/>
              </a:rPr>
              <a:t>Working Explanation:</a:t>
            </a:r>
            <a:r>
              <a:rPr lang="en-US" b="1" dirty="0"/>
              <a:t/>
            </a:r>
            <a:br>
              <a:rPr lang="en-US" b="1" dirty="0"/>
            </a:br>
            <a:endParaRPr lang="en-US" dirty="0"/>
          </a:p>
        </p:txBody>
      </p:sp>
      <p:sp>
        <p:nvSpPr>
          <p:cNvPr id="3" name="Content Placeholder 2"/>
          <p:cNvSpPr>
            <a:spLocks noGrp="1"/>
          </p:cNvSpPr>
          <p:nvPr>
            <p:ph idx="1"/>
          </p:nvPr>
        </p:nvSpPr>
        <p:spPr/>
        <p:txBody>
          <a:bodyPr>
            <a:normAutofit/>
          </a:bodyPr>
          <a:lstStyle/>
          <a:p>
            <a:pPr algn="just"/>
            <a:r>
              <a:rPr lang="en-US" sz="2100" dirty="0">
                <a:solidFill>
                  <a:schemeClr val="tx1">
                    <a:lumMod val="95000"/>
                    <a:lumOff val="5000"/>
                  </a:schemeClr>
                </a:solidFill>
                <a:cs typeface="+mj-cs"/>
              </a:rPr>
              <a:t>First we need to download and install the </a:t>
            </a:r>
            <a:r>
              <a:rPr lang="en-US" sz="2100" b="1" dirty="0">
                <a:solidFill>
                  <a:schemeClr val="tx1">
                    <a:lumMod val="95000"/>
                    <a:lumOff val="5000"/>
                  </a:schemeClr>
                </a:solidFill>
                <a:cs typeface="+mj-cs"/>
              </a:rPr>
              <a:t>Bluetooth Terminal App </a:t>
            </a:r>
            <a:r>
              <a:rPr lang="en-US" sz="2100" dirty="0">
                <a:solidFill>
                  <a:schemeClr val="tx1">
                    <a:lumMod val="95000"/>
                    <a:lumOff val="5000"/>
                  </a:schemeClr>
                </a:solidFill>
                <a:cs typeface="+mj-cs"/>
              </a:rPr>
              <a:t>in our Android Phone from the Play Store and then pair it with </a:t>
            </a:r>
            <a:r>
              <a:rPr lang="en-US" sz="2100" b="1" dirty="0">
                <a:solidFill>
                  <a:schemeClr val="tx1">
                    <a:lumMod val="95000"/>
                    <a:lumOff val="5000"/>
                  </a:schemeClr>
                </a:solidFill>
                <a:cs typeface="+mj-cs"/>
              </a:rPr>
              <a:t>Bluetooth Module HC05</a:t>
            </a:r>
            <a:r>
              <a:rPr lang="en-US" sz="2100" dirty="0">
                <a:solidFill>
                  <a:schemeClr val="tx1">
                    <a:lumMod val="95000"/>
                    <a:lumOff val="5000"/>
                  </a:schemeClr>
                </a:solidFill>
                <a:cs typeface="+mj-cs"/>
              </a:rPr>
              <a:t> like we normally pair 2 </a:t>
            </a:r>
            <a:r>
              <a:rPr lang="en-US" sz="2100" dirty="0" err="1">
                <a:solidFill>
                  <a:schemeClr val="tx1">
                    <a:lumMod val="95000"/>
                    <a:lumOff val="5000"/>
                  </a:schemeClr>
                </a:solidFill>
                <a:cs typeface="+mj-cs"/>
              </a:rPr>
              <a:t>bluetooth</a:t>
            </a:r>
            <a:r>
              <a:rPr lang="en-US" sz="2100" dirty="0">
                <a:solidFill>
                  <a:schemeClr val="tx1">
                    <a:lumMod val="95000"/>
                    <a:lumOff val="5000"/>
                  </a:schemeClr>
                </a:solidFill>
                <a:cs typeface="+mj-cs"/>
              </a:rPr>
              <a:t> devices.                                  .                                                                                                               </a:t>
            </a:r>
          </a:p>
          <a:p>
            <a:pPr algn="just"/>
            <a:r>
              <a:rPr lang="en-US" sz="2100" dirty="0">
                <a:solidFill>
                  <a:schemeClr val="tx1">
                    <a:lumMod val="95000"/>
                    <a:lumOff val="5000"/>
                  </a:schemeClr>
                </a:solidFill>
                <a:cs typeface="+mj-cs"/>
              </a:rPr>
              <a:t>Now we have Bluetooth Terminal App installed in our Android phone through which we can send data to Bluetooth ModuleHC05. HC05 Bluetooth Module is connected to </a:t>
            </a:r>
            <a:r>
              <a:rPr lang="en-US" sz="2100" b="1" dirty="0">
                <a:solidFill>
                  <a:schemeClr val="tx1">
                    <a:lumMod val="95000"/>
                    <a:lumOff val="5000"/>
                  </a:schemeClr>
                </a:solidFill>
                <a:cs typeface="+mj-cs"/>
              </a:rPr>
              <a:t>Arduino Mega</a:t>
            </a:r>
            <a:r>
              <a:rPr lang="en-US" sz="2100" dirty="0">
                <a:solidFill>
                  <a:schemeClr val="tx1">
                    <a:lumMod val="95000"/>
                    <a:lumOff val="5000"/>
                  </a:schemeClr>
                </a:solidFill>
                <a:cs typeface="+mj-cs"/>
              </a:rPr>
              <a:t> to serially receive the data sent by Bluetooth terminal App through Android Smart Phone. A 16x2LCD is used to display the On and Off status of Electronic Appliances. And is used 8 Relay which are directly connected to 7 </a:t>
            </a:r>
            <a:r>
              <a:rPr lang="en-US" sz="2100" dirty="0" err="1">
                <a:solidFill>
                  <a:schemeClr val="tx1">
                    <a:lumMod val="95000"/>
                    <a:lumOff val="5000"/>
                  </a:schemeClr>
                </a:solidFill>
                <a:cs typeface="+mj-cs"/>
              </a:rPr>
              <a:t>Buls</a:t>
            </a:r>
            <a:r>
              <a:rPr lang="en-US" sz="2100" dirty="0">
                <a:solidFill>
                  <a:schemeClr val="tx1">
                    <a:lumMod val="95000"/>
                    <a:lumOff val="5000"/>
                  </a:schemeClr>
                </a:solidFill>
                <a:cs typeface="+mj-cs"/>
              </a:rPr>
              <a:t>.                                                                                                </a:t>
            </a:r>
            <a:endParaRPr lang="ar-EG" sz="2100" dirty="0">
              <a:solidFill>
                <a:schemeClr val="tx1">
                  <a:lumMod val="95000"/>
                  <a:lumOff val="5000"/>
                </a:schemeClr>
              </a:solidFill>
              <a:cs typeface="+mj-cs"/>
            </a:endParaRPr>
          </a:p>
          <a:p>
            <a:endParaRPr lang="en-US" dirty="0"/>
          </a:p>
        </p:txBody>
      </p:sp>
    </p:spTree>
    <p:extLst>
      <p:ext uri="{BB962C8B-B14F-4D97-AF65-F5344CB8AC3E}">
        <p14:creationId xmlns:p14="http://schemas.microsoft.com/office/powerpoint/2010/main" val="39973860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lumMod val="95000"/>
                    <a:lumOff val="5000"/>
                  </a:schemeClr>
                </a:solidFill>
                <a:latin typeface="Times New Roman" panose="02020603050405020304" pitchFamily="18" charset="0"/>
                <a:cs typeface="Times New Roman" panose="02020603050405020304" pitchFamily="18" charset="0"/>
              </a:rPr>
              <a:t>Working  </a:t>
            </a:r>
            <a:r>
              <a:rPr lang="en-US" dirty="0" err="1">
                <a:solidFill>
                  <a:schemeClr val="tx1">
                    <a:lumMod val="95000"/>
                    <a:lumOff val="5000"/>
                  </a:schemeClr>
                </a:solidFill>
                <a:latin typeface="Times New Roman" panose="02020603050405020304" pitchFamily="18" charset="0"/>
                <a:cs typeface="Times New Roman" panose="02020603050405020304" pitchFamily="18" charset="0"/>
              </a:rPr>
              <a:t>Exeplanation</a:t>
            </a:r>
            <a:r>
              <a:rPr lang="en-US" dirty="0">
                <a:solidFill>
                  <a:schemeClr val="tx1">
                    <a:lumMod val="95000"/>
                    <a:lumOff val="5000"/>
                  </a:schemeClr>
                </a:solidFill>
                <a:latin typeface="Times New Roman" panose="02020603050405020304" pitchFamily="18" charset="0"/>
                <a:cs typeface="Times New Roman" panose="02020603050405020304" pitchFamily="18" charset="0"/>
              </a:rPr>
              <a:t>:</a:t>
            </a:r>
          </a:p>
        </p:txBody>
      </p:sp>
      <p:pic>
        <p:nvPicPr>
          <p:cNvPr id="4" name="Content Placeholder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967492" y="2181016"/>
            <a:ext cx="6571343" cy="3695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0502945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lumMod val="95000"/>
                    <a:lumOff val="5000"/>
                  </a:schemeClr>
                </a:solidFill>
                <a:latin typeface="Times New Roman" panose="02020603050405020304" pitchFamily="18" charset="0"/>
                <a:cs typeface="Times New Roman" panose="02020603050405020304" pitchFamily="18" charset="0"/>
              </a:rPr>
              <a:t>Bluetooth App :</a:t>
            </a:r>
          </a:p>
        </p:txBody>
      </p:sp>
      <p:sp>
        <p:nvSpPr>
          <p:cNvPr id="3" name="Content Placeholder 2"/>
          <p:cNvSpPr>
            <a:spLocks noGrp="1"/>
          </p:cNvSpPr>
          <p:nvPr>
            <p:ph idx="1"/>
          </p:nvPr>
        </p:nvSpPr>
        <p:spPr/>
        <p:txBody>
          <a:bodyPr/>
          <a:lstStyle/>
          <a:p>
            <a:pPr lvl="0" algn="just">
              <a:buFont typeface="Wingdings" panose="05000000000000000000" pitchFamily="2" charset="2"/>
              <a:buChar char="§"/>
            </a:pPr>
            <a:r>
              <a:rPr lang="en-US" sz="2400" dirty="0">
                <a:solidFill>
                  <a:schemeClr val="tx1">
                    <a:lumMod val="95000"/>
                    <a:lumOff val="5000"/>
                  </a:schemeClr>
                </a:solidFill>
                <a:latin typeface="Times New Roman" panose="02020603050405020304" pitchFamily="18" charset="0"/>
                <a:cs typeface="Times New Roman" panose="02020603050405020304" pitchFamily="18" charset="0"/>
              </a:rPr>
              <a:t>Download and install Bluetooth Controller.</a:t>
            </a:r>
          </a:p>
          <a:p>
            <a:pPr lvl="0" algn="just">
              <a:buFont typeface="Wingdings" panose="05000000000000000000" pitchFamily="2" charset="2"/>
              <a:buChar char="§"/>
            </a:pPr>
            <a:r>
              <a:rPr lang="en-US" sz="2400" dirty="0">
                <a:solidFill>
                  <a:schemeClr val="tx1">
                    <a:lumMod val="95000"/>
                    <a:lumOff val="5000"/>
                  </a:schemeClr>
                </a:solidFill>
                <a:latin typeface="Times New Roman" panose="02020603050405020304" pitchFamily="18" charset="0"/>
                <a:cs typeface="Times New Roman" panose="02020603050405020304" pitchFamily="18" charset="0"/>
              </a:rPr>
              <a:t>Turned ON mobile Bluetooth.</a:t>
            </a:r>
          </a:p>
          <a:p>
            <a:pPr lvl="0" algn="just">
              <a:buFont typeface="Wingdings" panose="05000000000000000000" pitchFamily="2" charset="2"/>
              <a:buChar char="§"/>
            </a:pPr>
            <a:r>
              <a:rPr lang="en-US" sz="2400" dirty="0">
                <a:solidFill>
                  <a:schemeClr val="tx1">
                    <a:lumMod val="95000"/>
                    <a:lumOff val="5000"/>
                  </a:schemeClr>
                </a:solidFill>
                <a:latin typeface="Times New Roman" panose="02020603050405020304" pitchFamily="18" charset="0"/>
                <a:cs typeface="Times New Roman" panose="02020603050405020304" pitchFamily="18" charset="0"/>
              </a:rPr>
              <a:t>Now open Bluetooth controller app.</a:t>
            </a:r>
          </a:p>
          <a:p>
            <a:pPr lvl="0" algn="just">
              <a:buFont typeface="Wingdings" panose="05000000000000000000" pitchFamily="2" charset="2"/>
              <a:buChar char="§"/>
            </a:pPr>
            <a:r>
              <a:rPr lang="en-US" sz="2400" dirty="0">
                <a:solidFill>
                  <a:schemeClr val="tx1">
                    <a:lumMod val="95000"/>
                    <a:lumOff val="5000"/>
                  </a:schemeClr>
                </a:solidFill>
                <a:latin typeface="Times New Roman" panose="02020603050405020304" pitchFamily="18" charset="0"/>
                <a:cs typeface="Times New Roman" panose="02020603050405020304" pitchFamily="18" charset="0"/>
              </a:rPr>
              <a:t>Press scan.</a:t>
            </a:r>
          </a:p>
          <a:p>
            <a:pPr lvl="0" algn="just">
              <a:buFont typeface="Wingdings" panose="05000000000000000000" pitchFamily="2" charset="2"/>
              <a:buChar char="§"/>
            </a:pPr>
            <a:r>
              <a:rPr lang="en-US" sz="2400" dirty="0">
                <a:solidFill>
                  <a:schemeClr val="tx1">
                    <a:lumMod val="95000"/>
                    <a:lumOff val="5000"/>
                  </a:schemeClr>
                </a:solidFill>
                <a:latin typeface="Times New Roman" panose="02020603050405020304" pitchFamily="18" charset="0"/>
                <a:cs typeface="Times New Roman" panose="02020603050405020304" pitchFamily="18" charset="0"/>
              </a:rPr>
              <a:t>Select desired  (</a:t>
            </a:r>
            <a:r>
              <a:rPr lang="en-US" sz="2400" dirty="0" err="1">
                <a:solidFill>
                  <a:schemeClr val="tx1">
                    <a:lumMod val="95000"/>
                    <a:lumOff val="5000"/>
                  </a:schemeClr>
                </a:solidFill>
                <a:latin typeface="Times New Roman" panose="02020603050405020304" pitchFamily="18" charset="0"/>
                <a:cs typeface="Times New Roman" panose="02020603050405020304" pitchFamily="18" charset="0"/>
              </a:rPr>
              <a:t>BluetoothModule</a:t>
            </a:r>
            <a:r>
              <a:rPr lang="en-US" sz="2400" dirty="0">
                <a:solidFill>
                  <a:schemeClr val="tx1">
                    <a:lumMod val="95000"/>
                    <a:lumOff val="5000"/>
                  </a:schemeClr>
                </a:solidFill>
                <a:latin typeface="Times New Roman" panose="02020603050405020304" pitchFamily="18" charset="0"/>
                <a:cs typeface="Times New Roman" panose="02020603050405020304" pitchFamily="18" charset="0"/>
              </a:rPr>
              <a:t> HC-05).</a:t>
            </a:r>
          </a:p>
          <a:p>
            <a:pPr lvl="0" algn="just">
              <a:buFont typeface="Wingdings" panose="05000000000000000000" pitchFamily="2" charset="2"/>
              <a:buChar char="§"/>
            </a:pPr>
            <a:r>
              <a:rPr lang="en-US" sz="2400" dirty="0">
                <a:solidFill>
                  <a:schemeClr val="tx1">
                    <a:lumMod val="95000"/>
                    <a:lumOff val="5000"/>
                  </a:schemeClr>
                </a:solidFill>
                <a:latin typeface="Times New Roman" panose="02020603050405020304" pitchFamily="18" charset="0"/>
                <a:cs typeface="Times New Roman" panose="02020603050405020304" pitchFamily="18" charset="0"/>
              </a:rPr>
              <a:t>Now set keys by pressing set button on screen.</a:t>
            </a:r>
          </a:p>
          <a:p>
            <a:endParaRPr lang="en-US" dirty="0"/>
          </a:p>
        </p:txBody>
      </p:sp>
    </p:spTree>
    <p:extLst>
      <p:ext uri="{BB962C8B-B14F-4D97-AF65-F5344CB8AC3E}">
        <p14:creationId xmlns:p14="http://schemas.microsoft.com/office/powerpoint/2010/main" val="128983634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lumMod val="95000"/>
                    <a:lumOff val="5000"/>
                  </a:schemeClr>
                </a:solidFill>
                <a:latin typeface="Times New Roman" panose="02020603050405020304" pitchFamily="18" charset="0"/>
                <a:cs typeface="Times New Roman" panose="02020603050405020304" pitchFamily="18" charset="0"/>
              </a:rPr>
              <a:t>Screen shots:</a:t>
            </a:r>
          </a:p>
        </p:txBody>
      </p:sp>
      <p:pic>
        <p:nvPicPr>
          <p:cNvPr id="10" name="Content Placeholder 6"/>
          <p:cNvPicPr>
            <a:picLocks noGrp="1"/>
          </p:cNvPicPr>
          <p:nvPr>
            <p:ph sz="half" idx="1"/>
          </p:nvPr>
        </p:nvPicPr>
        <p:blipFill>
          <a:blip r:embed="rId2"/>
          <a:stretch>
            <a:fillRect/>
          </a:stretch>
        </p:blipFill>
        <p:spPr>
          <a:xfrm>
            <a:off x="2967491" y="2013936"/>
            <a:ext cx="3263420" cy="3437559"/>
          </a:xfrm>
          <a:prstGeom prst="rect">
            <a:avLst/>
          </a:prstGeom>
          <a:ln>
            <a:noFill/>
          </a:ln>
          <a:effectLst>
            <a:outerShdw blurRad="292100" dist="139700" dir="2700000" algn="tl" rotWithShape="0">
              <a:srgbClr val="333333">
                <a:alpha val="65000"/>
              </a:srgbClr>
            </a:outerShdw>
          </a:effectLst>
        </p:spPr>
      </p:pic>
      <p:pic>
        <p:nvPicPr>
          <p:cNvPr id="11" name="Picture 2"/>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536735" y="2029089"/>
            <a:ext cx="3388198" cy="34375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500886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2474" y="610462"/>
            <a:ext cx="6589199" cy="727018"/>
          </a:xfrm>
        </p:spPr>
        <p:txBody>
          <a:bodyPr>
            <a:normAutofit/>
          </a:bodyPr>
          <a:lstStyle/>
          <a:p>
            <a:r>
              <a:rPr lang="en-US" b="1" dirty="0">
                <a:latin typeface="Times New Roman" panose="02020603050405020304" pitchFamily="18" charset="0"/>
                <a:cs typeface="Times New Roman" panose="02020603050405020304" pitchFamily="18" charset="0"/>
              </a:rPr>
              <a:t>Conclusion :</a:t>
            </a:r>
          </a:p>
        </p:txBody>
      </p:sp>
      <p:sp>
        <p:nvSpPr>
          <p:cNvPr id="3" name="Content Placeholder 2"/>
          <p:cNvSpPr>
            <a:spLocks noGrp="1"/>
          </p:cNvSpPr>
          <p:nvPr>
            <p:ph idx="1"/>
          </p:nvPr>
        </p:nvSpPr>
        <p:spPr>
          <a:xfrm>
            <a:off x="3032474" y="1765110"/>
            <a:ext cx="6591985" cy="3777622"/>
          </a:xfrm>
        </p:spPr>
        <p:txBody>
          <a:bodyPr>
            <a:normAutofit/>
          </a:bodyPr>
          <a:lstStyle/>
          <a:p>
            <a:r>
              <a:rPr lang="en-US" sz="2400" dirty="0">
                <a:latin typeface="Times New Roman" panose="02020603050405020304" pitchFamily="18" charset="0"/>
                <a:cs typeface="Times New Roman" panose="02020603050405020304" pitchFamily="18" charset="0"/>
              </a:rPr>
              <a:t>Home Automation is undeniably a resource which can make a home environment automated. People can control their electrical devices via these Home Automation devices and set up controlling actions through Mobile. </a:t>
            </a:r>
          </a:p>
          <a:p>
            <a:r>
              <a:rPr lang="en-US" sz="2400" dirty="0">
                <a:latin typeface="Times New Roman" panose="02020603050405020304" pitchFamily="18" charset="0"/>
                <a:cs typeface="Times New Roman" panose="02020603050405020304" pitchFamily="18" charset="0"/>
              </a:rPr>
              <a:t>In future this product may have high potential for marketing.</a:t>
            </a:r>
          </a:p>
        </p:txBody>
      </p:sp>
    </p:spTree>
    <p:extLst>
      <p:ext uri="{BB962C8B-B14F-4D97-AF65-F5344CB8AC3E}">
        <p14:creationId xmlns:p14="http://schemas.microsoft.com/office/powerpoint/2010/main" val="20960276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Project devices:</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67491" y="2121056"/>
            <a:ext cx="6571343" cy="3815050"/>
          </a:xfrm>
          <a:prstGeom prst="rect">
            <a:avLst/>
          </a:prstGeom>
        </p:spPr>
      </p:pic>
    </p:spTree>
    <p:extLst>
      <p:ext uri="{BB962C8B-B14F-4D97-AF65-F5344CB8AC3E}">
        <p14:creationId xmlns:p14="http://schemas.microsoft.com/office/powerpoint/2010/main" val="388770385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Subtitle 2"/>
          <p:cNvSpPr txBox="1">
            <a:spLocks/>
          </p:cNvSpPr>
          <p:nvPr/>
        </p:nvSpPr>
        <p:spPr>
          <a:xfrm>
            <a:off x="1104646" y="3817180"/>
            <a:ext cx="5178582" cy="165576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just">
              <a:buFontTx/>
              <a:buChar char="-"/>
            </a:pPr>
            <a:endParaRPr lang="en-US" sz="1600" dirty="0">
              <a:latin typeface="Times New Roman" panose="02020603050405020304" pitchFamily="18" charset="0"/>
              <a:cs typeface="Times New Roman" panose="02020603050405020304" pitchFamily="18" charset="0"/>
            </a:endParaRPr>
          </a:p>
        </p:txBody>
      </p:sp>
      <p:sp>
        <p:nvSpPr>
          <p:cNvPr id="9" name="TextBox 8"/>
          <p:cNvSpPr txBox="1"/>
          <p:nvPr/>
        </p:nvSpPr>
        <p:spPr>
          <a:xfrm>
            <a:off x="7592048" y="4424926"/>
            <a:ext cx="4376174" cy="1723549"/>
          </a:xfrm>
          <a:prstGeom prst="rect">
            <a:avLst/>
          </a:prstGeom>
          <a:noFill/>
        </p:spPr>
        <p:txBody>
          <a:bodyPr wrap="square" rtlCol="0">
            <a:spAutoFit/>
          </a:bodyPr>
          <a:lstStyle/>
          <a:p>
            <a:r>
              <a:rPr lang="en-US" sz="6600" dirty="0">
                <a:latin typeface="Edwardian Script ITC" panose="030303020407070D0804" pitchFamily="66" charset="0"/>
              </a:rPr>
              <a:t>Thank You !!</a:t>
            </a:r>
          </a:p>
          <a:p>
            <a:pPr algn="ctr"/>
            <a:r>
              <a:rPr lang="en-US" sz="4000" dirty="0">
                <a:latin typeface="Edwardian Script ITC" panose="030303020407070D0804" pitchFamily="66" charset="0"/>
              </a:rPr>
              <a:t> </a:t>
            </a:r>
          </a:p>
        </p:txBody>
      </p:sp>
      <p:sp>
        <p:nvSpPr>
          <p:cNvPr id="8" name="Rectangle 7"/>
          <p:cNvSpPr/>
          <p:nvPr/>
        </p:nvSpPr>
        <p:spPr>
          <a:xfrm>
            <a:off x="9507866" y="6056142"/>
            <a:ext cx="2613761" cy="230832"/>
          </a:xfrm>
          <a:prstGeom prst="rect">
            <a:avLst/>
          </a:prstGeom>
        </p:spPr>
        <p:txBody>
          <a:bodyPr wrap="square">
            <a:spAutoFit/>
          </a:bodyPr>
          <a:lstStyle/>
          <a:p>
            <a:r>
              <a:rPr lang="en-US" sz="900" dirty="0"/>
              <a:t>https://www.youtube.com/@AmelOline/videos</a:t>
            </a:r>
          </a:p>
        </p:txBody>
      </p:sp>
      <p:sp>
        <p:nvSpPr>
          <p:cNvPr id="10" name="Rectangle 9"/>
          <p:cNvSpPr/>
          <p:nvPr/>
        </p:nvSpPr>
        <p:spPr>
          <a:xfrm>
            <a:off x="10344774" y="5917643"/>
            <a:ext cx="1623448" cy="230832"/>
          </a:xfrm>
          <a:prstGeom prst="rect">
            <a:avLst/>
          </a:prstGeom>
        </p:spPr>
        <p:txBody>
          <a:bodyPr wrap="square">
            <a:spAutoFit/>
          </a:bodyPr>
          <a:lstStyle/>
          <a:p>
            <a:r>
              <a:rPr lang="en-US" sz="900" dirty="0"/>
              <a:t>https://github.com/siagianp</a:t>
            </a:r>
          </a:p>
        </p:txBody>
      </p:sp>
      <p:sp>
        <p:nvSpPr>
          <p:cNvPr id="11" name="Rectangle 10"/>
          <p:cNvSpPr/>
          <p:nvPr/>
        </p:nvSpPr>
        <p:spPr>
          <a:xfrm>
            <a:off x="8531473" y="6194642"/>
            <a:ext cx="3667194" cy="230832"/>
          </a:xfrm>
          <a:prstGeom prst="rect">
            <a:avLst/>
          </a:prstGeom>
        </p:spPr>
        <p:txBody>
          <a:bodyPr wrap="square">
            <a:spAutoFit/>
          </a:bodyPr>
          <a:lstStyle/>
          <a:p>
            <a:r>
              <a:rPr lang="en-US" sz="900" dirty="0"/>
              <a:t>https://github.com/amelcharolinesgn2/IoT_simulator-mqtt-NodeRed</a:t>
            </a:r>
          </a:p>
        </p:txBody>
      </p:sp>
      <p:sp>
        <p:nvSpPr>
          <p:cNvPr id="12" name="Rectangle 11"/>
          <p:cNvSpPr/>
          <p:nvPr/>
        </p:nvSpPr>
        <p:spPr>
          <a:xfrm>
            <a:off x="8977163" y="6333141"/>
            <a:ext cx="3204723" cy="230832"/>
          </a:xfrm>
          <a:prstGeom prst="rect">
            <a:avLst/>
          </a:prstGeom>
        </p:spPr>
        <p:txBody>
          <a:bodyPr wrap="none">
            <a:spAutoFit/>
          </a:bodyPr>
          <a:lstStyle/>
          <a:p>
            <a:r>
              <a:rPr lang="en-US" sz="900" dirty="0"/>
              <a:t>https://github.com/amelcharolinesgn2/Cloud-Infrastructures</a:t>
            </a:r>
          </a:p>
        </p:txBody>
      </p:sp>
      <p:sp>
        <p:nvSpPr>
          <p:cNvPr id="13" name="Rectangle 12"/>
          <p:cNvSpPr/>
          <p:nvPr/>
        </p:nvSpPr>
        <p:spPr>
          <a:xfrm>
            <a:off x="8444566" y="6506265"/>
            <a:ext cx="3839513" cy="230832"/>
          </a:xfrm>
          <a:prstGeom prst="rect">
            <a:avLst/>
          </a:prstGeom>
        </p:spPr>
        <p:txBody>
          <a:bodyPr wrap="none">
            <a:spAutoFit/>
          </a:bodyPr>
          <a:lstStyle/>
          <a:p>
            <a:r>
              <a:rPr lang="en-US" sz="900" dirty="0"/>
              <a:t>https://github.com/amelcharolinesgn2/ClouD-Infrastructure-SISKA-2025</a:t>
            </a:r>
          </a:p>
        </p:txBody>
      </p:sp>
      <p:grpSp>
        <p:nvGrpSpPr>
          <p:cNvPr id="15" name="Group 14"/>
          <p:cNvGrpSpPr/>
          <p:nvPr/>
        </p:nvGrpSpPr>
        <p:grpSpPr>
          <a:xfrm>
            <a:off x="54496" y="359621"/>
            <a:ext cx="4804363" cy="2463094"/>
            <a:chOff x="54496" y="359621"/>
            <a:chExt cx="4804363" cy="2463094"/>
          </a:xfrm>
        </p:grpSpPr>
        <p:pic>
          <p:nvPicPr>
            <p:cNvPr id="16" name="Picture 15"/>
            <p:cNvPicPr>
              <a:picLocks noChangeAspect="1"/>
            </p:cNvPicPr>
            <p:nvPr/>
          </p:nvPicPr>
          <p:blipFill>
            <a:blip r:embed="rId3"/>
            <a:stretch>
              <a:fillRect/>
            </a:stretch>
          </p:blipFill>
          <p:spPr>
            <a:xfrm>
              <a:off x="235105" y="1901987"/>
              <a:ext cx="3104181" cy="263526"/>
            </a:xfrm>
            <a:prstGeom prst="rect">
              <a:avLst/>
            </a:prstGeom>
          </p:spPr>
        </p:pic>
        <p:sp>
          <p:nvSpPr>
            <p:cNvPr id="17" name="Title 4">
              <a:extLst>
                <a:ext uri="{FF2B5EF4-FFF2-40B4-BE49-F238E27FC236}">
                  <a16:creationId xmlns:a16="http://schemas.microsoft.com/office/drawing/2014/main" id="{27228BAE-048B-681E-DD8D-BD96B22560E0}"/>
                </a:ext>
              </a:extLst>
            </p:cNvPr>
            <p:cNvSpPr txBox="1">
              <a:spLocks/>
            </p:cNvSpPr>
            <p:nvPr/>
          </p:nvSpPr>
          <p:spPr>
            <a:xfrm>
              <a:off x="54496" y="1922610"/>
              <a:ext cx="4804363" cy="900105"/>
            </a:xfrm>
            <a:prstGeom prst="rect">
              <a:avLst/>
            </a:prstGeom>
          </p:spPr>
          <p:txBody>
            <a:bodyPr vert="horz" lIns="91440" tIns="45720" rIns="91440" bIns="45720" rtlCol="0" anchor="b">
              <a:normAutofit fontScale="9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dirty="0" smtClean="0">
                  <a:solidFill>
                    <a:schemeClr val="accent1">
                      <a:lumMod val="75000"/>
                    </a:schemeClr>
                  </a:solidFill>
                </a:rPr>
                <a:t>Computer </a:t>
              </a:r>
              <a:r>
                <a:rPr lang="en-US" dirty="0" smtClean="0">
                  <a:solidFill>
                    <a:srgbClr val="00B0F0"/>
                  </a:solidFill>
                </a:rPr>
                <a:t>Vision</a:t>
              </a:r>
              <a:endParaRPr lang="en-US" dirty="0">
                <a:solidFill>
                  <a:srgbClr val="00B0F0"/>
                </a:solidFill>
              </a:endParaRPr>
            </a:p>
          </p:txBody>
        </p:sp>
        <p:grpSp>
          <p:nvGrpSpPr>
            <p:cNvPr id="18" name="Group 17">
              <a:extLst>
                <a:ext uri="{FF2B5EF4-FFF2-40B4-BE49-F238E27FC236}">
                  <a16:creationId xmlns:a16="http://schemas.microsoft.com/office/drawing/2014/main" id="{2AABCB87-2ECC-4C03-B5BB-6EE11C8A4485}"/>
                </a:ext>
              </a:extLst>
            </p:cNvPr>
            <p:cNvGrpSpPr/>
            <p:nvPr/>
          </p:nvGrpSpPr>
          <p:grpSpPr>
            <a:xfrm>
              <a:off x="89638" y="359621"/>
              <a:ext cx="3064025" cy="1516520"/>
              <a:chOff x="4853562" y="1589418"/>
              <a:chExt cx="2609520" cy="1291565"/>
            </a:xfrm>
          </p:grpSpPr>
          <p:sp>
            <p:nvSpPr>
              <p:cNvPr id="25" name="Freeform 24">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a:solidFill>
                    <a:schemeClr val="tx1"/>
                  </a:solidFill>
                </a:endParaRPr>
              </a:p>
            </p:txBody>
          </p:sp>
          <p:sp>
            <p:nvSpPr>
              <p:cNvPr id="26" name="Freeform 25">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dirty="0">
                  <a:solidFill>
                    <a:schemeClr val="tx1"/>
                  </a:solidFill>
                </a:endParaRPr>
              </a:p>
            </p:txBody>
          </p:sp>
        </p:grpSp>
        <p:grpSp>
          <p:nvGrpSpPr>
            <p:cNvPr id="19" name="Group 18">
              <a:extLst>
                <a:ext uri="{FF2B5EF4-FFF2-40B4-BE49-F238E27FC236}">
                  <a16:creationId xmlns:a16="http://schemas.microsoft.com/office/drawing/2014/main" id="{AB8BC7BC-BF58-402E-9A69-AA9226DE7CAA}"/>
                </a:ext>
              </a:extLst>
            </p:cNvPr>
            <p:cNvGrpSpPr/>
            <p:nvPr/>
          </p:nvGrpSpPr>
          <p:grpSpPr>
            <a:xfrm>
              <a:off x="1356703" y="883096"/>
              <a:ext cx="1334145" cy="620384"/>
              <a:chOff x="7729280" y="2195997"/>
              <a:chExt cx="2143740" cy="996849"/>
            </a:xfrm>
            <a:solidFill>
              <a:schemeClr val="accent6"/>
            </a:solidFill>
          </p:grpSpPr>
          <p:sp>
            <p:nvSpPr>
              <p:cNvPr id="23" name="Freeform: Shape 66">
                <a:extLst>
                  <a:ext uri="{FF2B5EF4-FFF2-40B4-BE49-F238E27FC236}">
                    <a16:creationId xmlns:a16="http://schemas.microsoft.com/office/drawing/2014/main" id="{2A081543-B9FF-49B1-8EEF-ABDF5438EDCD}"/>
                  </a:ext>
                </a:extLst>
              </p:cNvPr>
              <p:cNvSpPr/>
              <p:nvPr/>
            </p:nvSpPr>
            <p:spPr>
              <a:xfrm>
                <a:off x="7729280" y="2195997"/>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dirty="0"/>
              </a:p>
            </p:txBody>
          </p:sp>
          <p:sp>
            <p:nvSpPr>
              <p:cNvPr id="24" name="Freeform: Shape 67">
                <a:extLst>
                  <a:ext uri="{FF2B5EF4-FFF2-40B4-BE49-F238E27FC236}">
                    <a16:creationId xmlns:a16="http://schemas.microsoft.com/office/drawing/2014/main" id="{275D1FAA-C13F-4A6B-BA37-7704CFB7ADCD}"/>
                  </a:ext>
                </a:extLst>
              </p:cNvPr>
              <p:cNvSpPr/>
              <p:nvPr/>
            </p:nvSpPr>
            <p:spPr>
              <a:xfrm>
                <a:off x="8421007" y="2543552"/>
                <a:ext cx="443936" cy="326800"/>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20" name="Subtitle 2">
              <a:extLst>
                <a:ext uri="{FF2B5EF4-FFF2-40B4-BE49-F238E27FC236}">
                  <a16:creationId xmlns:a16="http://schemas.microsoft.com/office/drawing/2014/main" id="{53858C97-DA2F-8866-47CC-CDF4077BBF9D}"/>
                </a:ext>
              </a:extLst>
            </p:cNvPr>
            <p:cNvSpPr txBox="1">
              <a:spLocks/>
            </p:cNvSpPr>
            <p:nvPr/>
          </p:nvSpPr>
          <p:spPr>
            <a:xfrm>
              <a:off x="1727403" y="1099395"/>
              <a:ext cx="729275" cy="203382"/>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smtClean="0">
                  <a:solidFill>
                    <a:srgbClr val="7030A0"/>
                  </a:solidFill>
                </a:rPr>
                <a:t>PDS</a:t>
              </a:r>
              <a:endParaRPr lang="en-US" sz="1600" dirty="0">
                <a:solidFill>
                  <a:srgbClr val="7030A0"/>
                </a:solidFill>
              </a:endParaRPr>
            </a:p>
          </p:txBody>
        </p:sp>
        <p:sp>
          <p:nvSpPr>
            <p:cNvPr id="21" name="Title 4">
              <a:extLst>
                <a:ext uri="{FF2B5EF4-FFF2-40B4-BE49-F238E27FC236}">
                  <a16:creationId xmlns:a16="http://schemas.microsoft.com/office/drawing/2014/main" id="{27228BAE-048B-681E-DD8D-BD96B22560E0}"/>
                </a:ext>
              </a:extLst>
            </p:cNvPr>
            <p:cNvSpPr txBox="1">
              <a:spLocks/>
            </p:cNvSpPr>
            <p:nvPr/>
          </p:nvSpPr>
          <p:spPr>
            <a:xfrm>
              <a:off x="788714" y="1452073"/>
              <a:ext cx="938689" cy="470538"/>
            </a:xfrm>
            <a:prstGeom prst="rect">
              <a:avLst/>
            </a:prstGeom>
            <a:solidFill>
              <a:schemeClr val="bg1"/>
            </a:solidFill>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2800" dirty="0" smtClean="0">
                  <a:solidFill>
                    <a:schemeClr val="accent5">
                      <a:lumMod val="50000"/>
                    </a:schemeClr>
                  </a:solidFill>
                </a:rPr>
                <a:t>SDN</a:t>
              </a:r>
              <a:endParaRPr lang="en-US" sz="2800" dirty="0">
                <a:solidFill>
                  <a:schemeClr val="accent5">
                    <a:lumMod val="50000"/>
                  </a:schemeClr>
                </a:solidFill>
              </a:endParaRPr>
            </a:p>
          </p:txBody>
        </p:sp>
        <p:sp>
          <p:nvSpPr>
            <p:cNvPr id="22" name="Title 4">
              <a:extLst>
                <a:ext uri="{FF2B5EF4-FFF2-40B4-BE49-F238E27FC236}">
                  <a16:creationId xmlns:a16="http://schemas.microsoft.com/office/drawing/2014/main" id="{27228BAE-048B-681E-DD8D-BD96B22560E0}"/>
                </a:ext>
              </a:extLst>
            </p:cNvPr>
            <p:cNvSpPr txBox="1">
              <a:spLocks/>
            </p:cNvSpPr>
            <p:nvPr/>
          </p:nvSpPr>
          <p:spPr>
            <a:xfrm>
              <a:off x="1449719" y="1352665"/>
              <a:ext cx="928870" cy="581223"/>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2800" dirty="0" smtClean="0">
                  <a:solidFill>
                    <a:schemeClr val="accent1">
                      <a:lumMod val="75000"/>
                    </a:schemeClr>
                  </a:solidFill>
                </a:rPr>
                <a:t>NFV</a:t>
              </a:r>
              <a:endParaRPr lang="en-US" sz="2800" dirty="0">
                <a:solidFill>
                  <a:schemeClr val="accent1">
                    <a:lumMod val="75000"/>
                  </a:schemeClr>
                </a:solidFill>
              </a:endParaRPr>
            </a:p>
          </p:txBody>
        </p:sp>
      </p:grpSp>
    </p:spTree>
    <p:extLst>
      <p:ext uri="{BB962C8B-B14F-4D97-AF65-F5344CB8AC3E}">
        <p14:creationId xmlns:p14="http://schemas.microsoft.com/office/powerpoint/2010/main" val="80013096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23931</TotalTime>
  <Words>10306</Words>
  <Application>Microsoft Office PowerPoint</Application>
  <PresentationFormat>Widescreen</PresentationFormat>
  <Paragraphs>2984</Paragraphs>
  <Slides>29</Slides>
  <Notes>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29</vt:i4>
      </vt:variant>
    </vt:vector>
  </HeadingPairs>
  <TitlesOfParts>
    <vt:vector size="38" baseType="lpstr">
      <vt:lpstr>맑은 고딕</vt:lpstr>
      <vt:lpstr>Arial</vt:lpstr>
      <vt:lpstr>Calibri</vt:lpstr>
      <vt:lpstr>Calibri Light</vt:lpstr>
      <vt:lpstr>Cambria Math</vt:lpstr>
      <vt:lpstr>Edwardian Script ITC</vt:lpstr>
      <vt:lpstr>Times New Roman</vt:lpstr>
      <vt:lpstr>Wingdings</vt:lpstr>
      <vt:lpstr>Office Theme</vt:lpstr>
      <vt:lpstr>10.1_Application Electronics</vt:lpstr>
      <vt:lpstr>What is a Apps Electronics ?</vt:lpstr>
      <vt:lpstr>Rangkaian Power Supply</vt:lpstr>
      <vt:lpstr>PowerPoint Presentation</vt:lpstr>
      <vt:lpstr>PowerPoint Presentation</vt:lpstr>
      <vt:lpstr>Aplikasi 1 : Densito meter</vt:lpstr>
      <vt:lpstr>Aplikasi 2 : Home Automation Using Arduino</vt:lpstr>
      <vt:lpstr>What is Home Automation?</vt:lpstr>
      <vt:lpstr>What are the benefits of an automated home? </vt:lpstr>
      <vt:lpstr>What are the benefits of an automated home? </vt:lpstr>
      <vt:lpstr>What are the benefits of an automated home? </vt:lpstr>
      <vt:lpstr>Disadvantages of home automation:</vt:lpstr>
      <vt:lpstr>Technology used:</vt:lpstr>
      <vt:lpstr>CONTENT:     </vt:lpstr>
      <vt:lpstr>CONTENT:</vt:lpstr>
      <vt:lpstr>INTRODUCTION</vt:lpstr>
      <vt:lpstr>COMPONETNS USED:</vt:lpstr>
      <vt:lpstr>PowerPoint Presentation</vt:lpstr>
      <vt:lpstr>Relay :</vt:lpstr>
      <vt:lpstr>Relay working :</vt:lpstr>
      <vt:lpstr>Interface :</vt:lpstr>
      <vt:lpstr>PROTUES  Connection(circuit diagram ) </vt:lpstr>
      <vt:lpstr>Working Explanation: </vt:lpstr>
      <vt:lpstr>Working  Exeplanation:</vt:lpstr>
      <vt:lpstr>Bluetooth App :</vt:lpstr>
      <vt:lpstr>Screen shots:</vt:lpstr>
      <vt:lpstr>Conclusion :</vt:lpstr>
      <vt:lpstr>Project devices: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Fish Tracking, Counting, and Behaviour Analysis in Digital Aquaculture</dc:title>
  <dc:creator>pds</dc:creator>
  <cp:lastModifiedBy>Gde</cp:lastModifiedBy>
  <cp:revision>96</cp:revision>
  <dcterms:created xsi:type="dcterms:W3CDTF">2024-10-22T07:52:57Z</dcterms:created>
  <dcterms:modified xsi:type="dcterms:W3CDTF">2026-03-27T04:39:01Z</dcterms:modified>
</cp:coreProperties>
</file>