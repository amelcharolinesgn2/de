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64" r:id="rId2"/>
    <p:sldId id="297" r:id="rId3"/>
    <p:sldId id="281" r:id="rId4"/>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7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59" d="100"/>
          <a:sy n="59" d="100"/>
        </p:scale>
        <p:origin x="1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F3AA28-425B-4EE2-8EC4-AA1075E3FF67}" type="slidenum">
              <a:rPr lang="en-US"/>
              <a:pPr/>
              <a:t>3</a:t>
            </a:fld>
            <a:endParaRPr lang="en-US" dirty="0"/>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25388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113C91-6513-4BDC-BAA4-5777C2429E70}" type="slidenum">
              <a:rPr lang="zh-TW" altLang="en-US"/>
              <a:pPr/>
              <a:t>21</a:t>
            </a:fld>
            <a:endParaRPr lang="en-US" altLang="zh-TW"/>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3098764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A5F538-F636-4704-A368-29A6D09457B7}" type="slidenum">
              <a:rPr lang="zh-TW" altLang="en-US"/>
              <a:pPr/>
              <a:t>25</a:t>
            </a:fld>
            <a:endParaRPr lang="en-US" altLang="zh-TW"/>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4232622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604BF7C-7068-4831-8D58-DA314D38D124}" type="slidenum">
              <a:rPr lang="en-US" sz="1200"/>
              <a:pPr/>
              <a:t>26</a:t>
            </a:fld>
            <a:endParaRPr 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endParaRPr lang="en-US" smtClean="0"/>
          </a:p>
        </p:txBody>
      </p:sp>
    </p:spTree>
    <p:extLst>
      <p:ext uri="{BB962C8B-B14F-4D97-AF65-F5344CB8AC3E}">
        <p14:creationId xmlns:p14="http://schemas.microsoft.com/office/powerpoint/2010/main" val="266021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92305C-7BA4-4A72-B15B-67F6F966937D}" type="slidenum">
              <a:rPr lang="zh-TW" altLang="en-US"/>
              <a:pPr/>
              <a:t>27</a:t>
            </a:fld>
            <a:endParaRPr lang="en-US" altLang="zh-TW"/>
          </a:p>
        </p:txBody>
      </p:sp>
      <p:sp>
        <p:nvSpPr>
          <p:cNvPr id="191490" name="Rectangle 2"/>
          <p:cNvSpPr>
            <a:spLocks noGrp="1" noRot="1" noChangeAspect="1" noChangeArrowheads="1" noTextEdit="1"/>
          </p:cNvSpPr>
          <p:nvPr>
            <p:ph type="sldImg"/>
          </p:nvPr>
        </p:nvSpPr>
        <p:spPr>
          <a:ln/>
        </p:spPr>
      </p:sp>
      <p:sp>
        <p:nvSpPr>
          <p:cNvPr id="191491"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1886860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177386-A420-4FDE-9AA1-763272463F76}" type="slidenum">
              <a:rPr lang="zh-TW" altLang="en-US"/>
              <a:pPr/>
              <a:t>28</a:t>
            </a:fld>
            <a:endParaRPr lang="en-US" altLang="zh-TW"/>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335579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3056F3-EE3C-48F4-BBE5-6FD25BEC470E}" type="slidenum">
              <a:rPr lang="zh-TW" altLang="en-US"/>
              <a:pPr/>
              <a:t>29</a:t>
            </a:fld>
            <a:endParaRPr lang="en-US" altLang="zh-TW"/>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20166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DEBB45-4DDC-485D-92A9-273FA4175CA7}" type="slidenum">
              <a:rPr lang="zh-TW" altLang="en-US"/>
              <a:pPr/>
              <a:t>30</a:t>
            </a:fld>
            <a:endParaRPr lang="en-US" altLang="zh-TW"/>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3137681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2D6C8F-500D-41C3-85EA-C76563F7474B}" type="slidenum">
              <a:rPr lang="zh-TW" altLang="en-US"/>
              <a:pPr/>
              <a:t>31</a:t>
            </a:fld>
            <a:endParaRPr lang="en-US" altLang="zh-TW"/>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2186655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383CD6-0991-4716-AC85-AE48691DEF30}" type="slidenum">
              <a:rPr lang="zh-TW" altLang="en-US"/>
              <a:pPr/>
              <a:t>32</a:t>
            </a:fld>
            <a:endParaRPr lang="en-US" altLang="zh-TW"/>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2249421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297EE5-B7B4-473E-B23D-E6B18C0AC267}" type="slidenum">
              <a:rPr lang="zh-TW" altLang="en-US"/>
              <a:pPr/>
              <a:t>33</a:t>
            </a:fld>
            <a:endParaRPr lang="en-US" altLang="zh-TW"/>
          </a:p>
        </p:txBody>
      </p:sp>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662927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AE8EBB-AFC1-4E09-B330-87A5747D00F9}" type="slidenum">
              <a:rPr lang="zh-TW" altLang="en-US"/>
              <a:pPr/>
              <a:t>34</a:t>
            </a:fld>
            <a:endParaRPr lang="en-US" altLang="zh-TW"/>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691643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35</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9160933" cy="1600200"/>
          </a:xfrm>
        </p:spPr>
        <p:txBody>
          <a:bodyPr/>
          <a:lstStyle/>
          <a:p>
            <a:r>
              <a:rPr lang="en-US"/>
              <a:t>Click to edit Master title style</a:t>
            </a:r>
          </a:p>
        </p:txBody>
      </p:sp>
      <p:sp>
        <p:nvSpPr>
          <p:cNvPr id="3" name="Text Placeholder 2"/>
          <p:cNvSpPr>
            <a:spLocks noGrp="1"/>
          </p:cNvSpPr>
          <p:nvPr>
            <p:ph type="body" sz="half" idx="1"/>
          </p:nvPr>
        </p:nvSpPr>
        <p:spPr>
          <a:xfrm>
            <a:off x="914400" y="1828800"/>
            <a:ext cx="10261600" cy="17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3733800"/>
            <a:ext cx="10261600" cy="17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828800" y="6248400"/>
            <a:ext cx="2540000" cy="457200"/>
          </a:xfrm>
        </p:spPr>
        <p:txBody>
          <a:bodyPr/>
          <a:lstStyle>
            <a:lvl1pPr>
              <a:defRPr/>
            </a:lvl1pPr>
          </a:lstStyle>
          <a:p>
            <a:endParaRPr lang="en-US" altLang="zh-TW"/>
          </a:p>
        </p:txBody>
      </p:sp>
      <p:sp>
        <p:nvSpPr>
          <p:cNvPr id="6" name="Footer Placeholder 5"/>
          <p:cNvSpPr>
            <a:spLocks noGrp="1"/>
          </p:cNvSpPr>
          <p:nvPr>
            <p:ph type="ftr" sz="quarter" idx="11"/>
          </p:nvPr>
        </p:nvSpPr>
        <p:spPr>
          <a:xfrm>
            <a:off x="4741333" y="6248400"/>
            <a:ext cx="3860800" cy="457200"/>
          </a:xfrm>
        </p:spPr>
        <p:txBody>
          <a:bodyPr/>
          <a:lstStyle>
            <a:lvl1pPr>
              <a:defRPr/>
            </a:lvl1pPr>
          </a:lstStyle>
          <a:p>
            <a:endParaRPr lang="en-US" altLang="zh-TW"/>
          </a:p>
        </p:txBody>
      </p:sp>
      <p:sp>
        <p:nvSpPr>
          <p:cNvPr id="7" name="Slide Number Placeholder 6"/>
          <p:cNvSpPr>
            <a:spLocks noGrp="1"/>
          </p:cNvSpPr>
          <p:nvPr>
            <p:ph type="sldNum" sz="quarter" idx="12"/>
          </p:nvPr>
        </p:nvSpPr>
        <p:spPr>
          <a:xfrm>
            <a:off x="8957733" y="6248400"/>
            <a:ext cx="2540000" cy="457200"/>
          </a:xfrm>
        </p:spPr>
        <p:txBody>
          <a:bodyPr/>
          <a:lstStyle>
            <a:lvl1pPr>
              <a:defRPr/>
            </a:lvl1pPr>
          </a:lstStyle>
          <a:p>
            <a:fld id="{4CEE3371-A646-4B57-B0C6-94E0F1F676CE}" type="slidenum">
              <a:rPr lang="zh-TW" altLang="en-US"/>
              <a:pPr/>
              <a:t>‹#›</a:t>
            </a:fld>
            <a:endParaRPr lang="en-US" altLang="zh-TW"/>
          </a:p>
        </p:txBody>
      </p:sp>
    </p:spTree>
    <p:extLst>
      <p:ext uri="{BB962C8B-B14F-4D97-AF65-F5344CB8AC3E}">
        <p14:creationId xmlns:p14="http://schemas.microsoft.com/office/powerpoint/2010/main" val="1068428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6BBA35-CB62-4ED3-83C3-DF62B56E1009}" type="slidenum">
              <a:rPr lang="en-US"/>
              <a:pPr>
                <a:defRPr/>
              </a:pPr>
              <a:t>‹#›</a:t>
            </a:fld>
            <a:endParaRPr lang="en-US"/>
          </a:p>
        </p:txBody>
      </p:sp>
    </p:spTree>
    <p:extLst>
      <p:ext uri="{BB962C8B-B14F-4D97-AF65-F5344CB8AC3E}">
        <p14:creationId xmlns:p14="http://schemas.microsoft.com/office/powerpoint/2010/main" val="3685030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B745CC88-AB23-4350-BFE6-51237DCF1435}" type="slidenum">
              <a:rPr lang="en-US" altLang="en-US"/>
              <a:pPr/>
              <a:t>‹#›</a:t>
            </a:fld>
            <a:endParaRPr lang="en-US" altLang="en-US"/>
          </a:p>
        </p:txBody>
      </p:sp>
    </p:spTree>
    <p:extLst>
      <p:ext uri="{BB962C8B-B14F-4D97-AF65-F5344CB8AC3E}">
        <p14:creationId xmlns:p14="http://schemas.microsoft.com/office/powerpoint/2010/main" val="2473588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911BD5BA-A377-4B4A-A344-BCCE96D45F62}" type="slidenum">
              <a:rPr lang="en-US" altLang="en-US"/>
              <a:pPr/>
              <a:t>‹#›</a:t>
            </a:fld>
            <a:endParaRPr lang="en-US" altLang="en-US"/>
          </a:p>
        </p:txBody>
      </p:sp>
    </p:spTree>
    <p:extLst>
      <p:ext uri="{BB962C8B-B14F-4D97-AF65-F5344CB8AC3E}">
        <p14:creationId xmlns:p14="http://schemas.microsoft.com/office/powerpoint/2010/main" val="1824719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17.png"/><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30.png"/><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677" y="2721459"/>
            <a:ext cx="9144000" cy="1510320"/>
          </a:xfrm>
        </p:spPr>
        <p:txBody>
          <a:bodyPr>
            <a:normAutofit fontScale="90000"/>
          </a:bodyPr>
          <a:lstStyle/>
          <a:p>
            <a:pPr algn="l"/>
            <a:r>
              <a:rPr lang="en-US" b="1" dirty="0" smtClean="0">
                <a:solidFill>
                  <a:schemeClr val="bg1">
                    <a:lumMod val="85000"/>
                  </a:schemeClr>
                </a:solidFill>
              </a:rPr>
              <a:t>9.4_Transistors</a:t>
            </a:r>
            <a:r>
              <a:rPr lang="en-US" b="1" dirty="0" smtClean="0">
                <a:solidFill>
                  <a:srgbClr val="002060"/>
                </a:solidFill>
              </a:rPr>
              <a:t/>
            </a:r>
            <a:br>
              <a:rPr lang="en-US" b="1" dirty="0" smtClean="0">
                <a:solidFill>
                  <a:srgbClr val="002060"/>
                </a:solidFill>
              </a:rPr>
            </a:br>
            <a:endParaRPr lang="en-US" dirty="0"/>
          </a:p>
        </p:txBody>
      </p:sp>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85838" y="2063750"/>
            <a:ext cx="10515600" cy="1325563"/>
          </a:xfrm>
        </p:spPr>
        <p:txBody>
          <a:bodyPr/>
          <a:lstStyle/>
          <a:p>
            <a:r>
              <a:rPr lang="en-US" dirty="0"/>
              <a:t>What is a transistor</a:t>
            </a:r>
            <a:r>
              <a:rPr lang="en-US" dirty="0" smtClean="0"/>
              <a:t>?</a:t>
            </a:r>
            <a:endParaRPr lang="en-US" dirty="0"/>
          </a:p>
        </p:txBody>
      </p:sp>
    </p:spTree>
    <p:extLst>
      <p:ext uri="{BB962C8B-B14F-4D97-AF65-F5344CB8AC3E}">
        <p14:creationId xmlns:p14="http://schemas.microsoft.com/office/powerpoint/2010/main" val="27335577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089150" y="145577"/>
            <a:ext cx="7772400" cy="823414"/>
          </a:xfrm>
        </p:spPr>
        <p:txBody>
          <a:bodyPr/>
          <a:lstStyle/>
          <a:p>
            <a:r>
              <a:rPr lang="en-US" dirty="0"/>
              <a:t>What is a transistor</a:t>
            </a:r>
            <a:r>
              <a:rPr lang="en-US" dirty="0" smtClean="0"/>
              <a:t>?</a:t>
            </a:r>
            <a:endParaRPr lang="en-US" dirty="0"/>
          </a:p>
        </p:txBody>
      </p:sp>
      <p:sp>
        <p:nvSpPr>
          <p:cNvPr id="6147" name="Rectangle 3"/>
          <p:cNvSpPr>
            <a:spLocks noGrp="1" noChangeArrowheads="1"/>
          </p:cNvSpPr>
          <p:nvPr>
            <p:ph type="body" idx="1"/>
          </p:nvPr>
        </p:nvSpPr>
        <p:spPr>
          <a:xfrm>
            <a:off x="1786720" y="1141863"/>
            <a:ext cx="8512790" cy="4572000"/>
          </a:xfrm>
        </p:spPr>
        <p:txBody>
          <a:bodyPr/>
          <a:lstStyle/>
          <a:p>
            <a:pPr algn="just"/>
            <a:r>
              <a:rPr lang="en-US" sz="2400" dirty="0"/>
              <a:t>A transistor is a 3 terminal electronic device made of semiconductor material.</a:t>
            </a:r>
          </a:p>
          <a:p>
            <a:pPr algn="just"/>
            <a:r>
              <a:rPr lang="en-US" sz="2400" dirty="0"/>
              <a:t>Transistors have many uses, including amplification, switching, voltage regulation, and the modulation of signals</a:t>
            </a:r>
          </a:p>
          <a:p>
            <a:pPr>
              <a:buFontTx/>
              <a:buNone/>
            </a:pPr>
            <a:endParaRPr lang="en-US" dirty="0"/>
          </a:p>
        </p:txBody>
      </p:sp>
      <p:pic>
        <p:nvPicPr>
          <p:cNvPr id="6148" name="Picture 4" descr="Transisto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133299"/>
            <a:ext cx="6159500" cy="34874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9898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mtClean="0">
                <a:solidFill>
                  <a:srgbClr val="FFC000"/>
                </a:solidFill>
              </a:rPr>
              <a:t>Lecture Overview</a:t>
            </a:r>
          </a:p>
        </p:txBody>
      </p:sp>
      <p:sp>
        <p:nvSpPr>
          <p:cNvPr id="5123" name="Rectangle 3"/>
          <p:cNvSpPr>
            <a:spLocks noGrp="1" noChangeArrowheads="1"/>
          </p:cNvSpPr>
          <p:nvPr>
            <p:ph type="body" idx="1"/>
          </p:nvPr>
        </p:nvSpPr>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What is a Transistor?</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History</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Types</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Characteristics</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Applications</a:t>
            </a:r>
          </a:p>
          <a:p>
            <a:pPr eaLnBrk="1" hangingPunct="1"/>
            <a:endParaRPr lang="en-US" altLang="en-US" smtClean="0"/>
          </a:p>
        </p:txBody>
      </p:sp>
    </p:spTree>
    <p:extLst>
      <p:ext uri="{BB962C8B-B14F-4D97-AF65-F5344CB8AC3E}">
        <p14:creationId xmlns:p14="http://schemas.microsoft.com/office/powerpoint/2010/main" val="18405139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mtClean="0">
                <a:solidFill>
                  <a:srgbClr val="FFC000"/>
                </a:solidFill>
              </a:rPr>
              <a:t>What is a Transistor?</a:t>
            </a:r>
          </a:p>
        </p:txBody>
      </p:sp>
      <p:sp>
        <p:nvSpPr>
          <p:cNvPr id="6147" name="Rectangle 4"/>
          <p:cNvSpPr>
            <a:spLocks noGrp="1" noChangeArrowheads="1"/>
          </p:cNvSpPr>
          <p:nvPr>
            <p:ph type="body" sz="half" idx="1"/>
          </p:nvPr>
        </p:nvSpPr>
        <p:spPr>
          <a:xfrm>
            <a:off x="1981200" y="1600201"/>
            <a:ext cx="5943600" cy="4525963"/>
          </a:xfrm>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Semiconductors: ability to change from conductor to insulator</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Can either allow current or prohibit current to flow</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Useful as a switch, but also as an amplifier</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Essential part of many technological advances</a:t>
            </a:r>
          </a:p>
        </p:txBody>
      </p:sp>
      <p:pic>
        <p:nvPicPr>
          <p:cNvPr id="6148" name="Picture 6" descr="transis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801" y="1981200"/>
            <a:ext cx="13811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9694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438400" y="0"/>
            <a:ext cx="8229600" cy="1143000"/>
          </a:xfrm>
        </p:spPr>
        <p:txBody>
          <a:bodyPr/>
          <a:lstStyle/>
          <a:p>
            <a:pPr eaLnBrk="1" hangingPunct="1"/>
            <a:r>
              <a:rPr lang="en-US" altLang="en-US" smtClean="0">
                <a:solidFill>
                  <a:srgbClr val="FFC000"/>
                </a:solidFill>
              </a:rPr>
              <a:t>A Brief History</a:t>
            </a:r>
          </a:p>
        </p:txBody>
      </p:sp>
      <p:sp>
        <p:nvSpPr>
          <p:cNvPr id="7171" name="Rectangle 3"/>
          <p:cNvSpPr>
            <a:spLocks noGrp="1" noChangeArrowheads="1"/>
          </p:cNvSpPr>
          <p:nvPr>
            <p:ph type="body" idx="1"/>
          </p:nvPr>
        </p:nvSpPr>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Guglielmo Marconi invents radio in 1895</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Problem: For long distance travel, signal must be amplified</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Lee De Forest improves on Fleming’s original vacuum tube to amplify signals</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Made use of third electrode</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Too bulky for most applications</a:t>
            </a:r>
          </a:p>
        </p:txBody>
      </p:sp>
    </p:spTree>
    <p:extLst>
      <p:ext uri="{BB962C8B-B14F-4D97-AF65-F5344CB8AC3E}">
        <p14:creationId xmlns:p14="http://schemas.microsoft.com/office/powerpoint/2010/main" val="38819737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mtClean="0">
                <a:solidFill>
                  <a:srgbClr val="FFC000"/>
                </a:solidFill>
              </a:rPr>
              <a:t>The Transistor is Born</a:t>
            </a:r>
          </a:p>
        </p:txBody>
      </p:sp>
      <p:sp>
        <p:nvSpPr>
          <p:cNvPr id="8195" name="Rectangle 4"/>
          <p:cNvSpPr>
            <a:spLocks noGrp="1" noChangeArrowheads="1"/>
          </p:cNvSpPr>
          <p:nvPr>
            <p:ph type="body" sz="half" idx="1"/>
          </p:nvPr>
        </p:nvSpPr>
        <p:spPr>
          <a:xfrm>
            <a:off x="1981200" y="1600201"/>
            <a:ext cx="4953000" cy="4525963"/>
          </a:xfrm>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Bell Labs (1947): Bardeen, Brattain, and Shockley</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Originally made of germanium</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Current transistors made of doped silicon</a:t>
            </a:r>
          </a:p>
          <a:p>
            <a:pPr eaLnBrk="1" hangingPunct="1"/>
            <a:endParaRPr lang="en-US" altLang="en-US" smtClean="0"/>
          </a:p>
        </p:txBody>
      </p:sp>
      <p:pic>
        <p:nvPicPr>
          <p:cNvPr id="8196" name="Picture 7" descr="fst_tra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447801"/>
            <a:ext cx="32766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8" descr="transis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953000"/>
            <a:ext cx="27432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72227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solidFill>
                  <a:srgbClr val="FFC000"/>
                </a:solidFill>
              </a:rPr>
              <a:t>How Transistors Work</a:t>
            </a:r>
          </a:p>
        </p:txBody>
      </p:sp>
      <p:sp>
        <p:nvSpPr>
          <p:cNvPr id="9219" name="Rectangle 3"/>
          <p:cNvSpPr>
            <a:spLocks noGrp="1" noChangeArrowheads="1"/>
          </p:cNvSpPr>
          <p:nvPr>
            <p:ph type="body" idx="1"/>
          </p:nvPr>
        </p:nvSpPr>
        <p:spPr>
          <a:xfrm>
            <a:off x="1981200" y="1143000"/>
            <a:ext cx="8229600" cy="5257800"/>
          </a:xfrm>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Doping: adding small amounts of other elements to create additional protons or electrons</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P-Type: dopants lack a fourth valence electron (Boron, Aluminum)</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N-Type: dopants have an additional (5</a:t>
            </a:r>
            <a:r>
              <a:rPr lang="en-US" altLang="en-US" baseline="30000" smtClean="0">
                <a:solidFill>
                  <a:schemeClr val="accent2"/>
                </a:solidFill>
                <a:latin typeface="Times New Roman" panose="02020603050405020304" pitchFamily="18" charset="0"/>
                <a:cs typeface="Times New Roman" panose="02020603050405020304" pitchFamily="18" charset="0"/>
              </a:rPr>
              <a:t>th</a:t>
            </a:r>
            <a:r>
              <a:rPr lang="en-US" altLang="en-US" smtClean="0">
                <a:solidFill>
                  <a:schemeClr val="accent2"/>
                </a:solidFill>
                <a:latin typeface="Times New Roman" panose="02020603050405020304" pitchFamily="18" charset="0"/>
                <a:cs typeface="Times New Roman" panose="02020603050405020304" pitchFamily="18" charset="0"/>
              </a:rPr>
              <a:t>) valence electron (Phosphorus, Arsenic)</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Importance: Current only flows from P to N</a:t>
            </a:r>
          </a:p>
        </p:txBody>
      </p:sp>
    </p:spTree>
    <p:extLst>
      <p:ext uri="{BB962C8B-B14F-4D97-AF65-F5344CB8AC3E}">
        <p14:creationId xmlns:p14="http://schemas.microsoft.com/office/powerpoint/2010/main" val="29555018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title"/>
          </p:nvPr>
        </p:nvSpPr>
        <p:spPr/>
        <p:txBody>
          <a:bodyPr/>
          <a:lstStyle/>
          <a:p>
            <a:pPr eaLnBrk="1" hangingPunct="1"/>
            <a:r>
              <a:rPr lang="en-US" altLang="en-US" smtClean="0">
                <a:solidFill>
                  <a:srgbClr val="FFC000"/>
                </a:solidFill>
              </a:rPr>
              <a:t>Diodes and Bias</a:t>
            </a:r>
          </a:p>
        </p:txBody>
      </p:sp>
      <p:sp>
        <p:nvSpPr>
          <p:cNvPr id="10243" name="Rectangle 8"/>
          <p:cNvSpPr>
            <a:spLocks noGrp="1" noChangeArrowheads="1"/>
          </p:cNvSpPr>
          <p:nvPr>
            <p:ph type="body" sz="half" idx="1"/>
          </p:nvPr>
        </p:nvSpPr>
        <p:spPr>
          <a:xfrm>
            <a:off x="1981200" y="1600200"/>
            <a:ext cx="5486400" cy="4876800"/>
          </a:xfrm>
        </p:spPr>
        <p:txBody>
          <a:bodyPr/>
          <a:lstStyle/>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Diode: simple P-N junction.</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Forward Bias: allows current to flow from P to N.</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Reverse Bias: no current allowed to flow from N to P.</a:t>
            </a:r>
          </a:p>
          <a:p>
            <a:pPr eaLnBrk="1" hangingPunct="1"/>
            <a:r>
              <a:rPr lang="en-US" altLang="en-US" smtClean="0">
                <a:solidFill>
                  <a:schemeClr val="accent2"/>
                </a:solidFill>
                <a:latin typeface="Times New Roman" panose="02020603050405020304" pitchFamily="18" charset="0"/>
                <a:cs typeface="Times New Roman" panose="02020603050405020304" pitchFamily="18" charset="0"/>
              </a:rPr>
              <a:t>Breakdown Voltage: sufficient N to P voltage of a Zener Diode will allow for current to flow in this direction.</a:t>
            </a:r>
          </a:p>
        </p:txBody>
      </p:sp>
      <p:pic>
        <p:nvPicPr>
          <p:cNvPr id="10244" name="Picture 5"/>
          <p:cNvPicPr>
            <a:picLocks noChangeAspect="1" noChangeArrowheads="1"/>
          </p:cNvPicPr>
          <p:nvPr/>
        </p:nvPicPr>
        <p:blipFill>
          <a:blip r:embed="rId2">
            <a:extLst>
              <a:ext uri="{28A0092B-C50C-407E-A947-70E740481C1C}">
                <a14:useLocalDpi xmlns:a14="http://schemas.microsoft.com/office/drawing/2010/main" val="0"/>
              </a:ext>
            </a:extLst>
          </a:blip>
          <a:srcRect b="6462"/>
          <a:stretch>
            <a:fillRect/>
          </a:stretch>
        </p:blipFill>
        <p:spPr bwMode="auto">
          <a:xfrm>
            <a:off x="7696200" y="1371600"/>
            <a:ext cx="2438400"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6"/>
          <p:cNvPicPr>
            <a:picLocks noChangeAspect="1" noChangeArrowheads="1"/>
          </p:cNvPicPr>
          <p:nvPr/>
        </p:nvPicPr>
        <p:blipFill>
          <a:blip r:embed="rId3">
            <a:extLst>
              <a:ext uri="{28A0092B-C50C-407E-A947-70E740481C1C}">
                <a14:useLocalDpi xmlns:a14="http://schemas.microsoft.com/office/drawing/2010/main" val="0"/>
              </a:ext>
            </a:extLst>
          </a:blip>
          <a:srcRect b="2251"/>
          <a:stretch>
            <a:fillRect/>
          </a:stretch>
        </p:blipFill>
        <p:spPr bwMode="auto">
          <a:xfrm>
            <a:off x="7696200" y="4038600"/>
            <a:ext cx="2438400"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0945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1752600" y="1600201"/>
            <a:ext cx="4343400" cy="4678363"/>
          </a:xfrm>
        </p:spPr>
        <p:txBody>
          <a:bodyPr/>
          <a:lstStyle/>
          <a:p>
            <a:pPr>
              <a:lnSpc>
                <a:spcPct val="80000"/>
              </a:lnSpc>
              <a:spcBef>
                <a:spcPts val="500"/>
              </a:spcBef>
              <a:spcAft>
                <a:spcPts val="500"/>
              </a:spcAft>
            </a:pPr>
            <a:r>
              <a:rPr lang="en-US" altLang="en-US" sz="2400" u="sng">
                <a:solidFill>
                  <a:schemeClr val="accent2"/>
                </a:solidFill>
              </a:rPr>
              <a:t>3 adjacent regions</a:t>
            </a:r>
            <a:r>
              <a:rPr lang="en-US" altLang="en-US" sz="2400">
                <a:solidFill>
                  <a:schemeClr val="accent2"/>
                </a:solidFill>
              </a:rPr>
              <a:t> of doped Si (</a:t>
            </a:r>
            <a:r>
              <a:rPr lang="en-US" altLang="en-US" sz="1600">
                <a:solidFill>
                  <a:schemeClr val="accent2"/>
                </a:solidFill>
              </a:rPr>
              <a:t>each connected to a lead</a:t>
            </a:r>
            <a:r>
              <a:rPr lang="en-US" altLang="en-US" sz="2400">
                <a:solidFill>
                  <a:schemeClr val="accent2"/>
                </a:solidFill>
              </a:rPr>
              <a:t>):</a:t>
            </a:r>
          </a:p>
          <a:p>
            <a:pPr lvl="1">
              <a:lnSpc>
                <a:spcPct val="80000"/>
              </a:lnSpc>
              <a:spcAft>
                <a:spcPts val="500"/>
              </a:spcAft>
            </a:pPr>
            <a:r>
              <a:rPr lang="en-US" altLang="en-US" sz="2000">
                <a:solidFill>
                  <a:schemeClr val="accent2"/>
                </a:solidFill>
              </a:rPr>
              <a:t>Base. (thin layer,less doped).</a:t>
            </a:r>
          </a:p>
          <a:p>
            <a:pPr lvl="1">
              <a:lnSpc>
                <a:spcPct val="80000"/>
              </a:lnSpc>
              <a:spcAft>
                <a:spcPts val="500"/>
              </a:spcAft>
            </a:pPr>
            <a:r>
              <a:rPr lang="en-US" altLang="en-US" sz="2000">
                <a:solidFill>
                  <a:schemeClr val="accent2"/>
                </a:solidFill>
              </a:rPr>
              <a:t>Collector.</a:t>
            </a:r>
          </a:p>
          <a:p>
            <a:pPr lvl="1">
              <a:lnSpc>
                <a:spcPct val="80000"/>
              </a:lnSpc>
              <a:spcAft>
                <a:spcPts val="500"/>
              </a:spcAft>
            </a:pPr>
            <a:r>
              <a:rPr lang="en-US" altLang="en-US" sz="2000">
                <a:solidFill>
                  <a:schemeClr val="accent2"/>
                </a:solidFill>
              </a:rPr>
              <a:t>Emitter.</a:t>
            </a:r>
          </a:p>
          <a:p>
            <a:pPr>
              <a:lnSpc>
                <a:spcPct val="80000"/>
              </a:lnSpc>
              <a:spcBef>
                <a:spcPts val="500"/>
              </a:spcBef>
              <a:spcAft>
                <a:spcPts val="500"/>
              </a:spcAft>
            </a:pPr>
            <a:r>
              <a:rPr lang="en-US" altLang="en-US" sz="2400" u="sng">
                <a:solidFill>
                  <a:schemeClr val="accent2"/>
                </a:solidFill>
              </a:rPr>
              <a:t>2 types</a:t>
            </a:r>
            <a:r>
              <a:rPr lang="en-US" altLang="en-US" sz="2400">
                <a:solidFill>
                  <a:schemeClr val="accent2"/>
                </a:solidFill>
              </a:rPr>
              <a:t> of BJT:</a:t>
            </a:r>
          </a:p>
          <a:p>
            <a:pPr lvl="1">
              <a:lnSpc>
                <a:spcPct val="80000"/>
              </a:lnSpc>
              <a:spcAft>
                <a:spcPts val="500"/>
              </a:spcAft>
            </a:pPr>
            <a:r>
              <a:rPr lang="en-US" altLang="en-US" sz="2000">
                <a:solidFill>
                  <a:schemeClr val="accent2"/>
                </a:solidFill>
              </a:rPr>
              <a:t>npn.</a:t>
            </a:r>
          </a:p>
          <a:p>
            <a:pPr lvl="1">
              <a:lnSpc>
                <a:spcPct val="80000"/>
              </a:lnSpc>
              <a:spcAft>
                <a:spcPts val="500"/>
              </a:spcAft>
            </a:pPr>
            <a:r>
              <a:rPr lang="en-US" altLang="en-US" sz="2000">
                <a:solidFill>
                  <a:schemeClr val="accent2"/>
                </a:solidFill>
              </a:rPr>
              <a:t>pnp.</a:t>
            </a:r>
          </a:p>
          <a:p>
            <a:pPr>
              <a:lnSpc>
                <a:spcPct val="80000"/>
              </a:lnSpc>
              <a:spcBef>
                <a:spcPts val="500"/>
              </a:spcBef>
              <a:spcAft>
                <a:spcPts val="500"/>
              </a:spcAft>
            </a:pPr>
            <a:r>
              <a:rPr lang="en-US" altLang="en-US" sz="2400" u="sng">
                <a:solidFill>
                  <a:schemeClr val="accent2"/>
                </a:solidFill>
              </a:rPr>
              <a:t>Most common</a:t>
            </a:r>
            <a:r>
              <a:rPr lang="en-US" altLang="en-US" sz="2400">
                <a:solidFill>
                  <a:schemeClr val="accent2"/>
                </a:solidFill>
              </a:rPr>
              <a:t>: npn (focus on it).</a:t>
            </a:r>
          </a:p>
        </p:txBody>
      </p:sp>
      <p:sp>
        <p:nvSpPr>
          <p:cNvPr id="11267" name="Rectangle 3"/>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Bipolar Junction Transistor (BJT)</a:t>
            </a:r>
          </a:p>
        </p:txBody>
      </p:sp>
      <p:grpSp>
        <p:nvGrpSpPr>
          <p:cNvPr id="11268" name="Group 5"/>
          <p:cNvGrpSpPr>
            <a:grpSpLocks/>
          </p:cNvGrpSpPr>
          <p:nvPr/>
        </p:nvGrpSpPr>
        <p:grpSpPr bwMode="auto">
          <a:xfrm>
            <a:off x="6096000" y="1524001"/>
            <a:ext cx="4343400" cy="4740275"/>
            <a:chOff x="2736" y="960"/>
            <a:chExt cx="2880" cy="3159"/>
          </a:xfrm>
        </p:grpSpPr>
        <p:pic>
          <p:nvPicPr>
            <p:cNvPr id="11270" name="Picture 6" descr="3-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 y="2688"/>
              <a:ext cx="2784"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7"/>
            <p:cNvSpPr txBox="1">
              <a:spLocks noChangeArrowheads="1"/>
            </p:cNvSpPr>
            <p:nvPr/>
          </p:nvSpPr>
          <p:spPr bwMode="auto">
            <a:xfrm>
              <a:off x="2928" y="2304"/>
              <a:ext cx="15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1200">
                  <a:solidFill>
                    <a:schemeClr val="accent2"/>
                  </a:solidFill>
                  <a:cs typeface="Arial" panose="020B0604020202020204" pitchFamily="34" charset="0"/>
                </a:rPr>
                <a:t>npn bipolar junction transistor</a:t>
              </a:r>
            </a:p>
          </p:txBody>
        </p:sp>
        <p:sp>
          <p:nvSpPr>
            <p:cNvPr id="11272" name="Text Box 8"/>
            <p:cNvSpPr txBox="1">
              <a:spLocks noChangeArrowheads="1"/>
            </p:cNvSpPr>
            <p:nvPr/>
          </p:nvSpPr>
          <p:spPr bwMode="auto">
            <a:xfrm>
              <a:off x="2880" y="3936"/>
              <a:ext cx="15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1200">
                  <a:solidFill>
                    <a:schemeClr val="accent2"/>
                  </a:solidFill>
                  <a:cs typeface="Arial" panose="020B0604020202020204" pitchFamily="34" charset="0"/>
                </a:rPr>
                <a:t>pnp bipolar junction transistor</a:t>
              </a:r>
            </a:p>
          </p:txBody>
        </p:sp>
        <p:pic>
          <p:nvPicPr>
            <p:cNvPr id="11273" name="Picture 9" descr="3-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960"/>
              <a:ext cx="2880" cy="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69" name="Text Box 10"/>
          <p:cNvSpPr txBox="1">
            <a:spLocks noChangeArrowheads="1"/>
          </p:cNvSpPr>
          <p:nvPr/>
        </p:nvSpPr>
        <p:spPr bwMode="auto">
          <a:xfrm>
            <a:off x="2057400" y="5791200"/>
            <a:ext cx="190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olidFill>
                  <a:schemeClr val="accent2"/>
                </a:solidFill>
                <a:cs typeface="Arial" panose="020B0604020202020204" pitchFamily="34" charset="0"/>
              </a:rPr>
              <a:t>Developed by Shockley (1949)</a:t>
            </a:r>
          </a:p>
        </p:txBody>
      </p:sp>
    </p:spTree>
    <p:extLst>
      <p:ext uri="{BB962C8B-B14F-4D97-AF65-F5344CB8AC3E}">
        <p14:creationId xmlns:p14="http://schemas.microsoft.com/office/powerpoint/2010/main" val="11619337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1981200" y="1295400"/>
            <a:ext cx="8229600" cy="3048000"/>
          </a:xfrm>
        </p:spPr>
        <p:txBody>
          <a:bodyPr/>
          <a:lstStyle/>
          <a:p>
            <a:pPr eaLnBrk="1" hangingPunct="1">
              <a:lnSpc>
                <a:spcPct val="80000"/>
              </a:lnSpc>
            </a:pPr>
            <a:r>
              <a:rPr lang="en-US" altLang="en-US" sz="1800" u="sng">
                <a:solidFill>
                  <a:schemeClr val="accent2"/>
                </a:solidFill>
                <a:latin typeface="Times New Roman" panose="02020603050405020304" pitchFamily="18" charset="0"/>
                <a:cs typeface="Times New Roman" panose="02020603050405020304" pitchFamily="18" charset="0"/>
              </a:rPr>
              <a:t>1 thin layer of p-type</a:t>
            </a:r>
            <a:r>
              <a:rPr lang="en-US" altLang="en-US" sz="1800">
                <a:solidFill>
                  <a:schemeClr val="accent2"/>
                </a:solidFill>
                <a:latin typeface="Times New Roman" panose="02020603050405020304" pitchFamily="18" charset="0"/>
                <a:cs typeface="Times New Roman" panose="02020603050405020304" pitchFamily="18" charset="0"/>
              </a:rPr>
              <a:t>, sandwiched between </a:t>
            </a:r>
            <a:r>
              <a:rPr lang="en-US" altLang="en-US" sz="1800" u="sng">
                <a:solidFill>
                  <a:schemeClr val="accent2"/>
                </a:solidFill>
                <a:latin typeface="Times New Roman" panose="02020603050405020304" pitchFamily="18" charset="0"/>
                <a:cs typeface="Times New Roman" panose="02020603050405020304" pitchFamily="18" charset="0"/>
              </a:rPr>
              <a:t>2 layers of n-type</a:t>
            </a:r>
            <a:r>
              <a:rPr lang="en-US" altLang="en-US" sz="1800">
                <a:solidFill>
                  <a:schemeClr val="accent2"/>
                </a:solidFill>
                <a:latin typeface="Times New Roman" panose="02020603050405020304" pitchFamily="18" charset="0"/>
                <a:cs typeface="Times New Roman" panose="02020603050405020304" pitchFamily="18" charset="0"/>
              </a:rPr>
              <a:t>.</a:t>
            </a:r>
          </a:p>
          <a:p>
            <a:pPr eaLnBrk="1" hangingPunct="1">
              <a:lnSpc>
                <a:spcPct val="80000"/>
              </a:lnSpc>
            </a:pPr>
            <a:r>
              <a:rPr lang="en-US" altLang="en-US" sz="1800">
                <a:solidFill>
                  <a:schemeClr val="accent2"/>
                </a:solidFill>
                <a:latin typeface="Times New Roman" panose="02020603050405020304" pitchFamily="18" charset="0"/>
                <a:cs typeface="Times New Roman" panose="02020603050405020304" pitchFamily="18" charset="0"/>
              </a:rPr>
              <a:t>N-type of emitter: </a:t>
            </a:r>
            <a:r>
              <a:rPr lang="en-US" altLang="en-US" sz="1800" u="sng">
                <a:solidFill>
                  <a:schemeClr val="accent2"/>
                </a:solidFill>
                <a:latin typeface="Times New Roman" panose="02020603050405020304" pitchFamily="18" charset="0"/>
                <a:cs typeface="Times New Roman" panose="02020603050405020304" pitchFamily="18" charset="0"/>
              </a:rPr>
              <a:t>more heavily doped</a:t>
            </a:r>
            <a:r>
              <a:rPr lang="en-US" altLang="en-US" sz="1800">
                <a:solidFill>
                  <a:schemeClr val="accent2"/>
                </a:solidFill>
                <a:latin typeface="Times New Roman" panose="02020603050405020304" pitchFamily="18" charset="0"/>
                <a:cs typeface="Times New Roman" panose="02020603050405020304" pitchFamily="18" charset="0"/>
              </a:rPr>
              <a:t> than collector.</a:t>
            </a:r>
          </a:p>
          <a:p>
            <a:pPr eaLnBrk="1" hangingPunct="1">
              <a:lnSpc>
                <a:spcPct val="80000"/>
              </a:lnSpc>
            </a:pPr>
            <a:r>
              <a:rPr lang="en-US" altLang="en-US" sz="1800" u="sng">
                <a:solidFill>
                  <a:schemeClr val="accent2"/>
                </a:solidFill>
                <a:latin typeface="Times New Roman" panose="02020603050405020304" pitchFamily="18" charset="0"/>
                <a:cs typeface="Times New Roman" panose="02020603050405020304" pitchFamily="18" charset="0"/>
              </a:rPr>
              <a:t>With V</a:t>
            </a:r>
            <a:r>
              <a:rPr lang="en-US" altLang="en-US" sz="1800" u="sng" baseline="-25000">
                <a:solidFill>
                  <a:schemeClr val="accent2"/>
                </a:solidFill>
                <a:latin typeface="Times New Roman" panose="02020603050405020304" pitchFamily="18" charset="0"/>
                <a:cs typeface="Times New Roman" panose="02020603050405020304" pitchFamily="18" charset="0"/>
              </a:rPr>
              <a:t>C</a:t>
            </a:r>
            <a:r>
              <a:rPr lang="en-US" altLang="en-US" sz="1800" u="sng">
                <a:solidFill>
                  <a:schemeClr val="accent2"/>
                </a:solidFill>
                <a:latin typeface="Times New Roman" panose="02020603050405020304" pitchFamily="18" charset="0"/>
                <a:cs typeface="Times New Roman" panose="02020603050405020304" pitchFamily="18" charset="0"/>
              </a:rPr>
              <a:t>&gt;V</a:t>
            </a:r>
            <a:r>
              <a:rPr lang="en-US" altLang="en-US" sz="1800" u="sng" baseline="-25000">
                <a:solidFill>
                  <a:schemeClr val="accent2"/>
                </a:solidFill>
                <a:latin typeface="Times New Roman" panose="02020603050405020304" pitchFamily="18" charset="0"/>
                <a:cs typeface="Times New Roman" panose="02020603050405020304" pitchFamily="18" charset="0"/>
              </a:rPr>
              <a:t>B</a:t>
            </a:r>
            <a:r>
              <a:rPr lang="en-US" altLang="en-US" sz="1800" u="sng">
                <a:solidFill>
                  <a:schemeClr val="accent2"/>
                </a:solidFill>
                <a:latin typeface="Times New Roman" panose="02020603050405020304" pitchFamily="18" charset="0"/>
                <a:cs typeface="Times New Roman" panose="02020603050405020304" pitchFamily="18" charset="0"/>
              </a:rPr>
              <a:t>&gt;V</a:t>
            </a:r>
            <a:r>
              <a:rPr lang="en-US" altLang="en-US" sz="1800" u="sng" baseline="-25000">
                <a:solidFill>
                  <a:schemeClr val="accent2"/>
                </a:solidFill>
                <a:latin typeface="Times New Roman" panose="02020603050405020304" pitchFamily="18" charset="0"/>
                <a:cs typeface="Times New Roman" panose="02020603050405020304" pitchFamily="18" charset="0"/>
              </a:rPr>
              <a:t>E</a:t>
            </a:r>
            <a:r>
              <a:rPr lang="en-US" altLang="en-US" sz="1800" u="sng">
                <a:solidFill>
                  <a:schemeClr val="accent2"/>
                </a:solidFill>
                <a:latin typeface="Times New Roman" panose="02020603050405020304" pitchFamily="18" charset="0"/>
                <a:cs typeface="Times New Roman" panose="02020603050405020304" pitchFamily="18" charset="0"/>
              </a:rPr>
              <a:t>:</a:t>
            </a:r>
            <a:r>
              <a:rPr lang="en-US" altLang="en-US" sz="1800">
                <a:solidFill>
                  <a:schemeClr val="accent2"/>
                </a:solidFill>
                <a:latin typeface="Times New Roman" panose="02020603050405020304" pitchFamily="18" charset="0"/>
                <a:cs typeface="Times New Roman" panose="02020603050405020304" pitchFamily="18" charset="0"/>
              </a:rPr>
              <a:t> </a:t>
            </a:r>
          </a:p>
          <a:p>
            <a:pPr lvl="1" eaLnBrk="1" hangingPunct="1">
              <a:lnSpc>
                <a:spcPct val="80000"/>
              </a:lnSpc>
            </a:pPr>
            <a:r>
              <a:rPr lang="en-US" altLang="en-US" sz="1800" u="sng">
                <a:solidFill>
                  <a:schemeClr val="accent2"/>
                </a:solidFill>
                <a:latin typeface="Times New Roman" panose="02020603050405020304" pitchFamily="18" charset="0"/>
                <a:cs typeface="Times New Roman" panose="02020603050405020304" pitchFamily="18" charset="0"/>
              </a:rPr>
              <a:t>Base-Emitter</a:t>
            </a:r>
            <a:r>
              <a:rPr lang="en-US" altLang="en-US" sz="1800">
                <a:solidFill>
                  <a:schemeClr val="accent2"/>
                </a:solidFill>
                <a:latin typeface="Times New Roman" panose="02020603050405020304" pitchFamily="18" charset="0"/>
                <a:cs typeface="Times New Roman" panose="02020603050405020304" pitchFamily="18" charset="0"/>
              </a:rPr>
              <a:t> junction </a:t>
            </a:r>
            <a:r>
              <a:rPr lang="en-US" altLang="en-US" sz="1800" u="sng">
                <a:solidFill>
                  <a:schemeClr val="accent2"/>
                </a:solidFill>
                <a:latin typeface="Times New Roman" panose="02020603050405020304" pitchFamily="18" charset="0"/>
                <a:cs typeface="Times New Roman" panose="02020603050405020304" pitchFamily="18" charset="0"/>
              </a:rPr>
              <a:t>forward biased</a:t>
            </a:r>
            <a:r>
              <a:rPr lang="en-US" altLang="en-US" sz="1800">
                <a:solidFill>
                  <a:schemeClr val="accent2"/>
                </a:solidFill>
                <a:latin typeface="Times New Roman" panose="02020603050405020304" pitchFamily="18" charset="0"/>
                <a:cs typeface="Times New Roman" panose="02020603050405020304" pitchFamily="18" charset="0"/>
              </a:rPr>
              <a:t>, </a:t>
            </a:r>
            <a:r>
              <a:rPr lang="en-US" altLang="en-US" sz="1800" u="sng">
                <a:solidFill>
                  <a:schemeClr val="accent2"/>
                </a:solidFill>
                <a:latin typeface="Times New Roman" panose="02020603050405020304" pitchFamily="18" charset="0"/>
                <a:cs typeface="Times New Roman" panose="02020603050405020304" pitchFamily="18" charset="0"/>
              </a:rPr>
              <a:t>Base-Collector</a:t>
            </a:r>
            <a:r>
              <a:rPr lang="en-US" altLang="en-US" sz="1800">
                <a:solidFill>
                  <a:schemeClr val="accent2"/>
                </a:solidFill>
                <a:latin typeface="Times New Roman" panose="02020603050405020304" pitchFamily="18" charset="0"/>
                <a:cs typeface="Times New Roman" panose="02020603050405020304" pitchFamily="18" charset="0"/>
              </a:rPr>
              <a:t> </a:t>
            </a:r>
            <a:r>
              <a:rPr lang="en-US" altLang="en-US" sz="1800" u="sng">
                <a:solidFill>
                  <a:schemeClr val="accent2"/>
                </a:solidFill>
                <a:latin typeface="Times New Roman" panose="02020603050405020304" pitchFamily="18" charset="0"/>
                <a:cs typeface="Times New Roman" panose="02020603050405020304" pitchFamily="18" charset="0"/>
              </a:rPr>
              <a:t>reverse biased</a:t>
            </a:r>
            <a:r>
              <a:rPr lang="en-US" altLang="en-US" sz="1800">
                <a:solidFill>
                  <a:schemeClr val="accent2"/>
                </a:solidFill>
                <a:latin typeface="Times New Roman" panose="02020603050405020304" pitchFamily="18" charset="0"/>
                <a:cs typeface="Times New Roman" panose="02020603050405020304" pitchFamily="18" charset="0"/>
              </a:rPr>
              <a:t>.</a:t>
            </a:r>
          </a:p>
          <a:p>
            <a:pPr lvl="1" eaLnBrk="1" hangingPunct="1">
              <a:lnSpc>
                <a:spcPct val="80000"/>
              </a:lnSpc>
            </a:pPr>
            <a:r>
              <a:rPr lang="en-US" altLang="en-US" sz="1800">
                <a:solidFill>
                  <a:schemeClr val="accent2"/>
                </a:solidFill>
                <a:latin typeface="Times New Roman" panose="02020603050405020304" pitchFamily="18" charset="0"/>
                <a:cs typeface="Times New Roman" panose="02020603050405020304" pitchFamily="18" charset="0"/>
              </a:rPr>
              <a:t>Electrons diffuse from Emitter to Base (from n to p).</a:t>
            </a:r>
          </a:p>
          <a:p>
            <a:pPr lvl="1" eaLnBrk="1" hangingPunct="1">
              <a:lnSpc>
                <a:spcPct val="80000"/>
              </a:lnSpc>
            </a:pPr>
            <a:r>
              <a:rPr lang="en-US" altLang="en-US" sz="1800">
                <a:solidFill>
                  <a:schemeClr val="accent2"/>
                </a:solidFill>
                <a:latin typeface="Times New Roman" panose="02020603050405020304" pitchFamily="18" charset="0"/>
                <a:cs typeface="Times New Roman" panose="02020603050405020304" pitchFamily="18" charset="0"/>
              </a:rPr>
              <a:t>There’s a </a:t>
            </a:r>
            <a:r>
              <a:rPr lang="en-US" altLang="en-US" sz="1800" u="sng">
                <a:solidFill>
                  <a:schemeClr val="accent2"/>
                </a:solidFill>
                <a:latin typeface="Times New Roman" panose="02020603050405020304" pitchFamily="18" charset="0"/>
                <a:cs typeface="Times New Roman" panose="02020603050405020304" pitchFamily="18" charset="0"/>
              </a:rPr>
              <a:t>depletion layer</a:t>
            </a:r>
            <a:r>
              <a:rPr lang="en-US" altLang="en-US" sz="1800">
                <a:solidFill>
                  <a:schemeClr val="accent2"/>
                </a:solidFill>
                <a:latin typeface="Times New Roman" panose="02020603050405020304" pitchFamily="18" charset="0"/>
                <a:cs typeface="Times New Roman" panose="02020603050405020304" pitchFamily="18" charset="0"/>
              </a:rPr>
              <a:t> on the Base-Collector junction </a:t>
            </a:r>
            <a:r>
              <a:rPr lang="en-US" altLang="en-US" sz="1800">
                <a:solidFill>
                  <a:schemeClr val="accent2"/>
                </a:solidFill>
                <a:latin typeface="Times New Roman" panose="02020603050405020304" pitchFamily="18" charset="0"/>
                <a:cs typeface="Times New Roman" panose="02020603050405020304" pitchFamily="18" charset="0"/>
                <a:sym typeface="Wingdings" panose="05000000000000000000" pitchFamily="2" charset="2"/>
              </a:rPr>
              <a:t>no flow of e</a:t>
            </a:r>
            <a:r>
              <a:rPr lang="en-US" altLang="en-US" sz="1800" baseline="30000">
                <a:solidFill>
                  <a:schemeClr val="accent2"/>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a:solidFill>
                  <a:schemeClr val="accent2"/>
                </a:solidFill>
                <a:latin typeface="Times New Roman" panose="02020603050405020304" pitchFamily="18" charset="0"/>
                <a:cs typeface="Times New Roman" panose="02020603050405020304" pitchFamily="18" charset="0"/>
                <a:sym typeface="Wingdings" panose="05000000000000000000" pitchFamily="2" charset="2"/>
              </a:rPr>
              <a:t> allowed.</a:t>
            </a:r>
          </a:p>
          <a:p>
            <a:pPr lvl="1" eaLnBrk="1" hangingPunct="1">
              <a:lnSpc>
                <a:spcPct val="80000"/>
              </a:lnSpc>
            </a:pPr>
            <a:r>
              <a:rPr lang="en-US" altLang="en-US" sz="1800" b="1">
                <a:solidFill>
                  <a:schemeClr val="accent2"/>
                </a:solidFill>
                <a:latin typeface="Times New Roman" panose="02020603050405020304" pitchFamily="18" charset="0"/>
                <a:cs typeface="Times New Roman" panose="02020603050405020304" pitchFamily="18" charset="0"/>
              </a:rPr>
              <a:t>BUT</a:t>
            </a:r>
            <a:r>
              <a:rPr lang="en-US" altLang="en-US" sz="1800">
                <a:solidFill>
                  <a:schemeClr val="accent2"/>
                </a:solidFill>
                <a:latin typeface="Times New Roman" panose="02020603050405020304" pitchFamily="18" charset="0"/>
                <a:cs typeface="Times New Roman" panose="02020603050405020304" pitchFamily="18" charset="0"/>
              </a:rPr>
              <a:t> the </a:t>
            </a:r>
            <a:r>
              <a:rPr lang="en-US" altLang="en-US" sz="1800" u="sng">
                <a:solidFill>
                  <a:schemeClr val="accent2"/>
                </a:solidFill>
                <a:latin typeface="Times New Roman" panose="02020603050405020304" pitchFamily="18" charset="0"/>
                <a:cs typeface="Times New Roman" panose="02020603050405020304" pitchFamily="18" charset="0"/>
              </a:rPr>
              <a:t>Base is thin and Emitter region is n</a:t>
            </a:r>
            <a:r>
              <a:rPr lang="en-US" altLang="en-US" sz="1800" u="sng" baseline="30000">
                <a:solidFill>
                  <a:schemeClr val="accent2"/>
                </a:solidFill>
                <a:latin typeface="Times New Roman" panose="02020603050405020304" pitchFamily="18" charset="0"/>
                <a:cs typeface="Times New Roman" panose="02020603050405020304" pitchFamily="18" charset="0"/>
              </a:rPr>
              <a:t>+</a:t>
            </a:r>
            <a:r>
              <a:rPr lang="en-US" altLang="en-US" sz="1800" u="sng">
                <a:solidFill>
                  <a:schemeClr val="accent2"/>
                </a:solidFill>
                <a:latin typeface="Times New Roman" panose="02020603050405020304" pitchFamily="18" charset="0"/>
                <a:cs typeface="Times New Roman" panose="02020603050405020304" pitchFamily="18" charset="0"/>
              </a:rPr>
              <a:t> (heavily doped)</a:t>
            </a:r>
            <a:r>
              <a:rPr lang="en-US" altLang="en-US" sz="1800">
                <a:solidFill>
                  <a:schemeClr val="accent2"/>
                </a:solidFill>
                <a:latin typeface="Times New Roman" panose="02020603050405020304" pitchFamily="18" charset="0"/>
                <a:cs typeface="Times New Roman" panose="02020603050405020304" pitchFamily="18" charset="0"/>
              </a:rPr>
              <a:t> </a:t>
            </a:r>
            <a:r>
              <a:rPr lang="en-US" altLang="en-US" sz="1800">
                <a:solidFill>
                  <a:schemeClr val="accent2"/>
                </a:solidFill>
                <a:latin typeface="Times New Roman" panose="02020603050405020304" pitchFamily="18" charset="0"/>
                <a:cs typeface="Times New Roman" panose="02020603050405020304" pitchFamily="18" charset="0"/>
                <a:sym typeface="Wingdings" panose="05000000000000000000" pitchFamily="2" charset="2"/>
              </a:rPr>
              <a:t> electrons have enough momentum to cross the Base into the Collector.</a:t>
            </a:r>
          </a:p>
          <a:p>
            <a:pPr lvl="1" eaLnBrk="1" hangingPunct="1">
              <a:lnSpc>
                <a:spcPct val="80000"/>
              </a:lnSpc>
            </a:pPr>
            <a:r>
              <a:rPr lang="en-US" altLang="en-US" sz="1800">
                <a:solidFill>
                  <a:schemeClr val="accent2"/>
                </a:solidFill>
                <a:latin typeface="Times New Roman" panose="02020603050405020304" pitchFamily="18" charset="0"/>
                <a:cs typeface="Times New Roman" panose="02020603050405020304" pitchFamily="18" charset="0"/>
              </a:rPr>
              <a:t>The small base current I</a:t>
            </a:r>
            <a:r>
              <a:rPr lang="en-US" altLang="en-US" sz="1800" baseline="-25000">
                <a:solidFill>
                  <a:schemeClr val="accent2"/>
                </a:solidFill>
                <a:latin typeface="Times New Roman" panose="02020603050405020304" pitchFamily="18" charset="0"/>
                <a:cs typeface="Times New Roman" panose="02020603050405020304" pitchFamily="18" charset="0"/>
              </a:rPr>
              <a:t>B</a:t>
            </a:r>
            <a:r>
              <a:rPr lang="en-US" altLang="en-US" sz="1800">
                <a:solidFill>
                  <a:schemeClr val="accent2"/>
                </a:solidFill>
                <a:latin typeface="Times New Roman" panose="02020603050405020304" pitchFamily="18" charset="0"/>
                <a:cs typeface="Times New Roman" panose="02020603050405020304" pitchFamily="18" charset="0"/>
              </a:rPr>
              <a:t> controls a large current I</a:t>
            </a:r>
            <a:r>
              <a:rPr lang="en-US" altLang="en-US" sz="1800" baseline="-25000">
                <a:solidFill>
                  <a:schemeClr val="accent2"/>
                </a:solidFill>
                <a:latin typeface="Times New Roman" panose="02020603050405020304" pitchFamily="18" charset="0"/>
                <a:cs typeface="Times New Roman" panose="02020603050405020304" pitchFamily="18" charset="0"/>
              </a:rPr>
              <a:t>C</a:t>
            </a:r>
            <a:endParaRPr lang="en-US" altLang="en-US" sz="1800">
              <a:solidFill>
                <a:schemeClr val="accent2"/>
              </a:solidFill>
              <a:latin typeface="Times New Roman" panose="02020603050405020304" pitchFamily="18" charset="0"/>
              <a:cs typeface="Times New Roman" panose="02020603050405020304" pitchFamily="18" charset="0"/>
            </a:endParaRPr>
          </a:p>
        </p:txBody>
      </p:sp>
      <p:sp>
        <p:nvSpPr>
          <p:cNvPr id="12291" name="Rectangle 3"/>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NPN Transistor</a:t>
            </a:r>
          </a:p>
        </p:txBody>
      </p:sp>
      <p:pic>
        <p:nvPicPr>
          <p:cNvPr id="12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1" y="5029201"/>
            <a:ext cx="15335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6" descr="3-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4267200"/>
            <a:ext cx="43434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1" y="5257801"/>
            <a:ext cx="13620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9786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body" sz="half" idx="1"/>
          </p:nvPr>
        </p:nvSpPr>
        <p:spPr/>
        <p:txBody>
          <a:bodyPr/>
          <a:lstStyle/>
          <a:p>
            <a:pPr eaLnBrk="1" hangingPunct="1">
              <a:lnSpc>
                <a:spcPct val="80000"/>
              </a:lnSpc>
            </a:pPr>
            <a:r>
              <a:rPr lang="en-US" altLang="en-US" sz="2000">
                <a:solidFill>
                  <a:schemeClr val="accent2"/>
                </a:solidFill>
              </a:rPr>
              <a:t>Current Gain:</a:t>
            </a:r>
          </a:p>
          <a:p>
            <a:pPr lvl="1" eaLnBrk="1" hangingPunct="1">
              <a:lnSpc>
                <a:spcPct val="80000"/>
              </a:lnSpc>
            </a:pPr>
            <a:r>
              <a:rPr lang="en-US" altLang="en-US" sz="1800" u="sng">
                <a:solidFill>
                  <a:schemeClr val="accent2"/>
                </a:solidFill>
              </a:rPr>
              <a:t>α</a:t>
            </a:r>
            <a:r>
              <a:rPr lang="en-US" altLang="en-US" sz="1800">
                <a:solidFill>
                  <a:schemeClr val="accent2"/>
                </a:solidFill>
              </a:rPr>
              <a:t> is the fraction of </a:t>
            </a:r>
            <a:r>
              <a:rPr lang="en-US" altLang="en-US" sz="1800" u="sng">
                <a:solidFill>
                  <a:schemeClr val="accent2"/>
                </a:solidFill>
              </a:rPr>
              <a:t>electrons</a:t>
            </a:r>
            <a:r>
              <a:rPr lang="en-US" altLang="en-US" sz="1800">
                <a:solidFill>
                  <a:schemeClr val="accent2"/>
                </a:solidFill>
              </a:rPr>
              <a:t> that </a:t>
            </a:r>
            <a:r>
              <a:rPr lang="en-US" altLang="en-US" sz="1800" u="sng">
                <a:solidFill>
                  <a:schemeClr val="accent2"/>
                </a:solidFill>
              </a:rPr>
              <a:t>diffuse across</a:t>
            </a:r>
            <a:r>
              <a:rPr lang="en-US" altLang="en-US" sz="1800">
                <a:solidFill>
                  <a:schemeClr val="accent2"/>
                </a:solidFill>
              </a:rPr>
              <a:t> the narrow Base region</a:t>
            </a:r>
          </a:p>
          <a:p>
            <a:pPr lvl="1" eaLnBrk="1" hangingPunct="1">
              <a:lnSpc>
                <a:spcPct val="80000"/>
              </a:lnSpc>
            </a:pPr>
            <a:r>
              <a:rPr lang="en-US" altLang="en-US" sz="1800" u="sng">
                <a:solidFill>
                  <a:schemeClr val="accent2"/>
                </a:solidFill>
              </a:rPr>
              <a:t>1- α</a:t>
            </a:r>
            <a:r>
              <a:rPr lang="en-US" altLang="en-US" sz="1800">
                <a:solidFill>
                  <a:schemeClr val="accent2"/>
                </a:solidFill>
              </a:rPr>
              <a:t> is the fraction of electrons that </a:t>
            </a:r>
            <a:r>
              <a:rPr lang="en-US" altLang="en-US" sz="1800" u="sng">
                <a:solidFill>
                  <a:schemeClr val="accent2"/>
                </a:solidFill>
              </a:rPr>
              <a:t>recombine with holes</a:t>
            </a:r>
            <a:r>
              <a:rPr lang="en-US" altLang="en-US" sz="1800">
                <a:solidFill>
                  <a:schemeClr val="accent2"/>
                </a:solidFill>
              </a:rPr>
              <a:t> in the Base region to create base current</a:t>
            </a:r>
          </a:p>
          <a:p>
            <a:pPr eaLnBrk="1" hangingPunct="1">
              <a:lnSpc>
                <a:spcPct val="80000"/>
              </a:lnSpc>
            </a:pPr>
            <a:r>
              <a:rPr lang="en-US" altLang="en-US" sz="2000">
                <a:solidFill>
                  <a:schemeClr val="accent2"/>
                </a:solidFill>
              </a:rPr>
              <a:t>The current Gain is expressed in terms of the </a:t>
            </a:r>
            <a:r>
              <a:rPr lang="en-US" altLang="en-US" sz="2000" b="1" u="sng">
                <a:solidFill>
                  <a:schemeClr val="accent2"/>
                </a:solidFill>
              </a:rPr>
              <a:t>β</a:t>
            </a:r>
            <a:r>
              <a:rPr lang="en-US" altLang="en-US" sz="2000" u="sng">
                <a:solidFill>
                  <a:schemeClr val="accent2"/>
                </a:solidFill>
              </a:rPr>
              <a:t> (beta)</a:t>
            </a:r>
            <a:r>
              <a:rPr lang="en-US" altLang="en-US" sz="2000">
                <a:solidFill>
                  <a:schemeClr val="accent2"/>
                </a:solidFill>
              </a:rPr>
              <a:t> of the transistor (often called  h</a:t>
            </a:r>
            <a:r>
              <a:rPr lang="en-US" altLang="en-US" sz="2000" baseline="-25000">
                <a:solidFill>
                  <a:schemeClr val="accent2"/>
                </a:solidFill>
              </a:rPr>
              <a:t>fe</a:t>
            </a:r>
            <a:r>
              <a:rPr lang="en-US" altLang="en-US" sz="2000">
                <a:solidFill>
                  <a:schemeClr val="accent2"/>
                </a:solidFill>
              </a:rPr>
              <a:t> by manufacturers).</a:t>
            </a:r>
          </a:p>
          <a:p>
            <a:pPr eaLnBrk="1" hangingPunct="1">
              <a:lnSpc>
                <a:spcPct val="80000"/>
              </a:lnSpc>
            </a:pPr>
            <a:r>
              <a:rPr lang="en-US" altLang="en-US" sz="2000" u="sng">
                <a:solidFill>
                  <a:schemeClr val="accent2"/>
                </a:solidFill>
              </a:rPr>
              <a:t>β (beta)</a:t>
            </a:r>
            <a:r>
              <a:rPr lang="en-US" altLang="en-US" sz="2000">
                <a:solidFill>
                  <a:schemeClr val="accent2"/>
                </a:solidFill>
              </a:rPr>
              <a:t> is Temperature and Voltage dependent. </a:t>
            </a:r>
          </a:p>
          <a:p>
            <a:pPr eaLnBrk="1" hangingPunct="1">
              <a:lnSpc>
                <a:spcPct val="80000"/>
              </a:lnSpc>
            </a:pPr>
            <a:r>
              <a:rPr lang="en-US" altLang="en-US" sz="2000">
                <a:solidFill>
                  <a:schemeClr val="accent2"/>
                </a:solidFill>
              </a:rPr>
              <a:t>It can vary a lot among transistors (common values for signal BJT: 20 - 200).</a:t>
            </a:r>
          </a:p>
        </p:txBody>
      </p:sp>
      <p:graphicFrame>
        <p:nvGraphicFramePr>
          <p:cNvPr id="1026" name="Rectangle 3"/>
          <p:cNvGraphicFramePr>
            <a:graphicFrameLocks/>
          </p:cNvGraphicFramePr>
          <p:nvPr>
            <p:ph sz="quarter" idx="2"/>
          </p:nvPr>
        </p:nvGraphicFramePr>
        <p:xfrm>
          <a:off x="6551614" y="1600200"/>
          <a:ext cx="3279775" cy="2185988"/>
        </p:xfrm>
        <a:graphic>
          <a:graphicData uri="http://schemas.openxmlformats.org/presentationml/2006/ole">
            <mc:AlternateContent xmlns:mc="http://schemas.openxmlformats.org/markup-compatibility/2006">
              <mc:Choice xmlns:v="urn:schemas-microsoft-com:vml" Requires="v">
                <p:oleObj spid="_x0000_s1028" name="Equation" r:id="rId3" imgW="0" imgH="0" progId="Equation.3">
                  <p:embed/>
                </p:oleObj>
              </mc:Choice>
              <mc:Fallback>
                <p:oleObj name="Equation" r:id="rId3" imgW="0" imgH="0" progId="Equation.3">
                  <p:embed/>
                  <p:pic>
                    <p:nvPicPr>
                      <p:cNvPr id="1026" name="Rectangle 3"/>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551614" y="1600200"/>
                        <a:ext cx="3279775" cy="218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 name="Rectangle 4"/>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characteristics</a:t>
            </a:r>
          </a:p>
        </p:txBody>
      </p:sp>
      <p:graphicFrame>
        <p:nvGraphicFramePr>
          <p:cNvPr id="1027" name="Object 6"/>
          <p:cNvGraphicFramePr>
            <a:graphicFrameLocks noChangeAspect="1"/>
          </p:cNvGraphicFramePr>
          <p:nvPr>
            <p:ph sz="quarter" idx="3"/>
          </p:nvPr>
        </p:nvGraphicFramePr>
        <p:xfrm>
          <a:off x="7239000" y="2514601"/>
          <a:ext cx="2279650" cy="2187575"/>
        </p:xfrm>
        <a:graphic>
          <a:graphicData uri="http://schemas.openxmlformats.org/presentationml/2006/ole">
            <mc:AlternateContent xmlns:mc="http://schemas.openxmlformats.org/markup-compatibility/2006">
              <mc:Choice xmlns:v="urn:schemas-microsoft-com:vml" Requires="v">
                <p:oleObj spid="_x0000_s1029" name="Equation" r:id="rId4" imgW="939600" imgH="901440" progId="Equation.3">
                  <p:embed/>
                </p:oleObj>
              </mc:Choice>
              <mc:Fallback>
                <p:oleObj name="Equation" r:id="rId4" imgW="939600" imgH="901440" progId="Equation.3">
                  <p:embed/>
                  <p:pic>
                    <p:nvPicPr>
                      <p:cNvPr id="102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2514601"/>
                        <a:ext cx="2279650"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815905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1"/>
          </p:nvPr>
        </p:nvSpPr>
        <p:spPr>
          <a:xfrm>
            <a:off x="1981200" y="1600200"/>
            <a:ext cx="8305800" cy="2133600"/>
          </a:xfrm>
        </p:spPr>
        <p:txBody>
          <a:bodyPr/>
          <a:lstStyle/>
          <a:p>
            <a:pPr eaLnBrk="1" hangingPunct="1">
              <a:lnSpc>
                <a:spcPct val="90000"/>
              </a:lnSpc>
            </a:pPr>
            <a:r>
              <a:rPr lang="en-US" altLang="en-US" sz="2000">
                <a:solidFill>
                  <a:schemeClr val="accent2"/>
                </a:solidFill>
              </a:rPr>
              <a:t>Emitter is grounded.</a:t>
            </a:r>
          </a:p>
          <a:p>
            <a:pPr eaLnBrk="1" hangingPunct="1">
              <a:lnSpc>
                <a:spcPct val="90000"/>
              </a:lnSpc>
            </a:pPr>
            <a:r>
              <a:rPr lang="en-US" altLang="en-US" sz="2000">
                <a:solidFill>
                  <a:schemeClr val="accent2"/>
                </a:solidFill>
              </a:rPr>
              <a:t>Base-Emitter starts to conduct with V</a:t>
            </a:r>
            <a:r>
              <a:rPr lang="en-US" altLang="en-US" sz="2000" baseline="-25000">
                <a:solidFill>
                  <a:schemeClr val="accent2"/>
                </a:solidFill>
              </a:rPr>
              <a:t>BE</a:t>
            </a:r>
            <a:r>
              <a:rPr lang="en-US" altLang="en-US" sz="2000">
                <a:solidFill>
                  <a:schemeClr val="accent2"/>
                </a:solidFill>
              </a:rPr>
              <a:t>=0.6V,I</a:t>
            </a:r>
            <a:r>
              <a:rPr lang="en-US" altLang="en-US" sz="2000" baseline="-25000">
                <a:solidFill>
                  <a:schemeClr val="accent2"/>
                </a:solidFill>
              </a:rPr>
              <a:t>C</a:t>
            </a:r>
            <a:r>
              <a:rPr lang="en-US" altLang="en-US" sz="2000">
                <a:solidFill>
                  <a:schemeClr val="accent2"/>
                </a:solidFill>
              </a:rPr>
              <a:t> flows and it’s I</a:t>
            </a:r>
            <a:r>
              <a:rPr lang="en-US" altLang="en-US" sz="2000" baseline="-25000">
                <a:solidFill>
                  <a:schemeClr val="accent2"/>
                </a:solidFill>
              </a:rPr>
              <a:t>C</a:t>
            </a:r>
            <a:r>
              <a:rPr lang="en-US" altLang="en-US" sz="2000">
                <a:solidFill>
                  <a:schemeClr val="accent2"/>
                </a:solidFill>
              </a:rPr>
              <a:t>=</a:t>
            </a:r>
            <a:r>
              <a:rPr lang="en-US" altLang="en-US" sz="2000">
                <a:solidFill>
                  <a:schemeClr val="accent2"/>
                </a:solidFill>
                <a:latin typeface="Symbol" panose="05050102010706020507" pitchFamily="18" charset="2"/>
              </a:rPr>
              <a:t>b*</a:t>
            </a:r>
            <a:r>
              <a:rPr lang="en-US" altLang="en-US" sz="2000">
                <a:solidFill>
                  <a:schemeClr val="accent2"/>
                </a:solidFill>
              </a:rPr>
              <a:t>I</a:t>
            </a:r>
            <a:r>
              <a:rPr lang="en-US" altLang="en-US" sz="2000" baseline="-25000">
                <a:solidFill>
                  <a:schemeClr val="accent2"/>
                </a:solidFill>
              </a:rPr>
              <a:t>B</a:t>
            </a:r>
            <a:r>
              <a:rPr lang="en-US" altLang="en-US" sz="2000">
                <a:solidFill>
                  <a:schemeClr val="accent2"/>
                </a:solidFill>
              </a:rPr>
              <a:t>.</a:t>
            </a:r>
          </a:p>
          <a:p>
            <a:pPr eaLnBrk="1" hangingPunct="1">
              <a:lnSpc>
                <a:spcPct val="90000"/>
              </a:lnSpc>
            </a:pPr>
            <a:r>
              <a:rPr lang="en-US" altLang="en-US" sz="2000">
                <a:solidFill>
                  <a:schemeClr val="accent2"/>
                </a:solidFill>
              </a:rPr>
              <a:t>Increasing I</a:t>
            </a:r>
            <a:r>
              <a:rPr lang="en-US" altLang="en-US" sz="2000" baseline="-25000">
                <a:solidFill>
                  <a:schemeClr val="accent2"/>
                </a:solidFill>
              </a:rPr>
              <a:t>B</a:t>
            </a:r>
            <a:r>
              <a:rPr lang="en-US" altLang="en-US" sz="2000">
                <a:solidFill>
                  <a:schemeClr val="accent2"/>
                </a:solidFill>
              </a:rPr>
              <a:t>, V</a:t>
            </a:r>
            <a:r>
              <a:rPr lang="en-US" altLang="en-US" sz="2000" baseline="-25000">
                <a:solidFill>
                  <a:schemeClr val="accent2"/>
                </a:solidFill>
              </a:rPr>
              <a:t>BE</a:t>
            </a:r>
            <a:r>
              <a:rPr lang="en-US" altLang="en-US" sz="2000">
                <a:solidFill>
                  <a:schemeClr val="accent2"/>
                </a:solidFill>
              </a:rPr>
              <a:t> slowly increases to 0.7V but I</a:t>
            </a:r>
            <a:r>
              <a:rPr lang="en-US" altLang="en-US" sz="2000" baseline="-25000">
                <a:solidFill>
                  <a:schemeClr val="accent2"/>
                </a:solidFill>
              </a:rPr>
              <a:t>C</a:t>
            </a:r>
            <a:r>
              <a:rPr lang="en-US" altLang="en-US" sz="2000">
                <a:solidFill>
                  <a:schemeClr val="accent2"/>
                </a:solidFill>
              </a:rPr>
              <a:t> rises exponentially.</a:t>
            </a:r>
          </a:p>
          <a:p>
            <a:pPr eaLnBrk="1" hangingPunct="1">
              <a:lnSpc>
                <a:spcPct val="90000"/>
              </a:lnSpc>
            </a:pPr>
            <a:r>
              <a:rPr lang="en-US" altLang="en-US" sz="2000">
                <a:solidFill>
                  <a:schemeClr val="accent2"/>
                </a:solidFill>
              </a:rPr>
              <a:t>As I</a:t>
            </a:r>
            <a:r>
              <a:rPr lang="en-US" altLang="en-US" sz="2000" baseline="-25000">
                <a:solidFill>
                  <a:schemeClr val="accent2"/>
                </a:solidFill>
              </a:rPr>
              <a:t>C</a:t>
            </a:r>
            <a:r>
              <a:rPr lang="en-US" altLang="en-US" sz="2000">
                <a:solidFill>
                  <a:schemeClr val="accent2"/>
                </a:solidFill>
              </a:rPr>
              <a:t> rises ,voltage drop across R</a:t>
            </a:r>
            <a:r>
              <a:rPr lang="en-US" altLang="en-US" sz="2000" baseline="-25000">
                <a:solidFill>
                  <a:schemeClr val="accent2"/>
                </a:solidFill>
              </a:rPr>
              <a:t>C</a:t>
            </a:r>
            <a:r>
              <a:rPr lang="en-US" altLang="en-US" sz="2000">
                <a:solidFill>
                  <a:schemeClr val="accent2"/>
                </a:solidFill>
              </a:rPr>
              <a:t> increases and V</a:t>
            </a:r>
            <a:r>
              <a:rPr lang="en-US" altLang="en-US" sz="2000" baseline="-25000">
                <a:solidFill>
                  <a:schemeClr val="accent2"/>
                </a:solidFill>
              </a:rPr>
              <a:t>CE</a:t>
            </a:r>
            <a:r>
              <a:rPr lang="en-US" altLang="en-US" sz="2000">
                <a:solidFill>
                  <a:schemeClr val="accent2"/>
                </a:solidFill>
              </a:rPr>
              <a:t> drops toward ground. (transistor in saturation, no more linear relation between I</a:t>
            </a:r>
            <a:r>
              <a:rPr lang="en-US" altLang="en-US" sz="2000" baseline="-25000">
                <a:solidFill>
                  <a:schemeClr val="accent2"/>
                </a:solidFill>
              </a:rPr>
              <a:t>C</a:t>
            </a:r>
            <a:r>
              <a:rPr lang="en-US" altLang="en-US" sz="2000">
                <a:solidFill>
                  <a:schemeClr val="accent2"/>
                </a:solidFill>
              </a:rPr>
              <a:t> and I</a:t>
            </a:r>
            <a:r>
              <a:rPr lang="en-US" altLang="en-US" sz="2000" baseline="-25000">
                <a:solidFill>
                  <a:schemeClr val="accent2"/>
                </a:solidFill>
              </a:rPr>
              <a:t>B</a:t>
            </a:r>
            <a:r>
              <a:rPr lang="en-US" altLang="en-US" sz="2000">
                <a:solidFill>
                  <a:schemeClr val="accent2"/>
                </a:solidFill>
              </a:rPr>
              <a:t>)</a:t>
            </a:r>
          </a:p>
        </p:txBody>
      </p:sp>
      <p:sp>
        <p:nvSpPr>
          <p:cNvPr id="13315" name="Rectangle 3"/>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NPN Common Emitter circuit</a:t>
            </a:r>
          </a:p>
        </p:txBody>
      </p:sp>
      <p:pic>
        <p:nvPicPr>
          <p:cNvPr id="13316" name="Picture 5" descr="3-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3657600"/>
            <a:ext cx="237172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6" descr="carat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657601"/>
            <a:ext cx="480060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82877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Common Emitter characteristics</a:t>
            </a:r>
          </a:p>
        </p:txBody>
      </p:sp>
      <p:pic>
        <p:nvPicPr>
          <p:cNvPr id="14339" name="Picture 4" descr="carat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971801"/>
            <a:ext cx="6019800"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Oval 5"/>
          <p:cNvSpPr>
            <a:spLocks noChangeArrowheads="1"/>
          </p:cNvSpPr>
          <p:nvPr/>
        </p:nvSpPr>
        <p:spPr bwMode="auto">
          <a:xfrm>
            <a:off x="4038600" y="5867400"/>
            <a:ext cx="685800" cy="2286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4341" name="Text Box 6"/>
          <p:cNvSpPr txBox="1">
            <a:spLocks noChangeArrowheads="1"/>
          </p:cNvSpPr>
          <p:nvPr/>
        </p:nvSpPr>
        <p:spPr bwMode="auto">
          <a:xfrm>
            <a:off x="1676400" y="5410201"/>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cs typeface="Arial" panose="020B0604020202020204" pitchFamily="34" charset="0"/>
              </a:rPr>
              <a:t>No current flows</a:t>
            </a:r>
          </a:p>
        </p:txBody>
      </p:sp>
      <p:sp>
        <p:nvSpPr>
          <p:cNvPr id="14342" name="Oval 7"/>
          <p:cNvSpPr>
            <a:spLocks noChangeArrowheads="1"/>
          </p:cNvSpPr>
          <p:nvPr/>
        </p:nvSpPr>
        <p:spPr bwMode="auto">
          <a:xfrm>
            <a:off x="5029200" y="3352800"/>
            <a:ext cx="1066800" cy="3810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4343" name="Oval 8"/>
          <p:cNvSpPr>
            <a:spLocks noChangeArrowheads="1"/>
          </p:cNvSpPr>
          <p:nvPr/>
        </p:nvSpPr>
        <p:spPr bwMode="auto">
          <a:xfrm>
            <a:off x="3429000" y="3886200"/>
            <a:ext cx="1066800" cy="3810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4344" name="Oval 9"/>
          <p:cNvSpPr>
            <a:spLocks noChangeArrowheads="1"/>
          </p:cNvSpPr>
          <p:nvPr/>
        </p:nvSpPr>
        <p:spPr bwMode="auto">
          <a:xfrm>
            <a:off x="6324600" y="3276600"/>
            <a:ext cx="990600" cy="304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4345" name="Line 10"/>
          <p:cNvSpPr>
            <a:spLocks noChangeShapeType="1"/>
          </p:cNvSpPr>
          <p:nvPr/>
        </p:nvSpPr>
        <p:spPr bwMode="auto">
          <a:xfrm>
            <a:off x="2667000" y="5791200"/>
            <a:ext cx="1371600" cy="228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6" name="Text Box 11"/>
          <p:cNvSpPr txBox="1">
            <a:spLocks noChangeArrowheads="1"/>
          </p:cNvSpPr>
          <p:nvPr/>
        </p:nvSpPr>
        <p:spPr bwMode="auto">
          <a:xfrm>
            <a:off x="1676400" y="1676401"/>
            <a:ext cx="198120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olidFill>
                  <a:schemeClr val="accent2"/>
                </a:solidFill>
                <a:cs typeface="Arial" panose="020B0604020202020204" pitchFamily="34" charset="0"/>
              </a:rPr>
              <a:t>Collector current controlled by the collector circuit. (</a:t>
            </a:r>
            <a:r>
              <a:rPr lang="en-US" altLang="en-US" u="sng">
                <a:solidFill>
                  <a:schemeClr val="accent2"/>
                </a:solidFill>
                <a:cs typeface="Arial" panose="020B0604020202020204" pitchFamily="34" charset="0"/>
              </a:rPr>
              <a:t>Switch behavior</a:t>
            </a:r>
            <a:r>
              <a:rPr lang="en-US" altLang="en-US">
                <a:solidFill>
                  <a:schemeClr val="accent2"/>
                </a:solidFill>
                <a:cs typeface="Arial" panose="020B0604020202020204" pitchFamily="34" charset="0"/>
              </a:rPr>
              <a:t>)</a:t>
            </a:r>
          </a:p>
          <a:p>
            <a:pPr eaLnBrk="1" hangingPunct="1">
              <a:spcBef>
                <a:spcPct val="50000"/>
              </a:spcBef>
            </a:pPr>
            <a:r>
              <a:rPr lang="en-US" altLang="en-US">
                <a:solidFill>
                  <a:schemeClr val="accent2"/>
                </a:solidFill>
                <a:cs typeface="Arial" panose="020B0604020202020204" pitchFamily="34" charset="0"/>
              </a:rPr>
              <a:t>In full saturation V</a:t>
            </a:r>
            <a:r>
              <a:rPr lang="en-US" altLang="en-US" baseline="-25000">
                <a:solidFill>
                  <a:schemeClr val="accent2"/>
                </a:solidFill>
                <a:cs typeface="Arial" panose="020B0604020202020204" pitchFamily="34" charset="0"/>
              </a:rPr>
              <a:t>CE</a:t>
            </a:r>
            <a:r>
              <a:rPr lang="en-US" altLang="en-US">
                <a:solidFill>
                  <a:schemeClr val="accent2"/>
                </a:solidFill>
                <a:cs typeface="Arial" panose="020B0604020202020204" pitchFamily="34" charset="0"/>
              </a:rPr>
              <a:t>=0.2V.</a:t>
            </a:r>
          </a:p>
        </p:txBody>
      </p:sp>
      <p:sp>
        <p:nvSpPr>
          <p:cNvPr id="14347" name="Line 12"/>
          <p:cNvSpPr>
            <a:spLocks noChangeShapeType="1"/>
          </p:cNvSpPr>
          <p:nvPr/>
        </p:nvSpPr>
        <p:spPr bwMode="auto">
          <a:xfrm>
            <a:off x="2209800" y="3581400"/>
            <a:ext cx="129540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8" name="Text Box 13"/>
          <p:cNvSpPr txBox="1">
            <a:spLocks noChangeArrowheads="1"/>
          </p:cNvSpPr>
          <p:nvPr/>
        </p:nvSpPr>
        <p:spPr bwMode="auto">
          <a:xfrm>
            <a:off x="4191000" y="1676400"/>
            <a:ext cx="2133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olidFill>
                  <a:schemeClr val="accent2"/>
                </a:solidFill>
                <a:cs typeface="Arial" panose="020B0604020202020204" pitchFamily="34" charset="0"/>
              </a:rPr>
              <a:t>Collector current proportional to Base current</a:t>
            </a:r>
          </a:p>
        </p:txBody>
      </p:sp>
      <p:sp>
        <p:nvSpPr>
          <p:cNvPr id="14349" name="Line 14"/>
          <p:cNvSpPr>
            <a:spLocks noChangeShapeType="1"/>
          </p:cNvSpPr>
          <p:nvPr/>
        </p:nvSpPr>
        <p:spPr bwMode="auto">
          <a:xfrm>
            <a:off x="4876800" y="2590800"/>
            <a:ext cx="381000" cy="838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50" name="Text Box 15"/>
          <p:cNvSpPr txBox="1">
            <a:spLocks noChangeArrowheads="1"/>
          </p:cNvSpPr>
          <p:nvPr/>
        </p:nvSpPr>
        <p:spPr bwMode="auto">
          <a:xfrm>
            <a:off x="7848600" y="1828800"/>
            <a:ext cx="19050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olidFill>
                  <a:schemeClr val="accent2"/>
                </a:solidFill>
                <a:cs typeface="Arial" panose="020B0604020202020204" pitchFamily="34" charset="0"/>
              </a:rPr>
              <a:t>The avalanche multiplication of current through collector junction occurs: to be avoided</a:t>
            </a:r>
          </a:p>
        </p:txBody>
      </p:sp>
      <p:sp>
        <p:nvSpPr>
          <p:cNvPr id="14351" name="Oval 16"/>
          <p:cNvSpPr>
            <a:spLocks noChangeArrowheads="1"/>
          </p:cNvSpPr>
          <p:nvPr/>
        </p:nvSpPr>
        <p:spPr bwMode="auto">
          <a:xfrm>
            <a:off x="7162800" y="5638800"/>
            <a:ext cx="685800" cy="3810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4352" name="Line 17"/>
          <p:cNvSpPr>
            <a:spLocks noChangeShapeType="1"/>
          </p:cNvSpPr>
          <p:nvPr/>
        </p:nvSpPr>
        <p:spPr bwMode="auto">
          <a:xfrm flipV="1">
            <a:off x="6705600" y="2438400"/>
            <a:ext cx="11430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057114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Group 2"/>
          <p:cNvGraphicFramePr>
            <a:graphicFrameLocks noGrp="1"/>
          </p:cNvGraphicFramePr>
          <p:nvPr>
            <p:ph type="tbl" idx="1"/>
          </p:nvPr>
        </p:nvGraphicFramePr>
        <p:xfrm>
          <a:off x="1981200" y="1600200"/>
          <a:ext cx="8229600" cy="4810126"/>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94495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dirty="0" smtClean="0">
                          <a:ln>
                            <a:noFill/>
                          </a:ln>
                          <a:solidFill>
                            <a:schemeClr val="hlink"/>
                          </a:solidFill>
                          <a:effectLst>
                            <a:outerShdw blurRad="38100" dist="38100" dir="2700000" algn="tl">
                              <a:srgbClr val="C0C0C0"/>
                            </a:outerShdw>
                          </a:effectLst>
                          <a:latin typeface="Arial" pitchFamily="34" charset="0"/>
                        </a:rPr>
                        <a:t>Operation Region</a:t>
                      </a:r>
                      <a:endParaRPr kumimoji="0" lang="en-US" sz="2800" b="1" i="0" u="none" strike="noStrike" cap="none" normalizeH="0" baseline="0" dirty="0" smtClean="0">
                        <a:ln>
                          <a:noFill/>
                        </a:ln>
                        <a:solidFill>
                          <a:schemeClr val="tx1"/>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latin typeface="Arial" pitchFamily="34" charset="0"/>
                        </a:rPr>
                        <a:t>I</a:t>
                      </a:r>
                      <a:r>
                        <a:rPr kumimoji="0" lang="en-US" sz="2800" b="1" i="1" u="none" strike="noStrike" cap="none" normalizeH="0" baseline="-25000" smtClean="0">
                          <a:ln>
                            <a:noFill/>
                          </a:ln>
                          <a:solidFill>
                            <a:srgbClr val="0066FF"/>
                          </a:solidFill>
                          <a:effectLst/>
                          <a:latin typeface="Arial" pitchFamily="34" charset="0"/>
                        </a:rPr>
                        <a:t>B </a:t>
                      </a:r>
                      <a:r>
                        <a:rPr kumimoji="0" lang="en-US" sz="2800" b="1" i="1" u="none" strike="noStrike" cap="none" normalizeH="0" baseline="0" smtClean="0">
                          <a:ln>
                            <a:noFill/>
                          </a:ln>
                          <a:solidFill>
                            <a:srgbClr val="0066FF"/>
                          </a:solidFill>
                          <a:effectLst/>
                          <a:latin typeface="Arial" pitchFamily="34" charset="0"/>
                        </a:rPr>
                        <a:t>or V</a:t>
                      </a:r>
                      <a:r>
                        <a:rPr kumimoji="0" lang="en-US" sz="2800" b="1" i="1" u="none" strike="noStrike" cap="none" normalizeH="0" baseline="-25000" smtClean="0">
                          <a:ln>
                            <a:noFill/>
                          </a:ln>
                          <a:solidFill>
                            <a:srgbClr val="0066FF"/>
                          </a:solidFill>
                          <a:effectLst/>
                          <a:latin typeface="Arial" pitchFamily="34" charset="0"/>
                        </a:rPr>
                        <a:t>CE </a:t>
                      </a:r>
                      <a:r>
                        <a:rPr kumimoji="0" lang="en-US" sz="2800" b="1" i="1" u="none" strike="noStrike" cap="none" normalizeH="0" baseline="0" smtClean="0">
                          <a:ln>
                            <a:noFill/>
                          </a:ln>
                          <a:solidFill>
                            <a:srgbClr val="0066FF"/>
                          </a:solidFill>
                          <a:effectLst/>
                          <a:latin typeface="Arial" pitchFamily="34" charset="0"/>
                        </a:rPr>
                        <a:t>Char. </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chemeClr val="hlink"/>
                          </a:solidFill>
                          <a:effectLst>
                            <a:outerShdw blurRad="38100" dist="38100" dir="2700000" algn="tl">
                              <a:srgbClr val="C0C0C0"/>
                            </a:outerShdw>
                          </a:effectLst>
                          <a:latin typeface="Arial" pitchFamily="34" charset="0"/>
                        </a:rPr>
                        <a:t>BC and BE Junctions</a:t>
                      </a:r>
                      <a:endParaRPr kumimoji="0" lang="en-US" sz="2800" b="1" i="0" u="none" strike="noStrike" cap="none" normalizeH="0" baseline="0" smtClean="0">
                        <a:ln>
                          <a:noFill/>
                        </a:ln>
                        <a:solidFill>
                          <a:schemeClr val="tx1"/>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outerShdw blurRad="38100" dist="38100" dir="2700000" algn="tl">
                              <a:srgbClr val="C0C0C0"/>
                            </a:outerShdw>
                          </a:effectLst>
                          <a:latin typeface="Arial" pitchFamily="34" charset="0"/>
                        </a:rPr>
                        <a:t>Mode</a:t>
                      </a:r>
                      <a:endParaRPr kumimoji="0" lang="en-US" sz="2800" b="1" i="0" u="none" strike="noStrike" cap="none" normalizeH="0" baseline="0" smtClean="0">
                        <a:ln>
                          <a:noFill/>
                        </a:ln>
                        <a:solidFill>
                          <a:schemeClr val="tx1"/>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95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33CC33"/>
                          </a:solidFill>
                          <a:effectLst/>
                          <a:latin typeface="Arial" pitchFamily="34" charset="0"/>
                        </a:rPr>
                        <a:t>Cutoff</a:t>
                      </a:r>
                      <a:endParaRPr kumimoji="0" lang="en-US" sz="2800" b="0" i="0" u="none" strike="noStrike" cap="none" normalizeH="0" baseline="0" smtClean="0">
                        <a:ln>
                          <a:noFill/>
                        </a:ln>
                        <a:solidFill>
                          <a:schemeClr val="tx1"/>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latin typeface="Arial" pitchFamily="34" charset="0"/>
                        </a:rPr>
                        <a:t>I</a:t>
                      </a:r>
                      <a:r>
                        <a:rPr kumimoji="0" lang="en-US" sz="2800" b="1" i="1" u="none" strike="noStrike" cap="none" normalizeH="0" baseline="-25000" smtClean="0">
                          <a:ln>
                            <a:noFill/>
                          </a:ln>
                          <a:solidFill>
                            <a:srgbClr val="0066FF"/>
                          </a:solidFill>
                          <a:effectLst/>
                          <a:latin typeface="Arial" pitchFamily="34" charset="0"/>
                        </a:rPr>
                        <a:t>B</a:t>
                      </a:r>
                      <a:r>
                        <a:rPr kumimoji="0" lang="en-US" sz="2800" b="0" i="0" u="none" strike="noStrike" cap="none" normalizeH="0" baseline="0" smtClean="0">
                          <a:ln>
                            <a:noFill/>
                          </a:ln>
                          <a:solidFill>
                            <a:schemeClr val="tx1"/>
                          </a:solidFill>
                          <a:effectLst/>
                          <a:latin typeface="Arial" pitchFamily="34" charset="0"/>
                        </a:rPr>
                        <a:t> = Very small</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accent2"/>
                          </a:solidFill>
                          <a:effectLst/>
                          <a:latin typeface="Arial" pitchFamily="34" charset="0"/>
                        </a:rPr>
                        <a:t>Reverse &amp; Reverse</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accent2"/>
                          </a:solidFill>
                          <a:effectLst/>
                          <a:latin typeface="Arial" pitchFamily="34" charset="0"/>
                        </a:rPr>
                        <a:t>Open Switch</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495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CC00"/>
                          </a:solidFill>
                          <a:effectLst/>
                          <a:latin typeface="Arial" pitchFamily="34" charset="0"/>
                        </a:rPr>
                        <a:t>Saturation</a:t>
                      </a:r>
                      <a:endParaRPr kumimoji="0" lang="en-US" sz="2800" b="0" i="0" u="none" strike="noStrike" cap="none" normalizeH="0" baseline="0" smtClean="0">
                        <a:ln>
                          <a:noFill/>
                        </a:ln>
                        <a:solidFill>
                          <a:srgbClr val="00CC00"/>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latin typeface="Arial" pitchFamily="34" charset="0"/>
                        </a:rPr>
                        <a:t>V</a:t>
                      </a:r>
                      <a:r>
                        <a:rPr kumimoji="0" lang="en-US" sz="2800" b="1" i="1" u="none" strike="noStrike" cap="none" normalizeH="0" baseline="-25000" smtClean="0">
                          <a:ln>
                            <a:noFill/>
                          </a:ln>
                          <a:solidFill>
                            <a:srgbClr val="0066FF"/>
                          </a:solidFill>
                          <a:effectLst/>
                          <a:latin typeface="Arial" pitchFamily="34" charset="0"/>
                        </a:rPr>
                        <a:t>CE</a:t>
                      </a:r>
                      <a:r>
                        <a:rPr kumimoji="0" lang="en-US" sz="2800" b="0" i="0" u="none" strike="noStrike" cap="none" normalizeH="0" baseline="0" smtClean="0">
                          <a:ln>
                            <a:noFill/>
                          </a:ln>
                          <a:solidFill>
                            <a:schemeClr val="tx1"/>
                          </a:solidFill>
                          <a:effectLst/>
                          <a:latin typeface="Arial" pitchFamily="34" charset="0"/>
                        </a:rPr>
                        <a:t> = Small</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accent2"/>
                          </a:solidFill>
                          <a:effectLst/>
                          <a:latin typeface="Arial" pitchFamily="34" charset="0"/>
                        </a:rPr>
                        <a:t>Forward &amp; Forward</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accent2"/>
                          </a:solidFill>
                          <a:effectLst/>
                          <a:latin typeface="Arial" pitchFamily="34" charset="0"/>
                        </a:rPr>
                        <a:t>Closed Switch</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303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CC00"/>
                          </a:solidFill>
                          <a:effectLst/>
                          <a:latin typeface="Arial" pitchFamily="34" charset="0"/>
                        </a:rPr>
                        <a:t>Active Linear</a:t>
                      </a:r>
                      <a:endParaRPr kumimoji="0" lang="en-US" sz="2800" b="0" i="0" u="none" strike="noStrike" cap="none" normalizeH="0" baseline="0" smtClean="0">
                        <a:ln>
                          <a:noFill/>
                        </a:ln>
                        <a:solidFill>
                          <a:srgbClr val="00CC00"/>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latin typeface="Arial" pitchFamily="34" charset="0"/>
                        </a:rPr>
                        <a:t>V</a:t>
                      </a:r>
                      <a:r>
                        <a:rPr kumimoji="0" lang="en-US" sz="2800" b="1" i="1" u="none" strike="noStrike" cap="none" normalizeH="0" baseline="-25000" smtClean="0">
                          <a:ln>
                            <a:noFill/>
                          </a:ln>
                          <a:solidFill>
                            <a:srgbClr val="0066FF"/>
                          </a:solidFill>
                          <a:effectLst/>
                          <a:latin typeface="Arial" pitchFamily="34" charset="0"/>
                        </a:rPr>
                        <a:t>CE </a:t>
                      </a:r>
                      <a:r>
                        <a:rPr kumimoji="0" lang="en-US" sz="2800" b="0" i="0" u="none" strike="noStrike" cap="none" normalizeH="0" baseline="0" smtClean="0">
                          <a:ln>
                            <a:noFill/>
                          </a:ln>
                          <a:solidFill>
                            <a:schemeClr val="tx1"/>
                          </a:solidFill>
                          <a:effectLst/>
                          <a:latin typeface="Arial" pitchFamily="34" charset="0"/>
                        </a:rPr>
                        <a:t> = Moderate</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accent2"/>
                          </a:solidFill>
                          <a:effectLst/>
                          <a:latin typeface="Arial" pitchFamily="34" charset="0"/>
                        </a:rPr>
                        <a:t>Reverse &amp;</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accent2"/>
                          </a:solidFill>
                          <a:effectLst/>
                          <a:latin typeface="Arial" pitchFamily="34" charset="0"/>
                        </a:rPr>
                        <a:t>Forward</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accent2"/>
                          </a:solidFill>
                          <a:effectLst/>
                          <a:latin typeface="Arial" pitchFamily="34" charset="0"/>
                        </a:rPr>
                        <a:t>Linear Amplifier</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495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pitchFamily="34" charset="0"/>
                        </a:rPr>
                        <a:t>Break-down</a:t>
                      </a:r>
                      <a:endParaRPr kumimoji="0" lang="en-US" sz="2800" b="0" i="0" u="none" strike="noStrike" cap="none" normalizeH="0" baseline="0" smtClean="0">
                        <a:ln>
                          <a:noFill/>
                        </a:ln>
                        <a:solidFill>
                          <a:srgbClr val="FF0000"/>
                        </a:solidFill>
                        <a:effectLst/>
                        <a:latin typeface="Arial"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1" u="none" strike="noStrike" cap="none" normalizeH="0" baseline="0" smtClean="0">
                          <a:ln>
                            <a:noFill/>
                          </a:ln>
                          <a:solidFill>
                            <a:srgbClr val="0066FF"/>
                          </a:solidFill>
                          <a:effectLst/>
                          <a:latin typeface="Arial" pitchFamily="34" charset="0"/>
                        </a:rPr>
                        <a:t>V</a:t>
                      </a:r>
                      <a:r>
                        <a:rPr kumimoji="0" lang="en-US" sz="2800" b="1" i="1" u="none" strike="noStrike" cap="none" normalizeH="0" baseline="-25000" smtClean="0">
                          <a:ln>
                            <a:noFill/>
                          </a:ln>
                          <a:solidFill>
                            <a:srgbClr val="0066FF"/>
                          </a:solidFill>
                          <a:effectLst/>
                          <a:latin typeface="Arial" pitchFamily="34" charset="0"/>
                        </a:rPr>
                        <a:t>CE</a:t>
                      </a:r>
                      <a:r>
                        <a:rPr kumimoji="0" lang="en-US" sz="2800" b="0" i="0" u="none" strike="noStrike" cap="none" normalizeH="0" baseline="0" smtClean="0">
                          <a:ln>
                            <a:noFill/>
                          </a:ln>
                          <a:solidFill>
                            <a:schemeClr val="tx1"/>
                          </a:solidFill>
                          <a:effectLst/>
                          <a:latin typeface="Arial" pitchFamily="34" charset="0"/>
                        </a:rPr>
                        <a:t> = Large</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accent2"/>
                          </a:solidFill>
                          <a:effectLst/>
                          <a:latin typeface="Arial" pitchFamily="34" charset="0"/>
                        </a:rPr>
                        <a:t>Beyond Limits</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accent2"/>
                          </a:solidFill>
                          <a:effectLst/>
                          <a:latin typeface="Arial" pitchFamily="34" charset="0"/>
                        </a:rPr>
                        <a:t>Overload</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394" name="Rectangle 34"/>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Operation region summary</a:t>
            </a:r>
          </a:p>
        </p:txBody>
      </p:sp>
    </p:spTree>
    <p:extLst>
      <p:ext uri="{BB962C8B-B14F-4D97-AF65-F5344CB8AC3E}">
        <p14:creationId xmlns:p14="http://schemas.microsoft.com/office/powerpoint/2010/main" val="1304790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as Switch</a:t>
            </a:r>
          </a:p>
        </p:txBody>
      </p:sp>
      <p:pic>
        <p:nvPicPr>
          <p:cNvPr id="16387" name="Picture 4" descr="BJTswit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143001"/>
            <a:ext cx="2935288" cy="299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88" name="Group 5"/>
          <p:cNvGrpSpPr>
            <a:grpSpLocks/>
          </p:cNvGrpSpPr>
          <p:nvPr/>
        </p:nvGrpSpPr>
        <p:grpSpPr bwMode="auto">
          <a:xfrm>
            <a:off x="7772400" y="3886201"/>
            <a:ext cx="2692400" cy="2760663"/>
            <a:chOff x="3120" y="912"/>
            <a:chExt cx="1696" cy="1739"/>
          </a:xfrm>
        </p:grpSpPr>
        <p:pic>
          <p:nvPicPr>
            <p:cNvPr id="1639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912"/>
              <a:ext cx="1696" cy="1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3" name="Oval 7"/>
            <p:cNvSpPr>
              <a:spLocks noChangeArrowheads="1"/>
            </p:cNvSpPr>
            <p:nvPr/>
          </p:nvSpPr>
          <p:spPr bwMode="auto">
            <a:xfrm>
              <a:off x="3600" y="1392"/>
              <a:ext cx="384" cy="33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6394" name="Oval 8"/>
            <p:cNvSpPr>
              <a:spLocks noChangeArrowheads="1"/>
            </p:cNvSpPr>
            <p:nvPr/>
          </p:nvSpPr>
          <p:spPr bwMode="auto">
            <a:xfrm>
              <a:off x="4128" y="1968"/>
              <a:ext cx="384" cy="43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6395" name="Line 9"/>
            <p:cNvSpPr>
              <a:spLocks noChangeShapeType="1"/>
            </p:cNvSpPr>
            <p:nvPr/>
          </p:nvSpPr>
          <p:spPr bwMode="auto">
            <a:xfrm>
              <a:off x="3647" y="1549"/>
              <a:ext cx="1" cy="755"/>
            </a:xfrm>
            <a:prstGeom prst="line">
              <a:avLst/>
            </a:prstGeom>
            <a:noFill/>
            <a:ln w="381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89" name="Text Box 10"/>
          <p:cNvSpPr txBox="1">
            <a:spLocks noChangeArrowheads="1"/>
          </p:cNvSpPr>
          <p:nvPr/>
        </p:nvSpPr>
        <p:spPr bwMode="auto">
          <a:xfrm>
            <a:off x="5638800" y="1295401"/>
            <a:ext cx="4038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en-US" sz="2400" u="sng">
                <a:solidFill>
                  <a:schemeClr val="accent2"/>
                </a:solidFill>
                <a:cs typeface="Arial" panose="020B0604020202020204" pitchFamily="34" charset="0"/>
              </a:rPr>
              <a:t>V</a:t>
            </a:r>
            <a:r>
              <a:rPr lang="en-US" altLang="en-US" sz="2400" u="sng" baseline="-25000">
                <a:solidFill>
                  <a:schemeClr val="accent2"/>
                </a:solidFill>
                <a:cs typeface="Arial" panose="020B0604020202020204" pitchFamily="34" charset="0"/>
              </a:rPr>
              <a:t>in</a:t>
            </a:r>
            <a:r>
              <a:rPr lang="en-US" altLang="en-US" sz="2400">
                <a:solidFill>
                  <a:schemeClr val="accent2"/>
                </a:solidFill>
                <a:cs typeface="Arial" panose="020B0604020202020204" pitchFamily="34" charset="0"/>
              </a:rPr>
              <a:t>(Low ) &lt; 0.7 V</a:t>
            </a:r>
          </a:p>
          <a:p>
            <a:pPr lvl="1" eaLnBrk="1" hangingPunct="1">
              <a:buFontTx/>
              <a:buChar char="•"/>
            </a:pPr>
            <a:r>
              <a:rPr lang="en-US" altLang="en-US" sz="2400">
                <a:solidFill>
                  <a:schemeClr val="accent2"/>
                </a:solidFill>
                <a:cs typeface="Arial" panose="020B0604020202020204" pitchFamily="34" charset="0"/>
              </a:rPr>
              <a:t>BE junction </a:t>
            </a:r>
            <a:r>
              <a:rPr lang="en-US" altLang="en-US" sz="2400" u="sng">
                <a:solidFill>
                  <a:schemeClr val="accent2"/>
                </a:solidFill>
                <a:cs typeface="Arial" panose="020B0604020202020204" pitchFamily="34" charset="0"/>
              </a:rPr>
              <a:t>not</a:t>
            </a:r>
            <a:r>
              <a:rPr lang="en-US" altLang="en-US" sz="2400">
                <a:solidFill>
                  <a:schemeClr val="accent2"/>
                </a:solidFill>
                <a:cs typeface="Arial" panose="020B0604020202020204" pitchFamily="34" charset="0"/>
              </a:rPr>
              <a:t> forward biased</a:t>
            </a:r>
          </a:p>
          <a:p>
            <a:pPr lvl="1" eaLnBrk="1" hangingPunct="1">
              <a:buFontTx/>
              <a:buChar char="•"/>
            </a:pPr>
            <a:r>
              <a:rPr lang="en-US" altLang="en-US" sz="2400">
                <a:solidFill>
                  <a:schemeClr val="accent2"/>
                </a:solidFill>
                <a:cs typeface="Arial" panose="020B0604020202020204" pitchFamily="34" charset="0"/>
              </a:rPr>
              <a:t>Cutoff region</a:t>
            </a:r>
          </a:p>
          <a:p>
            <a:pPr lvl="1" eaLnBrk="1" hangingPunct="1">
              <a:buFontTx/>
              <a:buChar char="•"/>
            </a:pPr>
            <a:r>
              <a:rPr lang="en-US" altLang="en-US" sz="2400">
                <a:solidFill>
                  <a:schemeClr val="accent2"/>
                </a:solidFill>
                <a:cs typeface="Arial" panose="020B0604020202020204" pitchFamily="34" charset="0"/>
              </a:rPr>
              <a:t>No current flows</a:t>
            </a:r>
          </a:p>
          <a:p>
            <a:pPr lvl="1" eaLnBrk="1" hangingPunct="1">
              <a:buFontTx/>
              <a:buChar char="•"/>
            </a:pPr>
            <a:r>
              <a:rPr lang="en-US" altLang="en-US" sz="2400">
                <a:solidFill>
                  <a:schemeClr val="accent2"/>
                </a:solidFill>
                <a:cs typeface="Arial" panose="020B0604020202020204" pitchFamily="34" charset="0"/>
              </a:rPr>
              <a:t>V</a:t>
            </a:r>
            <a:r>
              <a:rPr lang="en-US" altLang="en-US" sz="2400" baseline="-25000">
                <a:solidFill>
                  <a:schemeClr val="accent2"/>
                </a:solidFill>
                <a:cs typeface="Arial" panose="020B0604020202020204" pitchFamily="34" charset="0"/>
              </a:rPr>
              <a:t>out</a:t>
            </a:r>
            <a:r>
              <a:rPr lang="en-US" altLang="en-US" sz="2400">
                <a:solidFill>
                  <a:schemeClr val="accent2"/>
                </a:solidFill>
                <a:cs typeface="Arial" panose="020B0604020202020204" pitchFamily="34" charset="0"/>
              </a:rPr>
              <a:t> = V</a:t>
            </a:r>
            <a:r>
              <a:rPr lang="en-US" altLang="en-US" sz="2400" baseline="-25000">
                <a:solidFill>
                  <a:schemeClr val="accent2"/>
                </a:solidFill>
                <a:cs typeface="Arial" panose="020B0604020202020204" pitchFamily="34" charset="0"/>
              </a:rPr>
              <a:t>CE</a:t>
            </a:r>
            <a:r>
              <a:rPr lang="en-US" altLang="en-US" sz="2400">
                <a:solidFill>
                  <a:schemeClr val="accent2"/>
                </a:solidFill>
                <a:cs typeface="Arial" panose="020B0604020202020204" pitchFamily="34" charset="0"/>
              </a:rPr>
              <a:t> = V</a:t>
            </a:r>
            <a:r>
              <a:rPr lang="en-US" altLang="en-US" sz="2400" baseline="-25000">
                <a:solidFill>
                  <a:schemeClr val="accent2"/>
                </a:solidFill>
                <a:cs typeface="Arial" panose="020B0604020202020204" pitchFamily="34" charset="0"/>
              </a:rPr>
              <a:t>cc</a:t>
            </a:r>
          </a:p>
          <a:p>
            <a:pPr eaLnBrk="1" hangingPunct="1">
              <a:buFontTx/>
              <a:buChar char="•"/>
            </a:pPr>
            <a:r>
              <a:rPr lang="en-US" altLang="en-US" sz="2400" u="sng">
                <a:solidFill>
                  <a:schemeClr val="accent2"/>
                </a:solidFill>
                <a:cs typeface="Arial" panose="020B0604020202020204" pitchFamily="34" charset="0"/>
              </a:rPr>
              <a:t>V</a:t>
            </a:r>
            <a:r>
              <a:rPr lang="en-US" altLang="en-US" sz="2400" u="sng" baseline="-25000">
                <a:solidFill>
                  <a:schemeClr val="accent2"/>
                </a:solidFill>
                <a:cs typeface="Arial" panose="020B0604020202020204" pitchFamily="34" charset="0"/>
              </a:rPr>
              <a:t>out</a:t>
            </a:r>
            <a:r>
              <a:rPr lang="en-US" altLang="en-US" sz="2400" u="sng">
                <a:solidFill>
                  <a:schemeClr val="accent2"/>
                </a:solidFill>
                <a:cs typeface="Arial" panose="020B0604020202020204" pitchFamily="34" charset="0"/>
              </a:rPr>
              <a:t> = High</a:t>
            </a:r>
          </a:p>
        </p:txBody>
      </p:sp>
      <p:sp>
        <p:nvSpPr>
          <p:cNvPr id="16390" name="Text Box 11"/>
          <p:cNvSpPr txBox="1">
            <a:spLocks noChangeArrowheads="1"/>
          </p:cNvSpPr>
          <p:nvPr/>
        </p:nvSpPr>
        <p:spPr bwMode="auto">
          <a:xfrm>
            <a:off x="1981200" y="4114801"/>
            <a:ext cx="5715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en-US" sz="2400" u="sng">
                <a:solidFill>
                  <a:schemeClr val="accent2"/>
                </a:solidFill>
                <a:cs typeface="Arial" panose="020B0604020202020204" pitchFamily="34" charset="0"/>
              </a:rPr>
              <a:t>V</a:t>
            </a:r>
            <a:r>
              <a:rPr lang="en-US" altLang="en-US" sz="2400" u="sng" baseline="-25000">
                <a:solidFill>
                  <a:schemeClr val="accent2"/>
                </a:solidFill>
                <a:cs typeface="Arial" panose="020B0604020202020204" pitchFamily="34" charset="0"/>
              </a:rPr>
              <a:t>in</a:t>
            </a:r>
            <a:r>
              <a:rPr lang="en-US" altLang="en-US" sz="2400">
                <a:solidFill>
                  <a:schemeClr val="accent2"/>
                </a:solidFill>
                <a:cs typeface="Arial" panose="020B0604020202020204" pitchFamily="34" charset="0"/>
              </a:rPr>
              <a:t>(High)</a:t>
            </a:r>
            <a:r>
              <a:rPr lang="en-US" altLang="en-US" sz="2400" u="sng">
                <a:solidFill>
                  <a:schemeClr val="accent2"/>
                </a:solidFill>
                <a:cs typeface="Arial" panose="020B0604020202020204" pitchFamily="34" charset="0"/>
              </a:rPr>
              <a:t> </a:t>
            </a:r>
          </a:p>
          <a:p>
            <a:pPr lvl="1" eaLnBrk="1" hangingPunct="1">
              <a:buFontTx/>
              <a:buChar char="•"/>
            </a:pPr>
            <a:r>
              <a:rPr lang="en-US" altLang="en-US" sz="2400">
                <a:solidFill>
                  <a:schemeClr val="accent2"/>
                </a:solidFill>
                <a:cs typeface="Arial" panose="020B0604020202020204" pitchFamily="34" charset="0"/>
              </a:rPr>
              <a:t>BE junction </a:t>
            </a:r>
            <a:r>
              <a:rPr lang="en-US" altLang="en-US" sz="2400" u="sng">
                <a:solidFill>
                  <a:schemeClr val="accent2"/>
                </a:solidFill>
                <a:cs typeface="Arial" panose="020B0604020202020204" pitchFamily="34" charset="0"/>
              </a:rPr>
              <a:t>forward biased </a:t>
            </a:r>
            <a:r>
              <a:rPr lang="en-US" altLang="en-US">
                <a:solidFill>
                  <a:schemeClr val="accent2"/>
                </a:solidFill>
                <a:cs typeface="Arial" panose="020B0604020202020204" pitchFamily="34" charset="0"/>
              </a:rPr>
              <a:t>(V</a:t>
            </a:r>
            <a:r>
              <a:rPr lang="en-US" altLang="en-US" baseline="-25000">
                <a:solidFill>
                  <a:schemeClr val="accent2"/>
                </a:solidFill>
                <a:cs typeface="Arial" panose="020B0604020202020204" pitchFamily="34" charset="0"/>
              </a:rPr>
              <a:t>BE</a:t>
            </a:r>
            <a:r>
              <a:rPr lang="en-US" altLang="en-US">
                <a:solidFill>
                  <a:schemeClr val="accent2"/>
                </a:solidFill>
                <a:cs typeface="Arial" panose="020B0604020202020204" pitchFamily="34" charset="0"/>
              </a:rPr>
              <a:t>=0.7V)</a:t>
            </a:r>
          </a:p>
          <a:p>
            <a:pPr lvl="1" eaLnBrk="1" hangingPunct="1">
              <a:buFontTx/>
              <a:buChar char="•"/>
            </a:pPr>
            <a:r>
              <a:rPr lang="en-US" altLang="en-US" sz="2400">
                <a:solidFill>
                  <a:schemeClr val="accent2"/>
                </a:solidFill>
                <a:cs typeface="Arial" panose="020B0604020202020204" pitchFamily="34" charset="0"/>
              </a:rPr>
              <a:t>Saturation region</a:t>
            </a:r>
          </a:p>
          <a:p>
            <a:pPr lvl="1" eaLnBrk="1" hangingPunct="1">
              <a:buFontTx/>
              <a:buChar char="•"/>
            </a:pPr>
            <a:r>
              <a:rPr lang="en-US" altLang="en-US" sz="2400">
                <a:solidFill>
                  <a:schemeClr val="accent2"/>
                </a:solidFill>
                <a:cs typeface="Arial" panose="020B0604020202020204" pitchFamily="34" charset="0"/>
              </a:rPr>
              <a:t>V</a:t>
            </a:r>
            <a:r>
              <a:rPr lang="en-US" altLang="en-US" sz="2400" baseline="-25000">
                <a:solidFill>
                  <a:schemeClr val="accent2"/>
                </a:solidFill>
                <a:cs typeface="Arial" panose="020B0604020202020204" pitchFamily="34" charset="0"/>
              </a:rPr>
              <a:t>CE</a:t>
            </a:r>
            <a:r>
              <a:rPr lang="en-US" altLang="en-US" sz="2400">
                <a:solidFill>
                  <a:schemeClr val="accent2"/>
                </a:solidFill>
                <a:cs typeface="Arial" panose="020B0604020202020204" pitchFamily="34" charset="0"/>
              </a:rPr>
              <a:t> small (~0.2 V for saturated BJT)</a:t>
            </a:r>
          </a:p>
          <a:p>
            <a:pPr lvl="1" eaLnBrk="1" hangingPunct="1">
              <a:buFontTx/>
              <a:buChar char="•"/>
            </a:pPr>
            <a:r>
              <a:rPr lang="en-US" altLang="en-US" sz="2400">
                <a:solidFill>
                  <a:schemeClr val="accent2"/>
                </a:solidFill>
                <a:cs typeface="Arial" panose="020B0604020202020204" pitchFamily="34" charset="0"/>
              </a:rPr>
              <a:t>V</a:t>
            </a:r>
            <a:r>
              <a:rPr lang="en-US" altLang="en-US" sz="2400" baseline="-25000">
                <a:solidFill>
                  <a:schemeClr val="accent2"/>
                </a:solidFill>
                <a:cs typeface="Arial" panose="020B0604020202020204" pitchFamily="34" charset="0"/>
              </a:rPr>
              <a:t>out</a:t>
            </a:r>
            <a:r>
              <a:rPr lang="en-US" altLang="en-US" sz="2400">
                <a:solidFill>
                  <a:schemeClr val="accent2"/>
                </a:solidFill>
                <a:cs typeface="Arial" panose="020B0604020202020204" pitchFamily="34" charset="0"/>
              </a:rPr>
              <a:t> = small</a:t>
            </a:r>
          </a:p>
          <a:p>
            <a:pPr lvl="1" eaLnBrk="1" hangingPunct="1">
              <a:buFontTx/>
              <a:buChar char="•"/>
            </a:pPr>
            <a:r>
              <a:rPr lang="en-US" altLang="en-US" sz="2400">
                <a:solidFill>
                  <a:schemeClr val="accent2"/>
                </a:solidFill>
                <a:cs typeface="Arial" panose="020B0604020202020204" pitchFamily="34" charset="0"/>
              </a:rPr>
              <a:t>I</a:t>
            </a:r>
            <a:r>
              <a:rPr lang="en-US" altLang="en-US" sz="2400" baseline="-25000">
                <a:solidFill>
                  <a:schemeClr val="accent2"/>
                </a:solidFill>
                <a:cs typeface="Arial" panose="020B0604020202020204" pitchFamily="34" charset="0"/>
              </a:rPr>
              <a:t>B</a:t>
            </a:r>
            <a:r>
              <a:rPr lang="en-US" altLang="en-US" sz="2400">
                <a:solidFill>
                  <a:schemeClr val="accent2"/>
                </a:solidFill>
                <a:cs typeface="Arial" panose="020B0604020202020204" pitchFamily="34" charset="0"/>
              </a:rPr>
              <a:t> = (V</a:t>
            </a:r>
            <a:r>
              <a:rPr lang="en-US" altLang="en-US" sz="2400" baseline="-25000">
                <a:solidFill>
                  <a:schemeClr val="accent2"/>
                </a:solidFill>
                <a:cs typeface="Arial" panose="020B0604020202020204" pitchFamily="34" charset="0"/>
              </a:rPr>
              <a:t>in</a:t>
            </a:r>
            <a:r>
              <a:rPr lang="en-US" altLang="en-US" sz="2400">
                <a:solidFill>
                  <a:schemeClr val="accent2"/>
                </a:solidFill>
                <a:cs typeface="Arial" panose="020B0604020202020204" pitchFamily="34" charset="0"/>
              </a:rPr>
              <a:t>-V</a:t>
            </a:r>
            <a:r>
              <a:rPr lang="en-US" altLang="en-US" sz="2400" baseline="-25000">
                <a:solidFill>
                  <a:schemeClr val="accent2"/>
                </a:solidFill>
                <a:cs typeface="Arial" panose="020B0604020202020204" pitchFamily="34" charset="0"/>
              </a:rPr>
              <a:t>B</a:t>
            </a:r>
            <a:r>
              <a:rPr lang="en-US" altLang="en-US" sz="2400">
                <a:solidFill>
                  <a:schemeClr val="accent2"/>
                </a:solidFill>
                <a:cs typeface="Arial" panose="020B0604020202020204" pitchFamily="34" charset="0"/>
              </a:rPr>
              <a:t>)/R</a:t>
            </a:r>
            <a:r>
              <a:rPr lang="en-US" altLang="en-US" sz="2400" baseline="-25000">
                <a:solidFill>
                  <a:schemeClr val="accent2"/>
                </a:solidFill>
                <a:cs typeface="Arial" panose="020B0604020202020204" pitchFamily="34" charset="0"/>
              </a:rPr>
              <a:t>B</a:t>
            </a:r>
          </a:p>
          <a:p>
            <a:pPr eaLnBrk="1" hangingPunct="1">
              <a:buFontTx/>
              <a:buChar char="•"/>
            </a:pPr>
            <a:r>
              <a:rPr lang="en-US" altLang="en-US" sz="2400" u="sng">
                <a:solidFill>
                  <a:schemeClr val="accent2"/>
                </a:solidFill>
                <a:cs typeface="Arial" panose="020B0604020202020204" pitchFamily="34" charset="0"/>
              </a:rPr>
              <a:t>V</a:t>
            </a:r>
            <a:r>
              <a:rPr lang="en-US" altLang="en-US" sz="2400" u="sng" baseline="-25000">
                <a:solidFill>
                  <a:schemeClr val="accent2"/>
                </a:solidFill>
                <a:cs typeface="Arial" panose="020B0604020202020204" pitchFamily="34" charset="0"/>
              </a:rPr>
              <a:t>out</a:t>
            </a:r>
            <a:r>
              <a:rPr lang="en-US" altLang="en-US" sz="2400" u="sng">
                <a:solidFill>
                  <a:schemeClr val="accent2"/>
                </a:solidFill>
                <a:cs typeface="Arial" panose="020B0604020202020204" pitchFamily="34" charset="0"/>
              </a:rPr>
              <a:t> = Low</a:t>
            </a:r>
          </a:p>
        </p:txBody>
      </p:sp>
      <p:sp>
        <p:nvSpPr>
          <p:cNvPr id="16391" name="Line 12"/>
          <p:cNvSpPr>
            <a:spLocks noChangeShapeType="1"/>
          </p:cNvSpPr>
          <p:nvPr/>
        </p:nvSpPr>
        <p:spPr bwMode="auto">
          <a:xfrm>
            <a:off x="8534400" y="6629400"/>
            <a:ext cx="1066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737732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xfrm>
            <a:off x="1981200" y="1600200"/>
            <a:ext cx="8229600" cy="4876800"/>
          </a:xfrm>
        </p:spPr>
        <p:txBody>
          <a:bodyPr/>
          <a:lstStyle/>
          <a:p>
            <a:pPr eaLnBrk="1" hangingPunct="1">
              <a:lnSpc>
                <a:spcPct val="90000"/>
              </a:lnSpc>
            </a:pPr>
            <a:r>
              <a:rPr lang="en-US" altLang="en-US" sz="2400">
                <a:solidFill>
                  <a:schemeClr val="accent2"/>
                </a:solidFill>
              </a:rPr>
              <a:t>Basis of digital logic circuits</a:t>
            </a:r>
            <a:endParaRPr lang="en-US" altLang="en-US" sz="2400" u="sng">
              <a:solidFill>
                <a:schemeClr val="accent2"/>
              </a:solidFill>
            </a:endParaRPr>
          </a:p>
          <a:p>
            <a:pPr eaLnBrk="1" hangingPunct="1">
              <a:lnSpc>
                <a:spcPct val="90000"/>
              </a:lnSpc>
            </a:pPr>
            <a:r>
              <a:rPr lang="en-US" altLang="en-US" sz="2400">
                <a:solidFill>
                  <a:schemeClr val="accent2"/>
                </a:solidFill>
              </a:rPr>
              <a:t>Input to transistor gate can be analog or digital</a:t>
            </a:r>
          </a:p>
          <a:p>
            <a:pPr eaLnBrk="1" hangingPunct="1">
              <a:lnSpc>
                <a:spcPct val="90000"/>
              </a:lnSpc>
            </a:pPr>
            <a:r>
              <a:rPr lang="en-US" altLang="en-US" sz="2400">
                <a:solidFill>
                  <a:schemeClr val="accent2"/>
                </a:solidFill>
              </a:rPr>
              <a:t>Building blocks for </a:t>
            </a:r>
            <a:r>
              <a:rPr lang="en-US" altLang="en-US" sz="2400" u="sng">
                <a:solidFill>
                  <a:schemeClr val="accent2"/>
                </a:solidFill>
              </a:rPr>
              <a:t>TTL</a:t>
            </a:r>
            <a:r>
              <a:rPr lang="en-US" altLang="en-US" sz="2400">
                <a:solidFill>
                  <a:schemeClr val="accent2"/>
                </a:solidFill>
              </a:rPr>
              <a:t> – Transistor Transistor Logic</a:t>
            </a:r>
          </a:p>
          <a:p>
            <a:pPr eaLnBrk="1" hangingPunct="1">
              <a:lnSpc>
                <a:spcPct val="90000"/>
              </a:lnSpc>
            </a:pPr>
            <a:r>
              <a:rPr lang="en-US" altLang="en-US" sz="2400" u="sng">
                <a:solidFill>
                  <a:schemeClr val="accent2"/>
                </a:solidFill>
              </a:rPr>
              <a:t>Guidelines</a:t>
            </a:r>
            <a:r>
              <a:rPr lang="en-US" altLang="en-US" sz="2400">
                <a:solidFill>
                  <a:schemeClr val="accent2"/>
                </a:solidFill>
              </a:rPr>
              <a:t> for designing a transistor switch:</a:t>
            </a:r>
          </a:p>
          <a:p>
            <a:pPr lvl="1" eaLnBrk="1" hangingPunct="1">
              <a:lnSpc>
                <a:spcPct val="90000"/>
              </a:lnSpc>
            </a:pPr>
            <a:r>
              <a:rPr lang="en-US" altLang="en-US" sz="2000">
                <a:solidFill>
                  <a:schemeClr val="accent2"/>
                </a:solidFill>
              </a:rPr>
              <a:t>V</a:t>
            </a:r>
            <a:r>
              <a:rPr lang="en-US" altLang="en-US" sz="2000" baseline="-25000">
                <a:solidFill>
                  <a:schemeClr val="accent2"/>
                </a:solidFill>
              </a:rPr>
              <a:t>C</a:t>
            </a:r>
            <a:r>
              <a:rPr lang="en-US" altLang="en-US" sz="2000">
                <a:solidFill>
                  <a:schemeClr val="accent2"/>
                </a:solidFill>
              </a:rPr>
              <a:t>&gt;V</a:t>
            </a:r>
            <a:r>
              <a:rPr lang="en-US" altLang="en-US" sz="2000" baseline="-25000">
                <a:solidFill>
                  <a:schemeClr val="accent2"/>
                </a:solidFill>
              </a:rPr>
              <a:t>B</a:t>
            </a:r>
            <a:r>
              <a:rPr lang="en-US" altLang="en-US" sz="2000">
                <a:solidFill>
                  <a:schemeClr val="accent2"/>
                </a:solidFill>
              </a:rPr>
              <a:t>&gt;V</a:t>
            </a:r>
            <a:r>
              <a:rPr lang="en-US" altLang="en-US" sz="2000" baseline="-25000">
                <a:solidFill>
                  <a:schemeClr val="accent2"/>
                </a:solidFill>
              </a:rPr>
              <a:t>E</a:t>
            </a:r>
          </a:p>
          <a:p>
            <a:pPr lvl="1" eaLnBrk="1" hangingPunct="1">
              <a:lnSpc>
                <a:spcPct val="90000"/>
              </a:lnSpc>
            </a:pPr>
            <a:r>
              <a:rPr lang="en-US" altLang="en-US" sz="2000">
                <a:solidFill>
                  <a:schemeClr val="accent2"/>
                </a:solidFill>
              </a:rPr>
              <a:t>V</a:t>
            </a:r>
            <a:r>
              <a:rPr lang="en-US" altLang="en-US" sz="2000" baseline="-25000">
                <a:solidFill>
                  <a:schemeClr val="accent2"/>
                </a:solidFill>
              </a:rPr>
              <a:t>BE</a:t>
            </a:r>
            <a:r>
              <a:rPr lang="en-US" altLang="en-US" sz="2000">
                <a:solidFill>
                  <a:schemeClr val="accent2"/>
                </a:solidFill>
              </a:rPr>
              <a:t>= 0.7 V</a:t>
            </a:r>
          </a:p>
          <a:p>
            <a:pPr lvl="1" eaLnBrk="1" hangingPunct="1">
              <a:lnSpc>
                <a:spcPct val="90000"/>
              </a:lnSpc>
            </a:pPr>
            <a:r>
              <a:rPr lang="en-US" altLang="en-US" sz="2000">
                <a:solidFill>
                  <a:schemeClr val="accent2"/>
                </a:solidFill>
              </a:rPr>
              <a:t>I</a:t>
            </a:r>
            <a:r>
              <a:rPr lang="en-US" altLang="en-US" sz="2000" baseline="-25000">
                <a:solidFill>
                  <a:schemeClr val="accent2"/>
                </a:solidFill>
              </a:rPr>
              <a:t>C</a:t>
            </a:r>
            <a:r>
              <a:rPr lang="en-US" altLang="en-US" sz="2000">
                <a:solidFill>
                  <a:schemeClr val="accent2"/>
                </a:solidFill>
              </a:rPr>
              <a:t> independent from I</a:t>
            </a:r>
            <a:r>
              <a:rPr lang="en-US" altLang="en-US" sz="2000" baseline="-25000">
                <a:solidFill>
                  <a:schemeClr val="accent2"/>
                </a:solidFill>
              </a:rPr>
              <a:t>B</a:t>
            </a:r>
            <a:r>
              <a:rPr lang="en-US" altLang="en-US" sz="2000">
                <a:solidFill>
                  <a:schemeClr val="accent2"/>
                </a:solidFill>
              </a:rPr>
              <a:t> (in saturation).</a:t>
            </a:r>
          </a:p>
          <a:p>
            <a:pPr lvl="1" eaLnBrk="1" hangingPunct="1">
              <a:lnSpc>
                <a:spcPct val="90000"/>
              </a:lnSpc>
            </a:pPr>
            <a:r>
              <a:rPr lang="en-US" altLang="en-US" sz="2000">
                <a:solidFill>
                  <a:schemeClr val="accent2"/>
                </a:solidFill>
              </a:rPr>
              <a:t>Min. I</a:t>
            </a:r>
            <a:r>
              <a:rPr lang="en-US" altLang="en-US" sz="2000" baseline="-25000">
                <a:solidFill>
                  <a:schemeClr val="accent2"/>
                </a:solidFill>
              </a:rPr>
              <a:t>B</a:t>
            </a:r>
            <a:r>
              <a:rPr lang="en-US" altLang="en-US" sz="2000">
                <a:solidFill>
                  <a:schemeClr val="accent2"/>
                </a:solidFill>
              </a:rPr>
              <a:t> estimated from  by (I</a:t>
            </a:r>
            <a:r>
              <a:rPr lang="en-US" altLang="en-US" sz="2000" baseline="-25000">
                <a:solidFill>
                  <a:schemeClr val="accent2"/>
                </a:solidFill>
              </a:rPr>
              <a:t>Bmin</a:t>
            </a:r>
            <a:r>
              <a:rPr lang="en-US" altLang="en-US" sz="2000">
                <a:solidFill>
                  <a:schemeClr val="accent2"/>
                </a:solidFill>
                <a:latin typeface="Symbol" panose="05050102010706020507" pitchFamily="18" charset="2"/>
              </a:rPr>
              <a:t>» </a:t>
            </a:r>
            <a:r>
              <a:rPr lang="en-US" altLang="en-US" sz="2000">
                <a:solidFill>
                  <a:schemeClr val="accent2"/>
                </a:solidFill>
              </a:rPr>
              <a:t>I</a:t>
            </a:r>
            <a:r>
              <a:rPr lang="en-US" altLang="en-US" sz="2000" baseline="-25000">
                <a:solidFill>
                  <a:schemeClr val="accent2"/>
                </a:solidFill>
              </a:rPr>
              <a:t>C</a:t>
            </a:r>
            <a:r>
              <a:rPr lang="en-US" altLang="en-US" sz="2000">
                <a:solidFill>
                  <a:schemeClr val="accent2"/>
                </a:solidFill>
              </a:rPr>
              <a:t>/</a:t>
            </a:r>
            <a:r>
              <a:rPr lang="en-US" altLang="en-US" sz="2000">
                <a:solidFill>
                  <a:schemeClr val="accent2"/>
                </a:solidFill>
                <a:latin typeface="Symbol" panose="05050102010706020507" pitchFamily="18" charset="2"/>
              </a:rPr>
              <a:t>b</a:t>
            </a:r>
            <a:r>
              <a:rPr lang="en-US" altLang="en-US" sz="2000">
                <a:solidFill>
                  <a:schemeClr val="accent2"/>
                </a:solidFill>
              </a:rPr>
              <a:t>).</a:t>
            </a:r>
          </a:p>
          <a:p>
            <a:pPr lvl="1" eaLnBrk="1" hangingPunct="1">
              <a:lnSpc>
                <a:spcPct val="90000"/>
              </a:lnSpc>
            </a:pPr>
            <a:r>
              <a:rPr lang="en-US" altLang="en-US" sz="2000">
                <a:solidFill>
                  <a:schemeClr val="accent2"/>
                </a:solidFill>
              </a:rPr>
              <a:t>Input resistance</a:t>
            </a:r>
            <a:r>
              <a:rPr lang="en-US" altLang="en-US" sz="2000">
                <a:solidFill>
                  <a:schemeClr val="accent2"/>
                </a:solidFill>
                <a:sym typeface="Wingdings" panose="05000000000000000000" pitchFamily="2" charset="2"/>
              </a:rPr>
              <a:t> such that </a:t>
            </a:r>
            <a:r>
              <a:rPr lang="en-US" altLang="en-US" sz="2000">
                <a:solidFill>
                  <a:schemeClr val="accent2"/>
                </a:solidFill>
              </a:rPr>
              <a:t>I</a:t>
            </a:r>
            <a:r>
              <a:rPr lang="en-US" altLang="en-US" sz="2000" baseline="-25000">
                <a:solidFill>
                  <a:schemeClr val="accent2"/>
                </a:solidFill>
              </a:rPr>
              <a:t>B </a:t>
            </a:r>
            <a:r>
              <a:rPr lang="en-US" altLang="en-US" sz="2000">
                <a:solidFill>
                  <a:schemeClr val="accent2"/>
                </a:solidFill>
              </a:rPr>
              <a:t>&gt; 5-10 times I</a:t>
            </a:r>
            <a:r>
              <a:rPr lang="en-US" altLang="en-US" sz="2000" baseline="-25000">
                <a:solidFill>
                  <a:schemeClr val="accent2"/>
                </a:solidFill>
              </a:rPr>
              <a:t>Bmin</a:t>
            </a:r>
            <a:r>
              <a:rPr lang="en-US" altLang="en-US" sz="2000">
                <a:solidFill>
                  <a:schemeClr val="accent2"/>
                </a:solidFill>
              </a:rPr>
              <a:t> </a:t>
            </a:r>
            <a:r>
              <a:rPr lang="en-US" altLang="en-US" sz="2000">
                <a:solidFill>
                  <a:schemeClr val="accent2"/>
                </a:solidFill>
                <a:sym typeface="Wingdings" panose="05000000000000000000" pitchFamily="2" charset="2"/>
              </a:rPr>
              <a:t>because </a:t>
            </a:r>
            <a:r>
              <a:rPr lang="en-US" altLang="en-US" sz="2000">
                <a:solidFill>
                  <a:schemeClr val="accent2"/>
                </a:solidFill>
                <a:latin typeface="Symbol" panose="05050102010706020507" pitchFamily="18" charset="2"/>
                <a:sym typeface="Wingdings" panose="05000000000000000000" pitchFamily="2" charset="2"/>
              </a:rPr>
              <a:t>b</a:t>
            </a:r>
            <a:r>
              <a:rPr lang="en-US" altLang="en-US" sz="2000">
                <a:solidFill>
                  <a:schemeClr val="accent2"/>
                </a:solidFill>
                <a:sym typeface="Wingdings" panose="05000000000000000000" pitchFamily="2" charset="2"/>
              </a:rPr>
              <a:t> varies among components, with temperature and voltage and R</a:t>
            </a:r>
            <a:r>
              <a:rPr lang="en-US" altLang="en-US" sz="2000" baseline="-25000">
                <a:solidFill>
                  <a:schemeClr val="accent2"/>
                </a:solidFill>
                <a:sym typeface="Wingdings" panose="05000000000000000000" pitchFamily="2" charset="2"/>
              </a:rPr>
              <a:t>B</a:t>
            </a:r>
            <a:r>
              <a:rPr lang="en-US" altLang="en-US" sz="2000">
                <a:solidFill>
                  <a:schemeClr val="accent2"/>
                </a:solidFill>
                <a:sym typeface="Wingdings" panose="05000000000000000000" pitchFamily="2" charset="2"/>
              </a:rPr>
              <a:t> may change when current flows.</a:t>
            </a:r>
          </a:p>
          <a:p>
            <a:pPr lvl="1" eaLnBrk="1" hangingPunct="1">
              <a:lnSpc>
                <a:spcPct val="90000"/>
              </a:lnSpc>
            </a:pPr>
            <a:r>
              <a:rPr lang="en-US" altLang="en-US" sz="2000">
                <a:solidFill>
                  <a:schemeClr val="accent2"/>
                </a:solidFill>
                <a:sym typeface="Wingdings" panose="05000000000000000000" pitchFamily="2" charset="2"/>
              </a:rPr>
              <a:t>Calculate the max </a:t>
            </a:r>
            <a:r>
              <a:rPr lang="en-US" altLang="en-US" sz="2000">
                <a:solidFill>
                  <a:schemeClr val="accent2"/>
                </a:solidFill>
              </a:rPr>
              <a:t>I</a:t>
            </a:r>
            <a:r>
              <a:rPr lang="en-US" altLang="en-US" sz="2000" baseline="-25000">
                <a:solidFill>
                  <a:schemeClr val="accent2"/>
                </a:solidFill>
              </a:rPr>
              <a:t>C</a:t>
            </a:r>
            <a:r>
              <a:rPr lang="en-US" altLang="en-US" sz="2000">
                <a:solidFill>
                  <a:schemeClr val="accent2"/>
                </a:solidFill>
                <a:sym typeface="Wingdings" panose="05000000000000000000" pitchFamily="2" charset="2"/>
              </a:rPr>
              <a:t> and </a:t>
            </a:r>
            <a:r>
              <a:rPr lang="en-US" altLang="en-US" sz="2000">
                <a:solidFill>
                  <a:schemeClr val="accent2"/>
                </a:solidFill>
              </a:rPr>
              <a:t>I</a:t>
            </a:r>
            <a:r>
              <a:rPr lang="en-US" altLang="en-US" sz="2000" baseline="-25000">
                <a:solidFill>
                  <a:schemeClr val="accent2"/>
                </a:solidFill>
              </a:rPr>
              <a:t>B</a:t>
            </a:r>
            <a:r>
              <a:rPr lang="en-US" altLang="en-US" sz="2000">
                <a:solidFill>
                  <a:schemeClr val="accent2"/>
                </a:solidFill>
                <a:sym typeface="Wingdings" panose="05000000000000000000" pitchFamily="2" charset="2"/>
              </a:rPr>
              <a:t> not to overcome device specifications.</a:t>
            </a:r>
            <a:endParaRPr lang="en-US" altLang="en-US" sz="2000">
              <a:solidFill>
                <a:schemeClr val="accent2"/>
              </a:solidFill>
            </a:endParaRPr>
          </a:p>
        </p:txBody>
      </p:sp>
      <p:sp>
        <p:nvSpPr>
          <p:cNvPr id="17411" name="Rectangle 3"/>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as Switch 2</a:t>
            </a:r>
          </a:p>
        </p:txBody>
      </p:sp>
    </p:spTree>
    <p:extLst>
      <p:ext uri="{BB962C8B-B14F-4D97-AF65-F5344CB8AC3E}">
        <p14:creationId xmlns:p14="http://schemas.microsoft.com/office/powerpoint/2010/main" val="6888626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6400801" y="1600200"/>
            <a:ext cx="3857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en-US" sz="2400">
                <a:solidFill>
                  <a:schemeClr val="accent2"/>
                </a:solidFill>
                <a:cs typeface="Arial" panose="020B0604020202020204" pitchFamily="34" charset="0"/>
              </a:rPr>
              <a:t>Common emitter mode</a:t>
            </a:r>
          </a:p>
          <a:p>
            <a:pPr eaLnBrk="1" hangingPunct="1">
              <a:buFontTx/>
              <a:buChar char="•"/>
            </a:pPr>
            <a:r>
              <a:rPr lang="en-US" altLang="en-US" sz="2400">
                <a:solidFill>
                  <a:schemeClr val="accent2"/>
                </a:solidFill>
                <a:cs typeface="Arial" panose="020B0604020202020204" pitchFamily="34" charset="0"/>
              </a:rPr>
              <a:t>Linear Active Region</a:t>
            </a:r>
          </a:p>
          <a:p>
            <a:pPr eaLnBrk="1" hangingPunct="1">
              <a:buFontTx/>
              <a:buChar char="•"/>
            </a:pPr>
            <a:r>
              <a:rPr lang="en-US" altLang="en-US" sz="2400">
                <a:solidFill>
                  <a:schemeClr val="accent2"/>
                </a:solidFill>
                <a:cs typeface="Arial" panose="020B0604020202020204" pitchFamily="34" charset="0"/>
              </a:rPr>
              <a:t>Significant current Gain</a:t>
            </a:r>
          </a:p>
        </p:txBody>
      </p:sp>
      <p:sp>
        <p:nvSpPr>
          <p:cNvPr id="18435" name="Text Box 3"/>
          <p:cNvSpPr txBox="1">
            <a:spLocks noChangeArrowheads="1"/>
          </p:cNvSpPr>
          <p:nvPr/>
        </p:nvSpPr>
        <p:spPr bwMode="auto">
          <a:xfrm>
            <a:off x="6537326" y="2859088"/>
            <a:ext cx="35972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solidFill>
                  <a:schemeClr val="accent2"/>
                </a:solidFill>
                <a:cs typeface="Arial" panose="020B0604020202020204" pitchFamily="34" charset="0"/>
              </a:rPr>
              <a:t>Example:</a:t>
            </a:r>
          </a:p>
          <a:p>
            <a:pPr eaLnBrk="1" hangingPunct="1">
              <a:buFontTx/>
              <a:buChar char="•"/>
            </a:pPr>
            <a:r>
              <a:rPr lang="en-US" altLang="en-US" sz="2400">
                <a:solidFill>
                  <a:schemeClr val="accent2"/>
                </a:solidFill>
                <a:cs typeface="Arial" panose="020B0604020202020204" pitchFamily="34" charset="0"/>
              </a:rPr>
              <a:t>Let   Gain, </a:t>
            </a:r>
            <a:r>
              <a:rPr lang="en-US" altLang="en-US" sz="2400">
                <a:solidFill>
                  <a:schemeClr val="accent2"/>
                </a:solidFill>
                <a:latin typeface="Symbol" panose="05050102010706020507" pitchFamily="18" charset="2"/>
                <a:cs typeface="Arial" panose="020B0604020202020204" pitchFamily="34" charset="0"/>
              </a:rPr>
              <a:t>b</a:t>
            </a:r>
            <a:r>
              <a:rPr lang="en-US" altLang="en-US" sz="2400">
                <a:solidFill>
                  <a:schemeClr val="accent2"/>
                </a:solidFill>
                <a:cs typeface="Arial" panose="020B0604020202020204" pitchFamily="34" charset="0"/>
              </a:rPr>
              <a:t> = 100</a:t>
            </a:r>
          </a:p>
          <a:p>
            <a:pPr eaLnBrk="1" hangingPunct="1">
              <a:buFontTx/>
              <a:buChar char="•"/>
            </a:pPr>
            <a:endParaRPr lang="en-US" altLang="en-US" sz="2400">
              <a:solidFill>
                <a:schemeClr val="accent2"/>
              </a:solidFill>
              <a:cs typeface="Arial" panose="020B0604020202020204" pitchFamily="34" charset="0"/>
            </a:endParaRPr>
          </a:p>
          <a:p>
            <a:pPr eaLnBrk="1" hangingPunct="1">
              <a:buFontTx/>
              <a:buChar char="•"/>
            </a:pPr>
            <a:r>
              <a:rPr lang="en-US" altLang="en-US" sz="2400">
                <a:solidFill>
                  <a:schemeClr val="accent2"/>
                </a:solidFill>
                <a:cs typeface="Arial" panose="020B0604020202020204" pitchFamily="34" charset="0"/>
              </a:rPr>
              <a:t>Assume to be in active region -&gt; V</a:t>
            </a:r>
            <a:r>
              <a:rPr lang="en-US" altLang="en-US" sz="2400" baseline="-25000">
                <a:solidFill>
                  <a:schemeClr val="accent2"/>
                </a:solidFill>
                <a:cs typeface="Arial" panose="020B0604020202020204" pitchFamily="34" charset="0"/>
              </a:rPr>
              <a:t>BE</a:t>
            </a:r>
            <a:r>
              <a:rPr lang="en-US" altLang="en-US" sz="2400">
                <a:solidFill>
                  <a:schemeClr val="accent2"/>
                </a:solidFill>
                <a:cs typeface="Arial" panose="020B0604020202020204" pitchFamily="34" charset="0"/>
              </a:rPr>
              <a:t>=0.7V</a:t>
            </a:r>
          </a:p>
          <a:p>
            <a:pPr eaLnBrk="1" hangingPunct="1">
              <a:buFontTx/>
              <a:buChar char="•"/>
            </a:pPr>
            <a:endParaRPr lang="en-US" altLang="en-US" sz="2400">
              <a:solidFill>
                <a:schemeClr val="accent2"/>
              </a:solidFill>
              <a:cs typeface="Arial" panose="020B0604020202020204" pitchFamily="34" charset="0"/>
            </a:endParaRPr>
          </a:p>
          <a:p>
            <a:pPr eaLnBrk="1" hangingPunct="1">
              <a:buFontTx/>
              <a:buChar char="•"/>
            </a:pPr>
            <a:r>
              <a:rPr lang="en-US" altLang="en-US" sz="2400">
                <a:solidFill>
                  <a:schemeClr val="accent2"/>
                </a:solidFill>
                <a:cs typeface="Arial" panose="020B0604020202020204" pitchFamily="34" charset="0"/>
              </a:rPr>
              <a:t>Find if it’s in active region</a:t>
            </a:r>
            <a:endParaRPr lang="en-US" altLang="en-US" sz="1400">
              <a:solidFill>
                <a:schemeClr val="accent2"/>
              </a:solidFill>
              <a:cs typeface="Arial" panose="020B0604020202020204" pitchFamily="34" charset="0"/>
            </a:endParaRPr>
          </a:p>
          <a:p>
            <a:pPr eaLnBrk="1" hangingPunct="1"/>
            <a:endParaRPr lang="en-US" altLang="en-US" sz="2400">
              <a:latin typeface="Times New Roman" panose="02020603050405020304" pitchFamily="18" charset="0"/>
              <a:cs typeface="Arial" panose="020B0604020202020204" pitchFamily="34" charset="0"/>
            </a:endParaRPr>
          </a:p>
        </p:txBody>
      </p:sp>
      <p:sp>
        <p:nvSpPr>
          <p:cNvPr id="18436" name="Rectangle 4"/>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as Amplifier</a:t>
            </a:r>
          </a:p>
        </p:txBody>
      </p:sp>
      <p:pic>
        <p:nvPicPr>
          <p:cNvPr id="18437" name="Picture 6" descr="Picture1"/>
          <p:cNvPicPr>
            <a:picLocks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1828801" y="1752601"/>
            <a:ext cx="4391025" cy="4124325"/>
          </a:xfrm>
          <a:noFill/>
        </p:spPr>
      </p:pic>
    </p:spTree>
    <p:extLst>
      <p:ext uri="{BB962C8B-B14F-4D97-AF65-F5344CB8AC3E}">
        <p14:creationId xmlns:p14="http://schemas.microsoft.com/office/powerpoint/2010/main" val="2807239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a:solidFill>
                  <a:srgbClr val="FFC000"/>
                </a:solidFill>
              </a:rPr>
              <a:t>BJT as Amplifier</a:t>
            </a:r>
          </a:p>
        </p:txBody>
      </p:sp>
      <p:graphicFrame>
        <p:nvGraphicFramePr>
          <p:cNvPr id="2050" name="Object 4"/>
          <p:cNvGraphicFramePr>
            <a:graphicFrameLocks noChangeAspect="1"/>
          </p:cNvGraphicFramePr>
          <p:nvPr>
            <p:ph sz="half" idx="1"/>
          </p:nvPr>
        </p:nvGraphicFramePr>
        <p:xfrm>
          <a:off x="6248400" y="1600201"/>
          <a:ext cx="4419600" cy="3300413"/>
        </p:xfrm>
        <a:graphic>
          <a:graphicData uri="http://schemas.openxmlformats.org/presentationml/2006/ole">
            <mc:AlternateContent xmlns:mc="http://schemas.openxmlformats.org/markup-compatibility/2006">
              <mc:Choice xmlns:v="urn:schemas-microsoft-com:vml" Requires="v">
                <p:oleObj spid="_x0000_s2051" name="Equation" r:id="rId3" imgW="2552400" imgH="1777680" progId="Equation.3">
                  <p:embed/>
                </p:oleObj>
              </mc:Choice>
              <mc:Fallback>
                <p:oleObj name="Equation" r:id="rId3" imgW="2552400" imgH="1777680" progId="Equation.3">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600201"/>
                        <a:ext cx="4419600" cy="330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2" name="Line 5"/>
          <p:cNvSpPr>
            <a:spLocks noChangeShapeType="1"/>
          </p:cNvSpPr>
          <p:nvPr/>
        </p:nvSpPr>
        <p:spPr bwMode="auto">
          <a:xfrm>
            <a:off x="6248400" y="19812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Line 6"/>
          <p:cNvSpPr>
            <a:spLocks noChangeShapeType="1"/>
          </p:cNvSpPr>
          <p:nvPr/>
        </p:nvSpPr>
        <p:spPr bwMode="auto">
          <a:xfrm>
            <a:off x="6172200" y="24384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4" name="Line 7"/>
          <p:cNvSpPr>
            <a:spLocks noChangeShapeType="1"/>
          </p:cNvSpPr>
          <p:nvPr/>
        </p:nvSpPr>
        <p:spPr bwMode="auto">
          <a:xfrm>
            <a:off x="6172200" y="30480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5" name="Line 8"/>
          <p:cNvSpPr>
            <a:spLocks noChangeShapeType="1"/>
          </p:cNvSpPr>
          <p:nvPr/>
        </p:nvSpPr>
        <p:spPr bwMode="auto">
          <a:xfrm>
            <a:off x="6172200" y="36576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6" name="Line 9"/>
          <p:cNvSpPr>
            <a:spLocks noChangeShapeType="1"/>
          </p:cNvSpPr>
          <p:nvPr/>
        </p:nvSpPr>
        <p:spPr bwMode="auto">
          <a:xfrm>
            <a:off x="2895600" y="20574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7" name="Text Box 10"/>
          <p:cNvSpPr txBox="1">
            <a:spLocks noChangeArrowheads="1"/>
          </p:cNvSpPr>
          <p:nvPr/>
        </p:nvSpPr>
        <p:spPr bwMode="auto">
          <a:xfrm>
            <a:off x="6705600" y="5257800"/>
            <a:ext cx="304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olidFill>
                  <a:schemeClr val="accent2"/>
                </a:solidFill>
                <a:cs typeface="Arial" panose="020B0604020202020204" pitchFamily="34" charset="0"/>
              </a:rPr>
              <a:t>V</a:t>
            </a:r>
            <a:r>
              <a:rPr lang="en-US" altLang="en-US" baseline="-25000">
                <a:solidFill>
                  <a:schemeClr val="accent2"/>
                </a:solidFill>
                <a:cs typeface="Arial" panose="020B0604020202020204" pitchFamily="34" charset="0"/>
              </a:rPr>
              <a:t>CB</a:t>
            </a:r>
            <a:r>
              <a:rPr lang="en-US" altLang="en-US">
                <a:solidFill>
                  <a:schemeClr val="accent2"/>
                </a:solidFill>
                <a:cs typeface="Arial" panose="020B0604020202020204" pitchFamily="34" charset="0"/>
              </a:rPr>
              <a:t>&gt;0 so the BJT is in active region</a:t>
            </a:r>
          </a:p>
        </p:txBody>
      </p:sp>
      <p:pic>
        <p:nvPicPr>
          <p:cNvPr id="2058" name="Picture 11" descr="Picture1"/>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1600200" y="1676401"/>
            <a:ext cx="4495800" cy="4221163"/>
          </a:xfrm>
          <a:noFill/>
        </p:spPr>
      </p:pic>
      <p:sp>
        <p:nvSpPr>
          <p:cNvPr id="2059" name="Line 12"/>
          <p:cNvSpPr>
            <a:spLocks noChangeShapeType="1"/>
          </p:cNvSpPr>
          <p:nvPr/>
        </p:nvSpPr>
        <p:spPr bwMode="auto">
          <a:xfrm>
            <a:off x="6248400" y="4114800"/>
            <a:ext cx="457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763173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868362"/>
          </a:xfrm>
        </p:spPr>
        <p:txBody>
          <a:bodyPr/>
          <a:lstStyle/>
          <a:p>
            <a:r>
              <a:rPr lang="en-US" dirty="0" smtClean="0"/>
              <a:t>Bipolar Transistor</a:t>
            </a:r>
            <a:endParaRPr lang="en-US" dirty="0"/>
          </a:p>
        </p:txBody>
      </p:sp>
      <p:sp>
        <p:nvSpPr>
          <p:cNvPr id="3" name="Content Placeholder 2"/>
          <p:cNvSpPr>
            <a:spLocks noGrp="1"/>
          </p:cNvSpPr>
          <p:nvPr>
            <p:ph idx="1"/>
          </p:nvPr>
        </p:nvSpPr>
        <p:spPr>
          <a:xfrm>
            <a:off x="1600200" y="960438"/>
            <a:ext cx="8839200" cy="4525963"/>
          </a:xfrm>
        </p:spPr>
        <p:txBody>
          <a:bodyPr>
            <a:normAutofit/>
          </a:bodyPr>
          <a:lstStyle/>
          <a:p>
            <a:pPr algn="just"/>
            <a:r>
              <a:rPr lang="en-US" dirty="0"/>
              <a:t>A transistor is basically a Si or </a:t>
            </a:r>
            <a:r>
              <a:rPr lang="en-US" dirty="0" err="1"/>
              <a:t>Ge</a:t>
            </a:r>
            <a:r>
              <a:rPr lang="en-US" dirty="0"/>
              <a:t> crystal containing three separate regions. </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a:stretch/>
        </p:blipFill>
        <p:spPr bwMode="auto">
          <a:xfrm>
            <a:off x="2289176" y="2486147"/>
            <a:ext cx="4964433" cy="140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descr="https://upload.wikimedia.org/wikipedia/commons/thumb/0/0d/BJT_symbol_PNP.svg/408px-BJT_symbol_PNP.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4395" y="2226342"/>
            <a:ext cx="1635017" cy="19235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p:blipFill>
        <p:spPr bwMode="auto">
          <a:xfrm>
            <a:off x="2289176" y="4865348"/>
            <a:ext cx="4687389" cy="132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8" descr="http://upload.wikimedia.org/wikipedia/commons/a/aa/BJT_symbol_NPN.svg"/>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0" descr="http://upload.wikimedia.org/wikipedia/commons/a/aa/BJT_symbol_NPN.svg"/>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2" descr="http://upload.wikimedia.org/wikipedia/commons/a/aa/BJT_symbol_NPN.svg"/>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4" descr="http://upload.wikimedia.org/wikipedia/commons/a/aa/BJT_symbol_NPN.svg"/>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6" descr="http://upload.wikimedia.org/wikipedia/commons/a/aa/BJT_symbol_NPN.svg"/>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ttp://upload.wikimedia.org/wikipedia/commons/a/aa/BJT_symbol_NPN.svg"/>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4" descr="http://www.build-electronic-circuits.com/wp-content/uploads/2013/03/schematic-symbols-transisto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0809" y="4464802"/>
            <a:ext cx="2126681" cy="2126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7744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495550" y="0"/>
            <a:ext cx="6870700" cy="1123950"/>
          </a:xfrm>
        </p:spPr>
        <p:txBody>
          <a:bodyPr/>
          <a:lstStyle/>
          <a:p>
            <a:r>
              <a:rPr lang="en-US" altLang="zh-TW" dirty="0"/>
              <a:t>Architecture of BJTs</a:t>
            </a:r>
          </a:p>
        </p:txBody>
      </p:sp>
      <p:sp>
        <p:nvSpPr>
          <p:cNvPr id="52227" name="Rectangle 3"/>
          <p:cNvSpPr>
            <a:spLocks noGrp="1" noChangeArrowheads="1"/>
          </p:cNvSpPr>
          <p:nvPr>
            <p:ph type="body" sz="half" idx="1"/>
          </p:nvPr>
        </p:nvSpPr>
        <p:spPr>
          <a:xfrm>
            <a:off x="1828801" y="1219200"/>
            <a:ext cx="8458199" cy="1601788"/>
          </a:xfrm>
        </p:spPr>
        <p:txBody>
          <a:bodyPr>
            <a:normAutofit fontScale="92500" lnSpcReduction="10000"/>
          </a:bodyPr>
          <a:lstStyle/>
          <a:p>
            <a:pPr algn="just"/>
            <a:r>
              <a:rPr lang="en-US" altLang="zh-TW" dirty="0"/>
              <a:t>The bipolar junction transistor (BJT) is constructed with three doped semiconductor regions separated by two </a:t>
            </a:r>
            <a:r>
              <a:rPr lang="en-US" altLang="zh-TW" i="1" dirty="0" err="1"/>
              <a:t>pn</a:t>
            </a:r>
            <a:r>
              <a:rPr lang="en-US" altLang="zh-TW" dirty="0"/>
              <a:t> junctions</a:t>
            </a:r>
          </a:p>
          <a:p>
            <a:pPr algn="just"/>
            <a:r>
              <a:rPr lang="en-US" altLang="zh-TW" dirty="0"/>
              <a:t>Regions are called </a:t>
            </a:r>
            <a:r>
              <a:rPr lang="en-US" altLang="zh-TW" b="1" dirty="0"/>
              <a:t>emitter</a:t>
            </a:r>
            <a:r>
              <a:rPr lang="en-US" altLang="zh-TW" dirty="0"/>
              <a:t>, </a:t>
            </a:r>
            <a:r>
              <a:rPr lang="en-US" altLang="zh-TW" b="1" dirty="0"/>
              <a:t>base</a:t>
            </a:r>
            <a:r>
              <a:rPr lang="en-US" altLang="zh-TW" dirty="0"/>
              <a:t> and </a:t>
            </a:r>
            <a:r>
              <a:rPr lang="en-US" altLang="zh-TW" b="1" dirty="0"/>
              <a:t>collector</a:t>
            </a:r>
            <a:endParaRPr lang="en-US" altLang="zh-TW" dirty="0"/>
          </a:p>
          <a:p>
            <a:pPr algn="just">
              <a:buFontTx/>
              <a:buNone/>
            </a:pPr>
            <a:endParaRPr lang="zh-TW" altLang="en-US" dirty="0"/>
          </a:p>
        </p:txBody>
      </p:sp>
      <p:pic>
        <p:nvPicPr>
          <p:cNvPr id="52230" name="Picture 6"/>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438401" y="3200400"/>
            <a:ext cx="7450899" cy="3162300"/>
          </a:xfrm>
        </p:spPr>
      </p:pic>
    </p:spTree>
    <p:extLst>
      <p:ext uri="{BB962C8B-B14F-4D97-AF65-F5344CB8AC3E}">
        <p14:creationId xmlns:p14="http://schemas.microsoft.com/office/powerpoint/2010/main" val="41281492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868362"/>
          </a:xfrm>
        </p:spPr>
        <p:txBody>
          <a:bodyPr/>
          <a:lstStyle/>
          <a:p>
            <a:r>
              <a:rPr lang="en-US" dirty="0" smtClean="0"/>
              <a:t>Bipolar Transistor</a:t>
            </a:r>
            <a:endParaRPr lang="en-US" dirty="0"/>
          </a:p>
        </p:txBody>
      </p:sp>
      <p:sp>
        <p:nvSpPr>
          <p:cNvPr id="3" name="Content Placeholder 2"/>
          <p:cNvSpPr>
            <a:spLocks noGrp="1"/>
          </p:cNvSpPr>
          <p:nvPr>
            <p:ph idx="1"/>
          </p:nvPr>
        </p:nvSpPr>
        <p:spPr>
          <a:xfrm>
            <a:off x="1600200" y="960438"/>
            <a:ext cx="8839200" cy="4525963"/>
          </a:xfrm>
        </p:spPr>
        <p:txBody>
          <a:bodyPr>
            <a:normAutofit/>
          </a:bodyPr>
          <a:lstStyle/>
          <a:p>
            <a:pPr algn="just"/>
            <a:r>
              <a:rPr lang="en-US" dirty="0"/>
              <a:t>The depletion layers do not have the same width, because different regions have different doping levels.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886" y="3048000"/>
            <a:ext cx="678942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1074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85800"/>
          </a:xfrm>
        </p:spPr>
        <p:txBody>
          <a:bodyPr>
            <a:normAutofit fontScale="90000"/>
          </a:bodyPr>
          <a:lstStyle/>
          <a:p>
            <a:r>
              <a:rPr lang="en-US" dirty="0" smtClean="0"/>
              <a:t>Biasing</a:t>
            </a:r>
            <a:endParaRPr lang="en-US" dirty="0"/>
          </a:p>
        </p:txBody>
      </p:sp>
      <p:sp>
        <p:nvSpPr>
          <p:cNvPr id="3" name="Content Placeholder 2"/>
          <p:cNvSpPr>
            <a:spLocks noGrp="1"/>
          </p:cNvSpPr>
          <p:nvPr>
            <p:ph idx="1"/>
          </p:nvPr>
        </p:nvSpPr>
        <p:spPr>
          <a:xfrm>
            <a:off x="1524000" y="685801"/>
            <a:ext cx="8839200" cy="4525963"/>
          </a:xfrm>
        </p:spPr>
        <p:txBody>
          <a:bodyPr>
            <a:normAutofit/>
          </a:bodyPr>
          <a:lstStyle/>
          <a:p>
            <a:pPr algn="just"/>
            <a:r>
              <a:rPr lang="en-US" sz="2600" dirty="0"/>
              <a:t>If both the junctions are forward biased free electrons enter the emitter and collector of the transistor, joins at the base and come out of the base. </a:t>
            </a:r>
          </a:p>
          <a:p>
            <a:pPr algn="just"/>
            <a:endParaRPr lang="en-US" sz="2600" dirty="0"/>
          </a:p>
          <a:p>
            <a:pPr algn="just"/>
            <a:endParaRPr lang="en-US" sz="2600" dirty="0"/>
          </a:p>
          <a:p>
            <a:pPr algn="just"/>
            <a:endParaRPr lang="en-US" sz="2600" dirty="0"/>
          </a:p>
          <a:p>
            <a:pPr algn="just"/>
            <a:r>
              <a:rPr lang="en-US" sz="2600" dirty="0"/>
              <a:t>If both the junction are reverse biased then small currents flows through both junctions only due to thermally produced minority carriers and surface leakage</a:t>
            </a:r>
            <a:r>
              <a:rPr lang="en-US" dirty="0"/>
              <a:t>. </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406" b="14630"/>
          <a:stretch/>
        </p:blipFill>
        <p:spPr bwMode="auto">
          <a:xfrm>
            <a:off x="4368333" y="1905000"/>
            <a:ext cx="3511528" cy="157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1" y="4887098"/>
            <a:ext cx="3589955" cy="1988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48355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85800"/>
          </a:xfrm>
        </p:spPr>
        <p:txBody>
          <a:bodyPr>
            <a:normAutofit fontScale="90000"/>
          </a:bodyPr>
          <a:lstStyle/>
          <a:p>
            <a:r>
              <a:rPr lang="en-US" dirty="0" smtClean="0"/>
              <a:t>Biasing</a:t>
            </a:r>
            <a:endParaRPr lang="en-US" dirty="0"/>
          </a:p>
        </p:txBody>
      </p:sp>
      <p:sp>
        <p:nvSpPr>
          <p:cNvPr id="3" name="Content Placeholder 2"/>
          <p:cNvSpPr>
            <a:spLocks noGrp="1"/>
          </p:cNvSpPr>
          <p:nvPr>
            <p:ph idx="1"/>
          </p:nvPr>
        </p:nvSpPr>
        <p:spPr>
          <a:xfrm>
            <a:off x="1524000" y="960438"/>
            <a:ext cx="8839200" cy="4525963"/>
          </a:xfrm>
        </p:spPr>
        <p:txBody>
          <a:bodyPr>
            <a:normAutofit/>
          </a:bodyPr>
          <a:lstStyle/>
          <a:p>
            <a:pPr algn="just"/>
            <a:r>
              <a:rPr lang="en-US" dirty="0"/>
              <a:t>When the emitter junction is forward biased and collector junction is reverse biased then one expect large emitter current and small collector current but collector current is almost as large as emitter current. </a:t>
            </a:r>
            <a:endParaRPr lang="en-US" sz="2600" dirty="0"/>
          </a:p>
          <a:p>
            <a:pPr algn="just"/>
            <a:endParaRPr lang="en-US" sz="2600" dirty="0"/>
          </a:p>
          <a:p>
            <a:pPr algn="just"/>
            <a:endParaRPr lang="en-US" sz="2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429001"/>
            <a:ext cx="571903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87347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17" name="Picture 5" descr="fg17_002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6506" y="1043782"/>
            <a:ext cx="6769100" cy="3671887"/>
          </a:xfrm>
          <a:prstGeom prst="rect">
            <a:avLst/>
          </a:prstGeom>
          <a:noFill/>
          <a:extLst>
            <a:ext uri="{909E8E84-426E-40DD-AFC4-6F175D3DCCD1}">
              <a14:hiddenFill xmlns:a14="http://schemas.microsoft.com/office/drawing/2010/main">
                <a:solidFill>
                  <a:srgbClr val="FFFFFF"/>
                </a:solidFill>
              </a14:hiddenFill>
            </a:ext>
          </a:extLst>
        </p:spPr>
      </p:pic>
      <p:pic>
        <p:nvPicPr>
          <p:cNvPr id="192518" name="Picture 6" descr="fg17_004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52601" y="914400"/>
            <a:ext cx="8316913" cy="39306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981200" y="76200"/>
            <a:ext cx="8229600" cy="838200"/>
          </a:xfrm>
        </p:spPr>
        <p:txBody>
          <a:bodyPr/>
          <a:lstStyle/>
          <a:p>
            <a:r>
              <a:rPr lang="en-US" dirty="0" smtClean="0"/>
              <a:t>Transistor Current</a:t>
            </a:r>
            <a:endParaRPr lang="en-US" dirty="0"/>
          </a:p>
        </p:txBody>
      </p:sp>
      <p:sp>
        <p:nvSpPr>
          <p:cNvPr id="3" name="Rectangle 2"/>
          <p:cNvSpPr/>
          <p:nvPr/>
        </p:nvSpPr>
        <p:spPr>
          <a:xfrm>
            <a:off x="2057401" y="4715669"/>
            <a:ext cx="7935913" cy="769441"/>
          </a:xfrm>
          <a:prstGeom prst="rect">
            <a:avLst/>
          </a:prstGeom>
        </p:spPr>
        <p:txBody>
          <a:bodyPr wrap="square">
            <a:spAutoFit/>
          </a:bodyPr>
          <a:lstStyle/>
          <a:p>
            <a:pPr marL="342900" indent="-342900" algn="just">
              <a:buFont typeface="Arial" pitchFamily="34" charset="0"/>
              <a:buChar char="•"/>
            </a:pPr>
            <a:r>
              <a:rPr lang="en-US" sz="2200" dirty="0"/>
              <a:t>The total current flowing into the transistor must be equal to the total current flowing out of it. </a:t>
            </a:r>
          </a:p>
        </p:txBody>
      </p:sp>
      <mc:AlternateContent xmlns:mc="http://schemas.openxmlformats.org/markup-compatibility/2006" xmlns:a14="http://schemas.microsoft.com/office/drawing/2010/main">
        <mc:Choice Requires="a14">
          <p:sp>
            <p:nvSpPr>
              <p:cNvPr id="4" name="TextBox 3"/>
              <p:cNvSpPr txBox="1"/>
              <p:nvPr/>
            </p:nvSpPr>
            <p:spPr>
              <a:xfrm>
                <a:off x="5257800" y="5698020"/>
                <a:ext cx="1812612" cy="461665"/>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𝐸</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𝐶</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𝐵</m:t>
                          </m:r>
                        </m:sub>
                      </m:sSub>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5257800" y="5698020"/>
                <a:ext cx="1812612" cy="461665"/>
              </a:xfrm>
              <a:prstGeom prst="rect">
                <a:avLst/>
              </a:prstGeom>
              <a:blipFill>
                <a:blip r:embed="rId5"/>
                <a:stretch>
                  <a:fillRect b="-2667"/>
                </a:stretch>
              </a:blipFill>
            </p:spPr>
            <p:txBody>
              <a:bodyPr/>
              <a:lstStyle/>
              <a:p>
                <a:r>
                  <a:rPr lang="en-US">
                    <a:noFill/>
                  </a:rPr>
                  <a:t> </a:t>
                </a:r>
              </a:p>
            </p:txBody>
          </p:sp>
        </mc:Fallback>
      </mc:AlternateContent>
    </p:spTree>
    <p:extLst>
      <p:ext uri="{BB962C8B-B14F-4D97-AF65-F5344CB8AC3E}">
        <p14:creationId xmlns:p14="http://schemas.microsoft.com/office/powerpoint/2010/main" val="17854436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dirty="0" smtClean="0"/>
              <a:t>Transistor Applications</a:t>
            </a:r>
          </a:p>
        </p:txBody>
      </p:sp>
      <p:sp>
        <p:nvSpPr>
          <p:cNvPr id="27651" name="Rectangle 3"/>
          <p:cNvSpPr>
            <a:spLocks noGrp="1" noChangeArrowheads="1"/>
          </p:cNvSpPr>
          <p:nvPr>
            <p:ph type="body" sz="half" idx="1"/>
          </p:nvPr>
        </p:nvSpPr>
        <p:spPr/>
        <p:txBody>
          <a:bodyPr/>
          <a:lstStyle/>
          <a:p>
            <a:pPr eaLnBrk="1" hangingPunct="1"/>
            <a:r>
              <a:rPr lang="en-US" dirty="0"/>
              <a:t>Switching</a:t>
            </a:r>
          </a:p>
          <a:p>
            <a:pPr eaLnBrk="1" hangingPunct="1"/>
            <a:r>
              <a:rPr lang="en-US" dirty="0"/>
              <a:t>Amplification</a:t>
            </a:r>
          </a:p>
          <a:p>
            <a:pPr eaLnBrk="1" hangingPunct="1"/>
            <a:r>
              <a:rPr lang="en-US" dirty="0"/>
              <a:t>Variable Resistor </a:t>
            </a:r>
          </a:p>
          <a:p>
            <a:pPr eaLnBrk="1" hangingPunct="1"/>
            <a:r>
              <a:rPr lang="en-US" dirty="0"/>
              <a:t>Impedance Matching</a:t>
            </a:r>
          </a:p>
          <a:p>
            <a:pPr eaLnBrk="1" hangingPunct="1"/>
            <a:r>
              <a:rPr lang="en-US" dirty="0"/>
              <a:t>Voltage Regulation</a:t>
            </a:r>
          </a:p>
        </p:txBody>
      </p:sp>
    </p:spTree>
    <p:extLst>
      <p:ext uri="{BB962C8B-B14F-4D97-AF65-F5344CB8AC3E}">
        <p14:creationId xmlns:p14="http://schemas.microsoft.com/office/powerpoint/2010/main" val="9122494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zh-TW"/>
              <a:t>Basic circuits of BJT</a:t>
            </a:r>
          </a:p>
        </p:txBody>
      </p:sp>
      <p:pic>
        <p:nvPicPr>
          <p:cNvPr id="190468" name="Picture 4" descr="fg17_00500"/>
          <p:cNvPicPr>
            <a:picLocks noGrp="1" noChangeAspect="1" noChangeArrowheads="1"/>
          </p:cNvPicPr>
          <p:nvPr>
            <p:ph type="body" idx="1"/>
          </p:nvPr>
        </p:nvPicPr>
        <p:blipFill>
          <a:blip r:embed="rId3" cstate="print">
            <a:extLst>
              <a:ext uri="{28A0092B-C50C-407E-A947-70E740481C1C}">
                <a14:useLocalDpi xmlns:a14="http://schemas.microsoft.com/office/drawing/2010/main" val="0"/>
              </a:ext>
            </a:extLst>
          </a:blip>
          <a:srcRect/>
          <a:stretch>
            <a:fillRect/>
          </a:stretch>
        </p:blipFill>
        <p:spPr>
          <a:xfrm>
            <a:off x="3143250" y="1989138"/>
            <a:ext cx="6180138" cy="3802062"/>
          </a:xfrm>
        </p:spPr>
      </p:pic>
    </p:spTree>
    <p:extLst>
      <p:ext uri="{BB962C8B-B14F-4D97-AF65-F5344CB8AC3E}">
        <p14:creationId xmlns:p14="http://schemas.microsoft.com/office/powerpoint/2010/main" val="40878217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2351088" y="260350"/>
            <a:ext cx="6870700" cy="915988"/>
          </a:xfrm>
        </p:spPr>
        <p:txBody>
          <a:bodyPr/>
          <a:lstStyle/>
          <a:p>
            <a:r>
              <a:rPr lang="en-US" altLang="zh-TW"/>
              <a:t>Operation of BJTs</a:t>
            </a:r>
            <a:endParaRPr lang="zh-TW" altLang="en-US"/>
          </a:p>
        </p:txBody>
      </p:sp>
      <p:sp>
        <p:nvSpPr>
          <p:cNvPr id="146435" name="Rectangle 3"/>
          <p:cNvSpPr>
            <a:spLocks noGrp="1" noChangeArrowheads="1"/>
          </p:cNvSpPr>
          <p:nvPr>
            <p:ph type="body" idx="1"/>
          </p:nvPr>
        </p:nvSpPr>
        <p:spPr>
          <a:xfrm>
            <a:off x="2208214" y="1484313"/>
            <a:ext cx="7775575" cy="4032250"/>
          </a:xfrm>
        </p:spPr>
        <p:txBody>
          <a:bodyPr/>
          <a:lstStyle/>
          <a:p>
            <a:r>
              <a:rPr lang="en-US" altLang="zh-TW"/>
              <a:t>BJT will operates in one of following four region</a:t>
            </a:r>
          </a:p>
          <a:p>
            <a:pPr lvl="1"/>
            <a:r>
              <a:rPr lang="en-US" altLang="zh-TW"/>
              <a:t>Cutoff region (for digital circuit)</a:t>
            </a:r>
          </a:p>
          <a:p>
            <a:pPr lvl="1"/>
            <a:r>
              <a:rPr lang="en-US" altLang="zh-TW"/>
              <a:t>Saturation region (for digital circuit)</a:t>
            </a:r>
          </a:p>
          <a:p>
            <a:pPr lvl="1"/>
            <a:r>
              <a:rPr lang="en-US" altLang="zh-TW"/>
              <a:t>Linear (active) region (to be an amplifier)</a:t>
            </a:r>
          </a:p>
          <a:p>
            <a:pPr lvl="1"/>
            <a:r>
              <a:rPr lang="en-US" altLang="zh-TW"/>
              <a:t>Breakdown region (always be a disaster)</a:t>
            </a:r>
          </a:p>
          <a:p>
            <a:pPr lvl="1"/>
            <a:endParaRPr lang="en-US" altLang="zh-TW"/>
          </a:p>
        </p:txBody>
      </p:sp>
    </p:spTree>
    <p:extLst>
      <p:ext uri="{BB962C8B-B14F-4D97-AF65-F5344CB8AC3E}">
        <p14:creationId xmlns:p14="http://schemas.microsoft.com/office/powerpoint/2010/main" val="840141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2208213" y="260350"/>
            <a:ext cx="6870700" cy="808038"/>
          </a:xfrm>
        </p:spPr>
        <p:txBody>
          <a:bodyPr/>
          <a:lstStyle/>
          <a:p>
            <a:r>
              <a:rPr lang="en-US" altLang="zh-TW"/>
              <a:t>Operation of BJTs</a:t>
            </a:r>
            <a:endParaRPr lang="zh-TW" altLang="en-US"/>
          </a:p>
        </p:txBody>
      </p:sp>
      <p:pic>
        <p:nvPicPr>
          <p:cNvPr id="148488" name="Picture 8" descr="fg17_008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1" y="914400"/>
            <a:ext cx="771525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4279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279650" y="0"/>
            <a:ext cx="6870700" cy="1060450"/>
          </a:xfrm>
        </p:spPr>
        <p:txBody>
          <a:bodyPr/>
          <a:lstStyle/>
          <a:p>
            <a:r>
              <a:rPr lang="en-US" altLang="zh-TW"/>
              <a:t>DC Analysis of BJTs</a:t>
            </a:r>
          </a:p>
        </p:txBody>
      </p:sp>
      <p:sp>
        <p:nvSpPr>
          <p:cNvPr id="54275" name="Rectangle 3"/>
          <p:cNvSpPr>
            <a:spLocks noGrp="1" noChangeArrowheads="1"/>
          </p:cNvSpPr>
          <p:nvPr>
            <p:ph type="body" idx="1"/>
          </p:nvPr>
        </p:nvSpPr>
        <p:spPr>
          <a:xfrm>
            <a:off x="2208213" y="1268413"/>
            <a:ext cx="7696200" cy="3657600"/>
          </a:xfrm>
        </p:spPr>
        <p:txBody>
          <a:bodyPr>
            <a:normAutofit/>
          </a:bodyPr>
          <a:lstStyle/>
          <a:p>
            <a:r>
              <a:rPr lang="en-US" altLang="zh-TW"/>
              <a:t>Transistor Currents:</a:t>
            </a:r>
          </a:p>
          <a:p>
            <a:pPr algn="ctr">
              <a:buFontTx/>
              <a:buNone/>
            </a:pPr>
            <a:r>
              <a:rPr lang="en-US" altLang="zh-TW"/>
              <a:t>I</a:t>
            </a:r>
            <a:r>
              <a:rPr lang="en-US" altLang="zh-TW" baseline="-25000"/>
              <a:t>E</a:t>
            </a:r>
            <a:r>
              <a:rPr lang="en-US" altLang="zh-TW"/>
              <a:t> = I</a:t>
            </a:r>
            <a:r>
              <a:rPr lang="en-US" altLang="zh-TW" baseline="-25000"/>
              <a:t>C</a:t>
            </a:r>
            <a:r>
              <a:rPr lang="en-US" altLang="zh-TW"/>
              <a:t> + I</a:t>
            </a:r>
            <a:r>
              <a:rPr lang="en-US" altLang="zh-TW" baseline="-25000"/>
              <a:t>B</a:t>
            </a:r>
            <a:endParaRPr lang="en-US" altLang="zh-TW"/>
          </a:p>
          <a:p>
            <a:r>
              <a:rPr lang="en-US" altLang="zh-TW" b="1"/>
              <a:t>alpha</a:t>
            </a:r>
            <a:r>
              <a:rPr lang="en-US" altLang="zh-TW"/>
              <a:t> (</a:t>
            </a:r>
            <a:r>
              <a:rPr lang="en-US" altLang="zh-TW">
                <a:sym typeface="Symbol" pitchFamily="18" charset="2"/>
              </a:rPr>
              <a:t></a:t>
            </a:r>
            <a:r>
              <a:rPr lang="en-US" altLang="zh-TW" baseline="-25000">
                <a:sym typeface="Symbol" pitchFamily="18" charset="2"/>
              </a:rPr>
              <a:t>DC</a:t>
            </a:r>
            <a:r>
              <a:rPr lang="en-US" altLang="zh-TW">
                <a:sym typeface="Symbol" pitchFamily="18" charset="2"/>
              </a:rPr>
              <a:t>)</a:t>
            </a:r>
          </a:p>
          <a:p>
            <a:pPr algn="ctr">
              <a:buFontTx/>
              <a:buNone/>
            </a:pPr>
            <a:r>
              <a:rPr lang="en-US" altLang="zh-TW"/>
              <a:t>I</a:t>
            </a:r>
            <a:r>
              <a:rPr lang="en-US" altLang="zh-TW" baseline="-25000"/>
              <a:t>C</a:t>
            </a:r>
            <a:r>
              <a:rPr lang="en-US" altLang="zh-TW"/>
              <a:t> = </a:t>
            </a:r>
            <a:r>
              <a:rPr lang="en-US" altLang="zh-TW">
                <a:sym typeface="Symbol" pitchFamily="18" charset="2"/>
              </a:rPr>
              <a:t></a:t>
            </a:r>
            <a:r>
              <a:rPr lang="en-US" altLang="zh-TW" baseline="-25000">
                <a:sym typeface="Symbol" pitchFamily="18" charset="2"/>
              </a:rPr>
              <a:t>DC</a:t>
            </a:r>
            <a:r>
              <a:rPr lang="en-US" altLang="zh-TW">
                <a:sym typeface="Symbol" pitchFamily="18" charset="2"/>
              </a:rPr>
              <a:t>I</a:t>
            </a:r>
            <a:r>
              <a:rPr lang="en-US" altLang="zh-TW" baseline="-25000">
                <a:sym typeface="Symbol" pitchFamily="18" charset="2"/>
              </a:rPr>
              <a:t>E</a:t>
            </a:r>
            <a:endParaRPr lang="en-US" altLang="zh-TW">
              <a:sym typeface="Symbol" pitchFamily="18" charset="2"/>
            </a:endParaRPr>
          </a:p>
          <a:p>
            <a:r>
              <a:rPr lang="en-US" altLang="zh-TW" b="1">
                <a:sym typeface="Symbol" pitchFamily="18" charset="2"/>
              </a:rPr>
              <a:t>beta</a:t>
            </a:r>
            <a:r>
              <a:rPr lang="en-US" altLang="zh-TW">
                <a:sym typeface="Symbol" pitchFamily="18" charset="2"/>
              </a:rPr>
              <a:t> (</a:t>
            </a:r>
            <a:r>
              <a:rPr lang="en-US" altLang="zh-TW" baseline="-25000">
                <a:sym typeface="Symbol" pitchFamily="18" charset="2"/>
              </a:rPr>
              <a:t>DC</a:t>
            </a:r>
            <a:r>
              <a:rPr lang="en-US" altLang="zh-TW">
                <a:sym typeface="Symbol" pitchFamily="18" charset="2"/>
              </a:rPr>
              <a:t>)</a:t>
            </a:r>
          </a:p>
          <a:p>
            <a:pPr algn="ctr">
              <a:buFontTx/>
              <a:buNone/>
            </a:pPr>
            <a:r>
              <a:rPr lang="en-US" altLang="zh-TW">
                <a:sym typeface="Symbol" pitchFamily="18" charset="2"/>
              </a:rPr>
              <a:t>I</a:t>
            </a:r>
            <a:r>
              <a:rPr lang="en-US" altLang="zh-TW" baseline="-25000">
                <a:sym typeface="Symbol" pitchFamily="18" charset="2"/>
              </a:rPr>
              <a:t>C</a:t>
            </a:r>
            <a:r>
              <a:rPr lang="en-US" altLang="zh-TW">
                <a:sym typeface="Symbol" pitchFamily="18" charset="2"/>
              </a:rPr>
              <a:t> = </a:t>
            </a:r>
            <a:r>
              <a:rPr lang="en-US" altLang="zh-TW" baseline="-25000">
                <a:sym typeface="Symbol" pitchFamily="18" charset="2"/>
              </a:rPr>
              <a:t>DC</a:t>
            </a:r>
            <a:r>
              <a:rPr lang="en-US" altLang="zh-TW">
                <a:sym typeface="Symbol" pitchFamily="18" charset="2"/>
              </a:rPr>
              <a:t>I</a:t>
            </a:r>
            <a:r>
              <a:rPr lang="en-US" altLang="zh-TW" baseline="-25000">
                <a:sym typeface="Symbol" pitchFamily="18" charset="2"/>
              </a:rPr>
              <a:t>B</a:t>
            </a:r>
            <a:endParaRPr lang="en-US" altLang="zh-TW">
              <a:sym typeface="Symbol" pitchFamily="18" charset="2"/>
            </a:endParaRPr>
          </a:p>
          <a:p>
            <a:pPr lvl="1"/>
            <a:r>
              <a:rPr lang="en-US" altLang="zh-TW">
                <a:sym typeface="Symbol" pitchFamily="18" charset="2"/>
              </a:rPr>
              <a:t></a:t>
            </a:r>
            <a:r>
              <a:rPr lang="en-US" altLang="zh-TW" baseline="-25000">
                <a:sym typeface="Symbol" pitchFamily="18" charset="2"/>
              </a:rPr>
              <a:t>DC</a:t>
            </a:r>
            <a:r>
              <a:rPr lang="en-US" altLang="zh-TW">
                <a:sym typeface="Symbol" pitchFamily="18" charset="2"/>
              </a:rPr>
              <a:t> typically has a value between 20 and 200</a:t>
            </a:r>
            <a:endParaRPr lang="en-US" altLang="zh-TW"/>
          </a:p>
        </p:txBody>
      </p:sp>
    </p:spTree>
    <p:extLst>
      <p:ext uri="{BB962C8B-B14F-4D97-AF65-F5344CB8AC3E}">
        <p14:creationId xmlns:p14="http://schemas.microsoft.com/office/powerpoint/2010/main" val="29034693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208213" y="260350"/>
            <a:ext cx="6870700" cy="915988"/>
          </a:xfrm>
        </p:spPr>
        <p:txBody>
          <a:bodyPr/>
          <a:lstStyle/>
          <a:p>
            <a:r>
              <a:rPr lang="en-US" altLang="zh-TW"/>
              <a:t>DC Analysis of BJTs</a:t>
            </a:r>
          </a:p>
        </p:txBody>
      </p:sp>
      <p:sp>
        <p:nvSpPr>
          <p:cNvPr id="55299" name="Rectangle 3"/>
          <p:cNvSpPr>
            <a:spLocks noGrp="1" noChangeArrowheads="1"/>
          </p:cNvSpPr>
          <p:nvPr>
            <p:ph type="body" idx="1"/>
          </p:nvPr>
        </p:nvSpPr>
        <p:spPr>
          <a:xfrm>
            <a:off x="2971800" y="1557338"/>
            <a:ext cx="7696200" cy="3657600"/>
          </a:xfrm>
        </p:spPr>
        <p:txBody>
          <a:bodyPr>
            <a:normAutofit lnSpcReduction="10000"/>
          </a:bodyPr>
          <a:lstStyle/>
          <a:p>
            <a:r>
              <a:rPr lang="en-US" altLang="zh-TW" sz="3600"/>
              <a:t>DC voltages for the biased transistor:</a:t>
            </a:r>
            <a:endParaRPr lang="en-US" altLang="zh-TW"/>
          </a:p>
          <a:p>
            <a:r>
              <a:rPr lang="en-US" altLang="zh-TW"/>
              <a:t>Collector voltage</a:t>
            </a:r>
          </a:p>
          <a:p>
            <a:pPr algn="ctr">
              <a:buFontTx/>
              <a:buNone/>
            </a:pPr>
            <a:r>
              <a:rPr lang="en-US" altLang="zh-TW"/>
              <a:t>V</a:t>
            </a:r>
            <a:r>
              <a:rPr lang="en-US" altLang="zh-TW" baseline="-25000"/>
              <a:t>C</a:t>
            </a:r>
            <a:r>
              <a:rPr lang="en-US" altLang="zh-TW"/>
              <a:t> = V</a:t>
            </a:r>
            <a:r>
              <a:rPr lang="en-US" altLang="zh-TW" baseline="-25000"/>
              <a:t>CC</a:t>
            </a:r>
            <a:r>
              <a:rPr lang="en-US" altLang="zh-TW"/>
              <a:t> - I</a:t>
            </a:r>
            <a:r>
              <a:rPr lang="en-US" altLang="zh-TW" baseline="-25000"/>
              <a:t>C</a:t>
            </a:r>
            <a:r>
              <a:rPr lang="en-US" altLang="zh-TW"/>
              <a:t>R</a:t>
            </a:r>
            <a:r>
              <a:rPr lang="en-US" altLang="zh-TW" baseline="-25000"/>
              <a:t>C</a:t>
            </a:r>
            <a:endParaRPr lang="en-US" altLang="zh-TW"/>
          </a:p>
          <a:p>
            <a:r>
              <a:rPr lang="en-US" altLang="zh-TW"/>
              <a:t>Base voltage</a:t>
            </a:r>
          </a:p>
          <a:p>
            <a:pPr algn="ctr">
              <a:buFontTx/>
              <a:buNone/>
            </a:pPr>
            <a:r>
              <a:rPr lang="en-US" altLang="zh-TW"/>
              <a:t>V</a:t>
            </a:r>
            <a:r>
              <a:rPr lang="en-US" altLang="zh-TW" baseline="-25000"/>
              <a:t>B</a:t>
            </a:r>
            <a:r>
              <a:rPr lang="en-US" altLang="zh-TW"/>
              <a:t> = V</a:t>
            </a:r>
            <a:r>
              <a:rPr lang="en-US" altLang="zh-TW" baseline="-25000"/>
              <a:t>E</a:t>
            </a:r>
            <a:r>
              <a:rPr lang="en-US" altLang="zh-TW"/>
              <a:t> + V</a:t>
            </a:r>
            <a:r>
              <a:rPr lang="en-US" altLang="zh-TW" baseline="-25000"/>
              <a:t>BE</a:t>
            </a:r>
            <a:endParaRPr lang="en-US" altLang="zh-TW"/>
          </a:p>
          <a:p>
            <a:pPr lvl="1"/>
            <a:endParaRPr lang="en-US" altLang="zh-TW"/>
          </a:p>
          <a:p>
            <a:pPr lvl="1"/>
            <a:r>
              <a:rPr lang="en-US" altLang="zh-TW"/>
              <a:t>for silicon transistors, V</a:t>
            </a:r>
            <a:r>
              <a:rPr lang="en-US" altLang="zh-TW" baseline="-25000"/>
              <a:t>BE</a:t>
            </a:r>
            <a:r>
              <a:rPr lang="en-US" altLang="zh-TW"/>
              <a:t> = 0.7 V</a:t>
            </a:r>
          </a:p>
          <a:p>
            <a:pPr lvl="1"/>
            <a:r>
              <a:rPr lang="en-US" altLang="zh-TW"/>
              <a:t>for germanium transistors, V</a:t>
            </a:r>
            <a:r>
              <a:rPr lang="en-US" altLang="zh-TW" baseline="-25000"/>
              <a:t>BE</a:t>
            </a:r>
            <a:r>
              <a:rPr lang="en-US" altLang="zh-TW"/>
              <a:t> = 0.3 V</a:t>
            </a:r>
          </a:p>
        </p:txBody>
      </p:sp>
    </p:spTree>
    <p:extLst>
      <p:ext uri="{BB962C8B-B14F-4D97-AF65-F5344CB8AC3E}">
        <p14:creationId xmlns:p14="http://schemas.microsoft.com/office/powerpoint/2010/main" val="23581111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992313" y="-242888"/>
            <a:ext cx="6870700" cy="1600201"/>
          </a:xfrm>
        </p:spPr>
        <p:txBody>
          <a:bodyPr/>
          <a:lstStyle/>
          <a:p>
            <a:r>
              <a:rPr lang="en-US" altLang="zh-TW"/>
              <a:t>Q-point</a:t>
            </a:r>
          </a:p>
        </p:txBody>
      </p:sp>
      <p:sp>
        <p:nvSpPr>
          <p:cNvPr id="58371" name="Rectangle 3"/>
          <p:cNvSpPr>
            <a:spLocks noGrp="1" noChangeArrowheads="1"/>
          </p:cNvSpPr>
          <p:nvPr>
            <p:ph type="body" sz="half" idx="1"/>
          </p:nvPr>
        </p:nvSpPr>
        <p:spPr>
          <a:xfrm>
            <a:off x="1919288" y="1773238"/>
            <a:ext cx="4464050" cy="3657600"/>
          </a:xfrm>
        </p:spPr>
        <p:txBody>
          <a:bodyPr/>
          <a:lstStyle/>
          <a:p>
            <a:r>
              <a:rPr lang="en-US" altLang="zh-TW" dirty="0"/>
              <a:t>The base current, I</a:t>
            </a:r>
            <a:r>
              <a:rPr lang="en-US" altLang="zh-TW" baseline="-25000" dirty="0"/>
              <a:t>B</a:t>
            </a:r>
            <a:r>
              <a:rPr lang="en-US" altLang="zh-TW" dirty="0"/>
              <a:t>, is established by the base bias</a:t>
            </a:r>
          </a:p>
          <a:p>
            <a:r>
              <a:rPr lang="en-US" altLang="zh-TW" dirty="0"/>
              <a:t>The point at which the base current curve intersects the dc load line is the quiescent or Q-point for the circuit</a:t>
            </a:r>
          </a:p>
          <a:p>
            <a:pPr>
              <a:buFontTx/>
              <a:buNone/>
            </a:pPr>
            <a:endParaRPr lang="zh-TW" altLang="en-US" dirty="0"/>
          </a:p>
        </p:txBody>
      </p:sp>
    </p:spTree>
    <p:extLst>
      <p:ext uri="{BB962C8B-B14F-4D97-AF65-F5344CB8AC3E}">
        <p14:creationId xmlns:p14="http://schemas.microsoft.com/office/powerpoint/2010/main" val="29033545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2208213" y="260350"/>
            <a:ext cx="6870700" cy="1060450"/>
          </a:xfrm>
        </p:spPr>
        <p:txBody>
          <a:bodyPr/>
          <a:lstStyle/>
          <a:p>
            <a:r>
              <a:rPr lang="en-US" altLang="zh-TW"/>
              <a:t>Q-point</a:t>
            </a:r>
          </a:p>
        </p:txBody>
      </p:sp>
      <p:pic>
        <p:nvPicPr>
          <p:cNvPr id="194564" name="Picture 4" descr="fg17_01200"/>
          <p:cNvPicPr>
            <a:picLocks noGrp="1" noChangeAspect="1" noChangeArrowheads="1"/>
          </p:cNvPicPr>
          <p:nvPr>
            <p:ph type="body" idx="1"/>
          </p:nvPr>
        </p:nvPicPr>
        <p:blipFill>
          <a:blip r:embed="rId3" cstate="print">
            <a:extLst>
              <a:ext uri="{28A0092B-C50C-407E-A947-70E740481C1C}">
                <a14:useLocalDpi xmlns:a14="http://schemas.microsoft.com/office/drawing/2010/main" val="0"/>
              </a:ext>
            </a:extLst>
          </a:blip>
          <a:srcRect/>
          <a:stretch>
            <a:fillRect/>
          </a:stretch>
        </p:blipFill>
        <p:spPr>
          <a:xfrm>
            <a:off x="2862263" y="1738314"/>
            <a:ext cx="6546850" cy="3748087"/>
          </a:xfrm>
        </p:spPr>
      </p:pic>
    </p:spTree>
    <p:extLst>
      <p:ext uri="{BB962C8B-B14F-4D97-AF65-F5344CB8AC3E}">
        <p14:creationId xmlns:p14="http://schemas.microsoft.com/office/powerpoint/2010/main" val="24840694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279650" y="260350"/>
            <a:ext cx="6870700" cy="915988"/>
          </a:xfrm>
        </p:spPr>
        <p:txBody>
          <a:bodyPr/>
          <a:lstStyle/>
          <a:p>
            <a:r>
              <a:rPr lang="en-US" altLang="zh-TW"/>
              <a:t>DC Analysis of BJTs</a:t>
            </a:r>
          </a:p>
        </p:txBody>
      </p:sp>
      <p:sp>
        <p:nvSpPr>
          <p:cNvPr id="56323" name="Rectangle 3"/>
          <p:cNvSpPr>
            <a:spLocks noGrp="1" noChangeArrowheads="1"/>
          </p:cNvSpPr>
          <p:nvPr>
            <p:ph type="body" sz="half" idx="1"/>
          </p:nvPr>
        </p:nvSpPr>
        <p:spPr>
          <a:xfrm>
            <a:off x="2279650" y="1557338"/>
            <a:ext cx="3771900" cy="3657600"/>
          </a:xfrm>
        </p:spPr>
        <p:txBody>
          <a:bodyPr/>
          <a:lstStyle/>
          <a:p>
            <a:r>
              <a:rPr lang="en-US" altLang="zh-TW"/>
              <a:t>The voltage divider biasing is widely used</a:t>
            </a:r>
          </a:p>
          <a:p>
            <a:r>
              <a:rPr lang="en-US" altLang="zh-TW"/>
              <a:t>Input resistance is:</a:t>
            </a:r>
          </a:p>
          <a:p>
            <a:pPr algn="ctr">
              <a:buFontTx/>
              <a:buNone/>
            </a:pPr>
            <a:r>
              <a:rPr lang="en-US" altLang="zh-TW"/>
              <a:t>R</a:t>
            </a:r>
            <a:r>
              <a:rPr lang="en-US" altLang="zh-TW" baseline="-25000"/>
              <a:t>IN</a:t>
            </a:r>
            <a:r>
              <a:rPr lang="en-US" altLang="zh-TW"/>
              <a:t> </a:t>
            </a:r>
            <a:r>
              <a:rPr lang="en-US" altLang="zh-TW">
                <a:sym typeface="Symbol" pitchFamily="18" charset="2"/>
              </a:rPr>
              <a:t> </a:t>
            </a:r>
            <a:r>
              <a:rPr lang="en-US" altLang="zh-TW" baseline="-25000">
                <a:sym typeface="Symbol" pitchFamily="18" charset="2"/>
              </a:rPr>
              <a:t>DC</a:t>
            </a:r>
            <a:r>
              <a:rPr lang="en-US" altLang="zh-TW">
                <a:sym typeface="Symbol" pitchFamily="18" charset="2"/>
              </a:rPr>
              <a:t>R</a:t>
            </a:r>
            <a:r>
              <a:rPr lang="en-US" altLang="zh-TW" baseline="-25000">
                <a:sym typeface="Symbol" pitchFamily="18" charset="2"/>
              </a:rPr>
              <a:t>E</a:t>
            </a:r>
            <a:endParaRPr lang="en-US" altLang="zh-TW">
              <a:sym typeface="Symbol" pitchFamily="18" charset="2"/>
            </a:endParaRPr>
          </a:p>
          <a:p>
            <a:r>
              <a:rPr lang="en-US" altLang="zh-TW">
                <a:sym typeface="Symbol" pitchFamily="18" charset="2"/>
              </a:rPr>
              <a:t>The base voltage is approximately:</a:t>
            </a:r>
          </a:p>
          <a:p>
            <a:pPr algn="ctr">
              <a:buFontTx/>
              <a:buNone/>
            </a:pPr>
            <a:r>
              <a:rPr lang="en-US" altLang="zh-TW">
                <a:sym typeface="Symbol" pitchFamily="18" charset="2"/>
              </a:rPr>
              <a:t>V</a:t>
            </a:r>
            <a:r>
              <a:rPr lang="en-US" altLang="zh-TW" baseline="-25000">
                <a:sym typeface="Symbol" pitchFamily="18" charset="2"/>
              </a:rPr>
              <a:t>B</a:t>
            </a:r>
            <a:r>
              <a:rPr lang="en-US" altLang="zh-TW">
                <a:sym typeface="Symbol" pitchFamily="18" charset="2"/>
              </a:rPr>
              <a:t>  V</a:t>
            </a:r>
            <a:r>
              <a:rPr lang="en-US" altLang="zh-TW" baseline="-25000">
                <a:sym typeface="Symbol" pitchFamily="18" charset="2"/>
              </a:rPr>
              <a:t>CC</a:t>
            </a:r>
            <a:r>
              <a:rPr lang="en-US" altLang="zh-TW">
                <a:sym typeface="Symbol" pitchFamily="18" charset="2"/>
              </a:rPr>
              <a:t>R</a:t>
            </a:r>
            <a:r>
              <a:rPr lang="en-US" altLang="zh-TW" baseline="-25000">
                <a:sym typeface="Symbol" pitchFamily="18" charset="2"/>
              </a:rPr>
              <a:t>2</a:t>
            </a:r>
            <a:r>
              <a:rPr lang="en-US" altLang="zh-TW">
                <a:sym typeface="Symbol" pitchFamily="18" charset="2"/>
              </a:rPr>
              <a:t>/(R</a:t>
            </a:r>
            <a:r>
              <a:rPr lang="en-US" altLang="zh-TW" baseline="-25000">
                <a:sym typeface="Symbol" pitchFamily="18" charset="2"/>
              </a:rPr>
              <a:t>1</a:t>
            </a:r>
            <a:r>
              <a:rPr lang="en-US" altLang="zh-TW">
                <a:sym typeface="Symbol" pitchFamily="18" charset="2"/>
              </a:rPr>
              <a:t>+R</a:t>
            </a:r>
            <a:r>
              <a:rPr lang="en-US" altLang="zh-TW" baseline="-25000">
                <a:sym typeface="Symbol" pitchFamily="18" charset="2"/>
              </a:rPr>
              <a:t>2</a:t>
            </a:r>
            <a:r>
              <a:rPr lang="en-US" altLang="zh-TW">
                <a:sym typeface="Symbol" pitchFamily="18" charset="2"/>
              </a:rPr>
              <a:t>)</a:t>
            </a:r>
          </a:p>
          <a:p>
            <a:pPr>
              <a:buFontTx/>
              <a:buNone/>
            </a:pPr>
            <a:endParaRPr lang="zh-TW" altLang="en-US">
              <a:sym typeface="Symbol" pitchFamily="18" charset="2"/>
            </a:endParaRPr>
          </a:p>
        </p:txBody>
      </p:sp>
      <p:pic>
        <p:nvPicPr>
          <p:cNvPr id="56326" name="Picture 6"/>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6743700" y="1557338"/>
            <a:ext cx="2952750" cy="3657600"/>
          </a:xfrm>
        </p:spPr>
      </p:pic>
    </p:spTree>
    <p:extLst>
      <p:ext uri="{BB962C8B-B14F-4D97-AF65-F5344CB8AC3E}">
        <p14:creationId xmlns:p14="http://schemas.microsoft.com/office/powerpoint/2010/main" val="29628131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23675</TotalTime>
  <Words>1325</Words>
  <Application>Microsoft Office PowerPoint</Application>
  <PresentationFormat>Widescreen</PresentationFormat>
  <Paragraphs>227</Paragraphs>
  <Slides>35</Slides>
  <Notes>14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7" baseType="lpstr">
      <vt:lpstr>맑은 고딕</vt:lpstr>
      <vt:lpstr>Arial</vt:lpstr>
      <vt:lpstr>Calibri</vt:lpstr>
      <vt:lpstr>Calibri Light</vt:lpstr>
      <vt:lpstr>Cambria Math</vt:lpstr>
      <vt:lpstr>Edwardian Script ITC</vt:lpstr>
      <vt:lpstr>新細明體</vt:lpstr>
      <vt:lpstr>Symbol</vt:lpstr>
      <vt:lpstr>Times New Roman</vt:lpstr>
      <vt:lpstr>Wingdings</vt:lpstr>
      <vt:lpstr>Office Theme</vt:lpstr>
      <vt:lpstr>Microsoft Equation 3.0</vt:lpstr>
      <vt:lpstr>9.4_Transistors </vt:lpstr>
      <vt:lpstr>What is a transistor?</vt:lpstr>
      <vt:lpstr>What is a transistor?</vt:lpstr>
      <vt:lpstr>Lecture Overview</vt:lpstr>
      <vt:lpstr>What is a Transistor?</vt:lpstr>
      <vt:lpstr>A Brief History</vt:lpstr>
      <vt:lpstr>The Transistor is Born</vt:lpstr>
      <vt:lpstr>How Transistors Work</vt:lpstr>
      <vt:lpstr>Diodes and Bias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Bipolar Transistor</vt:lpstr>
      <vt:lpstr>Architecture of BJTs</vt:lpstr>
      <vt:lpstr>Bipolar Transistor</vt:lpstr>
      <vt:lpstr>Biasing</vt:lpstr>
      <vt:lpstr>Biasing</vt:lpstr>
      <vt:lpstr>Transistor Current</vt:lpstr>
      <vt:lpstr>Transistor Applications</vt:lpstr>
      <vt:lpstr>Basic circuits of BJT</vt:lpstr>
      <vt:lpstr>Operation of BJTs</vt:lpstr>
      <vt:lpstr>Operation of BJTs</vt:lpstr>
      <vt:lpstr>DC Analysis of BJTs</vt:lpstr>
      <vt:lpstr>DC Analysis of BJTs</vt:lpstr>
      <vt:lpstr>Q-point</vt:lpstr>
      <vt:lpstr>Q-point</vt:lpstr>
      <vt:lpstr>DC Analysis of BJTs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82</cp:revision>
  <dcterms:created xsi:type="dcterms:W3CDTF">2024-10-22T07:52:57Z</dcterms:created>
  <dcterms:modified xsi:type="dcterms:W3CDTF">2026-03-17T08:51:47Z</dcterms:modified>
</cp:coreProperties>
</file>