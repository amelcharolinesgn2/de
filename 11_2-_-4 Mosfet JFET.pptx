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1"/>
  </p:notesMasterIdLst>
  <p:sldIdLst>
    <p:sldId id="339" r:id="rId2"/>
    <p:sldId id="340" r:id="rId3"/>
    <p:sldId id="398" r:id="rId4"/>
    <p:sldId id="341" r:id="rId5"/>
    <p:sldId id="342" r:id="rId6"/>
    <p:sldId id="343" r:id="rId7"/>
    <p:sldId id="344" r:id="rId8"/>
    <p:sldId id="345" r:id="rId9"/>
    <p:sldId id="346" r:id="rId10"/>
    <p:sldId id="347" r:id="rId11"/>
    <p:sldId id="348" r:id="rId12"/>
    <p:sldId id="349" r:id="rId13"/>
    <p:sldId id="350" r:id="rId14"/>
    <p:sldId id="351" r:id="rId15"/>
    <p:sldId id="352" r:id="rId16"/>
    <p:sldId id="353" r:id="rId17"/>
    <p:sldId id="354" r:id="rId18"/>
    <p:sldId id="355" r:id="rId19"/>
    <p:sldId id="356" r:id="rId20"/>
    <p:sldId id="358" r:id="rId21"/>
    <p:sldId id="359" r:id="rId22"/>
    <p:sldId id="360" r:id="rId23"/>
    <p:sldId id="361" r:id="rId24"/>
    <p:sldId id="362" r:id="rId25"/>
    <p:sldId id="363" r:id="rId26"/>
    <p:sldId id="364" r:id="rId27"/>
    <p:sldId id="365" r:id="rId28"/>
    <p:sldId id="366" r:id="rId29"/>
    <p:sldId id="367" r:id="rId30"/>
    <p:sldId id="368" r:id="rId31"/>
    <p:sldId id="369" r:id="rId32"/>
    <p:sldId id="370" r:id="rId33"/>
    <p:sldId id="371" r:id="rId34"/>
    <p:sldId id="372" r:id="rId35"/>
    <p:sldId id="373" r:id="rId36"/>
    <p:sldId id="374" r:id="rId37"/>
    <p:sldId id="375" r:id="rId38"/>
    <p:sldId id="376" r:id="rId39"/>
    <p:sldId id="377" r:id="rId40"/>
    <p:sldId id="378" r:id="rId41"/>
    <p:sldId id="379" r:id="rId42"/>
    <p:sldId id="380" r:id="rId43"/>
    <p:sldId id="381" r:id="rId44"/>
    <p:sldId id="382" r:id="rId45"/>
    <p:sldId id="383" r:id="rId46"/>
    <p:sldId id="384" r:id="rId47"/>
    <p:sldId id="385" r:id="rId48"/>
    <p:sldId id="386" r:id="rId49"/>
    <p:sldId id="387" r:id="rId50"/>
    <p:sldId id="388" r:id="rId51"/>
    <p:sldId id="389" r:id="rId52"/>
    <p:sldId id="390" r:id="rId53"/>
    <p:sldId id="391" r:id="rId54"/>
    <p:sldId id="392" r:id="rId55"/>
    <p:sldId id="393" r:id="rId56"/>
    <p:sldId id="394" r:id="rId57"/>
    <p:sldId id="395" r:id="rId58"/>
    <p:sldId id="396" r:id="rId59"/>
    <p:sldId id="397"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nuel Fradinho" initials="MF"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DFF"/>
    <a:srgbClr val="00B2A5"/>
    <a:srgbClr val="00D9C7"/>
    <a:srgbClr val="73FDD6"/>
    <a:srgbClr val="FF40FF"/>
    <a:srgbClr val="A92C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88" autoAdjust="0"/>
    <p:restoredTop sz="79922" autoAdjust="0"/>
  </p:normalViewPr>
  <p:slideViewPr>
    <p:cSldViewPr snapToGrid="0">
      <p:cViewPr varScale="1">
        <p:scale>
          <a:sx n="62" d="100"/>
          <a:sy n="62" d="100"/>
        </p:scale>
        <p:origin x="312" y="6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image" Target="../media/image22.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image" Target="../media/image34.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image" Target="../media/image36.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9.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image" Target="../media/image41.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image" Target="../media/image43.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image" Target="../media/image47.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image" Target="../media/image49.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image" Target="../media/image52.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4.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image" Target="../media/image56.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5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AA3E45-57A9-44A4-8D02-ECC452318D6C}"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B232A1-099D-4B50-B749-7C373A0D848E}" type="slidenum">
              <a:rPr lang="en-US" smtClean="0"/>
              <a:t>‹#›</a:t>
            </a:fld>
            <a:endParaRPr lang="en-US"/>
          </a:p>
        </p:txBody>
      </p:sp>
    </p:spTree>
    <p:extLst>
      <p:ext uri="{BB962C8B-B14F-4D97-AF65-F5344CB8AC3E}">
        <p14:creationId xmlns:p14="http://schemas.microsoft.com/office/powerpoint/2010/main" val="2638543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https://github.com/Rakibul73/Cisco_Network_Routing_Switching</a:t>
            </a:r>
          </a:p>
          <a:p>
            <a:r>
              <a:rPr lang="en-US" dirty="0" smtClean="0"/>
              <a:t>https://github.com/Rakibul73/Cisco_Network_Routing_Switching/tree/main/Problem_Lab_BGP</a:t>
            </a:r>
          </a:p>
          <a:p>
            <a:r>
              <a:rPr lang="en-US" dirty="0" smtClean="0"/>
              <a:t>https://networklessons.com/labs/bgp-professional-lab-1#BGP_Prefer_eBGP_over_iBGP</a:t>
            </a:r>
          </a:p>
          <a:p>
            <a:endParaRPr lang="en-US" dirty="0" smtClean="0"/>
          </a:p>
          <a:p>
            <a:endParaRPr lang="en-US" dirty="0" smtClean="0"/>
          </a:p>
          <a:p>
            <a:r>
              <a:rPr lang="en-US" dirty="0" smtClean="0"/>
              <a:t>https://github.com/Rakibul73/whiteboard-app</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a:t>
            </a:fld>
            <a:endParaRPr lang="en-US"/>
          </a:p>
        </p:txBody>
      </p:sp>
    </p:spTree>
    <p:extLst>
      <p:ext uri="{BB962C8B-B14F-4D97-AF65-F5344CB8AC3E}">
        <p14:creationId xmlns:p14="http://schemas.microsoft.com/office/powerpoint/2010/main" val="326982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https://elektrologi.iptek.web.id/led-tegangan-220-volt-ac/</a:t>
            </a:r>
          </a:p>
          <a:p>
            <a:r>
              <a:rPr lang="en-US" dirty="0" smtClean="0"/>
              <a:t>https://github.com/talhaturac/Simple_MOSFET_Switching_Circuit</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3</a:t>
            </a:fld>
            <a:endParaRPr lang="en-US"/>
          </a:p>
        </p:txBody>
      </p:sp>
    </p:spTree>
    <p:extLst>
      <p:ext uri="{BB962C8B-B14F-4D97-AF65-F5344CB8AC3E}">
        <p14:creationId xmlns:p14="http://schemas.microsoft.com/office/powerpoint/2010/main" val="200692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167355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580645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28CD25-4015-481E-94C9-A931395C8E35}"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255502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F28CD25-4015-481E-94C9-A931395C8E35}"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525557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F28CD25-4015-481E-94C9-A931395C8E35}"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482625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F28CD25-4015-481E-94C9-A931395C8E35}"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635559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28CD25-4015-481E-94C9-A931395C8E35}"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980506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28CD25-4015-481E-94C9-A931395C8E35}"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479311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28CD25-4015-481E-94C9-A931395C8E35}"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466610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810339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908497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28CD25-4015-481E-94C9-A931395C8E35}" type="datetimeFigureOut">
              <a:rPr lang="en-US" smtClean="0"/>
              <a:t>4/22/2026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F35205-7406-4E96-85E9-F173CE5CBA86}" type="slidenum">
              <a:rPr lang="en-US" smtClean="0"/>
              <a:t>‹#›</a:t>
            </a:fld>
            <a:endParaRPr lang="en-US"/>
          </a:p>
        </p:txBody>
      </p:sp>
    </p:spTree>
    <p:extLst>
      <p:ext uri="{BB962C8B-B14F-4D97-AF65-F5344CB8AC3E}">
        <p14:creationId xmlns:p14="http://schemas.microsoft.com/office/powerpoint/2010/main" val="338311710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3.emf"/><Relationship Id="rId5" Type="http://schemas.openxmlformats.org/officeDocument/2006/relationships/oleObject" Target="../embeddings/oleObject2.bin"/><Relationship Id="rId4" Type="http://schemas.openxmlformats.org/officeDocument/2006/relationships/image" Target="../media/image22.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5.emf"/><Relationship Id="rId5" Type="http://schemas.openxmlformats.org/officeDocument/2006/relationships/oleObject" Target="../embeddings/oleObject4.bin"/><Relationship Id="rId4" Type="http://schemas.openxmlformats.org/officeDocument/2006/relationships/image" Target="../media/image24.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6.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27.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8.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9.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30.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31.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32.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33.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35.emf"/><Relationship Id="rId5" Type="http://schemas.openxmlformats.org/officeDocument/2006/relationships/oleObject" Target="../embeddings/oleObject14.bin"/><Relationship Id="rId4" Type="http://schemas.openxmlformats.org/officeDocument/2006/relationships/image" Target="../media/image34.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38.e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37.emf"/><Relationship Id="rId5" Type="http://schemas.openxmlformats.org/officeDocument/2006/relationships/oleObject" Target="../embeddings/oleObject16.bin"/><Relationship Id="rId4" Type="http://schemas.openxmlformats.org/officeDocument/2006/relationships/image" Target="../media/image36.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40.emf"/><Relationship Id="rId5" Type="http://schemas.openxmlformats.org/officeDocument/2006/relationships/oleObject" Target="../embeddings/oleObject19.bin"/><Relationship Id="rId4" Type="http://schemas.openxmlformats.org/officeDocument/2006/relationships/image" Target="../media/image39.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42.emf"/><Relationship Id="rId5" Type="http://schemas.openxmlformats.org/officeDocument/2006/relationships/oleObject" Target="../embeddings/oleObject21.bin"/><Relationship Id="rId4" Type="http://schemas.openxmlformats.org/officeDocument/2006/relationships/image" Target="../media/image41.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44.emf"/><Relationship Id="rId5" Type="http://schemas.openxmlformats.org/officeDocument/2006/relationships/oleObject" Target="../embeddings/oleObject23.bin"/><Relationship Id="rId4" Type="http://schemas.openxmlformats.org/officeDocument/2006/relationships/image" Target="../media/image43.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45.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46.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48.emf"/><Relationship Id="rId5" Type="http://schemas.openxmlformats.org/officeDocument/2006/relationships/oleObject" Target="../embeddings/oleObject27.bin"/><Relationship Id="rId4" Type="http://schemas.openxmlformats.org/officeDocument/2006/relationships/image" Target="../media/image47.e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50.emf"/><Relationship Id="rId5" Type="http://schemas.openxmlformats.org/officeDocument/2006/relationships/oleObject" Target="../embeddings/oleObject29.bin"/><Relationship Id="rId4" Type="http://schemas.openxmlformats.org/officeDocument/2006/relationships/image" Target="../media/image49.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51.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53.emf"/><Relationship Id="rId5" Type="http://schemas.openxmlformats.org/officeDocument/2006/relationships/oleObject" Target="../embeddings/oleObject32.bin"/><Relationship Id="rId4" Type="http://schemas.openxmlformats.org/officeDocument/2006/relationships/image" Target="../media/image52.e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image" Target="../media/image54.e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55.e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57.emf"/><Relationship Id="rId5" Type="http://schemas.openxmlformats.org/officeDocument/2006/relationships/oleObject" Target="../embeddings/oleObject36.bin"/><Relationship Id="rId4" Type="http://schemas.openxmlformats.org/officeDocument/2006/relationships/image" Target="../media/image56.e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5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3"/>
          <a:stretch>
            <a:fillRect/>
          </a:stretch>
        </p:blipFill>
        <p:spPr>
          <a:xfrm>
            <a:off x="46290" y="549166"/>
            <a:ext cx="1980634" cy="1262343"/>
          </a:xfrm>
          <a:prstGeom prst="rect">
            <a:avLst/>
          </a:prstGeom>
        </p:spPr>
      </p:pic>
      <p:pic>
        <p:nvPicPr>
          <p:cNvPr id="30" name="Picture 29"/>
          <p:cNvPicPr>
            <a:picLocks noChangeAspect="1"/>
          </p:cNvPicPr>
          <p:nvPr/>
        </p:nvPicPr>
        <p:blipFill rotWithShape="1">
          <a:blip r:embed="rId4"/>
          <a:srcRect l="8646" t="12924" r="16013" b="9596"/>
          <a:stretch/>
        </p:blipFill>
        <p:spPr>
          <a:xfrm>
            <a:off x="348892" y="2278144"/>
            <a:ext cx="1209868" cy="1244217"/>
          </a:xfrm>
          <a:prstGeom prst="rect">
            <a:avLst/>
          </a:prstGeom>
          <a:ln>
            <a:noFill/>
          </a:ln>
          <a:effectLst>
            <a:softEdge rad="112500"/>
          </a:effectLst>
        </p:spPr>
      </p:pic>
      <p:pic>
        <p:nvPicPr>
          <p:cNvPr id="31" name="Picture 30"/>
          <p:cNvPicPr>
            <a:picLocks noChangeAspect="1"/>
          </p:cNvPicPr>
          <p:nvPr/>
        </p:nvPicPr>
        <p:blipFill rotWithShape="1">
          <a:blip r:embed="rId5"/>
          <a:srcRect t="31519" b="32047"/>
          <a:stretch/>
        </p:blipFill>
        <p:spPr>
          <a:xfrm>
            <a:off x="478321" y="2904448"/>
            <a:ext cx="1018759" cy="323944"/>
          </a:xfrm>
          <a:prstGeom prst="rect">
            <a:avLst/>
          </a:prstGeom>
          <a:ln>
            <a:noFill/>
          </a:ln>
          <a:effectLst>
            <a:softEdge rad="112500"/>
          </a:effectLst>
        </p:spPr>
      </p:pic>
      <p:pic>
        <p:nvPicPr>
          <p:cNvPr id="6" name="Picture 5"/>
          <p:cNvPicPr>
            <a:picLocks noChangeAspect="1"/>
          </p:cNvPicPr>
          <p:nvPr/>
        </p:nvPicPr>
        <p:blipFill>
          <a:blip r:embed="rId6"/>
          <a:stretch>
            <a:fillRect/>
          </a:stretch>
        </p:blipFill>
        <p:spPr>
          <a:xfrm>
            <a:off x="306070" y="1596944"/>
            <a:ext cx="1896069" cy="21332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477502" y="1251268"/>
            <a:ext cx="976966" cy="369285"/>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431212" y="1225859"/>
            <a:ext cx="336493" cy="171515"/>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469976" y="1256395"/>
            <a:ext cx="365801" cy="125217"/>
          </a:xfrm>
          <a:prstGeom prst="rect">
            <a:avLst/>
          </a:prstGeom>
        </p:spPr>
        <p:txBody>
          <a:bodyPr vert="horz" lIns="81280" tIns="40640" rIns="81280" bIns="4064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22" dirty="0">
                <a:solidFill>
                  <a:srgbClr val="7030A0"/>
                </a:solidFill>
              </a:rPr>
              <a:t>PDS</a:t>
            </a:r>
          </a:p>
        </p:txBody>
      </p:sp>
      <p:pic>
        <p:nvPicPr>
          <p:cNvPr id="18" name="Picture 17"/>
          <p:cNvPicPr>
            <a:picLocks noChangeAspect="1"/>
          </p:cNvPicPr>
          <p:nvPr/>
        </p:nvPicPr>
        <p:blipFill>
          <a:blip r:embed="rId7"/>
          <a:stretch>
            <a:fillRect/>
          </a:stretch>
        </p:blipFill>
        <p:spPr>
          <a:xfrm>
            <a:off x="1489692" y="1368919"/>
            <a:ext cx="195549" cy="278741"/>
          </a:xfrm>
          <a:prstGeom prst="rect">
            <a:avLst/>
          </a:prstGeom>
        </p:spPr>
      </p:pic>
      <p:pic>
        <p:nvPicPr>
          <p:cNvPr id="19" name="Picture 18"/>
          <p:cNvPicPr>
            <a:picLocks noChangeAspect="1"/>
          </p:cNvPicPr>
          <p:nvPr/>
        </p:nvPicPr>
        <p:blipFill>
          <a:blip r:embed="rId8"/>
          <a:stretch>
            <a:fillRect/>
          </a:stretch>
        </p:blipFill>
        <p:spPr>
          <a:xfrm>
            <a:off x="928964" y="1347118"/>
            <a:ext cx="268890" cy="255445"/>
          </a:xfrm>
          <a:prstGeom prst="rect">
            <a:avLst/>
          </a:prstGeom>
        </p:spPr>
      </p:pic>
      <p:pic>
        <p:nvPicPr>
          <p:cNvPr id="20" name="Picture 19"/>
          <p:cNvPicPr>
            <a:picLocks noChangeAspect="1"/>
          </p:cNvPicPr>
          <p:nvPr/>
        </p:nvPicPr>
        <p:blipFill>
          <a:blip r:embed="rId9"/>
          <a:stretch>
            <a:fillRect/>
          </a:stretch>
        </p:blipFill>
        <p:spPr>
          <a:xfrm>
            <a:off x="668583" y="1380076"/>
            <a:ext cx="262872" cy="253181"/>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258279" y="1456524"/>
            <a:ext cx="1837447" cy="261117"/>
          </a:xfrm>
          <a:prstGeom prst="rect">
            <a:avLst/>
          </a:prstGeom>
        </p:spPr>
        <p:txBody>
          <a:bodyPr vert="horz" lIns="81280" tIns="40640" rIns="81280" bIns="4064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867" dirty="0">
                <a:solidFill>
                  <a:schemeClr val="accent1">
                    <a:lumMod val="75000"/>
                  </a:schemeClr>
                </a:solidFill>
              </a:rPr>
              <a:t>Computer </a:t>
            </a:r>
            <a:r>
              <a:rPr lang="en-US" sz="1867" dirty="0">
                <a:solidFill>
                  <a:srgbClr val="00B0F0"/>
                </a:solidFill>
              </a:rPr>
              <a:t>Vision</a:t>
            </a:r>
          </a:p>
        </p:txBody>
      </p:sp>
      <p:sp>
        <p:nvSpPr>
          <p:cNvPr id="28" name="Title 1"/>
          <p:cNvSpPr txBox="1">
            <a:spLocks/>
          </p:cNvSpPr>
          <p:nvPr/>
        </p:nvSpPr>
        <p:spPr>
          <a:xfrm>
            <a:off x="-849474" y="3326448"/>
            <a:ext cx="3825765" cy="4512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133" b="1" dirty="0">
                <a:solidFill>
                  <a:schemeClr val="bg1">
                    <a:lumMod val="75000"/>
                  </a:schemeClr>
                </a:solidFill>
              </a:rPr>
              <a:t>@ P. </a:t>
            </a:r>
            <a:r>
              <a:rPr lang="en-US" sz="2133" b="1" dirty="0" err="1">
                <a:solidFill>
                  <a:schemeClr val="bg1">
                    <a:lumMod val="75000"/>
                  </a:schemeClr>
                </a:solidFill>
              </a:rPr>
              <a:t>Siagian</a:t>
            </a:r>
            <a:endParaRPr lang="en-US" sz="2133" b="1" dirty="0">
              <a:solidFill>
                <a:schemeClr val="bg1">
                  <a:lumMod val="75000"/>
                </a:schemeClr>
              </a:solidFill>
            </a:endParaRPr>
          </a:p>
        </p:txBody>
      </p:sp>
      <p:sp>
        <p:nvSpPr>
          <p:cNvPr id="26" name="Rectangle 25"/>
          <p:cNvSpPr/>
          <p:nvPr/>
        </p:nvSpPr>
        <p:spPr>
          <a:xfrm>
            <a:off x="9463375" y="5949106"/>
            <a:ext cx="2487830" cy="215444"/>
          </a:xfrm>
          <a:prstGeom prst="rect">
            <a:avLst/>
          </a:prstGeom>
        </p:spPr>
        <p:txBody>
          <a:bodyPr wrap="square">
            <a:spAutoFit/>
          </a:bodyPr>
          <a:lstStyle/>
          <a:p>
            <a:r>
              <a:rPr lang="en-US" sz="800" dirty="0"/>
              <a:t>https://www.youtube.com/@AmelOline/videos</a:t>
            </a:r>
          </a:p>
        </p:txBody>
      </p:sp>
      <p:sp>
        <p:nvSpPr>
          <p:cNvPr id="27" name="Rectangle 26"/>
          <p:cNvSpPr/>
          <p:nvPr/>
        </p:nvSpPr>
        <p:spPr>
          <a:xfrm>
            <a:off x="10252570" y="5810607"/>
            <a:ext cx="1545230" cy="215444"/>
          </a:xfrm>
          <a:prstGeom prst="rect">
            <a:avLst/>
          </a:prstGeom>
        </p:spPr>
        <p:txBody>
          <a:bodyPr wrap="square">
            <a:spAutoFit/>
          </a:bodyPr>
          <a:lstStyle/>
          <a:p>
            <a:r>
              <a:rPr lang="en-US" sz="800" dirty="0"/>
              <a:t>https://github.com/siagianp</a:t>
            </a:r>
          </a:p>
        </p:txBody>
      </p:sp>
      <p:sp>
        <p:nvSpPr>
          <p:cNvPr id="29" name="Rectangle 28"/>
          <p:cNvSpPr/>
          <p:nvPr/>
        </p:nvSpPr>
        <p:spPr>
          <a:xfrm>
            <a:off x="8537735" y="6087606"/>
            <a:ext cx="3490509" cy="215444"/>
          </a:xfrm>
          <a:prstGeom prst="rect">
            <a:avLst/>
          </a:prstGeom>
        </p:spPr>
        <p:txBody>
          <a:bodyPr wrap="square">
            <a:spAutoFit/>
          </a:bodyPr>
          <a:lstStyle/>
          <a:p>
            <a:r>
              <a:rPr lang="en-US" sz="800" dirty="0"/>
              <a:t>https://github.com/amelcharolinesgn2/IoT_simulator-mqtt-NodeRed</a:t>
            </a:r>
          </a:p>
        </p:txBody>
      </p:sp>
      <p:sp>
        <p:nvSpPr>
          <p:cNvPr id="32" name="Rectangle 31"/>
          <p:cNvSpPr/>
          <p:nvPr/>
        </p:nvSpPr>
        <p:spPr>
          <a:xfrm>
            <a:off x="8945775" y="6226105"/>
            <a:ext cx="2746692" cy="338554"/>
          </a:xfrm>
          <a:prstGeom prst="rect">
            <a:avLst/>
          </a:prstGeom>
        </p:spPr>
        <p:txBody>
          <a:bodyPr wrap="square">
            <a:spAutoFit/>
          </a:bodyPr>
          <a:lstStyle/>
          <a:p>
            <a:r>
              <a:rPr lang="en-US" sz="800" dirty="0"/>
              <a:t>https://github.com/amelcharolinesgn2/Cloud-Infrastructures</a:t>
            </a:r>
          </a:p>
        </p:txBody>
      </p:sp>
      <p:sp>
        <p:nvSpPr>
          <p:cNvPr id="33" name="Rectangle 32"/>
          <p:cNvSpPr/>
          <p:nvPr/>
        </p:nvSpPr>
        <p:spPr>
          <a:xfrm>
            <a:off x="8441267" y="6341521"/>
            <a:ext cx="3286814" cy="338554"/>
          </a:xfrm>
          <a:prstGeom prst="rect">
            <a:avLst/>
          </a:prstGeom>
        </p:spPr>
        <p:txBody>
          <a:bodyPr wrap="square">
            <a:spAutoFit/>
          </a:bodyPr>
          <a:lstStyle/>
          <a:p>
            <a:r>
              <a:rPr lang="en-US" sz="800" dirty="0"/>
              <a:t>https://github.com/amelcharolinesgn2/ClouD-Infrastructure-SISKA-2025</a:t>
            </a:r>
          </a:p>
        </p:txBody>
      </p:sp>
      <p:sp>
        <p:nvSpPr>
          <p:cNvPr id="34" name="Rectangle 33"/>
          <p:cNvSpPr/>
          <p:nvPr/>
        </p:nvSpPr>
        <p:spPr>
          <a:xfrm>
            <a:off x="8252935" y="6472372"/>
            <a:ext cx="3775310" cy="215444"/>
          </a:xfrm>
          <a:prstGeom prst="rect">
            <a:avLst/>
          </a:prstGeom>
        </p:spPr>
        <p:txBody>
          <a:bodyPr wrap="square">
            <a:spAutoFit/>
          </a:bodyPr>
          <a:lstStyle/>
          <a:p>
            <a:r>
              <a:rPr lang="en-US" sz="800" dirty="0"/>
              <a:t>https://github.com/amelcharolinesgn2/Gyroscope-Sensor-Data-Accelerometer</a:t>
            </a:r>
          </a:p>
        </p:txBody>
      </p:sp>
      <p:sp>
        <p:nvSpPr>
          <p:cNvPr id="35" name="Title 1"/>
          <p:cNvSpPr txBox="1">
            <a:spLocks/>
          </p:cNvSpPr>
          <p:nvPr/>
        </p:nvSpPr>
        <p:spPr>
          <a:xfrm>
            <a:off x="2450600" y="2164269"/>
            <a:ext cx="9347200" cy="771712"/>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b="1" dirty="0" smtClean="0">
                <a:solidFill>
                  <a:schemeClr val="bg1">
                    <a:lumMod val="75000"/>
                  </a:schemeClr>
                </a:solidFill>
              </a:rPr>
              <a:t>MOSFET &amp; JFET</a:t>
            </a:r>
            <a:endParaRPr lang="en-US" b="1" dirty="0">
              <a:solidFill>
                <a:schemeClr val="bg1">
                  <a:lumMod val="75000"/>
                </a:schemeClr>
              </a:solidFill>
            </a:endParaRPr>
          </a:p>
        </p:txBody>
      </p:sp>
      <p:pic>
        <p:nvPicPr>
          <p:cNvPr id="2" name="Picture 1"/>
          <p:cNvPicPr>
            <a:picLocks noChangeAspect="1"/>
          </p:cNvPicPr>
          <p:nvPr/>
        </p:nvPicPr>
        <p:blipFill>
          <a:blip r:embed="rId10"/>
          <a:stretch>
            <a:fillRect/>
          </a:stretch>
        </p:blipFill>
        <p:spPr>
          <a:xfrm>
            <a:off x="2095726" y="2900252"/>
            <a:ext cx="2143125" cy="2143125"/>
          </a:xfrm>
          <a:prstGeom prst="rect">
            <a:avLst/>
          </a:prstGeom>
        </p:spPr>
      </p:pic>
      <p:pic>
        <p:nvPicPr>
          <p:cNvPr id="3" name="Picture 2"/>
          <p:cNvPicPr>
            <a:picLocks noChangeAspect="1"/>
          </p:cNvPicPr>
          <p:nvPr/>
        </p:nvPicPr>
        <p:blipFill>
          <a:blip r:embed="rId11"/>
          <a:stretch>
            <a:fillRect/>
          </a:stretch>
        </p:blipFill>
        <p:spPr>
          <a:xfrm>
            <a:off x="4323850" y="3009975"/>
            <a:ext cx="2800350" cy="1628775"/>
          </a:xfrm>
          <a:prstGeom prst="rect">
            <a:avLst/>
          </a:prstGeom>
        </p:spPr>
      </p:pic>
      <p:sp>
        <p:nvSpPr>
          <p:cNvPr id="5" name="Rectangle 4"/>
          <p:cNvSpPr/>
          <p:nvPr/>
        </p:nvSpPr>
        <p:spPr>
          <a:xfrm>
            <a:off x="4355463" y="4528078"/>
            <a:ext cx="941283" cy="369332"/>
          </a:xfrm>
          <a:prstGeom prst="rect">
            <a:avLst/>
          </a:prstGeom>
        </p:spPr>
        <p:txBody>
          <a:bodyPr wrap="none">
            <a:spAutoFit/>
          </a:bodyPr>
          <a:lstStyle/>
          <a:p>
            <a:r>
              <a:rPr lang="en-US" dirty="0" smtClean="0"/>
              <a:t>IRF5210</a:t>
            </a:r>
            <a:endParaRPr lang="en-US" dirty="0"/>
          </a:p>
        </p:txBody>
      </p:sp>
      <p:sp>
        <p:nvSpPr>
          <p:cNvPr id="37" name="Rectangle 36"/>
          <p:cNvSpPr/>
          <p:nvPr/>
        </p:nvSpPr>
        <p:spPr>
          <a:xfrm>
            <a:off x="6161692" y="4141108"/>
            <a:ext cx="962508" cy="369332"/>
          </a:xfrm>
          <a:prstGeom prst="rect">
            <a:avLst/>
          </a:prstGeom>
        </p:spPr>
        <p:txBody>
          <a:bodyPr wrap="none">
            <a:spAutoFit/>
          </a:bodyPr>
          <a:lstStyle/>
          <a:p>
            <a:r>
              <a:rPr lang="en-US" dirty="0" smtClean="0"/>
              <a:t>IRFZ44N</a:t>
            </a:r>
            <a:endParaRPr lang="en-US" dirty="0"/>
          </a:p>
        </p:txBody>
      </p:sp>
    </p:spTree>
    <p:extLst>
      <p:ext uri="{BB962C8B-B14F-4D97-AF65-F5344CB8AC3E}">
        <p14:creationId xmlns:p14="http://schemas.microsoft.com/office/powerpoint/2010/main" val="30168323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Transistor MOSFET, JFET:</a:t>
            </a:r>
            <a:endParaRPr lang="en-US" dirty="0"/>
          </a:p>
        </p:txBody>
      </p:sp>
      <p:sp>
        <p:nvSpPr>
          <p:cNvPr id="3" name="Content Placeholder 2"/>
          <p:cNvSpPr>
            <a:spLocks noGrp="1"/>
          </p:cNvSpPr>
          <p:nvPr>
            <p:ph idx="1"/>
          </p:nvPr>
        </p:nvSpPr>
        <p:spPr/>
        <p:txBody>
          <a:bodyPr/>
          <a:lstStyle/>
          <a:p>
            <a:r>
              <a:rPr lang="id-ID" altLang="en-US" b="1" dirty="0"/>
              <a:t>JFET</a:t>
            </a:r>
          </a:p>
          <a:p>
            <a:r>
              <a:rPr lang="id-ID" altLang="en-US" b="1" dirty="0"/>
              <a:t>MOSFET</a:t>
            </a:r>
          </a:p>
          <a:p>
            <a:r>
              <a:rPr lang="id-ID" altLang="en-US" b="1" dirty="0"/>
              <a:t>PENGUAT FET</a:t>
            </a:r>
            <a:endParaRPr lang="en-US" altLang="en-US" b="1" dirty="0"/>
          </a:p>
          <a:p>
            <a:pPr marL="0" indent="0">
              <a:buNone/>
            </a:pPr>
            <a:endParaRPr lang="en-US" dirty="0"/>
          </a:p>
        </p:txBody>
      </p:sp>
      <p:pic>
        <p:nvPicPr>
          <p:cNvPr id="4" name="Picture 3"/>
          <p:cNvPicPr>
            <a:picLocks noChangeAspect="1"/>
          </p:cNvPicPr>
          <p:nvPr/>
        </p:nvPicPr>
        <p:blipFill>
          <a:blip r:embed="rId2"/>
          <a:stretch>
            <a:fillRect/>
          </a:stretch>
        </p:blipFill>
        <p:spPr>
          <a:xfrm>
            <a:off x="6185182" y="5082627"/>
            <a:ext cx="2662009" cy="1404231"/>
          </a:xfrm>
          <a:prstGeom prst="rect">
            <a:avLst/>
          </a:prstGeom>
        </p:spPr>
      </p:pic>
      <p:pic>
        <p:nvPicPr>
          <p:cNvPr id="5" name="Picture 4"/>
          <p:cNvPicPr>
            <a:picLocks noChangeAspect="1"/>
          </p:cNvPicPr>
          <p:nvPr/>
        </p:nvPicPr>
        <p:blipFill>
          <a:blip r:embed="rId3"/>
          <a:stretch>
            <a:fillRect/>
          </a:stretch>
        </p:blipFill>
        <p:spPr>
          <a:xfrm>
            <a:off x="8847191" y="5051318"/>
            <a:ext cx="3114675" cy="1466850"/>
          </a:xfrm>
          <a:prstGeom prst="rect">
            <a:avLst/>
          </a:prstGeom>
        </p:spPr>
      </p:pic>
      <p:pic>
        <p:nvPicPr>
          <p:cNvPr id="6" name="Picture 5"/>
          <p:cNvPicPr>
            <a:picLocks noChangeAspect="1"/>
          </p:cNvPicPr>
          <p:nvPr/>
        </p:nvPicPr>
        <p:blipFill>
          <a:blip r:embed="rId4"/>
          <a:stretch>
            <a:fillRect/>
          </a:stretch>
        </p:blipFill>
        <p:spPr>
          <a:xfrm>
            <a:off x="3417905" y="1027906"/>
            <a:ext cx="4584385" cy="2746375"/>
          </a:xfrm>
          <a:prstGeom prst="rect">
            <a:avLst/>
          </a:prstGeom>
        </p:spPr>
      </p:pic>
      <p:pic>
        <p:nvPicPr>
          <p:cNvPr id="7" name="Picture 6"/>
          <p:cNvPicPr>
            <a:picLocks noChangeAspect="1"/>
          </p:cNvPicPr>
          <p:nvPr/>
        </p:nvPicPr>
        <p:blipFill>
          <a:blip r:embed="rId5"/>
          <a:stretch>
            <a:fillRect/>
          </a:stretch>
        </p:blipFill>
        <p:spPr>
          <a:xfrm>
            <a:off x="9520687" y="1755607"/>
            <a:ext cx="2499007" cy="1447800"/>
          </a:xfrm>
          <a:prstGeom prst="rect">
            <a:avLst/>
          </a:prstGeom>
        </p:spPr>
      </p:pic>
      <p:pic>
        <p:nvPicPr>
          <p:cNvPr id="8" name="Picture 7"/>
          <p:cNvPicPr>
            <a:picLocks noChangeAspect="1"/>
          </p:cNvPicPr>
          <p:nvPr/>
        </p:nvPicPr>
        <p:blipFill>
          <a:blip r:embed="rId6"/>
          <a:stretch>
            <a:fillRect/>
          </a:stretch>
        </p:blipFill>
        <p:spPr>
          <a:xfrm>
            <a:off x="9520687" y="172870"/>
            <a:ext cx="2499007" cy="1447800"/>
          </a:xfrm>
          <a:prstGeom prst="rect">
            <a:avLst/>
          </a:prstGeom>
        </p:spPr>
      </p:pic>
      <p:pic>
        <p:nvPicPr>
          <p:cNvPr id="9" name="Picture 8"/>
          <p:cNvPicPr>
            <a:picLocks noChangeAspect="1"/>
          </p:cNvPicPr>
          <p:nvPr/>
        </p:nvPicPr>
        <p:blipFill>
          <a:blip r:embed="rId7"/>
          <a:stretch>
            <a:fillRect/>
          </a:stretch>
        </p:blipFill>
        <p:spPr>
          <a:xfrm>
            <a:off x="9341440" y="3416109"/>
            <a:ext cx="2857500" cy="1600200"/>
          </a:xfrm>
          <a:prstGeom prst="rect">
            <a:avLst/>
          </a:prstGeom>
        </p:spPr>
      </p:pic>
      <p:pic>
        <p:nvPicPr>
          <p:cNvPr id="10" name="Picture 9"/>
          <p:cNvPicPr>
            <a:picLocks noChangeAspect="1"/>
          </p:cNvPicPr>
          <p:nvPr/>
        </p:nvPicPr>
        <p:blipFill>
          <a:blip r:embed="rId8"/>
          <a:stretch>
            <a:fillRect/>
          </a:stretch>
        </p:blipFill>
        <p:spPr>
          <a:xfrm>
            <a:off x="2634259" y="5051318"/>
            <a:ext cx="1741384" cy="1514765"/>
          </a:xfrm>
          <a:prstGeom prst="rect">
            <a:avLst/>
          </a:prstGeom>
        </p:spPr>
      </p:pic>
      <p:pic>
        <p:nvPicPr>
          <p:cNvPr id="11" name="Picture 10"/>
          <p:cNvPicPr>
            <a:picLocks noChangeAspect="1"/>
          </p:cNvPicPr>
          <p:nvPr/>
        </p:nvPicPr>
        <p:blipFill>
          <a:blip r:embed="rId9"/>
          <a:stretch>
            <a:fillRect/>
          </a:stretch>
        </p:blipFill>
        <p:spPr>
          <a:xfrm>
            <a:off x="250057" y="5082627"/>
            <a:ext cx="2316048" cy="1514765"/>
          </a:xfrm>
          <a:prstGeom prst="rect">
            <a:avLst/>
          </a:prstGeom>
        </p:spPr>
      </p:pic>
    </p:spTree>
    <p:extLst>
      <p:ext uri="{BB962C8B-B14F-4D97-AF65-F5344CB8AC3E}">
        <p14:creationId xmlns:p14="http://schemas.microsoft.com/office/powerpoint/2010/main" val="24733129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439845" y="428220"/>
            <a:ext cx="4772025" cy="5381625"/>
          </a:xfrm>
          <a:prstGeom prst="rect">
            <a:avLst/>
          </a:prstGeom>
        </p:spPr>
      </p:pic>
      <p:pic>
        <p:nvPicPr>
          <p:cNvPr id="5" name="Picture 4"/>
          <p:cNvPicPr>
            <a:picLocks noChangeAspect="1"/>
          </p:cNvPicPr>
          <p:nvPr/>
        </p:nvPicPr>
        <p:blipFill>
          <a:blip r:embed="rId4"/>
          <a:stretch>
            <a:fillRect/>
          </a:stretch>
        </p:blipFill>
        <p:spPr>
          <a:xfrm>
            <a:off x="5699502" y="246681"/>
            <a:ext cx="2716077" cy="1504627"/>
          </a:xfrm>
          <a:prstGeom prst="rect">
            <a:avLst/>
          </a:prstGeom>
        </p:spPr>
      </p:pic>
      <p:pic>
        <p:nvPicPr>
          <p:cNvPr id="6" name="Picture 5"/>
          <p:cNvPicPr>
            <a:picLocks noChangeAspect="1"/>
          </p:cNvPicPr>
          <p:nvPr/>
        </p:nvPicPr>
        <p:blipFill rotWithShape="1">
          <a:blip r:embed="rId5"/>
          <a:srcRect t="10328"/>
          <a:stretch/>
        </p:blipFill>
        <p:spPr>
          <a:xfrm>
            <a:off x="8415579" y="246681"/>
            <a:ext cx="3536600" cy="1504627"/>
          </a:xfrm>
          <a:prstGeom prst="rect">
            <a:avLst/>
          </a:prstGeom>
        </p:spPr>
      </p:pic>
      <p:pic>
        <p:nvPicPr>
          <p:cNvPr id="7" name="Picture 6"/>
          <p:cNvPicPr>
            <a:picLocks noChangeAspect="1"/>
          </p:cNvPicPr>
          <p:nvPr/>
        </p:nvPicPr>
        <p:blipFill>
          <a:blip r:embed="rId6"/>
          <a:stretch>
            <a:fillRect/>
          </a:stretch>
        </p:blipFill>
        <p:spPr>
          <a:xfrm>
            <a:off x="8618550" y="1873481"/>
            <a:ext cx="3130658" cy="1584685"/>
          </a:xfrm>
          <a:prstGeom prst="rect">
            <a:avLst/>
          </a:prstGeom>
        </p:spPr>
      </p:pic>
    </p:spTree>
    <p:extLst>
      <p:ext uri="{BB962C8B-B14F-4D97-AF65-F5344CB8AC3E}">
        <p14:creationId xmlns:p14="http://schemas.microsoft.com/office/powerpoint/2010/main" val="34760367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Grp="1" noChangeArrowheads="1"/>
          </p:cNvSpPr>
          <p:nvPr>
            <p:ph type="body" idx="1"/>
          </p:nvPr>
        </p:nvSpPr>
        <p:spPr>
          <a:xfrm>
            <a:off x="619932" y="838201"/>
            <a:ext cx="10957302" cy="4525963"/>
          </a:xfrm>
        </p:spPr>
        <p:txBody>
          <a:bodyPr/>
          <a:lstStyle/>
          <a:p>
            <a:pPr algn="just">
              <a:buFontTx/>
              <a:buNone/>
            </a:pPr>
            <a:r>
              <a:rPr lang="id-ID" altLang="en-US" b="1" u="sng" dirty="0"/>
              <a:t>TRANSISTOR EFEK MEDAN</a:t>
            </a:r>
            <a:endParaRPr lang="id-ID" altLang="en-US" dirty="0"/>
          </a:p>
          <a:p>
            <a:pPr algn="just"/>
            <a:r>
              <a:rPr lang="id-ID" altLang="en-US" dirty="0"/>
              <a:t>Transistor Efek Medan (Field Effect Transistor/FET) adalah devais terkendali tegangan, yang berarti karakteristik keluaran dikendalikan oleh tegangan masukan. (adapun transistor bipolar adalah devais terkendali arus).</a:t>
            </a:r>
          </a:p>
          <a:p>
            <a:pPr algn="just"/>
            <a:r>
              <a:rPr lang="id-ID" altLang="en-US" dirty="0"/>
              <a:t>Ada dua jenis FET yaitu JFET (Junctions field Effect Transistor) dan MOSFET (Metal Oxide semikonduktor FET)</a:t>
            </a:r>
            <a:endParaRPr lang="en-US" altLang="en-US" dirty="0"/>
          </a:p>
        </p:txBody>
      </p:sp>
    </p:spTree>
    <p:extLst>
      <p:ext uri="{BB962C8B-B14F-4D97-AF65-F5344CB8AC3E}">
        <p14:creationId xmlns:p14="http://schemas.microsoft.com/office/powerpoint/2010/main" val="23569425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type="body" idx="1"/>
          </p:nvPr>
        </p:nvSpPr>
        <p:spPr>
          <a:xfrm>
            <a:off x="418454" y="609601"/>
            <a:ext cx="11174278" cy="4525963"/>
          </a:xfrm>
        </p:spPr>
        <p:txBody>
          <a:bodyPr/>
          <a:lstStyle/>
          <a:p>
            <a:pPr algn="just">
              <a:lnSpc>
                <a:spcPct val="90000"/>
              </a:lnSpc>
              <a:buFontTx/>
              <a:buNone/>
            </a:pPr>
            <a:r>
              <a:rPr lang="id-ID" altLang="en-US" b="1" dirty="0"/>
              <a:t>1</a:t>
            </a:r>
            <a:r>
              <a:rPr lang="en-US" altLang="en-US" b="1" dirty="0"/>
              <a:t>.</a:t>
            </a:r>
            <a:r>
              <a:rPr lang="id-ID" altLang="en-US" b="1" dirty="0"/>
              <a:t> JFET</a:t>
            </a:r>
            <a:endParaRPr lang="id-ID" altLang="en-US" u="sng" dirty="0"/>
          </a:p>
          <a:p>
            <a:pPr algn="just">
              <a:lnSpc>
                <a:spcPct val="90000"/>
              </a:lnSpc>
              <a:buFontTx/>
              <a:buNone/>
            </a:pPr>
            <a:r>
              <a:rPr lang="en-US" altLang="en-US" b="1" u="sng" dirty="0"/>
              <a:t>1.1 </a:t>
            </a:r>
            <a:r>
              <a:rPr lang="id-ID" altLang="en-US" b="1" u="sng" dirty="0"/>
              <a:t>Konstruksi JFET</a:t>
            </a:r>
          </a:p>
          <a:p>
            <a:pPr algn="just">
              <a:lnSpc>
                <a:spcPct val="90000"/>
              </a:lnSpc>
            </a:pPr>
            <a:r>
              <a:rPr lang="id-ID" altLang="en-US" dirty="0"/>
              <a:t>Konstruksi JEFT berbeda dengan transistor bipolar. Pada transistor bipolar terdapat tiga bahan yang terpisah (dua bahan tipe p, satu bahan tipe n, atau dua bahan tipe n dan satu bahan tipe p). Sementara itu pada JFET hanya mempunyai dua bahan (satu bahan tipe p dan satu bahan tipe n). Konstruksi dan simbol JFET terlihat pada gambar 1.</a:t>
            </a:r>
            <a:endParaRPr lang="en-US" altLang="en-US" dirty="0"/>
          </a:p>
        </p:txBody>
      </p:sp>
    </p:spTree>
    <p:extLst>
      <p:ext uri="{BB962C8B-B14F-4D97-AF65-F5344CB8AC3E}">
        <p14:creationId xmlns:p14="http://schemas.microsoft.com/office/powerpoint/2010/main" val="25207031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3" name="Rectangle 7"/>
          <p:cNvSpPr>
            <a:spLocks noChangeArrowheads="1"/>
          </p:cNvSpPr>
          <p:nvPr/>
        </p:nvSpPr>
        <p:spPr bwMode="auto">
          <a:xfrm>
            <a:off x="1524001" y="16679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70662" name="Object 6"/>
          <p:cNvGraphicFramePr>
            <a:graphicFrameLocks noChangeAspect="1"/>
          </p:cNvGraphicFramePr>
          <p:nvPr/>
        </p:nvGraphicFramePr>
        <p:xfrm>
          <a:off x="1905001" y="609601"/>
          <a:ext cx="3800475" cy="3503613"/>
        </p:xfrm>
        <a:graphic>
          <a:graphicData uri="http://schemas.openxmlformats.org/presentationml/2006/ole">
            <mc:AlternateContent xmlns:mc="http://schemas.openxmlformats.org/markup-compatibility/2006">
              <mc:Choice xmlns:v="urn:schemas-microsoft-com:vml" Requires="v">
                <p:oleObj spid="_x0000_s1052" r:id="rId3" imgW="3418222" imgH="3150307" progId="Visio.Drawing.11">
                  <p:embed/>
                </p:oleObj>
              </mc:Choice>
              <mc:Fallback>
                <p:oleObj r:id="rId3" imgW="3418222" imgH="3150307" progId="Visio.Drawing.11">
                  <p:embed/>
                  <p:pic>
                    <p:nvPicPr>
                      <p:cNvPr id="70662"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1" y="609601"/>
                        <a:ext cx="3800475" cy="3503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665" name="Rectangle 9"/>
          <p:cNvSpPr>
            <a:spLocks noChangeArrowheads="1"/>
          </p:cNvSpPr>
          <p:nvPr/>
        </p:nvSpPr>
        <p:spPr bwMode="auto">
          <a:xfrm>
            <a:off x="1524001" y="16679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70664" name="Object 8"/>
          <p:cNvGraphicFramePr>
            <a:graphicFrameLocks noChangeAspect="1"/>
          </p:cNvGraphicFramePr>
          <p:nvPr/>
        </p:nvGraphicFramePr>
        <p:xfrm>
          <a:off x="6248401" y="609601"/>
          <a:ext cx="3800475" cy="3503613"/>
        </p:xfrm>
        <a:graphic>
          <a:graphicData uri="http://schemas.openxmlformats.org/presentationml/2006/ole">
            <mc:AlternateContent xmlns:mc="http://schemas.openxmlformats.org/markup-compatibility/2006">
              <mc:Choice xmlns:v="urn:schemas-microsoft-com:vml" Requires="v">
                <p:oleObj spid="_x0000_s1053" r:id="rId5" imgW="3418222" imgH="3150307" progId="Visio.Drawing.11">
                  <p:embed/>
                </p:oleObj>
              </mc:Choice>
              <mc:Fallback>
                <p:oleObj r:id="rId5" imgW="3418222" imgH="3150307" progId="Visio.Drawing.11">
                  <p:embed/>
                  <p:pic>
                    <p:nvPicPr>
                      <p:cNvPr id="70664"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8401" y="609601"/>
                        <a:ext cx="3800475" cy="3503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666" name="Text Box 10"/>
          <p:cNvSpPr txBox="1">
            <a:spLocks noChangeArrowheads="1"/>
          </p:cNvSpPr>
          <p:nvPr/>
        </p:nvSpPr>
        <p:spPr bwMode="auto">
          <a:xfrm>
            <a:off x="805911" y="4267201"/>
            <a:ext cx="10848813"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id-ID" altLang="en-US" sz="2000" dirty="0"/>
              <a:t>Devais mempunyai tiga terminal yaitu Source (S), Drain (D), dan Gate (G). </a:t>
            </a:r>
            <a:endParaRPr lang="en-US" altLang="en-US" sz="2000" dirty="0"/>
          </a:p>
          <a:p>
            <a:pPr algn="just"/>
            <a:r>
              <a:rPr lang="id-ID" altLang="en-US" sz="2000" dirty="0"/>
              <a:t>Ketiga terminal itu dapat dipandang ekuivalen dengan emiter, kolektor dan basis pada BJT.  Bahan yang menghubungkan Source dan Drain adalah </a:t>
            </a:r>
            <a:r>
              <a:rPr lang="en-US" altLang="en-US" sz="2000" dirty="0" smtClean="0"/>
              <a:t> </a:t>
            </a:r>
            <a:r>
              <a:rPr lang="id-ID" altLang="en-US" sz="2000" b="1" dirty="0" smtClean="0"/>
              <a:t>kanal </a:t>
            </a:r>
            <a:r>
              <a:rPr lang="id-ID" altLang="en-US" sz="2000" b="1" dirty="0"/>
              <a:t>(Channel). </a:t>
            </a:r>
            <a:r>
              <a:rPr lang="id-ID" altLang="en-US" sz="2000" dirty="0"/>
              <a:t>Jika bahan ini tipe p, maka devais disebut </a:t>
            </a:r>
            <a:r>
              <a:rPr lang="id-ID" altLang="en-US" sz="2000" b="1" dirty="0"/>
              <a:t>JFET kanal p, </a:t>
            </a:r>
            <a:r>
              <a:rPr lang="id-ID" altLang="en-US" sz="2000" dirty="0" smtClean="0"/>
              <a:t>demikian </a:t>
            </a:r>
            <a:r>
              <a:rPr lang="id-ID" altLang="en-US" sz="2000" dirty="0"/>
              <a:t>juga tipe n disebut JFET kanal n.  Arah panah pada simbol JFET </a:t>
            </a:r>
            <a:r>
              <a:rPr lang="id-ID" altLang="en-US" sz="2000" dirty="0" smtClean="0"/>
              <a:t>selalu </a:t>
            </a:r>
            <a:r>
              <a:rPr lang="id-ID" altLang="en-US" sz="2000" dirty="0"/>
              <a:t>dari bahan tipe p ke bahan tipe n.</a:t>
            </a:r>
            <a:endParaRPr lang="en-US" altLang="en-US" sz="2000" dirty="0"/>
          </a:p>
        </p:txBody>
      </p:sp>
    </p:spTree>
    <p:extLst>
      <p:ext uri="{BB962C8B-B14F-4D97-AF65-F5344CB8AC3E}">
        <p14:creationId xmlns:p14="http://schemas.microsoft.com/office/powerpoint/2010/main" val="31986697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3"/>
          <p:cNvSpPr>
            <a:spLocks noGrp="1" noChangeArrowheads="1"/>
          </p:cNvSpPr>
          <p:nvPr>
            <p:ph type="body" idx="1"/>
          </p:nvPr>
        </p:nvSpPr>
        <p:spPr>
          <a:xfrm>
            <a:off x="666427" y="685801"/>
            <a:ext cx="10879810" cy="4525963"/>
          </a:xfrm>
        </p:spPr>
        <p:txBody>
          <a:bodyPr/>
          <a:lstStyle/>
          <a:p>
            <a:pPr algn="just">
              <a:buFontTx/>
              <a:buNone/>
            </a:pPr>
            <a:r>
              <a:rPr lang="id-ID" altLang="en-US" b="1" u="sng" dirty="0"/>
              <a:t>1.2. Operasi JFET</a:t>
            </a:r>
            <a:endParaRPr lang="id-ID" altLang="en-US" dirty="0"/>
          </a:p>
          <a:p>
            <a:pPr algn="just"/>
            <a:r>
              <a:rPr lang="id-ID" altLang="en-US" dirty="0"/>
              <a:t>Operasi JFET berdasarkan pada pengubahan lebar kanal untuk mengendalikan arus drain pada saat tegangan VDS diberikan pada drain dan source.  Jika lebar kanal mengecil, maka resistans kanal bertambah dan arus drain mengecil.  Dengan memberikan prasikap balik ke sambungan gate-source maka daerah deplesi pada kanal bertambah.</a:t>
            </a:r>
            <a:endParaRPr lang="en-US" altLang="en-US" dirty="0"/>
          </a:p>
          <a:p>
            <a:pPr algn="just">
              <a:buFontTx/>
              <a:buNone/>
            </a:pPr>
            <a:endParaRPr lang="en-US" altLang="en-US" dirty="0"/>
          </a:p>
        </p:txBody>
      </p:sp>
    </p:spTree>
    <p:extLst>
      <p:ext uri="{BB962C8B-B14F-4D97-AF65-F5344CB8AC3E}">
        <p14:creationId xmlns:p14="http://schemas.microsoft.com/office/powerpoint/2010/main" val="26760661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3"/>
          <p:cNvSpPr>
            <a:spLocks noGrp="1" noChangeArrowheads="1"/>
          </p:cNvSpPr>
          <p:nvPr>
            <p:ph type="body" idx="1"/>
          </p:nvPr>
        </p:nvSpPr>
        <p:spPr>
          <a:xfrm>
            <a:off x="604434" y="533401"/>
            <a:ext cx="10972800" cy="4525963"/>
          </a:xfrm>
        </p:spPr>
        <p:txBody>
          <a:bodyPr>
            <a:normAutofit/>
          </a:bodyPr>
          <a:lstStyle/>
          <a:p>
            <a:pPr marL="533400" indent="-533400" algn="just"/>
            <a:r>
              <a:rPr lang="id-ID" altLang="en-US" sz="2400" dirty="0"/>
              <a:t>Ada dua cara mengendalikan lebar kanal, yaitu:</a:t>
            </a:r>
            <a:endParaRPr lang="en-US" altLang="en-US" sz="2400" dirty="0"/>
          </a:p>
          <a:p>
            <a:pPr marL="990600" lvl="1" indent="-533400" algn="just">
              <a:buFontTx/>
              <a:buAutoNum type="arabicPeriod"/>
            </a:pPr>
            <a:r>
              <a:rPr lang="id-ID" altLang="en-US" sz="2000" dirty="0"/>
              <a:t>Mengubah nilai tegangan gate-source   (V</a:t>
            </a:r>
            <a:r>
              <a:rPr lang="id-ID" altLang="en-US" sz="1200" dirty="0"/>
              <a:t>GS</a:t>
            </a:r>
            <a:r>
              <a:rPr lang="id-ID" altLang="en-US" sz="2000" dirty="0"/>
              <a:t>) pada tegangan drain-source (V</a:t>
            </a:r>
            <a:r>
              <a:rPr lang="id-ID" altLang="en-US" sz="1000" dirty="0"/>
              <a:t>DS</a:t>
            </a:r>
            <a:r>
              <a:rPr lang="id-ID" altLang="en-US" sz="2000" dirty="0"/>
              <a:t>) yang konstan,</a:t>
            </a:r>
            <a:endParaRPr lang="en-US" altLang="en-US" sz="2000" dirty="0"/>
          </a:p>
          <a:p>
            <a:pPr marL="990600" lvl="1" indent="-533400" algn="just">
              <a:buFontTx/>
              <a:buAutoNum type="arabicPeriod"/>
            </a:pPr>
            <a:r>
              <a:rPr lang="id-ID" altLang="en-US" sz="2000" dirty="0"/>
              <a:t>Mengubah V</a:t>
            </a:r>
            <a:r>
              <a:rPr lang="id-ID" altLang="en-US" sz="1200" dirty="0"/>
              <a:t>DS</a:t>
            </a:r>
            <a:r>
              <a:rPr lang="id-ID" altLang="en-US" sz="2000" dirty="0"/>
              <a:t> pada V</a:t>
            </a:r>
            <a:r>
              <a:rPr lang="id-ID" altLang="en-US" sz="1200" dirty="0"/>
              <a:t>GS</a:t>
            </a:r>
            <a:r>
              <a:rPr lang="id-ID" altLang="en-US" sz="2000" dirty="0"/>
              <a:t> konstan.</a:t>
            </a:r>
            <a:endParaRPr lang="en-US" altLang="en-US" sz="2000" dirty="0"/>
          </a:p>
          <a:p>
            <a:pPr marL="533400" indent="-533400" algn="just">
              <a:buNone/>
            </a:pPr>
            <a:endParaRPr lang="id-ID" altLang="en-US" sz="2400" dirty="0"/>
          </a:p>
          <a:p>
            <a:pPr marL="533400" indent="-533400" algn="just"/>
            <a:r>
              <a:rPr lang="id-ID" altLang="en-US" sz="2400" dirty="0"/>
              <a:t>Pengaruh V</a:t>
            </a:r>
            <a:r>
              <a:rPr lang="id-ID" altLang="en-US" sz="1600" dirty="0"/>
              <a:t>GS</a:t>
            </a:r>
            <a:r>
              <a:rPr lang="id-ID" altLang="en-US" sz="2400" dirty="0"/>
              <a:t> terhadap I</a:t>
            </a:r>
            <a:r>
              <a:rPr lang="id-ID" altLang="en-US" sz="1600" dirty="0"/>
              <a:t>D</a:t>
            </a:r>
            <a:r>
              <a:rPr lang="id-ID" altLang="en-US" sz="2400" dirty="0"/>
              <a:t>  pada V</a:t>
            </a:r>
            <a:r>
              <a:rPr lang="id-ID" altLang="en-US" sz="1600" dirty="0"/>
              <a:t>DS</a:t>
            </a:r>
            <a:r>
              <a:rPr lang="id-ID" altLang="en-US" sz="2400" dirty="0"/>
              <a:t> konstan terlihat pada Gambar 2a.  Jika V</a:t>
            </a:r>
            <a:r>
              <a:rPr lang="id-ID" altLang="en-US" sz="1600" dirty="0"/>
              <a:t>GS</a:t>
            </a:r>
            <a:r>
              <a:rPr lang="id-ID" altLang="en-US" sz="2400" dirty="0"/>
              <a:t> bertambah negatif, maka daerah deplesi bertambah dan lebar kanal berkurang.  Dengan demikian arus drain berkurang.</a:t>
            </a:r>
          </a:p>
          <a:p>
            <a:pPr marL="533400" indent="-533400" algn="just"/>
            <a:r>
              <a:rPr lang="id-ID" altLang="en-US" sz="2400" dirty="0"/>
              <a:t>Pengaruh V</a:t>
            </a:r>
            <a:r>
              <a:rPr lang="id-ID" altLang="en-US" sz="1600" dirty="0"/>
              <a:t>DS</a:t>
            </a:r>
            <a:r>
              <a:rPr lang="id-ID" altLang="en-US" sz="2400" dirty="0"/>
              <a:t> terhadap I</a:t>
            </a:r>
            <a:r>
              <a:rPr lang="id-ID" altLang="en-US" sz="1800" dirty="0"/>
              <a:t>D</a:t>
            </a:r>
            <a:r>
              <a:rPr lang="id-ID" altLang="en-US" sz="2400" dirty="0"/>
              <a:t> terlihat pada Gambar 2b.  Bertambahnya V</a:t>
            </a:r>
            <a:r>
              <a:rPr lang="id-ID" altLang="en-US" sz="1400" dirty="0"/>
              <a:t>DS</a:t>
            </a:r>
            <a:r>
              <a:rPr lang="id-ID" altLang="en-US" sz="2400" dirty="0"/>
              <a:t> pada V</a:t>
            </a:r>
            <a:r>
              <a:rPr lang="id-ID" altLang="en-US" sz="1400" dirty="0"/>
              <a:t>GS</a:t>
            </a:r>
            <a:r>
              <a:rPr lang="id-ID" altLang="en-US" sz="2400" dirty="0"/>
              <a:t> konstan, mengakibatkan I</a:t>
            </a:r>
            <a:r>
              <a:rPr lang="id-ID" altLang="en-US" sz="1600" dirty="0"/>
              <a:t>D</a:t>
            </a:r>
            <a:r>
              <a:rPr lang="id-ID" altLang="en-US" sz="2400" dirty="0"/>
              <a:t> bertambah. </a:t>
            </a:r>
            <a:endParaRPr lang="en-US" altLang="en-US" sz="2400" dirty="0"/>
          </a:p>
        </p:txBody>
      </p:sp>
    </p:spTree>
    <p:extLst>
      <p:ext uri="{BB962C8B-B14F-4D97-AF65-F5344CB8AC3E}">
        <p14:creationId xmlns:p14="http://schemas.microsoft.com/office/powerpoint/2010/main" val="2734663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3"/>
          <p:cNvSpPr>
            <a:spLocks noGrp="1" noChangeArrowheads="1"/>
          </p:cNvSpPr>
          <p:nvPr>
            <p:ph type="body" idx="1"/>
          </p:nvPr>
        </p:nvSpPr>
        <p:spPr>
          <a:xfrm>
            <a:off x="418454" y="1143000"/>
            <a:ext cx="11050292" cy="5029200"/>
          </a:xfrm>
        </p:spPr>
        <p:txBody>
          <a:bodyPr/>
          <a:lstStyle/>
          <a:p>
            <a:pPr algn="just"/>
            <a:r>
              <a:rPr lang="id-ID" altLang="en-US" sz="2400" dirty="0"/>
              <a:t>Hal ini mengakibatkan daerah deplesi bertambah dan kanal menjadi sempit.  Karena itu sampai pada nilai VDS tertentu, pertambahan VDS tidak menambah nilai ID.  Pada VGS = 0, nilai VDS yang menyebabkan ID maksimum disebut </a:t>
            </a:r>
            <a:r>
              <a:rPr lang="id-ID" altLang="en-US" sz="2400" b="1" dirty="0"/>
              <a:t>tegangan pinch-off </a:t>
            </a:r>
            <a:r>
              <a:rPr lang="id-ID" altLang="en-US" sz="2400" dirty="0"/>
              <a:t>(tegangan jepit) Vp.  Hal ini terlihat pada Gambar 3.  Setelah Vp tercapai VDS dan resistan kanal bertambah dengan laju yang sama.  Karena itu ID mendekati konstan dengan bertambahnya VDS.  Daerah operasi antara Vp dan VBR (tegangan dadal), disebut daerah arus konstan.</a:t>
            </a:r>
            <a:endParaRPr lang="en-US" altLang="en-US" sz="2400" dirty="0"/>
          </a:p>
        </p:txBody>
      </p:sp>
    </p:spTree>
    <p:extLst>
      <p:ext uri="{BB962C8B-B14F-4D97-AF65-F5344CB8AC3E}">
        <p14:creationId xmlns:p14="http://schemas.microsoft.com/office/powerpoint/2010/main" val="28601793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7" name="Rectangle 5"/>
          <p:cNvSpPr>
            <a:spLocks noChangeArrowheads="1"/>
          </p:cNvSpPr>
          <p:nvPr/>
        </p:nvSpPr>
        <p:spPr bwMode="auto">
          <a:xfrm>
            <a:off x="1524001" y="2001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74756" name="Object 4"/>
          <p:cNvGraphicFramePr>
            <a:graphicFrameLocks noChangeAspect="1"/>
          </p:cNvGraphicFramePr>
          <p:nvPr/>
        </p:nvGraphicFramePr>
        <p:xfrm>
          <a:off x="2819400" y="533401"/>
          <a:ext cx="5695950" cy="2663825"/>
        </p:xfrm>
        <a:graphic>
          <a:graphicData uri="http://schemas.openxmlformats.org/presentationml/2006/ole">
            <mc:AlternateContent xmlns:mc="http://schemas.openxmlformats.org/markup-compatibility/2006">
              <mc:Choice xmlns:v="urn:schemas-microsoft-com:vml" Requires="v">
                <p:oleObj spid="_x0000_s2076" r:id="rId3" imgW="5316031" imgH="2488758" progId="Visio.Drawing.11">
                  <p:embed/>
                </p:oleObj>
              </mc:Choice>
              <mc:Fallback>
                <p:oleObj r:id="rId3" imgW="5316031" imgH="2488758" progId="Visio.Drawing.11">
                  <p:embed/>
                  <p:pic>
                    <p:nvPicPr>
                      <p:cNvPr id="7475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533401"/>
                        <a:ext cx="5695950" cy="2663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759" name="Rectangle 7"/>
          <p:cNvSpPr>
            <a:spLocks noChangeArrowheads="1"/>
          </p:cNvSpPr>
          <p:nvPr/>
        </p:nvSpPr>
        <p:spPr bwMode="auto">
          <a:xfrm>
            <a:off x="1524001" y="2001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74758" name="Object 6"/>
          <p:cNvGraphicFramePr>
            <a:graphicFrameLocks noChangeAspect="1"/>
          </p:cNvGraphicFramePr>
          <p:nvPr/>
        </p:nvGraphicFramePr>
        <p:xfrm>
          <a:off x="2743200" y="3556001"/>
          <a:ext cx="5867400" cy="2740025"/>
        </p:xfrm>
        <a:graphic>
          <a:graphicData uri="http://schemas.openxmlformats.org/presentationml/2006/ole">
            <mc:AlternateContent xmlns:mc="http://schemas.openxmlformats.org/markup-compatibility/2006">
              <mc:Choice xmlns:v="urn:schemas-microsoft-com:vml" Requires="v">
                <p:oleObj spid="_x0000_s2077" r:id="rId5" imgW="5323637" imgH="2488692" progId="Visio.Drawing.11">
                  <p:embed/>
                </p:oleObj>
              </mc:Choice>
              <mc:Fallback>
                <p:oleObj r:id="rId5" imgW="5323637" imgH="2488692" progId="Visio.Drawing.11">
                  <p:embed/>
                  <p:pic>
                    <p:nvPicPr>
                      <p:cNvPr id="74758"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3200" y="3556001"/>
                        <a:ext cx="5867400" cy="2740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46699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3"/>
          <p:cNvSpPr>
            <a:spLocks noGrp="1" noChangeArrowheads="1"/>
          </p:cNvSpPr>
          <p:nvPr>
            <p:ph type="body" idx="1"/>
          </p:nvPr>
        </p:nvSpPr>
        <p:spPr>
          <a:xfrm>
            <a:off x="681925" y="3657600"/>
            <a:ext cx="10616339" cy="2971800"/>
          </a:xfrm>
        </p:spPr>
        <p:txBody>
          <a:bodyPr/>
          <a:lstStyle/>
          <a:p>
            <a:pPr algn="just"/>
            <a:r>
              <a:rPr lang="id-ID" altLang="en-US" sz="2200" dirty="0"/>
              <a:t>Pada saat gate dan source dihubung singkat (VGS = 0 V) ID mencapai nilai maksimumnya di IDSS (shorted gate drain current).</a:t>
            </a:r>
          </a:p>
          <a:p>
            <a:pPr algn="just"/>
            <a:r>
              <a:rPr lang="id-ID" altLang="en-US" sz="2200" dirty="0"/>
              <a:t>Jika VGS makin negatif, maka ID makin turun.  Nilai VGS yang menyebabkan ID mendekati nol disebut VGS (off)  </a:t>
            </a:r>
            <a:r>
              <a:rPr lang="id-ID" altLang="en-US" sz="2200" b="1" dirty="0"/>
              <a:t>(tegangan </a:t>
            </a:r>
            <a:r>
              <a:rPr lang="id-ID" altLang="en-US" sz="2200" i="1" dirty="0"/>
              <a:t>cut-off</a:t>
            </a:r>
            <a:r>
              <a:rPr lang="id-ID" altLang="en-US" sz="2200" dirty="0"/>
              <a:t> </a:t>
            </a:r>
            <a:r>
              <a:rPr lang="id-ID" altLang="en-US" sz="2200" b="1" dirty="0"/>
              <a:t>gate-source).  </a:t>
            </a:r>
            <a:r>
              <a:rPr lang="id-ID" altLang="en-US" sz="2200" dirty="0"/>
              <a:t>Nilai VGS (off) dan Vp selalu sama dan berlawanan. Misalnya jika Vp = 5 V, maka VGS (off) adalah -5 V.</a:t>
            </a:r>
            <a:endParaRPr lang="en-US" altLang="en-US" sz="2200" dirty="0"/>
          </a:p>
        </p:txBody>
      </p:sp>
      <p:sp>
        <p:nvSpPr>
          <p:cNvPr id="75781" name="Rectangle 5"/>
          <p:cNvSpPr>
            <a:spLocks noChangeArrowheads="1"/>
          </p:cNvSpPr>
          <p:nvPr/>
        </p:nvSpPr>
        <p:spPr bwMode="auto">
          <a:xfrm>
            <a:off x="1524001" y="15822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75780" name="Object 4"/>
          <p:cNvGraphicFramePr>
            <a:graphicFrameLocks noChangeAspect="1"/>
          </p:cNvGraphicFramePr>
          <p:nvPr/>
        </p:nvGraphicFramePr>
        <p:xfrm>
          <a:off x="3962401" y="304801"/>
          <a:ext cx="3400425" cy="3324225"/>
        </p:xfrm>
        <a:graphic>
          <a:graphicData uri="http://schemas.openxmlformats.org/presentationml/2006/ole">
            <mc:AlternateContent xmlns:mc="http://schemas.openxmlformats.org/markup-compatibility/2006">
              <mc:Choice xmlns:v="urn:schemas-microsoft-com:vml" Requires="v">
                <p:oleObj spid="_x0000_s3087" r:id="rId3" imgW="3826764" imgH="3851758" progId="Visio.Drawing.11">
                  <p:embed/>
                </p:oleObj>
              </mc:Choice>
              <mc:Fallback>
                <p:oleObj r:id="rId3" imgW="3826764" imgH="3851758" progId="Visio.Drawing.11">
                  <p:embed/>
                  <p:pic>
                    <p:nvPicPr>
                      <p:cNvPr id="7578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1" y="304801"/>
                        <a:ext cx="3400425" cy="332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595464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Grp="1" noChangeArrowheads="1"/>
          </p:cNvSpPr>
          <p:nvPr>
            <p:ph type="body" idx="1"/>
          </p:nvPr>
        </p:nvSpPr>
        <p:spPr>
          <a:xfrm>
            <a:off x="743919" y="533400"/>
            <a:ext cx="10817817" cy="5257800"/>
          </a:xfrm>
        </p:spPr>
        <p:txBody>
          <a:bodyPr/>
          <a:lstStyle/>
          <a:p>
            <a:r>
              <a:rPr lang="id-ID" altLang="en-US" sz="2400" dirty="0"/>
              <a:t>Karakteristik arus-tegangan di daerah jenuh (saturasi) secara eksperimental dapat didekati dengan hukum kuadrat (square low), seperti berikut:</a:t>
            </a:r>
          </a:p>
          <a:p>
            <a:pPr marL="0" indent="0">
              <a:lnSpc>
                <a:spcPct val="80000"/>
              </a:lnSpc>
              <a:buNone/>
            </a:pPr>
            <a:r>
              <a:rPr lang="id-ID" altLang="en-US" sz="2400" dirty="0"/>
              <a:t>	ID </a:t>
            </a:r>
            <a:r>
              <a:rPr lang="id-ID" altLang="en-US" sz="2400" dirty="0">
                <a:sym typeface="Symbol" panose="05050102010706020507" pitchFamily="18" charset="2"/>
              </a:rPr>
              <a:t></a:t>
            </a:r>
            <a:r>
              <a:rPr lang="id-ID" altLang="en-US" sz="2400" dirty="0"/>
              <a:t> IDSS (1 – </a:t>
            </a:r>
            <a:r>
              <a:rPr lang="id-ID" altLang="en-US" sz="2400" u="sng" dirty="0"/>
              <a:t>VGS </a:t>
            </a:r>
            <a:r>
              <a:rPr lang="id-ID" altLang="en-US" sz="2400" dirty="0"/>
              <a:t>) 2</a:t>
            </a:r>
          </a:p>
          <a:p>
            <a:pPr marL="0" indent="0">
              <a:lnSpc>
                <a:spcPct val="80000"/>
              </a:lnSpc>
              <a:buNone/>
            </a:pPr>
            <a:r>
              <a:rPr lang="id-ID" altLang="en-US" sz="2400" dirty="0"/>
              <a:t>                               </a:t>
            </a:r>
            <a:r>
              <a:rPr lang="en-US" altLang="en-US" sz="2400" dirty="0" smtClean="0"/>
              <a:t>    </a:t>
            </a:r>
            <a:r>
              <a:rPr lang="id-ID" altLang="en-US" sz="2400" dirty="0" smtClean="0"/>
              <a:t>VGS </a:t>
            </a:r>
            <a:r>
              <a:rPr lang="id-ID" altLang="en-US" sz="2400" dirty="0"/>
              <a:t>(off) 			</a:t>
            </a:r>
            <a:r>
              <a:rPr lang="en-US" altLang="en-US" sz="2400" dirty="0"/>
              <a:t>	</a:t>
            </a:r>
            <a:r>
              <a:rPr lang="id-ID" altLang="en-US" sz="2400" dirty="0"/>
              <a:t>(1)</a:t>
            </a:r>
          </a:p>
          <a:p>
            <a:pPr>
              <a:lnSpc>
                <a:spcPct val="80000"/>
              </a:lnSpc>
              <a:buFontTx/>
              <a:buNone/>
            </a:pPr>
            <a:r>
              <a:rPr lang="en-US" altLang="en-US" sz="2400" dirty="0"/>
              <a:t>		</a:t>
            </a:r>
            <a:r>
              <a:rPr lang="id-ID" altLang="en-US" sz="2400" dirty="0"/>
              <a:t>untuk </a:t>
            </a:r>
            <a:r>
              <a:rPr lang="id-ID" altLang="en-US" sz="2400" dirty="0">
                <a:sym typeface="Symbol" panose="05050102010706020507" pitchFamily="18" charset="2"/>
              </a:rPr>
              <a:t></a:t>
            </a:r>
            <a:r>
              <a:rPr lang="id-ID" altLang="en-US" sz="2400" dirty="0"/>
              <a:t>VGS </a:t>
            </a:r>
            <a:r>
              <a:rPr lang="id-ID" altLang="en-US" sz="2400" dirty="0">
                <a:sym typeface="Symbol" panose="05050102010706020507" pitchFamily="18" charset="2"/>
              </a:rPr>
              <a:t></a:t>
            </a:r>
            <a:r>
              <a:rPr lang="id-ID" altLang="en-US" sz="2400" dirty="0"/>
              <a:t>  </a:t>
            </a:r>
            <a:r>
              <a:rPr lang="id-ID" altLang="en-US" sz="2400" dirty="0">
                <a:sym typeface="Symbol" panose="05050102010706020507" pitchFamily="18" charset="2"/>
              </a:rPr>
              <a:t></a:t>
            </a:r>
            <a:r>
              <a:rPr lang="id-ID" altLang="en-US" sz="2400" dirty="0"/>
              <a:t> VGS (off) </a:t>
            </a:r>
            <a:r>
              <a:rPr lang="id-ID" altLang="en-US" sz="2400" dirty="0">
                <a:sym typeface="Symbol" panose="05050102010706020507" pitchFamily="18" charset="2"/>
              </a:rPr>
              <a:t></a:t>
            </a:r>
            <a:endParaRPr lang="id-ID" altLang="en-US" sz="2400" dirty="0"/>
          </a:p>
          <a:p>
            <a:pPr>
              <a:lnSpc>
                <a:spcPct val="80000"/>
              </a:lnSpc>
              <a:buFontTx/>
              <a:buNone/>
            </a:pPr>
            <a:r>
              <a:rPr lang="id-ID" altLang="en-US" sz="2400" dirty="0"/>
              <a:t>dengan   I</a:t>
            </a:r>
            <a:r>
              <a:rPr lang="id-ID" altLang="en-US" sz="1600" dirty="0"/>
              <a:t>DSS </a:t>
            </a:r>
            <a:r>
              <a:rPr lang="id-ID" altLang="en-US" sz="2400" dirty="0"/>
              <a:t>   = arus drain dengan gate terhubung singkat</a:t>
            </a:r>
          </a:p>
          <a:p>
            <a:pPr marL="0" indent="0">
              <a:lnSpc>
                <a:spcPct val="80000"/>
              </a:lnSpc>
              <a:buNone/>
            </a:pPr>
            <a:r>
              <a:rPr lang="id-ID" altLang="en-US" sz="2400" dirty="0" smtClean="0"/>
              <a:t>          V</a:t>
            </a:r>
            <a:r>
              <a:rPr lang="id-ID" altLang="en-US" sz="1600" dirty="0" smtClean="0"/>
              <a:t>GS  </a:t>
            </a:r>
            <a:r>
              <a:rPr lang="id-ID" altLang="en-US" sz="2400" dirty="0" smtClean="0"/>
              <a:t>      = tegangan gate-source</a:t>
            </a:r>
          </a:p>
          <a:p>
            <a:pPr marL="0" indent="0">
              <a:lnSpc>
                <a:spcPct val="80000"/>
              </a:lnSpc>
              <a:buNone/>
            </a:pPr>
            <a:r>
              <a:rPr lang="id-ID" altLang="en-US" sz="2400" dirty="0" smtClean="0"/>
              <a:t>          </a:t>
            </a:r>
            <a:r>
              <a:rPr lang="en-US" altLang="en-US" sz="2400" dirty="0" smtClean="0"/>
              <a:t> </a:t>
            </a:r>
            <a:r>
              <a:rPr lang="id-ID" altLang="en-US" sz="2400" dirty="0" smtClean="0"/>
              <a:t>V</a:t>
            </a:r>
            <a:r>
              <a:rPr lang="en-US" altLang="en-US" sz="2400" dirty="0" smtClean="0"/>
              <a:t> </a:t>
            </a:r>
            <a:r>
              <a:rPr lang="id-ID" altLang="en-US" sz="1600" dirty="0" smtClean="0"/>
              <a:t>GS(off)</a:t>
            </a:r>
            <a:r>
              <a:rPr lang="id-ID" altLang="en-US" sz="2400" dirty="0" smtClean="0"/>
              <a:t> = tegangan cut-off gate-source</a:t>
            </a:r>
            <a:endParaRPr lang="en-US" altLang="en-US" sz="2400" dirty="0"/>
          </a:p>
        </p:txBody>
      </p:sp>
    </p:spTree>
    <p:extLst>
      <p:ext uri="{BB962C8B-B14F-4D97-AF65-F5344CB8AC3E}">
        <p14:creationId xmlns:p14="http://schemas.microsoft.com/office/powerpoint/2010/main" val="14172843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3"/>
          <p:cNvSpPr>
            <a:spLocks noGrp="1" noChangeArrowheads="1"/>
          </p:cNvSpPr>
          <p:nvPr>
            <p:ph type="body" idx="1"/>
          </p:nvPr>
        </p:nvSpPr>
        <p:spPr>
          <a:xfrm>
            <a:off x="836907" y="457200"/>
            <a:ext cx="10368367" cy="1447800"/>
          </a:xfrm>
        </p:spPr>
        <p:txBody>
          <a:bodyPr/>
          <a:lstStyle/>
          <a:p>
            <a:r>
              <a:rPr lang="id-ID" altLang="en-US" sz="2400" dirty="0"/>
              <a:t>Hubungan antara ID dan VGS untuk suatu JFET dapat digambarkan dengan kurva transkonduktans (Gambar 5)</a:t>
            </a:r>
            <a:endParaRPr lang="en-US" altLang="en-US" sz="2400" dirty="0"/>
          </a:p>
        </p:txBody>
      </p:sp>
      <p:sp>
        <p:nvSpPr>
          <p:cNvPr id="77829" name="Rectangle 5"/>
          <p:cNvSpPr>
            <a:spLocks noChangeArrowheads="1"/>
          </p:cNvSpPr>
          <p:nvPr/>
        </p:nvSpPr>
        <p:spPr bwMode="auto">
          <a:xfrm>
            <a:off x="1524001" y="14202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77828" name="Object 4"/>
          <p:cNvGraphicFramePr>
            <a:graphicFrameLocks noChangeAspect="1"/>
          </p:cNvGraphicFramePr>
          <p:nvPr/>
        </p:nvGraphicFramePr>
        <p:xfrm>
          <a:off x="3657600" y="1524000"/>
          <a:ext cx="4705350" cy="4438650"/>
        </p:xfrm>
        <a:graphic>
          <a:graphicData uri="http://schemas.openxmlformats.org/presentationml/2006/ole">
            <mc:AlternateContent xmlns:mc="http://schemas.openxmlformats.org/markup-compatibility/2006">
              <mc:Choice xmlns:v="urn:schemas-microsoft-com:vml" Requires="v">
                <p:oleObj spid="_x0000_s4111" r:id="rId3" imgW="2427732" imgH="2458822" progId="Visio.Drawing.11">
                  <p:embed/>
                </p:oleObj>
              </mc:Choice>
              <mc:Fallback>
                <p:oleObj r:id="rId3" imgW="2427732" imgH="2458822" progId="Visio.Drawing.11">
                  <p:embed/>
                  <p:pic>
                    <p:nvPicPr>
                      <p:cNvPr id="7782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1524000"/>
                        <a:ext cx="4705350" cy="443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867537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p:cNvSpPr>
            <a:spLocks noGrp="1" noChangeArrowheads="1"/>
          </p:cNvSpPr>
          <p:nvPr>
            <p:ph type="body" idx="1"/>
          </p:nvPr>
        </p:nvSpPr>
        <p:spPr>
          <a:xfrm>
            <a:off x="774915" y="762001"/>
            <a:ext cx="10399363" cy="4525963"/>
          </a:xfrm>
        </p:spPr>
        <p:txBody>
          <a:bodyPr/>
          <a:lstStyle/>
          <a:p>
            <a:pPr marL="0" indent="0">
              <a:buNone/>
            </a:pPr>
            <a:r>
              <a:rPr lang="en-US" altLang="en-US" sz="2400" u="sng" dirty="0" smtClean="0"/>
              <a:t>ex</a:t>
            </a:r>
            <a:r>
              <a:rPr lang="id-ID" altLang="en-US" sz="2400" u="sng" dirty="0" smtClean="0"/>
              <a:t> </a:t>
            </a:r>
            <a:r>
              <a:rPr lang="id-ID" altLang="en-US" sz="2400" u="sng" dirty="0"/>
              <a:t>1.</a:t>
            </a:r>
            <a:endParaRPr lang="id-ID" altLang="en-US" sz="2400" dirty="0"/>
          </a:p>
          <a:p>
            <a:pPr marL="0" indent="0">
              <a:buNone/>
            </a:pPr>
            <a:r>
              <a:rPr lang="id-ID" altLang="en-US" sz="2400" dirty="0"/>
              <a:t>Hitunglah besarnya arus drain untuk suatu untai FET, jika VGS = -3V dan parameter JFET adalah IDSS  = 12 mA,     VGS(off)  = -6 V</a:t>
            </a:r>
            <a:endParaRPr lang="id-ID" altLang="en-US" sz="2400" u="sng" dirty="0"/>
          </a:p>
          <a:p>
            <a:pPr marL="0" indent="0">
              <a:buNone/>
            </a:pPr>
            <a:r>
              <a:rPr lang="id-ID" altLang="en-US" sz="2400" u="sng" dirty="0"/>
              <a:t>Solusi                            </a:t>
            </a:r>
            <a:endParaRPr lang="id-ID" altLang="en-US" sz="2400" dirty="0"/>
          </a:p>
          <a:p>
            <a:pPr marL="0" indent="0">
              <a:buNone/>
            </a:pPr>
            <a:r>
              <a:rPr lang="id-ID" altLang="en-US" sz="2400" dirty="0"/>
              <a:t>Dari persamaan :</a:t>
            </a:r>
          </a:p>
          <a:p>
            <a:pPr marL="0" indent="0">
              <a:buNone/>
            </a:pPr>
            <a:r>
              <a:rPr lang="en-US" altLang="en-US" sz="2400" dirty="0"/>
              <a:t>	</a:t>
            </a:r>
            <a:r>
              <a:rPr lang="id-ID" altLang="en-US" sz="2400" dirty="0"/>
              <a:t>ID  = IDSS (1 - </a:t>
            </a:r>
            <a:r>
              <a:rPr lang="id-ID" altLang="en-US" sz="2400" u="sng" dirty="0"/>
              <a:t>    VGS    </a:t>
            </a:r>
            <a:r>
              <a:rPr lang="id-ID" altLang="en-US" sz="2400" dirty="0"/>
              <a:t>)²</a:t>
            </a:r>
          </a:p>
          <a:p>
            <a:pPr marL="0" indent="0">
              <a:buNone/>
            </a:pPr>
            <a:r>
              <a:rPr lang="id-ID" altLang="en-US" sz="2400" dirty="0"/>
              <a:t>			   VGS(off)  </a:t>
            </a:r>
          </a:p>
          <a:p>
            <a:pPr marL="0" indent="0">
              <a:buNone/>
            </a:pPr>
            <a:r>
              <a:rPr lang="id-ID" altLang="en-US" sz="2400" dirty="0"/>
              <a:t>maka besarnya arus drain adalah :</a:t>
            </a:r>
          </a:p>
          <a:p>
            <a:pPr marL="0" indent="0">
              <a:buNone/>
            </a:pPr>
            <a:r>
              <a:rPr lang="en-US" altLang="en-US" sz="2400" dirty="0"/>
              <a:t>	</a:t>
            </a:r>
            <a:r>
              <a:rPr lang="id-ID" altLang="en-US" sz="2400" dirty="0"/>
              <a:t>ID  = 12 (1 – 3/6 ) ²</a:t>
            </a:r>
          </a:p>
          <a:p>
            <a:pPr marL="0" indent="0">
              <a:buNone/>
            </a:pPr>
            <a:r>
              <a:rPr lang="id-ID" altLang="en-US" sz="2400" dirty="0"/>
              <a:t> </a:t>
            </a:r>
            <a:r>
              <a:rPr lang="en-US" altLang="en-US" sz="2400" dirty="0"/>
              <a:t>      </a:t>
            </a:r>
            <a:r>
              <a:rPr lang="id-ID" altLang="en-US" sz="2400" dirty="0"/>
              <a:t>         = 3 mA</a:t>
            </a:r>
            <a:endParaRPr lang="en-US" altLang="en-US" sz="2400" dirty="0"/>
          </a:p>
        </p:txBody>
      </p:sp>
    </p:spTree>
    <p:extLst>
      <p:ext uri="{BB962C8B-B14F-4D97-AF65-F5344CB8AC3E}">
        <p14:creationId xmlns:p14="http://schemas.microsoft.com/office/powerpoint/2010/main" val="36539678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3"/>
          <p:cNvSpPr>
            <a:spLocks noGrp="1" noChangeArrowheads="1"/>
          </p:cNvSpPr>
          <p:nvPr>
            <p:ph type="body" idx="1"/>
          </p:nvPr>
        </p:nvSpPr>
        <p:spPr>
          <a:xfrm>
            <a:off x="759417" y="533400"/>
            <a:ext cx="10693830" cy="2971800"/>
          </a:xfrm>
        </p:spPr>
        <p:txBody>
          <a:bodyPr/>
          <a:lstStyle/>
          <a:p>
            <a:pPr>
              <a:buFontTx/>
              <a:buNone/>
            </a:pPr>
            <a:r>
              <a:rPr lang="id-ID" altLang="en-US" sz="2400" b="1" u="sng" dirty="0"/>
              <a:t>1.3 Untai Prasikap JFET</a:t>
            </a:r>
            <a:endParaRPr lang="id-ID" altLang="en-US" sz="2400" dirty="0"/>
          </a:p>
          <a:p>
            <a:r>
              <a:rPr lang="id-ID" altLang="en-US" sz="2400" dirty="0"/>
              <a:t>Ada empat jenis untai prasikap JFET, yaitu </a:t>
            </a:r>
            <a:r>
              <a:rPr lang="id-ID" altLang="en-US" sz="2400" i="1" dirty="0"/>
              <a:t>prasikap gate</a:t>
            </a:r>
            <a:r>
              <a:rPr lang="id-ID" altLang="en-US" sz="2400" dirty="0"/>
              <a:t>, </a:t>
            </a:r>
            <a:r>
              <a:rPr lang="id-ID" altLang="en-US" sz="2400" i="1" dirty="0"/>
              <a:t>prasikap diri</a:t>
            </a:r>
            <a:r>
              <a:rPr lang="id-ID" altLang="en-US" sz="2400" dirty="0"/>
              <a:t> (self bias), </a:t>
            </a:r>
            <a:r>
              <a:rPr lang="id-ID" altLang="en-US" sz="2400" i="1" dirty="0"/>
              <a:t>prasikap pembagi tegangan</a:t>
            </a:r>
            <a:r>
              <a:rPr lang="id-ID" altLang="en-US" sz="2400" dirty="0"/>
              <a:t>, dan </a:t>
            </a:r>
            <a:r>
              <a:rPr lang="id-ID" altLang="en-US" sz="2400" i="1" dirty="0"/>
              <a:t>prasikap sumber arus.</a:t>
            </a:r>
            <a:endParaRPr lang="id-ID" altLang="en-US" sz="2400" b="1" u="sng" dirty="0"/>
          </a:p>
          <a:p>
            <a:pPr>
              <a:buFontTx/>
              <a:buNone/>
            </a:pPr>
            <a:r>
              <a:rPr lang="id-ID" altLang="en-US" sz="2400" b="1" u="sng" dirty="0"/>
              <a:t>Prasikap Gate </a:t>
            </a:r>
            <a:endParaRPr lang="id-ID" altLang="en-US" sz="2400" dirty="0"/>
          </a:p>
          <a:p>
            <a:r>
              <a:rPr lang="id-ID" altLang="en-US" sz="2400" dirty="0"/>
              <a:t>Untai prasikap gate terlihat pada Gambar 6.</a:t>
            </a:r>
            <a:endParaRPr lang="en-US" altLang="en-US" sz="2400" dirty="0"/>
          </a:p>
        </p:txBody>
      </p:sp>
      <p:sp>
        <p:nvSpPr>
          <p:cNvPr id="79877" name="Rectangle 5"/>
          <p:cNvSpPr>
            <a:spLocks noChangeArrowheads="1"/>
          </p:cNvSpPr>
          <p:nvPr/>
        </p:nvSpPr>
        <p:spPr bwMode="auto">
          <a:xfrm>
            <a:off x="1524001" y="21299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79876" name="Object 4"/>
          <p:cNvGraphicFramePr>
            <a:graphicFrameLocks noChangeAspect="1"/>
          </p:cNvGraphicFramePr>
          <p:nvPr/>
        </p:nvGraphicFramePr>
        <p:xfrm>
          <a:off x="2971800" y="3079750"/>
          <a:ext cx="4191000" cy="3035300"/>
        </p:xfrm>
        <a:graphic>
          <a:graphicData uri="http://schemas.openxmlformats.org/presentationml/2006/ole">
            <mc:AlternateContent xmlns:mc="http://schemas.openxmlformats.org/markup-compatibility/2006">
              <mc:Choice xmlns:v="urn:schemas-microsoft-com:vml" Requires="v">
                <p:oleObj spid="_x0000_s5135" r:id="rId3" imgW="2738018" imgH="1998269" progId="Visio.Drawing.11">
                  <p:embed/>
                </p:oleObj>
              </mc:Choice>
              <mc:Fallback>
                <p:oleObj r:id="rId3" imgW="2738018" imgH="1998269" progId="Visio.Drawing.11">
                  <p:embed/>
                  <p:pic>
                    <p:nvPicPr>
                      <p:cNvPr id="7987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3079750"/>
                        <a:ext cx="4191000" cy="303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4260441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3"/>
          <p:cNvSpPr>
            <a:spLocks noGrp="1" noChangeArrowheads="1"/>
          </p:cNvSpPr>
          <p:nvPr>
            <p:ph type="body" idx="1"/>
          </p:nvPr>
        </p:nvSpPr>
        <p:spPr>
          <a:xfrm>
            <a:off x="666427" y="457200"/>
            <a:ext cx="10879810" cy="5791200"/>
          </a:xfrm>
        </p:spPr>
        <p:txBody>
          <a:bodyPr/>
          <a:lstStyle/>
          <a:p>
            <a:pPr algn="just">
              <a:lnSpc>
                <a:spcPct val="80000"/>
              </a:lnSpc>
            </a:pPr>
            <a:r>
              <a:rPr lang="id-ID" altLang="en-US" dirty="0"/>
              <a:t>Agar sambungan gate-source berprasikap baik, maka digunakan tegangan catu gerbang (-V</a:t>
            </a:r>
            <a:r>
              <a:rPr lang="id-ID" altLang="en-US" sz="1800" dirty="0"/>
              <a:t>GG</a:t>
            </a:r>
            <a:r>
              <a:rPr lang="id-ID" altLang="en-US" dirty="0"/>
              <a:t>).  Karena tidak ada arus gate, maka tidak ada penurunan tegangan pada R</a:t>
            </a:r>
            <a:r>
              <a:rPr lang="id-ID" altLang="en-US" sz="1800" dirty="0"/>
              <a:t>G</a:t>
            </a:r>
            <a:r>
              <a:rPr lang="id-ID" altLang="en-US" dirty="0"/>
              <a:t>. Nilai V</a:t>
            </a:r>
            <a:r>
              <a:rPr lang="id-ID" altLang="en-US" sz="1800" dirty="0"/>
              <a:t>GS </a:t>
            </a:r>
            <a:r>
              <a:rPr lang="id-ID" altLang="en-US" dirty="0"/>
              <a:t> adalah:</a:t>
            </a:r>
          </a:p>
          <a:p>
            <a:pPr algn="just">
              <a:lnSpc>
                <a:spcPct val="80000"/>
              </a:lnSpc>
              <a:buFontTx/>
              <a:buNone/>
            </a:pPr>
            <a:r>
              <a:rPr lang="en-US" altLang="en-US" dirty="0"/>
              <a:t>		</a:t>
            </a:r>
            <a:r>
              <a:rPr lang="id-ID" altLang="en-US" dirty="0"/>
              <a:t>V</a:t>
            </a:r>
            <a:r>
              <a:rPr lang="id-ID" altLang="en-US" sz="1800" dirty="0"/>
              <a:t>GS</a:t>
            </a:r>
            <a:r>
              <a:rPr lang="id-ID" altLang="en-US" dirty="0"/>
              <a:t> = V</a:t>
            </a:r>
            <a:r>
              <a:rPr lang="id-ID" altLang="en-US" sz="1800" dirty="0"/>
              <a:t>GG</a:t>
            </a:r>
            <a:r>
              <a:rPr lang="id-ID" altLang="en-US" dirty="0"/>
              <a:t>					</a:t>
            </a:r>
            <a:r>
              <a:rPr lang="en-US" altLang="en-US" dirty="0"/>
              <a:t>	</a:t>
            </a:r>
            <a:r>
              <a:rPr lang="id-ID" altLang="en-US" dirty="0"/>
              <a:t>(2)</a:t>
            </a:r>
          </a:p>
          <a:p>
            <a:pPr algn="just">
              <a:lnSpc>
                <a:spcPct val="80000"/>
              </a:lnSpc>
            </a:pPr>
            <a:r>
              <a:rPr lang="id-ID" altLang="en-US" dirty="0"/>
              <a:t>Dengan menggunakan persamaan (1) I</a:t>
            </a:r>
            <a:r>
              <a:rPr lang="id-ID" altLang="en-US" sz="1800" dirty="0"/>
              <a:t>D</a:t>
            </a:r>
            <a:r>
              <a:rPr lang="id-ID" altLang="en-US" dirty="0"/>
              <a:t>  dapat dihitung.  V</a:t>
            </a:r>
            <a:r>
              <a:rPr lang="id-ID" altLang="en-US" sz="1600" dirty="0"/>
              <a:t>DS</a:t>
            </a:r>
            <a:r>
              <a:rPr lang="id-ID" altLang="en-US" dirty="0"/>
              <a:t> dapat diperoleh dari persamaan beriktu:</a:t>
            </a:r>
          </a:p>
          <a:p>
            <a:pPr algn="just">
              <a:lnSpc>
                <a:spcPct val="80000"/>
              </a:lnSpc>
              <a:buFontTx/>
              <a:buNone/>
            </a:pPr>
            <a:r>
              <a:rPr lang="en-US" altLang="en-US" dirty="0"/>
              <a:t>		</a:t>
            </a:r>
            <a:r>
              <a:rPr lang="id-ID" altLang="en-US" dirty="0"/>
              <a:t>V</a:t>
            </a:r>
            <a:r>
              <a:rPr lang="id-ID" altLang="en-US" sz="1800" dirty="0"/>
              <a:t>DS </a:t>
            </a:r>
            <a:r>
              <a:rPr lang="id-ID" altLang="en-US" dirty="0"/>
              <a:t> = V</a:t>
            </a:r>
            <a:r>
              <a:rPr lang="id-ID" altLang="en-US" sz="1800" dirty="0"/>
              <a:t>DD</a:t>
            </a:r>
            <a:r>
              <a:rPr lang="id-ID" altLang="en-US" dirty="0"/>
              <a:t> -  I</a:t>
            </a:r>
            <a:r>
              <a:rPr lang="id-ID" altLang="en-US" sz="1800" dirty="0"/>
              <a:t>D</a:t>
            </a:r>
            <a:r>
              <a:rPr lang="id-ID" altLang="en-US" dirty="0"/>
              <a:t> R</a:t>
            </a:r>
            <a:r>
              <a:rPr lang="id-ID" altLang="en-US" sz="2000" dirty="0"/>
              <a:t>D</a:t>
            </a:r>
            <a:r>
              <a:rPr lang="id-ID" altLang="en-US" dirty="0"/>
              <a:t>			</a:t>
            </a:r>
            <a:r>
              <a:rPr lang="en-US" altLang="en-US" dirty="0"/>
              <a:t>	</a:t>
            </a:r>
            <a:r>
              <a:rPr lang="en-US" altLang="en-US" dirty="0" smtClean="0"/>
              <a:t>            </a:t>
            </a:r>
            <a:r>
              <a:rPr lang="id-ID" altLang="en-US" dirty="0" smtClean="0"/>
              <a:t>(</a:t>
            </a:r>
            <a:r>
              <a:rPr lang="id-ID" altLang="en-US" dirty="0"/>
              <a:t>3)</a:t>
            </a:r>
          </a:p>
          <a:p>
            <a:pPr algn="just">
              <a:lnSpc>
                <a:spcPct val="80000"/>
              </a:lnSpc>
            </a:pPr>
            <a:r>
              <a:rPr lang="id-ID" altLang="en-US" dirty="0"/>
              <a:t>Karena untuk suatu tipe JFET V</a:t>
            </a:r>
            <a:r>
              <a:rPr lang="id-ID" altLang="en-US" sz="2000" dirty="0"/>
              <a:t>GS</a:t>
            </a:r>
            <a:r>
              <a:rPr lang="en-US" altLang="en-US" sz="2000" dirty="0"/>
              <a:t>(</a:t>
            </a:r>
            <a:r>
              <a:rPr lang="id-ID" altLang="en-US" sz="2000" dirty="0"/>
              <a:t>off)</a:t>
            </a:r>
            <a:r>
              <a:rPr lang="id-ID" altLang="en-US" dirty="0"/>
              <a:t>  dan I</a:t>
            </a:r>
            <a:r>
              <a:rPr lang="id-ID" altLang="en-US" sz="1800" dirty="0"/>
              <a:t>DSS</a:t>
            </a:r>
            <a:r>
              <a:rPr lang="id-ID" altLang="en-US" dirty="0"/>
              <a:t>  mempunyai suatu rentang nilai, maka prasikap gate tidak memberikan titik kerja Q yang stabil dari satu JFET ke JFET yang lain.  Karena ketidak stabilan ini prasikap gate jarang digunakan selain untuk aplikasi </a:t>
            </a:r>
            <a:r>
              <a:rPr lang="id-ID" altLang="en-US" i="1" dirty="0"/>
              <a:t>switching</a:t>
            </a:r>
            <a:r>
              <a:rPr lang="en-US" altLang="en-US" i="1" dirty="0"/>
              <a:t>.</a:t>
            </a:r>
          </a:p>
        </p:txBody>
      </p:sp>
    </p:spTree>
    <p:extLst>
      <p:ext uri="{BB962C8B-B14F-4D97-AF65-F5344CB8AC3E}">
        <p14:creationId xmlns:p14="http://schemas.microsoft.com/office/powerpoint/2010/main" val="35844365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p:cNvSpPr>
            <a:spLocks noGrp="1" noChangeArrowheads="1"/>
          </p:cNvSpPr>
          <p:nvPr>
            <p:ph type="body" idx="1"/>
          </p:nvPr>
        </p:nvSpPr>
        <p:spPr>
          <a:xfrm>
            <a:off x="821410" y="533400"/>
            <a:ext cx="10740326" cy="1752600"/>
          </a:xfrm>
        </p:spPr>
        <p:txBody>
          <a:bodyPr/>
          <a:lstStyle/>
          <a:p>
            <a:pPr>
              <a:buFontTx/>
              <a:buNone/>
            </a:pPr>
            <a:r>
              <a:rPr lang="id-ID" altLang="en-US" sz="2400" b="1" u="sng" dirty="0"/>
              <a:t>Prasikap diri (self bias)</a:t>
            </a:r>
            <a:endParaRPr lang="id-ID" altLang="en-US" sz="2400" dirty="0"/>
          </a:p>
          <a:p>
            <a:r>
              <a:rPr lang="id-ID" altLang="en-US" sz="2400" dirty="0"/>
              <a:t>Untai prasikap diri terlihat pada Gambar 7. Tegangan VGS diperoleh dengan pemasangan resistor source Rs.  Gate dilatarkan (grounded) lewat RG.</a:t>
            </a:r>
            <a:endParaRPr lang="en-US" altLang="en-US" sz="2400" dirty="0"/>
          </a:p>
        </p:txBody>
      </p:sp>
      <p:sp>
        <p:nvSpPr>
          <p:cNvPr id="81925" name="Rectangle 5"/>
          <p:cNvSpPr>
            <a:spLocks noChangeArrowheads="1"/>
          </p:cNvSpPr>
          <p:nvPr/>
        </p:nvSpPr>
        <p:spPr bwMode="auto">
          <a:xfrm>
            <a:off x="1524001" y="20298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81924" name="Object 4"/>
          <p:cNvGraphicFramePr>
            <a:graphicFrameLocks noChangeAspect="1"/>
          </p:cNvGraphicFramePr>
          <p:nvPr/>
        </p:nvGraphicFramePr>
        <p:xfrm>
          <a:off x="2438400" y="2286001"/>
          <a:ext cx="3124200" cy="2428875"/>
        </p:xfrm>
        <a:graphic>
          <a:graphicData uri="http://schemas.openxmlformats.org/presentationml/2006/ole">
            <mc:AlternateContent xmlns:mc="http://schemas.openxmlformats.org/markup-compatibility/2006">
              <mc:Choice xmlns:v="urn:schemas-microsoft-com:vml" Requires="v">
                <p:oleObj spid="_x0000_s6159" r:id="rId3" imgW="3127858" imgH="2431694" progId="Visio.Drawing.11">
                  <p:embed/>
                </p:oleObj>
              </mc:Choice>
              <mc:Fallback>
                <p:oleObj r:id="rId3" imgW="3127858" imgH="2431694" progId="Visio.Drawing.11">
                  <p:embed/>
                  <p:pic>
                    <p:nvPicPr>
                      <p:cNvPr id="8192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2286001"/>
                        <a:ext cx="3124200" cy="2428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26" name="Text Box 6"/>
          <p:cNvSpPr txBox="1">
            <a:spLocks noChangeArrowheads="1"/>
          </p:cNvSpPr>
          <p:nvPr/>
        </p:nvSpPr>
        <p:spPr bwMode="auto">
          <a:xfrm>
            <a:off x="1301858" y="4936211"/>
            <a:ext cx="10817817"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id-ID" altLang="en-US" sz="2000" dirty="0"/>
              <a:t>Karena tidak ada arus gate, maka arus source sama dengan arus drain:</a:t>
            </a:r>
          </a:p>
          <a:p>
            <a:r>
              <a:rPr lang="id-ID" altLang="en-US" sz="2000" dirty="0"/>
              <a:t>	Is = ID						</a:t>
            </a:r>
            <a:r>
              <a:rPr lang="en-US" altLang="en-US" sz="2000" dirty="0"/>
              <a:t>	</a:t>
            </a:r>
            <a:r>
              <a:rPr lang="id-ID" altLang="en-US" sz="2000" dirty="0"/>
              <a:t>(4)</a:t>
            </a:r>
          </a:p>
          <a:p>
            <a:r>
              <a:rPr lang="id-ID" altLang="en-US" sz="2000" dirty="0"/>
              <a:t>Tegangan pada resistor source adalah:</a:t>
            </a:r>
          </a:p>
          <a:p>
            <a:r>
              <a:rPr lang="id-ID" altLang="en-US" sz="2000" dirty="0"/>
              <a:t>	Vs = Is Rs = ID Rs				</a:t>
            </a:r>
            <a:r>
              <a:rPr lang="en-US" altLang="en-US" sz="2000" dirty="0"/>
              <a:t>	</a:t>
            </a:r>
            <a:r>
              <a:rPr lang="en-US" altLang="en-US" sz="2000" dirty="0" smtClean="0"/>
              <a:t>                 </a:t>
            </a:r>
            <a:r>
              <a:rPr lang="id-ID" altLang="en-US" sz="2000" dirty="0" smtClean="0"/>
              <a:t>(</a:t>
            </a:r>
            <a:r>
              <a:rPr lang="id-ID" altLang="en-US" sz="2000" dirty="0"/>
              <a:t>5)</a:t>
            </a:r>
            <a:endParaRPr lang="en-US" altLang="en-US" sz="2000" dirty="0"/>
          </a:p>
        </p:txBody>
      </p:sp>
    </p:spTree>
    <p:extLst>
      <p:ext uri="{BB962C8B-B14F-4D97-AF65-F5344CB8AC3E}">
        <p14:creationId xmlns:p14="http://schemas.microsoft.com/office/powerpoint/2010/main" val="24536185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3"/>
          <p:cNvSpPr>
            <a:spLocks noGrp="1" noChangeArrowheads="1"/>
          </p:cNvSpPr>
          <p:nvPr>
            <p:ph type="body" idx="1"/>
          </p:nvPr>
        </p:nvSpPr>
        <p:spPr>
          <a:xfrm>
            <a:off x="511443" y="533400"/>
            <a:ext cx="11019295" cy="5791200"/>
          </a:xfrm>
        </p:spPr>
        <p:txBody>
          <a:bodyPr/>
          <a:lstStyle/>
          <a:p>
            <a:pPr algn="just">
              <a:lnSpc>
                <a:spcPct val="80000"/>
              </a:lnSpc>
              <a:buFontTx/>
              <a:buNone/>
            </a:pPr>
            <a:r>
              <a:rPr lang="en-US" altLang="en-US" sz="2400" dirty="0"/>
              <a:t>	</a:t>
            </a:r>
            <a:r>
              <a:rPr lang="id-ID" altLang="en-US" sz="2400" dirty="0"/>
              <a:t>Karena tidak ada arus pada untai gate, maka tegangan gate adalah:</a:t>
            </a:r>
          </a:p>
          <a:p>
            <a:pPr algn="just">
              <a:lnSpc>
                <a:spcPct val="80000"/>
              </a:lnSpc>
              <a:buFontTx/>
              <a:buNone/>
            </a:pPr>
            <a:r>
              <a:rPr lang="en-US" altLang="en-US" sz="2400" dirty="0"/>
              <a:t>			</a:t>
            </a:r>
            <a:r>
              <a:rPr lang="id-ID" altLang="en-US" sz="2400" dirty="0"/>
              <a:t>VG = 0 V</a:t>
            </a:r>
          </a:p>
          <a:p>
            <a:pPr algn="just">
              <a:lnSpc>
                <a:spcPct val="80000"/>
              </a:lnSpc>
              <a:buFontTx/>
              <a:buNone/>
            </a:pPr>
            <a:r>
              <a:rPr lang="en-US" altLang="en-US" sz="2400" dirty="0"/>
              <a:t>	</a:t>
            </a:r>
            <a:r>
              <a:rPr lang="id-ID" altLang="en-US" sz="2400" dirty="0"/>
              <a:t>Tegangan gate-source dapat ditulis sebagai berikut:</a:t>
            </a:r>
          </a:p>
          <a:p>
            <a:pPr algn="just">
              <a:lnSpc>
                <a:spcPct val="80000"/>
              </a:lnSpc>
              <a:buFontTx/>
              <a:buNone/>
            </a:pPr>
            <a:r>
              <a:rPr lang="en-US" altLang="en-US" sz="2400" dirty="0"/>
              <a:t>			</a:t>
            </a:r>
            <a:r>
              <a:rPr lang="id-ID" altLang="en-US" sz="2400" dirty="0"/>
              <a:t>VGS = VG – Vs   = VG – Is.Rs		</a:t>
            </a:r>
            <a:r>
              <a:rPr lang="en-US" altLang="en-US" sz="2400" dirty="0"/>
              <a:t>  </a:t>
            </a:r>
            <a:r>
              <a:rPr lang="id-ID" altLang="en-US" sz="2400" dirty="0"/>
              <a:t>(7)</a:t>
            </a:r>
          </a:p>
          <a:p>
            <a:pPr algn="just">
              <a:lnSpc>
                <a:spcPct val="80000"/>
              </a:lnSpc>
              <a:buFontTx/>
              <a:buNone/>
            </a:pPr>
            <a:r>
              <a:rPr lang="en-US" altLang="en-US" sz="2400" dirty="0"/>
              <a:t>			         </a:t>
            </a:r>
            <a:r>
              <a:rPr lang="id-ID" altLang="en-US" sz="2400" dirty="0"/>
              <a:t>= VG – ID. Rs</a:t>
            </a:r>
          </a:p>
          <a:p>
            <a:pPr algn="just">
              <a:lnSpc>
                <a:spcPct val="80000"/>
              </a:lnSpc>
              <a:buFontTx/>
              <a:buNone/>
            </a:pPr>
            <a:r>
              <a:rPr lang="en-US" altLang="en-US" sz="2400" dirty="0"/>
              <a:t>	</a:t>
            </a:r>
            <a:r>
              <a:rPr lang="id-ID" altLang="en-US" sz="2400" dirty="0"/>
              <a:t>Substitusi persamaan (5) dan (6) ke persamaan (7) menghasilkan:</a:t>
            </a:r>
          </a:p>
          <a:p>
            <a:pPr algn="just">
              <a:lnSpc>
                <a:spcPct val="80000"/>
              </a:lnSpc>
              <a:buFontTx/>
              <a:buNone/>
            </a:pPr>
            <a:r>
              <a:rPr lang="en-US" altLang="en-US" sz="2400" dirty="0"/>
              <a:t>			</a:t>
            </a:r>
            <a:r>
              <a:rPr lang="id-ID" altLang="en-US" sz="2400" dirty="0"/>
              <a:t>VGS = - ID Rs</a:t>
            </a:r>
            <a:r>
              <a:rPr lang="en-US" altLang="en-US" sz="2400" dirty="0"/>
              <a:t> 				</a:t>
            </a:r>
            <a:r>
              <a:rPr lang="id-ID" altLang="en-US" sz="2400" dirty="0"/>
              <a:t>(</a:t>
            </a:r>
            <a:r>
              <a:rPr lang="en-US" altLang="en-US" sz="2400" dirty="0"/>
              <a:t>8</a:t>
            </a:r>
            <a:r>
              <a:rPr lang="id-ID" altLang="en-US" sz="2400" dirty="0"/>
              <a:t>)</a:t>
            </a:r>
          </a:p>
          <a:p>
            <a:pPr algn="just">
              <a:lnSpc>
                <a:spcPct val="80000"/>
              </a:lnSpc>
              <a:buFontTx/>
              <a:buNone/>
            </a:pPr>
            <a:r>
              <a:rPr lang="en-US" altLang="en-US" sz="2400" dirty="0"/>
              <a:t>	</a:t>
            </a:r>
            <a:r>
              <a:rPr lang="id-ID" altLang="en-US" sz="2400" dirty="0"/>
              <a:t>Karena itu dengan memasang resistor Rs, maka dapat diperoleh prasikap balik pada sambungan gate-source, karena tegangan gate lebih negatif dari pada tegangan source.  Persamaan (8) adalah persamaan garis prasikap untuk prasikap diri.  Karena VGS(off) dan IDSS untuk JFET mempunyai rentang nilai, maka masih terdapat ketidakstabilan titik kerja Q (lihat Gambar 8).</a:t>
            </a:r>
            <a:endParaRPr lang="en-US" altLang="en-US" sz="2400" dirty="0"/>
          </a:p>
        </p:txBody>
      </p:sp>
    </p:spTree>
    <p:extLst>
      <p:ext uri="{BB962C8B-B14F-4D97-AF65-F5344CB8AC3E}">
        <p14:creationId xmlns:p14="http://schemas.microsoft.com/office/powerpoint/2010/main" val="39631424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3"/>
          <p:cNvSpPr>
            <a:spLocks noGrp="1" noChangeArrowheads="1"/>
          </p:cNvSpPr>
          <p:nvPr>
            <p:ph type="body" idx="1"/>
          </p:nvPr>
        </p:nvSpPr>
        <p:spPr>
          <a:xfrm>
            <a:off x="821409" y="3733801"/>
            <a:ext cx="10802319" cy="2773363"/>
          </a:xfrm>
        </p:spPr>
        <p:txBody>
          <a:bodyPr>
            <a:normAutofit fontScale="92500" lnSpcReduction="10000"/>
          </a:bodyPr>
          <a:lstStyle/>
          <a:p>
            <a:pPr algn="just">
              <a:buFontTx/>
              <a:buNone/>
            </a:pPr>
            <a:r>
              <a:rPr lang="en-US" altLang="en-US" sz="2400" dirty="0"/>
              <a:t>	</a:t>
            </a:r>
            <a:r>
              <a:rPr lang="id-ID" altLang="en-US" sz="2400" dirty="0"/>
              <a:t>Variasi VGS(off) dari VGS(off)min ke VGS(off)maks dan variasi IDSS dari IDSSmin, ke IDSSmaks mengakibatkan variasi titik kerja Q sebesar </a:t>
            </a:r>
            <a:r>
              <a:rPr lang="id-ID" altLang="en-US" sz="2400" dirty="0">
                <a:sym typeface="Symbol" panose="05050102010706020507" pitchFamily="18" charset="2"/>
              </a:rPr>
              <a:t></a:t>
            </a:r>
            <a:r>
              <a:rPr lang="id-ID" altLang="en-US" sz="2400" dirty="0"/>
              <a:t> VGS dan </a:t>
            </a:r>
            <a:r>
              <a:rPr lang="id-ID" altLang="en-US" sz="2400" dirty="0">
                <a:sym typeface="Symbol" panose="05050102010706020507" pitchFamily="18" charset="2"/>
              </a:rPr>
              <a:t></a:t>
            </a:r>
            <a:r>
              <a:rPr lang="id-ID" altLang="en-US" sz="2400" dirty="0"/>
              <a:t> IDSS</a:t>
            </a:r>
          </a:p>
          <a:p>
            <a:pPr algn="just">
              <a:buFontTx/>
              <a:buNone/>
            </a:pPr>
            <a:r>
              <a:rPr lang="en-US" altLang="en-US" sz="2400" dirty="0"/>
              <a:t>	</a:t>
            </a:r>
            <a:r>
              <a:rPr lang="id-ID" altLang="en-US" sz="2400" dirty="0"/>
              <a:t>Kalau dibandingkan dengan </a:t>
            </a:r>
            <a:r>
              <a:rPr lang="id-ID" altLang="en-US" sz="2400" dirty="0" smtClean="0"/>
              <a:t>gate</a:t>
            </a:r>
            <a:r>
              <a:rPr lang="id-ID" altLang="en-US" sz="2400" dirty="0"/>
              <a:t>, maka prasikap diri lebih stabil dalam ID, dan </a:t>
            </a:r>
            <a:r>
              <a:rPr lang="en-US" altLang="en-US" sz="2400" dirty="0"/>
              <a:t>	</a:t>
            </a:r>
            <a:r>
              <a:rPr lang="id-ID" altLang="en-US" sz="2400" dirty="0" smtClean="0"/>
              <a:t> </a:t>
            </a:r>
            <a:r>
              <a:rPr lang="id-ID" altLang="en-US" sz="2400" dirty="0"/>
              <a:t>gate lebih stabil dalam VGS (karena </a:t>
            </a:r>
            <a:r>
              <a:rPr lang="id-ID" altLang="en-US" sz="2400" dirty="0">
                <a:sym typeface="Symbol" panose="05050102010706020507" pitchFamily="18" charset="2"/>
              </a:rPr>
              <a:t></a:t>
            </a:r>
            <a:r>
              <a:rPr lang="id-ID" altLang="en-US" sz="2400" dirty="0"/>
              <a:t> VGS = 0)</a:t>
            </a:r>
          </a:p>
          <a:p>
            <a:pPr algn="just">
              <a:buFontTx/>
              <a:buNone/>
            </a:pPr>
            <a:r>
              <a:rPr lang="en-US" altLang="en-US" sz="2400" dirty="0"/>
              <a:t>	</a:t>
            </a:r>
            <a:r>
              <a:rPr lang="id-ID" altLang="en-US" sz="2400" dirty="0"/>
              <a:t>Hubungan antara VDS dan ID pada prasikap diri adalah:</a:t>
            </a:r>
          </a:p>
          <a:p>
            <a:pPr algn="just">
              <a:buFontTx/>
              <a:buNone/>
            </a:pPr>
            <a:r>
              <a:rPr lang="en-US" altLang="en-US" sz="2400" dirty="0"/>
              <a:t>			</a:t>
            </a:r>
            <a:r>
              <a:rPr lang="id-ID" altLang="en-US" sz="2400" dirty="0"/>
              <a:t>VDS  = VDD – ID (RD + RS)</a:t>
            </a:r>
            <a:r>
              <a:rPr lang="en-US" altLang="en-US" sz="2400" dirty="0"/>
              <a:t> 		   </a:t>
            </a:r>
            <a:r>
              <a:rPr lang="id-ID" altLang="en-US" sz="2400" dirty="0"/>
              <a:t>(</a:t>
            </a:r>
            <a:r>
              <a:rPr lang="en-US" altLang="en-US" sz="2400" dirty="0"/>
              <a:t>9</a:t>
            </a:r>
            <a:r>
              <a:rPr lang="id-ID" altLang="en-US" sz="2400" dirty="0"/>
              <a:t>)</a:t>
            </a:r>
          </a:p>
          <a:p>
            <a:pPr algn="just">
              <a:buFontTx/>
              <a:buNone/>
            </a:pPr>
            <a:r>
              <a:rPr lang="en-US" altLang="en-US" sz="2400" dirty="0"/>
              <a:t>	</a:t>
            </a:r>
            <a:r>
              <a:rPr lang="id-ID" altLang="en-US" sz="2400" dirty="0"/>
              <a:t>Jika karakteristik keluaran ac dari penguat JFET harus stabil, maka ID pun demikian.  Karena prasikap diri lebih stabil dalam ID, maka prasikap diri lebih baik daripada prasikap gate.</a:t>
            </a:r>
            <a:endParaRPr lang="en-US" altLang="en-US" sz="2400" dirty="0"/>
          </a:p>
          <a:p>
            <a:pPr algn="just">
              <a:buFontTx/>
              <a:buNone/>
            </a:pPr>
            <a:endParaRPr lang="en-US" altLang="en-US" sz="2400" dirty="0"/>
          </a:p>
        </p:txBody>
      </p:sp>
      <p:sp>
        <p:nvSpPr>
          <p:cNvPr id="83973" name="Rectangle 5"/>
          <p:cNvSpPr>
            <a:spLocks noChangeArrowheads="1"/>
          </p:cNvSpPr>
          <p:nvPr/>
        </p:nvSpPr>
        <p:spPr bwMode="auto">
          <a:xfrm>
            <a:off x="1524001" y="17536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83972" name="Object 4"/>
          <p:cNvGraphicFramePr>
            <a:graphicFrameLocks noChangeAspect="1"/>
          </p:cNvGraphicFramePr>
          <p:nvPr/>
        </p:nvGraphicFramePr>
        <p:xfrm>
          <a:off x="4038601" y="304800"/>
          <a:ext cx="4295775" cy="3149600"/>
        </p:xfrm>
        <a:graphic>
          <a:graphicData uri="http://schemas.openxmlformats.org/presentationml/2006/ole">
            <mc:AlternateContent xmlns:mc="http://schemas.openxmlformats.org/markup-compatibility/2006">
              <mc:Choice xmlns:v="urn:schemas-microsoft-com:vml" Requires="v">
                <p:oleObj spid="_x0000_s7183" r:id="rId3" imgW="4071214" imgH="2978810" progId="Visio.Drawing.11">
                  <p:embed/>
                </p:oleObj>
              </mc:Choice>
              <mc:Fallback>
                <p:oleObj r:id="rId3" imgW="4071214" imgH="2978810" progId="Visio.Drawing.11">
                  <p:embed/>
                  <p:pic>
                    <p:nvPicPr>
                      <p:cNvPr id="8397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1" y="304800"/>
                        <a:ext cx="4295775" cy="314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8697782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body" idx="1"/>
          </p:nvPr>
        </p:nvSpPr>
        <p:spPr>
          <a:xfrm>
            <a:off x="790413" y="304800"/>
            <a:ext cx="10864311" cy="1828800"/>
          </a:xfrm>
        </p:spPr>
        <p:txBody>
          <a:bodyPr/>
          <a:lstStyle/>
          <a:p>
            <a:pPr>
              <a:buFontTx/>
              <a:buNone/>
            </a:pPr>
            <a:r>
              <a:rPr lang="id-ID" altLang="en-US" sz="2400" b="1" u="sng" dirty="0"/>
              <a:t>Prasikap Pembagi Tegangan</a:t>
            </a:r>
            <a:endParaRPr lang="id-ID" altLang="en-US" sz="2400" dirty="0"/>
          </a:p>
          <a:p>
            <a:r>
              <a:rPr lang="id-ID" altLang="en-US" sz="2400" dirty="0"/>
              <a:t>Prasikap pembagi tegangan terlihat pada Gambar 9. Tegangan gate diperoleh melalui pembagi tegangan yang terdiri atas resistor R1 dan R2</a:t>
            </a:r>
            <a:endParaRPr lang="en-US" altLang="en-US" sz="2400" dirty="0"/>
          </a:p>
        </p:txBody>
      </p:sp>
      <p:sp>
        <p:nvSpPr>
          <p:cNvPr id="86021" name="Rectangle 5"/>
          <p:cNvSpPr>
            <a:spLocks noChangeArrowheads="1"/>
          </p:cNvSpPr>
          <p:nvPr/>
        </p:nvSpPr>
        <p:spPr bwMode="auto">
          <a:xfrm>
            <a:off x="1524001" y="17393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86020" name="Object 4"/>
          <p:cNvGraphicFramePr>
            <a:graphicFrameLocks noChangeAspect="1"/>
          </p:cNvGraphicFramePr>
          <p:nvPr/>
        </p:nvGraphicFramePr>
        <p:xfrm>
          <a:off x="3381375" y="2133600"/>
          <a:ext cx="3771900" cy="4152900"/>
        </p:xfrm>
        <a:graphic>
          <a:graphicData uri="http://schemas.openxmlformats.org/presentationml/2006/ole">
            <mc:AlternateContent xmlns:mc="http://schemas.openxmlformats.org/markup-compatibility/2006">
              <mc:Choice xmlns:v="urn:schemas-microsoft-com:vml" Requires="v">
                <p:oleObj spid="_x0000_s8207" r:id="rId3" imgW="2278990" imgH="2560625" progId="Visio.Drawing.11">
                  <p:embed/>
                </p:oleObj>
              </mc:Choice>
              <mc:Fallback>
                <p:oleObj r:id="rId3" imgW="2278990" imgH="2560625" progId="Visio.Drawing.11">
                  <p:embed/>
                  <p:pic>
                    <p:nvPicPr>
                      <p:cNvPr id="8602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1375" y="2133600"/>
                        <a:ext cx="3771900" cy="415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8636844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a:spLocks noGrp="1" noChangeArrowheads="1"/>
          </p:cNvSpPr>
          <p:nvPr>
            <p:ph type="body" idx="1"/>
          </p:nvPr>
        </p:nvSpPr>
        <p:spPr>
          <a:xfrm>
            <a:off x="588936" y="457201"/>
            <a:ext cx="11603064" cy="5668963"/>
          </a:xfrm>
        </p:spPr>
        <p:txBody>
          <a:bodyPr/>
          <a:lstStyle/>
          <a:p>
            <a:pPr>
              <a:lnSpc>
                <a:spcPct val="90000"/>
              </a:lnSpc>
              <a:buFontTx/>
              <a:buNone/>
            </a:pPr>
            <a:r>
              <a:rPr lang="en-US" altLang="en-US" sz="2400" dirty="0"/>
              <a:t>	</a:t>
            </a:r>
            <a:r>
              <a:rPr lang="id-ID" altLang="en-US" sz="2400" dirty="0"/>
              <a:t>Tegangan gate terhadap latar (ground) adalah:</a:t>
            </a:r>
          </a:p>
          <a:p>
            <a:pPr>
              <a:lnSpc>
                <a:spcPct val="90000"/>
              </a:lnSpc>
              <a:buFontTx/>
              <a:buNone/>
            </a:pPr>
            <a:r>
              <a:rPr lang="en-US" altLang="en-US" sz="2400" dirty="0"/>
              <a:t>		</a:t>
            </a:r>
            <a:r>
              <a:rPr lang="id-ID" altLang="en-US" sz="2400" dirty="0"/>
              <a:t>VG = VDD </a:t>
            </a:r>
            <a:r>
              <a:rPr lang="id-ID" altLang="en-US" sz="2400" u="sng" dirty="0"/>
              <a:t>     R2	</a:t>
            </a:r>
            <a:r>
              <a:rPr lang="id-ID" altLang="en-US" sz="2400" dirty="0"/>
              <a:t>			 </a:t>
            </a:r>
            <a:r>
              <a:rPr lang="en-US" altLang="en-US" sz="2400" dirty="0"/>
              <a:t>	</a:t>
            </a:r>
            <a:r>
              <a:rPr lang="id-ID" altLang="en-US" sz="2400" dirty="0"/>
              <a:t>(10)</a:t>
            </a:r>
          </a:p>
          <a:p>
            <a:pPr>
              <a:lnSpc>
                <a:spcPct val="90000"/>
              </a:lnSpc>
              <a:buFontTx/>
              <a:buNone/>
            </a:pPr>
            <a:r>
              <a:rPr lang="id-ID" altLang="en-US" sz="2400" dirty="0"/>
              <a:t> </a:t>
            </a:r>
            <a:r>
              <a:rPr lang="en-US" altLang="en-US" sz="2400" dirty="0"/>
              <a:t>	</a:t>
            </a:r>
            <a:r>
              <a:rPr lang="id-ID" altLang="en-US" sz="2400" dirty="0"/>
              <a:t>                         </a:t>
            </a:r>
            <a:r>
              <a:rPr lang="en-US" altLang="en-US" sz="2400" dirty="0" smtClean="0"/>
              <a:t>      </a:t>
            </a:r>
            <a:r>
              <a:rPr lang="id-ID" altLang="en-US" sz="2400" dirty="0" smtClean="0"/>
              <a:t>R1 </a:t>
            </a:r>
            <a:r>
              <a:rPr lang="id-ID" altLang="en-US" sz="2400" dirty="0"/>
              <a:t>+ R2</a:t>
            </a:r>
          </a:p>
          <a:p>
            <a:pPr>
              <a:lnSpc>
                <a:spcPct val="90000"/>
              </a:lnSpc>
              <a:buFontTx/>
              <a:buNone/>
            </a:pPr>
            <a:r>
              <a:rPr lang="en-US" altLang="en-US" sz="2400" dirty="0"/>
              <a:t>	</a:t>
            </a:r>
            <a:r>
              <a:rPr lang="id-ID" altLang="en-US" sz="2400" dirty="0"/>
              <a:t>Jika tegangan gate terhadap source adalah VGS, maka arus drain ID dapat diperoleh sebagai berikut:</a:t>
            </a:r>
          </a:p>
          <a:p>
            <a:pPr>
              <a:lnSpc>
                <a:spcPct val="90000"/>
              </a:lnSpc>
              <a:buFontTx/>
              <a:buNone/>
            </a:pPr>
            <a:r>
              <a:rPr lang="en-US" altLang="en-US" sz="2400" dirty="0"/>
              <a:t>	</a:t>
            </a:r>
            <a:r>
              <a:rPr lang="id-ID" altLang="en-US" sz="2400" dirty="0"/>
              <a:t>	ID = </a:t>
            </a:r>
            <a:r>
              <a:rPr lang="id-ID" altLang="en-US" sz="2400" u="sng" dirty="0"/>
              <a:t>Vs  </a:t>
            </a:r>
            <a:r>
              <a:rPr lang="id-ID" altLang="en-US" sz="2400" dirty="0"/>
              <a:t>   atau    ID  =  </a:t>
            </a:r>
            <a:r>
              <a:rPr lang="id-ID" altLang="en-US" sz="2400" u="sng" dirty="0"/>
              <a:t>VG – VGS</a:t>
            </a:r>
            <a:r>
              <a:rPr lang="en-US" altLang="en-US" sz="2400" u="sng" dirty="0"/>
              <a:t> </a:t>
            </a:r>
            <a:r>
              <a:rPr lang="en-US" altLang="en-US" sz="2400" dirty="0"/>
              <a:t>	</a:t>
            </a:r>
            <a:r>
              <a:rPr lang="id-ID" altLang="en-US" sz="2400" dirty="0"/>
              <a:t> </a:t>
            </a:r>
            <a:r>
              <a:rPr lang="en-US" altLang="en-US" sz="2400" dirty="0"/>
              <a:t>          </a:t>
            </a:r>
            <a:r>
              <a:rPr lang="id-ID" altLang="en-US" sz="2400" dirty="0"/>
              <a:t>(1</a:t>
            </a:r>
            <a:r>
              <a:rPr lang="en-US" altLang="en-US" sz="2400" dirty="0"/>
              <a:t>1</a:t>
            </a:r>
            <a:r>
              <a:rPr lang="id-ID" altLang="en-US" sz="2400" dirty="0"/>
              <a:t>)</a:t>
            </a:r>
          </a:p>
          <a:p>
            <a:pPr>
              <a:lnSpc>
                <a:spcPct val="90000"/>
              </a:lnSpc>
              <a:buFontTx/>
              <a:buNone/>
            </a:pPr>
            <a:r>
              <a:rPr lang="en-US" altLang="en-US" sz="2400" dirty="0"/>
              <a:t>	</a:t>
            </a:r>
            <a:r>
              <a:rPr lang="id-ID" altLang="en-US" sz="2400" dirty="0"/>
              <a:t>             </a:t>
            </a:r>
            <a:r>
              <a:rPr lang="en-US" altLang="en-US" sz="2400" dirty="0" smtClean="0"/>
              <a:t>   </a:t>
            </a:r>
            <a:r>
              <a:rPr lang="id-ID" altLang="en-US" sz="2400" dirty="0" smtClean="0"/>
              <a:t>  </a:t>
            </a:r>
            <a:r>
              <a:rPr lang="id-ID" altLang="en-US" sz="2400" dirty="0"/>
              <a:t>Rs                                 Rs</a:t>
            </a:r>
          </a:p>
          <a:p>
            <a:pPr>
              <a:lnSpc>
                <a:spcPct val="90000"/>
              </a:lnSpc>
              <a:buFontTx/>
              <a:buNone/>
            </a:pPr>
            <a:r>
              <a:rPr lang="en-US" altLang="en-US" sz="2400" dirty="0"/>
              <a:t>	</a:t>
            </a:r>
            <a:r>
              <a:rPr lang="id-ID" altLang="en-US" sz="2400" dirty="0"/>
              <a:t>Garis prasikap pembagi tegangan terlihat pada Gambar 10.  Titik potong garis prasikap ini dengan sumbu VGS diperoleh dengan membuat ID = 0 pada persamaan (1</a:t>
            </a:r>
            <a:r>
              <a:rPr lang="en-US" altLang="en-US" sz="2400" dirty="0"/>
              <a:t>1</a:t>
            </a:r>
            <a:r>
              <a:rPr lang="id-ID" altLang="en-US" sz="2400" dirty="0"/>
              <a:t>) sehingga diperoleh:</a:t>
            </a:r>
          </a:p>
          <a:p>
            <a:pPr>
              <a:lnSpc>
                <a:spcPct val="90000"/>
              </a:lnSpc>
              <a:buFontTx/>
              <a:buNone/>
            </a:pPr>
            <a:r>
              <a:rPr lang="en-US" altLang="en-US" sz="2400" dirty="0"/>
              <a:t>		</a:t>
            </a:r>
            <a:r>
              <a:rPr lang="id-ID" altLang="en-US" sz="2400" dirty="0"/>
              <a:t>VGS = VDD </a:t>
            </a:r>
            <a:r>
              <a:rPr lang="id-ID" altLang="en-US" sz="2400" u="sng" dirty="0"/>
              <a:t>     R2	 </a:t>
            </a:r>
            <a:r>
              <a:rPr lang="id-ID" altLang="en-US" sz="2400" dirty="0"/>
              <a:t> = VG			 </a:t>
            </a:r>
            <a:r>
              <a:rPr lang="en-US" altLang="en-US" sz="2400" dirty="0"/>
              <a:t> 	</a:t>
            </a:r>
            <a:r>
              <a:rPr lang="id-ID" altLang="en-US" sz="2400" dirty="0"/>
              <a:t>(</a:t>
            </a:r>
            <a:r>
              <a:rPr lang="en-US" altLang="en-US" sz="2400" dirty="0"/>
              <a:t>12</a:t>
            </a:r>
            <a:r>
              <a:rPr lang="id-ID" altLang="en-US" sz="2400" dirty="0"/>
              <a:t>)                   </a:t>
            </a:r>
            <a:r>
              <a:rPr lang="en-US" altLang="en-US" sz="2400" dirty="0"/>
              <a:t>		</a:t>
            </a:r>
            <a:endParaRPr lang="en-US" altLang="en-US" sz="2400" dirty="0" smtClean="0"/>
          </a:p>
          <a:p>
            <a:pPr>
              <a:lnSpc>
                <a:spcPct val="90000"/>
              </a:lnSpc>
              <a:buFontTx/>
              <a:buNone/>
            </a:pPr>
            <a:r>
              <a:rPr lang="en-US" altLang="en-US" sz="2400" dirty="0"/>
              <a:t> </a:t>
            </a:r>
            <a:r>
              <a:rPr lang="en-US" altLang="en-US" sz="2400" dirty="0" smtClean="0"/>
              <a:t>                                     </a:t>
            </a:r>
            <a:r>
              <a:rPr lang="id-ID" altLang="en-US" sz="2400" dirty="0"/>
              <a:t>R1 + R2</a:t>
            </a:r>
            <a:endParaRPr lang="en-US" altLang="en-US" sz="2400" dirty="0"/>
          </a:p>
        </p:txBody>
      </p:sp>
    </p:spTree>
    <p:extLst>
      <p:ext uri="{BB962C8B-B14F-4D97-AF65-F5344CB8AC3E}">
        <p14:creationId xmlns:p14="http://schemas.microsoft.com/office/powerpoint/2010/main" val="160759710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p:cNvSpPr>
            <a:spLocks noGrp="1" noChangeArrowheads="1"/>
          </p:cNvSpPr>
          <p:nvPr>
            <p:ph type="body" idx="1"/>
          </p:nvPr>
        </p:nvSpPr>
        <p:spPr>
          <a:xfrm>
            <a:off x="557939" y="685800"/>
            <a:ext cx="11050292" cy="2209800"/>
          </a:xfrm>
        </p:spPr>
        <p:txBody>
          <a:bodyPr/>
          <a:lstStyle/>
          <a:p>
            <a:r>
              <a:rPr lang="id-ID" altLang="en-US" sz="2400" dirty="0"/>
              <a:t>Demikian juga titik potongnya dengan sumbu ID diperoleh dengan membuat VGS = 0 pada persamaan (12) dan diperoleh:</a:t>
            </a:r>
          </a:p>
          <a:p>
            <a:pPr>
              <a:buFontTx/>
              <a:buNone/>
            </a:pPr>
            <a:r>
              <a:rPr lang="en-US" altLang="en-US" sz="2400" dirty="0"/>
              <a:t>		</a:t>
            </a:r>
            <a:r>
              <a:rPr lang="id-ID" altLang="en-US" sz="2400" dirty="0"/>
              <a:t>ID = VDD   </a:t>
            </a:r>
            <a:r>
              <a:rPr lang="id-ID" altLang="en-US" sz="2400" u="sng" dirty="0"/>
              <a:t>      R2       </a:t>
            </a:r>
            <a:r>
              <a:rPr lang="id-ID" altLang="en-US" sz="2400" dirty="0"/>
              <a:t> = </a:t>
            </a:r>
            <a:r>
              <a:rPr lang="id-ID" altLang="en-US" sz="2400" u="sng" dirty="0"/>
              <a:t>VG</a:t>
            </a:r>
            <a:endParaRPr lang="id-ID" altLang="en-US" sz="2400" dirty="0"/>
          </a:p>
          <a:p>
            <a:pPr>
              <a:buFontTx/>
              <a:buNone/>
            </a:pPr>
            <a:r>
              <a:rPr lang="en-US" altLang="en-US" sz="2400" dirty="0"/>
              <a:t>    </a:t>
            </a:r>
            <a:r>
              <a:rPr lang="id-ID" altLang="en-US" sz="2400" dirty="0"/>
              <a:t>                      </a:t>
            </a:r>
            <a:r>
              <a:rPr lang="en-US" altLang="en-US" sz="2400" dirty="0"/>
              <a:t> </a:t>
            </a:r>
            <a:r>
              <a:rPr lang="en-US" altLang="en-US" sz="2400" dirty="0" smtClean="0"/>
              <a:t>    </a:t>
            </a:r>
            <a:r>
              <a:rPr lang="id-ID" altLang="en-US" sz="2400" dirty="0" smtClean="0"/>
              <a:t>Rs </a:t>
            </a:r>
            <a:r>
              <a:rPr lang="id-ID" altLang="en-US" sz="2400" dirty="0"/>
              <a:t>(R1+R2)   </a:t>
            </a:r>
            <a:r>
              <a:rPr lang="en-US" altLang="en-US" sz="2400" dirty="0"/>
              <a:t>  </a:t>
            </a:r>
            <a:r>
              <a:rPr lang="id-ID" altLang="en-US" sz="2400" dirty="0"/>
              <a:t>VS</a:t>
            </a:r>
            <a:endParaRPr lang="en-US" altLang="en-US" sz="2400" dirty="0"/>
          </a:p>
        </p:txBody>
      </p:sp>
      <p:sp>
        <p:nvSpPr>
          <p:cNvPr id="88069" name="Rectangle 5"/>
          <p:cNvSpPr>
            <a:spLocks noChangeArrowheads="1"/>
          </p:cNvSpPr>
          <p:nvPr/>
        </p:nvSpPr>
        <p:spPr bwMode="auto">
          <a:xfrm>
            <a:off x="1524001" y="1815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88068" name="Object 4"/>
          <p:cNvGraphicFramePr>
            <a:graphicFrameLocks noChangeAspect="1"/>
          </p:cNvGraphicFramePr>
          <p:nvPr>
            <p:extLst>
              <p:ext uri="{D42A27DB-BD31-4B8C-83A1-F6EECF244321}">
                <p14:modId xmlns:p14="http://schemas.microsoft.com/office/powerpoint/2010/main" val="3018590142"/>
              </p:ext>
            </p:extLst>
          </p:nvPr>
        </p:nvGraphicFramePr>
        <p:xfrm>
          <a:off x="676761" y="2434858"/>
          <a:ext cx="4372155" cy="3779961"/>
        </p:xfrm>
        <a:graphic>
          <a:graphicData uri="http://schemas.openxmlformats.org/presentationml/2006/ole">
            <mc:AlternateContent xmlns:mc="http://schemas.openxmlformats.org/markup-compatibility/2006">
              <mc:Choice xmlns:v="urn:schemas-microsoft-com:vml" Requires="v">
                <p:oleObj spid="_x0000_s9231" r:id="rId3" imgW="3305861" imgH="2854757" progId="Visio.Drawing.11">
                  <p:embed/>
                </p:oleObj>
              </mc:Choice>
              <mc:Fallback>
                <p:oleObj r:id="rId3" imgW="3305861" imgH="2854757" progId="Visio.Drawing.11">
                  <p:embed/>
                  <p:pic>
                    <p:nvPicPr>
                      <p:cNvPr id="8806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761" y="2434858"/>
                        <a:ext cx="4372155" cy="3779961"/>
                      </a:xfrm>
                      <a:prstGeom prst="rect">
                        <a:avLst/>
                      </a:prstGeom>
                      <a:noFill/>
                    </p:spPr>
                  </p:pic>
                </p:oleObj>
              </mc:Fallback>
            </mc:AlternateContent>
          </a:graphicData>
        </a:graphic>
      </p:graphicFrame>
      <p:sp>
        <p:nvSpPr>
          <p:cNvPr id="88070" name="Text Box 6"/>
          <p:cNvSpPr txBox="1">
            <a:spLocks noChangeArrowheads="1"/>
          </p:cNvSpPr>
          <p:nvPr/>
        </p:nvSpPr>
        <p:spPr bwMode="auto">
          <a:xfrm>
            <a:off x="5257799" y="3048001"/>
            <a:ext cx="6582905"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id-ID" altLang="en-US" sz="2000" dirty="0"/>
              <a:t>Pada Gambar 10 terlihat bahwa untai prasikap</a:t>
            </a:r>
            <a:r>
              <a:rPr lang="en-US" altLang="en-US" sz="2000" dirty="0"/>
              <a:t> </a:t>
            </a:r>
            <a:r>
              <a:rPr lang="id-ID" altLang="en-US" sz="2000" dirty="0"/>
              <a:t>pembagi tegangan memberikan nilai VGS yang relatif tidak stabil.  Namun dalam kondisi itu kestabilan ID</a:t>
            </a:r>
            <a:r>
              <a:rPr lang="en-US" altLang="en-US" sz="2000" dirty="0"/>
              <a:t> </a:t>
            </a:r>
            <a:r>
              <a:rPr lang="id-ID" altLang="en-US" sz="2000" dirty="0"/>
              <a:t>ditingkatkan, dan paling stabil</a:t>
            </a:r>
            <a:r>
              <a:rPr lang="en-US" altLang="en-US" sz="2000" dirty="0"/>
              <a:t> </a:t>
            </a:r>
            <a:r>
              <a:rPr lang="id-ID" altLang="en-US" sz="2000" dirty="0"/>
              <a:t>dibandingkan dengan dua untai prasikap sebelumnya.</a:t>
            </a:r>
            <a:endParaRPr lang="en-US" altLang="en-US" sz="2000" dirty="0"/>
          </a:p>
        </p:txBody>
      </p:sp>
    </p:spTree>
    <p:extLst>
      <p:ext uri="{BB962C8B-B14F-4D97-AF65-F5344CB8AC3E}">
        <p14:creationId xmlns:p14="http://schemas.microsoft.com/office/powerpoint/2010/main" val="44699571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p:cNvSpPr>
            <a:spLocks noGrp="1" noChangeArrowheads="1"/>
          </p:cNvSpPr>
          <p:nvPr>
            <p:ph type="body" idx="1"/>
          </p:nvPr>
        </p:nvSpPr>
        <p:spPr>
          <a:xfrm>
            <a:off x="852407" y="457200"/>
            <a:ext cx="10972800" cy="2286000"/>
          </a:xfrm>
        </p:spPr>
        <p:txBody>
          <a:bodyPr/>
          <a:lstStyle/>
          <a:p>
            <a:pPr>
              <a:buFontTx/>
              <a:buNone/>
            </a:pPr>
            <a:r>
              <a:rPr lang="id-ID" altLang="en-US" sz="2400" b="1" u="sng" dirty="0"/>
              <a:t>Prasikap Sumber Arus</a:t>
            </a:r>
            <a:endParaRPr lang="id-ID" altLang="en-US" sz="2400" dirty="0"/>
          </a:p>
          <a:p>
            <a:r>
              <a:rPr lang="id-ID" altLang="en-US" sz="2400" dirty="0"/>
              <a:t>Prasikap sumber arus memberikan stabilitas titik Q yang tinggi, karena menghasilkan nilai ID yang tidak tergantung pada JFET.  Salah satu contoh prasikap sumber arus terlihat pada Gambar 11.</a:t>
            </a:r>
            <a:endParaRPr lang="en-US" altLang="en-US" sz="2400" dirty="0"/>
          </a:p>
        </p:txBody>
      </p:sp>
      <p:sp>
        <p:nvSpPr>
          <p:cNvPr id="89093" name="Rectangle 5"/>
          <p:cNvSpPr>
            <a:spLocks noChangeArrowheads="1"/>
          </p:cNvSpPr>
          <p:nvPr/>
        </p:nvSpPr>
        <p:spPr bwMode="auto">
          <a:xfrm>
            <a:off x="1524001" y="18441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89092" name="Object 4"/>
          <p:cNvGraphicFramePr>
            <a:graphicFrameLocks noChangeAspect="1"/>
          </p:cNvGraphicFramePr>
          <p:nvPr/>
        </p:nvGraphicFramePr>
        <p:xfrm>
          <a:off x="3886201" y="2590800"/>
          <a:ext cx="3476625" cy="3886200"/>
        </p:xfrm>
        <a:graphic>
          <a:graphicData uri="http://schemas.openxmlformats.org/presentationml/2006/ole">
            <mc:AlternateContent xmlns:mc="http://schemas.openxmlformats.org/markup-compatibility/2006">
              <mc:Choice xmlns:v="urn:schemas-microsoft-com:vml" Requires="v">
                <p:oleObj spid="_x0000_s10255" r:id="rId3" imgW="2507590" imgH="2797759" progId="Visio.Drawing.11">
                  <p:embed/>
                </p:oleObj>
              </mc:Choice>
              <mc:Fallback>
                <p:oleObj r:id="rId3" imgW="2507590" imgH="2797759" progId="Visio.Drawing.11">
                  <p:embed/>
                  <p:pic>
                    <p:nvPicPr>
                      <p:cNvPr id="8909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1" y="2590800"/>
                        <a:ext cx="3476625" cy="3886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1744688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3"/>
          <p:cNvSpPr>
            <a:spLocks noGrp="1" noChangeArrowheads="1"/>
          </p:cNvSpPr>
          <p:nvPr>
            <p:ph type="body" idx="1"/>
          </p:nvPr>
        </p:nvSpPr>
        <p:spPr>
          <a:xfrm>
            <a:off x="635431" y="685801"/>
            <a:ext cx="10817816" cy="4525963"/>
          </a:xfrm>
        </p:spPr>
        <p:txBody>
          <a:bodyPr/>
          <a:lstStyle/>
          <a:p>
            <a:pPr algn="just">
              <a:lnSpc>
                <a:spcPct val="80000"/>
              </a:lnSpc>
            </a:pPr>
            <a:r>
              <a:rPr lang="id-ID" altLang="en-US" dirty="0"/>
              <a:t>Arus drain JFET adalah sama dengan arus kolektor BJT:</a:t>
            </a:r>
          </a:p>
          <a:p>
            <a:pPr algn="just">
              <a:lnSpc>
                <a:spcPct val="80000"/>
              </a:lnSpc>
              <a:buFontTx/>
              <a:buNone/>
            </a:pPr>
            <a:r>
              <a:rPr lang="en-US" altLang="en-US" dirty="0"/>
              <a:t>		</a:t>
            </a:r>
            <a:r>
              <a:rPr lang="id-ID" altLang="en-US" dirty="0"/>
              <a:t>ID = Ic</a:t>
            </a:r>
          </a:p>
          <a:p>
            <a:pPr algn="just">
              <a:lnSpc>
                <a:spcPct val="80000"/>
              </a:lnSpc>
            </a:pPr>
            <a:r>
              <a:rPr lang="id-ID" altLang="en-US" dirty="0"/>
              <a:t>Karena nilai Ic tidak tergantung pada variasi parameter JFET, maka demikian juga ID.  Supaya ID bergantung pada JFET, maka diisyaratkan : ID </a:t>
            </a:r>
            <a:r>
              <a:rPr lang="id-ID" altLang="en-US" dirty="0">
                <a:sym typeface="Symbol" panose="05050102010706020507" pitchFamily="18" charset="2"/>
              </a:rPr>
              <a:t></a:t>
            </a:r>
            <a:r>
              <a:rPr lang="id-ID" altLang="en-US" dirty="0"/>
              <a:t> IDSS min.</a:t>
            </a:r>
          </a:p>
          <a:p>
            <a:pPr algn="just">
              <a:lnSpc>
                <a:spcPct val="80000"/>
              </a:lnSpc>
            </a:pPr>
            <a:r>
              <a:rPr lang="id-ID" altLang="en-US" dirty="0"/>
              <a:t>Meskipun prasikap sumber arus memberikan nilai titik Q yang paling stabil untuk ID, tetapi karena kompleksitas untai, sehingga menyebabkan tidak banyak diminati.</a:t>
            </a:r>
            <a:endParaRPr lang="en-US" altLang="en-US" dirty="0"/>
          </a:p>
        </p:txBody>
      </p:sp>
    </p:spTree>
    <p:extLst>
      <p:ext uri="{BB962C8B-B14F-4D97-AF65-F5344CB8AC3E}">
        <p14:creationId xmlns:p14="http://schemas.microsoft.com/office/powerpoint/2010/main" val="27661149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algn="l"/>
            <a:r>
              <a:rPr lang="en-US" altLang="en-US" sz="2800" b="1" dirty="0"/>
              <a:t>2. </a:t>
            </a:r>
            <a:r>
              <a:rPr lang="id-ID" altLang="en-US" sz="2800" b="1" dirty="0"/>
              <a:t>MOSFET</a:t>
            </a:r>
            <a:endParaRPr lang="en-US" altLang="en-US" sz="2800" b="1" dirty="0"/>
          </a:p>
        </p:txBody>
      </p:sp>
      <p:sp>
        <p:nvSpPr>
          <p:cNvPr id="91139" name="Rectangle 3"/>
          <p:cNvSpPr>
            <a:spLocks noGrp="1" noChangeArrowheads="1"/>
          </p:cNvSpPr>
          <p:nvPr>
            <p:ph type="body" idx="1"/>
          </p:nvPr>
        </p:nvSpPr>
        <p:spPr>
          <a:xfrm>
            <a:off x="433953" y="1825625"/>
            <a:ext cx="11329261" cy="4351338"/>
          </a:xfrm>
        </p:spPr>
        <p:txBody>
          <a:bodyPr>
            <a:noAutofit/>
          </a:bodyPr>
          <a:lstStyle/>
          <a:p>
            <a:pPr algn="just">
              <a:lnSpc>
                <a:spcPct val="80000"/>
              </a:lnSpc>
            </a:pPr>
            <a:r>
              <a:rPr lang="id-ID" altLang="en-US" dirty="0"/>
              <a:t>Teknologi MOS (Metal Oxide Semiconductor) telah memberikan solusi terhadap masalah yang terdapat pada pengembangan untai terpadu (Integrated Circuit).  Masalah yang dimaksud adalah disipasi panas yang dengan untai MOS menjadi sangat berkurang.  Disamping itu untai MOSFET (Metal Oxide Semiconductor FET) dapat dibuat lebih kecil dibandingkan dengan untai BJT.</a:t>
            </a:r>
          </a:p>
          <a:p>
            <a:pPr algn="just">
              <a:lnSpc>
                <a:spcPct val="80000"/>
              </a:lnSpc>
            </a:pPr>
            <a:r>
              <a:rPr lang="id-ID" altLang="en-US" dirty="0"/>
              <a:t>Jika MOSFET dibandingkan dengan JFET, operasi JFET mensyaratkan gate berprasikap balik agar devais dapat bekerja dengan baik.  Prasikap balik digunakan untuk melakukan pengecilan (depletion) ukuran kanal.  Operasi tipe ini dinamakan </a:t>
            </a:r>
            <a:r>
              <a:rPr lang="id-ID" altLang="en-US" b="1" dirty="0"/>
              <a:t>mode deplesi.</a:t>
            </a:r>
            <a:endParaRPr lang="id-ID" altLang="en-US" dirty="0"/>
          </a:p>
          <a:p>
            <a:pPr algn="just">
              <a:lnSpc>
                <a:spcPct val="80000"/>
              </a:lnSpc>
            </a:pPr>
            <a:r>
              <a:rPr lang="id-ID" altLang="en-US" dirty="0"/>
              <a:t>MOSFET adalah devais yang dapat dioperasikan dalam mode peningkatan (enhancement) ukuran kanal.  Ini berarti bahwa devais ini tidak dibatasi untuk bekerja dengan gate berprasikap balik.</a:t>
            </a:r>
            <a:endParaRPr lang="en-US" altLang="en-US" dirty="0"/>
          </a:p>
        </p:txBody>
      </p:sp>
    </p:spTree>
    <p:extLst>
      <p:ext uri="{BB962C8B-B14F-4D97-AF65-F5344CB8AC3E}">
        <p14:creationId xmlns:p14="http://schemas.microsoft.com/office/powerpoint/2010/main" val="353713815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p:cNvSpPr>
            <a:spLocks noGrp="1" noChangeArrowheads="1"/>
          </p:cNvSpPr>
          <p:nvPr>
            <p:ph type="body" idx="1"/>
          </p:nvPr>
        </p:nvSpPr>
        <p:spPr>
          <a:xfrm>
            <a:off x="542441" y="533401"/>
            <a:ext cx="10833315" cy="5592763"/>
          </a:xfrm>
        </p:spPr>
        <p:txBody>
          <a:bodyPr/>
          <a:lstStyle/>
          <a:p>
            <a:pPr algn="just">
              <a:lnSpc>
                <a:spcPct val="90000"/>
              </a:lnSpc>
              <a:buFontTx/>
              <a:buNone/>
            </a:pPr>
            <a:r>
              <a:rPr lang="id-ID" altLang="en-US" sz="2400" b="1" u="sng" dirty="0"/>
              <a:t>2.1 Konstruksi MOSFET</a:t>
            </a:r>
            <a:endParaRPr lang="id-ID" altLang="en-US" sz="2400" dirty="0"/>
          </a:p>
          <a:p>
            <a:pPr algn="just">
              <a:lnSpc>
                <a:spcPct val="90000"/>
              </a:lnSpc>
            </a:pPr>
            <a:r>
              <a:rPr lang="id-ID" altLang="en-US" sz="2400" dirty="0"/>
              <a:t>Ada dua tipe MOSFET yaitu </a:t>
            </a:r>
            <a:r>
              <a:rPr lang="id-ID" altLang="en-US" sz="2400" b="1" dirty="0"/>
              <a:t>MOSFET tipe deplesi       (</a:t>
            </a:r>
            <a:r>
              <a:rPr lang="id-ID" altLang="en-US" sz="2400" dirty="0"/>
              <a:t>D-MOSFET) dan </a:t>
            </a:r>
            <a:r>
              <a:rPr lang="id-ID" altLang="en-US" sz="2400" b="1" dirty="0"/>
              <a:t>MOSFET tipe enchancement            (</a:t>
            </a:r>
            <a:r>
              <a:rPr lang="id-ID" altLang="en-US" sz="2400" dirty="0"/>
              <a:t>E-MOSFET).  D-MOSFET dapat beroperasi pada mode deplesi dan enchancement, sedangkan E-MOSFET hanya pada mode enhancement.  Perbedaan konstruksi antara      D-MOSFET dan E-MOSFET terlihat pada Gambar 12.  Dalam gambar itu D-MOSFET mempunyai kanal fisik antara terminal source dan drain.  Adapun E-MOSFET tidak memiliki kanal, karena kanal terbentuk bergantung pada tegangan gate.  Lapisan isolasi antara gate dan bagian lain dari komponen terbuat dari silicon dioxide (SiO2).  Terminal gate terbuat dari konduktor logam.</a:t>
            </a:r>
            <a:endParaRPr lang="en-US" altLang="en-US" sz="2400" dirty="0"/>
          </a:p>
        </p:txBody>
      </p:sp>
    </p:spTree>
    <p:extLst>
      <p:ext uri="{BB962C8B-B14F-4D97-AF65-F5344CB8AC3E}">
        <p14:creationId xmlns:p14="http://schemas.microsoft.com/office/powerpoint/2010/main" val="326826520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3"/>
          <p:cNvSpPr>
            <a:spLocks noGrp="1" noChangeArrowheads="1"/>
          </p:cNvSpPr>
          <p:nvPr>
            <p:ph type="body" idx="1"/>
          </p:nvPr>
        </p:nvSpPr>
        <p:spPr>
          <a:xfrm>
            <a:off x="836907" y="838201"/>
            <a:ext cx="11081289" cy="4525963"/>
          </a:xfrm>
        </p:spPr>
        <p:txBody>
          <a:bodyPr/>
          <a:lstStyle/>
          <a:p>
            <a:pPr algn="just">
              <a:lnSpc>
                <a:spcPct val="90000"/>
              </a:lnSpc>
            </a:pPr>
            <a:r>
              <a:rPr lang="id-ID" altLang="en-US" sz="2400" dirty="0"/>
              <a:t>Fondasi MOSFET disebut </a:t>
            </a:r>
            <a:r>
              <a:rPr lang="id-ID" altLang="en-US" sz="2400" b="1" dirty="0"/>
              <a:t>substrat </a:t>
            </a:r>
            <a:r>
              <a:rPr lang="id-ID" altLang="en-US" sz="2400" dirty="0"/>
              <a:t>yang disimbolkan dengan garis pusat yang terhubung secara internal dengan terminal source.  Pada gambar terlihat bahwa MOSFET kanal n mempunyai substrate bahan p, sedangkan MOSFET kanal p mempunyai substrate bahan n.  Pada simbol MOSFET, panah diletakkan pada substrate.  Panah yang menunjuk ke dalam, menyatakan devais kanal n, sedang panah yang menunjuk ke luar, menyatakan devais kanal p. Substrate tidak harus dihubungkan ke source, tetapi dapat juga dihubungkan ke catu tegangan yang lain.</a:t>
            </a:r>
            <a:endParaRPr lang="en-US" altLang="en-US" sz="2400" dirty="0"/>
          </a:p>
        </p:txBody>
      </p:sp>
    </p:spTree>
    <p:extLst>
      <p:ext uri="{BB962C8B-B14F-4D97-AF65-F5344CB8AC3E}">
        <p14:creationId xmlns:p14="http://schemas.microsoft.com/office/powerpoint/2010/main" val="13572342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3" name="Rectangle 5"/>
          <p:cNvSpPr>
            <a:spLocks noChangeArrowheads="1"/>
          </p:cNvSpPr>
          <p:nvPr/>
        </p:nvSpPr>
        <p:spPr bwMode="auto">
          <a:xfrm>
            <a:off x="1524001" y="21203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94212" name="Object 4"/>
          <p:cNvGraphicFramePr>
            <a:graphicFrameLocks noChangeAspect="1"/>
          </p:cNvGraphicFramePr>
          <p:nvPr/>
        </p:nvGraphicFramePr>
        <p:xfrm>
          <a:off x="3124200" y="457200"/>
          <a:ext cx="5105400" cy="2459038"/>
        </p:xfrm>
        <a:graphic>
          <a:graphicData uri="http://schemas.openxmlformats.org/presentationml/2006/ole">
            <mc:AlternateContent xmlns:mc="http://schemas.openxmlformats.org/markup-compatibility/2006">
              <mc:Choice xmlns:v="urn:schemas-microsoft-com:vml" Requires="v">
                <p:oleObj spid="_x0000_s11292" r:id="rId3" imgW="4665791" imgH="2247675" progId="Visio.Drawing.11">
                  <p:embed/>
                </p:oleObj>
              </mc:Choice>
              <mc:Fallback>
                <p:oleObj r:id="rId3" imgW="4665791" imgH="2247675" progId="Visio.Drawing.11">
                  <p:embed/>
                  <p:pic>
                    <p:nvPicPr>
                      <p:cNvPr id="9421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457200"/>
                        <a:ext cx="5105400" cy="2459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4215" name="Rectangle 7"/>
          <p:cNvSpPr>
            <a:spLocks noChangeArrowheads="1"/>
          </p:cNvSpPr>
          <p:nvPr/>
        </p:nvSpPr>
        <p:spPr bwMode="auto">
          <a:xfrm>
            <a:off x="1524001" y="18632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94214" name="Object 6"/>
          <p:cNvGraphicFramePr>
            <a:graphicFrameLocks noChangeAspect="1"/>
          </p:cNvGraphicFramePr>
          <p:nvPr/>
        </p:nvGraphicFramePr>
        <p:xfrm>
          <a:off x="2971800" y="3178176"/>
          <a:ext cx="5029200" cy="3076575"/>
        </p:xfrm>
        <a:graphic>
          <a:graphicData uri="http://schemas.openxmlformats.org/presentationml/2006/ole">
            <mc:AlternateContent xmlns:mc="http://schemas.openxmlformats.org/markup-compatibility/2006">
              <mc:Choice xmlns:v="urn:schemas-microsoft-com:vml" Requires="v">
                <p:oleObj spid="_x0000_s11293" r:id="rId5" imgW="3555283" imgH="2079743" progId="Visio.Drawing.11">
                  <p:embed/>
                </p:oleObj>
              </mc:Choice>
              <mc:Fallback>
                <p:oleObj r:id="rId5" imgW="3555283" imgH="2079743" progId="Visio.Drawing.11">
                  <p:embed/>
                  <p:pic>
                    <p:nvPicPr>
                      <p:cNvPr id="94214"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3178176"/>
                        <a:ext cx="5029200" cy="307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1587105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3"/>
          <p:cNvSpPr>
            <a:spLocks noGrp="1" noChangeArrowheads="1"/>
          </p:cNvSpPr>
          <p:nvPr>
            <p:ph type="body" idx="1"/>
          </p:nvPr>
        </p:nvSpPr>
        <p:spPr>
          <a:xfrm>
            <a:off x="650929" y="609601"/>
            <a:ext cx="11127783" cy="5745163"/>
          </a:xfrm>
        </p:spPr>
        <p:txBody>
          <a:bodyPr/>
          <a:lstStyle/>
          <a:p>
            <a:pPr>
              <a:lnSpc>
                <a:spcPct val="80000"/>
              </a:lnSpc>
              <a:buFontTx/>
              <a:buNone/>
            </a:pPr>
            <a:r>
              <a:rPr lang="id-ID" altLang="en-US" sz="2200" b="1" u="sng" dirty="0"/>
              <a:t>2.2 D-MOSFET</a:t>
            </a:r>
            <a:endParaRPr lang="id-ID" altLang="en-US" sz="2200" dirty="0"/>
          </a:p>
          <a:p>
            <a:pPr algn="just">
              <a:lnSpc>
                <a:spcPct val="80000"/>
              </a:lnSpc>
            </a:pPr>
            <a:r>
              <a:rPr lang="id-ID" altLang="en-US" sz="2400" dirty="0"/>
              <a:t>D-MOSFET dapat bekerja dalam mode deplesi dan mode enhancement. Jika bekerja pada mode deplesi, karakteristik D-MOSFET sama dengan JFET. Gambar 13 menunjukkan operasi D-MOSFET dengan kontruksi D-MOSFET yang disederhanakan.</a:t>
            </a:r>
          </a:p>
          <a:p>
            <a:pPr algn="just">
              <a:lnSpc>
                <a:spcPct val="80000"/>
              </a:lnSpc>
            </a:pPr>
            <a:r>
              <a:rPr lang="id-ID" altLang="en-US" sz="2400" dirty="0"/>
              <a:t>Gambar 13a menunjukkan operasi D-MOSFET, jika VGS = 0 V (gate dan source dihubung singkat), maka nilai  ID = IDSS.  Jika VGS negatif (Gambar 13b), maka diinduksikan muatan positif ke dalam kanal tipe n melewati SiO2 dari kapasitor gate.  Karena arus yang melewati kanal adalah pembawa mayoritas (elektron untuk bahan tipe n), muatan positif induksi ini akan berekombinasi dengan pembawa mayoritas sehingga pembawa mayoritas berkurang.  Hal ini menyebabkan lebar kanal berkurang dan resistans kanal bertambah.  Hal itu memperlihatkan keadaan operasi mode deplesi dari JFET.  Daerah deplesi terletak di tepi kanal dekat lapisan isolasi SiO2 .  Karena itu nilai ID akan lebih kecil daripada IDSS.</a:t>
            </a:r>
            <a:endParaRPr lang="en-US" altLang="en-US" sz="2400" dirty="0"/>
          </a:p>
        </p:txBody>
      </p:sp>
    </p:spTree>
    <p:extLst>
      <p:ext uri="{BB962C8B-B14F-4D97-AF65-F5344CB8AC3E}">
        <p14:creationId xmlns:p14="http://schemas.microsoft.com/office/powerpoint/2010/main" val="398374518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1" name="Rectangle 5"/>
          <p:cNvSpPr>
            <a:spLocks noChangeArrowheads="1"/>
          </p:cNvSpPr>
          <p:nvPr/>
        </p:nvSpPr>
        <p:spPr bwMode="auto">
          <a:xfrm>
            <a:off x="1524001" y="19155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96260" name="Object 4"/>
          <p:cNvGraphicFramePr>
            <a:graphicFrameLocks noChangeAspect="1"/>
          </p:cNvGraphicFramePr>
          <p:nvPr/>
        </p:nvGraphicFramePr>
        <p:xfrm>
          <a:off x="2743200" y="304801"/>
          <a:ext cx="5943600" cy="2955925"/>
        </p:xfrm>
        <a:graphic>
          <a:graphicData uri="http://schemas.openxmlformats.org/presentationml/2006/ole">
            <mc:AlternateContent xmlns:mc="http://schemas.openxmlformats.org/markup-compatibility/2006">
              <mc:Choice xmlns:v="urn:schemas-microsoft-com:vml" Requires="v">
                <p:oleObj spid="_x0000_s12329" r:id="rId3" imgW="5344399" imgH="2654463" progId="Visio.Drawing.11">
                  <p:embed/>
                </p:oleObj>
              </mc:Choice>
              <mc:Fallback>
                <p:oleObj r:id="rId3" imgW="5344399" imgH="2654463" progId="Visio.Drawing.11">
                  <p:embed/>
                  <p:pic>
                    <p:nvPicPr>
                      <p:cNvPr id="9626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304801"/>
                        <a:ext cx="5943600" cy="2955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6263" name="Rectangle 7"/>
          <p:cNvSpPr>
            <a:spLocks noChangeArrowheads="1"/>
          </p:cNvSpPr>
          <p:nvPr/>
        </p:nvSpPr>
        <p:spPr bwMode="auto">
          <a:xfrm>
            <a:off x="1524001" y="19060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96262" name="Object 6"/>
          <p:cNvGraphicFramePr>
            <a:graphicFrameLocks noChangeAspect="1"/>
          </p:cNvGraphicFramePr>
          <p:nvPr/>
        </p:nvGraphicFramePr>
        <p:xfrm>
          <a:off x="2514600" y="3657601"/>
          <a:ext cx="2724150" cy="2752725"/>
        </p:xfrm>
        <a:graphic>
          <a:graphicData uri="http://schemas.openxmlformats.org/presentationml/2006/ole">
            <mc:AlternateContent xmlns:mc="http://schemas.openxmlformats.org/markup-compatibility/2006">
              <mc:Choice xmlns:v="urn:schemas-microsoft-com:vml" Requires="v">
                <p:oleObj spid="_x0000_s12330" r:id="rId5" imgW="2649728" imgH="2677681" progId="Visio.Drawing.11">
                  <p:embed/>
                </p:oleObj>
              </mc:Choice>
              <mc:Fallback>
                <p:oleObj r:id="rId5" imgW="2649728" imgH="2677681" progId="Visio.Drawing.11">
                  <p:embed/>
                  <p:pic>
                    <p:nvPicPr>
                      <p:cNvPr id="9626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3657601"/>
                        <a:ext cx="2724150" cy="2752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6265" name="Rectangle 9"/>
          <p:cNvSpPr>
            <a:spLocks noChangeArrowheads="1"/>
          </p:cNvSpPr>
          <p:nvPr/>
        </p:nvSpPr>
        <p:spPr bwMode="auto">
          <a:xfrm>
            <a:off x="1524001" y="20156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96264" name="Object 8"/>
          <p:cNvGraphicFramePr>
            <a:graphicFrameLocks noChangeAspect="1"/>
          </p:cNvGraphicFramePr>
          <p:nvPr/>
        </p:nvGraphicFramePr>
        <p:xfrm>
          <a:off x="6096000" y="3563938"/>
          <a:ext cx="3276600" cy="2855912"/>
        </p:xfrm>
        <a:graphic>
          <a:graphicData uri="http://schemas.openxmlformats.org/presentationml/2006/ole">
            <mc:AlternateContent xmlns:mc="http://schemas.openxmlformats.org/markup-compatibility/2006">
              <mc:Choice xmlns:v="urn:schemas-microsoft-com:vml" Requires="v">
                <p:oleObj spid="_x0000_s12331" r:id="rId7" imgW="2818790" imgH="2459126" progId="Visio.Drawing.11">
                  <p:embed/>
                </p:oleObj>
              </mc:Choice>
              <mc:Fallback>
                <p:oleObj r:id="rId7" imgW="2818790" imgH="2459126" progId="Visio.Drawing.11">
                  <p:embed/>
                  <p:pic>
                    <p:nvPicPr>
                      <p:cNvPr id="96264"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0" y="3563938"/>
                        <a:ext cx="3276600" cy="2855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6885022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3"/>
          <p:cNvSpPr>
            <a:spLocks noGrp="1" noChangeArrowheads="1"/>
          </p:cNvSpPr>
          <p:nvPr>
            <p:ph type="body" idx="1"/>
          </p:nvPr>
        </p:nvSpPr>
        <p:spPr>
          <a:xfrm>
            <a:off x="619931" y="838201"/>
            <a:ext cx="11096787" cy="4525963"/>
          </a:xfrm>
        </p:spPr>
        <p:txBody>
          <a:bodyPr>
            <a:normAutofit/>
          </a:bodyPr>
          <a:lstStyle/>
          <a:p>
            <a:pPr>
              <a:lnSpc>
                <a:spcPct val="80000"/>
              </a:lnSpc>
            </a:pPr>
            <a:r>
              <a:rPr lang="id-ID" altLang="en-US" dirty="0"/>
              <a:t>Jika VGS positif (Gambar 13c), maka akan diinduksikan muatan negatif.  Karena itu konduktifitas kanal bertambah (resistans kanal berkurang) dan nilai ID lebih besar daripada IDSS.  Mode operasi ini disebut </a:t>
            </a:r>
            <a:r>
              <a:rPr lang="id-ID" altLang="en-US" i="1" dirty="0"/>
              <a:t>mode enhancement</a:t>
            </a:r>
            <a:r>
              <a:rPr lang="id-ID" altLang="en-US" dirty="0"/>
              <a:t> (peningkatan) yang tidak terdapat pada JFET. Jika VGS positif lubang – lubang pada substrate tipe p ditolak; sementara itu, elektron – elektron bidang konduksi sebagai pembawa minoritas di substrate ditarik ke kanal sehingga lebar kanal menjadi besar dan ID &gt;&gt;IDSS.</a:t>
            </a:r>
          </a:p>
          <a:p>
            <a:pPr>
              <a:lnSpc>
                <a:spcPct val="80000"/>
              </a:lnSpc>
            </a:pPr>
            <a:r>
              <a:rPr lang="id-ID" altLang="en-US" dirty="0"/>
              <a:t>Kur</a:t>
            </a:r>
            <a:r>
              <a:rPr lang="en-US" altLang="en-US" dirty="0"/>
              <a:t>v</a:t>
            </a:r>
            <a:r>
              <a:rPr lang="id-ID" altLang="en-US" dirty="0"/>
              <a:t>a transikonduktans D-MOSFET terlihat pada Gambar 13d. pada gambar ini terlihat jika GS negatif maka ID&lt;IDS. Jika VGS = 0, maka ID = IDSS, dan jika VGS positif maka ID&gt;IDSS. </a:t>
            </a:r>
            <a:endParaRPr lang="en-US" altLang="en-US" dirty="0"/>
          </a:p>
        </p:txBody>
      </p:sp>
    </p:spTree>
    <p:extLst>
      <p:ext uri="{BB962C8B-B14F-4D97-AF65-F5344CB8AC3E}">
        <p14:creationId xmlns:p14="http://schemas.microsoft.com/office/powerpoint/2010/main" val="45959610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3"/>
          <p:cNvSpPr>
            <a:spLocks noGrp="1" noChangeArrowheads="1"/>
          </p:cNvSpPr>
          <p:nvPr>
            <p:ph type="body" idx="1"/>
          </p:nvPr>
        </p:nvSpPr>
        <p:spPr>
          <a:xfrm>
            <a:off x="666427" y="457200"/>
            <a:ext cx="10910807" cy="6096000"/>
          </a:xfrm>
        </p:spPr>
        <p:txBody>
          <a:bodyPr>
            <a:normAutofit/>
          </a:bodyPr>
          <a:lstStyle/>
          <a:p>
            <a:pPr>
              <a:lnSpc>
                <a:spcPct val="90000"/>
              </a:lnSpc>
            </a:pPr>
            <a:r>
              <a:rPr lang="id-ID" altLang="en-US" sz="2400" dirty="0"/>
              <a:t>Persamaan transkonduktans D-MOSFET adalah sama dengan JFET yaitu :</a:t>
            </a:r>
          </a:p>
          <a:p>
            <a:pPr>
              <a:lnSpc>
                <a:spcPct val="90000"/>
              </a:lnSpc>
              <a:buFontTx/>
              <a:buNone/>
            </a:pPr>
            <a:r>
              <a:rPr lang="en-US" altLang="en-US" sz="2400" dirty="0"/>
              <a:t>		</a:t>
            </a:r>
            <a:r>
              <a:rPr lang="id-ID" altLang="en-US" sz="2400" dirty="0"/>
              <a:t>ID = IDSS</a:t>
            </a:r>
            <a:r>
              <a:rPr lang="en-US" altLang="en-US" sz="2400" dirty="0"/>
              <a:t> </a:t>
            </a:r>
            <a:r>
              <a:rPr lang="id-ID" altLang="en-US" sz="2400" u="sng" dirty="0"/>
              <a:t>(1 -   VGS   )</a:t>
            </a:r>
            <a:r>
              <a:rPr lang="id-ID" altLang="en-US" sz="2400" dirty="0"/>
              <a:t>			</a:t>
            </a:r>
            <a:r>
              <a:rPr lang="en-US" altLang="en-US" sz="2400" dirty="0"/>
              <a:t>	</a:t>
            </a:r>
            <a:r>
              <a:rPr lang="en-US" altLang="en-US" sz="2400" dirty="0" smtClean="0"/>
              <a:t>           </a:t>
            </a:r>
            <a:r>
              <a:rPr lang="id-ID" altLang="en-US" sz="2400" dirty="0" smtClean="0"/>
              <a:t>(</a:t>
            </a:r>
            <a:r>
              <a:rPr lang="id-ID" altLang="en-US" sz="2400" dirty="0"/>
              <a:t>16)</a:t>
            </a:r>
          </a:p>
          <a:p>
            <a:pPr>
              <a:lnSpc>
                <a:spcPct val="90000"/>
              </a:lnSpc>
              <a:buFontTx/>
              <a:buNone/>
            </a:pPr>
            <a:r>
              <a:rPr lang="en-US" altLang="en-US" sz="2400" dirty="0"/>
              <a:t>	</a:t>
            </a:r>
            <a:r>
              <a:rPr lang="id-ID" altLang="en-US" sz="2400" dirty="0"/>
              <a:t>		         VGS(off)</a:t>
            </a:r>
          </a:p>
          <a:p>
            <a:pPr>
              <a:lnSpc>
                <a:spcPct val="90000"/>
              </a:lnSpc>
            </a:pPr>
            <a:r>
              <a:rPr lang="id-ID" altLang="en-US" sz="2400" dirty="0"/>
              <a:t>Kurva drain suatu MOSFET terlihat pada gambar </a:t>
            </a:r>
            <a:r>
              <a:rPr lang="en-US" altLang="en-US" sz="2400" dirty="0"/>
              <a:t>1</a:t>
            </a:r>
            <a:r>
              <a:rPr lang="id-ID" altLang="en-US" sz="2400" dirty="0"/>
              <a:t>4a. pada gambar 14a. pada kurva tersebut dapat dibuat garis beban dc. Persamaan garis beban unuk untai drain yang terdapat drain RD adalah :</a:t>
            </a:r>
          </a:p>
          <a:p>
            <a:pPr>
              <a:lnSpc>
                <a:spcPct val="90000"/>
              </a:lnSpc>
              <a:buFontTx/>
              <a:buNone/>
            </a:pPr>
            <a:r>
              <a:rPr lang="en-US" altLang="en-US" sz="2400" dirty="0"/>
              <a:t>		</a:t>
            </a:r>
            <a:r>
              <a:rPr lang="id-ID" altLang="en-US" sz="2400" dirty="0"/>
              <a:t>VDS = VDD – IDRD			</a:t>
            </a:r>
            <a:r>
              <a:rPr lang="en-US" altLang="en-US" sz="2400" dirty="0"/>
              <a:t>		</a:t>
            </a:r>
            <a:r>
              <a:rPr lang="id-ID" altLang="en-US" sz="2400" dirty="0"/>
              <a:t>(17)</a:t>
            </a:r>
          </a:p>
          <a:p>
            <a:pPr>
              <a:lnSpc>
                <a:spcPct val="90000"/>
              </a:lnSpc>
            </a:pPr>
            <a:r>
              <a:rPr lang="id-ID" altLang="en-US" sz="2400" dirty="0"/>
              <a:t>Nilai arus drain saturasu (jenuh) yang ideal diperoleh jika VDS = 0 yaitu :</a:t>
            </a:r>
          </a:p>
          <a:p>
            <a:pPr>
              <a:lnSpc>
                <a:spcPct val="90000"/>
              </a:lnSpc>
              <a:buFontTx/>
              <a:buNone/>
            </a:pPr>
            <a:r>
              <a:rPr lang="en-US" altLang="en-US" sz="2400" dirty="0"/>
              <a:t>		</a:t>
            </a:r>
            <a:r>
              <a:rPr lang="id-ID" altLang="en-US" sz="2400" dirty="0"/>
              <a:t>ID(sat) = </a:t>
            </a:r>
            <a:r>
              <a:rPr lang="id-ID" altLang="en-US" sz="2400" u="sng" dirty="0"/>
              <a:t>VDD</a:t>
            </a:r>
            <a:r>
              <a:rPr lang="id-ID" altLang="en-US" sz="2400" dirty="0"/>
              <a:t>			</a:t>
            </a:r>
            <a:r>
              <a:rPr lang="en-US" altLang="en-US" sz="2400" dirty="0"/>
              <a:t>		</a:t>
            </a:r>
            <a:r>
              <a:rPr lang="en-US" altLang="en-US" sz="2400" dirty="0" smtClean="0"/>
              <a:t>             </a:t>
            </a:r>
            <a:r>
              <a:rPr lang="id-ID" altLang="en-US" sz="2400" dirty="0" smtClean="0"/>
              <a:t>(</a:t>
            </a:r>
            <a:r>
              <a:rPr lang="id-ID" altLang="en-US" sz="2400" dirty="0"/>
              <a:t>18)</a:t>
            </a:r>
          </a:p>
          <a:p>
            <a:pPr>
              <a:lnSpc>
                <a:spcPct val="90000"/>
              </a:lnSpc>
              <a:buFontTx/>
              <a:buNone/>
            </a:pPr>
            <a:r>
              <a:rPr lang="en-US" altLang="en-US" sz="2400" dirty="0"/>
              <a:t>		</a:t>
            </a:r>
            <a:r>
              <a:rPr lang="id-ID" altLang="en-US" sz="2400" dirty="0"/>
              <a:t>	    RD </a:t>
            </a:r>
            <a:endParaRPr lang="en-US" altLang="en-US" sz="2400" dirty="0"/>
          </a:p>
          <a:p>
            <a:pPr>
              <a:lnSpc>
                <a:spcPct val="90000"/>
              </a:lnSpc>
            </a:pPr>
            <a:r>
              <a:rPr lang="id-ID" altLang="en-US" sz="2400" dirty="0"/>
              <a:t>Nilai tegangan drain–source off ideal adalah jika ID=0 yaitu </a:t>
            </a:r>
          </a:p>
          <a:p>
            <a:pPr>
              <a:lnSpc>
                <a:spcPct val="90000"/>
              </a:lnSpc>
              <a:buFontTx/>
              <a:buNone/>
            </a:pPr>
            <a:r>
              <a:rPr lang="en-US" altLang="en-US" sz="2400" dirty="0"/>
              <a:t>		</a:t>
            </a:r>
            <a:r>
              <a:rPr lang="id-ID" altLang="en-US" sz="2400" dirty="0"/>
              <a:t>VDS(off) = VDD				</a:t>
            </a:r>
            <a:r>
              <a:rPr lang="en-US" altLang="en-US" sz="2400" dirty="0"/>
              <a:t>	</a:t>
            </a:r>
            <a:r>
              <a:rPr lang="id-ID" altLang="en-US" sz="2400" dirty="0"/>
              <a:t>(19)</a:t>
            </a:r>
            <a:endParaRPr lang="en-US" altLang="en-US" sz="2400" dirty="0"/>
          </a:p>
        </p:txBody>
      </p:sp>
    </p:spTree>
    <p:extLst>
      <p:ext uri="{BB962C8B-B14F-4D97-AF65-F5344CB8AC3E}">
        <p14:creationId xmlns:p14="http://schemas.microsoft.com/office/powerpoint/2010/main" val="7395434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3"/>
          <p:cNvSpPr>
            <a:spLocks noGrp="1" noChangeArrowheads="1"/>
          </p:cNvSpPr>
          <p:nvPr>
            <p:ph type="body" idx="1"/>
          </p:nvPr>
        </p:nvSpPr>
        <p:spPr>
          <a:xfrm>
            <a:off x="588936" y="609600"/>
            <a:ext cx="11174278" cy="1143000"/>
          </a:xfrm>
        </p:spPr>
        <p:txBody>
          <a:bodyPr/>
          <a:lstStyle/>
          <a:p>
            <a:r>
              <a:rPr lang="id-ID" altLang="en-US" sz="2400" dirty="0"/>
              <a:t>Gambar 14.b menunjukan perbedaan antara nilai aktual dan ideal dari I</a:t>
            </a:r>
            <a:r>
              <a:rPr lang="id-ID" altLang="en-US" sz="1400" dirty="0"/>
              <a:t>D(sat)</a:t>
            </a:r>
            <a:r>
              <a:rPr lang="id-ID" altLang="en-US" sz="2400" dirty="0"/>
              <a:t> dan V</a:t>
            </a:r>
            <a:r>
              <a:rPr lang="id-ID" altLang="en-US" sz="1400" dirty="0"/>
              <a:t>DS(off)</a:t>
            </a:r>
            <a:r>
              <a:rPr lang="id-ID" altLang="en-US" sz="2400" dirty="0"/>
              <a:t>.</a:t>
            </a:r>
            <a:endParaRPr lang="en-US" altLang="en-US" sz="2400" dirty="0"/>
          </a:p>
        </p:txBody>
      </p:sp>
      <p:sp>
        <p:nvSpPr>
          <p:cNvPr id="99333" name="Rectangle 5"/>
          <p:cNvSpPr>
            <a:spLocks noChangeArrowheads="1"/>
          </p:cNvSpPr>
          <p:nvPr/>
        </p:nvSpPr>
        <p:spPr bwMode="auto">
          <a:xfrm>
            <a:off x="1524001" y="20870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99332" name="Object 4"/>
          <p:cNvGraphicFramePr>
            <a:graphicFrameLocks noChangeAspect="1"/>
          </p:cNvGraphicFramePr>
          <p:nvPr>
            <p:extLst>
              <p:ext uri="{D42A27DB-BD31-4B8C-83A1-F6EECF244321}">
                <p14:modId xmlns:p14="http://schemas.microsoft.com/office/powerpoint/2010/main" val="3795151834"/>
              </p:ext>
            </p:extLst>
          </p:nvPr>
        </p:nvGraphicFramePr>
        <p:xfrm>
          <a:off x="814953" y="1712913"/>
          <a:ext cx="4038600" cy="2441575"/>
        </p:xfrm>
        <a:graphic>
          <a:graphicData uri="http://schemas.openxmlformats.org/presentationml/2006/ole">
            <mc:AlternateContent xmlns:mc="http://schemas.openxmlformats.org/markup-compatibility/2006">
              <mc:Choice xmlns:v="urn:schemas-microsoft-com:vml" Requires="v">
                <p:oleObj spid="_x0000_s13340" r:id="rId3" imgW="3826764" imgH="2314956" progId="Visio.Drawing.11">
                  <p:embed/>
                </p:oleObj>
              </mc:Choice>
              <mc:Fallback>
                <p:oleObj r:id="rId3" imgW="3826764" imgH="2314956" progId="Visio.Drawing.11">
                  <p:embed/>
                  <p:pic>
                    <p:nvPicPr>
                      <p:cNvPr id="9933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953" y="1712913"/>
                        <a:ext cx="4038600" cy="2441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335" name="Rectangle 7"/>
          <p:cNvSpPr>
            <a:spLocks noChangeArrowheads="1"/>
          </p:cNvSpPr>
          <p:nvPr/>
        </p:nvSpPr>
        <p:spPr bwMode="auto">
          <a:xfrm>
            <a:off x="1524001" y="20632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99334" name="Object 6"/>
          <p:cNvGraphicFramePr>
            <a:graphicFrameLocks noChangeAspect="1"/>
          </p:cNvGraphicFramePr>
          <p:nvPr>
            <p:extLst>
              <p:ext uri="{D42A27DB-BD31-4B8C-83A1-F6EECF244321}">
                <p14:modId xmlns:p14="http://schemas.microsoft.com/office/powerpoint/2010/main" val="4217978729"/>
              </p:ext>
            </p:extLst>
          </p:nvPr>
        </p:nvGraphicFramePr>
        <p:xfrm>
          <a:off x="5562601" y="1656557"/>
          <a:ext cx="4267200" cy="2593975"/>
        </p:xfrm>
        <a:graphic>
          <a:graphicData uri="http://schemas.openxmlformats.org/presentationml/2006/ole">
            <mc:AlternateContent xmlns:mc="http://schemas.openxmlformats.org/markup-compatibility/2006">
              <mc:Choice xmlns:v="urn:schemas-microsoft-com:vml" Requires="v">
                <p:oleObj spid="_x0000_s13341" r:id="rId5" imgW="3882847" imgH="2363419" progId="Visio.Drawing.11">
                  <p:embed/>
                </p:oleObj>
              </mc:Choice>
              <mc:Fallback>
                <p:oleObj r:id="rId5" imgW="3882847" imgH="2363419" progId="Visio.Drawing.11">
                  <p:embed/>
                  <p:pic>
                    <p:nvPicPr>
                      <p:cNvPr id="99334"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62601" y="1656557"/>
                        <a:ext cx="4267200" cy="2593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5495799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3"/>
          <p:cNvSpPr>
            <a:spLocks noGrp="1" noChangeArrowheads="1"/>
          </p:cNvSpPr>
          <p:nvPr>
            <p:ph type="body" idx="1"/>
          </p:nvPr>
        </p:nvSpPr>
        <p:spPr>
          <a:xfrm>
            <a:off x="743919" y="381000"/>
            <a:ext cx="11034793" cy="3352800"/>
          </a:xfrm>
        </p:spPr>
        <p:txBody>
          <a:bodyPr/>
          <a:lstStyle/>
          <a:p>
            <a:pPr>
              <a:buFontTx/>
              <a:buNone/>
            </a:pPr>
            <a:r>
              <a:rPr lang="id-ID" altLang="en-US" sz="2400" b="1" u="sng" dirty="0"/>
              <a:t>Untai Prasikap Untuk D-MOSFET</a:t>
            </a:r>
            <a:endParaRPr lang="id-ID" altLang="en-US" sz="2400" dirty="0"/>
          </a:p>
          <a:p>
            <a:r>
              <a:rPr lang="id-ID" altLang="en-US" sz="2400" dirty="0"/>
              <a:t>Untai prasikap untuk D-MOSFET sama seperti JFET yaitu prasikap gate, prasikap diri, dan prasikap tegangan. Karena D-MOSFET tidak memerlukan GS negatif maka metode umum untuk memberi prasikap D-MOSFET adalah dengan membuat V</a:t>
            </a:r>
            <a:r>
              <a:rPr lang="id-ID" altLang="en-US" sz="1400" dirty="0"/>
              <a:t>GS</a:t>
            </a:r>
            <a:r>
              <a:rPr lang="id-ID" altLang="en-US" sz="2400" dirty="0"/>
              <a:t> = 0. konfigurasi untai prasikap seperti ini disebut prasikap zero (nol) seperti terlihat pada gambar 15.</a:t>
            </a:r>
            <a:endParaRPr lang="en-US" altLang="en-US" sz="2400" dirty="0"/>
          </a:p>
        </p:txBody>
      </p:sp>
      <p:sp>
        <p:nvSpPr>
          <p:cNvPr id="100357" name="Rectangle 5"/>
          <p:cNvSpPr>
            <a:spLocks noChangeArrowheads="1"/>
          </p:cNvSpPr>
          <p:nvPr/>
        </p:nvSpPr>
        <p:spPr bwMode="auto">
          <a:xfrm>
            <a:off x="1524001" y="20537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00356" name="Object 4"/>
          <p:cNvGraphicFramePr>
            <a:graphicFrameLocks noChangeAspect="1"/>
          </p:cNvGraphicFramePr>
          <p:nvPr/>
        </p:nvGraphicFramePr>
        <p:xfrm>
          <a:off x="2549526" y="3562350"/>
          <a:ext cx="2582863" cy="2990850"/>
        </p:xfrm>
        <a:graphic>
          <a:graphicData uri="http://schemas.openxmlformats.org/presentationml/2006/ole">
            <mc:AlternateContent xmlns:mc="http://schemas.openxmlformats.org/markup-compatibility/2006">
              <mc:Choice xmlns:v="urn:schemas-microsoft-com:vml" Requires="v">
                <p:oleObj spid="_x0000_s14364" r:id="rId3" imgW="2055906" imgH="2384437" progId="Visio.Drawing.11">
                  <p:embed/>
                </p:oleObj>
              </mc:Choice>
              <mc:Fallback>
                <p:oleObj r:id="rId3" imgW="2055906" imgH="2384437" progId="Visio.Drawing.11">
                  <p:embed/>
                  <p:pic>
                    <p:nvPicPr>
                      <p:cNvPr id="10035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9526" y="3562350"/>
                        <a:ext cx="2582863" cy="2990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0359" name="Rectangle 7"/>
          <p:cNvSpPr>
            <a:spLocks noChangeArrowheads="1"/>
          </p:cNvSpPr>
          <p:nvPr/>
        </p:nvSpPr>
        <p:spPr bwMode="auto">
          <a:xfrm>
            <a:off x="1524001" y="20156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00358" name="Object 6"/>
          <p:cNvGraphicFramePr>
            <a:graphicFrameLocks noChangeAspect="1"/>
          </p:cNvGraphicFramePr>
          <p:nvPr/>
        </p:nvGraphicFramePr>
        <p:xfrm>
          <a:off x="6172200" y="3468688"/>
          <a:ext cx="3352800" cy="2921000"/>
        </p:xfrm>
        <a:graphic>
          <a:graphicData uri="http://schemas.openxmlformats.org/presentationml/2006/ole">
            <mc:AlternateContent xmlns:mc="http://schemas.openxmlformats.org/markup-compatibility/2006">
              <mc:Choice xmlns:v="urn:schemas-microsoft-com:vml" Requires="v">
                <p:oleObj spid="_x0000_s14365" r:id="rId5" imgW="2818790" imgH="2459126" progId="Visio.Drawing.11">
                  <p:embed/>
                </p:oleObj>
              </mc:Choice>
              <mc:Fallback>
                <p:oleObj r:id="rId5" imgW="2818790" imgH="2459126" progId="Visio.Drawing.11">
                  <p:embed/>
                  <p:pic>
                    <p:nvPicPr>
                      <p:cNvPr id="100358"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72200" y="3468688"/>
                        <a:ext cx="3352800" cy="292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9317612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3"/>
          <p:cNvSpPr>
            <a:spLocks noGrp="1" noChangeArrowheads="1"/>
          </p:cNvSpPr>
          <p:nvPr>
            <p:ph type="body" idx="1"/>
          </p:nvPr>
        </p:nvSpPr>
        <p:spPr>
          <a:xfrm>
            <a:off x="666427" y="609601"/>
            <a:ext cx="10864312" cy="4525963"/>
          </a:xfrm>
        </p:spPr>
        <p:txBody>
          <a:bodyPr/>
          <a:lstStyle/>
          <a:p>
            <a:pPr algn="just">
              <a:lnSpc>
                <a:spcPct val="90000"/>
              </a:lnSpc>
            </a:pPr>
            <a:r>
              <a:rPr lang="id-ID" altLang="en-US" sz="2400" dirty="0"/>
              <a:t>Nilai R</a:t>
            </a:r>
            <a:r>
              <a:rPr lang="id-ID" altLang="en-US" sz="1400" dirty="0"/>
              <a:t>D </a:t>
            </a:r>
            <a:r>
              <a:rPr lang="id-ID" altLang="en-US" sz="2400" dirty="0"/>
              <a:t>dipilih agar V</a:t>
            </a:r>
            <a:r>
              <a:rPr lang="id-ID" altLang="en-US" sz="1400" dirty="0"/>
              <a:t>DS</a:t>
            </a:r>
            <a:r>
              <a:rPr lang="id-ID" altLang="en-US" sz="2400" dirty="0"/>
              <a:t> = 0,5 V</a:t>
            </a:r>
            <a:r>
              <a:rPr lang="id-ID" altLang="en-US" sz="1400" dirty="0"/>
              <a:t>DD</a:t>
            </a:r>
          </a:p>
          <a:p>
            <a:pPr algn="just">
              <a:lnSpc>
                <a:spcPct val="90000"/>
              </a:lnSpc>
            </a:pPr>
            <a:r>
              <a:rPr lang="id-ID" altLang="en-US" sz="2400" dirty="0"/>
              <a:t>Maka R</a:t>
            </a:r>
            <a:r>
              <a:rPr lang="id-ID" altLang="en-US" sz="1400" dirty="0"/>
              <a:t>D</a:t>
            </a:r>
            <a:r>
              <a:rPr lang="id-ID" altLang="en-US" sz="2400" dirty="0"/>
              <a:t> = </a:t>
            </a:r>
            <a:r>
              <a:rPr lang="id-ID" altLang="en-US" sz="2400" u="sng" dirty="0"/>
              <a:t>V</a:t>
            </a:r>
            <a:r>
              <a:rPr lang="id-ID" altLang="en-US" sz="1400" u="sng" dirty="0"/>
              <a:t>DD </a:t>
            </a:r>
            <a:r>
              <a:rPr lang="id-ID" altLang="en-US" sz="2400" u="sng" dirty="0"/>
              <a:t>– V</a:t>
            </a:r>
            <a:r>
              <a:rPr lang="id-ID" altLang="en-US" sz="1400" u="sng" dirty="0"/>
              <a:t>DS</a:t>
            </a:r>
            <a:r>
              <a:rPr lang="id-ID" altLang="en-US" sz="2400" u="sng" dirty="0"/>
              <a:t> </a:t>
            </a:r>
            <a:r>
              <a:rPr lang="id-ID" altLang="en-US" sz="2400" dirty="0"/>
              <a:t>  =    </a:t>
            </a:r>
            <a:r>
              <a:rPr lang="id-ID" altLang="en-US" sz="2400" u="sng" dirty="0"/>
              <a:t>0,5 V</a:t>
            </a:r>
            <a:r>
              <a:rPr lang="id-ID" altLang="en-US" sz="1400" u="sng" dirty="0"/>
              <a:t>DD</a:t>
            </a:r>
            <a:endParaRPr lang="id-ID" altLang="en-US" sz="1400" dirty="0"/>
          </a:p>
          <a:p>
            <a:pPr algn="just">
              <a:lnSpc>
                <a:spcPct val="90000"/>
              </a:lnSpc>
              <a:buFontTx/>
              <a:buNone/>
            </a:pPr>
            <a:r>
              <a:rPr lang="en-US" altLang="en-US" sz="2400" dirty="0"/>
              <a:t>	</a:t>
            </a:r>
            <a:r>
              <a:rPr lang="id-ID" altLang="en-US" sz="2400" dirty="0"/>
              <a:t>                        I</a:t>
            </a:r>
            <a:r>
              <a:rPr lang="id-ID" altLang="en-US" sz="1400" dirty="0"/>
              <a:t>DQ </a:t>
            </a:r>
            <a:r>
              <a:rPr lang="id-ID" altLang="en-US" sz="2400" dirty="0"/>
              <a:t>                  I</a:t>
            </a:r>
            <a:r>
              <a:rPr lang="id-ID" altLang="en-US" sz="1400" dirty="0"/>
              <a:t>DQ</a:t>
            </a:r>
          </a:p>
          <a:p>
            <a:pPr algn="just">
              <a:lnSpc>
                <a:spcPct val="90000"/>
              </a:lnSpc>
              <a:buFontTx/>
              <a:buNone/>
            </a:pPr>
            <a:r>
              <a:rPr lang="en-US" altLang="en-US" sz="2400" dirty="0"/>
              <a:t>	</a:t>
            </a:r>
            <a:r>
              <a:rPr lang="id-ID" altLang="en-US" sz="2400" dirty="0"/>
              <a:t>Dengan I</a:t>
            </a:r>
            <a:r>
              <a:rPr lang="id-ID" altLang="en-US" sz="1400" dirty="0"/>
              <a:t>DQ</a:t>
            </a:r>
            <a:r>
              <a:rPr lang="id-ID" altLang="en-US" sz="2400" dirty="0"/>
              <a:t>  =  I</a:t>
            </a:r>
            <a:r>
              <a:rPr lang="id-ID" altLang="en-US" sz="1400" dirty="0"/>
              <a:t>DSS</a:t>
            </a:r>
          </a:p>
          <a:p>
            <a:pPr algn="just">
              <a:lnSpc>
                <a:spcPct val="90000"/>
              </a:lnSpc>
            </a:pPr>
            <a:r>
              <a:rPr lang="id-ID" altLang="en-US" sz="2400" dirty="0"/>
              <a:t>Keuntungan D-MOSFET dibandingkan JFET adalah bahwa D-MOSFET dapat beroperasi pada mode deplesi dan </a:t>
            </a:r>
            <a:r>
              <a:rPr lang="id-ID" altLang="en-US" sz="2400" i="1" dirty="0"/>
              <a:t>enhancement;</a:t>
            </a:r>
            <a:r>
              <a:rPr lang="id-ID" altLang="en-US" sz="2400" dirty="0"/>
              <a:t>sedangkan JFET hanya mode deplesi saja.  Impedans masukan D-MOSFET lebih tinggi dibandingkan JFET. Namun kekurangan D-MOSFET adalah lebih peka terhadap suhu dan perlu kecermatan dalam menanganinya.</a:t>
            </a:r>
            <a:endParaRPr lang="en-US" altLang="en-US" sz="2400" dirty="0"/>
          </a:p>
        </p:txBody>
      </p:sp>
    </p:spTree>
    <p:extLst>
      <p:ext uri="{BB962C8B-B14F-4D97-AF65-F5344CB8AC3E}">
        <p14:creationId xmlns:p14="http://schemas.microsoft.com/office/powerpoint/2010/main" val="351150702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3"/>
          <p:cNvSpPr>
            <a:spLocks noGrp="1" noChangeArrowheads="1"/>
          </p:cNvSpPr>
          <p:nvPr>
            <p:ph type="body" idx="1"/>
          </p:nvPr>
        </p:nvSpPr>
        <p:spPr>
          <a:xfrm>
            <a:off x="433953" y="533400"/>
            <a:ext cx="11112284" cy="1905000"/>
          </a:xfrm>
        </p:spPr>
        <p:txBody>
          <a:bodyPr/>
          <a:lstStyle/>
          <a:p>
            <a:pPr>
              <a:buFontTx/>
              <a:buNone/>
            </a:pPr>
            <a:r>
              <a:rPr lang="id-ID" altLang="en-US" sz="2400" b="1" u="sng" dirty="0"/>
              <a:t>2.3</a:t>
            </a:r>
            <a:r>
              <a:rPr lang="id-ID" altLang="en-US" sz="2400" dirty="0"/>
              <a:t> </a:t>
            </a:r>
            <a:r>
              <a:rPr lang="id-ID" altLang="en-US" sz="2400" b="1" u="sng" dirty="0"/>
              <a:t>E- MOSFET</a:t>
            </a:r>
            <a:endParaRPr lang="id-ID" altLang="en-US" sz="2400" dirty="0"/>
          </a:p>
          <a:p>
            <a:r>
              <a:rPr lang="id-ID" altLang="en-US" sz="2400" dirty="0"/>
              <a:t>E-MOSFET hanya dapat beroperasi dalam mode </a:t>
            </a:r>
            <a:r>
              <a:rPr lang="id-ID" altLang="en-US" sz="2400" i="1" dirty="0"/>
              <a:t>enhancement, </a:t>
            </a:r>
            <a:r>
              <a:rPr lang="id-ID" altLang="en-US" sz="2400" dirty="0"/>
              <a:t>maka tegangan gate harus positif terhadap source, seperti terlihat pada Gambar 16</a:t>
            </a:r>
            <a:r>
              <a:rPr lang="en-US" altLang="en-US" sz="2400" dirty="0"/>
              <a:t>.</a:t>
            </a:r>
          </a:p>
        </p:txBody>
      </p:sp>
      <p:sp>
        <p:nvSpPr>
          <p:cNvPr id="102405" name="Rectangle 5"/>
          <p:cNvSpPr>
            <a:spLocks noChangeArrowheads="1"/>
          </p:cNvSpPr>
          <p:nvPr/>
        </p:nvSpPr>
        <p:spPr bwMode="auto">
          <a:xfrm>
            <a:off x="1524001" y="21156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02404" name="Object 4"/>
          <p:cNvGraphicFramePr>
            <a:graphicFrameLocks noChangeAspect="1"/>
          </p:cNvGraphicFramePr>
          <p:nvPr/>
        </p:nvGraphicFramePr>
        <p:xfrm>
          <a:off x="1905000" y="2681289"/>
          <a:ext cx="5334000" cy="2547937"/>
        </p:xfrm>
        <a:graphic>
          <a:graphicData uri="http://schemas.openxmlformats.org/presentationml/2006/ole">
            <mc:AlternateContent xmlns:mc="http://schemas.openxmlformats.org/markup-compatibility/2006">
              <mc:Choice xmlns:v="urn:schemas-microsoft-com:vml" Requires="v">
                <p:oleObj spid="_x0000_s15388" r:id="rId3" imgW="4720615" imgH="2261669" progId="Visio.Drawing.11">
                  <p:embed/>
                </p:oleObj>
              </mc:Choice>
              <mc:Fallback>
                <p:oleObj r:id="rId3" imgW="4720615" imgH="2261669" progId="Visio.Drawing.11">
                  <p:embed/>
                  <p:pic>
                    <p:nvPicPr>
                      <p:cNvPr id="10240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2681289"/>
                        <a:ext cx="5334000" cy="2547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07" name="Rectangle 7"/>
          <p:cNvSpPr>
            <a:spLocks noChangeArrowheads="1"/>
          </p:cNvSpPr>
          <p:nvPr/>
        </p:nvSpPr>
        <p:spPr bwMode="auto">
          <a:xfrm>
            <a:off x="1524001" y="22537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02406" name="Object 6"/>
          <p:cNvGraphicFramePr>
            <a:graphicFrameLocks noChangeAspect="1"/>
          </p:cNvGraphicFramePr>
          <p:nvPr/>
        </p:nvGraphicFramePr>
        <p:xfrm>
          <a:off x="7391400" y="2743201"/>
          <a:ext cx="2590800" cy="2322513"/>
        </p:xfrm>
        <a:graphic>
          <a:graphicData uri="http://schemas.openxmlformats.org/presentationml/2006/ole">
            <mc:AlternateContent xmlns:mc="http://schemas.openxmlformats.org/markup-compatibility/2006">
              <mc:Choice xmlns:v="urn:schemas-microsoft-com:vml" Requires="v">
                <p:oleObj spid="_x0000_s15389" r:id="rId5" imgW="2206752" imgH="1980895" progId="Visio.Drawing.11">
                  <p:embed/>
                </p:oleObj>
              </mc:Choice>
              <mc:Fallback>
                <p:oleObj r:id="rId5" imgW="2206752" imgH="1980895" progId="Visio.Drawing.11">
                  <p:embed/>
                  <p:pic>
                    <p:nvPicPr>
                      <p:cNvPr id="102406"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91400" y="2743201"/>
                        <a:ext cx="2590800" cy="2322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8456457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Rectangle 3"/>
          <p:cNvSpPr>
            <a:spLocks noGrp="1" noChangeArrowheads="1"/>
          </p:cNvSpPr>
          <p:nvPr>
            <p:ph type="body" idx="1"/>
          </p:nvPr>
        </p:nvSpPr>
        <p:spPr>
          <a:xfrm>
            <a:off x="464949" y="533401"/>
            <a:ext cx="11422251" cy="5592763"/>
          </a:xfrm>
        </p:spPr>
        <p:txBody>
          <a:bodyPr/>
          <a:lstStyle/>
          <a:p>
            <a:pPr>
              <a:lnSpc>
                <a:spcPct val="90000"/>
              </a:lnSpc>
            </a:pPr>
            <a:r>
              <a:rPr lang="id-ID" altLang="en-US" sz="2400" dirty="0"/>
              <a:t>Pada saat V</a:t>
            </a:r>
            <a:r>
              <a:rPr lang="id-ID" altLang="en-US" sz="1400" dirty="0"/>
              <a:t>GS</a:t>
            </a:r>
            <a:r>
              <a:rPr lang="id-ID" altLang="en-US" sz="2400" dirty="0"/>
              <a:t> = 0, maka tidak ada kanal yang menghubungkan source dan drain.  Ketika V</a:t>
            </a:r>
            <a:r>
              <a:rPr lang="id-ID" altLang="en-US" sz="1400" dirty="0"/>
              <a:t>GS</a:t>
            </a:r>
            <a:r>
              <a:rPr lang="id-ID" altLang="en-US" sz="2400" dirty="0"/>
              <a:t> positif, maka lubang-lubang bidang valensi pada subtrat tipe p ditarik ke arah gate dan kanal-n antara source dan drain.</a:t>
            </a:r>
          </a:p>
          <a:p>
            <a:pPr>
              <a:lnSpc>
                <a:spcPct val="90000"/>
              </a:lnSpc>
            </a:pPr>
            <a:r>
              <a:rPr lang="id-ID" altLang="en-US" sz="2400" dirty="0"/>
              <a:t>Jika nilai V</a:t>
            </a:r>
            <a:r>
              <a:rPr lang="id-ID" altLang="en-US" sz="1400" dirty="0"/>
              <a:t>GS</a:t>
            </a:r>
            <a:r>
              <a:rPr lang="id-ID" altLang="en-US" sz="2400" dirty="0"/>
              <a:t> diperbesar maka kanal menjadi lebih besar dan I</a:t>
            </a:r>
            <a:r>
              <a:rPr lang="id-ID" altLang="en-US" sz="1400" dirty="0"/>
              <a:t>D</a:t>
            </a:r>
            <a:r>
              <a:rPr lang="id-ID" altLang="en-US" sz="2400" dirty="0"/>
              <a:t> bertambah.  Sebaliknya jika V</a:t>
            </a:r>
            <a:r>
              <a:rPr lang="id-ID" altLang="en-US" sz="1400" dirty="0"/>
              <a:t>GS</a:t>
            </a:r>
            <a:r>
              <a:rPr lang="id-ID" altLang="en-US" sz="2400" dirty="0"/>
              <a:t> diperkecil maka kanal menjadi lebih sempit dan arus drain berkurang (lihat kurva transkonduktans pada Gambar 16c)</a:t>
            </a:r>
          </a:p>
          <a:p>
            <a:pPr>
              <a:lnSpc>
                <a:spcPct val="90000"/>
              </a:lnSpc>
            </a:pPr>
            <a:r>
              <a:rPr lang="id-ID" altLang="en-US" sz="2400" dirty="0"/>
              <a:t>Tegangan V</a:t>
            </a:r>
            <a:r>
              <a:rPr lang="id-ID" altLang="en-US" sz="1400" dirty="0"/>
              <a:t>GS </a:t>
            </a:r>
            <a:r>
              <a:rPr lang="id-ID" altLang="en-US" sz="2400" dirty="0"/>
              <a:t>pada saat E-MOSFET menghantar disebut </a:t>
            </a:r>
            <a:r>
              <a:rPr lang="id-ID" altLang="en-US" sz="2400" b="1" dirty="0"/>
              <a:t>tegangan ambang (threshold) </a:t>
            </a:r>
            <a:r>
              <a:rPr lang="id-ID" altLang="en-US" sz="2400" dirty="0"/>
              <a:t>V</a:t>
            </a:r>
            <a:r>
              <a:rPr lang="id-ID" altLang="en-US" sz="1400" dirty="0"/>
              <a:t>GS(th)</a:t>
            </a:r>
            <a:r>
              <a:rPr lang="id-ID" altLang="en-US" sz="2400" dirty="0"/>
              <a:t>. Nilai I</a:t>
            </a:r>
            <a:r>
              <a:rPr lang="id-ID" altLang="en-US" sz="1400" dirty="0"/>
              <a:t>DSS</a:t>
            </a:r>
            <a:r>
              <a:rPr lang="id-ID" altLang="en-US" sz="2400" dirty="0"/>
              <a:t> untuk E-MOSFET adalah mendekati 0A.  Karena nilai I</a:t>
            </a:r>
            <a:r>
              <a:rPr lang="id-ID" altLang="en-US" sz="1400" dirty="0"/>
              <a:t>DSS</a:t>
            </a:r>
            <a:r>
              <a:rPr lang="id-ID" altLang="en-US" sz="2400" dirty="0"/>
              <a:t> mendekati nol, maka nilai I</a:t>
            </a:r>
            <a:r>
              <a:rPr lang="id-ID" altLang="en-US" sz="1400" dirty="0"/>
              <a:t>D</a:t>
            </a:r>
            <a:r>
              <a:rPr lang="id-ID" altLang="en-US" sz="2400" dirty="0"/>
              <a:t> pada V</a:t>
            </a:r>
            <a:r>
              <a:rPr lang="id-ID" altLang="en-US" sz="1400" dirty="0"/>
              <a:t>GS</a:t>
            </a:r>
            <a:r>
              <a:rPr lang="id-ID" altLang="en-US" sz="2400" dirty="0"/>
              <a:t> yang ditentukan diberikan oleh formula:</a:t>
            </a:r>
          </a:p>
          <a:p>
            <a:pPr>
              <a:lnSpc>
                <a:spcPct val="90000"/>
              </a:lnSpc>
              <a:buFontTx/>
              <a:buNone/>
            </a:pPr>
            <a:r>
              <a:rPr lang="en-US" altLang="en-US" sz="2400" dirty="0"/>
              <a:t>		</a:t>
            </a:r>
            <a:r>
              <a:rPr lang="id-ID" altLang="en-US" sz="2400" dirty="0"/>
              <a:t>I</a:t>
            </a:r>
            <a:r>
              <a:rPr lang="id-ID" altLang="en-US" sz="1400" dirty="0"/>
              <a:t>D </a:t>
            </a:r>
            <a:r>
              <a:rPr lang="id-ID" altLang="en-US" sz="2400" dirty="0"/>
              <a:t> = k </a:t>
            </a:r>
            <a:r>
              <a:rPr lang="id-ID" altLang="en-US" sz="2400" dirty="0">
                <a:sym typeface="Symbol" panose="05050102010706020507" pitchFamily="18" charset="2"/>
              </a:rPr>
              <a:t></a:t>
            </a:r>
            <a:r>
              <a:rPr lang="id-ID" altLang="en-US" sz="2400" dirty="0"/>
              <a:t> V</a:t>
            </a:r>
            <a:r>
              <a:rPr lang="id-ID" altLang="en-US" sz="1400" dirty="0"/>
              <a:t>GS</a:t>
            </a:r>
            <a:r>
              <a:rPr lang="id-ID" altLang="en-US" sz="2400" dirty="0"/>
              <a:t> – V</a:t>
            </a:r>
            <a:r>
              <a:rPr lang="id-ID" altLang="en-US" sz="1400" dirty="0"/>
              <a:t>GS(th)</a:t>
            </a:r>
            <a:r>
              <a:rPr lang="id-ID" altLang="en-US" sz="2400" dirty="0">
                <a:sym typeface="Symbol" panose="05050102010706020507" pitchFamily="18" charset="2"/>
              </a:rPr>
              <a:t></a:t>
            </a:r>
            <a:r>
              <a:rPr lang="id-ID" altLang="en-US" sz="2400" dirty="0"/>
              <a:t>2       		</a:t>
            </a:r>
            <a:r>
              <a:rPr lang="en-US" altLang="en-US" sz="2400" dirty="0"/>
              <a:t>                </a:t>
            </a:r>
            <a:r>
              <a:rPr lang="id-ID" altLang="en-US" sz="2400" dirty="0"/>
              <a:t>(4.2</a:t>
            </a:r>
            <a:r>
              <a:rPr lang="en-US" altLang="en-US" sz="2400" dirty="0"/>
              <a:t>0</a:t>
            </a:r>
            <a:r>
              <a:rPr lang="id-ID" altLang="en-US" sz="2400" dirty="0"/>
              <a:t>)</a:t>
            </a:r>
          </a:p>
          <a:p>
            <a:pPr>
              <a:lnSpc>
                <a:spcPct val="90000"/>
              </a:lnSpc>
              <a:buFontTx/>
              <a:buNone/>
            </a:pPr>
            <a:r>
              <a:rPr lang="en-US" altLang="en-US" sz="2400" dirty="0"/>
              <a:t>	</a:t>
            </a:r>
            <a:r>
              <a:rPr lang="id-ID" altLang="en-US" sz="2400" dirty="0"/>
              <a:t>dengan k: konstanta untuk E-MOSFET.</a:t>
            </a:r>
            <a:endParaRPr lang="en-US" altLang="en-US" sz="2400" dirty="0"/>
          </a:p>
        </p:txBody>
      </p:sp>
    </p:spTree>
    <p:extLst>
      <p:ext uri="{BB962C8B-B14F-4D97-AF65-F5344CB8AC3E}">
        <p14:creationId xmlns:p14="http://schemas.microsoft.com/office/powerpoint/2010/main" val="200458430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3"/>
          <p:cNvSpPr>
            <a:spLocks noGrp="1" noChangeArrowheads="1"/>
          </p:cNvSpPr>
          <p:nvPr>
            <p:ph type="body" idx="1"/>
          </p:nvPr>
        </p:nvSpPr>
        <p:spPr>
          <a:xfrm>
            <a:off x="495945" y="457200"/>
            <a:ext cx="11220773" cy="1143000"/>
          </a:xfrm>
        </p:spPr>
        <p:txBody>
          <a:bodyPr/>
          <a:lstStyle/>
          <a:p>
            <a:pPr>
              <a:buFontTx/>
              <a:buNone/>
            </a:pPr>
            <a:r>
              <a:rPr lang="id-ID" altLang="en-US" sz="2000" b="1" u="sng" dirty="0"/>
              <a:t>Untai prasikap E-MOSFET </a:t>
            </a:r>
            <a:endParaRPr lang="id-ID" altLang="en-US" sz="2000" dirty="0"/>
          </a:p>
          <a:p>
            <a:r>
              <a:rPr lang="id-ID" altLang="en-US" sz="2000" dirty="0"/>
              <a:t>Untuk E-MOSFET kanal n, V</a:t>
            </a:r>
            <a:r>
              <a:rPr lang="id-ID" altLang="en-US" sz="1400" dirty="0"/>
              <a:t>GS</a:t>
            </a:r>
            <a:r>
              <a:rPr lang="id-ID" altLang="en-US" sz="2000" dirty="0"/>
              <a:t> harus positif; Karena itu digunakan prasikap umpan-balik drain. (Gambar 17)</a:t>
            </a:r>
            <a:endParaRPr lang="en-US" altLang="en-US" sz="2000" dirty="0"/>
          </a:p>
        </p:txBody>
      </p:sp>
      <p:sp>
        <p:nvSpPr>
          <p:cNvPr id="104453" name="Rectangle 5"/>
          <p:cNvSpPr>
            <a:spLocks noChangeArrowheads="1"/>
          </p:cNvSpPr>
          <p:nvPr/>
        </p:nvSpPr>
        <p:spPr bwMode="auto">
          <a:xfrm>
            <a:off x="1524001" y="20156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04452" name="Object 4"/>
          <p:cNvGraphicFramePr>
            <a:graphicFrameLocks noChangeAspect="1"/>
          </p:cNvGraphicFramePr>
          <p:nvPr>
            <p:extLst>
              <p:ext uri="{D42A27DB-BD31-4B8C-83A1-F6EECF244321}">
                <p14:modId xmlns:p14="http://schemas.microsoft.com/office/powerpoint/2010/main" val="403934457"/>
              </p:ext>
            </p:extLst>
          </p:nvPr>
        </p:nvGraphicFramePr>
        <p:xfrm>
          <a:off x="1099089" y="1999060"/>
          <a:ext cx="2989263" cy="3200400"/>
        </p:xfrm>
        <a:graphic>
          <a:graphicData uri="http://schemas.openxmlformats.org/presentationml/2006/ole">
            <mc:AlternateContent xmlns:mc="http://schemas.openxmlformats.org/markup-compatibility/2006">
              <mc:Choice xmlns:v="urn:schemas-microsoft-com:vml" Requires="v">
                <p:oleObj spid="_x0000_s16399" r:id="rId3" imgW="2292706" imgH="2458822" progId="Visio.Drawing.11">
                  <p:embed/>
                </p:oleObj>
              </mc:Choice>
              <mc:Fallback>
                <p:oleObj r:id="rId3" imgW="2292706" imgH="2458822" progId="Visio.Drawing.11">
                  <p:embed/>
                  <p:pic>
                    <p:nvPicPr>
                      <p:cNvPr id="10445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9089" y="1999060"/>
                        <a:ext cx="2989263" cy="320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454" name="Text Box 6"/>
          <p:cNvSpPr txBox="1">
            <a:spLocks noChangeArrowheads="1"/>
          </p:cNvSpPr>
          <p:nvPr/>
        </p:nvSpPr>
        <p:spPr bwMode="auto">
          <a:xfrm>
            <a:off x="4513264" y="1752601"/>
            <a:ext cx="720345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id-ID" altLang="en-US" dirty="0"/>
              <a:t>Karena impedans gate sangat tinggi, maka tidak ada arus dalam untai gate.  Karena itu tidak ada penurunan tegangan pada resistor R</a:t>
            </a:r>
            <a:r>
              <a:rPr lang="id-ID" altLang="en-US" sz="1400" dirty="0"/>
              <a:t>G</a:t>
            </a:r>
            <a:r>
              <a:rPr lang="id-ID" altLang="en-US" dirty="0"/>
              <a:t>.  Sehingga gate mempunyai potensial yang sama dengan drain.</a:t>
            </a:r>
          </a:p>
          <a:p>
            <a:r>
              <a:rPr lang="id-ID" altLang="en-US" dirty="0"/>
              <a:t>	V</a:t>
            </a:r>
            <a:r>
              <a:rPr lang="id-ID" altLang="en-US" sz="1400" dirty="0"/>
              <a:t>GS</a:t>
            </a:r>
            <a:r>
              <a:rPr lang="id-ID" altLang="en-US" dirty="0"/>
              <a:t> = V</a:t>
            </a:r>
            <a:r>
              <a:rPr lang="id-ID" altLang="en-US" sz="1400" dirty="0"/>
              <a:t>DS</a:t>
            </a:r>
            <a:r>
              <a:rPr lang="id-ID" altLang="en-US" dirty="0"/>
              <a:t>	     </a:t>
            </a:r>
            <a:r>
              <a:rPr lang="en-US" altLang="en-US" dirty="0"/>
              <a:t>     </a:t>
            </a:r>
            <a:r>
              <a:rPr lang="en-US" altLang="en-US" dirty="0" smtClean="0"/>
              <a:t>			 </a:t>
            </a:r>
            <a:r>
              <a:rPr lang="id-ID" altLang="en-US" dirty="0"/>
              <a:t>(2</a:t>
            </a:r>
            <a:r>
              <a:rPr lang="en-US" altLang="en-US" dirty="0"/>
              <a:t>1</a:t>
            </a:r>
            <a:r>
              <a:rPr lang="id-ID" altLang="en-US" dirty="0"/>
              <a:t>)</a:t>
            </a:r>
          </a:p>
          <a:p>
            <a:r>
              <a:rPr lang="id-ID" altLang="en-US" dirty="0"/>
              <a:t>Nilai V</a:t>
            </a:r>
            <a:r>
              <a:rPr lang="id-ID" altLang="en-US" sz="1400" dirty="0"/>
              <a:t>DS</a:t>
            </a:r>
            <a:r>
              <a:rPr lang="id-ID" altLang="en-US" dirty="0"/>
              <a:t> dapat diperoleh dari persamaan:</a:t>
            </a:r>
          </a:p>
          <a:p>
            <a:r>
              <a:rPr lang="id-ID" altLang="en-US" dirty="0"/>
              <a:t>V</a:t>
            </a:r>
            <a:r>
              <a:rPr lang="id-ID" altLang="en-US" sz="1400" dirty="0"/>
              <a:t>DS</a:t>
            </a:r>
            <a:r>
              <a:rPr lang="id-ID" altLang="en-US" dirty="0"/>
              <a:t> = V</a:t>
            </a:r>
            <a:r>
              <a:rPr lang="id-ID" altLang="en-US" sz="1200" dirty="0"/>
              <a:t>DD</a:t>
            </a:r>
            <a:r>
              <a:rPr lang="id-ID" altLang="en-US" dirty="0"/>
              <a:t> – R</a:t>
            </a:r>
            <a:r>
              <a:rPr lang="id-ID" altLang="en-US" sz="1200" dirty="0"/>
              <a:t>D</a:t>
            </a:r>
            <a:r>
              <a:rPr lang="id-ID" altLang="en-US" dirty="0"/>
              <a:t> I</a:t>
            </a:r>
            <a:r>
              <a:rPr lang="id-ID" altLang="en-US" sz="1200" dirty="0"/>
              <a:t>D(on)</a:t>
            </a:r>
            <a:r>
              <a:rPr lang="id-ID" altLang="en-US" dirty="0"/>
              <a:t>	</a:t>
            </a:r>
            <a:r>
              <a:rPr lang="en-US" altLang="en-US" dirty="0"/>
              <a:t>          </a:t>
            </a:r>
            <a:r>
              <a:rPr lang="en-US" altLang="en-US" dirty="0" smtClean="0"/>
              <a:t>			 </a:t>
            </a:r>
            <a:r>
              <a:rPr lang="id-ID" altLang="en-US" dirty="0"/>
              <a:t>(2</a:t>
            </a:r>
            <a:r>
              <a:rPr lang="en-US" altLang="en-US" dirty="0"/>
              <a:t>2</a:t>
            </a:r>
            <a:r>
              <a:rPr lang="id-ID" altLang="en-US" dirty="0"/>
              <a:t>)</a:t>
            </a:r>
          </a:p>
          <a:p>
            <a:r>
              <a:rPr lang="id-ID" altLang="en-US" dirty="0"/>
              <a:t>Karena nilai I</a:t>
            </a:r>
            <a:r>
              <a:rPr lang="id-ID" altLang="en-US" sz="1200" dirty="0"/>
              <a:t>D(on)</a:t>
            </a:r>
            <a:r>
              <a:rPr lang="id-ID" altLang="en-US" dirty="0"/>
              <a:t>, V</a:t>
            </a:r>
            <a:r>
              <a:rPr lang="id-ID" altLang="en-US" sz="1200" dirty="0"/>
              <a:t>DS </a:t>
            </a:r>
            <a:r>
              <a:rPr lang="id-ID" altLang="en-US" dirty="0"/>
              <a:t>dan V</a:t>
            </a:r>
            <a:r>
              <a:rPr lang="id-ID" altLang="en-US" sz="1200" dirty="0"/>
              <a:t>GS</a:t>
            </a:r>
            <a:r>
              <a:rPr lang="id-ID" altLang="en-US" dirty="0"/>
              <a:t> dapat diperoleh dari karakteristik “ON” dari lembaran spesifikasi (spec..sheet), maka nilai R</a:t>
            </a:r>
            <a:r>
              <a:rPr lang="id-ID" altLang="en-US" sz="1200" dirty="0"/>
              <a:t>D</a:t>
            </a:r>
            <a:r>
              <a:rPr lang="id-ID" altLang="en-US" dirty="0"/>
              <a:t> dapat dihitung.  Nilai R</a:t>
            </a:r>
            <a:r>
              <a:rPr lang="id-ID" altLang="en-US" sz="1200" dirty="0"/>
              <a:t>G</a:t>
            </a:r>
            <a:r>
              <a:rPr lang="id-ID" altLang="en-US" dirty="0"/>
              <a:t> biasanya diambil dalam order M</a:t>
            </a:r>
            <a:r>
              <a:rPr lang="id-ID" altLang="en-US" dirty="0">
                <a:sym typeface="Symbol" panose="05050102010706020507" pitchFamily="18" charset="2"/>
              </a:rPr>
              <a:t></a:t>
            </a:r>
            <a:r>
              <a:rPr lang="id-ID" altLang="en-US" dirty="0"/>
              <a:t>.</a:t>
            </a:r>
            <a:endParaRPr lang="en-US" altLang="en-US" dirty="0"/>
          </a:p>
        </p:txBody>
      </p:sp>
    </p:spTree>
    <p:extLst>
      <p:ext uri="{BB962C8B-B14F-4D97-AF65-F5344CB8AC3E}">
        <p14:creationId xmlns:p14="http://schemas.microsoft.com/office/powerpoint/2010/main" val="199425367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3"/>
          <p:cNvSpPr>
            <a:spLocks noGrp="1" noChangeArrowheads="1"/>
          </p:cNvSpPr>
          <p:nvPr>
            <p:ph type="body" idx="1"/>
          </p:nvPr>
        </p:nvSpPr>
        <p:spPr>
          <a:xfrm>
            <a:off x="681925" y="609601"/>
            <a:ext cx="11034794" cy="4525963"/>
          </a:xfrm>
        </p:spPr>
        <p:txBody>
          <a:bodyPr/>
          <a:lstStyle/>
          <a:p>
            <a:pPr>
              <a:lnSpc>
                <a:spcPct val="90000"/>
              </a:lnSpc>
              <a:buFontTx/>
              <a:buNone/>
            </a:pPr>
            <a:r>
              <a:rPr lang="en-US" altLang="en-US" sz="2400" u="sng" dirty="0" smtClean="0"/>
              <a:t>Ex</a:t>
            </a:r>
            <a:r>
              <a:rPr lang="id-ID" altLang="en-US" sz="2400" u="sng" dirty="0" smtClean="0"/>
              <a:t> </a:t>
            </a:r>
            <a:r>
              <a:rPr lang="id-ID" altLang="en-US" sz="2400" u="sng" dirty="0"/>
              <a:t>2</a:t>
            </a:r>
            <a:endParaRPr lang="id-ID" altLang="en-US" sz="2400" dirty="0"/>
          </a:p>
          <a:p>
            <a:pPr>
              <a:lnSpc>
                <a:spcPct val="90000"/>
              </a:lnSpc>
            </a:pPr>
            <a:r>
              <a:rPr lang="id-ID" altLang="en-US" sz="2400" dirty="0"/>
              <a:t>Suatu E-MOSFET mempunyai nilai I</a:t>
            </a:r>
            <a:r>
              <a:rPr lang="id-ID" altLang="en-US" sz="1400" dirty="0"/>
              <a:t>D(on)</a:t>
            </a:r>
            <a:r>
              <a:rPr lang="id-ID" altLang="en-US" sz="2400" dirty="0"/>
              <a:t> = 10mA pada V</a:t>
            </a:r>
            <a:r>
              <a:rPr lang="id-ID" altLang="en-US" sz="1200" dirty="0"/>
              <a:t>GS</a:t>
            </a:r>
            <a:r>
              <a:rPr lang="id-ID" altLang="en-US" sz="2400" dirty="0"/>
              <a:t> = 10V dan V</a:t>
            </a:r>
            <a:r>
              <a:rPr lang="id-ID" altLang="en-US" sz="1200" dirty="0"/>
              <a:t>GS</a:t>
            </a:r>
            <a:r>
              <a:rPr lang="id-ID" altLang="en-US" sz="2400" dirty="0"/>
              <a:t> = 1,5 V</a:t>
            </a:r>
          </a:p>
          <a:p>
            <a:pPr>
              <a:lnSpc>
                <a:spcPct val="90000"/>
              </a:lnSpc>
              <a:buFontTx/>
              <a:buNone/>
            </a:pPr>
            <a:r>
              <a:rPr lang="en-US" altLang="en-US" sz="2400" dirty="0"/>
              <a:t>	T</a:t>
            </a:r>
            <a:r>
              <a:rPr lang="id-ID" altLang="en-US" sz="2400" dirty="0"/>
              <a:t>entukan nilai I</a:t>
            </a:r>
            <a:r>
              <a:rPr lang="id-ID" altLang="en-US" sz="1200" dirty="0"/>
              <a:t>D</a:t>
            </a:r>
            <a:r>
              <a:rPr lang="id-ID" altLang="en-US" sz="2400" dirty="0"/>
              <a:t> jika V</a:t>
            </a:r>
            <a:r>
              <a:rPr lang="id-ID" altLang="en-US" sz="1200" dirty="0"/>
              <a:t>GS</a:t>
            </a:r>
            <a:r>
              <a:rPr lang="id-ID" altLang="en-US" sz="2400" dirty="0"/>
              <a:t> = 5V</a:t>
            </a:r>
          </a:p>
          <a:p>
            <a:pPr>
              <a:lnSpc>
                <a:spcPct val="90000"/>
              </a:lnSpc>
            </a:pPr>
            <a:r>
              <a:rPr lang="id-ID" altLang="en-US" sz="2400" dirty="0"/>
              <a:t>jika E-MOSFET tersebut digunakan dalam untai prasikap umpan-balik drain (Gambar 17) dengan V</a:t>
            </a:r>
            <a:r>
              <a:rPr lang="id-ID" altLang="en-US" sz="1200" dirty="0"/>
              <a:t>DD</a:t>
            </a:r>
            <a:r>
              <a:rPr lang="id-ID" altLang="en-US" sz="2400" dirty="0"/>
              <a:t> = 10 V dan R</a:t>
            </a:r>
            <a:r>
              <a:rPr lang="id-ID" altLang="en-US" sz="1200" dirty="0"/>
              <a:t>D</a:t>
            </a:r>
            <a:r>
              <a:rPr lang="id-ID" altLang="en-US" sz="2400" dirty="0"/>
              <a:t> = 3000</a:t>
            </a:r>
            <a:r>
              <a:rPr lang="id-ID" altLang="en-US" sz="2400" dirty="0">
                <a:sym typeface="Symbol" panose="05050102010706020507" pitchFamily="18" charset="2"/>
              </a:rPr>
              <a:t></a:t>
            </a:r>
            <a:r>
              <a:rPr lang="id-ID" altLang="en-US" sz="2400" dirty="0"/>
              <a:t>. Tentukan nilai I</a:t>
            </a:r>
            <a:r>
              <a:rPr lang="id-ID" altLang="en-US" sz="1200" dirty="0"/>
              <a:t>D</a:t>
            </a:r>
            <a:r>
              <a:rPr lang="id-ID" altLang="en-US" sz="2400" dirty="0"/>
              <a:t> dan V</a:t>
            </a:r>
            <a:r>
              <a:rPr lang="id-ID" altLang="en-US" sz="1200" dirty="0"/>
              <a:t>DS</a:t>
            </a:r>
            <a:r>
              <a:rPr lang="id-ID" altLang="en-US" sz="2400" dirty="0"/>
              <a:t> </a:t>
            </a:r>
            <a:endParaRPr lang="en-US" altLang="en-US" sz="2400" dirty="0"/>
          </a:p>
        </p:txBody>
      </p:sp>
    </p:spTree>
    <p:extLst>
      <p:ext uri="{BB962C8B-B14F-4D97-AF65-F5344CB8AC3E}">
        <p14:creationId xmlns:p14="http://schemas.microsoft.com/office/powerpoint/2010/main" val="78446224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3"/>
          <p:cNvSpPr>
            <a:spLocks noGrp="1" noChangeArrowheads="1"/>
          </p:cNvSpPr>
          <p:nvPr>
            <p:ph type="body" idx="1"/>
          </p:nvPr>
        </p:nvSpPr>
        <p:spPr>
          <a:xfrm>
            <a:off x="666427" y="838201"/>
            <a:ext cx="11081288" cy="4525963"/>
          </a:xfrm>
        </p:spPr>
        <p:txBody>
          <a:bodyPr/>
          <a:lstStyle/>
          <a:p>
            <a:pPr>
              <a:lnSpc>
                <a:spcPct val="90000"/>
              </a:lnSpc>
              <a:buFontTx/>
              <a:buNone/>
            </a:pPr>
            <a:r>
              <a:rPr lang="id-ID" altLang="en-US" sz="2400" dirty="0" smtClean="0"/>
              <a:t>Solus</a:t>
            </a:r>
            <a:r>
              <a:rPr lang="en-US" altLang="en-US" sz="2400" dirty="0" smtClean="0"/>
              <a:t>ion</a:t>
            </a:r>
            <a:r>
              <a:rPr lang="id-ID" altLang="en-US" sz="2400" dirty="0" smtClean="0"/>
              <a:t> </a:t>
            </a:r>
            <a:endParaRPr lang="id-ID" altLang="en-US" sz="2400" dirty="0"/>
          </a:p>
          <a:p>
            <a:pPr>
              <a:lnSpc>
                <a:spcPct val="90000"/>
              </a:lnSpc>
              <a:buFontTx/>
              <a:buNone/>
            </a:pPr>
            <a:r>
              <a:rPr lang="en-US" altLang="en-US" sz="2400" dirty="0"/>
              <a:t>a.) </a:t>
            </a:r>
            <a:r>
              <a:rPr lang="id-ID" altLang="en-US" sz="2400" dirty="0"/>
              <a:t>Dengan menggunakan nilai minimum dari I</a:t>
            </a:r>
            <a:r>
              <a:rPr lang="id-ID" altLang="en-US" sz="1200" dirty="0"/>
              <a:t>D</a:t>
            </a:r>
            <a:r>
              <a:rPr lang="id-ID" altLang="en-US" sz="2400" dirty="0"/>
              <a:t> dan V</a:t>
            </a:r>
            <a:r>
              <a:rPr lang="id-ID" altLang="en-US" sz="1200" dirty="0"/>
              <a:t>Gs</a:t>
            </a:r>
            <a:r>
              <a:rPr lang="id-ID" altLang="en-US" sz="2400" dirty="0"/>
              <a:t> ditentukan nilai k</a:t>
            </a:r>
          </a:p>
          <a:p>
            <a:pPr>
              <a:lnSpc>
                <a:spcPct val="90000"/>
              </a:lnSpc>
              <a:buFontTx/>
              <a:buNone/>
            </a:pPr>
            <a:r>
              <a:rPr lang="en-US" altLang="en-US" sz="2400" dirty="0"/>
              <a:t>	</a:t>
            </a:r>
            <a:r>
              <a:rPr lang="id-ID" altLang="en-US" sz="2400" dirty="0"/>
              <a:t>K =  </a:t>
            </a:r>
            <a:r>
              <a:rPr lang="id-ID" altLang="en-US" sz="2400" u="sng" dirty="0"/>
              <a:t>      ID(on)        </a:t>
            </a:r>
            <a:r>
              <a:rPr lang="id-ID" altLang="en-US" sz="2400" dirty="0"/>
              <a:t> = </a:t>
            </a:r>
            <a:r>
              <a:rPr lang="id-ID" altLang="en-US" sz="2400" u="sng" dirty="0"/>
              <a:t>  10          </a:t>
            </a:r>
            <a:r>
              <a:rPr lang="id-ID" altLang="en-US" sz="2400" dirty="0"/>
              <a:t> = 138 x 10 -6 </a:t>
            </a:r>
            <a:r>
              <a:rPr lang="id-ID" altLang="en-US" sz="2400" u="sng" dirty="0"/>
              <a:t>mA</a:t>
            </a:r>
            <a:endParaRPr lang="id-ID" altLang="en-US" sz="2400" dirty="0"/>
          </a:p>
          <a:p>
            <a:pPr>
              <a:lnSpc>
                <a:spcPct val="90000"/>
              </a:lnSpc>
              <a:buFontTx/>
              <a:buNone/>
            </a:pPr>
            <a:r>
              <a:rPr lang="en-US" altLang="en-US" sz="2400" dirty="0"/>
              <a:t>    </a:t>
            </a:r>
            <a:r>
              <a:rPr lang="id-ID" altLang="en-US" sz="2400" dirty="0"/>
              <a:t>(V</a:t>
            </a:r>
            <a:r>
              <a:rPr lang="id-ID" altLang="en-US" sz="1400" dirty="0"/>
              <a:t>GS(ON)</a:t>
            </a:r>
            <a:r>
              <a:rPr lang="id-ID" altLang="en-US" sz="2400" dirty="0"/>
              <a:t> – V</a:t>
            </a:r>
            <a:r>
              <a:rPr lang="id-ID" altLang="en-US" sz="1400" dirty="0"/>
              <a:t>GS(th)</a:t>
            </a:r>
            <a:r>
              <a:rPr lang="id-ID" altLang="en-US" sz="2400" dirty="0"/>
              <a:t>)  </a:t>
            </a:r>
            <a:r>
              <a:rPr lang="en-US" altLang="en-US" sz="2400" dirty="0"/>
              <a:t>        </a:t>
            </a:r>
            <a:r>
              <a:rPr lang="id-ID" altLang="en-US" sz="2400" dirty="0"/>
              <a:t>(10-1,5)</a:t>
            </a:r>
            <a:r>
              <a:rPr lang="en-US" altLang="en-US" sz="2400" dirty="0">
                <a:cs typeface="Arial" panose="020B0604020202020204" pitchFamily="34" charset="0"/>
              </a:rPr>
              <a:t>²</a:t>
            </a:r>
            <a:r>
              <a:rPr lang="id-ID" altLang="en-US" sz="2400" dirty="0"/>
              <a:t>                      </a:t>
            </a:r>
            <a:r>
              <a:rPr lang="en-US" altLang="en-US" sz="2400" dirty="0"/>
              <a:t>     </a:t>
            </a:r>
            <a:r>
              <a:rPr lang="id-ID" altLang="en-US" sz="2400" dirty="0"/>
              <a:t>V </a:t>
            </a:r>
            <a:r>
              <a:rPr lang="en-US" altLang="en-US" sz="2400" dirty="0">
                <a:cs typeface="Arial" panose="020B0604020202020204" pitchFamily="34" charset="0"/>
              </a:rPr>
              <a:t>²</a:t>
            </a:r>
            <a:r>
              <a:rPr lang="id-ID" altLang="en-US" sz="2400" dirty="0"/>
              <a:t> </a:t>
            </a:r>
          </a:p>
          <a:p>
            <a:pPr>
              <a:lnSpc>
                <a:spcPct val="90000"/>
              </a:lnSpc>
              <a:buFontTx/>
              <a:buNone/>
            </a:pPr>
            <a:r>
              <a:rPr lang="en-US" altLang="en-US" sz="2400" dirty="0"/>
              <a:t>	</a:t>
            </a:r>
            <a:r>
              <a:rPr lang="id-ID" altLang="en-US" sz="2400" dirty="0"/>
              <a:t>I</a:t>
            </a:r>
            <a:r>
              <a:rPr lang="id-ID" altLang="en-US" sz="1200" dirty="0"/>
              <a:t>D</a:t>
            </a:r>
            <a:r>
              <a:rPr lang="id-ID" altLang="en-US" sz="2400" dirty="0"/>
              <a:t> = k (V</a:t>
            </a:r>
            <a:r>
              <a:rPr lang="id-ID" altLang="en-US" sz="1200" dirty="0"/>
              <a:t>GS</a:t>
            </a:r>
            <a:r>
              <a:rPr lang="id-ID" altLang="en-US" sz="2400" dirty="0"/>
              <a:t> – V</a:t>
            </a:r>
            <a:r>
              <a:rPr lang="id-ID" altLang="en-US" sz="1200" dirty="0"/>
              <a:t>GS(on)</a:t>
            </a:r>
            <a:r>
              <a:rPr lang="en-US" altLang="en-US" sz="2400" dirty="0"/>
              <a:t>)</a:t>
            </a:r>
            <a:r>
              <a:rPr lang="id-ID" altLang="en-US" sz="1200" dirty="0"/>
              <a:t> </a:t>
            </a:r>
            <a:r>
              <a:rPr lang="en-US" altLang="en-US" sz="2400" dirty="0">
                <a:cs typeface="Arial" panose="020B0604020202020204" pitchFamily="34" charset="0"/>
              </a:rPr>
              <a:t>²</a:t>
            </a:r>
            <a:endParaRPr lang="id-ID" altLang="en-US" sz="2400" dirty="0"/>
          </a:p>
          <a:p>
            <a:pPr>
              <a:lnSpc>
                <a:spcPct val="90000"/>
              </a:lnSpc>
              <a:buFontTx/>
              <a:buNone/>
            </a:pPr>
            <a:r>
              <a:rPr lang="id-ID" altLang="en-US" sz="2400" dirty="0"/>
              <a:t>     </a:t>
            </a:r>
            <a:r>
              <a:rPr lang="en-US" altLang="en-US" sz="2400" dirty="0"/>
              <a:t>   </a:t>
            </a:r>
            <a:r>
              <a:rPr lang="id-ID" altLang="en-US" sz="2400" dirty="0"/>
              <a:t>= 138x10-6 (5-1,5) </a:t>
            </a:r>
            <a:r>
              <a:rPr lang="en-US" altLang="en-US" sz="2400" dirty="0">
                <a:cs typeface="Arial" panose="020B0604020202020204" pitchFamily="34" charset="0"/>
              </a:rPr>
              <a:t>²</a:t>
            </a:r>
            <a:endParaRPr lang="id-ID" altLang="en-US" sz="2400" dirty="0"/>
          </a:p>
          <a:p>
            <a:pPr>
              <a:lnSpc>
                <a:spcPct val="90000"/>
              </a:lnSpc>
              <a:buFontTx/>
              <a:buNone/>
            </a:pPr>
            <a:r>
              <a:rPr lang="en-US" altLang="en-US" sz="2400" dirty="0"/>
              <a:t>	    </a:t>
            </a:r>
            <a:r>
              <a:rPr lang="id-ID" altLang="en-US" sz="2400" dirty="0"/>
              <a:t>=  1,69 mA</a:t>
            </a:r>
          </a:p>
          <a:p>
            <a:pPr>
              <a:lnSpc>
                <a:spcPct val="90000"/>
              </a:lnSpc>
              <a:buFontTx/>
              <a:buNone/>
            </a:pPr>
            <a:r>
              <a:rPr lang="en-US" altLang="en-US" sz="2400" dirty="0"/>
              <a:t>b.) </a:t>
            </a:r>
            <a:r>
              <a:rPr lang="id-ID" altLang="en-US" sz="2400" dirty="0"/>
              <a:t>Karena V</a:t>
            </a:r>
            <a:r>
              <a:rPr lang="id-ID" altLang="en-US" sz="1400" dirty="0"/>
              <a:t>GS</a:t>
            </a:r>
            <a:r>
              <a:rPr lang="id-ID" altLang="en-US" sz="2400" dirty="0"/>
              <a:t> = V</a:t>
            </a:r>
            <a:r>
              <a:rPr lang="id-ID" altLang="en-US" sz="1400" dirty="0"/>
              <a:t>DS</a:t>
            </a:r>
            <a:r>
              <a:rPr lang="id-ID" altLang="en-US" sz="2400" dirty="0"/>
              <a:t>, maka I</a:t>
            </a:r>
            <a:r>
              <a:rPr lang="id-ID" altLang="en-US" sz="1400" dirty="0"/>
              <a:t>D</a:t>
            </a:r>
            <a:r>
              <a:rPr lang="id-ID" altLang="en-US" sz="2400" dirty="0"/>
              <a:t> = I</a:t>
            </a:r>
            <a:r>
              <a:rPr lang="id-ID" altLang="en-US" sz="1400" dirty="0"/>
              <a:t>D(on)</a:t>
            </a:r>
            <a:r>
              <a:rPr lang="id-ID" altLang="en-US" sz="2400" dirty="0"/>
              <a:t> = 10mA</a:t>
            </a:r>
          </a:p>
          <a:p>
            <a:pPr>
              <a:lnSpc>
                <a:spcPct val="90000"/>
              </a:lnSpc>
              <a:buFontTx/>
              <a:buNone/>
            </a:pPr>
            <a:r>
              <a:rPr lang="en-US" altLang="en-US" sz="2400" dirty="0"/>
              <a:t>	</a:t>
            </a:r>
            <a:r>
              <a:rPr lang="id-ID" altLang="en-US" sz="2400" dirty="0"/>
              <a:t>V</a:t>
            </a:r>
            <a:r>
              <a:rPr lang="id-ID" altLang="en-US" sz="1400" dirty="0"/>
              <a:t>D</a:t>
            </a:r>
            <a:r>
              <a:rPr lang="id-ID" altLang="en-US" sz="2400" dirty="0"/>
              <a:t> = V</a:t>
            </a:r>
            <a:r>
              <a:rPr lang="id-ID" altLang="en-US" sz="1400" dirty="0"/>
              <a:t>DD </a:t>
            </a:r>
            <a:r>
              <a:rPr lang="id-ID" altLang="en-US" sz="2400" dirty="0"/>
              <a:t>– I</a:t>
            </a:r>
            <a:r>
              <a:rPr lang="id-ID" altLang="en-US" sz="1400" dirty="0"/>
              <a:t>D </a:t>
            </a:r>
            <a:r>
              <a:rPr lang="id-ID" altLang="en-US" sz="2400" dirty="0"/>
              <a:t>R</a:t>
            </a:r>
            <a:r>
              <a:rPr lang="id-ID" altLang="en-US" sz="1400" dirty="0"/>
              <a:t>D</a:t>
            </a:r>
            <a:r>
              <a:rPr lang="id-ID" altLang="en-US" sz="2400" dirty="0"/>
              <a:t> = 10 – 10 x 0,3 = 7 V</a:t>
            </a:r>
            <a:endParaRPr lang="en-US" altLang="en-US" sz="2400" dirty="0"/>
          </a:p>
        </p:txBody>
      </p:sp>
    </p:spTree>
    <p:extLst>
      <p:ext uri="{BB962C8B-B14F-4D97-AF65-F5344CB8AC3E}">
        <p14:creationId xmlns:p14="http://schemas.microsoft.com/office/powerpoint/2010/main" val="65378396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3"/>
          <p:cNvSpPr>
            <a:spLocks noGrp="1" noChangeArrowheads="1"/>
          </p:cNvSpPr>
          <p:nvPr>
            <p:ph type="body" idx="1"/>
          </p:nvPr>
        </p:nvSpPr>
        <p:spPr>
          <a:xfrm>
            <a:off x="480447" y="609600"/>
            <a:ext cx="11096787" cy="5638800"/>
          </a:xfrm>
        </p:spPr>
        <p:txBody>
          <a:bodyPr/>
          <a:lstStyle/>
          <a:p>
            <a:pPr>
              <a:lnSpc>
                <a:spcPct val="80000"/>
              </a:lnSpc>
              <a:buFontTx/>
              <a:buNone/>
            </a:pPr>
            <a:r>
              <a:rPr lang="id-ID" altLang="en-US" b="1" u="sng" dirty="0"/>
              <a:t>Penguat FET</a:t>
            </a:r>
            <a:endParaRPr lang="id-ID" altLang="en-US" dirty="0"/>
          </a:p>
          <a:p>
            <a:pPr>
              <a:lnSpc>
                <a:spcPct val="80000"/>
              </a:lnSpc>
            </a:pPr>
            <a:r>
              <a:rPr lang="id-ID" altLang="en-US" dirty="0"/>
              <a:t>Operasi penguat FET (JFET) atau MOSFET menyerupai penguat BJT. Perbedaan antara keduanya adalah BJT merupakan komponen terkendali arus, sedangkan FET adalah komponen terkendali tegangan. Adapun Impedas masukan penguat FET jauh lebih tinggi dibandingkan penguat BJT.</a:t>
            </a:r>
          </a:p>
          <a:p>
            <a:pPr>
              <a:lnSpc>
                <a:spcPct val="80000"/>
              </a:lnSpc>
            </a:pPr>
            <a:r>
              <a:rPr lang="id-ID" altLang="en-US" dirty="0"/>
              <a:t>Seperti pada penguat BJT yang dibedakan dalam tiga konfigurasi (CE,CC, dan CB, penguat FET juga dibedakan dalam tiga konfigurasi yaitu penguat source bersama (Common Source/CS) penguat drain bersama (Common Drain/CD) dan penguat gate bersama (Common Gate/CG)</a:t>
            </a:r>
            <a:endParaRPr lang="en-US" altLang="en-US" dirty="0"/>
          </a:p>
        </p:txBody>
      </p:sp>
    </p:spTree>
    <p:extLst>
      <p:ext uri="{BB962C8B-B14F-4D97-AF65-F5344CB8AC3E}">
        <p14:creationId xmlns:p14="http://schemas.microsoft.com/office/powerpoint/2010/main" val="265211663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667719" y="232846"/>
            <a:ext cx="10515600" cy="1325563"/>
          </a:xfrm>
        </p:spPr>
        <p:txBody>
          <a:bodyPr/>
          <a:lstStyle/>
          <a:p>
            <a:r>
              <a:rPr lang="id-ID" altLang="en-US" sz="3200" b="1" u="sng" dirty="0"/>
              <a:t>Model Sinyal Kecil untuk JFET/MOSFET</a:t>
            </a:r>
            <a:endParaRPr lang="en-US" altLang="en-US" sz="3200" b="1" u="sng" dirty="0"/>
          </a:p>
        </p:txBody>
      </p:sp>
      <p:sp>
        <p:nvSpPr>
          <p:cNvPr id="109571" name="Rectangle 3"/>
          <p:cNvSpPr>
            <a:spLocks noGrp="1" noChangeArrowheads="1"/>
          </p:cNvSpPr>
          <p:nvPr>
            <p:ph type="body" idx="1"/>
          </p:nvPr>
        </p:nvSpPr>
        <p:spPr>
          <a:xfrm>
            <a:off x="667719" y="1600200"/>
            <a:ext cx="11157488" cy="1371600"/>
          </a:xfrm>
        </p:spPr>
        <p:txBody>
          <a:bodyPr/>
          <a:lstStyle/>
          <a:p>
            <a:r>
              <a:rPr lang="id-ID" altLang="en-US" sz="1800" dirty="0"/>
              <a:t>FET merupakan komponen terkendali tegangan yang dapat disajikan dengan model sinyal kecil seperti terlihat pada Gambar 18</a:t>
            </a:r>
            <a:endParaRPr lang="en-US" altLang="en-US" sz="1800" dirty="0"/>
          </a:p>
        </p:txBody>
      </p:sp>
      <p:sp>
        <p:nvSpPr>
          <p:cNvPr id="109573" name="Rectangle 5"/>
          <p:cNvSpPr>
            <a:spLocks noChangeArrowheads="1"/>
          </p:cNvSpPr>
          <p:nvPr/>
        </p:nvSpPr>
        <p:spPr bwMode="auto">
          <a:xfrm>
            <a:off x="1524001" y="23585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09572" name="Object 4"/>
          <p:cNvGraphicFramePr>
            <a:graphicFrameLocks noChangeAspect="1"/>
          </p:cNvGraphicFramePr>
          <p:nvPr/>
        </p:nvGraphicFramePr>
        <p:xfrm>
          <a:off x="3048000" y="2362200"/>
          <a:ext cx="4114800" cy="2046288"/>
        </p:xfrm>
        <a:graphic>
          <a:graphicData uri="http://schemas.openxmlformats.org/presentationml/2006/ole">
            <mc:AlternateContent xmlns:mc="http://schemas.openxmlformats.org/markup-compatibility/2006">
              <mc:Choice xmlns:v="urn:schemas-microsoft-com:vml" Requires="v">
                <p:oleObj spid="_x0000_s17423" r:id="rId3" imgW="3566770" imgH="1774850" progId="Visio.Drawing.11">
                  <p:embed/>
                </p:oleObj>
              </mc:Choice>
              <mc:Fallback>
                <p:oleObj r:id="rId3" imgW="3566770" imgH="1774850" progId="Visio.Drawing.11">
                  <p:embed/>
                  <p:pic>
                    <p:nvPicPr>
                      <p:cNvPr id="10957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2362200"/>
                        <a:ext cx="4114800" cy="2046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9574" name="Text Box 6"/>
          <p:cNvSpPr txBox="1">
            <a:spLocks noChangeArrowheads="1"/>
          </p:cNvSpPr>
          <p:nvPr/>
        </p:nvSpPr>
        <p:spPr bwMode="auto">
          <a:xfrm>
            <a:off x="667719" y="4572000"/>
            <a:ext cx="1097150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id-ID" altLang="en-US" dirty="0"/>
              <a:t>Arus drain Id ditentukan oleh nilai tegangan gate-source Vgs dan tegangan drain – source Vds :</a:t>
            </a:r>
          </a:p>
          <a:p>
            <a:r>
              <a:rPr lang="id-ID" altLang="en-US" dirty="0"/>
              <a:t>	Id = gm Vgs +</a:t>
            </a:r>
            <a:r>
              <a:rPr lang="id-ID" altLang="en-US" u="sng" dirty="0"/>
              <a:t> 1 </a:t>
            </a:r>
            <a:r>
              <a:rPr lang="id-ID" altLang="en-US" dirty="0"/>
              <a:t> Vds			</a:t>
            </a:r>
            <a:r>
              <a:rPr lang="en-US" altLang="en-US" dirty="0"/>
              <a:t>	</a:t>
            </a:r>
            <a:r>
              <a:rPr lang="id-ID" altLang="en-US" dirty="0"/>
              <a:t>(24)</a:t>
            </a:r>
          </a:p>
          <a:p>
            <a:r>
              <a:rPr lang="id-ID" altLang="en-US" dirty="0"/>
              <a:t>		</a:t>
            </a:r>
            <a:r>
              <a:rPr lang="en-US" altLang="en-US" dirty="0"/>
              <a:t>        </a:t>
            </a:r>
            <a:r>
              <a:rPr lang="id-ID" altLang="en-US" dirty="0"/>
              <a:t>Rd</a:t>
            </a:r>
          </a:p>
          <a:p>
            <a:r>
              <a:rPr lang="id-ID" altLang="en-US" dirty="0"/>
              <a:t>Dengan gm : transkonduktans</a:t>
            </a:r>
          </a:p>
          <a:p>
            <a:r>
              <a:rPr lang="id-ID" altLang="en-US" dirty="0"/>
              <a:t>	      rd : resistans drain</a:t>
            </a:r>
            <a:endParaRPr lang="en-US" altLang="en-US" dirty="0"/>
          </a:p>
        </p:txBody>
      </p:sp>
    </p:spTree>
    <p:extLst>
      <p:ext uri="{BB962C8B-B14F-4D97-AF65-F5344CB8AC3E}">
        <p14:creationId xmlns:p14="http://schemas.microsoft.com/office/powerpoint/2010/main" val="44198456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3"/>
          <p:cNvSpPr>
            <a:spLocks noGrp="1" noChangeArrowheads="1"/>
          </p:cNvSpPr>
          <p:nvPr>
            <p:ph type="body" idx="1"/>
          </p:nvPr>
        </p:nvSpPr>
        <p:spPr>
          <a:xfrm>
            <a:off x="604434" y="838201"/>
            <a:ext cx="11205274" cy="4525963"/>
          </a:xfrm>
        </p:spPr>
        <p:txBody>
          <a:bodyPr/>
          <a:lstStyle/>
          <a:p>
            <a:pPr>
              <a:lnSpc>
                <a:spcPct val="80000"/>
              </a:lnSpc>
              <a:buFontTx/>
              <a:buNone/>
            </a:pPr>
            <a:r>
              <a:rPr lang="en-US" altLang="en-US" sz="2000" dirty="0"/>
              <a:t>	</a:t>
            </a:r>
            <a:r>
              <a:rPr lang="id-ID" altLang="en-US" sz="2000" dirty="0"/>
              <a:t>transkonduktans gm dan resistans drain rd didefinisikan sebagai berikut :</a:t>
            </a:r>
          </a:p>
          <a:p>
            <a:pPr>
              <a:lnSpc>
                <a:spcPct val="80000"/>
              </a:lnSpc>
              <a:buNone/>
            </a:pPr>
            <a:r>
              <a:rPr lang="en-US" altLang="en-US" sz="2000" dirty="0" smtClean="0"/>
              <a:t>	</a:t>
            </a:r>
            <a:r>
              <a:rPr lang="id-ID" altLang="en-US" sz="2000" dirty="0" smtClean="0"/>
              <a:t>gm =</a:t>
            </a:r>
            <a:r>
              <a:rPr lang="id-ID" altLang="en-US" sz="2000" u="sng" dirty="0" smtClean="0"/>
              <a:t> i d   </a:t>
            </a:r>
            <a:r>
              <a:rPr lang="id-ID" altLang="en-US" sz="2000" dirty="0" smtClean="0"/>
              <a:t>               = </a:t>
            </a:r>
            <a:r>
              <a:rPr lang="id-ID" altLang="en-US" sz="2000" u="sng" dirty="0" smtClean="0">
                <a:sym typeface="Symbol" panose="05050102010706020507" pitchFamily="18" charset="2"/>
              </a:rPr>
              <a:t></a:t>
            </a:r>
            <a:r>
              <a:rPr lang="id-ID" altLang="en-US" sz="2000" u="sng" dirty="0" smtClean="0"/>
              <a:t>ID </a:t>
            </a:r>
            <a:r>
              <a:rPr lang="id-ID" altLang="en-US" sz="2000" dirty="0" smtClean="0"/>
              <a:t>            : transkonduktans dengan</a:t>
            </a:r>
            <a:r>
              <a:rPr lang="en-US" altLang="en-US" sz="2000" dirty="0" smtClean="0"/>
              <a:t> </a:t>
            </a:r>
            <a:r>
              <a:rPr lang="id-ID" altLang="en-US" sz="2000" dirty="0"/>
              <a:t>keluaran dihubung </a:t>
            </a:r>
            <a:r>
              <a:rPr lang="id-ID" altLang="en-US" sz="2000" dirty="0" smtClean="0"/>
              <a:t>singkat</a:t>
            </a:r>
            <a:r>
              <a:rPr lang="en-US" altLang="en-US" sz="2000" dirty="0" smtClean="0"/>
              <a:t> </a:t>
            </a:r>
            <a:r>
              <a:rPr lang="id-ID" altLang="en-US" sz="2000" dirty="0"/>
              <a:t>(A/V atau Siemens)</a:t>
            </a:r>
          </a:p>
          <a:p>
            <a:pPr>
              <a:lnSpc>
                <a:spcPct val="80000"/>
              </a:lnSpc>
              <a:buFontTx/>
              <a:buNone/>
            </a:pPr>
            <a:r>
              <a:rPr lang="en-US" altLang="en-US" sz="2000" dirty="0"/>
              <a:t>	</a:t>
            </a:r>
            <a:r>
              <a:rPr lang="id-ID" altLang="en-US" sz="2000" dirty="0"/>
              <a:t>         Vgs    ds =0     </a:t>
            </a:r>
            <a:r>
              <a:rPr lang="id-ID" altLang="en-US" sz="2000" dirty="0">
                <a:sym typeface="Symbol" panose="05050102010706020507" pitchFamily="18" charset="2"/>
              </a:rPr>
              <a:t></a:t>
            </a:r>
            <a:r>
              <a:rPr lang="id-ID" altLang="en-US" sz="2000" dirty="0"/>
              <a:t>Vgs   </a:t>
            </a:r>
            <a:r>
              <a:rPr lang="id-ID" altLang="en-US" sz="2000" dirty="0" smtClean="0"/>
              <a:t>Vds</a:t>
            </a:r>
          </a:p>
          <a:p>
            <a:pPr>
              <a:lnSpc>
                <a:spcPct val="80000"/>
              </a:lnSpc>
              <a:buFontTx/>
              <a:buNone/>
            </a:pPr>
            <a:r>
              <a:rPr lang="en-US" altLang="en-US" sz="2000" dirty="0" smtClean="0"/>
              <a:t> 					</a:t>
            </a:r>
            <a:r>
              <a:rPr lang="id-ID" altLang="en-US" sz="2000" dirty="0" smtClean="0"/>
              <a:t>            </a:t>
            </a:r>
            <a:endParaRPr lang="en-US" altLang="en-US" sz="2000" dirty="0" smtClean="0"/>
          </a:p>
          <a:p>
            <a:pPr>
              <a:lnSpc>
                <a:spcPct val="80000"/>
              </a:lnSpc>
              <a:buNone/>
            </a:pPr>
            <a:r>
              <a:rPr lang="en-US" altLang="en-US" sz="2000" dirty="0"/>
              <a:t>	</a:t>
            </a:r>
            <a:r>
              <a:rPr lang="id-ID" altLang="en-US" sz="2000" dirty="0"/>
              <a:t>gm =</a:t>
            </a:r>
            <a:r>
              <a:rPr lang="id-ID" altLang="en-US" sz="2000" u="sng" dirty="0"/>
              <a:t> v ds   </a:t>
            </a:r>
            <a:r>
              <a:rPr lang="id-ID" altLang="en-US" sz="2000" dirty="0"/>
              <a:t>           = </a:t>
            </a:r>
            <a:r>
              <a:rPr lang="id-ID" altLang="en-US" sz="2000" u="sng" dirty="0">
                <a:sym typeface="Symbol" panose="05050102010706020507" pitchFamily="18" charset="2"/>
              </a:rPr>
              <a:t></a:t>
            </a:r>
            <a:r>
              <a:rPr lang="id-ID" altLang="en-US" sz="2000" u="sng" dirty="0"/>
              <a:t>Vds </a:t>
            </a:r>
            <a:r>
              <a:rPr lang="id-ID" altLang="en-US" sz="2000" dirty="0"/>
              <a:t>       </a:t>
            </a:r>
            <a:r>
              <a:rPr lang="en-US" altLang="en-US" sz="2000" dirty="0" smtClean="0"/>
              <a:t>     </a:t>
            </a:r>
            <a:r>
              <a:rPr lang="id-ID" altLang="en-US" sz="2000" dirty="0" smtClean="0"/>
              <a:t> </a:t>
            </a:r>
            <a:r>
              <a:rPr lang="id-ID" altLang="en-US" sz="2000" dirty="0"/>
              <a:t>:  resistans drain atau resistans keluaran dengan masukan</a:t>
            </a:r>
            <a:r>
              <a:rPr lang="en-US" altLang="en-US" sz="2000" dirty="0"/>
              <a:t> </a:t>
            </a:r>
            <a:r>
              <a:rPr lang="id-ID" altLang="en-US" sz="2000" dirty="0" smtClean="0"/>
              <a:t>Dihungung</a:t>
            </a:r>
            <a:endParaRPr lang="en-US" altLang="en-US" sz="2000" dirty="0" smtClean="0"/>
          </a:p>
          <a:p>
            <a:pPr>
              <a:lnSpc>
                <a:spcPct val="80000"/>
              </a:lnSpc>
              <a:buNone/>
            </a:pPr>
            <a:r>
              <a:rPr lang="en-US" altLang="en-US" sz="2000" dirty="0"/>
              <a:t> </a:t>
            </a:r>
            <a:r>
              <a:rPr lang="en-US" altLang="en-US" sz="2000" dirty="0" smtClean="0"/>
              <a:t>               </a:t>
            </a:r>
            <a:r>
              <a:rPr lang="id-ID" altLang="en-US" sz="2000" dirty="0" smtClean="0"/>
              <a:t>Id</a:t>
            </a:r>
            <a:r>
              <a:rPr lang="en-US" altLang="en-US" sz="2000" dirty="0" smtClean="0"/>
              <a:t>     </a:t>
            </a:r>
            <a:r>
              <a:rPr lang="id-ID" altLang="en-US" sz="2000" dirty="0" smtClean="0"/>
              <a:t>Vgs </a:t>
            </a:r>
            <a:r>
              <a:rPr lang="id-ID" altLang="en-US" sz="2000" dirty="0"/>
              <a:t>=0     </a:t>
            </a:r>
            <a:r>
              <a:rPr lang="id-ID" altLang="en-US" sz="2000" dirty="0">
                <a:sym typeface="Symbol" panose="05050102010706020507" pitchFamily="18" charset="2"/>
              </a:rPr>
              <a:t></a:t>
            </a:r>
            <a:r>
              <a:rPr lang="id-ID" altLang="en-US" sz="2000" dirty="0"/>
              <a:t>Id   Vgs </a:t>
            </a:r>
            <a:r>
              <a:rPr lang="en-US" altLang="en-US" sz="2000" dirty="0"/>
              <a:t>	</a:t>
            </a:r>
            <a:r>
              <a:rPr lang="en-US" altLang="en-US" sz="2000" dirty="0" smtClean="0"/>
              <a:t>  </a:t>
            </a:r>
            <a:r>
              <a:rPr lang="id-ID" altLang="en-US" sz="2000" dirty="0" smtClean="0"/>
              <a:t>singkat</a:t>
            </a:r>
            <a:r>
              <a:rPr lang="en-US" altLang="en-US" sz="2000" dirty="0" smtClean="0"/>
              <a:t> </a:t>
            </a:r>
            <a:r>
              <a:rPr lang="en-US" altLang="en-US" sz="2000" dirty="0"/>
              <a:t>	</a:t>
            </a:r>
            <a:r>
              <a:rPr lang="id-ID" altLang="en-US" sz="2000" dirty="0"/>
              <a:t>(ohm)       </a:t>
            </a:r>
            <a:r>
              <a:rPr lang="en-US" altLang="en-US" sz="2000" dirty="0"/>
              <a:t>		</a:t>
            </a:r>
            <a:r>
              <a:rPr lang="id-ID" altLang="en-US" sz="2000" dirty="0"/>
              <a:t>(26)</a:t>
            </a:r>
          </a:p>
          <a:p>
            <a:pPr>
              <a:lnSpc>
                <a:spcPct val="80000"/>
              </a:lnSpc>
              <a:buFontTx/>
              <a:buNone/>
            </a:pPr>
            <a:endParaRPr lang="id-ID" altLang="en-US" sz="2000" dirty="0"/>
          </a:p>
          <a:p>
            <a:pPr>
              <a:lnSpc>
                <a:spcPct val="80000"/>
              </a:lnSpc>
              <a:buFontTx/>
              <a:buNone/>
            </a:pPr>
            <a:r>
              <a:rPr lang="en-US" altLang="en-US" sz="2000" dirty="0"/>
              <a:t>	</a:t>
            </a:r>
            <a:r>
              <a:rPr lang="id-ID" altLang="en-US" sz="2000" dirty="0" smtClean="0"/>
              <a:t>Nilai </a:t>
            </a:r>
            <a:r>
              <a:rPr lang="id-ID" altLang="en-US" sz="2000" dirty="0"/>
              <a:t>gm tidak konstan pada seluruh kurva transkonduktans, dan bergantung pada titik kerja (Vds, Vgs, dan frekuensi) pada JFET ada persamaan yang memberikan nilai gm untuk nilai Vgs tertentu yaitu :</a:t>
            </a:r>
          </a:p>
          <a:p>
            <a:pPr>
              <a:lnSpc>
                <a:spcPct val="80000"/>
              </a:lnSpc>
              <a:buFontTx/>
              <a:buNone/>
            </a:pPr>
            <a:r>
              <a:rPr lang="en-US" altLang="en-US" sz="2000" dirty="0"/>
              <a:t>	</a:t>
            </a:r>
            <a:r>
              <a:rPr lang="id-ID" altLang="en-US" sz="2000" dirty="0"/>
              <a:t>gm = gmo </a:t>
            </a:r>
            <a:r>
              <a:rPr lang="id-ID" altLang="en-US" sz="2000" u="sng" dirty="0"/>
              <a:t>(1-     VGS)</a:t>
            </a:r>
            <a:r>
              <a:rPr lang="id-ID" altLang="en-US" sz="2000" dirty="0"/>
              <a:t>		</a:t>
            </a:r>
            <a:r>
              <a:rPr lang="en-US" altLang="en-US" sz="2000" dirty="0"/>
              <a:t>			</a:t>
            </a:r>
            <a:r>
              <a:rPr lang="id-ID" altLang="en-US" sz="2000" dirty="0"/>
              <a:t>(27)</a:t>
            </a:r>
          </a:p>
          <a:p>
            <a:pPr>
              <a:lnSpc>
                <a:spcPct val="80000"/>
              </a:lnSpc>
              <a:buFontTx/>
              <a:buNone/>
            </a:pPr>
            <a:r>
              <a:rPr lang="en-US" altLang="en-US" sz="2000" dirty="0"/>
              <a:t>	</a:t>
            </a:r>
            <a:r>
              <a:rPr lang="id-ID" altLang="en-US" sz="2000" dirty="0"/>
              <a:t>	</a:t>
            </a:r>
            <a:r>
              <a:rPr lang="en-US" altLang="en-US" sz="2000" dirty="0"/>
              <a:t>         </a:t>
            </a:r>
            <a:r>
              <a:rPr lang="id-ID" altLang="en-US" sz="2000" dirty="0"/>
              <a:t> VGS(off)</a:t>
            </a:r>
            <a:endParaRPr lang="en-US" altLang="en-US" sz="2000" dirty="0"/>
          </a:p>
        </p:txBody>
      </p:sp>
      <p:sp>
        <p:nvSpPr>
          <p:cNvPr id="110596" name="Line 4"/>
          <p:cNvSpPr>
            <a:spLocks noChangeShapeType="1"/>
          </p:cNvSpPr>
          <p:nvPr/>
        </p:nvSpPr>
        <p:spPr bwMode="auto">
          <a:xfrm>
            <a:off x="1968284" y="1308315"/>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0597" name="Line 5"/>
          <p:cNvSpPr>
            <a:spLocks noChangeShapeType="1"/>
          </p:cNvSpPr>
          <p:nvPr/>
        </p:nvSpPr>
        <p:spPr bwMode="auto">
          <a:xfrm>
            <a:off x="3472912" y="1308315"/>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0598" name="Line 6"/>
          <p:cNvSpPr>
            <a:spLocks noChangeShapeType="1"/>
          </p:cNvSpPr>
          <p:nvPr/>
        </p:nvSpPr>
        <p:spPr bwMode="auto">
          <a:xfrm>
            <a:off x="3472912" y="2362200"/>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0599" name="Line 7"/>
          <p:cNvSpPr>
            <a:spLocks noChangeShapeType="1"/>
          </p:cNvSpPr>
          <p:nvPr/>
        </p:nvSpPr>
        <p:spPr bwMode="auto">
          <a:xfrm>
            <a:off x="1997989" y="2362200"/>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67592770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3"/>
          <p:cNvSpPr>
            <a:spLocks noGrp="1" noChangeArrowheads="1"/>
          </p:cNvSpPr>
          <p:nvPr>
            <p:ph type="body" idx="1"/>
          </p:nvPr>
        </p:nvSpPr>
        <p:spPr>
          <a:xfrm>
            <a:off x="681925" y="762001"/>
            <a:ext cx="10817817" cy="4525963"/>
          </a:xfrm>
        </p:spPr>
        <p:txBody>
          <a:bodyPr/>
          <a:lstStyle/>
          <a:p>
            <a:pPr>
              <a:lnSpc>
                <a:spcPct val="80000"/>
              </a:lnSpc>
            </a:pPr>
            <a:r>
              <a:rPr lang="id-ID" altLang="en-US" sz="2000" dirty="0"/>
              <a:t>Dengan gmo : nilai maksimum gm yang diukur pada GS = 0 V. Pada lembar spesifikasi (spec sheet) biasanya gmo ditulis dengan yfs atau gfs. Jika nilai transkonduktans maksimum tidak diberikan, maka gmo dapat didekati dengan </a:t>
            </a:r>
          </a:p>
          <a:p>
            <a:pPr>
              <a:lnSpc>
                <a:spcPct val="80000"/>
              </a:lnSpc>
              <a:buFontTx/>
              <a:buNone/>
            </a:pPr>
            <a:r>
              <a:rPr lang="en-US" altLang="en-US" sz="2000" dirty="0"/>
              <a:t>		</a:t>
            </a:r>
            <a:r>
              <a:rPr lang="id-ID" altLang="en-US" sz="2000" dirty="0"/>
              <a:t>Gmo = </a:t>
            </a:r>
            <a:r>
              <a:rPr lang="id-ID" altLang="en-US" sz="2000" u="sng" dirty="0"/>
              <a:t>2 I</a:t>
            </a:r>
            <a:r>
              <a:rPr lang="id-ID" altLang="en-US" sz="1400" u="sng" dirty="0"/>
              <a:t>DSS</a:t>
            </a:r>
            <a:r>
              <a:rPr lang="id-ID" altLang="en-US" sz="2000" u="sng" dirty="0"/>
              <a:t>	</a:t>
            </a:r>
            <a:r>
              <a:rPr lang="id-ID" altLang="en-US" sz="2000" dirty="0"/>
              <a:t>				</a:t>
            </a:r>
            <a:r>
              <a:rPr lang="en-US" altLang="en-US" sz="2000" dirty="0"/>
              <a:t>	</a:t>
            </a:r>
            <a:r>
              <a:rPr lang="id-ID" altLang="en-US" sz="2000" dirty="0"/>
              <a:t>(28)</a:t>
            </a:r>
          </a:p>
          <a:p>
            <a:pPr>
              <a:lnSpc>
                <a:spcPct val="80000"/>
              </a:lnSpc>
              <a:buFontTx/>
              <a:buNone/>
            </a:pPr>
            <a:r>
              <a:rPr lang="en-US" altLang="en-US" sz="2000" dirty="0"/>
              <a:t>		</a:t>
            </a:r>
            <a:r>
              <a:rPr lang="id-ID" altLang="en-US" sz="2000" dirty="0"/>
              <a:t>	V</a:t>
            </a:r>
            <a:r>
              <a:rPr lang="id-ID" altLang="en-US" sz="1400" dirty="0"/>
              <a:t>GS(off)</a:t>
            </a:r>
          </a:p>
          <a:p>
            <a:pPr>
              <a:lnSpc>
                <a:spcPct val="80000"/>
              </a:lnSpc>
              <a:buFontTx/>
              <a:buNone/>
            </a:pPr>
            <a:r>
              <a:rPr lang="en-US" altLang="en-US" sz="2000" dirty="0"/>
              <a:t>	</a:t>
            </a:r>
            <a:r>
              <a:rPr lang="id-ID" altLang="en-US" sz="2000" dirty="0"/>
              <a:t>Resistans drain dapat diperoleh dari formula </a:t>
            </a:r>
          </a:p>
          <a:p>
            <a:pPr>
              <a:lnSpc>
                <a:spcPct val="80000"/>
              </a:lnSpc>
              <a:buFontTx/>
              <a:buNone/>
            </a:pPr>
            <a:r>
              <a:rPr lang="en-US" altLang="en-US" sz="2000" dirty="0"/>
              <a:t>	</a:t>
            </a:r>
            <a:r>
              <a:rPr lang="id-ID" altLang="en-US" sz="2000" dirty="0"/>
              <a:t>	Rd = </a:t>
            </a:r>
            <a:r>
              <a:rPr lang="id-ID" altLang="en-US" sz="2000" u="sng" dirty="0"/>
              <a:t> 1	</a:t>
            </a:r>
            <a:r>
              <a:rPr lang="id-ID" altLang="en-US" sz="2000" dirty="0"/>
              <a:t>					</a:t>
            </a:r>
            <a:r>
              <a:rPr lang="en-US" altLang="en-US" sz="2000" dirty="0"/>
              <a:t>	</a:t>
            </a:r>
            <a:r>
              <a:rPr lang="id-ID" altLang="en-US" sz="2000" dirty="0"/>
              <a:t>(29)</a:t>
            </a:r>
          </a:p>
          <a:p>
            <a:pPr>
              <a:lnSpc>
                <a:spcPct val="80000"/>
              </a:lnSpc>
              <a:buFontTx/>
              <a:buNone/>
            </a:pPr>
            <a:r>
              <a:rPr lang="en-US" altLang="en-US" sz="2000" dirty="0"/>
              <a:t>	</a:t>
            </a:r>
            <a:r>
              <a:rPr lang="id-ID" altLang="en-US" sz="2000" dirty="0"/>
              <a:t>                </a:t>
            </a:r>
            <a:r>
              <a:rPr lang="en-US" altLang="en-US" sz="2000" dirty="0" smtClean="0"/>
              <a:t>    </a:t>
            </a:r>
            <a:r>
              <a:rPr lang="id-ID" altLang="en-US" sz="2000" dirty="0" smtClean="0"/>
              <a:t> </a:t>
            </a:r>
            <a:r>
              <a:rPr lang="id-ID" altLang="en-US" sz="2000" dirty="0"/>
              <a:t>Yfs</a:t>
            </a:r>
          </a:p>
          <a:p>
            <a:pPr>
              <a:lnSpc>
                <a:spcPct val="80000"/>
              </a:lnSpc>
              <a:buFontTx/>
              <a:buNone/>
            </a:pPr>
            <a:r>
              <a:rPr lang="en-US" altLang="en-US" sz="2000" dirty="0"/>
              <a:t>	</a:t>
            </a:r>
            <a:r>
              <a:rPr lang="id-ID" altLang="en-US" sz="2000" dirty="0"/>
              <a:t>Dengan yOS admitans keluaran atau kondukstan keluaran yang tergantung pada frekuensi kerja (dapat dilihat pada lembar spesifikasi)</a:t>
            </a:r>
            <a:endParaRPr lang="en-US" altLang="en-US" sz="2000" dirty="0"/>
          </a:p>
        </p:txBody>
      </p:sp>
    </p:spTree>
    <p:extLst>
      <p:ext uri="{BB962C8B-B14F-4D97-AF65-F5344CB8AC3E}">
        <p14:creationId xmlns:p14="http://schemas.microsoft.com/office/powerpoint/2010/main" val="34085992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3"/>
          <p:cNvSpPr>
            <a:spLocks noGrp="1" noChangeArrowheads="1"/>
          </p:cNvSpPr>
          <p:nvPr>
            <p:ph type="body" idx="1"/>
          </p:nvPr>
        </p:nvSpPr>
        <p:spPr>
          <a:xfrm>
            <a:off x="418454" y="381000"/>
            <a:ext cx="11081288" cy="1752600"/>
          </a:xfrm>
        </p:spPr>
        <p:txBody>
          <a:bodyPr/>
          <a:lstStyle/>
          <a:p>
            <a:pPr>
              <a:buFontTx/>
              <a:buNone/>
            </a:pPr>
            <a:r>
              <a:rPr lang="id-ID" altLang="en-US" sz="2400" b="1" u="sng" dirty="0"/>
              <a:t>Penguat Source Bersama (CS)</a:t>
            </a:r>
            <a:endParaRPr lang="id-ID" altLang="en-US" sz="2400" dirty="0"/>
          </a:p>
          <a:p>
            <a:r>
              <a:rPr lang="id-ID" altLang="en-US" sz="2400" dirty="0"/>
              <a:t>Gambar 19a adalah untai penguat source bersama untuk JFET dan untai ekuivalen ac nya terlihat pada Gambar 19b</a:t>
            </a:r>
            <a:endParaRPr lang="en-US" altLang="en-US" sz="2400" dirty="0"/>
          </a:p>
        </p:txBody>
      </p:sp>
      <p:sp>
        <p:nvSpPr>
          <p:cNvPr id="112645" name="Rectangle 5"/>
          <p:cNvSpPr>
            <a:spLocks noChangeArrowheads="1"/>
          </p:cNvSpPr>
          <p:nvPr/>
        </p:nvSpPr>
        <p:spPr bwMode="auto">
          <a:xfrm>
            <a:off x="1524001" y="19632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12644" name="Object 4"/>
          <p:cNvGraphicFramePr>
            <a:graphicFrameLocks noChangeAspect="1"/>
          </p:cNvGraphicFramePr>
          <p:nvPr/>
        </p:nvGraphicFramePr>
        <p:xfrm>
          <a:off x="2209801" y="2209801"/>
          <a:ext cx="2562225" cy="2562225"/>
        </p:xfrm>
        <a:graphic>
          <a:graphicData uri="http://schemas.openxmlformats.org/presentationml/2006/ole">
            <mc:AlternateContent xmlns:mc="http://schemas.openxmlformats.org/markup-compatibility/2006">
              <mc:Choice xmlns:v="urn:schemas-microsoft-com:vml" Requires="v">
                <p:oleObj spid="_x0000_s18460" r:id="rId3" imgW="2560798" imgH="2560638" progId="Visio.Drawing.11">
                  <p:embed/>
                </p:oleObj>
              </mc:Choice>
              <mc:Fallback>
                <p:oleObj r:id="rId3" imgW="2560798" imgH="2560638" progId="Visio.Drawing.11">
                  <p:embed/>
                  <p:pic>
                    <p:nvPicPr>
                      <p:cNvPr id="11264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1" y="2209801"/>
                        <a:ext cx="2562225" cy="2562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47" name="Rectangle 7"/>
          <p:cNvSpPr>
            <a:spLocks noChangeArrowheads="1"/>
          </p:cNvSpPr>
          <p:nvPr/>
        </p:nvSpPr>
        <p:spPr bwMode="auto">
          <a:xfrm>
            <a:off x="1524001" y="24489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12646" name="Object 6"/>
          <p:cNvGraphicFramePr>
            <a:graphicFrameLocks noChangeAspect="1"/>
          </p:cNvGraphicFramePr>
          <p:nvPr/>
        </p:nvGraphicFramePr>
        <p:xfrm>
          <a:off x="5257801" y="2286000"/>
          <a:ext cx="4829175" cy="1962150"/>
        </p:xfrm>
        <a:graphic>
          <a:graphicData uri="http://schemas.openxmlformats.org/presentationml/2006/ole">
            <mc:AlternateContent xmlns:mc="http://schemas.openxmlformats.org/markup-compatibility/2006">
              <mc:Choice xmlns:v="urn:schemas-microsoft-com:vml" Requires="v">
                <p:oleObj spid="_x0000_s18461" r:id="rId5" imgW="3911640" imgH="1588035" progId="Visio.Drawing.11">
                  <p:embed/>
                </p:oleObj>
              </mc:Choice>
              <mc:Fallback>
                <p:oleObj r:id="rId5" imgW="3911640" imgH="1588035" progId="Visio.Drawing.11">
                  <p:embed/>
                  <p:pic>
                    <p:nvPicPr>
                      <p:cNvPr id="112646"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7801" y="2286000"/>
                        <a:ext cx="4829175" cy="1962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8549059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Rectangle 3"/>
          <p:cNvSpPr>
            <a:spLocks noGrp="1" noChangeArrowheads="1"/>
          </p:cNvSpPr>
          <p:nvPr>
            <p:ph type="body" idx="1"/>
          </p:nvPr>
        </p:nvSpPr>
        <p:spPr>
          <a:xfrm>
            <a:off x="402956" y="533400"/>
            <a:ext cx="11406752" cy="5791200"/>
          </a:xfrm>
        </p:spPr>
        <p:txBody>
          <a:bodyPr>
            <a:normAutofit/>
          </a:bodyPr>
          <a:lstStyle/>
          <a:p>
            <a:pPr>
              <a:lnSpc>
                <a:spcPct val="80000"/>
              </a:lnSpc>
            </a:pPr>
            <a:r>
              <a:rPr lang="id-ID" altLang="en-US" sz="2000" dirty="0"/>
              <a:t>Tegangan keluaran Vo dapat dihitung sebagai berikut :</a:t>
            </a:r>
          </a:p>
          <a:p>
            <a:pPr>
              <a:lnSpc>
                <a:spcPct val="80000"/>
              </a:lnSpc>
              <a:buFontTx/>
              <a:buNone/>
            </a:pPr>
            <a:r>
              <a:rPr lang="en-US" altLang="en-US" sz="2000" dirty="0"/>
              <a:t>		</a:t>
            </a:r>
            <a:r>
              <a:rPr lang="id-ID" altLang="en-US" sz="2000" dirty="0"/>
              <a:t>Vo = - gm Vgs. R</a:t>
            </a:r>
            <a:r>
              <a:rPr lang="id-ID" altLang="en-US" sz="2000" dirty="0">
                <a:sym typeface="Symbol" panose="05050102010706020507" pitchFamily="18" charset="2"/>
              </a:rPr>
              <a:t></a:t>
            </a:r>
            <a:r>
              <a:rPr lang="id-ID" altLang="en-US" sz="1200" dirty="0"/>
              <a:t>D</a:t>
            </a:r>
            <a:r>
              <a:rPr lang="id-ID" altLang="en-US" sz="2000" dirty="0"/>
              <a:t>				</a:t>
            </a:r>
            <a:r>
              <a:rPr lang="en-US" altLang="en-US" sz="2000" dirty="0"/>
              <a:t>             	   </a:t>
            </a:r>
            <a:r>
              <a:rPr lang="id-ID" altLang="en-US" sz="2000" dirty="0"/>
              <a:t>(30)</a:t>
            </a:r>
          </a:p>
          <a:p>
            <a:pPr>
              <a:lnSpc>
                <a:spcPct val="80000"/>
              </a:lnSpc>
              <a:buFontTx/>
              <a:buNone/>
            </a:pPr>
            <a:r>
              <a:rPr lang="en-US" altLang="en-US" sz="2000" dirty="0"/>
              <a:t>	</a:t>
            </a:r>
            <a:r>
              <a:rPr lang="id-ID" altLang="en-US" sz="2000" dirty="0"/>
              <a:t>dengan R’</a:t>
            </a:r>
            <a:r>
              <a:rPr lang="id-ID" altLang="en-US" sz="1200" dirty="0"/>
              <a:t>D</a:t>
            </a:r>
            <a:r>
              <a:rPr lang="id-ID" altLang="en-US" sz="2000" dirty="0"/>
              <a:t> = rd // R</a:t>
            </a:r>
            <a:r>
              <a:rPr lang="id-ID" altLang="en-US" sz="1200" dirty="0"/>
              <a:t>D</a:t>
            </a:r>
            <a:r>
              <a:rPr lang="id-ID" altLang="en-US" sz="2000" dirty="0"/>
              <a:t>  =  </a:t>
            </a:r>
            <a:r>
              <a:rPr lang="id-ID" altLang="en-US" sz="2000" u="sng" dirty="0"/>
              <a:t> rdR</a:t>
            </a:r>
            <a:r>
              <a:rPr lang="id-ID" altLang="en-US" sz="1200" u="sng" dirty="0"/>
              <a:t>D</a:t>
            </a:r>
            <a:endParaRPr lang="id-ID" altLang="en-US" sz="1200" dirty="0"/>
          </a:p>
          <a:p>
            <a:pPr>
              <a:lnSpc>
                <a:spcPct val="80000"/>
              </a:lnSpc>
              <a:buFontTx/>
              <a:buNone/>
            </a:pPr>
            <a:r>
              <a:rPr lang="en-US" altLang="en-US" sz="2000" dirty="0"/>
              <a:t>	</a:t>
            </a:r>
            <a:r>
              <a:rPr lang="id-ID" altLang="en-US" sz="2000" dirty="0"/>
              <a:t>			</a:t>
            </a:r>
            <a:r>
              <a:rPr lang="en-US" altLang="en-US" sz="2000" dirty="0"/>
              <a:t>      </a:t>
            </a:r>
            <a:r>
              <a:rPr lang="id-ID" altLang="en-US" sz="2000" dirty="0"/>
              <a:t>Rd + R</a:t>
            </a:r>
            <a:r>
              <a:rPr lang="id-ID" altLang="en-US" sz="1200" dirty="0"/>
              <a:t>D</a:t>
            </a:r>
          </a:p>
          <a:p>
            <a:pPr>
              <a:lnSpc>
                <a:spcPct val="80000"/>
              </a:lnSpc>
            </a:pPr>
            <a:r>
              <a:rPr lang="id-ID" altLang="en-US" sz="2000" dirty="0"/>
              <a:t>Peroleh tegangan Av adalah ratio antara tegangan dan keluaran Vo dan tegangan masukan Vi :</a:t>
            </a:r>
          </a:p>
          <a:p>
            <a:pPr>
              <a:lnSpc>
                <a:spcPct val="80000"/>
              </a:lnSpc>
              <a:buFontTx/>
              <a:buNone/>
            </a:pPr>
            <a:r>
              <a:rPr lang="en-US" altLang="en-US" sz="2000" dirty="0"/>
              <a:t>	</a:t>
            </a:r>
            <a:r>
              <a:rPr lang="id-ID" altLang="en-US" sz="2000" dirty="0"/>
              <a:t>	Av = </a:t>
            </a:r>
            <a:r>
              <a:rPr lang="id-ID" altLang="en-US" sz="2000" u="sng" dirty="0"/>
              <a:t>Vo </a:t>
            </a:r>
            <a:r>
              <a:rPr lang="id-ID" altLang="en-US" sz="2000" dirty="0"/>
              <a:t>  = </a:t>
            </a:r>
            <a:r>
              <a:rPr lang="id-ID" altLang="en-US" sz="2000" u="sng" dirty="0"/>
              <a:t>Vo </a:t>
            </a:r>
            <a:r>
              <a:rPr lang="id-ID" altLang="en-US" sz="2000" dirty="0"/>
              <a:t>  = - gm R’</a:t>
            </a:r>
            <a:r>
              <a:rPr lang="id-ID" altLang="en-US" sz="1200" dirty="0"/>
              <a:t>D</a:t>
            </a:r>
            <a:r>
              <a:rPr lang="id-ID" altLang="en-US" sz="2000" dirty="0"/>
              <a:t>				</a:t>
            </a:r>
            <a:r>
              <a:rPr lang="en-US" altLang="en-US" sz="2000" dirty="0"/>
              <a:t>   </a:t>
            </a:r>
            <a:r>
              <a:rPr lang="id-ID" altLang="en-US" sz="2000" dirty="0"/>
              <a:t>(31)</a:t>
            </a:r>
          </a:p>
          <a:p>
            <a:pPr lvl="2">
              <a:lnSpc>
                <a:spcPct val="80000"/>
              </a:lnSpc>
              <a:buFontTx/>
              <a:buNone/>
            </a:pPr>
            <a:r>
              <a:rPr lang="en-US" altLang="en-US" sz="1600" dirty="0"/>
              <a:t>            </a:t>
            </a:r>
            <a:r>
              <a:rPr lang="id-ID" altLang="en-US" sz="1600" dirty="0"/>
              <a:t>Vi       Vgs </a:t>
            </a:r>
            <a:endParaRPr lang="en-US" altLang="en-US" sz="1600" dirty="0"/>
          </a:p>
          <a:p>
            <a:pPr lvl="2">
              <a:lnSpc>
                <a:spcPct val="80000"/>
              </a:lnSpc>
              <a:buFontTx/>
              <a:buNone/>
            </a:pPr>
            <a:endParaRPr lang="id-ID" altLang="en-US" sz="1600" dirty="0"/>
          </a:p>
          <a:p>
            <a:pPr>
              <a:lnSpc>
                <a:spcPct val="80000"/>
              </a:lnSpc>
            </a:pPr>
            <a:r>
              <a:rPr lang="id-ID" altLang="en-US" sz="2000" dirty="0"/>
              <a:t>Tanda negatif menunjukan bahwa sinyal keluaran berlawanan fase dengan sinyal masukan.</a:t>
            </a:r>
          </a:p>
          <a:p>
            <a:pPr>
              <a:lnSpc>
                <a:spcPct val="80000"/>
              </a:lnSpc>
            </a:pPr>
            <a:r>
              <a:rPr lang="id-ID" altLang="en-US" sz="2000" dirty="0"/>
              <a:t>Resistans masukan yang terlihat oleh i adalah :</a:t>
            </a:r>
          </a:p>
          <a:p>
            <a:pPr>
              <a:lnSpc>
                <a:spcPct val="80000"/>
              </a:lnSpc>
              <a:buFontTx/>
              <a:buNone/>
            </a:pPr>
            <a:r>
              <a:rPr lang="en-US" altLang="en-US" sz="2000" dirty="0"/>
              <a:t>	</a:t>
            </a:r>
            <a:r>
              <a:rPr lang="id-ID" altLang="en-US" sz="2000" dirty="0"/>
              <a:t>	Ri = R</a:t>
            </a:r>
            <a:r>
              <a:rPr lang="id-ID" altLang="en-US" sz="1400" dirty="0"/>
              <a:t>G </a:t>
            </a:r>
            <a:r>
              <a:rPr lang="id-ID" altLang="en-US" sz="2000" dirty="0"/>
              <a:t>= R1//R2 = </a:t>
            </a:r>
            <a:r>
              <a:rPr lang="id-ID" altLang="en-US" sz="2000" u="sng" dirty="0"/>
              <a:t>R1R2</a:t>
            </a:r>
            <a:r>
              <a:rPr lang="id-ID" altLang="en-US" sz="2000" dirty="0"/>
              <a:t>				</a:t>
            </a:r>
            <a:r>
              <a:rPr lang="en-US" altLang="en-US" sz="2000" dirty="0"/>
              <a:t>   </a:t>
            </a:r>
            <a:r>
              <a:rPr lang="id-ID" altLang="en-US" sz="2000" dirty="0"/>
              <a:t>(32)</a:t>
            </a:r>
          </a:p>
          <a:p>
            <a:pPr>
              <a:lnSpc>
                <a:spcPct val="80000"/>
              </a:lnSpc>
              <a:buFontTx/>
              <a:buNone/>
            </a:pPr>
            <a:r>
              <a:rPr lang="en-US" altLang="en-US" sz="2000" dirty="0"/>
              <a:t>	</a:t>
            </a:r>
            <a:r>
              <a:rPr lang="id-ID" altLang="en-US" sz="2000" dirty="0"/>
              <a:t>		</a:t>
            </a:r>
            <a:r>
              <a:rPr lang="en-US" altLang="en-US" sz="2000" dirty="0"/>
              <a:t>	</a:t>
            </a:r>
            <a:r>
              <a:rPr lang="en-US" altLang="en-US" sz="2000" dirty="0" smtClean="0"/>
              <a:t>  </a:t>
            </a:r>
            <a:r>
              <a:rPr lang="id-ID" altLang="en-US" sz="2000" dirty="0"/>
              <a:t>R1R2</a:t>
            </a:r>
          </a:p>
          <a:p>
            <a:pPr>
              <a:lnSpc>
                <a:spcPct val="80000"/>
              </a:lnSpc>
            </a:pPr>
            <a:r>
              <a:rPr lang="id-ID" altLang="en-US" sz="2000" dirty="0"/>
              <a:t>Resistans keluaran diperoleh dengan membuat Vi = Vgs = 0, sehingga gm Vgs = 0. Karena itu, resistans keluaran yang terlihat oleh Vo adalah :</a:t>
            </a:r>
          </a:p>
          <a:p>
            <a:pPr>
              <a:lnSpc>
                <a:spcPct val="80000"/>
              </a:lnSpc>
              <a:buFontTx/>
              <a:buNone/>
            </a:pPr>
            <a:r>
              <a:rPr lang="en-US" altLang="en-US" sz="2000" dirty="0"/>
              <a:t>	</a:t>
            </a:r>
            <a:r>
              <a:rPr lang="id-ID" altLang="en-US" sz="2000" dirty="0"/>
              <a:t>Ro = rd//R</a:t>
            </a:r>
            <a:r>
              <a:rPr lang="id-ID" altLang="en-US" sz="1200" dirty="0"/>
              <a:t>D</a:t>
            </a:r>
            <a:r>
              <a:rPr lang="id-ID" altLang="en-US" sz="2000" dirty="0"/>
              <a:t> = R’</a:t>
            </a:r>
            <a:r>
              <a:rPr lang="id-ID" altLang="en-US" sz="1200" dirty="0"/>
              <a:t>D</a:t>
            </a:r>
            <a:r>
              <a:rPr lang="id-ID" altLang="en-US" sz="2000" dirty="0"/>
              <a:t> = </a:t>
            </a:r>
            <a:r>
              <a:rPr lang="id-ID" altLang="en-US" sz="2000" u="sng" dirty="0"/>
              <a:t> rd R</a:t>
            </a:r>
            <a:r>
              <a:rPr lang="id-ID" altLang="en-US" sz="1200" u="sng" dirty="0"/>
              <a:t>D</a:t>
            </a:r>
            <a:r>
              <a:rPr lang="id-ID" altLang="en-US" sz="2000" u="sng" dirty="0"/>
              <a:t>	</a:t>
            </a:r>
            <a:r>
              <a:rPr lang="id-ID" altLang="en-US" sz="2000" dirty="0"/>
              <a:t>				</a:t>
            </a:r>
            <a:r>
              <a:rPr lang="en-US" altLang="en-US" sz="2000" dirty="0"/>
              <a:t>   </a:t>
            </a:r>
            <a:r>
              <a:rPr lang="id-ID" altLang="en-US" sz="2000" dirty="0"/>
              <a:t>(33)</a:t>
            </a:r>
          </a:p>
          <a:p>
            <a:pPr>
              <a:lnSpc>
                <a:spcPct val="80000"/>
              </a:lnSpc>
              <a:buFontTx/>
              <a:buNone/>
            </a:pPr>
            <a:r>
              <a:rPr lang="en-US" altLang="en-US" sz="2000" dirty="0"/>
              <a:t>	</a:t>
            </a:r>
            <a:r>
              <a:rPr lang="id-ID" altLang="en-US" sz="2000" dirty="0"/>
              <a:t>		</a:t>
            </a:r>
            <a:r>
              <a:rPr lang="en-US" altLang="en-US" sz="2000" dirty="0"/>
              <a:t>           </a:t>
            </a:r>
            <a:r>
              <a:rPr lang="id-ID" altLang="en-US" sz="2000" dirty="0"/>
              <a:t>rd + R</a:t>
            </a:r>
            <a:r>
              <a:rPr lang="id-ID" altLang="en-US" sz="1400" dirty="0"/>
              <a:t>D</a:t>
            </a:r>
            <a:endParaRPr lang="en-US" altLang="en-US" sz="1400" dirty="0"/>
          </a:p>
        </p:txBody>
      </p:sp>
    </p:spTree>
    <p:extLst>
      <p:ext uri="{BB962C8B-B14F-4D97-AF65-F5344CB8AC3E}">
        <p14:creationId xmlns:p14="http://schemas.microsoft.com/office/powerpoint/2010/main" val="114316408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Rectangle 3"/>
          <p:cNvSpPr>
            <a:spLocks noGrp="1" noChangeArrowheads="1"/>
          </p:cNvSpPr>
          <p:nvPr>
            <p:ph type="body" idx="1"/>
          </p:nvPr>
        </p:nvSpPr>
        <p:spPr>
          <a:xfrm>
            <a:off x="325463" y="457200"/>
            <a:ext cx="11313763" cy="2514600"/>
          </a:xfrm>
        </p:spPr>
        <p:txBody>
          <a:bodyPr/>
          <a:lstStyle/>
          <a:p>
            <a:pPr>
              <a:buFontTx/>
              <a:buNone/>
            </a:pPr>
            <a:r>
              <a:rPr lang="id-ID" altLang="en-US" sz="2400" b="1" u="sng" dirty="0"/>
              <a:t>Penguat Drain Bersama (CD)</a:t>
            </a:r>
            <a:endParaRPr lang="id-ID" altLang="en-US" sz="2400" dirty="0"/>
          </a:p>
          <a:p>
            <a:r>
              <a:rPr lang="id-ID" altLang="en-US" sz="2400" dirty="0"/>
              <a:t>Penguat CD disebut juga pengikut source (source follwower). Sinyal keluaran diambil dari terminal source adalah sefase dengan sinyal masukan yang diberikan ke terminal gate. Untai penguat CD terlihat pada gambar 20.</a:t>
            </a:r>
            <a:endParaRPr lang="en-US" altLang="en-US" sz="2400" dirty="0"/>
          </a:p>
        </p:txBody>
      </p:sp>
      <p:graphicFrame>
        <p:nvGraphicFramePr>
          <p:cNvPr id="114692" name="Object 4"/>
          <p:cNvGraphicFramePr>
            <a:graphicFrameLocks noChangeAspect="1"/>
          </p:cNvGraphicFramePr>
          <p:nvPr/>
        </p:nvGraphicFramePr>
        <p:xfrm>
          <a:off x="2286000" y="3048001"/>
          <a:ext cx="3581400" cy="2405063"/>
        </p:xfrm>
        <a:graphic>
          <a:graphicData uri="http://schemas.openxmlformats.org/presentationml/2006/ole">
            <mc:AlternateContent xmlns:mc="http://schemas.openxmlformats.org/markup-compatibility/2006">
              <mc:Choice xmlns:v="urn:schemas-microsoft-com:vml" Requires="v">
                <p:oleObj spid="_x0000_s19484" r:id="rId3" imgW="2662428" imgH="1789786" progId="Visio.Drawing.11">
                  <p:embed/>
                </p:oleObj>
              </mc:Choice>
              <mc:Fallback>
                <p:oleObj r:id="rId3" imgW="2662428" imgH="1789786" progId="Visio.Drawing.11">
                  <p:embed/>
                  <p:pic>
                    <p:nvPicPr>
                      <p:cNvPr id="11469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3048001"/>
                        <a:ext cx="3581400" cy="2405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4695" name="Rectangle 7"/>
          <p:cNvSpPr>
            <a:spLocks noChangeArrowheads="1"/>
          </p:cNvSpPr>
          <p:nvPr/>
        </p:nvSpPr>
        <p:spPr bwMode="auto">
          <a:xfrm>
            <a:off x="1524001" y="25061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14694" name="Object 6"/>
          <p:cNvGraphicFramePr>
            <a:graphicFrameLocks noChangeAspect="1"/>
          </p:cNvGraphicFramePr>
          <p:nvPr/>
        </p:nvGraphicFramePr>
        <p:xfrm>
          <a:off x="5943600" y="3200400"/>
          <a:ext cx="4267200" cy="1906588"/>
        </p:xfrm>
        <a:graphic>
          <a:graphicData uri="http://schemas.openxmlformats.org/presentationml/2006/ole">
            <mc:AlternateContent xmlns:mc="http://schemas.openxmlformats.org/markup-compatibility/2006">
              <mc:Choice xmlns:v="urn:schemas-microsoft-com:vml" Requires="v">
                <p:oleObj spid="_x0000_s19485" r:id="rId5" imgW="3302203" imgH="1478280" progId="Visio.Drawing.11">
                  <p:embed/>
                </p:oleObj>
              </mc:Choice>
              <mc:Fallback>
                <p:oleObj r:id="rId5" imgW="3302203" imgH="1478280" progId="Visio.Drawing.11">
                  <p:embed/>
                  <p:pic>
                    <p:nvPicPr>
                      <p:cNvPr id="114694"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3600" y="3200400"/>
                        <a:ext cx="4267200" cy="1906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6915482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3"/>
          <p:cNvSpPr>
            <a:spLocks noGrp="1" noChangeArrowheads="1"/>
          </p:cNvSpPr>
          <p:nvPr>
            <p:ph type="body" idx="1"/>
          </p:nvPr>
        </p:nvSpPr>
        <p:spPr>
          <a:xfrm>
            <a:off x="635431" y="533401"/>
            <a:ext cx="11143281" cy="5592763"/>
          </a:xfrm>
        </p:spPr>
        <p:txBody>
          <a:bodyPr>
            <a:normAutofit fontScale="92500" lnSpcReduction="10000"/>
          </a:bodyPr>
          <a:lstStyle/>
          <a:p>
            <a:pPr>
              <a:lnSpc>
                <a:spcPct val="80000"/>
              </a:lnSpc>
            </a:pPr>
            <a:r>
              <a:rPr lang="id-ID" altLang="en-US" sz="2000" dirty="0"/>
              <a:t>Tegangan keluaran adalah :</a:t>
            </a:r>
          </a:p>
          <a:p>
            <a:pPr>
              <a:lnSpc>
                <a:spcPct val="80000"/>
              </a:lnSpc>
              <a:buFontTx/>
              <a:buNone/>
            </a:pPr>
            <a:r>
              <a:rPr lang="en-US" altLang="en-US" sz="2000" dirty="0"/>
              <a:t>		</a:t>
            </a:r>
            <a:r>
              <a:rPr lang="id-ID" altLang="en-US" sz="2000" dirty="0"/>
              <a:t>Vo = gm Vgs Rs’				</a:t>
            </a:r>
            <a:r>
              <a:rPr lang="en-US" altLang="en-US" sz="2000" dirty="0"/>
              <a:t>             	    </a:t>
            </a:r>
            <a:r>
              <a:rPr lang="id-ID" altLang="en-US" sz="2000" dirty="0"/>
              <a:t>(34)</a:t>
            </a:r>
          </a:p>
          <a:p>
            <a:pPr>
              <a:lnSpc>
                <a:spcPct val="80000"/>
              </a:lnSpc>
            </a:pPr>
            <a:r>
              <a:rPr lang="id-ID" altLang="en-US" sz="2000" dirty="0"/>
              <a:t>Dengan Rs’ = rd//Rs</a:t>
            </a:r>
          </a:p>
          <a:p>
            <a:pPr>
              <a:lnSpc>
                <a:spcPct val="80000"/>
              </a:lnSpc>
              <a:buFontTx/>
              <a:buNone/>
            </a:pPr>
            <a:r>
              <a:rPr lang="en-US" altLang="en-US" sz="2000" dirty="0"/>
              <a:t>	 </a:t>
            </a:r>
            <a:r>
              <a:rPr lang="id-ID" altLang="en-US" sz="2000" dirty="0"/>
              <a:t>     Vgs’ = Vi – Vo</a:t>
            </a:r>
            <a:r>
              <a:rPr lang="en-US" altLang="en-US" sz="2000" dirty="0"/>
              <a:t>				                    </a:t>
            </a:r>
            <a:r>
              <a:rPr lang="en-US" altLang="en-US" sz="2000" dirty="0" smtClean="0"/>
              <a:t>  </a:t>
            </a:r>
            <a:r>
              <a:rPr lang="id-ID" altLang="en-US" sz="2000" dirty="0"/>
              <a:t>(3</a:t>
            </a:r>
            <a:r>
              <a:rPr lang="en-US" altLang="en-US" sz="2000" dirty="0"/>
              <a:t>5</a:t>
            </a:r>
            <a:r>
              <a:rPr lang="id-ID" altLang="en-US" sz="2000" dirty="0"/>
              <a:t>)</a:t>
            </a:r>
          </a:p>
          <a:p>
            <a:pPr>
              <a:lnSpc>
                <a:spcPct val="80000"/>
              </a:lnSpc>
            </a:pPr>
            <a:r>
              <a:rPr lang="id-ID" altLang="en-US" sz="2000" dirty="0"/>
              <a:t>Substitusi (5.35) ke (5.34) diperoleh :</a:t>
            </a:r>
          </a:p>
          <a:p>
            <a:pPr>
              <a:lnSpc>
                <a:spcPct val="80000"/>
              </a:lnSpc>
              <a:buFontTx/>
              <a:buNone/>
            </a:pPr>
            <a:r>
              <a:rPr lang="en-US" altLang="en-US" sz="2000" dirty="0"/>
              <a:t>	</a:t>
            </a:r>
            <a:r>
              <a:rPr lang="id-ID" altLang="en-US" sz="2000" dirty="0"/>
              <a:t>	Vo = gm Rs’(Vi –Vo)</a:t>
            </a:r>
          </a:p>
          <a:p>
            <a:pPr>
              <a:lnSpc>
                <a:spcPct val="80000"/>
              </a:lnSpc>
              <a:buFontTx/>
              <a:buNone/>
            </a:pPr>
            <a:r>
              <a:rPr lang="en-US" altLang="en-US" sz="2000" dirty="0"/>
              <a:t>	</a:t>
            </a:r>
            <a:r>
              <a:rPr lang="id-ID" altLang="en-US" sz="2000" dirty="0"/>
              <a:t>	Vo(1 + gmRs’) = gm Rs’Vi</a:t>
            </a:r>
          </a:p>
          <a:p>
            <a:pPr>
              <a:lnSpc>
                <a:spcPct val="80000"/>
              </a:lnSpc>
            </a:pPr>
            <a:r>
              <a:rPr lang="id-ID" altLang="en-US" sz="2000" dirty="0"/>
              <a:t>Peroleh tegangan adalah :</a:t>
            </a:r>
          </a:p>
          <a:p>
            <a:pPr>
              <a:lnSpc>
                <a:spcPct val="80000"/>
              </a:lnSpc>
              <a:buFontTx/>
              <a:buNone/>
            </a:pPr>
            <a:r>
              <a:rPr lang="en-US" altLang="en-US" sz="2000" dirty="0"/>
              <a:t>	</a:t>
            </a:r>
            <a:r>
              <a:rPr lang="id-ID" altLang="en-US" sz="2000" dirty="0"/>
              <a:t>	Av = </a:t>
            </a:r>
            <a:r>
              <a:rPr lang="id-ID" altLang="en-US" sz="2000" u="sng" dirty="0"/>
              <a:t>Vo  </a:t>
            </a:r>
            <a:r>
              <a:rPr lang="id-ID" altLang="en-US" sz="2000" dirty="0"/>
              <a:t>= </a:t>
            </a:r>
            <a:r>
              <a:rPr lang="id-ID" altLang="en-US" sz="2000" u="sng" dirty="0"/>
              <a:t>gmRs’    </a:t>
            </a:r>
            <a:r>
              <a:rPr lang="id-ID" altLang="en-US" sz="2000" dirty="0"/>
              <a:t> = </a:t>
            </a:r>
            <a:r>
              <a:rPr lang="id-ID" altLang="en-US" sz="2000" u="sng" dirty="0"/>
              <a:t>Rs’		</a:t>
            </a:r>
            <a:r>
              <a:rPr lang="id-ID" altLang="en-US" sz="2000" dirty="0"/>
              <a:t>		</a:t>
            </a:r>
            <a:r>
              <a:rPr lang="en-US" altLang="en-US" sz="2000" dirty="0"/>
              <a:t>  </a:t>
            </a:r>
            <a:r>
              <a:rPr lang="en-US" altLang="en-US" sz="2000" dirty="0" smtClean="0"/>
              <a:t>    </a:t>
            </a:r>
            <a:r>
              <a:rPr lang="id-ID" altLang="en-US" sz="2000" dirty="0"/>
              <a:t>(36)</a:t>
            </a:r>
          </a:p>
          <a:p>
            <a:pPr>
              <a:lnSpc>
                <a:spcPct val="80000"/>
              </a:lnSpc>
              <a:buFontTx/>
              <a:buNone/>
            </a:pPr>
            <a:r>
              <a:rPr lang="en-US" altLang="en-US" sz="2000" dirty="0"/>
              <a:t>	</a:t>
            </a:r>
            <a:r>
              <a:rPr lang="id-ID" altLang="en-US" sz="2000" dirty="0"/>
              <a:t>  </a:t>
            </a:r>
            <a:r>
              <a:rPr lang="en-US" altLang="en-US" sz="2000" dirty="0"/>
              <a:t>	         </a:t>
            </a:r>
            <a:r>
              <a:rPr lang="id-ID" altLang="en-US" sz="2000" dirty="0"/>
              <a:t>Vi     1 + gmRs’   Rs’ 1 / gm </a:t>
            </a:r>
          </a:p>
          <a:p>
            <a:pPr>
              <a:lnSpc>
                <a:spcPct val="80000"/>
              </a:lnSpc>
            </a:pPr>
            <a:r>
              <a:rPr lang="id-ID" altLang="en-US" sz="2000" dirty="0"/>
              <a:t>Rentang nilai gm umumnya dari 1000 </a:t>
            </a:r>
            <a:r>
              <a:rPr lang="id-ID" altLang="en-US" sz="2000" dirty="0">
                <a:sym typeface="Symbol" panose="05050102010706020507" pitchFamily="18" charset="2"/>
              </a:rPr>
              <a:t></a:t>
            </a:r>
            <a:r>
              <a:rPr lang="id-ID" altLang="en-US" sz="2000" dirty="0"/>
              <a:t>s ke atas.</a:t>
            </a:r>
          </a:p>
          <a:p>
            <a:pPr>
              <a:lnSpc>
                <a:spcPct val="80000"/>
              </a:lnSpc>
              <a:buFontTx/>
              <a:buNone/>
            </a:pPr>
            <a:r>
              <a:rPr lang="en-US" altLang="en-US" sz="2000" dirty="0"/>
              <a:t>	</a:t>
            </a:r>
            <a:r>
              <a:rPr lang="id-ID" altLang="en-US" sz="2000" dirty="0"/>
              <a:t>Untuk gm =1000 </a:t>
            </a:r>
            <a:r>
              <a:rPr lang="id-ID" altLang="en-US" sz="2000" dirty="0">
                <a:sym typeface="Symbol" panose="05050102010706020507" pitchFamily="18" charset="2"/>
              </a:rPr>
              <a:t></a:t>
            </a:r>
            <a:r>
              <a:rPr lang="id-ID" altLang="en-US" sz="2000" dirty="0"/>
              <a:t>s = 10 3 A/V, maka :</a:t>
            </a:r>
            <a:endParaRPr lang="id-ID" altLang="en-US" sz="2000" u="sng" dirty="0"/>
          </a:p>
          <a:p>
            <a:pPr>
              <a:lnSpc>
                <a:spcPct val="80000"/>
              </a:lnSpc>
              <a:buFontTx/>
              <a:buNone/>
            </a:pPr>
            <a:r>
              <a:rPr lang="en-US" altLang="en-US" sz="2000" dirty="0"/>
              <a:t>	</a:t>
            </a:r>
            <a:r>
              <a:rPr lang="id-ID" altLang="en-US" sz="2000" u="sng" dirty="0"/>
              <a:t>1</a:t>
            </a:r>
            <a:r>
              <a:rPr lang="id-ID" altLang="en-US" sz="2000" dirty="0"/>
              <a:t>  =   </a:t>
            </a:r>
            <a:r>
              <a:rPr lang="id-ID" altLang="en-US" sz="2000" u="sng" dirty="0"/>
              <a:t>    1    </a:t>
            </a:r>
            <a:r>
              <a:rPr lang="id-ID" altLang="en-US" sz="2000" dirty="0"/>
              <a:t>       =10 3 ohm(maksimum)</a:t>
            </a:r>
          </a:p>
          <a:p>
            <a:pPr>
              <a:lnSpc>
                <a:spcPct val="80000"/>
              </a:lnSpc>
              <a:buFontTx/>
              <a:buNone/>
            </a:pPr>
            <a:r>
              <a:rPr lang="en-US" altLang="en-US" sz="2000" dirty="0"/>
              <a:t>	</a:t>
            </a:r>
            <a:r>
              <a:rPr lang="id-ID" altLang="en-US" sz="2000" dirty="0"/>
              <a:t>gm      10 3</a:t>
            </a:r>
          </a:p>
          <a:p>
            <a:pPr>
              <a:lnSpc>
                <a:spcPct val="80000"/>
              </a:lnSpc>
              <a:buFontTx/>
              <a:buNone/>
            </a:pPr>
            <a:r>
              <a:rPr lang="en-US" altLang="en-US" sz="2000" dirty="0"/>
              <a:t>	</a:t>
            </a:r>
            <a:r>
              <a:rPr lang="id-ID" altLang="en-US" sz="2000" dirty="0"/>
              <a:t>sehingga dari persamaan (5.36)</a:t>
            </a:r>
          </a:p>
          <a:p>
            <a:pPr>
              <a:lnSpc>
                <a:spcPct val="80000"/>
              </a:lnSpc>
              <a:buFontTx/>
              <a:buNone/>
            </a:pPr>
            <a:r>
              <a:rPr lang="en-US" altLang="en-US" sz="2000" dirty="0"/>
              <a:t>	</a:t>
            </a:r>
            <a:r>
              <a:rPr lang="id-ID" altLang="en-US" sz="2000" dirty="0"/>
              <a:t>	</a:t>
            </a:r>
            <a:r>
              <a:rPr lang="id-ID" altLang="en-US" sz="2000" u="sng" dirty="0"/>
              <a:t>	Rs’      </a:t>
            </a:r>
            <a:r>
              <a:rPr lang="id-ID" altLang="en-US" sz="2000" dirty="0"/>
              <a:t>   &lt; Av &lt; 1</a:t>
            </a:r>
          </a:p>
          <a:p>
            <a:pPr>
              <a:lnSpc>
                <a:spcPct val="80000"/>
              </a:lnSpc>
              <a:buFontTx/>
              <a:buNone/>
            </a:pPr>
            <a:r>
              <a:rPr lang="en-US" altLang="en-US" sz="2000" dirty="0"/>
              <a:t>	</a:t>
            </a:r>
            <a:r>
              <a:rPr lang="id-ID" altLang="en-US" sz="2000" dirty="0"/>
              <a:t>	   Rs’ + 10 3</a:t>
            </a:r>
            <a:endParaRPr lang="en-US" altLang="en-US" sz="2000" dirty="0"/>
          </a:p>
        </p:txBody>
      </p:sp>
    </p:spTree>
    <p:extLst>
      <p:ext uri="{BB962C8B-B14F-4D97-AF65-F5344CB8AC3E}">
        <p14:creationId xmlns:p14="http://schemas.microsoft.com/office/powerpoint/2010/main" val="145892717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3"/>
          <p:cNvSpPr>
            <a:spLocks noGrp="1" noChangeArrowheads="1"/>
          </p:cNvSpPr>
          <p:nvPr>
            <p:ph type="body" idx="1"/>
          </p:nvPr>
        </p:nvSpPr>
        <p:spPr>
          <a:xfrm>
            <a:off x="542441" y="381000"/>
            <a:ext cx="10972800" cy="1295400"/>
          </a:xfrm>
        </p:spPr>
        <p:txBody>
          <a:bodyPr/>
          <a:lstStyle/>
          <a:p>
            <a:r>
              <a:rPr lang="id-ID" altLang="en-US" sz="2400" dirty="0"/>
              <a:t>Resistans keluaran dihitung dengan membuat Vi = 0 dan menghubungkan keluaran penguat dengan sumber tegangan V2 seperti terlihat pada gambar 21</a:t>
            </a:r>
            <a:endParaRPr lang="en-US" altLang="en-US" sz="2400" dirty="0"/>
          </a:p>
        </p:txBody>
      </p:sp>
      <p:sp>
        <p:nvSpPr>
          <p:cNvPr id="116741" name="Rectangle 5"/>
          <p:cNvSpPr>
            <a:spLocks noChangeArrowheads="1"/>
          </p:cNvSpPr>
          <p:nvPr/>
        </p:nvSpPr>
        <p:spPr bwMode="auto">
          <a:xfrm>
            <a:off x="1524001" y="23585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16740" name="Object 4"/>
          <p:cNvGraphicFramePr>
            <a:graphicFrameLocks noChangeAspect="1"/>
          </p:cNvGraphicFramePr>
          <p:nvPr/>
        </p:nvGraphicFramePr>
        <p:xfrm>
          <a:off x="2286000" y="2001839"/>
          <a:ext cx="5105400" cy="2784475"/>
        </p:xfrm>
        <a:graphic>
          <a:graphicData uri="http://schemas.openxmlformats.org/presentationml/2006/ole">
            <mc:AlternateContent xmlns:mc="http://schemas.openxmlformats.org/markup-compatibility/2006">
              <mc:Choice xmlns:v="urn:schemas-microsoft-com:vml" Requires="v">
                <p:oleObj spid="_x0000_s20495" r:id="rId3" imgW="3246730" imgH="1774850" progId="Visio.Drawing.11">
                  <p:embed/>
                </p:oleObj>
              </mc:Choice>
              <mc:Fallback>
                <p:oleObj r:id="rId3" imgW="3246730" imgH="1774850" progId="Visio.Drawing.11">
                  <p:embed/>
                  <p:pic>
                    <p:nvPicPr>
                      <p:cNvPr id="11674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2001839"/>
                        <a:ext cx="5105400" cy="2784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3647744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4" name="Text Box 4"/>
          <p:cNvSpPr txBox="1">
            <a:spLocks noChangeArrowheads="1"/>
          </p:cNvSpPr>
          <p:nvPr>
            <p:ph type="body" idx="1"/>
          </p:nvPr>
        </p:nvSpPr>
        <p:spPr>
          <a:xfrm>
            <a:off x="480447" y="762000"/>
            <a:ext cx="11081289" cy="5486400"/>
          </a:xfrm>
          <a:noFill/>
          <a:ln/>
        </p:spPr>
        <p:txBody>
          <a:bodyPr>
            <a:normAutofit lnSpcReduction="10000"/>
          </a:bodyPr>
          <a:lstStyle/>
          <a:p>
            <a:pPr>
              <a:lnSpc>
                <a:spcPct val="80000"/>
              </a:lnSpc>
              <a:buFontTx/>
              <a:buNone/>
            </a:pPr>
            <a:r>
              <a:rPr lang="id-ID" altLang="en-US" sz="2200" dirty="0"/>
              <a:t>Dengan menggunakan hukum Kirchoff arus maka:</a:t>
            </a:r>
          </a:p>
          <a:p>
            <a:pPr>
              <a:lnSpc>
                <a:spcPct val="80000"/>
              </a:lnSpc>
              <a:buFontTx/>
              <a:buNone/>
            </a:pPr>
            <a:r>
              <a:rPr lang="en-US" altLang="en-US" sz="2200" dirty="0"/>
              <a:t>		</a:t>
            </a:r>
            <a:r>
              <a:rPr lang="id-ID" altLang="en-US" sz="2200" dirty="0"/>
              <a:t>I2  =  V2 / R</a:t>
            </a:r>
            <a:r>
              <a:rPr lang="id-ID" altLang="en-US" sz="2200" dirty="0">
                <a:sym typeface="Symbol" panose="05050102010706020507" pitchFamily="18" charset="2"/>
              </a:rPr>
              <a:t></a:t>
            </a:r>
            <a:r>
              <a:rPr lang="id-ID" altLang="en-US" sz="2200" dirty="0"/>
              <a:t>S – gm Vgs,</a:t>
            </a:r>
          </a:p>
          <a:p>
            <a:pPr>
              <a:lnSpc>
                <a:spcPct val="80000"/>
              </a:lnSpc>
              <a:buFontTx/>
              <a:buNone/>
            </a:pPr>
            <a:r>
              <a:rPr lang="en-US" altLang="en-US" sz="2200" dirty="0"/>
              <a:t>	</a:t>
            </a:r>
            <a:r>
              <a:rPr lang="id-ID" altLang="en-US" sz="2200" dirty="0"/>
              <a:t>dengan Rs’ = rd//Rs</a:t>
            </a:r>
          </a:p>
          <a:p>
            <a:pPr>
              <a:lnSpc>
                <a:spcPct val="80000"/>
              </a:lnSpc>
              <a:buFontTx/>
              <a:buNone/>
            </a:pPr>
            <a:r>
              <a:rPr lang="en-US" altLang="en-US" sz="2200" dirty="0"/>
              <a:t>	</a:t>
            </a:r>
            <a:r>
              <a:rPr lang="id-ID" altLang="en-US" sz="2200" dirty="0"/>
              <a:t>dan    Vgs = V1 – V2 = - V2 maka :</a:t>
            </a:r>
          </a:p>
          <a:p>
            <a:pPr>
              <a:lnSpc>
                <a:spcPct val="80000"/>
              </a:lnSpc>
              <a:buFontTx/>
              <a:buNone/>
            </a:pPr>
            <a:r>
              <a:rPr lang="en-US" altLang="en-US" sz="2200" dirty="0"/>
              <a:t>	</a:t>
            </a:r>
            <a:r>
              <a:rPr lang="id-ID" altLang="en-US" sz="2200" dirty="0"/>
              <a:t>	    I2 = V2/Rs’ + gm V2 = V2 (1/ Rs’ + gm)</a:t>
            </a:r>
          </a:p>
          <a:p>
            <a:pPr>
              <a:lnSpc>
                <a:spcPct val="80000"/>
              </a:lnSpc>
              <a:buFontTx/>
              <a:buNone/>
            </a:pPr>
            <a:r>
              <a:rPr lang="id-ID" altLang="en-US" sz="2200" dirty="0"/>
              <a:t>Resistans keluaran adalah :</a:t>
            </a:r>
          </a:p>
          <a:p>
            <a:pPr>
              <a:lnSpc>
                <a:spcPct val="80000"/>
              </a:lnSpc>
              <a:buFontTx/>
              <a:buNone/>
            </a:pPr>
            <a:r>
              <a:rPr lang="en-US" altLang="en-US" sz="2200" dirty="0"/>
              <a:t>	</a:t>
            </a:r>
            <a:r>
              <a:rPr lang="id-ID" altLang="en-US" sz="2200" dirty="0"/>
              <a:t>	Ro = </a:t>
            </a:r>
            <a:r>
              <a:rPr lang="id-ID" altLang="en-US" sz="2200" u="sng" dirty="0"/>
              <a:t>V2 </a:t>
            </a:r>
            <a:r>
              <a:rPr lang="id-ID" altLang="en-US" sz="2200" dirty="0"/>
              <a:t> = </a:t>
            </a:r>
            <a:r>
              <a:rPr lang="id-ID" altLang="en-US" sz="2200" u="sng" dirty="0"/>
              <a:t>        1         </a:t>
            </a:r>
            <a:r>
              <a:rPr lang="id-ID" altLang="en-US" sz="2200" dirty="0"/>
              <a:t>  = </a:t>
            </a:r>
            <a:r>
              <a:rPr lang="id-ID" altLang="en-US" sz="2200" u="sng" dirty="0"/>
              <a:t> Rs’ 1/gm      </a:t>
            </a:r>
            <a:r>
              <a:rPr lang="id-ID" altLang="en-US" sz="2200" dirty="0"/>
              <a:t>= Rs’//1/gm</a:t>
            </a:r>
          </a:p>
          <a:p>
            <a:pPr>
              <a:lnSpc>
                <a:spcPct val="80000"/>
              </a:lnSpc>
              <a:buFontTx/>
              <a:buNone/>
            </a:pPr>
            <a:r>
              <a:rPr lang="en-US" altLang="en-US" sz="2200" dirty="0"/>
              <a:t>	</a:t>
            </a:r>
            <a:r>
              <a:rPr lang="id-ID" altLang="en-US" sz="2200" dirty="0"/>
              <a:t>	          I2      1/Rs’ + gm        Rs’ + 1 / gm</a:t>
            </a:r>
          </a:p>
          <a:p>
            <a:pPr>
              <a:lnSpc>
                <a:spcPct val="80000"/>
              </a:lnSpc>
              <a:buFontTx/>
              <a:buNone/>
            </a:pPr>
            <a:r>
              <a:rPr lang="en-US" altLang="en-US" sz="2200" dirty="0"/>
              <a:t>	</a:t>
            </a:r>
            <a:r>
              <a:rPr lang="id-ID" altLang="en-US" sz="2200" dirty="0"/>
              <a:t>	(hubungan paralel antara Rs’ dan 1 / gm)</a:t>
            </a:r>
          </a:p>
          <a:p>
            <a:pPr>
              <a:lnSpc>
                <a:spcPct val="80000"/>
              </a:lnSpc>
              <a:buFontTx/>
              <a:buNone/>
            </a:pPr>
            <a:r>
              <a:rPr lang="en-US" altLang="en-US" sz="2200" dirty="0"/>
              <a:t>	</a:t>
            </a:r>
            <a:r>
              <a:rPr lang="id-ID" altLang="en-US" sz="2200" dirty="0"/>
              <a:t>Karena 1/gm &lt; 103 </a:t>
            </a:r>
            <a:r>
              <a:rPr lang="id-ID" altLang="en-US" sz="2200" dirty="0">
                <a:sym typeface="Symbol" panose="05050102010706020507" pitchFamily="18" charset="2"/>
              </a:rPr>
              <a:t></a:t>
            </a:r>
            <a:r>
              <a:rPr lang="id-ID" altLang="en-US" sz="2200" dirty="0"/>
              <a:t> dan resistans total untai paralel harus lebih kecil dari pada nilai resistans terkecil indiidual, maka resistans keluaran akan lebih kecil dari pada 103 </a:t>
            </a:r>
            <a:r>
              <a:rPr lang="id-ID" altLang="en-US" sz="2200" dirty="0">
                <a:sym typeface="Symbol" panose="05050102010706020507" pitchFamily="18" charset="2"/>
              </a:rPr>
              <a:t></a:t>
            </a:r>
            <a:r>
              <a:rPr lang="id-ID" altLang="en-US" sz="2200" dirty="0"/>
              <a:t>.</a:t>
            </a:r>
          </a:p>
          <a:p>
            <a:pPr>
              <a:lnSpc>
                <a:spcPct val="80000"/>
              </a:lnSpc>
              <a:buFontTx/>
              <a:buNone/>
            </a:pPr>
            <a:r>
              <a:rPr lang="id-ID" altLang="en-US" sz="2200" dirty="0"/>
              <a:t>Resistans masukan adalah :</a:t>
            </a:r>
          </a:p>
          <a:p>
            <a:pPr>
              <a:lnSpc>
                <a:spcPct val="80000"/>
              </a:lnSpc>
              <a:buFontTx/>
              <a:buNone/>
            </a:pPr>
            <a:r>
              <a:rPr lang="en-US" altLang="en-US" sz="2200" dirty="0"/>
              <a:t>	</a:t>
            </a:r>
            <a:r>
              <a:rPr lang="id-ID" altLang="en-US" sz="2200" dirty="0"/>
              <a:t>	Ri = R1 // R2</a:t>
            </a:r>
          </a:p>
          <a:p>
            <a:pPr>
              <a:lnSpc>
                <a:spcPct val="80000"/>
              </a:lnSpc>
              <a:buFontTx/>
              <a:buNone/>
            </a:pPr>
            <a:r>
              <a:rPr lang="en-US" altLang="en-US" sz="2200" dirty="0"/>
              <a:t>	</a:t>
            </a:r>
            <a:r>
              <a:rPr lang="id-ID" altLang="en-US" sz="2200" dirty="0"/>
              <a:t>Karena umumnya nilai resitans R1 da R2 tinggi (dalam order M </a:t>
            </a:r>
            <a:r>
              <a:rPr lang="id-ID" altLang="en-US" sz="2200" dirty="0">
                <a:sym typeface="Symbol" panose="05050102010706020507" pitchFamily="18" charset="2"/>
              </a:rPr>
              <a:t></a:t>
            </a:r>
            <a:r>
              <a:rPr lang="id-ID" altLang="en-US" sz="2200" dirty="0"/>
              <a:t>), maka resistans masukan juga tinggi.</a:t>
            </a:r>
            <a:endParaRPr lang="en-US" altLang="en-US" sz="2200" dirty="0"/>
          </a:p>
        </p:txBody>
      </p:sp>
    </p:spTree>
    <p:extLst>
      <p:ext uri="{BB962C8B-B14F-4D97-AF65-F5344CB8AC3E}">
        <p14:creationId xmlns:p14="http://schemas.microsoft.com/office/powerpoint/2010/main" val="409698711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3"/>
          <p:cNvSpPr>
            <a:spLocks noGrp="1" noChangeArrowheads="1"/>
          </p:cNvSpPr>
          <p:nvPr>
            <p:ph type="body" idx="1"/>
          </p:nvPr>
        </p:nvSpPr>
        <p:spPr>
          <a:xfrm>
            <a:off x="542441" y="533400"/>
            <a:ext cx="10988298" cy="1905000"/>
          </a:xfrm>
        </p:spPr>
        <p:txBody>
          <a:bodyPr/>
          <a:lstStyle/>
          <a:p>
            <a:pPr>
              <a:buFontTx/>
              <a:buNone/>
            </a:pPr>
            <a:r>
              <a:rPr lang="id-ID" altLang="en-US" sz="2400" b="1" u="sng" dirty="0"/>
              <a:t>3 Penguat Gate Bersama (CG)</a:t>
            </a:r>
            <a:endParaRPr lang="id-ID" altLang="en-US" sz="2400" dirty="0"/>
          </a:p>
          <a:p>
            <a:r>
              <a:rPr lang="id-ID" altLang="en-US" sz="2400" dirty="0"/>
              <a:t>Penguat CG menerima sinyal pada terminal source dan mengeluarkan sinyal pada terminal drain. (gambar 22a)</a:t>
            </a:r>
            <a:endParaRPr lang="en-US" altLang="en-US" sz="2400" dirty="0"/>
          </a:p>
        </p:txBody>
      </p:sp>
      <p:sp>
        <p:nvSpPr>
          <p:cNvPr id="118789" name="Rectangle 5"/>
          <p:cNvSpPr>
            <a:spLocks noChangeArrowheads="1"/>
          </p:cNvSpPr>
          <p:nvPr/>
        </p:nvSpPr>
        <p:spPr bwMode="auto">
          <a:xfrm>
            <a:off x="1524001" y="2329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18788" name="Object 4"/>
          <p:cNvGraphicFramePr>
            <a:graphicFrameLocks noChangeAspect="1"/>
          </p:cNvGraphicFramePr>
          <p:nvPr/>
        </p:nvGraphicFramePr>
        <p:xfrm>
          <a:off x="1905000" y="2438401"/>
          <a:ext cx="3733800" cy="2422525"/>
        </p:xfrm>
        <a:graphic>
          <a:graphicData uri="http://schemas.openxmlformats.org/presentationml/2006/ole">
            <mc:AlternateContent xmlns:mc="http://schemas.openxmlformats.org/markup-compatibility/2006">
              <mc:Choice xmlns:v="urn:schemas-microsoft-com:vml" Requires="v">
                <p:oleObj spid="_x0000_s21532" r:id="rId3" imgW="2821850" imgH="2128405" progId="Visio.Drawing.11">
                  <p:embed/>
                </p:oleObj>
              </mc:Choice>
              <mc:Fallback>
                <p:oleObj r:id="rId3" imgW="2821850" imgH="2128405" progId="Visio.Drawing.11">
                  <p:embed/>
                  <p:pic>
                    <p:nvPicPr>
                      <p:cNvPr id="11878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2438401"/>
                        <a:ext cx="3733800" cy="2422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8791" name="Rectangle 7"/>
          <p:cNvSpPr>
            <a:spLocks noChangeArrowheads="1"/>
          </p:cNvSpPr>
          <p:nvPr/>
        </p:nvSpPr>
        <p:spPr bwMode="auto">
          <a:xfrm>
            <a:off x="1524001" y="23775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18790" name="Object 6"/>
          <p:cNvGraphicFramePr>
            <a:graphicFrameLocks noChangeAspect="1"/>
          </p:cNvGraphicFramePr>
          <p:nvPr/>
        </p:nvGraphicFramePr>
        <p:xfrm>
          <a:off x="5715000" y="2286001"/>
          <a:ext cx="4267200" cy="2697163"/>
        </p:xfrm>
        <a:graphic>
          <a:graphicData uri="http://schemas.openxmlformats.org/presentationml/2006/ole">
            <mc:AlternateContent xmlns:mc="http://schemas.openxmlformats.org/markup-compatibility/2006">
              <mc:Choice xmlns:v="urn:schemas-microsoft-com:vml" Requires="v">
                <p:oleObj spid="_x0000_s21533" r:id="rId5" imgW="2746945" imgH="1729568" progId="Visio.Drawing.11">
                  <p:embed/>
                </p:oleObj>
              </mc:Choice>
              <mc:Fallback>
                <p:oleObj r:id="rId5" imgW="2746945" imgH="1729568" progId="Visio.Drawing.11">
                  <p:embed/>
                  <p:pic>
                    <p:nvPicPr>
                      <p:cNvPr id="11879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5000" y="2286001"/>
                        <a:ext cx="4267200" cy="2697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2623565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Rectangle 3"/>
          <p:cNvSpPr>
            <a:spLocks noGrp="1" noChangeArrowheads="1"/>
          </p:cNvSpPr>
          <p:nvPr>
            <p:ph type="body" idx="1"/>
          </p:nvPr>
        </p:nvSpPr>
        <p:spPr>
          <a:xfrm>
            <a:off x="495946" y="533400"/>
            <a:ext cx="11313761" cy="5867400"/>
          </a:xfrm>
        </p:spPr>
        <p:txBody>
          <a:bodyPr>
            <a:normAutofit lnSpcReduction="10000"/>
          </a:bodyPr>
          <a:lstStyle/>
          <a:p>
            <a:pPr>
              <a:lnSpc>
                <a:spcPct val="90000"/>
              </a:lnSpc>
              <a:buFontTx/>
              <a:buNone/>
            </a:pPr>
            <a:r>
              <a:rPr lang="en-US" altLang="en-US" sz="2400" dirty="0"/>
              <a:t>	</a:t>
            </a:r>
            <a:r>
              <a:rPr lang="id-ID" altLang="en-US" sz="2400" dirty="0"/>
              <a:t>Gambar 22.a menunjukan untai ekuialen acnya dengan menggunakan sumber arus terkendali tegangan gmVgs antara drain dan source serta resistans rd yang paralel dengan sumber arus.</a:t>
            </a:r>
          </a:p>
          <a:p>
            <a:pPr>
              <a:lnSpc>
                <a:spcPct val="90000"/>
              </a:lnSpc>
            </a:pPr>
            <a:r>
              <a:rPr lang="id-ID" altLang="en-US" sz="2400" dirty="0"/>
              <a:t>Peroleh tegangan dapat dihitung dengan menggunakan Hukum Kirchoff Arus (HKA) pada titik drain.</a:t>
            </a:r>
          </a:p>
          <a:p>
            <a:pPr>
              <a:lnSpc>
                <a:spcPct val="90000"/>
              </a:lnSpc>
              <a:buFontTx/>
              <a:buNone/>
            </a:pPr>
            <a:r>
              <a:rPr lang="en-US" altLang="en-US" sz="2400" dirty="0"/>
              <a:t>	</a:t>
            </a:r>
            <a:r>
              <a:rPr lang="id-ID" altLang="en-US" sz="2400" dirty="0"/>
              <a:t>	</a:t>
            </a:r>
            <a:r>
              <a:rPr lang="id-ID" altLang="en-US" sz="2400" u="sng" dirty="0"/>
              <a:t>Vo  </a:t>
            </a:r>
            <a:r>
              <a:rPr lang="id-ID" altLang="en-US" sz="2400" dirty="0"/>
              <a:t> + gm Vgs + </a:t>
            </a:r>
            <a:r>
              <a:rPr lang="id-ID" altLang="en-US" sz="2400" u="sng" dirty="0"/>
              <a:t> Vo – Vi  </a:t>
            </a:r>
            <a:r>
              <a:rPr lang="id-ID" altLang="en-US" sz="2400" dirty="0"/>
              <a:t>  =  0</a:t>
            </a:r>
          </a:p>
          <a:p>
            <a:pPr>
              <a:lnSpc>
                <a:spcPct val="90000"/>
              </a:lnSpc>
              <a:buFontTx/>
              <a:buNone/>
            </a:pPr>
            <a:r>
              <a:rPr lang="en-US" altLang="en-US" sz="2400" dirty="0"/>
              <a:t>	</a:t>
            </a:r>
            <a:r>
              <a:rPr lang="id-ID" altLang="en-US" sz="2400" dirty="0"/>
              <a:t>        R</a:t>
            </a:r>
            <a:r>
              <a:rPr lang="id-ID" altLang="en-US" sz="2400" dirty="0">
                <a:sym typeface="Symbol" panose="05050102010706020507" pitchFamily="18" charset="2"/>
              </a:rPr>
              <a:t></a:t>
            </a:r>
            <a:r>
              <a:rPr lang="id-ID" altLang="en-US" sz="2400" dirty="0"/>
              <a:t>D                            rd</a:t>
            </a:r>
          </a:p>
          <a:p>
            <a:pPr>
              <a:lnSpc>
                <a:spcPct val="90000"/>
              </a:lnSpc>
              <a:buFontTx/>
              <a:buNone/>
            </a:pPr>
            <a:r>
              <a:rPr lang="en-US" altLang="en-US" sz="2400" dirty="0"/>
              <a:t>	</a:t>
            </a:r>
            <a:r>
              <a:rPr lang="id-ID" altLang="en-US" sz="2400" dirty="0"/>
              <a:t>  	</a:t>
            </a:r>
            <a:r>
              <a:rPr lang="id-ID" altLang="en-US" sz="2400" u="sng" dirty="0"/>
              <a:t>Vo  </a:t>
            </a:r>
            <a:r>
              <a:rPr lang="id-ID" altLang="en-US" sz="2400" dirty="0"/>
              <a:t> - gm Vi + </a:t>
            </a:r>
            <a:r>
              <a:rPr lang="id-ID" altLang="en-US" sz="2400" u="sng" dirty="0"/>
              <a:t> Vo – Vi  </a:t>
            </a:r>
            <a:r>
              <a:rPr lang="id-ID" altLang="en-US" sz="2400" dirty="0"/>
              <a:t>  =  0</a:t>
            </a:r>
          </a:p>
          <a:p>
            <a:pPr>
              <a:lnSpc>
                <a:spcPct val="90000"/>
              </a:lnSpc>
              <a:buFontTx/>
              <a:buNone/>
            </a:pPr>
            <a:r>
              <a:rPr lang="en-US" altLang="en-US" sz="2400" dirty="0"/>
              <a:t>	</a:t>
            </a:r>
            <a:r>
              <a:rPr lang="id-ID" altLang="en-US" sz="2400" dirty="0"/>
              <a:t>        R</a:t>
            </a:r>
            <a:r>
              <a:rPr lang="id-ID" altLang="en-US" sz="2400" dirty="0">
                <a:sym typeface="Symbol" panose="05050102010706020507" pitchFamily="18" charset="2"/>
              </a:rPr>
              <a:t></a:t>
            </a:r>
            <a:r>
              <a:rPr lang="id-ID" altLang="en-US" sz="2400" dirty="0"/>
              <a:t>D                        rd</a:t>
            </a:r>
          </a:p>
          <a:p>
            <a:pPr>
              <a:lnSpc>
                <a:spcPct val="90000"/>
              </a:lnSpc>
              <a:buFontTx/>
              <a:buNone/>
            </a:pPr>
            <a:r>
              <a:rPr lang="en-US" altLang="en-US" sz="2400" dirty="0"/>
              <a:t>	</a:t>
            </a:r>
            <a:r>
              <a:rPr lang="id-ID" altLang="en-US" sz="2400" dirty="0"/>
              <a:t>Dengan Vgs = - Vi    dan</a:t>
            </a:r>
            <a:r>
              <a:rPr lang="en-US" altLang="en-US" sz="2400" dirty="0"/>
              <a:t>    </a:t>
            </a:r>
            <a:r>
              <a:rPr lang="id-ID" altLang="en-US" sz="2400" dirty="0"/>
              <a:t>R</a:t>
            </a:r>
            <a:r>
              <a:rPr lang="id-ID" altLang="en-US" sz="2400" dirty="0">
                <a:sym typeface="Symbol" panose="05050102010706020507" pitchFamily="18" charset="2"/>
              </a:rPr>
              <a:t></a:t>
            </a:r>
            <a:r>
              <a:rPr lang="id-ID" altLang="en-US" sz="2400" dirty="0"/>
              <a:t>D  =  RD / / RL</a:t>
            </a:r>
          </a:p>
          <a:p>
            <a:pPr>
              <a:lnSpc>
                <a:spcPct val="90000"/>
              </a:lnSpc>
              <a:buFontTx/>
              <a:buNone/>
            </a:pPr>
            <a:r>
              <a:rPr lang="en-US" altLang="en-US" sz="2400" dirty="0"/>
              <a:t>	</a:t>
            </a:r>
            <a:r>
              <a:rPr lang="id-ID" altLang="en-US" sz="2400" dirty="0"/>
              <a:t>Maka peroleh tegangan Av adalah:</a:t>
            </a:r>
          </a:p>
          <a:p>
            <a:pPr>
              <a:lnSpc>
                <a:spcPct val="90000"/>
              </a:lnSpc>
              <a:buFontTx/>
              <a:buNone/>
            </a:pPr>
            <a:r>
              <a:rPr lang="en-US" altLang="en-US" sz="2400" dirty="0"/>
              <a:t>	</a:t>
            </a:r>
            <a:r>
              <a:rPr lang="id-ID" altLang="en-US" sz="2400" dirty="0"/>
              <a:t>	Av  =  </a:t>
            </a:r>
            <a:r>
              <a:rPr lang="id-ID" altLang="en-US" sz="2400" u="sng" dirty="0"/>
              <a:t> Vo  </a:t>
            </a:r>
            <a:r>
              <a:rPr lang="id-ID" altLang="en-US" sz="2400" dirty="0"/>
              <a:t>   = </a:t>
            </a:r>
            <a:r>
              <a:rPr lang="id-ID" altLang="en-US" sz="2400" u="sng" dirty="0"/>
              <a:t> (gm + 1/rd)</a:t>
            </a:r>
            <a:endParaRPr lang="id-ID" altLang="en-US" sz="2400" dirty="0"/>
          </a:p>
          <a:p>
            <a:pPr>
              <a:lnSpc>
                <a:spcPct val="90000"/>
              </a:lnSpc>
              <a:buFontTx/>
              <a:buNone/>
            </a:pPr>
            <a:r>
              <a:rPr lang="en-US" altLang="en-US" sz="2400" dirty="0"/>
              <a:t>	</a:t>
            </a:r>
            <a:r>
              <a:rPr lang="id-ID" altLang="en-US" sz="2400" dirty="0"/>
              <a:t>                    Vi         (1/R</a:t>
            </a:r>
            <a:r>
              <a:rPr lang="id-ID" altLang="en-US" sz="2400" dirty="0">
                <a:sym typeface="Symbol" panose="05050102010706020507" pitchFamily="18" charset="2"/>
              </a:rPr>
              <a:t></a:t>
            </a:r>
            <a:r>
              <a:rPr lang="id-ID" altLang="en-US" sz="2400" dirty="0"/>
              <a:t>D  + 1/rd)</a:t>
            </a:r>
          </a:p>
          <a:p>
            <a:pPr>
              <a:lnSpc>
                <a:spcPct val="90000"/>
              </a:lnSpc>
              <a:buFontTx/>
              <a:buNone/>
            </a:pPr>
            <a:r>
              <a:rPr lang="en-US" altLang="en-US" sz="2400" dirty="0"/>
              <a:t>	</a:t>
            </a:r>
            <a:r>
              <a:rPr lang="id-ID" altLang="en-US" sz="2400" dirty="0"/>
              <a:t>Jika rd </a:t>
            </a:r>
            <a:r>
              <a:rPr lang="id-ID" altLang="en-US" sz="2400" dirty="0">
                <a:sym typeface="Symbol" panose="05050102010706020507" pitchFamily="18" charset="2"/>
              </a:rPr>
              <a:t></a:t>
            </a:r>
            <a:r>
              <a:rPr lang="id-ID" altLang="en-US" sz="2400" dirty="0"/>
              <a:t>  , maka Av </a:t>
            </a:r>
            <a:r>
              <a:rPr lang="id-ID" altLang="en-US" sz="2400" dirty="0">
                <a:sym typeface="Symbol" panose="05050102010706020507" pitchFamily="18" charset="2"/>
              </a:rPr>
              <a:t></a:t>
            </a:r>
            <a:r>
              <a:rPr lang="id-ID" altLang="en-US" sz="2400" dirty="0"/>
              <a:t> gm RD</a:t>
            </a:r>
            <a:endParaRPr lang="en-US" altLang="en-US" sz="2400" dirty="0"/>
          </a:p>
        </p:txBody>
      </p:sp>
    </p:spTree>
    <p:extLst>
      <p:ext uri="{BB962C8B-B14F-4D97-AF65-F5344CB8AC3E}">
        <p14:creationId xmlns:p14="http://schemas.microsoft.com/office/powerpoint/2010/main" val="175244437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Rectangle 3"/>
          <p:cNvSpPr>
            <a:spLocks noGrp="1" noChangeArrowheads="1"/>
          </p:cNvSpPr>
          <p:nvPr>
            <p:ph type="body" idx="1"/>
          </p:nvPr>
        </p:nvSpPr>
        <p:spPr>
          <a:xfrm>
            <a:off x="495946" y="533400"/>
            <a:ext cx="11267268" cy="1828800"/>
          </a:xfrm>
        </p:spPr>
        <p:txBody>
          <a:bodyPr/>
          <a:lstStyle/>
          <a:p>
            <a:r>
              <a:rPr lang="id-ID" altLang="en-US" sz="2400" dirty="0"/>
              <a:t>Resistans masukan dihitung dengan mengganti sumber arus (gm Vgs) antara drain-source dengan sumber tegangan   (gm rd Vgs) dan resistans rd yang terhubung seri dengan sumber tegangan tersebut (Gambar 23).</a:t>
            </a:r>
            <a:endParaRPr lang="en-US" altLang="en-US" sz="2400" dirty="0"/>
          </a:p>
        </p:txBody>
      </p:sp>
      <p:sp>
        <p:nvSpPr>
          <p:cNvPr id="120837" name="Rectangle 5"/>
          <p:cNvSpPr>
            <a:spLocks noChangeArrowheads="1"/>
          </p:cNvSpPr>
          <p:nvPr/>
        </p:nvSpPr>
        <p:spPr bwMode="auto">
          <a:xfrm>
            <a:off x="1524001" y="2172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20836" name="Object 4"/>
          <p:cNvGraphicFramePr>
            <a:graphicFrameLocks noChangeAspect="1"/>
          </p:cNvGraphicFramePr>
          <p:nvPr>
            <p:extLst>
              <p:ext uri="{D42A27DB-BD31-4B8C-83A1-F6EECF244321}">
                <p14:modId xmlns:p14="http://schemas.microsoft.com/office/powerpoint/2010/main" val="1363597661"/>
              </p:ext>
            </p:extLst>
          </p:nvPr>
        </p:nvGraphicFramePr>
        <p:xfrm>
          <a:off x="2895600" y="2590799"/>
          <a:ext cx="5953932" cy="3444503"/>
        </p:xfrm>
        <a:graphic>
          <a:graphicData uri="http://schemas.openxmlformats.org/presentationml/2006/ole">
            <mc:AlternateContent xmlns:mc="http://schemas.openxmlformats.org/markup-compatibility/2006">
              <mc:Choice xmlns:v="urn:schemas-microsoft-com:vml" Requires="v">
                <p:oleObj spid="_x0000_s22543" r:id="rId3" imgW="2839822" imgH="1498092" progId="Visio.Drawing.11">
                  <p:embed/>
                </p:oleObj>
              </mc:Choice>
              <mc:Fallback>
                <p:oleObj r:id="rId3" imgW="2839822" imgH="1498092" progId="Visio.Drawing.11">
                  <p:embed/>
                  <p:pic>
                    <p:nvPicPr>
                      <p:cNvPr id="12083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2590799"/>
                        <a:ext cx="5953932" cy="3444503"/>
                      </a:xfrm>
                      <a:prstGeom prst="rect">
                        <a:avLst/>
                      </a:prstGeom>
                      <a:noFill/>
                    </p:spPr>
                  </p:pic>
                </p:oleObj>
              </mc:Fallback>
            </mc:AlternateContent>
          </a:graphicData>
        </a:graphic>
      </p:graphicFrame>
    </p:spTree>
    <p:extLst>
      <p:ext uri="{BB962C8B-B14F-4D97-AF65-F5344CB8AC3E}">
        <p14:creationId xmlns:p14="http://schemas.microsoft.com/office/powerpoint/2010/main" val="174100268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3"/>
          <p:cNvSpPr>
            <a:spLocks noGrp="1" noChangeArrowheads="1"/>
          </p:cNvSpPr>
          <p:nvPr>
            <p:ph type="body" idx="1"/>
          </p:nvPr>
        </p:nvSpPr>
        <p:spPr>
          <a:xfrm>
            <a:off x="588936" y="533400"/>
            <a:ext cx="11081288" cy="5943600"/>
          </a:xfrm>
        </p:spPr>
        <p:txBody>
          <a:bodyPr>
            <a:normAutofit lnSpcReduction="10000"/>
          </a:bodyPr>
          <a:lstStyle/>
          <a:p>
            <a:pPr>
              <a:lnSpc>
                <a:spcPct val="80000"/>
              </a:lnSpc>
            </a:pPr>
            <a:r>
              <a:rPr lang="id-ID" altLang="en-US" sz="2400" dirty="0"/>
              <a:t>Dengan HKA pada titik source maka:</a:t>
            </a:r>
          </a:p>
          <a:p>
            <a:pPr>
              <a:lnSpc>
                <a:spcPct val="80000"/>
              </a:lnSpc>
              <a:buFontTx/>
              <a:buNone/>
            </a:pPr>
            <a:r>
              <a:rPr lang="en-US" altLang="en-US" sz="2400" dirty="0"/>
              <a:t>	</a:t>
            </a:r>
            <a:r>
              <a:rPr lang="id-ID" altLang="en-US" sz="2400" dirty="0"/>
              <a:t>Ii  = </a:t>
            </a:r>
            <a:r>
              <a:rPr lang="id-ID" altLang="en-US" sz="2400" u="sng" dirty="0"/>
              <a:t>  Vi   </a:t>
            </a:r>
            <a:r>
              <a:rPr lang="id-ID" altLang="en-US" sz="2400" dirty="0"/>
              <a:t> + </a:t>
            </a:r>
            <a:r>
              <a:rPr lang="id-ID" altLang="en-US" sz="2400" u="sng" dirty="0"/>
              <a:t>  Vi – gm rd Vgs</a:t>
            </a:r>
            <a:endParaRPr lang="id-ID" altLang="en-US" sz="2400" dirty="0"/>
          </a:p>
          <a:p>
            <a:pPr>
              <a:lnSpc>
                <a:spcPct val="80000"/>
              </a:lnSpc>
              <a:buFontTx/>
              <a:buNone/>
            </a:pPr>
            <a:r>
              <a:rPr lang="en-US" altLang="en-US" sz="2400" dirty="0"/>
              <a:t>	</a:t>
            </a:r>
            <a:r>
              <a:rPr lang="id-ID" altLang="en-US" sz="2400" dirty="0"/>
              <a:t>        RS            rd    +    R</a:t>
            </a:r>
            <a:r>
              <a:rPr lang="id-ID" altLang="en-US" sz="2400" dirty="0">
                <a:sym typeface="Symbol" panose="05050102010706020507" pitchFamily="18" charset="2"/>
              </a:rPr>
              <a:t></a:t>
            </a:r>
            <a:r>
              <a:rPr lang="id-ID" altLang="en-US" sz="2400" dirty="0"/>
              <a:t>D</a:t>
            </a:r>
          </a:p>
          <a:p>
            <a:pPr>
              <a:lnSpc>
                <a:spcPct val="80000"/>
              </a:lnSpc>
            </a:pPr>
            <a:r>
              <a:rPr lang="id-ID" altLang="en-US" sz="2400" dirty="0"/>
              <a:t>Dengan Vgs = - Vi diperoleh:</a:t>
            </a:r>
          </a:p>
          <a:p>
            <a:pPr>
              <a:lnSpc>
                <a:spcPct val="80000"/>
              </a:lnSpc>
              <a:buFontTx/>
              <a:buNone/>
            </a:pPr>
            <a:r>
              <a:rPr lang="en-US" altLang="en-US" sz="2400" dirty="0"/>
              <a:t>	</a:t>
            </a:r>
            <a:r>
              <a:rPr lang="id-ID" altLang="en-US" sz="2400" dirty="0"/>
              <a:t>Ii  = </a:t>
            </a:r>
            <a:r>
              <a:rPr lang="id-ID" altLang="en-US" sz="2400" u="sng" dirty="0"/>
              <a:t>  Vi   </a:t>
            </a:r>
            <a:r>
              <a:rPr lang="id-ID" altLang="en-US" sz="2400" dirty="0"/>
              <a:t> + </a:t>
            </a:r>
            <a:r>
              <a:rPr lang="id-ID" altLang="en-US" sz="2400" u="sng" dirty="0"/>
              <a:t>  Vi + gm rd Vi</a:t>
            </a:r>
            <a:endParaRPr lang="id-ID" altLang="en-US" sz="2400" dirty="0"/>
          </a:p>
          <a:p>
            <a:pPr>
              <a:lnSpc>
                <a:spcPct val="80000"/>
              </a:lnSpc>
              <a:buFontTx/>
              <a:buNone/>
            </a:pPr>
            <a:r>
              <a:rPr lang="en-US" altLang="en-US" sz="2400" dirty="0"/>
              <a:t>	</a:t>
            </a:r>
            <a:r>
              <a:rPr lang="id-ID" altLang="en-US" sz="2400" dirty="0"/>
              <a:t>        RS            rd    +    R</a:t>
            </a:r>
            <a:r>
              <a:rPr lang="id-ID" altLang="en-US" sz="2400" dirty="0">
                <a:sym typeface="Symbol" panose="05050102010706020507" pitchFamily="18" charset="2"/>
              </a:rPr>
              <a:t></a:t>
            </a:r>
            <a:r>
              <a:rPr lang="id-ID" altLang="en-US" sz="2400" dirty="0"/>
              <a:t>D</a:t>
            </a:r>
          </a:p>
          <a:p>
            <a:pPr>
              <a:lnSpc>
                <a:spcPct val="80000"/>
              </a:lnSpc>
            </a:pPr>
            <a:r>
              <a:rPr lang="id-ID" altLang="en-US" sz="2400" dirty="0"/>
              <a:t>Maka resistans masukan dapat dihitung sebagai berikut :</a:t>
            </a:r>
          </a:p>
          <a:p>
            <a:pPr>
              <a:lnSpc>
                <a:spcPct val="80000"/>
              </a:lnSpc>
              <a:buFontTx/>
              <a:buNone/>
            </a:pPr>
            <a:r>
              <a:rPr lang="en-US" altLang="en-US" sz="2400" dirty="0"/>
              <a:t>	</a:t>
            </a:r>
            <a:r>
              <a:rPr lang="id-ID" altLang="en-US" sz="2400" dirty="0"/>
              <a:t>Ri  = </a:t>
            </a:r>
            <a:r>
              <a:rPr lang="id-ID" altLang="en-US" sz="2400" u="sng" dirty="0"/>
              <a:t>  Vi   </a:t>
            </a:r>
            <a:r>
              <a:rPr lang="id-ID" altLang="en-US" sz="2400" dirty="0"/>
              <a:t> =  </a:t>
            </a:r>
            <a:r>
              <a:rPr lang="id-ID" altLang="en-US" sz="2400" u="sng" dirty="0"/>
              <a:t>      Rs (rd + R'D)		  </a:t>
            </a:r>
            <a:endParaRPr lang="id-ID" altLang="en-US" sz="2400" dirty="0"/>
          </a:p>
          <a:p>
            <a:pPr>
              <a:lnSpc>
                <a:spcPct val="80000"/>
              </a:lnSpc>
              <a:buFontTx/>
              <a:buNone/>
            </a:pPr>
            <a:r>
              <a:rPr lang="en-US" altLang="en-US" sz="2400" dirty="0"/>
              <a:t>	</a:t>
            </a:r>
            <a:r>
              <a:rPr lang="id-ID" altLang="en-US" sz="2400" dirty="0"/>
              <a:t>           Ii            rd + R</a:t>
            </a:r>
            <a:r>
              <a:rPr lang="id-ID" altLang="en-US" sz="2400" dirty="0">
                <a:sym typeface="Symbol" panose="05050102010706020507" pitchFamily="18" charset="2"/>
              </a:rPr>
              <a:t></a:t>
            </a:r>
            <a:r>
              <a:rPr lang="id-ID" altLang="en-US" sz="2400" dirty="0"/>
              <a:t>D  + RS + gm rd RS</a:t>
            </a:r>
          </a:p>
          <a:p>
            <a:pPr>
              <a:lnSpc>
                <a:spcPct val="80000"/>
              </a:lnSpc>
              <a:buFontTx/>
              <a:buNone/>
            </a:pPr>
            <a:r>
              <a:rPr lang="en-US" altLang="en-US" sz="2400" dirty="0"/>
              <a:t>	</a:t>
            </a:r>
            <a:r>
              <a:rPr lang="id-ID" altLang="en-US" sz="2400" dirty="0"/>
              <a:t>Ri  =     </a:t>
            </a:r>
            <a:r>
              <a:rPr lang="id-ID" altLang="en-US" sz="2400" u="sng" dirty="0"/>
              <a:t>RS  (1 + R</a:t>
            </a:r>
            <a:r>
              <a:rPr lang="id-ID" altLang="en-US" sz="2400" u="sng" dirty="0">
                <a:sym typeface="Symbol" panose="05050102010706020507" pitchFamily="18" charset="2"/>
              </a:rPr>
              <a:t></a:t>
            </a:r>
            <a:r>
              <a:rPr lang="id-ID" altLang="en-US" sz="2400" u="sng" dirty="0"/>
              <a:t>D / rd)</a:t>
            </a:r>
            <a:endParaRPr lang="id-ID" altLang="en-US" sz="2400" dirty="0"/>
          </a:p>
          <a:p>
            <a:pPr>
              <a:lnSpc>
                <a:spcPct val="80000"/>
              </a:lnSpc>
              <a:buFontTx/>
              <a:buNone/>
            </a:pPr>
            <a:r>
              <a:rPr lang="id-ID" altLang="en-US" sz="2400" dirty="0"/>
              <a:t>                      </a:t>
            </a:r>
            <a:r>
              <a:rPr lang="id-ID" altLang="en-US" sz="2400" u="sng" dirty="0"/>
              <a:t>1   + (RS  + R</a:t>
            </a:r>
            <a:r>
              <a:rPr lang="id-ID" altLang="en-US" sz="2400" u="sng" dirty="0">
                <a:sym typeface="Symbol" panose="05050102010706020507" pitchFamily="18" charset="2"/>
              </a:rPr>
              <a:t></a:t>
            </a:r>
            <a:r>
              <a:rPr lang="id-ID" altLang="en-US" sz="2400" u="sng" dirty="0"/>
              <a:t>D )</a:t>
            </a:r>
            <a:endParaRPr lang="id-ID" altLang="en-US" sz="2400" dirty="0"/>
          </a:p>
          <a:p>
            <a:pPr>
              <a:lnSpc>
                <a:spcPct val="80000"/>
              </a:lnSpc>
              <a:buFontTx/>
              <a:buNone/>
            </a:pPr>
            <a:r>
              <a:rPr lang="id-ID" altLang="en-US" sz="2400" dirty="0"/>
              <a:t>          </a:t>
            </a:r>
            <a:r>
              <a:rPr lang="en-US" altLang="en-US" sz="2400" dirty="0"/>
              <a:t>               </a:t>
            </a:r>
            <a:r>
              <a:rPr lang="id-ID" altLang="en-US" sz="2400" dirty="0"/>
              <a:t> Rd + gm RS</a:t>
            </a:r>
          </a:p>
          <a:p>
            <a:pPr>
              <a:lnSpc>
                <a:spcPct val="80000"/>
              </a:lnSpc>
            </a:pPr>
            <a:r>
              <a:rPr lang="id-ID" altLang="en-US" sz="2400" dirty="0"/>
              <a:t>Jika rd &gt;&gt;  maka :</a:t>
            </a:r>
          </a:p>
          <a:p>
            <a:pPr>
              <a:lnSpc>
                <a:spcPct val="80000"/>
              </a:lnSpc>
              <a:buFontTx/>
              <a:buNone/>
            </a:pPr>
            <a:r>
              <a:rPr lang="en-US" altLang="en-US" sz="2400" dirty="0"/>
              <a:t>	</a:t>
            </a:r>
            <a:r>
              <a:rPr lang="id-ID" altLang="en-US" sz="2400" dirty="0"/>
              <a:t>	Ri ››  </a:t>
            </a:r>
            <a:r>
              <a:rPr lang="id-ID" altLang="en-US" sz="2400" u="sng" dirty="0"/>
              <a:t>     RS     </a:t>
            </a:r>
            <a:r>
              <a:rPr lang="id-ID" altLang="en-US" sz="2400" dirty="0"/>
              <a:t> =  </a:t>
            </a:r>
            <a:r>
              <a:rPr lang="id-ID" altLang="en-US" sz="2400" u="sng" dirty="0"/>
              <a:t>  RS 1/gm   </a:t>
            </a:r>
            <a:r>
              <a:rPr lang="id-ID" altLang="en-US" sz="2400" dirty="0"/>
              <a:t> = RS  / / 1/gm</a:t>
            </a:r>
          </a:p>
          <a:p>
            <a:pPr>
              <a:lnSpc>
                <a:spcPct val="80000"/>
              </a:lnSpc>
              <a:buFontTx/>
              <a:buNone/>
            </a:pPr>
            <a:r>
              <a:rPr lang="en-US" altLang="en-US" sz="2400" dirty="0"/>
              <a:t>	</a:t>
            </a:r>
            <a:r>
              <a:rPr lang="id-ID" altLang="en-US" sz="2400" dirty="0"/>
              <a:t>                 1 + gm RS  RS + 1/gm</a:t>
            </a:r>
            <a:endParaRPr lang="en-US" altLang="en-US" sz="2400" dirty="0"/>
          </a:p>
        </p:txBody>
      </p:sp>
    </p:spTree>
    <p:extLst>
      <p:ext uri="{BB962C8B-B14F-4D97-AF65-F5344CB8AC3E}">
        <p14:creationId xmlns:p14="http://schemas.microsoft.com/office/powerpoint/2010/main" val="287599917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Rectangle 3"/>
          <p:cNvSpPr>
            <a:spLocks noGrp="1" noChangeArrowheads="1"/>
          </p:cNvSpPr>
          <p:nvPr>
            <p:ph type="body" idx="1"/>
          </p:nvPr>
        </p:nvSpPr>
        <p:spPr>
          <a:xfrm>
            <a:off x="480447" y="533400"/>
            <a:ext cx="11220773" cy="1371600"/>
          </a:xfrm>
        </p:spPr>
        <p:txBody>
          <a:bodyPr/>
          <a:lstStyle/>
          <a:p>
            <a:r>
              <a:rPr lang="id-ID" altLang="en-US" sz="2400" dirty="0"/>
              <a:t>Resistan keluaran dihitung dengan membuat   </a:t>
            </a:r>
            <a:r>
              <a:rPr lang="id-ID" altLang="en-US" sz="2400" dirty="0" smtClean="0"/>
              <a:t>Vi </a:t>
            </a:r>
            <a:r>
              <a:rPr lang="id-ID" altLang="en-US" sz="2400" dirty="0"/>
              <a:t>= - Vgs = 0,  RL dibuka, dan kemudian diberikan sumber tegangan V2 pada keluaran (Gambar 24.)</a:t>
            </a:r>
            <a:endParaRPr lang="en-US" altLang="en-US" sz="2400" dirty="0"/>
          </a:p>
        </p:txBody>
      </p:sp>
      <p:sp>
        <p:nvSpPr>
          <p:cNvPr id="122885" name="Rectangle 5"/>
          <p:cNvSpPr>
            <a:spLocks noChangeArrowheads="1"/>
          </p:cNvSpPr>
          <p:nvPr/>
        </p:nvSpPr>
        <p:spPr bwMode="auto">
          <a:xfrm>
            <a:off x="1524001" y="22013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22884" name="Object 4"/>
          <p:cNvGraphicFramePr>
            <a:graphicFrameLocks noChangeAspect="1"/>
          </p:cNvGraphicFramePr>
          <p:nvPr/>
        </p:nvGraphicFramePr>
        <p:xfrm>
          <a:off x="2819400" y="1981201"/>
          <a:ext cx="4495800" cy="2974975"/>
        </p:xfrm>
        <a:graphic>
          <a:graphicData uri="http://schemas.openxmlformats.org/presentationml/2006/ole">
            <mc:AlternateContent xmlns:mc="http://schemas.openxmlformats.org/markup-compatibility/2006">
              <mc:Choice xmlns:v="urn:schemas-microsoft-com:vml" Requires="v">
                <p:oleObj spid="_x0000_s23567" r:id="rId3" imgW="2657856" imgH="1732788" progId="Visio.Drawing.11">
                  <p:embed/>
                </p:oleObj>
              </mc:Choice>
              <mc:Fallback>
                <p:oleObj r:id="rId3" imgW="2657856" imgH="1732788" progId="Visio.Drawing.11">
                  <p:embed/>
                  <p:pic>
                    <p:nvPicPr>
                      <p:cNvPr id="12288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1981201"/>
                        <a:ext cx="4495800" cy="297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886" name="Text Box 6"/>
          <p:cNvSpPr txBox="1">
            <a:spLocks noChangeArrowheads="1"/>
          </p:cNvSpPr>
          <p:nvPr/>
        </p:nvSpPr>
        <p:spPr bwMode="auto">
          <a:xfrm>
            <a:off x="929897" y="5257801"/>
            <a:ext cx="1027537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id-ID" altLang="en-US" sz="2400" dirty="0"/>
              <a:t>Maka resistans keluaran adalah :</a:t>
            </a:r>
          </a:p>
          <a:p>
            <a:r>
              <a:rPr lang="id-ID" altLang="en-US" sz="2400" dirty="0"/>
              <a:t>	Ro =  </a:t>
            </a:r>
            <a:r>
              <a:rPr lang="id-ID" altLang="en-US" sz="2400" u="sng" dirty="0"/>
              <a:t> V2 </a:t>
            </a:r>
            <a:r>
              <a:rPr lang="id-ID" altLang="en-US" sz="2400" dirty="0"/>
              <a:t> =  </a:t>
            </a:r>
            <a:r>
              <a:rPr lang="id-ID" altLang="en-US" sz="2400" u="sng" dirty="0"/>
              <a:t>  rd  RD  </a:t>
            </a:r>
            <a:r>
              <a:rPr lang="id-ID" altLang="en-US" sz="2400" dirty="0"/>
              <a:t> = rd // RD </a:t>
            </a:r>
          </a:p>
          <a:p>
            <a:r>
              <a:rPr lang="id-ID" altLang="en-US" sz="2400" dirty="0"/>
              <a:t>                    </a:t>
            </a:r>
            <a:r>
              <a:rPr lang="en-US" altLang="en-US" sz="2400" dirty="0"/>
              <a:t>  </a:t>
            </a:r>
            <a:r>
              <a:rPr lang="id-ID" altLang="en-US" sz="2400" dirty="0"/>
              <a:t>I2       rd + RD </a:t>
            </a:r>
            <a:endParaRPr lang="en-US" altLang="en-US" sz="2400" dirty="0"/>
          </a:p>
        </p:txBody>
      </p:sp>
    </p:spTree>
    <p:extLst>
      <p:ext uri="{BB962C8B-B14F-4D97-AF65-F5344CB8AC3E}">
        <p14:creationId xmlns:p14="http://schemas.microsoft.com/office/powerpoint/2010/main" val="148988707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3"/>
          <p:cNvSpPr>
            <a:spLocks noGrp="1" noChangeArrowheads="1"/>
          </p:cNvSpPr>
          <p:nvPr>
            <p:ph type="body" idx="1"/>
          </p:nvPr>
        </p:nvSpPr>
        <p:spPr>
          <a:xfrm>
            <a:off x="588935" y="457200"/>
            <a:ext cx="10724827" cy="3048000"/>
          </a:xfrm>
        </p:spPr>
        <p:txBody>
          <a:bodyPr/>
          <a:lstStyle/>
          <a:p>
            <a:pPr>
              <a:lnSpc>
                <a:spcPct val="90000"/>
              </a:lnSpc>
              <a:buFontTx/>
              <a:buNone/>
            </a:pPr>
            <a:r>
              <a:rPr lang="en-US" altLang="en-US" sz="2000" u="sng" dirty="0" smtClean="0"/>
              <a:t>Ex</a:t>
            </a:r>
            <a:r>
              <a:rPr lang="id-ID" altLang="en-US" sz="2000" u="sng" dirty="0" smtClean="0"/>
              <a:t> </a:t>
            </a:r>
            <a:r>
              <a:rPr lang="id-ID" altLang="en-US" sz="2000" u="sng" dirty="0"/>
              <a:t>3</a:t>
            </a:r>
            <a:r>
              <a:rPr lang="en-US" altLang="en-US" sz="2000" u="sng" dirty="0"/>
              <a:t>.</a:t>
            </a:r>
            <a:endParaRPr lang="id-ID" altLang="en-US" sz="2000" dirty="0"/>
          </a:p>
          <a:p>
            <a:pPr>
              <a:lnSpc>
                <a:spcPct val="90000"/>
              </a:lnSpc>
            </a:pPr>
            <a:r>
              <a:rPr lang="id-ID" altLang="en-US" sz="2000" dirty="0"/>
              <a:t>Untuk untai penguat Gambar a berikut, JFET mempunyai parameter sebagai berikut: gm = 2 mA / V, dan rd = 25 KΩ.  Reaktans C diabaikan pada frekuensi kerja.</a:t>
            </a:r>
          </a:p>
          <a:p>
            <a:pPr>
              <a:lnSpc>
                <a:spcPct val="90000"/>
              </a:lnSpc>
              <a:buFontTx/>
              <a:buNone/>
            </a:pPr>
            <a:r>
              <a:rPr lang="en-US" altLang="en-US" sz="2000" dirty="0"/>
              <a:t>a.) </a:t>
            </a:r>
            <a:r>
              <a:rPr lang="id-ID" altLang="en-US" sz="2000" dirty="0"/>
              <a:t>Tulislah ekspresi untuk Vo1 dan Vo2.</a:t>
            </a:r>
          </a:p>
          <a:p>
            <a:pPr>
              <a:lnSpc>
                <a:spcPct val="90000"/>
              </a:lnSpc>
              <a:buFontTx/>
              <a:buNone/>
            </a:pPr>
            <a:r>
              <a:rPr lang="en-US" altLang="en-US" sz="2000" dirty="0"/>
              <a:t>b.) </a:t>
            </a:r>
            <a:r>
              <a:rPr lang="id-ID" altLang="en-US" sz="2000" dirty="0"/>
              <a:t>Jika RS  = 1 K</a:t>
            </a:r>
            <a:r>
              <a:rPr lang="id-ID" altLang="en-US" sz="2000" dirty="0">
                <a:sym typeface="Symbol" panose="05050102010706020507" pitchFamily="18" charset="2"/>
              </a:rPr>
              <a:t></a:t>
            </a:r>
            <a:r>
              <a:rPr lang="id-ID" altLang="en-US" sz="2000" dirty="0"/>
              <a:t>, Rd = 4 KΩ, dan hitunglah perolehan tegangan.</a:t>
            </a:r>
          </a:p>
          <a:p>
            <a:pPr>
              <a:lnSpc>
                <a:spcPct val="90000"/>
              </a:lnSpc>
              <a:buFontTx/>
              <a:buNone/>
            </a:pPr>
            <a:r>
              <a:rPr lang="en-US" altLang="en-US" sz="2000" dirty="0"/>
              <a:t>	</a:t>
            </a:r>
            <a:r>
              <a:rPr lang="id-ID" altLang="en-US" sz="2000" dirty="0"/>
              <a:t>Av1  =   </a:t>
            </a:r>
            <a:r>
              <a:rPr lang="id-ID" altLang="en-US" sz="2000" u="sng" dirty="0"/>
              <a:t> Vo1  </a:t>
            </a:r>
            <a:r>
              <a:rPr lang="id-ID" altLang="en-US" sz="2000" dirty="0"/>
              <a:t>        dan   Av2  =   </a:t>
            </a:r>
            <a:r>
              <a:rPr lang="id-ID" altLang="en-US" sz="2000" u="sng" dirty="0"/>
              <a:t>  Vo2</a:t>
            </a:r>
            <a:endParaRPr lang="id-ID" altLang="en-US" sz="2000" dirty="0"/>
          </a:p>
          <a:p>
            <a:pPr>
              <a:lnSpc>
                <a:spcPct val="90000"/>
              </a:lnSpc>
              <a:buFontTx/>
              <a:buNone/>
            </a:pPr>
            <a:r>
              <a:rPr lang="en-US" altLang="en-US" sz="2000" dirty="0"/>
              <a:t>	</a:t>
            </a:r>
            <a:r>
              <a:rPr lang="id-ID" altLang="en-US" sz="2000" dirty="0"/>
              <a:t>               Vi                                      Vi </a:t>
            </a:r>
            <a:endParaRPr lang="en-US" altLang="en-US" sz="2000" dirty="0"/>
          </a:p>
        </p:txBody>
      </p:sp>
      <p:sp>
        <p:nvSpPr>
          <p:cNvPr id="123909" name="Rectangle 5"/>
          <p:cNvSpPr>
            <a:spLocks noChangeArrowheads="1"/>
          </p:cNvSpPr>
          <p:nvPr/>
        </p:nvSpPr>
        <p:spPr bwMode="auto">
          <a:xfrm>
            <a:off x="1524001" y="23346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23908" name="Object 4"/>
          <p:cNvGraphicFramePr>
            <a:graphicFrameLocks noChangeAspect="1"/>
          </p:cNvGraphicFramePr>
          <p:nvPr/>
        </p:nvGraphicFramePr>
        <p:xfrm>
          <a:off x="2057400" y="3492501"/>
          <a:ext cx="3581400" cy="2581275"/>
        </p:xfrm>
        <a:graphic>
          <a:graphicData uri="http://schemas.openxmlformats.org/presentationml/2006/ole">
            <mc:AlternateContent xmlns:mc="http://schemas.openxmlformats.org/markup-compatibility/2006">
              <mc:Choice xmlns:v="urn:schemas-microsoft-com:vml" Requires="v">
                <p:oleObj spid="_x0000_s24604" r:id="rId3" imgW="2522867" imgH="1819576" progId="Visio.Drawing.11">
                  <p:embed/>
                </p:oleObj>
              </mc:Choice>
              <mc:Fallback>
                <p:oleObj r:id="rId3" imgW="2522867" imgH="1819576" progId="Visio.Drawing.11">
                  <p:embed/>
                  <p:pic>
                    <p:nvPicPr>
                      <p:cNvPr id="12390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3492501"/>
                        <a:ext cx="3581400" cy="2581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911" name="Rectangle 7"/>
          <p:cNvSpPr>
            <a:spLocks noChangeArrowheads="1"/>
          </p:cNvSpPr>
          <p:nvPr/>
        </p:nvSpPr>
        <p:spPr bwMode="auto">
          <a:xfrm>
            <a:off x="1524001" y="25013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23910" name="Object 6"/>
          <p:cNvGraphicFramePr>
            <a:graphicFrameLocks noChangeAspect="1"/>
          </p:cNvGraphicFramePr>
          <p:nvPr/>
        </p:nvGraphicFramePr>
        <p:xfrm>
          <a:off x="5867400" y="3581401"/>
          <a:ext cx="4191000" cy="2232025"/>
        </p:xfrm>
        <a:graphic>
          <a:graphicData uri="http://schemas.openxmlformats.org/presentationml/2006/ole">
            <mc:AlternateContent xmlns:mc="http://schemas.openxmlformats.org/markup-compatibility/2006">
              <mc:Choice xmlns:v="urn:schemas-microsoft-com:vml" Requires="v">
                <p:oleObj spid="_x0000_s24605" r:id="rId5" imgW="2792845" imgH="1486894" progId="Visio.Drawing.11">
                  <p:embed/>
                </p:oleObj>
              </mc:Choice>
              <mc:Fallback>
                <p:oleObj r:id="rId5" imgW="2792845" imgH="1486894" progId="Visio.Drawing.11">
                  <p:embed/>
                  <p:pic>
                    <p:nvPicPr>
                      <p:cNvPr id="12391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7400" y="3581401"/>
                        <a:ext cx="4191000" cy="2232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2179643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3"/>
          <p:cNvSpPr>
            <a:spLocks noGrp="1" noChangeArrowheads="1"/>
          </p:cNvSpPr>
          <p:nvPr>
            <p:ph type="body" idx="1"/>
          </p:nvPr>
        </p:nvSpPr>
        <p:spPr>
          <a:xfrm>
            <a:off x="604434" y="533400"/>
            <a:ext cx="11360258" cy="6019800"/>
          </a:xfrm>
        </p:spPr>
        <p:txBody>
          <a:bodyPr>
            <a:normAutofit fontScale="92500" lnSpcReduction="10000"/>
          </a:bodyPr>
          <a:lstStyle/>
          <a:p>
            <a:pPr>
              <a:lnSpc>
                <a:spcPct val="80000"/>
              </a:lnSpc>
              <a:buFontTx/>
              <a:buNone/>
            </a:pPr>
            <a:r>
              <a:rPr lang="id-ID" altLang="en-US" sz="1800" u="sng" dirty="0" smtClean="0"/>
              <a:t>Solu</a:t>
            </a:r>
            <a:r>
              <a:rPr lang="en-US" altLang="en-US" sz="1800" u="sng" dirty="0" err="1" smtClean="0"/>
              <a:t>sion</a:t>
            </a:r>
            <a:endParaRPr lang="id-ID" altLang="en-US" sz="1800" dirty="0"/>
          </a:p>
          <a:p>
            <a:pPr>
              <a:lnSpc>
                <a:spcPct val="80000"/>
              </a:lnSpc>
              <a:buFontTx/>
              <a:buNone/>
            </a:pPr>
            <a:r>
              <a:rPr lang="en-US" altLang="en-US" sz="1800" dirty="0"/>
              <a:t>	</a:t>
            </a:r>
            <a:r>
              <a:rPr lang="id-ID" altLang="en-US" sz="1800" dirty="0"/>
              <a:t>Untai di atas merupakan gabungan dari penguat CS dan CD.  Untai ekuivalen AC nya adalah seperti pada (Gambar 25b).  Nilai Rg sangat besar sehingga diabaikan.  Dengan Hukum Kirchoff tegangan diperoleh persamaan :</a:t>
            </a:r>
          </a:p>
          <a:p>
            <a:pPr>
              <a:lnSpc>
                <a:spcPct val="80000"/>
              </a:lnSpc>
              <a:buFontTx/>
              <a:buNone/>
            </a:pPr>
            <a:r>
              <a:rPr lang="en-US" altLang="en-US" sz="1800" dirty="0"/>
              <a:t>	</a:t>
            </a:r>
            <a:r>
              <a:rPr lang="id-ID" altLang="en-US" sz="1800" dirty="0"/>
              <a:t>Id Rd + (Id – gm Vgs) rd + Id Rs = 0 dan Vgs = Vi – Id Rs</a:t>
            </a:r>
            <a:endParaRPr lang="en-US" altLang="en-US" sz="1800" dirty="0"/>
          </a:p>
          <a:p>
            <a:pPr>
              <a:lnSpc>
                <a:spcPct val="80000"/>
              </a:lnSpc>
              <a:buFontTx/>
              <a:buNone/>
            </a:pPr>
            <a:endParaRPr lang="id-ID" altLang="en-US" sz="1800" dirty="0"/>
          </a:p>
          <a:p>
            <a:pPr>
              <a:lnSpc>
                <a:spcPct val="80000"/>
              </a:lnSpc>
              <a:buFontTx/>
              <a:buNone/>
            </a:pPr>
            <a:r>
              <a:rPr lang="en-US" altLang="en-US" sz="1800" dirty="0"/>
              <a:t>	</a:t>
            </a:r>
            <a:r>
              <a:rPr lang="id-ID" altLang="en-US" sz="1800" dirty="0"/>
              <a:t>           Didefinisikan faktor penguatan μ = gm rd maka:</a:t>
            </a:r>
          </a:p>
          <a:p>
            <a:pPr>
              <a:lnSpc>
                <a:spcPct val="80000"/>
              </a:lnSpc>
              <a:buFontTx/>
              <a:buNone/>
            </a:pPr>
            <a:r>
              <a:rPr lang="en-US" altLang="en-US" sz="1800" dirty="0"/>
              <a:t>	</a:t>
            </a:r>
            <a:r>
              <a:rPr lang="id-ID" altLang="en-US" sz="1800" dirty="0"/>
              <a:t>		Id =  </a:t>
            </a:r>
            <a:r>
              <a:rPr lang="id-ID" altLang="en-US" sz="1800" u="sng" dirty="0"/>
              <a:t>          μ Vi	 	</a:t>
            </a:r>
            <a:endParaRPr lang="id-ID" altLang="en-US" sz="1800" dirty="0"/>
          </a:p>
          <a:p>
            <a:pPr>
              <a:lnSpc>
                <a:spcPct val="80000"/>
              </a:lnSpc>
              <a:buFontTx/>
              <a:buNone/>
            </a:pPr>
            <a:r>
              <a:rPr lang="en-US" altLang="en-US" sz="1800" dirty="0"/>
              <a:t>	</a:t>
            </a:r>
            <a:r>
              <a:rPr lang="id-ID" altLang="en-US" sz="1800" dirty="0"/>
              <a:t>  	                 </a:t>
            </a:r>
            <a:r>
              <a:rPr lang="en-US" altLang="en-US" sz="1800" dirty="0"/>
              <a:t>       </a:t>
            </a:r>
            <a:r>
              <a:rPr lang="id-ID" altLang="en-US" sz="1800" dirty="0"/>
              <a:t>rd  + Rd + (μ + 1) Rs</a:t>
            </a:r>
          </a:p>
          <a:p>
            <a:pPr>
              <a:lnSpc>
                <a:spcPct val="80000"/>
              </a:lnSpc>
              <a:buFontTx/>
              <a:buNone/>
            </a:pPr>
            <a:r>
              <a:rPr lang="en-US" altLang="en-US" sz="1800" dirty="0"/>
              <a:t>	</a:t>
            </a:r>
            <a:r>
              <a:rPr lang="id-ID" altLang="en-US" sz="1800" dirty="0"/>
              <a:t>   </a:t>
            </a:r>
          </a:p>
          <a:p>
            <a:pPr>
              <a:lnSpc>
                <a:spcPct val="80000"/>
              </a:lnSpc>
              <a:buFontTx/>
              <a:buNone/>
            </a:pPr>
            <a:r>
              <a:rPr lang="en-US" altLang="en-US" sz="1800" dirty="0"/>
              <a:t>	</a:t>
            </a:r>
            <a:r>
              <a:rPr lang="id-ID" altLang="en-US" sz="1800" dirty="0"/>
              <a:t>	Karena Vo1 = - Id  Rd, maka</a:t>
            </a:r>
          </a:p>
          <a:p>
            <a:pPr>
              <a:lnSpc>
                <a:spcPct val="80000"/>
              </a:lnSpc>
              <a:buFontTx/>
              <a:buNone/>
            </a:pPr>
            <a:r>
              <a:rPr lang="en-US" altLang="en-US" sz="1800" dirty="0"/>
              <a:t>	</a:t>
            </a:r>
            <a:r>
              <a:rPr lang="id-ID" altLang="en-US" sz="1800" dirty="0"/>
              <a:t>		Vo1 =  </a:t>
            </a:r>
            <a:r>
              <a:rPr lang="id-ID" altLang="en-US" sz="1800" u="sng" dirty="0"/>
              <a:t>         - μ Vi Rd	 	</a:t>
            </a:r>
            <a:endParaRPr lang="id-ID" altLang="en-US" sz="1800" dirty="0"/>
          </a:p>
          <a:p>
            <a:pPr>
              <a:lnSpc>
                <a:spcPct val="80000"/>
              </a:lnSpc>
              <a:buFontTx/>
              <a:buNone/>
            </a:pPr>
            <a:r>
              <a:rPr lang="en-US" altLang="en-US" sz="1800" dirty="0"/>
              <a:t>	</a:t>
            </a:r>
            <a:r>
              <a:rPr lang="id-ID" altLang="en-US" sz="1800" dirty="0"/>
              <a:t>  	                     </a:t>
            </a:r>
            <a:r>
              <a:rPr lang="en-US" altLang="en-US" sz="1800" dirty="0"/>
              <a:t>        </a:t>
            </a:r>
            <a:r>
              <a:rPr lang="id-ID" altLang="en-US" sz="1800" dirty="0"/>
              <a:t>Rd  + rd + (μ + 1) Rs 			 </a:t>
            </a:r>
            <a:r>
              <a:rPr lang="en-US" altLang="en-US" sz="1800" dirty="0" smtClean="0"/>
              <a:t>              </a:t>
            </a:r>
            <a:r>
              <a:rPr lang="id-ID" altLang="en-US" sz="1800" dirty="0" smtClean="0"/>
              <a:t>    </a:t>
            </a:r>
            <a:r>
              <a:rPr lang="id-ID" altLang="en-US" sz="1800" dirty="0"/>
              <a:t>(a)</a:t>
            </a:r>
          </a:p>
          <a:p>
            <a:pPr>
              <a:lnSpc>
                <a:spcPct val="80000"/>
              </a:lnSpc>
              <a:buFontTx/>
              <a:buNone/>
            </a:pPr>
            <a:r>
              <a:rPr lang="en-US" altLang="en-US" sz="1800" dirty="0"/>
              <a:t>	</a:t>
            </a:r>
            <a:r>
              <a:rPr lang="id-ID" altLang="en-US" sz="1800" dirty="0"/>
              <a:t>	Karena Vo2 = Id  Rs, maka:</a:t>
            </a:r>
          </a:p>
          <a:p>
            <a:pPr>
              <a:lnSpc>
                <a:spcPct val="80000"/>
              </a:lnSpc>
              <a:buFontTx/>
              <a:buNone/>
            </a:pPr>
            <a:r>
              <a:rPr lang="en-US" altLang="en-US" sz="1800" dirty="0"/>
              <a:t>	</a:t>
            </a:r>
            <a:r>
              <a:rPr lang="id-ID" altLang="en-US" sz="1800" dirty="0"/>
              <a:t>		 Vo2 =  </a:t>
            </a:r>
            <a:r>
              <a:rPr lang="id-ID" altLang="en-US" sz="1800" u="sng" dirty="0"/>
              <a:t>          μ Vi Rs	 	</a:t>
            </a:r>
            <a:endParaRPr lang="id-ID" altLang="en-US" sz="1800" dirty="0"/>
          </a:p>
          <a:p>
            <a:pPr>
              <a:lnSpc>
                <a:spcPct val="80000"/>
              </a:lnSpc>
              <a:buFontTx/>
              <a:buNone/>
            </a:pPr>
            <a:r>
              <a:rPr lang="en-US" altLang="en-US" sz="1800" dirty="0"/>
              <a:t>	</a:t>
            </a:r>
            <a:r>
              <a:rPr lang="id-ID" altLang="en-US" sz="1800" dirty="0"/>
              <a:t>  	                     </a:t>
            </a:r>
            <a:r>
              <a:rPr lang="en-US" altLang="en-US" sz="1800" dirty="0"/>
              <a:t>        </a:t>
            </a:r>
            <a:r>
              <a:rPr lang="id-ID" altLang="en-US" sz="1800" dirty="0"/>
              <a:t>Rd  + rd + (μ + 1) Rs</a:t>
            </a:r>
          </a:p>
          <a:p>
            <a:pPr>
              <a:lnSpc>
                <a:spcPct val="80000"/>
              </a:lnSpc>
              <a:buFontTx/>
              <a:buNone/>
            </a:pPr>
            <a:r>
              <a:rPr lang="en-US" altLang="en-US" sz="1800" dirty="0"/>
              <a:t>	</a:t>
            </a:r>
            <a:r>
              <a:rPr lang="id-ID" altLang="en-US" sz="1800" dirty="0"/>
              <a:t>		</a:t>
            </a:r>
            <a:r>
              <a:rPr lang="en-US" altLang="en-US" sz="1800" dirty="0"/>
              <a:t>        </a:t>
            </a:r>
            <a:r>
              <a:rPr lang="id-ID" altLang="en-US" sz="1800" dirty="0"/>
              <a:t>=     </a:t>
            </a:r>
            <a:r>
              <a:rPr lang="id-ID" altLang="en-US" sz="1800" u="sng" dirty="0"/>
              <a:t> </a:t>
            </a:r>
            <a:r>
              <a:rPr lang="id-ID" altLang="en-US" sz="1800" u="sng" dirty="0">
                <a:sym typeface="Symbol" panose="05050102010706020507" pitchFamily="18" charset="2"/>
              </a:rPr>
              <a:t></a:t>
            </a:r>
            <a:r>
              <a:rPr lang="id-ID" altLang="en-US" sz="1800" u="sng" dirty="0"/>
              <a:t> μ Vi / (μ + 1)</a:t>
            </a:r>
            <a:r>
              <a:rPr lang="id-ID" altLang="en-US" sz="1800" u="sng" dirty="0">
                <a:sym typeface="Symbol" panose="05050102010706020507" pitchFamily="18" charset="2"/>
              </a:rPr>
              <a:t></a:t>
            </a:r>
            <a:r>
              <a:rPr lang="id-ID" altLang="en-US" sz="1800" u="sng" dirty="0"/>
              <a:t> Rs</a:t>
            </a:r>
            <a:endParaRPr lang="id-ID" altLang="en-US" sz="1800" dirty="0"/>
          </a:p>
          <a:p>
            <a:pPr>
              <a:lnSpc>
                <a:spcPct val="80000"/>
              </a:lnSpc>
              <a:buFontTx/>
              <a:buNone/>
            </a:pPr>
            <a:r>
              <a:rPr lang="en-US" altLang="en-US" sz="1800" dirty="0"/>
              <a:t>	</a:t>
            </a:r>
            <a:r>
              <a:rPr lang="id-ID" altLang="en-US" sz="1800" dirty="0"/>
              <a:t>			 </a:t>
            </a:r>
            <a:r>
              <a:rPr lang="id-ID" altLang="en-US" sz="1800" u="sng" dirty="0"/>
              <a:t>(Rd + rd)    </a:t>
            </a:r>
            <a:r>
              <a:rPr lang="id-ID" altLang="en-US" sz="1800" dirty="0"/>
              <a:t> + Rs	</a:t>
            </a:r>
            <a:r>
              <a:rPr lang="en-US" altLang="en-US" sz="1800" dirty="0"/>
              <a:t>           			    </a:t>
            </a:r>
            <a:r>
              <a:rPr lang="id-ID" altLang="en-US" sz="1800" dirty="0"/>
              <a:t>(b)</a:t>
            </a:r>
          </a:p>
          <a:p>
            <a:pPr>
              <a:lnSpc>
                <a:spcPct val="80000"/>
              </a:lnSpc>
              <a:buFontTx/>
              <a:buNone/>
            </a:pPr>
            <a:r>
              <a:rPr lang="en-US" altLang="en-US" sz="1800" dirty="0"/>
              <a:t>	</a:t>
            </a:r>
            <a:r>
              <a:rPr lang="id-ID" altLang="en-US" sz="1800" dirty="0"/>
              <a:t>   			    (μ + 1)	 </a:t>
            </a:r>
          </a:p>
          <a:p>
            <a:pPr>
              <a:lnSpc>
                <a:spcPct val="80000"/>
              </a:lnSpc>
              <a:buFontTx/>
              <a:buNone/>
            </a:pPr>
            <a:r>
              <a:rPr lang="en-US" altLang="en-US" sz="1800" dirty="0"/>
              <a:t>	</a:t>
            </a:r>
            <a:r>
              <a:rPr lang="id-ID" altLang="en-US" sz="1800" dirty="0"/>
              <a:t>μ   =  gm rd   = 2 x 25   = 50</a:t>
            </a:r>
            <a:endParaRPr lang="en-US" altLang="en-US" sz="1800" dirty="0"/>
          </a:p>
        </p:txBody>
      </p:sp>
    </p:spTree>
    <p:extLst>
      <p:ext uri="{BB962C8B-B14F-4D97-AF65-F5344CB8AC3E}">
        <p14:creationId xmlns:p14="http://schemas.microsoft.com/office/powerpoint/2010/main" val="378800604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Rectangle 3"/>
          <p:cNvSpPr>
            <a:spLocks noGrp="1" noChangeArrowheads="1"/>
          </p:cNvSpPr>
          <p:nvPr>
            <p:ph type="body" idx="1"/>
          </p:nvPr>
        </p:nvSpPr>
        <p:spPr>
          <a:xfrm>
            <a:off x="526941" y="609601"/>
            <a:ext cx="11112285" cy="4525963"/>
          </a:xfrm>
        </p:spPr>
        <p:txBody>
          <a:bodyPr/>
          <a:lstStyle/>
          <a:p>
            <a:pPr>
              <a:buFontTx/>
              <a:buNone/>
            </a:pPr>
            <a:r>
              <a:rPr lang="en-US" altLang="en-US" sz="2000" dirty="0"/>
              <a:t>	</a:t>
            </a:r>
            <a:r>
              <a:rPr lang="id-ID" altLang="en-US" sz="2000" dirty="0"/>
              <a:t>Dari Persamaan (a), diperoleh:</a:t>
            </a:r>
          </a:p>
          <a:p>
            <a:pPr>
              <a:buFontTx/>
              <a:buNone/>
            </a:pPr>
            <a:r>
              <a:rPr lang="en-US" altLang="en-US" sz="2000" dirty="0"/>
              <a:t>	</a:t>
            </a:r>
            <a:r>
              <a:rPr lang="id-ID" altLang="en-US" sz="2000" dirty="0"/>
              <a:t>	Av1  =  </a:t>
            </a:r>
            <a:r>
              <a:rPr lang="id-ID" altLang="en-US" sz="2000" u="sng" dirty="0"/>
              <a:t>   Vo1   </a:t>
            </a:r>
            <a:r>
              <a:rPr lang="id-ID" altLang="en-US" sz="2000" dirty="0"/>
              <a:t>  = </a:t>
            </a:r>
            <a:r>
              <a:rPr lang="id-ID" altLang="en-US" sz="2000" u="sng" dirty="0"/>
              <a:t>             -50  x 4       </a:t>
            </a:r>
            <a:r>
              <a:rPr lang="id-ID" altLang="en-US" sz="2000" dirty="0"/>
              <a:t> = -2,5</a:t>
            </a:r>
          </a:p>
          <a:p>
            <a:pPr>
              <a:buFontTx/>
              <a:buNone/>
            </a:pPr>
            <a:r>
              <a:rPr lang="en-US" altLang="en-US" sz="2000" dirty="0"/>
              <a:t>	</a:t>
            </a:r>
            <a:r>
              <a:rPr lang="id-ID" altLang="en-US" sz="2000" dirty="0"/>
              <a:t>                         Vi          4 + 25 + (50 + 1) x 1</a:t>
            </a:r>
          </a:p>
          <a:p>
            <a:pPr>
              <a:buFontTx/>
              <a:buNone/>
            </a:pPr>
            <a:r>
              <a:rPr lang="en-US" altLang="en-US" sz="2000" dirty="0"/>
              <a:t>	</a:t>
            </a:r>
            <a:r>
              <a:rPr lang="id-ID" altLang="en-US" sz="2000" dirty="0"/>
              <a:t>Dari Persamaan (b) diperoleh:</a:t>
            </a:r>
          </a:p>
          <a:p>
            <a:pPr>
              <a:buFontTx/>
              <a:buNone/>
            </a:pPr>
            <a:r>
              <a:rPr lang="en-US" altLang="en-US" sz="2000" dirty="0"/>
              <a:t>	</a:t>
            </a:r>
            <a:r>
              <a:rPr lang="id-ID" altLang="en-US" sz="2000" dirty="0"/>
              <a:t>	Av2  =  </a:t>
            </a:r>
            <a:r>
              <a:rPr lang="id-ID" altLang="en-US" sz="2000" u="sng" dirty="0"/>
              <a:t>   Vo2   </a:t>
            </a:r>
            <a:r>
              <a:rPr lang="id-ID" altLang="en-US" sz="2000" dirty="0"/>
              <a:t>  = </a:t>
            </a:r>
            <a:r>
              <a:rPr lang="id-ID" altLang="en-US" sz="2000" u="sng" dirty="0"/>
              <a:t>      (50/51) x 1	         </a:t>
            </a:r>
            <a:r>
              <a:rPr lang="id-ID" altLang="en-US" sz="2000" dirty="0"/>
              <a:t> = 0,625</a:t>
            </a:r>
          </a:p>
          <a:p>
            <a:pPr>
              <a:buFontTx/>
              <a:buNone/>
            </a:pPr>
            <a:r>
              <a:rPr lang="en-US" altLang="en-US" sz="2000" dirty="0"/>
              <a:t>	</a:t>
            </a:r>
            <a:r>
              <a:rPr lang="id-ID" altLang="en-US" sz="2000" dirty="0"/>
              <a:t>                         Vi            </a:t>
            </a:r>
            <a:r>
              <a:rPr lang="id-ID" altLang="en-US" sz="2000" u="sng" dirty="0"/>
              <a:t>   (4   +  25 ) </a:t>
            </a:r>
            <a:r>
              <a:rPr lang="id-ID" altLang="en-US" sz="2000" dirty="0"/>
              <a:t> +  1</a:t>
            </a:r>
          </a:p>
          <a:p>
            <a:pPr>
              <a:buFontTx/>
              <a:buNone/>
            </a:pPr>
            <a:r>
              <a:rPr lang="en-US" altLang="en-US" sz="2000" dirty="0"/>
              <a:t>	</a:t>
            </a:r>
            <a:r>
              <a:rPr lang="id-ID" altLang="en-US" sz="2000" dirty="0"/>
              <a:t>			</a:t>
            </a:r>
            <a:r>
              <a:rPr lang="en-US" altLang="en-US" sz="2000" dirty="0"/>
              <a:t>               </a:t>
            </a:r>
            <a:r>
              <a:rPr lang="id-ID" altLang="en-US" sz="2000" dirty="0"/>
              <a:t>51</a:t>
            </a:r>
            <a:endParaRPr lang="en-US" altLang="en-US" sz="2000" dirty="0"/>
          </a:p>
        </p:txBody>
      </p:sp>
    </p:spTree>
    <p:extLst>
      <p:ext uri="{BB962C8B-B14F-4D97-AF65-F5344CB8AC3E}">
        <p14:creationId xmlns:p14="http://schemas.microsoft.com/office/powerpoint/2010/main" val="85666325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3"/>
          <p:cNvSpPr>
            <a:spLocks noGrp="1" noChangeArrowheads="1"/>
          </p:cNvSpPr>
          <p:nvPr>
            <p:ph type="body" idx="1"/>
          </p:nvPr>
        </p:nvSpPr>
        <p:spPr>
          <a:xfrm>
            <a:off x="588936" y="304800"/>
            <a:ext cx="11282766" cy="6172200"/>
          </a:xfrm>
        </p:spPr>
        <p:txBody>
          <a:bodyPr>
            <a:normAutofit lnSpcReduction="10000"/>
          </a:bodyPr>
          <a:lstStyle/>
          <a:p>
            <a:pPr>
              <a:lnSpc>
                <a:spcPct val="80000"/>
              </a:lnSpc>
              <a:buFontTx/>
              <a:buNone/>
            </a:pPr>
            <a:r>
              <a:rPr lang="en-US" altLang="en-US" sz="2400" u="sng" dirty="0" smtClean="0"/>
              <a:t>Ex:</a:t>
            </a:r>
            <a:endParaRPr lang="id-ID" altLang="en-US" sz="2400" dirty="0"/>
          </a:p>
          <a:p>
            <a:pPr>
              <a:lnSpc>
                <a:spcPct val="80000"/>
              </a:lnSpc>
            </a:pPr>
            <a:r>
              <a:rPr lang="id-ID" altLang="en-US" sz="2400" dirty="0"/>
              <a:t>Untuk penguat CG berikut MOSFET mempunyai parameter gm = 1 mA / V dan rd =  15 K</a:t>
            </a:r>
            <a:r>
              <a:rPr lang="id-ID" altLang="en-US" sz="2400" dirty="0">
                <a:sym typeface="Symbol" panose="05050102010706020507" pitchFamily="18" charset="2"/>
              </a:rPr>
              <a:t></a:t>
            </a:r>
            <a:r>
              <a:rPr lang="id-ID" altLang="en-US" sz="2400" dirty="0"/>
              <a:t>.                    Nilai Rs = 1 K</a:t>
            </a:r>
            <a:r>
              <a:rPr lang="id-ID" altLang="en-US" sz="2400" dirty="0">
                <a:sym typeface="Symbol" panose="05050102010706020507" pitchFamily="18" charset="2"/>
              </a:rPr>
              <a:t></a:t>
            </a:r>
            <a:r>
              <a:rPr lang="id-ID" altLang="en-US" sz="2400" dirty="0"/>
              <a:t> dan Rd  = 10 KΩ.</a:t>
            </a:r>
            <a:endParaRPr lang="en-US" altLang="en-US" sz="2400" dirty="0"/>
          </a:p>
          <a:p>
            <a:pPr>
              <a:lnSpc>
                <a:spcPct val="80000"/>
              </a:lnSpc>
            </a:pPr>
            <a:endParaRPr lang="en-US" altLang="en-US" sz="2400" u="sng" dirty="0"/>
          </a:p>
          <a:p>
            <a:pPr>
              <a:lnSpc>
                <a:spcPct val="80000"/>
              </a:lnSpc>
            </a:pPr>
            <a:endParaRPr lang="en-US" altLang="en-US" sz="2400" u="sng" dirty="0"/>
          </a:p>
          <a:p>
            <a:pPr>
              <a:lnSpc>
                <a:spcPct val="80000"/>
              </a:lnSpc>
            </a:pPr>
            <a:endParaRPr lang="en-US" altLang="en-US" sz="2400" u="sng" dirty="0"/>
          </a:p>
          <a:p>
            <a:pPr>
              <a:lnSpc>
                <a:spcPct val="80000"/>
              </a:lnSpc>
            </a:pPr>
            <a:endParaRPr lang="id-ID" altLang="en-US" sz="2400" u="sng" dirty="0"/>
          </a:p>
          <a:p>
            <a:pPr>
              <a:lnSpc>
                <a:spcPct val="80000"/>
              </a:lnSpc>
            </a:pPr>
            <a:r>
              <a:rPr lang="id-ID" altLang="en-US" sz="2400" u="sng" dirty="0"/>
              <a:t>Hitunglah:</a:t>
            </a:r>
            <a:endParaRPr lang="id-ID" altLang="en-US" sz="2400" dirty="0"/>
          </a:p>
          <a:p>
            <a:pPr>
              <a:lnSpc>
                <a:spcPct val="80000"/>
              </a:lnSpc>
              <a:buFontTx/>
              <a:buNone/>
            </a:pPr>
            <a:r>
              <a:rPr lang="en-US" altLang="en-US" sz="2400" dirty="0"/>
              <a:t>	</a:t>
            </a:r>
            <a:r>
              <a:rPr lang="id-ID" altLang="en-US" sz="2400" dirty="0"/>
              <a:t>Avs = Vo  /  Vs</a:t>
            </a:r>
          </a:p>
          <a:p>
            <a:pPr>
              <a:lnSpc>
                <a:spcPct val="80000"/>
              </a:lnSpc>
              <a:buFontTx/>
              <a:buNone/>
            </a:pPr>
            <a:r>
              <a:rPr lang="en-US" altLang="en-US" sz="2400" dirty="0"/>
              <a:t>	</a:t>
            </a:r>
            <a:r>
              <a:rPr lang="id-ID" altLang="en-US" sz="2400" dirty="0"/>
              <a:t>Ri</a:t>
            </a:r>
          </a:p>
          <a:p>
            <a:pPr>
              <a:lnSpc>
                <a:spcPct val="80000"/>
              </a:lnSpc>
              <a:buFontTx/>
              <a:buNone/>
            </a:pPr>
            <a:r>
              <a:rPr lang="en-US" altLang="en-US" sz="2400" dirty="0"/>
              <a:t>	</a:t>
            </a:r>
            <a:r>
              <a:rPr lang="id-ID" altLang="en-US" sz="2400" dirty="0"/>
              <a:t>Ro</a:t>
            </a:r>
            <a:endParaRPr lang="en-US" altLang="en-US" sz="2400" dirty="0"/>
          </a:p>
          <a:p>
            <a:pPr>
              <a:lnSpc>
                <a:spcPct val="80000"/>
              </a:lnSpc>
              <a:buFontTx/>
              <a:buNone/>
            </a:pPr>
            <a:endParaRPr lang="id-ID" altLang="en-US" sz="2400" dirty="0"/>
          </a:p>
          <a:p>
            <a:pPr>
              <a:lnSpc>
                <a:spcPct val="80000"/>
              </a:lnSpc>
              <a:buFontTx/>
              <a:buNone/>
            </a:pPr>
            <a:r>
              <a:rPr lang="en-US" altLang="en-US" sz="2400" dirty="0"/>
              <a:t>	</a:t>
            </a:r>
            <a:r>
              <a:rPr lang="id-ID" altLang="en-US" sz="2400" dirty="0"/>
              <a:t>Jawab</a:t>
            </a:r>
          </a:p>
          <a:p>
            <a:pPr>
              <a:lnSpc>
                <a:spcPct val="80000"/>
              </a:lnSpc>
              <a:buFontTx/>
              <a:buNone/>
            </a:pPr>
            <a:r>
              <a:rPr lang="en-US" altLang="en-US" sz="2400" dirty="0"/>
              <a:t>	</a:t>
            </a:r>
            <a:r>
              <a:rPr lang="id-ID" altLang="en-US" sz="2400" dirty="0"/>
              <a:t>Avs = 3,892</a:t>
            </a:r>
          </a:p>
          <a:p>
            <a:pPr>
              <a:lnSpc>
                <a:spcPct val="80000"/>
              </a:lnSpc>
              <a:buFontTx/>
              <a:buNone/>
            </a:pPr>
            <a:r>
              <a:rPr lang="en-US" altLang="en-US" sz="2400" dirty="0"/>
              <a:t>	</a:t>
            </a:r>
            <a:r>
              <a:rPr lang="id-ID" altLang="en-US" sz="2400" dirty="0"/>
              <a:t>Ri = 2,562 K</a:t>
            </a:r>
            <a:r>
              <a:rPr lang="id-ID" altLang="en-US" sz="2400" dirty="0">
                <a:sym typeface="Symbol" panose="05050102010706020507" pitchFamily="18" charset="2"/>
              </a:rPr>
              <a:t></a:t>
            </a:r>
            <a:endParaRPr lang="id-ID" altLang="en-US" sz="2400" dirty="0"/>
          </a:p>
          <a:p>
            <a:pPr>
              <a:lnSpc>
                <a:spcPct val="80000"/>
              </a:lnSpc>
              <a:buFontTx/>
              <a:buNone/>
            </a:pPr>
            <a:r>
              <a:rPr lang="en-US" altLang="en-US" sz="2400" dirty="0"/>
              <a:t>	</a:t>
            </a:r>
            <a:r>
              <a:rPr lang="id-ID" altLang="en-US" sz="2400" dirty="0"/>
              <a:t>Ro = 31 K</a:t>
            </a:r>
            <a:r>
              <a:rPr lang="id-ID" altLang="en-US" sz="2400" dirty="0">
                <a:sym typeface="Symbol" panose="05050102010706020507" pitchFamily="18" charset="2"/>
              </a:rPr>
              <a:t></a:t>
            </a:r>
            <a:r>
              <a:rPr lang="id-ID" altLang="en-US" sz="2400" dirty="0"/>
              <a:t> </a:t>
            </a:r>
            <a:endParaRPr lang="en-US" altLang="en-US" sz="2400" dirty="0"/>
          </a:p>
        </p:txBody>
      </p:sp>
      <p:sp>
        <p:nvSpPr>
          <p:cNvPr id="126981" name="Rectangle 5"/>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26980" name="Object 4"/>
          <p:cNvGraphicFramePr>
            <a:graphicFrameLocks noChangeAspect="1"/>
          </p:cNvGraphicFramePr>
          <p:nvPr/>
        </p:nvGraphicFramePr>
        <p:xfrm>
          <a:off x="5334000" y="1828801"/>
          <a:ext cx="4895850" cy="2460625"/>
        </p:xfrm>
        <a:graphic>
          <a:graphicData uri="http://schemas.openxmlformats.org/presentationml/2006/ole">
            <mc:AlternateContent xmlns:mc="http://schemas.openxmlformats.org/markup-compatibility/2006">
              <mc:Choice xmlns:v="urn:schemas-microsoft-com:vml" Requires="v">
                <p:oleObj spid="_x0000_s25615" r:id="rId3" imgW="3524683" imgH="1768370" progId="Visio.Drawing.11">
                  <p:embed/>
                </p:oleObj>
              </mc:Choice>
              <mc:Fallback>
                <p:oleObj r:id="rId3" imgW="3524683" imgH="1768370" progId="Visio.Drawing.11">
                  <p:embed/>
                  <p:pic>
                    <p:nvPicPr>
                      <p:cNvPr id="12698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1828801"/>
                        <a:ext cx="4895850" cy="2460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9266142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4425</TotalTime>
  <Words>2273</Words>
  <Application>Microsoft Office PowerPoint</Application>
  <PresentationFormat>Widescreen</PresentationFormat>
  <Paragraphs>324</Paragraphs>
  <Slides>59</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59</vt:i4>
      </vt:variant>
    </vt:vector>
  </HeadingPairs>
  <TitlesOfParts>
    <vt:vector size="66" baseType="lpstr">
      <vt:lpstr>맑은 고딕</vt:lpstr>
      <vt:lpstr>Arial</vt:lpstr>
      <vt:lpstr>Calibri</vt:lpstr>
      <vt:lpstr>Calibri Light</vt:lpstr>
      <vt:lpstr>Symbol</vt:lpstr>
      <vt:lpstr>Office Theme</vt:lpstr>
      <vt:lpstr>Visio.Drawing.11</vt:lpstr>
      <vt:lpstr>PowerPoint Presentation</vt:lpstr>
      <vt:lpstr>Transistor MOSFET, JFET: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 MOSFET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 Sinyal Kecil untuk JFET/MOSFET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pds</dc:title>
  <dc:creator>pds</dc:creator>
  <cp:lastModifiedBy>Gde</cp:lastModifiedBy>
  <cp:revision>107</cp:revision>
  <dcterms:created xsi:type="dcterms:W3CDTF">2022-08-25T13:17:53Z</dcterms:created>
  <dcterms:modified xsi:type="dcterms:W3CDTF">2026-04-23T01:53:06Z</dcterms:modified>
</cp:coreProperties>
</file>